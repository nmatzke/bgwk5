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tif" ContentType="image/ti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6"/>
  </p:notesMasterIdLst>
  <p:sldIdLst>
    <p:sldId id="327" r:id="rId2"/>
    <p:sldId id="277" r:id="rId3"/>
    <p:sldId id="278" r:id="rId4"/>
    <p:sldId id="282" r:id="rId5"/>
    <p:sldId id="920" r:id="rId6"/>
    <p:sldId id="921" r:id="rId7"/>
    <p:sldId id="922" r:id="rId8"/>
    <p:sldId id="923" r:id="rId9"/>
    <p:sldId id="297" r:id="rId10"/>
    <p:sldId id="924" r:id="rId11"/>
    <p:sldId id="362" r:id="rId12"/>
    <p:sldId id="263" r:id="rId13"/>
    <p:sldId id="264" r:id="rId14"/>
    <p:sldId id="265" r:id="rId15"/>
    <p:sldId id="266" r:id="rId16"/>
    <p:sldId id="267" r:id="rId17"/>
    <p:sldId id="268" r:id="rId18"/>
    <p:sldId id="925" r:id="rId19"/>
    <p:sldId id="926" r:id="rId20"/>
    <p:sldId id="301" r:id="rId21"/>
    <p:sldId id="927" r:id="rId22"/>
    <p:sldId id="946" r:id="rId23"/>
    <p:sldId id="348" r:id="rId24"/>
    <p:sldId id="349" r:id="rId25"/>
    <p:sldId id="350" r:id="rId26"/>
    <p:sldId id="351" r:id="rId27"/>
    <p:sldId id="912" r:id="rId28"/>
    <p:sldId id="913" r:id="rId29"/>
    <p:sldId id="914" r:id="rId30"/>
    <p:sldId id="313" r:id="rId31"/>
    <p:sldId id="269" r:id="rId32"/>
    <p:sldId id="933" r:id="rId33"/>
    <p:sldId id="934" r:id="rId34"/>
    <p:sldId id="935" r:id="rId35"/>
    <p:sldId id="929" r:id="rId36"/>
    <p:sldId id="930" r:id="rId37"/>
    <p:sldId id="931" r:id="rId38"/>
    <p:sldId id="932" r:id="rId39"/>
    <p:sldId id="936" r:id="rId40"/>
    <p:sldId id="937" r:id="rId41"/>
    <p:sldId id="938" r:id="rId42"/>
    <p:sldId id="409" r:id="rId43"/>
    <p:sldId id="939" r:id="rId44"/>
    <p:sldId id="940" r:id="rId45"/>
    <p:sldId id="941" r:id="rId46"/>
    <p:sldId id="270" r:id="rId47"/>
    <p:sldId id="461" r:id="rId48"/>
    <p:sldId id="281" r:id="rId49"/>
    <p:sldId id="945" r:id="rId50"/>
    <p:sldId id="317" r:id="rId51"/>
    <p:sldId id="318" r:id="rId52"/>
    <p:sldId id="319" r:id="rId53"/>
    <p:sldId id="320" r:id="rId54"/>
    <p:sldId id="321" r:id="rId55"/>
    <p:sldId id="322" r:id="rId56"/>
    <p:sldId id="323" r:id="rId57"/>
    <p:sldId id="332" r:id="rId58"/>
    <p:sldId id="333" r:id="rId59"/>
    <p:sldId id="334" r:id="rId60"/>
    <p:sldId id="335" r:id="rId61"/>
    <p:sldId id="336" r:id="rId62"/>
    <p:sldId id="337" r:id="rId63"/>
    <p:sldId id="338" r:id="rId64"/>
    <p:sldId id="339" r:id="rId65"/>
    <p:sldId id="340" r:id="rId66"/>
    <p:sldId id="341" r:id="rId67"/>
    <p:sldId id="342" r:id="rId68"/>
    <p:sldId id="343" r:id="rId69"/>
    <p:sldId id="344" r:id="rId70"/>
    <p:sldId id="345" r:id="rId71"/>
    <p:sldId id="346" r:id="rId72"/>
    <p:sldId id="347" r:id="rId73"/>
    <p:sldId id="331" r:id="rId74"/>
    <p:sldId id="291" r:id="rId75"/>
    <p:sldId id="292" r:id="rId76"/>
    <p:sldId id="915" r:id="rId77"/>
    <p:sldId id="293" r:id="rId78"/>
    <p:sldId id="294" r:id="rId79"/>
    <p:sldId id="295" r:id="rId80"/>
    <p:sldId id="296" r:id="rId81"/>
    <p:sldId id="298" r:id="rId82"/>
    <p:sldId id="299" r:id="rId83"/>
    <p:sldId id="300" r:id="rId84"/>
    <p:sldId id="303" r:id="rId85"/>
    <p:sldId id="302" r:id="rId86"/>
    <p:sldId id="916" r:id="rId87"/>
    <p:sldId id="671" r:id="rId88"/>
    <p:sldId id="600" r:id="rId89"/>
    <p:sldId id="681" r:id="rId90"/>
    <p:sldId id="918" r:id="rId91"/>
    <p:sldId id="917" r:id="rId92"/>
    <p:sldId id="315" r:id="rId93"/>
    <p:sldId id="304" r:id="rId94"/>
    <p:sldId id="947" r:id="rId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715B"/>
    <a:srgbClr val="000B91"/>
    <a:srgbClr val="0000FF"/>
    <a:srgbClr val="00A5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34"/>
    <p:restoredTop sz="94726"/>
  </p:normalViewPr>
  <p:slideViewPr>
    <p:cSldViewPr snapToGrid="0" snapToObjects="1">
      <p:cViewPr varScale="1">
        <p:scale>
          <a:sx n="120" d="100"/>
          <a:sy n="120" d="100"/>
        </p:scale>
        <p:origin x="2232"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52279-B0B6-1045-B0B6-D29719D68669}" type="datetimeFigureOut">
              <a:rPr lang="en-US" smtClean="0"/>
              <a:t>10/12/26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5C1D5-3944-394F-9494-7A37F387DADD}" type="slidenum">
              <a:rPr lang="en-US" smtClean="0"/>
              <a:t>‹#›</a:t>
            </a:fld>
            <a:endParaRPr lang="en-US"/>
          </a:p>
        </p:txBody>
      </p:sp>
    </p:spTree>
    <p:extLst>
      <p:ext uri="{BB962C8B-B14F-4D97-AF65-F5344CB8AC3E}">
        <p14:creationId xmlns:p14="http://schemas.microsoft.com/office/powerpoint/2010/main" val="911849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F163A7-6F95-3B43-8906-FF2F367C40A4}" type="slidenum">
              <a:rPr lang="en-US"/>
              <a:pPr/>
              <a:t>12</a:t>
            </a:fld>
            <a:endParaRPr lang="en-US"/>
          </a:p>
        </p:txBody>
      </p:sp>
      <p:sp>
        <p:nvSpPr>
          <p:cNvPr id="37171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717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27DE6D-30FB-BB48-B964-902525280CA0}" type="slidenum">
              <a:rPr lang="en-US"/>
              <a:pPr/>
              <a:t>13</a:t>
            </a:fld>
            <a:endParaRPr lang="en-US"/>
          </a:p>
        </p:txBody>
      </p:sp>
      <p:sp>
        <p:nvSpPr>
          <p:cNvPr id="3778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778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9880BB-B5CE-294A-AC6B-8E6CC98E7470}" type="slidenum">
              <a:rPr lang="en-US"/>
              <a:pPr/>
              <a:t>14</a:t>
            </a:fld>
            <a:endParaRPr lang="en-US"/>
          </a:p>
        </p:txBody>
      </p:sp>
      <p:sp>
        <p:nvSpPr>
          <p:cNvPr id="37581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758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0C0C1E-85BA-5043-AE51-D978802FB13C}" type="slidenum">
              <a:rPr lang="en-US"/>
              <a:pPr/>
              <a:t>15</a:t>
            </a:fld>
            <a:endParaRPr lang="en-US"/>
          </a:p>
        </p:txBody>
      </p:sp>
      <p:sp>
        <p:nvSpPr>
          <p:cNvPr id="3799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799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89A1BF-77E1-C045-9EB4-A3950D249997}" type="slidenum">
              <a:rPr lang="en-US"/>
              <a:pPr/>
              <a:t>16</a:t>
            </a:fld>
            <a:endParaRPr lang="en-US"/>
          </a:p>
        </p:txBody>
      </p:sp>
      <p:sp>
        <p:nvSpPr>
          <p:cNvPr id="38809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880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9F519E-432C-3646-B60C-286383CC9D7C}" type="slidenum">
              <a:rPr lang="en-US"/>
              <a:pPr/>
              <a:t>17</a:t>
            </a:fld>
            <a:endParaRPr lang="en-US"/>
          </a:p>
        </p:txBody>
      </p:sp>
      <p:sp>
        <p:nvSpPr>
          <p:cNvPr id="38195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819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E80E1F-4480-9E43-A04A-06FCD2D205E8}" type="slidenum">
              <a:rPr lang="en-US"/>
              <a:pPr/>
              <a:t>31</a:t>
            </a:fld>
            <a:endParaRPr lang="en-US"/>
          </a:p>
        </p:txBody>
      </p:sp>
      <p:sp>
        <p:nvSpPr>
          <p:cNvPr id="39424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3942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83906F30-188E-CF46-8FC5-5DFB5E345064}"/>
              </a:ext>
            </a:extLst>
          </p:cNvPr>
          <p:cNvSpPr txBox="1">
            <a:spLocks noGrp="1" noRot="1" noChangeAspect="1" noChangeArrowheads="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dist="35921" dir="2700000" algn="ctr" rotWithShape="0">
                    <a:srgbClr val="808080"/>
                  </a:outerShdw>
                </a:effectLst>
              </a14:hiddenEffects>
            </a:ext>
          </a:extLst>
        </p:spPr>
      </p:sp>
      <p:sp>
        <p:nvSpPr>
          <p:cNvPr id="14338" name="Text Box 2">
            <a:extLst>
              <a:ext uri="{FF2B5EF4-FFF2-40B4-BE49-F238E27FC236}">
                <a16:creationId xmlns:a16="http://schemas.microsoft.com/office/drawing/2014/main" id="{8100FF75-EB70-6F44-98B1-33DD49FD701C}"/>
              </a:ext>
            </a:extLst>
          </p:cNvPr>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195029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83906F30-188E-CF46-8FC5-5DFB5E345064}"/>
              </a:ext>
            </a:extLst>
          </p:cNvPr>
          <p:cNvSpPr txBox="1">
            <a:spLocks noGrp="1" noRot="1" noChangeAspect="1" noChangeArrowheads="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Text Box 2">
            <a:extLst>
              <a:ext uri="{FF2B5EF4-FFF2-40B4-BE49-F238E27FC236}">
                <a16:creationId xmlns:a16="http://schemas.microsoft.com/office/drawing/2014/main" id="{8100FF75-EB70-6F44-98B1-33DD49FD701C}"/>
              </a:ext>
            </a:extLst>
          </p:cNvPr>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386738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83906F30-188E-CF46-8FC5-5DFB5E345064}"/>
              </a:ext>
            </a:extLst>
          </p:cNvPr>
          <p:cNvSpPr txBox="1">
            <a:spLocks noGrp="1" noRot="1" noChangeAspect="1" noChangeArrowheads="1"/>
          </p:cNvSpPr>
          <p:nvPr>
            <p:ph type="sldImg"/>
          </p:nvPr>
        </p:nvSpPr>
        <p:spPr bwMode="auto">
          <a:xfrm>
            <a:off x="1312863" y="1027113"/>
            <a:ext cx="4933950" cy="3700462"/>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dist="35921" dir="2700000" algn="ctr" rotWithShape="0">
                    <a:srgbClr val="808080"/>
                  </a:outerShdw>
                </a:effectLst>
              </a14:hiddenEffects>
            </a:ext>
          </a:extLst>
        </p:spPr>
      </p:sp>
      <p:sp>
        <p:nvSpPr>
          <p:cNvPr id="14338" name="Text Box 2">
            <a:extLst>
              <a:ext uri="{FF2B5EF4-FFF2-40B4-BE49-F238E27FC236}">
                <a16:creationId xmlns:a16="http://schemas.microsoft.com/office/drawing/2014/main" id="{8100FF75-EB70-6F44-98B1-33DD49FD701C}"/>
              </a:ext>
            </a:extLst>
          </p:cNvPr>
          <p:cNvSpPr txBox="1">
            <a:spLocks noGrp="1" noChangeArrowheads="1"/>
          </p:cNvSpPr>
          <p:nvPr>
            <p:ph type="body" idx="1"/>
          </p:nvPr>
        </p:nvSpPr>
        <p:spPr bwMode="auto">
          <a:xfrm>
            <a:off x="1169988" y="5086350"/>
            <a:ext cx="5226050" cy="4106863"/>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91269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316ADD9-5AE2-F349-95AD-8C8903065CB9}"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3978966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16ADD9-5AE2-F349-95AD-8C8903065CB9}"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152388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16ADD9-5AE2-F349-95AD-8C8903065CB9}"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752314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16ADD9-5AE2-F349-95AD-8C8903065CB9}"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222070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16ADD9-5AE2-F349-95AD-8C8903065CB9}" type="datetimeFigureOut">
              <a:rPr lang="en-US" smtClean="0"/>
              <a:t>10/12/26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3394805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316ADD9-5AE2-F349-95AD-8C8903065CB9}" type="datetimeFigureOut">
              <a:rPr lang="en-US" smtClean="0"/>
              <a:t>10/12/26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1341168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16ADD9-5AE2-F349-95AD-8C8903065CB9}" type="datetimeFigureOut">
              <a:rPr lang="en-US" smtClean="0"/>
              <a:t>10/12/26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293831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16ADD9-5AE2-F349-95AD-8C8903065CB9}"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63983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16ADD9-5AE2-F349-95AD-8C8903065CB9}" type="datetimeFigureOut">
              <a:rPr lang="en-US" smtClean="0"/>
              <a:t>10/12/26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162263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16ADD9-5AE2-F349-95AD-8C8903065CB9}"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210103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16ADD9-5AE2-F349-95AD-8C8903065CB9}" type="datetimeFigureOut">
              <a:rPr lang="en-US" smtClean="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E7927D-FC4F-F946-9A4D-5488D4956554}" type="slidenum">
              <a:rPr lang="en-US" smtClean="0"/>
              <a:t>‹#›</a:t>
            </a:fld>
            <a:endParaRPr lang="en-US"/>
          </a:p>
        </p:txBody>
      </p:sp>
    </p:spTree>
    <p:extLst>
      <p:ext uri="{BB962C8B-B14F-4D97-AF65-F5344CB8AC3E}">
        <p14:creationId xmlns:p14="http://schemas.microsoft.com/office/powerpoint/2010/main" val="428313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xfrm>
            <a:off x="892969" y="1946672"/>
            <a:ext cx="7358063" cy="4018359"/>
          </a:xfrm>
          <a:prstGeom prst="rect">
            <a:avLst/>
          </a:prstGeom>
        </p:spPr>
        <p:txBody>
          <a:bodyPr/>
          <a:lstStyle>
            <a:lvl1pPr>
              <a:spcBef>
                <a:spcPts val="1687"/>
              </a:spcBef>
            </a:lvl1pPr>
            <a:lvl2pPr>
              <a:spcBef>
                <a:spcPts val="1687"/>
              </a:spcBef>
            </a:lvl2pPr>
            <a:lvl3pPr>
              <a:spcBef>
                <a:spcPts val="1687"/>
              </a:spcBef>
            </a:lvl3pPr>
            <a:lvl4pPr>
              <a:spcBef>
                <a:spcPts val="1687"/>
              </a:spcBef>
            </a:lvl4pPr>
            <a:lvl5pPr>
              <a:spcBef>
                <a:spcPts val="1687"/>
              </a:spcBef>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0867407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507516"/>
            <a:ext cx="7772400" cy="67710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10580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6ADD9-5AE2-F349-95AD-8C8903065CB9}" type="datetimeFigureOut">
              <a:rPr lang="en-US" smtClean="0"/>
              <a:t>10/12/26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E7927D-FC4F-F946-9A4D-5488D4956554}" type="slidenum">
              <a:rPr lang="en-US" smtClean="0"/>
              <a:t>‹#›</a:t>
            </a:fld>
            <a:endParaRPr lang="en-US"/>
          </a:p>
        </p:txBody>
      </p:sp>
    </p:spTree>
    <p:extLst>
      <p:ext uri="{BB962C8B-B14F-4D97-AF65-F5344CB8AC3E}">
        <p14:creationId xmlns:p14="http://schemas.microsoft.com/office/powerpoint/2010/main" val="2824065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tif"/><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hyperlink" Target="http://bioteaching.wordpress.com/2012/03/28/modes-of-specia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hyperlink" Target="http://www.geo.arizona.edu/Antevs/ecol438/lect02.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hyperlink" Target="http://www.darwinproject.ac.uk/letter/entry-1904"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hyperlink" Target="http://www.darwinproject.ac.uk/letter/entry-1904" TargetMode="Externa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2.jpeg"/><Relationship Id="rId5" Type="http://schemas.openxmlformats.org/officeDocument/2006/relationships/hyperlink" Target="http://www.darwinproject.ac.uk/letter/entry-1904"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tif"/><Relationship Id="rId2" Type="http://schemas.openxmlformats.org/officeDocument/2006/relationships/image" Target="../media/image32.tif"/><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tif"/><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6.tif"/><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farm8.static.flickr.com/7446/9252634315_0ecf0ba853_m.jpg" TargetMode="External"/><Relationship Id="rId4" Type="http://schemas.openxmlformats.org/officeDocument/2006/relationships/image" Target="../media/image45.jp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farm8.static.flickr.com/7446/9252634315_0ecf0ba853_m.jpg" TargetMode="External"/><Relationship Id="rId5" Type="http://schemas.openxmlformats.org/officeDocument/2006/relationships/image" Target="../media/image45.jpg"/><Relationship Id="rId4" Type="http://schemas.openxmlformats.org/officeDocument/2006/relationships/image" Target="../media/image44.jp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farm8.static.flickr.com/7446/9252634315_0ecf0ba853_m.jpg" TargetMode="External"/><Relationship Id="rId5" Type="http://schemas.openxmlformats.org/officeDocument/2006/relationships/image" Target="../media/image45.jp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0.emf"/><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gns.cri.nz/Home/Our-Science/Energy-Futures/Oil-and-Gas/NZs-Sedimentary-Basins/Paleogeographic-maps/Present" TargetMode="External"/><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https://www.royalsociety.org.nz/news/jrsnz-special-issue-evolutionary-biogeography-of-aotearoa/" TargetMode="External"/><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hyperlink" Target="https://www.pnas.org/content/103/51/19419" TargetMode="External"/><Relationship Id="rId2" Type="http://schemas.openxmlformats.org/officeDocument/2006/relationships/image" Target="../media/image93.png"/><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8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3.png"/><Relationship Id="rId1" Type="http://schemas.openxmlformats.org/officeDocument/2006/relationships/slideLayout" Target="../slideLayouts/slideLayout1.xml"/><Relationship Id="rId4" Type="http://schemas.openxmlformats.org/officeDocument/2006/relationships/hyperlink" Target="https://www.pnas.org/content/103/51/19419"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www.pnas.org/content/103/51/19419" TargetMode="External"/><Relationship Id="rId2" Type="http://schemas.openxmlformats.org/officeDocument/2006/relationships/image" Target="../media/image93.png"/><Relationship Id="rId1" Type="http://schemas.openxmlformats.org/officeDocument/2006/relationships/slideLayout" Target="../slideLayouts/slideLayout1.xml"/><Relationship Id="rId4" Type="http://schemas.openxmlformats.org/officeDocument/2006/relationships/image" Target="../media/image9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hyperlink" Target="https://doi.org/10.1002/9781394169764.ch18"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88.xml.rels><?xml version="1.0" encoding="UTF-8" standalone="yes"?>
<Relationships xmlns="http://schemas.openxmlformats.org/package/2006/relationships"><Relationship Id="rId3" Type="http://schemas.openxmlformats.org/officeDocument/2006/relationships/image" Target="../media/image98.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undsci.berkeley.edu/lessons/pdfs/alvarez_woflow.pdf" TargetMode="External"/><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nzgeo.com/stories/the-day-the-earth-stood-still/" TargetMode="External"/><Relationship Id="rId2" Type="http://schemas.openxmlformats.org/officeDocument/2006/relationships/hyperlink" Target="https://www.youtube.com/watch?v=3RI1QtF-Tuk"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9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ECEE-6CA7-5AD9-7366-C1F84B1DF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D0826-56B9-9B23-4486-3567DD23E02A}"/>
              </a:ext>
            </a:extLst>
          </p:cNvPr>
          <p:cNvSpPr>
            <a:spLocks noGrp="1"/>
          </p:cNvSpPr>
          <p:nvPr>
            <p:ph type="title"/>
          </p:nvPr>
        </p:nvSpPr>
        <p:spPr>
          <a:xfrm>
            <a:off x="-1" y="65471"/>
            <a:ext cx="7591647" cy="776176"/>
          </a:xfrm>
        </p:spPr>
        <p:txBody>
          <a:bodyPr>
            <a:normAutofit fontScale="90000"/>
          </a:bodyPr>
          <a:lstStyle/>
          <a:p>
            <a:r>
              <a:rPr lang="en-US" dirty="0"/>
              <a:t>Module 1: Zealandia Controversies</a:t>
            </a:r>
          </a:p>
        </p:txBody>
      </p:sp>
      <p:sp>
        <p:nvSpPr>
          <p:cNvPr id="3" name="Content Placeholder 2">
            <a:extLst>
              <a:ext uri="{FF2B5EF4-FFF2-40B4-BE49-F238E27FC236}">
                <a16:creationId xmlns:a16="http://schemas.microsoft.com/office/drawing/2014/main" id="{4B45924A-6422-372A-3ED6-324F8E4604BF}"/>
              </a:ext>
            </a:extLst>
          </p:cNvPr>
          <p:cNvSpPr>
            <a:spLocks noGrp="1"/>
          </p:cNvSpPr>
          <p:nvPr>
            <p:ph idx="1"/>
          </p:nvPr>
        </p:nvSpPr>
        <p:spPr>
          <a:xfrm>
            <a:off x="191386" y="1050814"/>
            <a:ext cx="7846828" cy="5500596"/>
          </a:xfrm>
        </p:spPr>
        <p:txBody>
          <a:bodyPr>
            <a:normAutofit/>
          </a:bodyPr>
          <a:lstStyle/>
          <a:p>
            <a:pPr marL="0" indent="0">
              <a:buNone/>
            </a:pPr>
            <a:r>
              <a:rPr lang="en-US" sz="1400" b="1" dirty="0">
                <a:latin typeface="Calibri" panose="020F0502020204030204" pitchFamily="34" charset="0"/>
                <a:cs typeface="Calibri" panose="020F0502020204030204" pitchFamily="34" charset="0"/>
              </a:rPr>
              <a:t>Zealandia Controversies </a:t>
            </a:r>
            <a:r>
              <a:rPr lang="en-US" sz="1400" dirty="0">
                <a:latin typeface="Calibri" panose="020F0502020204030204" pitchFamily="34" charset="0"/>
                <a:cs typeface="Calibri" panose="020F0502020204030204" pitchFamily="34" charset="0"/>
              </a:rPr>
              <a:t>(with Nick Matzke, July 31, August 7)</a:t>
            </a:r>
            <a:br>
              <a:rPr lang="en-US" sz="1400" dirty="0">
                <a:latin typeface="Calibri" panose="020F0502020204030204" pitchFamily="34" charset="0"/>
                <a:cs typeface="Calibri" panose="020F0502020204030204" pitchFamily="34" charset="0"/>
              </a:rPr>
            </a:br>
            <a:endParaRPr lang="en-NZ" sz="1400" dirty="0">
              <a:latin typeface="Calibri" panose="020F0502020204030204" pitchFamily="34" charset="0"/>
              <a:cs typeface="Calibri" panose="020F0502020204030204" pitchFamily="34" charset="0"/>
            </a:endParaRPr>
          </a:p>
        </p:txBody>
      </p:sp>
      <p:pic>
        <p:nvPicPr>
          <p:cNvPr id="2050" name="Picture 2" descr="Nicholas Matzke">
            <a:extLst>
              <a:ext uri="{FF2B5EF4-FFF2-40B4-BE49-F238E27FC236}">
                <a16:creationId xmlns:a16="http://schemas.microsoft.com/office/drawing/2014/main" id="{A57BD9B5-DFA4-E252-ED9A-99533D336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6003236" y="1050814"/>
            <a:ext cx="2683564" cy="22753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F70C289-AF7E-2CB5-E7C8-48CBB64A22E5}"/>
              </a:ext>
            </a:extLst>
          </p:cNvPr>
          <p:cNvPicPr>
            <a:picLocks noChangeAspect="1"/>
          </p:cNvPicPr>
          <p:nvPr/>
        </p:nvPicPr>
        <p:blipFill rotWithShape="1">
          <a:blip r:embed="rId3"/>
          <a:srcRect l="3686" t="30703" r="58940" b="6426"/>
          <a:stretch/>
        </p:blipFill>
        <p:spPr>
          <a:xfrm>
            <a:off x="1465177" y="1455756"/>
            <a:ext cx="4385569" cy="3393596"/>
          </a:xfrm>
          <a:prstGeom prst="rect">
            <a:avLst/>
          </a:prstGeom>
          <a:ln>
            <a:solidFill>
              <a:schemeClr val="tx1"/>
            </a:solidFill>
          </a:ln>
        </p:spPr>
      </p:pic>
      <p:pic>
        <p:nvPicPr>
          <p:cNvPr id="5" name="Picture 4">
            <a:extLst>
              <a:ext uri="{FF2B5EF4-FFF2-40B4-BE49-F238E27FC236}">
                <a16:creationId xmlns:a16="http://schemas.microsoft.com/office/drawing/2014/main" id="{CCC833A4-F95F-3D61-FFB8-F893C9971D61}"/>
              </a:ext>
            </a:extLst>
          </p:cNvPr>
          <p:cNvPicPr>
            <a:picLocks noChangeAspect="1"/>
          </p:cNvPicPr>
          <p:nvPr/>
        </p:nvPicPr>
        <p:blipFill>
          <a:blip r:embed="rId4"/>
          <a:stretch>
            <a:fillRect/>
          </a:stretch>
        </p:blipFill>
        <p:spPr>
          <a:xfrm>
            <a:off x="6238592" y="3533539"/>
            <a:ext cx="2446694" cy="3171166"/>
          </a:xfrm>
          <a:prstGeom prst="rect">
            <a:avLst/>
          </a:prstGeom>
          <a:ln>
            <a:solidFill>
              <a:schemeClr val="tx1"/>
            </a:solidFill>
          </a:ln>
        </p:spPr>
      </p:pic>
      <p:sp>
        <p:nvSpPr>
          <p:cNvPr id="7" name="Content Placeholder 2">
            <a:extLst>
              <a:ext uri="{FF2B5EF4-FFF2-40B4-BE49-F238E27FC236}">
                <a16:creationId xmlns:a16="http://schemas.microsoft.com/office/drawing/2014/main" id="{5267275A-ED88-58C1-53AC-5E072E03630D}"/>
              </a:ext>
            </a:extLst>
          </p:cNvPr>
          <p:cNvSpPr txBox="1">
            <a:spLocks/>
          </p:cNvSpPr>
          <p:nvPr/>
        </p:nvSpPr>
        <p:spPr>
          <a:xfrm>
            <a:off x="191385" y="4611024"/>
            <a:ext cx="5996763" cy="2246975"/>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400" b="1" dirty="0">
                <a:latin typeface="Calibri" panose="020F0502020204030204" pitchFamily="34" charset="0"/>
                <a:cs typeface="Calibri" panose="020F0502020204030204" pitchFamily="34" charset="0"/>
              </a:rPr>
              <a:t>Key questions:</a:t>
            </a:r>
          </a:p>
          <a:p>
            <a:pPr marL="0" indent="0">
              <a:buFont typeface="Arial"/>
              <a:buNone/>
            </a:pPr>
            <a:endParaRPr lang="en-US" sz="1400" dirty="0">
              <a:latin typeface="Calibri" panose="020F0502020204030204" pitchFamily="34" charset="0"/>
              <a:cs typeface="Calibri" panose="020F0502020204030204" pitchFamily="34" charset="0"/>
            </a:endParaRPr>
          </a:p>
          <a:p>
            <a:pPr marL="0" indent="0">
              <a:buFont typeface="Arial"/>
              <a:buNone/>
            </a:pPr>
            <a:r>
              <a:rPr lang="en-US" sz="1400" dirty="0">
                <a:latin typeface="Calibri" panose="020F0502020204030204" pitchFamily="34" charset="0"/>
                <a:cs typeface="Calibri" panose="020F0502020204030204" pitchFamily="34" charset="0"/>
              </a:rPr>
              <a:t>How much of New Zealand’s biota has rafted on the Zealandia tectonic block “Moa’s Ark”, versus dispersed here after separation?</a:t>
            </a:r>
          </a:p>
          <a:p>
            <a:pPr marL="0" indent="0">
              <a:buFont typeface="Arial"/>
              <a:buNone/>
            </a:pPr>
            <a:endParaRPr lang="en-US" sz="1400" dirty="0">
              <a:latin typeface="Calibri" panose="020F0502020204030204" pitchFamily="34" charset="0"/>
              <a:cs typeface="Calibri" panose="020F0502020204030204" pitchFamily="34" charset="0"/>
            </a:endParaRPr>
          </a:p>
          <a:p>
            <a:pPr marL="0" indent="0">
              <a:buFont typeface="Arial"/>
              <a:buNone/>
            </a:pPr>
            <a:r>
              <a:rPr lang="en-US" sz="1400" dirty="0">
                <a:latin typeface="Calibri" panose="020F0502020204030204" pitchFamily="34" charset="0"/>
                <a:cs typeface="Calibri" panose="020F0502020204030204" pitchFamily="34" charset="0"/>
              </a:rPr>
              <a:t>Was New Zealand “drowned” in the Oligocene?</a:t>
            </a:r>
          </a:p>
          <a:p>
            <a:pPr marL="0" indent="0">
              <a:buFont typeface="Arial"/>
              <a:buNone/>
            </a:pPr>
            <a:endParaRPr lang="en-US" sz="1400" dirty="0">
              <a:latin typeface="Calibri" panose="020F0502020204030204" pitchFamily="34" charset="0"/>
              <a:cs typeface="Calibri" panose="020F0502020204030204" pitchFamily="34" charset="0"/>
            </a:endParaRPr>
          </a:p>
          <a:p>
            <a:pPr marL="0" indent="0">
              <a:buFont typeface="Arial"/>
              <a:buNone/>
            </a:pPr>
            <a:r>
              <a:rPr lang="en-US" sz="1400" dirty="0">
                <a:latin typeface="Calibri" panose="020F0502020204030204" pitchFamily="34" charset="0"/>
                <a:cs typeface="Calibri" panose="020F0502020204030204" pitchFamily="34" charset="0"/>
              </a:rPr>
              <a:t>How does the dispersal/vicariance debate influence our interpretation of NZ, and vice versa?</a:t>
            </a:r>
          </a:p>
          <a:p>
            <a:pPr marL="0" indent="0">
              <a:buFont typeface="Arial"/>
              <a:buNone/>
            </a:pPr>
            <a:endParaRPr lang="en-US" sz="1400" dirty="0">
              <a:latin typeface="Calibri" panose="020F0502020204030204" pitchFamily="34" charset="0"/>
              <a:cs typeface="Calibri" panose="020F0502020204030204" pitchFamily="34" charset="0"/>
            </a:endParaRPr>
          </a:p>
          <a:p>
            <a:pPr marL="0" indent="0">
              <a:buFont typeface="Arial"/>
              <a:buNone/>
            </a:pPr>
            <a:r>
              <a:rPr lang="en-US" sz="1400" dirty="0">
                <a:latin typeface="Calibri" panose="020F0502020204030204" pitchFamily="34" charset="0"/>
                <a:cs typeface="Calibri" panose="020F0502020204030204" pitchFamily="34" charset="0"/>
              </a:rPr>
              <a:t>How do phylogenetic dating studies play into these questions? What are their strengths &amp; weaknesses?</a:t>
            </a:r>
            <a:endParaRPr lang="en-NZ"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3132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The puzzle of NZ biogeography</a:t>
            </a:r>
          </a:p>
        </p:txBody>
      </p:sp>
      <p:sp>
        <p:nvSpPr>
          <p:cNvPr id="14" name="Rounded Rectangular Callout 13"/>
          <p:cNvSpPr/>
          <p:nvPr/>
        </p:nvSpPr>
        <p:spPr>
          <a:xfrm>
            <a:off x="2265167" y="1551185"/>
            <a:ext cx="4762500" cy="1231226"/>
          </a:xfrm>
          <a:prstGeom prst="wedgeRoundRectCallout">
            <a:avLst>
              <a:gd name="adj1" fmla="val -30349"/>
              <a:gd name="adj2" fmla="val 66437"/>
              <a:gd name="adj3" fmla="val 16667"/>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a:t>
            </a:r>
            <a:r>
              <a:rPr lang="mr-IN" dirty="0">
                <a:solidFill>
                  <a:schemeClr val="tx1"/>
                </a:solidFill>
              </a:rPr>
              <a:t>…</a:t>
            </a:r>
            <a:r>
              <a:rPr lang="en-US" dirty="0">
                <a:solidFill>
                  <a:schemeClr val="tx1"/>
                </a:solidFill>
              </a:rPr>
              <a:t>explain New Zealand and the </a:t>
            </a:r>
            <a:br>
              <a:rPr lang="en-US" dirty="0">
                <a:solidFill>
                  <a:schemeClr val="tx1"/>
                </a:solidFill>
              </a:rPr>
            </a:br>
            <a:r>
              <a:rPr lang="en-US" dirty="0">
                <a:solidFill>
                  <a:schemeClr val="tx1"/>
                </a:solidFill>
              </a:rPr>
              <a:t>world falls into place arou</a:t>
            </a:r>
            <a:r>
              <a:rPr lang="en-US" dirty="0">
                <a:solidFill>
                  <a:srgbClr val="000000"/>
                </a:solidFill>
              </a:rPr>
              <a:t>nd it.”</a:t>
            </a:r>
          </a:p>
          <a:p>
            <a:pPr algn="r"/>
            <a:br>
              <a:rPr lang="en-US" sz="1200" dirty="0">
                <a:solidFill>
                  <a:srgbClr val="000000"/>
                </a:solidFill>
              </a:rPr>
            </a:br>
            <a:r>
              <a:rPr lang="en-US" sz="1200" dirty="0">
                <a:solidFill>
                  <a:srgbClr val="000000"/>
                </a:solidFill>
              </a:rPr>
              <a:t>--</a:t>
            </a:r>
            <a:r>
              <a:rPr lang="en-US" sz="1200" i="1" dirty="0">
                <a:solidFill>
                  <a:srgbClr val="000000"/>
                </a:solidFill>
              </a:rPr>
              <a:t>JRSNZ </a:t>
            </a:r>
            <a:r>
              <a:rPr lang="en-US" sz="1200" dirty="0">
                <a:solidFill>
                  <a:srgbClr val="000000"/>
                </a:solidFill>
              </a:rPr>
              <a:t>(2021), call for papers, Evolutionary Biogeography of Aotearoa New Zealand; citing Gareth Nelson (1975).</a:t>
            </a:r>
            <a:r>
              <a:rPr lang="en-US" sz="1200" i="1" dirty="0">
                <a:solidFill>
                  <a:srgbClr val="000000"/>
                </a:solidFill>
              </a:rPr>
              <a:t> </a:t>
            </a:r>
            <a:endParaRPr lang="en-US" sz="1200" i="1" dirty="0">
              <a:solidFill>
                <a:schemeClr val="tx1"/>
              </a:solidFill>
            </a:endParaRPr>
          </a:p>
        </p:txBody>
      </p:sp>
      <p:grpSp>
        <p:nvGrpSpPr>
          <p:cNvPr id="15" name="Group 14">
            <a:extLst>
              <a:ext uri="{FF2B5EF4-FFF2-40B4-BE49-F238E27FC236}">
                <a16:creationId xmlns:a16="http://schemas.microsoft.com/office/drawing/2014/main" id="{2DF67363-8ABC-7640-811D-FC6007983A11}"/>
              </a:ext>
            </a:extLst>
          </p:cNvPr>
          <p:cNvGrpSpPr/>
          <p:nvPr/>
        </p:nvGrpSpPr>
        <p:grpSpPr>
          <a:xfrm>
            <a:off x="2159565" y="3674468"/>
            <a:ext cx="4092349" cy="2403038"/>
            <a:chOff x="4907718" y="2691713"/>
            <a:chExt cx="4092349" cy="2403038"/>
          </a:xfrm>
        </p:grpSpPr>
        <p:pic>
          <p:nvPicPr>
            <p:cNvPr id="16" name="Picture 15" descr="Muller_Zahirovic_2018_Zealandia_thickness.gif">
              <a:extLst>
                <a:ext uri="{FF2B5EF4-FFF2-40B4-BE49-F238E27FC236}">
                  <a16:creationId xmlns:a16="http://schemas.microsoft.com/office/drawing/2014/main" id="{0483E8C4-9990-CE41-B9AF-E7B5C9865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239" y="2992853"/>
              <a:ext cx="3986828" cy="1843908"/>
            </a:xfrm>
            <a:prstGeom prst="rect">
              <a:avLst/>
            </a:prstGeom>
          </p:spPr>
        </p:pic>
        <p:sp>
          <p:nvSpPr>
            <p:cNvPr id="17" name="Rectangle 16">
              <a:extLst>
                <a:ext uri="{FF2B5EF4-FFF2-40B4-BE49-F238E27FC236}">
                  <a16:creationId xmlns:a16="http://schemas.microsoft.com/office/drawing/2014/main" id="{6636BFAD-A937-4147-AB5C-77D3A2952908}"/>
                </a:ext>
              </a:extLst>
            </p:cNvPr>
            <p:cNvSpPr/>
            <p:nvPr/>
          </p:nvSpPr>
          <p:spPr>
            <a:xfrm>
              <a:off x="4907718" y="4786974"/>
              <a:ext cx="4092349" cy="307777"/>
            </a:xfrm>
            <a:prstGeom prst="rect">
              <a:avLst/>
            </a:prstGeom>
          </p:spPr>
          <p:txBody>
            <a:bodyPr wrap="square">
              <a:spAutoFit/>
            </a:bodyPr>
            <a:lstStyle/>
            <a:p>
              <a:pPr algn="ctr"/>
              <a:r>
                <a:rPr lang="en-US" sz="700" dirty="0">
                  <a:solidFill>
                    <a:schemeClr val="bg1">
                      <a:lumMod val="65000"/>
                    </a:schemeClr>
                  </a:solidFill>
                </a:rPr>
                <a:t>Müller, Sahirovic et al. (2018), U. Sydney "Modelling and visualising distributed crustal deformation of Australia and Zealandia using </a:t>
              </a:r>
              <a:r>
                <a:rPr lang="en-US" sz="700" i="1" dirty="0">
                  <a:solidFill>
                    <a:schemeClr val="bg1">
                      <a:lumMod val="65000"/>
                    </a:schemeClr>
                  </a:solidFill>
                </a:rPr>
                <a:t>GPlates 2.0</a:t>
              </a:r>
              <a:r>
                <a:rPr lang="en-US" sz="700" dirty="0">
                  <a:solidFill>
                    <a:schemeClr val="bg1">
                      <a:lumMod val="65000"/>
                    </a:schemeClr>
                  </a:solidFill>
                </a:rPr>
                <a:t>." https://www.youtube.com/watch?v=iKkCIdZ6oaE  </a:t>
              </a:r>
            </a:p>
          </p:txBody>
        </p:sp>
        <p:sp>
          <p:nvSpPr>
            <p:cNvPr id="18" name="Rectangle 17">
              <a:extLst>
                <a:ext uri="{FF2B5EF4-FFF2-40B4-BE49-F238E27FC236}">
                  <a16:creationId xmlns:a16="http://schemas.microsoft.com/office/drawing/2014/main" id="{44D73703-33B7-1F40-AB14-3535010217F0}"/>
                </a:ext>
              </a:extLst>
            </p:cNvPr>
            <p:cNvSpPr/>
            <p:nvPr/>
          </p:nvSpPr>
          <p:spPr>
            <a:xfrm>
              <a:off x="5202392" y="2691713"/>
              <a:ext cx="3572024" cy="307777"/>
            </a:xfrm>
            <a:prstGeom prst="rect">
              <a:avLst/>
            </a:prstGeom>
          </p:spPr>
          <p:txBody>
            <a:bodyPr wrap="none">
              <a:spAutoFit/>
            </a:bodyPr>
            <a:lstStyle/>
            <a:p>
              <a:r>
                <a:rPr lang="en-US" sz="1400" i="1" dirty="0"/>
                <a:t>GPlates</a:t>
              </a:r>
              <a:r>
                <a:rPr lang="en-US" sz="1400" dirty="0"/>
                <a:t> animation: Zealandia crustal thickness</a:t>
              </a:r>
            </a:p>
          </p:txBody>
        </p:sp>
      </p:grpSp>
    </p:spTree>
    <p:extLst>
      <p:ext uri="{BB962C8B-B14F-4D97-AF65-F5344CB8AC3E}">
        <p14:creationId xmlns:p14="http://schemas.microsoft.com/office/powerpoint/2010/main" val="1340033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The puzzle of NZ biogeography</a:t>
            </a:r>
          </a:p>
        </p:txBody>
      </p:sp>
      <p:sp>
        <p:nvSpPr>
          <p:cNvPr id="29" name="Title 6">
            <a:extLst>
              <a:ext uri="{FF2B5EF4-FFF2-40B4-BE49-F238E27FC236}">
                <a16:creationId xmlns:a16="http://schemas.microsoft.com/office/drawing/2014/main" id="{EB2679C8-DD82-2A48-B030-87536BD094FE}"/>
              </a:ext>
            </a:extLst>
          </p:cNvPr>
          <p:cNvSpPr txBox="1">
            <a:spLocks/>
          </p:cNvSpPr>
          <p:nvPr/>
        </p:nvSpPr>
        <p:spPr>
          <a:xfrm>
            <a:off x="246377" y="970334"/>
            <a:ext cx="8521842" cy="5787457"/>
          </a:xfrm>
          <a:prstGeom prst="rect">
            <a:avLst/>
          </a:prstGeom>
        </p:spPr>
        <p:txBody>
          <a:bodyPr vert="horz" lIns="91440" tIns="45720" rIns="91440" bIns="45720" rtlCol="0" anchor="t">
            <a:normAutofit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200" indent="-457200" algn="l">
              <a:buFont typeface="Arial"/>
              <a:buChar char="•"/>
            </a:pPr>
            <a:r>
              <a:rPr lang="en-US" sz="2400" b="1" dirty="0"/>
              <a:t>What was the “New Zealand School of Biogeography”?</a:t>
            </a:r>
          </a:p>
          <a:p>
            <a:pPr marL="457200" indent="-457200" algn="l">
              <a:buFont typeface="Arial"/>
              <a:buChar char="•"/>
            </a:pPr>
            <a:endParaRPr lang="en-US" sz="2400" b="1" dirty="0"/>
          </a:p>
          <a:p>
            <a:pPr marL="457200" indent="-457200" algn="l">
              <a:buFont typeface="Arial"/>
              <a:buChar char="•"/>
            </a:pPr>
            <a:endParaRPr lang="en-US" sz="2400" b="1" dirty="0"/>
          </a:p>
          <a:p>
            <a:pPr marL="457200" indent="-457200" algn="l">
              <a:buFont typeface="Arial"/>
              <a:buChar char="•"/>
            </a:pPr>
            <a:endParaRPr lang="en-US" sz="2400" b="1" dirty="0"/>
          </a:p>
          <a:p>
            <a:pPr marL="457200" indent="-457200" algn="l">
              <a:buFont typeface="Arial"/>
              <a:buChar char="•"/>
            </a:pPr>
            <a:endParaRPr lang="en-US" sz="2400" b="1" dirty="0"/>
          </a:p>
          <a:p>
            <a:pPr marL="457200" indent="-457200" algn="l">
              <a:buFont typeface="Arial"/>
              <a:buChar char="•"/>
            </a:pPr>
            <a:endParaRPr lang="en-US" sz="2400" b="1" dirty="0"/>
          </a:p>
          <a:p>
            <a:pPr marL="457200" indent="-457200" algn="l">
              <a:buFont typeface="Arial"/>
              <a:buChar char="•"/>
            </a:pPr>
            <a:r>
              <a:rPr lang="en-US" sz="2400" b="1" dirty="0"/>
              <a:t>NZ School was an attempt to combine </a:t>
            </a:r>
            <a:r>
              <a:rPr lang="en-US" sz="2400" b="1" dirty="0" err="1"/>
              <a:t>Croizat’s</a:t>
            </a:r>
            <a:r>
              <a:rPr lang="en-US" sz="2400" b="1" dirty="0"/>
              <a:t> </a:t>
            </a:r>
            <a:r>
              <a:rPr lang="en-US" sz="2400" b="1" dirty="0" err="1"/>
              <a:t>panbiogeography</a:t>
            </a:r>
            <a:r>
              <a:rPr lang="en-US" sz="2400" b="1" dirty="0"/>
              <a:t> &amp; cladistic biogeography</a:t>
            </a:r>
            <a:br>
              <a:rPr lang="en-US" sz="2400" b="1" dirty="0"/>
            </a:br>
            <a:endParaRPr lang="en-US" sz="2400" b="1" dirty="0"/>
          </a:p>
          <a:p>
            <a:pPr marL="457200" indent="-457200" algn="l">
              <a:buFont typeface="Arial"/>
              <a:buChar char="•"/>
            </a:pPr>
            <a:r>
              <a:rPr lang="en-US" sz="2400" b="1" dirty="0"/>
              <a:t>Essentially using vicariance as the core explanation</a:t>
            </a:r>
            <a:br>
              <a:rPr lang="en-US" sz="2400" b="1" dirty="0"/>
            </a:br>
            <a:endParaRPr lang="en-US" sz="2400" b="1" dirty="0"/>
          </a:p>
          <a:p>
            <a:pPr marL="457200" indent="-457200" algn="l">
              <a:buFont typeface="Arial"/>
              <a:buChar char="•"/>
            </a:pPr>
            <a:r>
              <a:rPr lang="en-US" sz="2400" b="1" dirty="0"/>
              <a:t>Short-lived</a:t>
            </a:r>
            <a:br>
              <a:rPr lang="en-US" sz="2400" b="1" dirty="0"/>
            </a:br>
            <a:endParaRPr lang="en-US" sz="2400" b="1" dirty="0"/>
          </a:p>
          <a:p>
            <a:pPr marL="457200" indent="-457200" algn="l">
              <a:buFont typeface="Arial"/>
              <a:buChar char="•"/>
            </a:pPr>
            <a:r>
              <a:rPr lang="en-US" sz="2400" b="1" dirty="0"/>
              <a:t>NZ biogeographer Michael Heads is a representative of this tradition</a:t>
            </a:r>
            <a:br>
              <a:rPr lang="en-US" sz="2400" b="1" dirty="0"/>
            </a:br>
            <a:br>
              <a:rPr lang="en-US" sz="2400" b="1" dirty="0"/>
            </a:br>
            <a:endParaRPr lang="en-US" sz="2400" b="1" dirty="0"/>
          </a:p>
          <a:p>
            <a:pPr marL="457200" indent="-457200" algn="l">
              <a:buFont typeface="Arial"/>
              <a:buChar char="•"/>
            </a:pPr>
            <a:endParaRPr lang="en-US" sz="2400" b="1" dirty="0"/>
          </a:p>
        </p:txBody>
      </p:sp>
      <p:grpSp>
        <p:nvGrpSpPr>
          <p:cNvPr id="2" name="Group 1"/>
          <p:cNvGrpSpPr/>
          <p:nvPr/>
        </p:nvGrpSpPr>
        <p:grpSpPr>
          <a:xfrm>
            <a:off x="1325506" y="1766824"/>
            <a:ext cx="7444417" cy="748022"/>
            <a:chOff x="1325506" y="1766824"/>
            <a:chExt cx="7444417" cy="748022"/>
          </a:xfrm>
        </p:grpSpPr>
        <p:pic>
          <p:nvPicPr>
            <p:cNvPr id="9" name="Picture 8">
              <a:extLst>
                <a:ext uri="{FF2B5EF4-FFF2-40B4-BE49-F238E27FC236}">
                  <a16:creationId xmlns:a16="http://schemas.microsoft.com/office/drawing/2014/main" id="{34F84A20-1B4D-3346-B018-09D84F8862EF}"/>
                </a:ext>
              </a:extLst>
            </p:cNvPr>
            <p:cNvPicPr>
              <a:picLocks noChangeAspect="1"/>
            </p:cNvPicPr>
            <p:nvPr/>
          </p:nvPicPr>
          <p:blipFill>
            <a:blip r:embed="rId2"/>
            <a:stretch>
              <a:fillRect/>
            </a:stretch>
          </p:blipFill>
          <p:spPr>
            <a:xfrm>
              <a:off x="3584920" y="1766824"/>
              <a:ext cx="5185003" cy="748022"/>
            </a:xfrm>
            <a:prstGeom prst="rect">
              <a:avLst/>
            </a:prstGeom>
            <a:ln>
              <a:solidFill>
                <a:schemeClr val="tx1"/>
              </a:solidFill>
            </a:ln>
          </p:spPr>
        </p:pic>
        <p:sp>
          <p:nvSpPr>
            <p:cNvPr id="10" name="Rectangle 9">
              <a:extLst>
                <a:ext uri="{FF2B5EF4-FFF2-40B4-BE49-F238E27FC236}">
                  <a16:creationId xmlns:a16="http://schemas.microsoft.com/office/drawing/2014/main" id="{7FF67AE8-8E94-0743-805C-F440D560E215}"/>
                </a:ext>
              </a:extLst>
            </p:cNvPr>
            <p:cNvSpPr/>
            <p:nvPr/>
          </p:nvSpPr>
          <p:spPr>
            <a:xfrm>
              <a:off x="1325506" y="1955194"/>
              <a:ext cx="2307042" cy="307777"/>
            </a:xfrm>
            <a:prstGeom prst="rect">
              <a:avLst/>
            </a:prstGeom>
          </p:spPr>
          <p:txBody>
            <a:bodyPr wrap="none">
              <a:spAutoFit/>
            </a:bodyPr>
            <a:lstStyle/>
            <a:p>
              <a:r>
                <a:rPr lang="en-US" sz="1400" dirty="0"/>
                <a:t>Ebach (2018) on NZ in 1980s:</a:t>
              </a:r>
            </a:p>
          </p:txBody>
        </p:sp>
      </p:grpSp>
    </p:spTree>
    <p:extLst>
      <p:ext uri="{BB962C8B-B14F-4D97-AF65-F5344CB8AC3E}">
        <p14:creationId xmlns:p14="http://schemas.microsoft.com/office/powerpoint/2010/main" val="364664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890" y="497720"/>
            <a:ext cx="8697516" cy="5394807"/>
          </a:xfrm>
          <a:prstGeom prst="rect">
            <a:avLst/>
          </a:prstGeom>
        </p:spPr>
        <p:txBody>
          <a:bodyPr vert="horz" wrap="square" lIns="0" tIns="0" rIns="0" bIns="0" rtlCol="0">
            <a:spAutoFit/>
          </a:bodyPr>
          <a:lstStyle/>
          <a:p>
            <a:pPr marL="8929"/>
            <a:r>
              <a:rPr lang="en-US" sz="3400" b="1" spc="-32" dirty="0">
                <a:latin typeface="Gill Sans"/>
                <a:cs typeface="Gill Sans"/>
              </a:rPr>
              <a:t>Summary of previous lectures:</a:t>
            </a:r>
            <a:endParaRPr sz="3400" dirty="0">
              <a:latin typeface="Gill Sans"/>
              <a:cs typeface="Gill Sans"/>
            </a:endParaRPr>
          </a:p>
          <a:p>
            <a:pPr>
              <a:spcBef>
                <a:spcPts val="5"/>
              </a:spcBef>
            </a:pPr>
            <a:endParaRPr lang="en-US" sz="3400" dirty="0">
              <a:latin typeface="Gill Sans"/>
              <a:cs typeface="Gill Sans"/>
            </a:endParaRPr>
          </a:p>
          <a:p>
            <a:pPr>
              <a:spcBef>
                <a:spcPts val="5"/>
              </a:spcBef>
            </a:pPr>
            <a:r>
              <a:rPr lang="en-US" sz="3400" dirty="0">
                <a:latin typeface="Gill Sans"/>
                <a:cs typeface="Gill Sans"/>
              </a:rPr>
              <a:t>Different authorities have different assumptions about what processes matter!</a:t>
            </a:r>
          </a:p>
          <a:p>
            <a:pPr>
              <a:spcBef>
                <a:spcPts val="5"/>
              </a:spcBef>
            </a:pPr>
            <a:endParaRPr lang="en-US" sz="3400" dirty="0">
              <a:latin typeface="Gill Sans"/>
              <a:cs typeface="Gill Sans"/>
            </a:endParaRPr>
          </a:p>
          <a:p>
            <a:pPr>
              <a:spcBef>
                <a:spcPts val="5"/>
              </a:spcBef>
            </a:pPr>
            <a:r>
              <a:rPr lang="en-US" sz="3400" dirty="0">
                <a:latin typeface="Gill Sans"/>
                <a:cs typeface="Gill Sans"/>
              </a:rPr>
              <a:t>Your inferences will depend on your assumptions</a:t>
            </a:r>
          </a:p>
          <a:p>
            <a:pPr>
              <a:spcBef>
                <a:spcPts val="5"/>
              </a:spcBef>
            </a:pPr>
            <a:endParaRPr lang="en-US" sz="2100" dirty="0">
              <a:latin typeface="Gill Sans"/>
              <a:cs typeface="Gill Sans"/>
            </a:endParaRPr>
          </a:p>
          <a:p>
            <a:pPr>
              <a:spcBef>
                <a:spcPts val="5"/>
              </a:spcBef>
            </a:pPr>
            <a:r>
              <a:rPr lang="en-US" sz="2100" dirty="0">
                <a:latin typeface="Gill Sans"/>
                <a:cs typeface="Gill Sans"/>
              </a:rPr>
              <a:t>Vicariance: deterministic vision where geology determines ranges</a:t>
            </a:r>
          </a:p>
          <a:p>
            <a:pPr>
              <a:spcBef>
                <a:spcPts val="5"/>
              </a:spcBef>
            </a:pPr>
            <a:endParaRPr lang="en-US" sz="2100" dirty="0">
              <a:latin typeface="Gill Sans"/>
              <a:cs typeface="Gill Sans"/>
            </a:endParaRPr>
          </a:p>
          <a:p>
            <a:pPr>
              <a:spcBef>
                <a:spcPts val="5"/>
              </a:spcBef>
            </a:pPr>
            <a:r>
              <a:rPr lang="en-US" sz="2100" dirty="0">
                <a:latin typeface="Gill Sans"/>
                <a:cs typeface="Gill Sans"/>
              </a:rPr>
              <a:t>Dispersal: “unpredictable” “chance events”</a:t>
            </a:r>
          </a:p>
          <a:p>
            <a:pPr>
              <a:spcBef>
                <a:spcPts val="5"/>
              </a:spcBef>
            </a:pPr>
            <a:endParaRPr lang="en-US" sz="2100" dirty="0">
              <a:latin typeface="Gill Sans"/>
              <a:cs typeface="Gill Sans"/>
            </a:endParaRPr>
          </a:p>
          <a:p>
            <a:pPr>
              <a:spcBef>
                <a:spcPts val="5"/>
              </a:spcBef>
            </a:pPr>
            <a:r>
              <a:rPr lang="en-US" sz="2100" dirty="0">
                <a:latin typeface="Gill Sans"/>
                <a:cs typeface="Gill Sans"/>
              </a:rPr>
              <a:t>Me: “Unpredictable” doesn’t mean intractable </a:t>
            </a:r>
            <a:r>
              <a:rPr lang="mr-IN" sz="2100" dirty="0">
                <a:latin typeface="Gill Sans"/>
                <a:cs typeface="Gill Sans"/>
              </a:rPr>
              <a:t>–</a:t>
            </a:r>
            <a:r>
              <a:rPr lang="en-US" sz="2100" dirty="0">
                <a:latin typeface="Gill Sans"/>
                <a:cs typeface="Gill Sans"/>
              </a:rPr>
              <a:t> we can address using probabilistic models</a:t>
            </a:r>
            <a:endParaRPr sz="2100" dirty="0">
              <a:latin typeface="Times New Roman"/>
              <a:cs typeface="Times New Roman"/>
            </a:endParaRPr>
          </a:p>
        </p:txBody>
      </p:sp>
    </p:spTree>
    <p:extLst>
      <p:ext uri="{BB962C8B-B14F-4D97-AF65-F5344CB8AC3E}">
        <p14:creationId xmlns:p14="http://schemas.microsoft.com/office/powerpoint/2010/main" val="1616593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Evolution solved one biogeographical problem, but created new puzzles"/>
          <p:cNvSpPr txBox="1">
            <a:spLocks noGrp="1"/>
          </p:cNvSpPr>
          <p:nvPr>
            <p:ph type="title"/>
          </p:nvPr>
        </p:nvSpPr>
        <p:spPr>
          <a:xfrm>
            <a:off x="321469" y="178594"/>
            <a:ext cx="8001000" cy="1562695"/>
          </a:xfrm>
          <a:prstGeom prst="rect">
            <a:avLst/>
          </a:prstGeom>
        </p:spPr>
        <p:txBody>
          <a:bodyPr>
            <a:normAutofit fontScale="90000"/>
          </a:bodyPr>
          <a:lstStyle>
            <a:lvl1pPr algn="l">
              <a:defRPr sz="4800" b="1"/>
            </a:lvl1pPr>
          </a:lstStyle>
          <a:p>
            <a:pPr>
              <a:defRPr b="0"/>
            </a:pPr>
            <a:r>
              <a:rPr b="1"/>
              <a:t>Evolution solved one biogeographical problem, but created new puzzles</a:t>
            </a:r>
          </a:p>
        </p:txBody>
      </p:sp>
      <p:pic>
        <p:nvPicPr>
          <p:cNvPr id="216" name="droppedImage.tiff" descr="droppedImage.tiff"/>
          <p:cNvPicPr>
            <a:picLocks noChangeAspect="1"/>
          </p:cNvPicPr>
          <p:nvPr/>
        </p:nvPicPr>
        <p:blipFill>
          <a:blip r:embed="rId2"/>
          <a:stretch>
            <a:fillRect/>
          </a:stretch>
        </p:blipFill>
        <p:spPr>
          <a:xfrm>
            <a:off x="258961" y="2089547"/>
            <a:ext cx="3964781" cy="2672556"/>
          </a:xfrm>
          <a:prstGeom prst="rect">
            <a:avLst/>
          </a:prstGeom>
          <a:ln w="12700">
            <a:miter lim="400000"/>
          </a:ln>
        </p:spPr>
      </p:pic>
      <p:pic>
        <p:nvPicPr>
          <p:cNvPr id="217" name="droppedImage.tiff" descr="droppedImage.tiff"/>
          <p:cNvPicPr>
            <a:picLocks noChangeAspect="1"/>
          </p:cNvPicPr>
          <p:nvPr/>
        </p:nvPicPr>
        <p:blipFill>
          <a:blip r:embed="rId3"/>
          <a:stretch>
            <a:fillRect/>
          </a:stretch>
        </p:blipFill>
        <p:spPr>
          <a:xfrm>
            <a:off x="4518422" y="2007906"/>
            <a:ext cx="4339828" cy="4331353"/>
          </a:xfrm>
          <a:prstGeom prst="rect">
            <a:avLst/>
          </a:prstGeom>
          <a:ln w="12700">
            <a:miter lim="400000"/>
          </a:ln>
        </p:spPr>
      </p:pic>
      <p:sp>
        <p:nvSpPr>
          <p:cNvPr id="218" name="http://bioteaching.wordpress.com/2012/03/28/modes-of-speciation/"/>
          <p:cNvSpPr/>
          <p:nvPr/>
        </p:nvSpPr>
        <p:spPr>
          <a:xfrm>
            <a:off x="5545336" y="6494394"/>
            <a:ext cx="3277195" cy="441463"/>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lvl1pPr>
              <a:defRPr sz="1200">
                <a:hlinkClick r:id="rId4"/>
              </a:defRPr>
            </a:lvl1pPr>
          </a:lstStyle>
          <a:p>
            <a:r>
              <a:rPr>
                <a:hlinkClick r:id="rId4"/>
              </a:rPr>
              <a:t>http://bioteaching.wordpress.com/2012/03/28/modes-of-speciation/</a:t>
            </a:r>
          </a:p>
        </p:txBody>
      </p:sp>
      <p:sp>
        <p:nvSpPr>
          <p:cNvPr id="7" name="Southern Beech…"/>
          <p:cNvSpPr/>
          <p:nvPr/>
        </p:nvSpPr>
        <p:spPr>
          <a:xfrm>
            <a:off x="1741289" y="4012893"/>
            <a:ext cx="1598414" cy="564574"/>
          </a:xfrm>
          <a:prstGeom prst="rect">
            <a:avLst/>
          </a:prstGeom>
          <a:solidFill>
            <a:srgbClr val="FFFFFF"/>
          </a:solidFill>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l">
              <a:defRPr sz="2400"/>
            </a:pPr>
            <a:r>
              <a:rPr sz="1600" dirty="0"/>
              <a:t>Southern Beech</a:t>
            </a:r>
          </a:p>
          <a:p>
            <a:pPr algn="l">
              <a:defRPr sz="2400" i="1"/>
            </a:pPr>
            <a:r>
              <a:rPr sz="1600" dirty="0"/>
              <a:t>Nothofagus</a:t>
            </a:r>
          </a:p>
        </p:txBody>
      </p:sp>
    </p:spTree>
    <p:extLst>
      <p:ext uri="{BB962C8B-B14F-4D97-AF65-F5344CB8AC3E}">
        <p14:creationId xmlns:p14="http://schemas.microsoft.com/office/powerpoint/2010/main" val="100172646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Evolution solved one biogeographical problem, but created new puzzles"/>
          <p:cNvSpPr txBox="1">
            <a:spLocks noGrp="1"/>
          </p:cNvSpPr>
          <p:nvPr>
            <p:ph type="title"/>
          </p:nvPr>
        </p:nvSpPr>
        <p:spPr>
          <a:xfrm>
            <a:off x="321469" y="178594"/>
            <a:ext cx="8001000" cy="1562695"/>
          </a:xfrm>
          <a:prstGeom prst="rect">
            <a:avLst/>
          </a:prstGeom>
        </p:spPr>
        <p:txBody>
          <a:bodyPr>
            <a:normAutofit fontScale="90000"/>
          </a:bodyPr>
          <a:lstStyle>
            <a:lvl1pPr algn="l">
              <a:defRPr sz="4800" b="1"/>
            </a:lvl1pPr>
          </a:lstStyle>
          <a:p>
            <a:pPr>
              <a:defRPr b="0"/>
            </a:pPr>
            <a:r>
              <a:rPr b="1"/>
              <a:t>Evolution solved one biogeographical problem, but created new puzzles</a:t>
            </a:r>
          </a:p>
        </p:txBody>
      </p:sp>
      <p:pic>
        <p:nvPicPr>
          <p:cNvPr id="222" name="droppedImage.tiff" descr="droppedImage.tiff"/>
          <p:cNvPicPr>
            <a:picLocks noChangeAspect="1"/>
          </p:cNvPicPr>
          <p:nvPr/>
        </p:nvPicPr>
        <p:blipFill>
          <a:blip r:embed="rId2"/>
          <a:stretch>
            <a:fillRect/>
          </a:stretch>
        </p:blipFill>
        <p:spPr>
          <a:xfrm>
            <a:off x="258961" y="2089547"/>
            <a:ext cx="3964781" cy="2672556"/>
          </a:xfrm>
          <a:prstGeom prst="rect">
            <a:avLst/>
          </a:prstGeom>
          <a:ln w="12700">
            <a:miter lim="400000"/>
          </a:ln>
        </p:spPr>
      </p:pic>
      <p:pic>
        <p:nvPicPr>
          <p:cNvPr id="223" name="droppedImage.tiff" descr="droppedImage.tiff"/>
          <p:cNvPicPr>
            <a:picLocks noChangeAspect="1"/>
          </p:cNvPicPr>
          <p:nvPr/>
        </p:nvPicPr>
        <p:blipFill>
          <a:blip r:embed="rId3"/>
          <a:stretch>
            <a:fillRect/>
          </a:stretch>
        </p:blipFill>
        <p:spPr>
          <a:xfrm>
            <a:off x="4527351" y="2536031"/>
            <a:ext cx="4348758" cy="2178844"/>
          </a:xfrm>
          <a:prstGeom prst="rect">
            <a:avLst/>
          </a:prstGeom>
          <a:ln w="12700">
            <a:miter lim="400000"/>
          </a:ln>
        </p:spPr>
      </p:pic>
      <p:sp>
        <p:nvSpPr>
          <p:cNvPr id="224" name="http://www.geo.arizona.edu/Antevs/ecol438/lect02.html"/>
          <p:cNvSpPr/>
          <p:nvPr/>
        </p:nvSpPr>
        <p:spPr>
          <a:xfrm>
            <a:off x="6391615" y="4671309"/>
            <a:ext cx="3683246" cy="25679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defRPr sz="1200">
                <a:hlinkClick r:id="rId4"/>
              </a:defRPr>
            </a:lvl1pPr>
          </a:lstStyle>
          <a:p>
            <a:r>
              <a:rPr>
                <a:hlinkClick r:id="rId4"/>
              </a:rPr>
              <a:t>http://www.geo.arizona.edu/Antevs/ecol438/lect02.html</a:t>
            </a:r>
          </a:p>
        </p:txBody>
      </p:sp>
      <p:sp>
        <p:nvSpPr>
          <p:cNvPr id="225" name="Land bridges?"/>
          <p:cNvSpPr/>
          <p:nvPr/>
        </p:nvSpPr>
        <p:spPr>
          <a:xfrm>
            <a:off x="5018485" y="1827025"/>
            <a:ext cx="3599239" cy="810795"/>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4800" b="1"/>
            </a:lvl1pPr>
          </a:lstStyle>
          <a:p>
            <a:pPr>
              <a:defRPr b="0"/>
            </a:pPr>
            <a:r>
              <a:rPr b="1"/>
              <a:t>Land bridges?</a:t>
            </a:r>
          </a:p>
        </p:txBody>
      </p:sp>
      <p:sp>
        <p:nvSpPr>
          <p:cNvPr id="226" name="Southern Beech…"/>
          <p:cNvSpPr/>
          <p:nvPr/>
        </p:nvSpPr>
        <p:spPr>
          <a:xfrm>
            <a:off x="1741289" y="4012893"/>
            <a:ext cx="1598414" cy="564574"/>
          </a:xfrm>
          <a:prstGeom prst="rect">
            <a:avLst/>
          </a:prstGeom>
          <a:solidFill>
            <a:srgbClr val="FFFFFF"/>
          </a:solidFill>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l">
              <a:defRPr sz="2400"/>
            </a:pPr>
            <a:r>
              <a:rPr sz="1600" dirty="0"/>
              <a:t>Southern Beech</a:t>
            </a:r>
          </a:p>
          <a:p>
            <a:pPr algn="l">
              <a:defRPr sz="2400" i="1"/>
            </a:pPr>
            <a:r>
              <a:rPr sz="1600" dirty="0"/>
              <a:t>Nothofagus</a:t>
            </a:r>
          </a:p>
        </p:txBody>
      </p:sp>
    </p:spTree>
    <p:extLst>
      <p:ext uri="{BB962C8B-B14F-4D97-AF65-F5344CB8AC3E}">
        <p14:creationId xmlns:p14="http://schemas.microsoft.com/office/powerpoint/2010/main" val="388472947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 name="Region capture 11.png" descr="Region capture 11.png"/>
          <p:cNvPicPr>
            <a:picLocks noChangeAspect="1"/>
          </p:cNvPicPr>
          <p:nvPr/>
        </p:nvPicPr>
        <p:blipFill>
          <a:blip r:embed="rId2"/>
          <a:stretch>
            <a:fillRect/>
          </a:stretch>
        </p:blipFill>
        <p:spPr>
          <a:xfrm>
            <a:off x="133945" y="723304"/>
            <a:ext cx="6762209" cy="1669852"/>
          </a:xfrm>
          <a:prstGeom prst="rect">
            <a:avLst/>
          </a:prstGeom>
          <a:ln w="12700">
            <a:miter lim="400000"/>
          </a:ln>
        </p:spPr>
      </p:pic>
      <p:pic>
        <p:nvPicPr>
          <p:cNvPr id="229" name="Region capture 12.png" descr="Region capture 12.png"/>
          <p:cNvPicPr>
            <a:picLocks noChangeAspect="1"/>
          </p:cNvPicPr>
          <p:nvPr/>
        </p:nvPicPr>
        <p:blipFill>
          <a:blip r:embed="rId3"/>
          <a:stretch>
            <a:fillRect/>
          </a:stretch>
        </p:blipFill>
        <p:spPr>
          <a:xfrm>
            <a:off x="312539" y="2807294"/>
            <a:ext cx="2035969" cy="3511008"/>
          </a:xfrm>
          <a:prstGeom prst="rect">
            <a:avLst/>
          </a:prstGeom>
          <a:ln w="12700">
            <a:miter lim="400000"/>
          </a:ln>
        </p:spPr>
      </p:pic>
      <p:pic>
        <p:nvPicPr>
          <p:cNvPr id="230" name="Region capture 13.png" descr="Region capture 13.png"/>
          <p:cNvPicPr>
            <a:picLocks noChangeAspect="1"/>
          </p:cNvPicPr>
          <p:nvPr/>
        </p:nvPicPr>
        <p:blipFill>
          <a:blip r:embed="rId4"/>
          <a:stretch>
            <a:fillRect/>
          </a:stretch>
        </p:blipFill>
        <p:spPr>
          <a:xfrm>
            <a:off x="3723680" y="1560290"/>
            <a:ext cx="5375672" cy="5065538"/>
          </a:xfrm>
          <a:prstGeom prst="rect">
            <a:avLst/>
          </a:prstGeom>
          <a:ln w="25400">
            <a:solidFill>
              <a:srgbClr val="000000"/>
            </a:solidFill>
            <a:miter lim="400000"/>
          </a:ln>
        </p:spPr>
      </p:pic>
      <p:sp>
        <p:nvSpPr>
          <p:cNvPr id="231" name="Arrow"/>
          <p:cNvSpPr/>
          <p:nvPr/>
        </p:nvSpPr>
        <p:spPr>
          <a:xfrm>
            <a:off x="2625328" y="3946922"/>
            <a:ext cx="964406" cy="892969"/>
          </a:xfrm>
          <a:prstGeom prst="rightArrow">
            <a:avLst>
              <a:gd name="adj1" fmla="val 61898"/>
              <a:gd name="adj2" fmla="val 52855"/>
            </a:avLst>
          </a:prstGeom>
          <a:solidFill>
            <a:srgbClr val="669C35"/>
          </a:solidFill>
          <a:ln w="25400">
            <a:solidFill>
              <a:srgbClr val="000000"/>
            </a:solidFill>
            <a:miter lim="400000"/>
          </a:ln>
        </p:spPr>
        <p:txBody>
          <a:bodyPr lIns="35717" tIns="35717" rIns="35717" bIns="35717"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32" name="http://www.darwinproject.ac.uk/letter/entry-1904"/>
          <p:cNvSpPr/>
          <p:nvPr/>
        </p:nvSpPr>
        <p:spPr>
          <a:xfrm>
            <a:off x="6861859" y="6600121"/>
            <a:ext cx="3268620" cy="25679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defRPr sz="1200" u="sng">
                <a:hlinkClick r:id="rId5"/>
              </a:defRPr>
            </a:lvl1pPr>
          </a:lstStyle>
          <a:p>
            <a:pPr>
              <a:defRPr u="none"/>
            </a:pPr>
            <a:r>
              <a:rPr u="sng">
                <a:hlinkClick r:id="rId5"/>
              </a:rPr>
              <a:t>http://www.darwinproject.ac.uk/letter/entry-1904</a:t>
            </a:r>
          </a:p>
        </p:txBody>
      </p:sp>
    </p:spTree>
    <p:extLst>
      <p:ext uri="{BB962C8B-B14F-4D97-AF65-F5344CB8AC3E}">
        <p14:creationId xmlns:p14="http://schemas.microsoft.com/office/powerpoint/2010/main" val="380426588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Region capture 11.png" descr="Region capture 11.png"/>
          <p:cNvPicPr>
            <a:picLocks noChangeAspect="1"/>
          </p:cNvPicPr>
          <p:nvPr/>
        </p:nvPicPr>
        <p:blipFill>
          <a:blip r:embed="rId2"/>
          <a:stretch>
            <a:fillRect/>
          </a:stretch>
        </p:blipFill>
        <p:spPr>
          <a:xfrm>
            <a:off x="133945" y="723304"/>
            <a:ext cx="6762209" cy="1669852"/>
          </a:xfrm>
          <a:prstGeom prst="rect">
            <a:avLst/>
          </a:prstGeom>
          <a:ln w="12700">
            <a:miter lim="400000"/>
          </a:ln>
        </p:spPr>
      </p:pic>
      <p:pic>
        <p:nvPicPr>
          <p:cNvPr id="235" name="Region capture 12.png" descr="Region capture 12.png"/>
          <p:cNvPicPr>
            <a:picLocks noChangeAspect="1"/>
          </p:cNvPicPr>
          <p:nvPr/>
        </p:nvPicPr>
        <p:blipFill>
          <a:blip r:embed="rId3"/>
          <a:stretch>
            <a:fillRect/>
          </a:stretch>
        </p:blipFill>
        <p:spPr>
          <a:xfrm>
            <a:off x="312539" y="2807294"/>
            <a:ext cx="2035969" cy="3511008"/>
          </a:xfrm>
          <a:prstGeom prst="rect">
            <a:avLst/>
          </a:prstGeom>
          <a:ln w="12700">
            <a:miter lim="400000"/>
          </a:ln>
        </p:spPr>
      </p:pic>
      <p:pic>
        <p:nvPicPr>
          <p:cNvPr id="236" name="Region capture 13.png" descr="Region capture 13.png"/>
          <p:cNvPicPr>
            <a:picLocks noChangeAspect="1"/>
          </p:cNvPicPr>
          <p:nvPr/>
        </p:nvPicPr>
        <p:blipFill>
          <a:blip r:embed="rId4"/>
          <a:stretch>
            <a:fillRect/>
          </a:stretch>
        </p:blipFill>
        <p:spPr>
          <a:xfrm>
            <a:off x="3723680" y="1560290"/>
            <a:ext cx="5375672" cy="5065538"/>
          </a:xfrm>
          <a:prstGeom prst="rect">
            <a:avLst/>
          </a:prstGeom>
          <a:ln w="25400">
            <a:solidFill>
              <a:srgbClr val="000000"/>
            </a:solidFill>
            <a:miter lim="400000"/>
          </a:ln>
        </p:spPr>
      </p:pic>
      <p:sp>
        <p:nvSpPr>
          <p:cNvPr id="237" name="Arrow"/>
          <p:cNvSpPr/>
          <p:nvPr/>
        </p:nvSpPr>
        <p:spPr>
          <a:xfrm>
            <a:off x="2625328" y="3946922"/>
            <a:ext cx="964406" cy="892969"/>
          </a:xfrm>
          <a:prstGeom prst="rightArrow">
            <a:avLst>
              <a:gd name="adj1" fmla="val 61898"/>
              <a:gd name="adj2" fmla="val 52855"/>
            </a:avLst>
          </a:prstGeom>
          <a:solidFill>
            <a:srgbClr val="669C35"/>
          </a:solidFill>
          <a:ln w="25400">
            <a:solidFill>
              <a:srgbClr val="000000"/>
            </a:solidFill>
            <a:miter lim="400000"/>
          </a:ln>
        </p:spPr>
        <p:txBody>
          <a:bodyPr lIns="35717" tIns="35717" rIns="35717" bIns="35717"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38" name="http://www.darwinproject.ac.uk/letter/entry-1904"/>
          <p:cNvSpPr/>
          <p:nvPr/>
        </p:nvSpPr>
        <p:spPr>
          <a:xfrm>
            <a:off x="6861859" y="6600121"/>
            <a:ext cx="3268620" cy="25679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defRPr sz="1200" u="sng">
                <a:hlinkClick r:id="rId5"/>
              </a:defRPr>
            </a:lvl1pPr>
          </a:lstStyle>
          <a:p>
            <a:pPr>
              <a:defRPr u="none"/>
            </a:pPr>
            <a:r>
              <a:rPr u="sng">
                <a:hlinkClick r:id="rId5"/>
              </a:rPr>
              <a:t>http://www.darwinproject.ac.uk/letter/entry-1904</a:t>
            </a:r>
          </a:p>
        </p:txBody>
      </p:sp>
      <p:sp>
        <p:nvSpPr>
          <p:cNvPr id="239" name="Rounded Rectangle"/>
          <p:cNvSpPr/>
          <p:nvPr/>
        </p:nvSpPr>
        <p:spPr>
          <a:xfrm>
            <a:off x="3723680" y="5581055"/>
            <a:ext cx="5188148" cy="1017984"/>
          </a:xfrm>
          <a:prstGeom prst="roundRect">
            <a:avLst>
              <a:gd name="adj" fmla="val 13158"/>
            </a:avLst>
          </a:prstGeom>
          <a:solidFill>
            <a:srgbClr val="53D5FD">
              <a:alpha val="50000"/>
            </a:srgbClr>
          </a:solidFill>
          <a:ln w="50800">
            <a:solidFill>
              <a:srgbClr val="0061FF">
                <a:alpha val="50000"/>
              </a:srgbClr>
            </a:solidFill>
            <a:miter lim="400000"/>
          </a:ln>
        </p:spPr>
        <p:txBody>
          <a:bodyPr lIns="35717" tIns="35717" rIns="35717" bIns="35717" anchor="ctr"/>
          <a:lstStyle/>
          <a:p>
            <a:pPr>
              <a:defRPr sz="4000">
                <a:solidFill>
                  <a:srgbClr val="FFFFFF"/>
                </a:solidFill>
                <a:effectLst>
                  <a:outerShdw blurRad="38100" dist="12700" dir="5400000" rotWithShape="0">
                    <a:srgbClr val="000000">
                      <a:alpha val="50000"/>
                    </a:srgbClr>
                  </a:outerShdw>
                </a:effectLst>
              </a:defRPr>
            </a:pPr>
            <a:endParaRPr/>
          </a:p>
        </p:txBody>
      </p:sp>
    </p:spTree>
    <p:extLst>
      <p:ext uri="{BB962C8B-B14F-4D97-AF65-F5344CB8AC3E}">
        <p14:creationId xmlns:p14="http://schemas.microsoft.com/office/powerpoint/2010/main" val="21273855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 name="Region capture 11.png" descr="Region capture 11.png"/>
          <p:cNvPicPr>
            <a:picLocks noChangeAspect="1"/>
          </p:cNvPicPr>
          <p:nvPr/>
        </p:nvPicPr>
        <p:blipFill>
          <a:blip r:embed="rId2"/>
          <a:stretch>
            <a:fillRect/>
          </a:stretch>
        </p:blipFill>
        <p:spPr>
          <a:xfrm>
            <a:off x="133945" y="723304"/>
            <a:ext cx="6762209" cy="1669852"/>
          </a:xfrm>
          <a:prstGeom prst="rect">
            <a:avLst/>
          </a:prstGeom>
          <a:ln w="12700">
            <a:miter lim="400000"/>
          </a:ln>
        </p:spPr>
      </p:pic>
      <p:pic>
        <p:nvPicPr>
          <p:cNvPr id="242" name="Region capture 12.png" descr="Region capture 12.png"/>
          <p:cNvPicPr>
            <a:picLocks noChangeAspect="1"/>
          </p:cNvPicPr>
          <p:nvPr/>
        </p:nvPicPr>
        <p:blipFill>
          <a:blip r:embed="rId3"/>
          <a:stretch>
            <a:fillRect/>
          </a:stretch>
        </p:blipFill>
        <p:spPr>
          <a:xfrm>
            <a:off x="312539" y="2807294"/>
            <a:ext cx="2035969" cy="3511008"/>
          </a:xfrm>
          <a:prstGeom prst="rect">
            <a:avLst/>
          </a:prstGeom>
          <a:ln w="12700">
            <a:miter lim="400000"/>
          </a:ln>
        </p:spPr>
      </p:pic>
      <p:pic>
        <p:nvPicPr>
          <p:cNvPr id="243" name="Region capture 13.png" descr="Region capture 13.png"/>
          <p:cNvPicPr>
            <a:picLocks noChangeAspect="1"/>
          </p:cNvPicPr>
          <p:nvPr/>
        </p:nvPicPr>
        <p:blipFill>
          <a:blip r:embed="rId4"/>
          <a:stretch>
            <a:fillRect/>
          </a:stretch>
        </p:blipFill>
        <p:spPr>
          <a:xfrm>
            <a:off x="3723680" y="1560290"/>
            <a:ext cx="5375672" cy="5065538"/>
          </a:xfrm>
          <a:prstGeom prst="rect">
            <a:avLst/>
          </a:prstGeom>
          <a:ln w="25400">
            <a:solidFill>
              <a:srgbClr val="000000"/>
            </a:solidFill>
            <a:miter lim="400000"/>
          </a:ln>
        </p:spPr>
      </p:pic>
      <p:sp>
        <p:nvSpPr>
          <p:cNvPr id="244" name="Arrow"/>
          <p:cNvSpPr/>
          <p:nvPr/>
        </p:nvSpPr>
        <p:spPr>
          <a:xfrm>
            <a:off x="2625328" y="3946922"/>
            <a:ext cx="964406" cy="892969"/>
          </a:xfrm>
          <a:prstGeom prst="rightArrow">
            <a:avLst>
              <a:gd name="adj1" fmla="val 61898"/>
              <a:gd name="adj2" fmla="val 52855"/>
            </a:avLst>
          </a:prstGeom>
          <a:solidFill>
            <a:srgbClr val="669C35"/>
          </a:solidFill>
          <a:ln w="25400">
            <a:solidFill>
              <a:srgbClr val="000000"/>
            </a:solidFill>
            <a:miter lim="400000"/>
          </a:ln>
        </p:spPr>
        <p:txBody>
          <a:bodyPr lIns="35717" tIns="35717" rIns="35717" bIns="35717"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245" name="http://www.darwinproject.ac.uk/letter/entry-1904"/>
          <p:cNvSpPr/>
          <p:nvPr/>
        </p:nvSpPr>
        <p:spPr>
          <a:xfrm>
            <a:off x="6861859" y="6600121"/>
            <a:ext cx="3268620" cy="256798"/>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defRPr sz="1200" u="sng">
                <a:hlinkClick r:id="rId5"/>
              </a:defRPr>
            </a:lvl1pPr>
          </a:lstStyle>
          <a:p>
            <a:pPr>
              <a:defRPr u="none"/>
            </a:pPr>
            <a:r>
              <a:rPr u="sng">
                <a:hlinkClick r:id="rId5"/>
              </a:rPr>
              <a:t>http://www.darwinproject.ac.uk/letter/entry-1904</a:t>
            </a:r>
          </a:p>
        </p:txBody>
      </p:sp>
      <p:pic>
        <p:nvPicPr>
          <p:cNvPr id="247" name="Darwin_1854_small.JPG" descr="Darwin_1854_small.JPG"/>
          <p:cNvPicPr>
            <a:picLocks noChangeAspect="1"/>
          </p:cNvPicPr>
          <p:nvPr/>
        </p:nvPicPr>
        <p:blipFill>
          <a:blip r:embed="rId6"/>
          <a:stretch>
            <a:fillRect/>
          </a:stretch>
        </p:blipFill>
        <p:spPr>
          <a:xfrm>
            <a:off x="4714875" y="2562791"/>
            <a:ext cx="2687836" cy="3161139"/>
          </a:xfrm>
          <a:prstGeom prst="rect">
            <a:avLst/>
          </a:prstGeom>
          <a:ln w="25400">
            <a:solidFill>
              <a:srgbClr val="000000"/>
            </a:solidFill>
            <a:miter lim="400000"/>
          </a:ln>
        </p:spPr>
      </p:pic>
      <p:sp>
        <p:nvSpPr>
          <p:cNvPr id="246" name="“I must try &amp; cease being rabid &amp; try to feel humble, &amp; allow you all to make continents, as easily as a Cook does pancakes.”…"/>
          <p:cNvSpPr/>
          <p:nvPr/>
        </p:nvSpPr>
        <p:spPr>
          <a:xfrm>
            <a:off x="1775345" y="702526"/>
            <a:ext cx="6583032" cy="5612110"/>
          </a:xfrm>
          <a:prstGeom prst="rect">
            <a:avLst/>
          </a:prstGeom>
          <a:solidFill>
            <a:srgbClr val="53D5FD"/>
          </a:solidFill>
          <a:ln w="25400">
            <a:solidFill>
              <a:srgbClr val="000000"/>
            </a:solidFill>
            <a:miter lim="400000"/>
          </a:ln>
          <a:extLst>
            <a:ext uri="{C572A759-6A51-4108-AA02-DFA0A04FC94B}">
              <ma14:wrappingTextBoxFlag xmlns="" xmlns:ma14="http://schemas.microsoft.com/office/mac/drawingml/2011/main" val="1"/>
            </a:ext>
          </a:extLst>
        </p:spPr>
        <p:txBody>
          <a:bodyPr wrap="square" lIns="35717" tIns="35717" rIns="35717" bIns="35717" anchor="ctr">
            <a:spAutoFit/>
          </a:bodyPr>
          <a:lstStyle/>
          <a:p>
            <a:pPr defTabSz="321457">
              <a:defRPr sz="4800" b="1" spc="300">
                <a:solidFill>
                  <a:srgbClr val="1B1E22"/>
                </a:solidFill>
                <a:latin typeface="Palatino Linotype"/>
                <a:ea typeface="Palatino Linotype"/>
                <a:cs typeface="Palatino Linotype"/>
                <a:sym typeface="Palatino Linotype"/>
              </a:defRPr>
            </a:pPr>
            <a:r>
              <a:rPr sz="4000" dirty="0">
                <a:latin typeface="Calibri"/>
                <a:cs typeface="Calibri"/>
              </a:rPr>
              <a:t>“I must try &amp; cease being rabid &amp; try to feel humble, &amp; allow you all to make continents, as easily as a Cook does pancakes.”</a:t>
            </a:r>
          </a:p>
          <a:p>
            <a:pPr defTabSz="321457">
              <a:defRPr sz="4800" b="1" spc="300">
                <a:solidFill>
                  <a:srgbClr val="1B1E22"/>
                </a:solidFill>
                <a:latin typeface="Palatino Linotype"/>
                <a:ea typeface="Palatino Linotype"/>
                <a:cs typeface="Palatino Linotype"/>
                <a:sym typeface="Palatino Linotype"/>
              </a:defRPr>
            </a:pPr>
            <a:endParaRPr sz="4000" dirty="0">
              <a:latin typeface="Calibri"/>
              <a:cs typeface="Calibri"/>
            </a:endParaRPr>
          </a:p>
          <a:p>
            <a:pPr defTabSz="321457">
              <a:defRPr sz="4800" b="1" spc="300">
                <a:solidFill>
                  <a:srgbClr val="1B1E22"/>
                </a:solidFill>
                <a:latin typeface="Palatino Linotype"/>
                <a:ea typeface="Palatino Linotype"/>
                <a:cs typeface="Palatino Linotype"/>
                <a:sym typeface="Palatino Linotype"/>
              </a:defRPr>
            </a:pPr>
            <a:endParaRPr sz="4000" dirty="0">
              <a:latin typeface="Calibri"/>
              <a:cs typeface="Calibri"/>
            </a:endParaRPr>
          </a:p>
          <a:p>
            <a:pPr algn="r" defTabSz="321457">
              <a:defRPr sz="4800" b="1" spc="300">
                <a:solidFill>
                  <a:srgbClr val="1B1E22"/>
                </a:solidFill>
                <a:latin typeface="Palatino Linotype"/>
                <a:ea typeface="Palatino Linotype"/>
                <a:cs typeface="Palatino Linotype"/>
                <a:sym typeface="Palatino Linotype"/>
              </a:defRPr>
            </a:pPr>
            <a:r>
              <a:rPr sz="4000" dirty="0">
                <a:latin typeface="Calibri"/>
                <a:cs typeface="Calibri"/>
              </a:rPr>
              <a:t>-- Darwin to Hooker, June 1856</a:t>
            </a:r>
          </a:p>
        </p:txBody>
      </p:sp>
    </p:spTree>
    <p:extLst>
      <p:ext uri="{BB962C8B-B14F-4D97-AF65-F5344CB8AC3E}">
        <p14:creationId xmlns:p14="http://schemas.microsoft.com/office/powerpoint/2010/main" val="399070125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te tectonics led many to favor vicariance"/>
          <p:cNvSpPr txBox="1">
            <a:spLocks noGrp="1"/>
          </p:cNvSpPr>
          <p:nvPr>
            <p:ph type="title"/>
          </p:nvPr>
        </p:nvSpPr>
        <p:spPr>
          <a:xfrm>
            <a:off x="321469" y="178595"/>
            <a:ext cx="8001000" cy="823342"/>
          </a:xfrm>
          <a:prstGeom prst="rect">
            <a:avLst/>
          </a:prstGeom>
        </p:spPr>
        <p:txBody>
          <a:bodyPr/>
          <a:lstStyle>
            <a:lvl1pPr algn="l">
              <a:defRPr sz="4800" b="1"/>
            </a:lvl1pPr>
          </a:lstStyle>
          <a:p>
            <a:pPr>
              <a:defRPr b="0"/>
            </a:pPr>
            <a:r>
              <a:rPr lang="en-US" b="1" dirty="0"/>
              <a:t>Wegener, continental drift</a:t>
            </a:r>
            <a:endParaRPr b="1" dirty="0"/>
          </a:p>
        </p:txBody>
      </p:sp>
      <p:pic>
        <p:nvPicPr>
          <p:cNvPr id="2" name="Picture 1"/>
          <p:cNvPicPr>
            <a:picLocks noChangeAspect="1"/>
          </p:cNvPicPr>
          <p:nvPr/>
        </p:nvPicPr>
        <p:blipFill>
          <a:blip r:embed="rId2"/>
          <a:stretch>
            <a:fillRect/>
          </a:stretch>
        </p:blipFill>
        <p:spPr>
          <a:xfrm>
            <a:off x="4461110" y="1210595"/>
            <a:ext cx="4314849" cy="4989044"/>
          </a:xfrm>
          <a:prstGeom prst="rect">
            <a:avLst/>
          </a:prstGeom>
        </p:spPr>
      </p:pic>
      <p:pic>
        <p:nvPicPr>
          <p:cNvPr id="3" name="Picture 2"/>
          <p:cNvPicPr>
            <a:picLocks noChangeAspect="1"/>
          </p:cNvPicPr>
          <p:nvPr/>
        </p:nvPicPr>
        <p:blipFill>
          <a:blip r:embed="rId3"/>
          <a:stretch>
            <a:fillRect/>
          </a:stretch>
        </p:blipFill>
        <p:spPr>
          <a:xfrm>
            <a:off x="596564" y="1210595"/>
            <a:ext cx="3223475" cy="5029867"/>
          </a:xfrm>
          <a:prstGeom prst="rect">
            <a:avLst/>
          </a:prstGeom>
        </p:spPr>
      </p:pic>
    </p:spTree>
    <p:extLst>
      <p:ext uri="{BB962C8B-B14F-4D97-AF65-F5344CB8AC3E}">
        <p14:creationId xmlns:p14="http://schemas.microsoft.com/office/powerpoint/2010/main" val="371032685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te tectonics led many to favor vicariance"/>
          <p:cNvSpPr txBox="1">
            <a:spLocks noGrp="1"/>
          </p:cNvSpPr>
          <p:nvPr>
            <p:ph type="title"/>
          </p:nvPr>
        </p:nvSpPr>
        <p:spPr>
          <a:xfrm>
            <a:off x="321469" y="178594"/>
            <a:ext cx="8001000" cy="1562695"/>
          </a:xfrm>
          <a:prstGeom prst="rect">
            <a:avLst/>
          </a:prstGeom>
        </p:spPr>
        <p:txBody>
          <a:bodyPr/>
          <a:lstStyle>
            <a:lvl1pPr algn="l">
              <a:defRPr sz="4800" b="1"/>
            </a:lvl1pPr>
          </a:lstStyle>
          <a:p>
            <a:pPr>
              <a:defRPr b="0"/>
            </a:pPr>
            <a:r>
              <a:rPr b="1"/>
              <a:t>Plate tectonics led many to favor vicariance</a:t>
            </a:r>
          </a:p>
        </p:txBody>
      </p:sp>
      <p:pic>
        <p:nvPicPr>
          <p:cNvPr id="250" name="droppedImage.tiff" descr="droppedImage.tiff"/>
          <p:cNvPicPr>
            <a:picLocks noChangeAspect="1"/>
          </p:cNvPicPr>
          <p:nvPr/>
        </p:nvPicPr>
        <p:blipFill>
          <a:blip r:embed="rId2"/>
          <a:stretch>
            <a:fillRect/>
          </a:stretch>
        </p:blipFill>
        <p:spPr>
          <a:xfrm>
            <a:off x="258961" y="2089547"/>
            <a:ext cx="3964781" cy="2672556"/>
          </a:xfrm>
          <a:prstGeom prst="rect">
            <a:avLst/>
          </a:prstGeom>
          <a:ln w="12700">
            <a:miter lim="400000"/>
          </a:ln>
        </p:spPr>
      </p:pic>
      <p:pic>
        <p:nvPicPr>
          <p:cNvPr id="251" name="droppedImage.tiff" descr="droppedImage.tiff"/>
          <p:cNvPicPr>
            <a:picLocks noChangeAspect="1"/>
          </p:cNvPicPr>
          <p:nvPr/>
        </p:nvPicPr>
        <p:blipFill>
          <a:blip r:embed="rId3"/>
          <a:stretch>
            <a:fillRect/>
          </a:stretch>
        </p:blipFill>
        <p:spPr>
          <a:xfrm>
            <a:off x="4679156" y="2348508"/>
            <a:ext cx="4000500" cy="2330648"/>
          </a:xfrm>
          <a:prstGeom prst="rect">
            <a:avLst/>
          </a:prstGeom>
          <a:ln w="12700">
            <a:miter lim="400000"/>
          </a:ln>
        </p:spPr>
      </p:pic>
      <p:sp>
        <p:nvSpPr>
          <p:cNvPr id="252" name="Posadasa et al. (2006). &quot;Historical biogeography: A review of its basic concepts and critical issues.&quot; Journal of Arid Environments, 66(3), 389–403."/>
          <p:cNvSpPr/>
          <p:nvPr/>
        </p:nvSpPr>
        <p:spPr>
          <a:xfrm>
            <a:off x="5598914" y="4825971"/>
            <a:ext cx="3384352" cy="62612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defRPr sz="1200"/>
            </a:pPr>
            <a:r>
              <a:t>Posadasa et al. (2006). "Historical biogeography: A review of its basic concepts and critical issues." </a:t>
            </a:r>
            <a:r>
              <a:rPr i="1"/>
              <a:t>Journal of Arid Environments</a:t>
            </a:r>
            <a:r>
              <a:t>, 66(3), 389–403.</a:t>
            </a:r>
          </a:p>
        </p:txBody>
      </p:sp>
      <p:sp>
        <p:nvSpPr>
          <p:cNvPr id="253" name="Southern Beech…"/>
          <p:cNvSpPr/>
          <p:nvPr/>
        </p:nvSpPr>
        <p:spPr>
          <a:xfrm>
            <a:off x="1741289" y="3705117"/>
            <a:ext cx="1598414" cy="1180127"/>
          </a:xfrm>
          <a:prstGeom prst="rect">
            <a:avLst/>
          </a:prstGeom>
          <a:solidFill>
            <a:srgbClr val="FFFFFF"/>
          </a:solidFill>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l">
              <a:defRPr sz="2400"/>
            </a:pPr>
            <a:r>
              <a:t>Southern Beech</a:t>
            </a:r>
          </a:p>
          <a:p>
            <a:pPr algn="l">
              <a:defRPr sz="2400" i="1"/>
            </a:pPr>
            <a:r>
              <a:t>Nothofagus</a:t>
            </a:r>
          </a:p>
        </p:txBody>
      </p:sp>
    </p:spTree>
    <p:extLst>
      <p:ext uri="{BB962C8B-B14F-4D97-AF65-F5344CB8AC3E}">
        <p14:creationId xmlns:p14="http://schemas.microsoft.com/office/powerpoint/2010/main" val="152392917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r>
              <a:rPr lang="en-US"/>
              <a:t>Nov. 22, 2008</a:t>
            </a:r>
          </a:p>
        </p:txBody>
      </p:sp>
      <p:sp>
        <p:nvSpPr>
          <p:cNvPr id="6" name="Footer Placeholder 2"/>
          <p:cNvSpPr>
            <a:spLocks noGrp="1"/>
          </p:cNvSpPr>
          <p:nvPr>
            <p:ph type="ftr" sz="quarter" idx="11"/>
          </p:nvPr>
        </p:nvSpPr>
        <p:spPr/>
        <p:txBody>
          <a:bodyPr/>
          <a:lstStyle/>
          <a:p>
            <a:r>
              <a:rPr lang="en-US"/>
              <a:t>UC Berkeley Comp Bio Group</a:t>
            </a:r>
          </a:p>
        </p:txBody>
      </p:sp>
      <p:sp>
        <p:nvSpPr>
          <p:cNvPr id="7" name="Slide Number Placeholder 3"/>
          <p:cNvSpPr>
            <a:spLocks noGrp="1"/>
          </p:cNvSpPr>
          <p:nvPr>
            <p:ph type="sldNum" sz="quarter" idx="12"/>
          </p:nvPr>
        </p:nvSpPr>
        <p:spPr/>
        <p:txBody>
          <a:bodyPr/>
          <a:lstStyle/>
          <a:p>
            <a:fld id="{A690D1F5-902D-9343-B545-E7FD48017B4B}" type="slidenum">
              <a:rPr lang="en-US"/>
              <a:pPr/>
              <a:t>12</a:t>
            </a:fld>
            <a:endParaRPr lang="en-US"/>
          </a:p>
        </p:txBody>
      </p:sp>
      <p:sp>
        <p:nvSpPr>
          <p:cNvPr id="370690" name="Rectangle 2"/>
          <p:cNvSpPr>
            <a:spLocks noGrp="1" noChangeArrowheads="1"/>
          </p:cNvSpPr>
          <p:nvPr>
            <p:ph type="title" idx="4294967295"/>
          </p:nvPr>
        </p:nvSpPr>
        <p:spPr>
          <a:xfrm>
            <a:off x="228600" y="609600"/>
            <a:ext cx="9067800" cy="609600"/>
          </a:xfrm>
        </p:spPr>
        <p:txBody>
          <a:bodyPr>
            <a:normAutofit fontScale="90000"/>
          </a:bodyPr>
          <a:lstStyle/>
          <a:p>
            <a:pPr algn="l"/>
            <a:r>
              <a:rPr lang="en-US" sz="3600" b="1">
                <a:solidFill>
                  <a:srgbClr val="FFFF00"/>
                </a:solidFill>
                <a:latin typeface="Arial" charset="0"/>
              </a:rPr>
              <a:t>1950s-1980s: panbiogeography</a:t>
            </a:r>
            <a:endParaRPr lang="en-US" sz="2400" b="1">
              <a:solidFill>
                <a:srgbClr val="FFFF00"/>
              </a:solidFill>
              <a:latin typeface="Arial" charset="0"/>
            </a:endParaRPr>
          </a:p>
        </p:txBody>
      </p:sp>
      <p:sp>
        <p:nvSpPr>
          <p:cNvPr id="370691" name="Rectangle 3"/>
          <p:cNvSpPr>
            <a:spLocks noChangeArrowheads="1"/>
          </p:cNvSpPr>
          <p:nvPr/>
        </p:nvSpPr>
        <p:spPr bwMode="auto">
          <a:xfrm>
            <a:off x="457200" y="1949451"/>
            <a:ext cx="5486400" cy="3232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182880" tIns="91440" rIns="182880" bIns="91440">
            <a:spAutoFit/>
          </a:bodyPr>
          <a:lstStyle/>
          <a:p>
            <a:r>
              <a:rPr lang="en-US" sz="2000" dirty="0">
                <a:solidFill>
                  <a:srgbClr val="1DF800"/>
                </a:solidFill>
                <a:latin typeface="Arial" charset="0"/>
              </a:rPr>
              <a:t>Look for </a:t>
            </a:r>
            <a:r>
              <a:rPr lang="ja-JP" altLang="en-US" sz="2000">
                <a:solidFill>
                  <a:srgbClr val="1DF800"/>
                </a:solidFill>
                <a:latin typeface="Arial" charset="0"/>
              </a:rPr>
              <a:t>“</a:t>
            </a:r>
            <a:r>
              <a:rPr lang="en-US" sz="2000" dirty="0">
                <a:solidFill>
                  <a:srgbClr val="1DF800"/>
                </a:solidFill>
                <a:latin typeface="Arial" charset="0"/>
              </a:rPr>
              <a:t>tracks</a:t>
            </a:r>
            <a:r>
              <a:rPr lang="ja-JP" altLang="en-US" sz="2000">
                <a:solidFill>
                  <a:srgbClr val="1DF800"/>
                </a:solidFill>
                <a:latin typeface="Arial" charset="0"/>
              </a:rPr>
              <a:t>”</a:t>
            </a:r>
            <a:r>
              <a:rPr lang="en-US" sz="2000" dirty="0">
                <a:solidFill>
                  <a:srgbClr val="1DF800"/>
                </a:solidFill>
                <a:latin typeface="Arial" charset="0"/>
              </a:rPr>
              <a:t> connecting members of a taxon; look for shared patterns in tracks</a:t>
            </a:r>
          </a:p>
          <a:p>
            <a:endParaRPr lang="en-US" sz="2000" dirty="0">
              <a:solidFill>
                <a:srgbClr val="1DF800"/>
              </a:solidFill>
              <a:latin typeface="Arial" charset="0"/>
            </a:endParaRPr>
          </a:p>
          <a:p>
            <a:pPr>
              <a:buFontTx/>
              <a:buChar char="•"/>
            </a:pPr>
            <a:r>
              <a:rPr lang="en-US" sz="2000" dirty="0">
                <a:solidFill>
                  <a:srgbClr val="1DF800"/>
                </a:solidFill>
                <a:latin typeface="Arial" charset="0"/>
              </a:rPr>
              <a:t> Leon Croizat</a:t>
            </a:r>
          </a:p>
          <a:p>
            <a:pPr>
              <a:buFontTx/>
              <a:buChar char="•"/>
            </a:pPr>
            <a:r>
              <a:rPr lang="en-US" sz="2000" dirty="0">
                <a:solidFill>
                  <a:srgbClr val="1DF800"/>
                </a:solidFill>
                <a:latin typeface="Arial" charset="0"/>
              </a:rPr>
              <a:t> anti-dispersalist</a:t>
            </a:r>
          </a:p>
          <a:p>
            <a:pPr>
              <a:buFontTx/>
              <a:buChar char="•"/>
            </a:pPr>
            <a:r>
              <a:rPr lang="en-US" sz="2000" dirty="0">
                <a:solidFill>
                  <a:srgbClr val="1DF800"/>
                </a:solidFill>
                <a:latin typeface="Arial" charset="0"/>
              </a:rPr>
              <a:t> focused on pattern rather than process</a:t>
            </a:r>
          </a:p>
          <a:p>
            <a:pPr>
              <a:buFontTx/>
              <a:buChar char="•"/>
            </a:pPr>
            <a:r>
              <a:rPr lang="en-US" sz="2000" dirty="0">
                <a:solidFill>
                  <a:srgbClr val="1DF800"/>
                </a:solidFill>
                <a:latin typeface="Arial" charset="0"/>
              </a:rPr>
              <a:t> polemical &amp; ideological</a:t>
            </a:r>
          </a:p>
          <a:p>
            <a:pPr>
              <a:buFontTx/>
              <a:buChar char="•"/>
            </a:pPr>
            <a:r>
              <a:rPr lang="en-US" sz="2000" dirty="0">
                <a:solidFill>
                  <a:srgbClr val="1DF800"/>
                </a:solidFill>
                <a:latin typeface="Arial" charset="0"/>
              </a:rPr>
              <a:t> taxonomy- rather than phylogenetically based; huge polyphyly/paraphyly problems</a:t>
            </a:r>
          </a:p>
          <a:p>
            <a:pPr>
              <a:buFontTx/>
              <a:buChar char="•"/>
            </a:pPr>
            <a:r>
              <a:rPr lang="en-US" sz="2000" dirty="0">
                <a:solidFill>
                  <a:srgbClr val="1DF800"/>
                </a:solidFill>
                <a:latin typeface="Arial" charset="0"/>
              </a:rPr>
              <a:t> seen by some to support plate tectonics</a:t>
            </a:r>
          </a:p>
        </p:txBody>
      </p:sp>
      <p:pic>
        <p:nvPicPr>
          <p:cNvPr id="3706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1" y="1371600"/>
            <a:ext cx="3006726" cy="525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7340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6" name="Date Placeholder 1"/>
          <p:cNvSpPr>
            <a:spLocks noGrp="1"/>
          </p:cNvSpPr>
          <p:nvPr>
            <p:ph type="dt" sz="half" idx="10"/>
          </p:nvPr>
        </p:nvSpPr>
        <p:spPr/>
        <p:txBody>
          <a:bodyPr/>
          <a:lstStyle/>
          <a:p>
            <a:r>
              <a:rPr lang="en-US"/>
              <a:t>Nov. 22, 2008</a:t>
            </a:r>
          </a:p>
        </p:txBody>
      </p:sp>
      <p:sp>
        <p:nvSpPr>
          <p:cNvPr id="7" name="Footer Placeholder 2"/>
          <p:cNvSpPr>
            <a:spLocks noGrp="1"/>
          </p:cNvSpPr>
          <p:nvPr>
            <p:ph type="ftr" sz="quarter" idx="11"/>
          </p:nvPr>
        </p:nvSpPr>
        <p:spPr/>
        <p:txBody>
          <a:bodyPr/>
          <a:lstStyle/>
          <a:p>
            <a:r>
              <a:rPr lang="en-US"/>
              <a:t>UC Berkeley Comp Bio Group</a:t>
            </a:r>
          </a:p>
        </p:txBody>
      </p:sp>
      <p:sp>
        <p:nvSpPr>
          <p:cNvPr id="8" name="Slide Number Placeholder 3"/>
          <p:cNvSpPr>
            <a:spLocks noGrp="1"/>
          </p:cNvSpPr>
          <p:nvPr>
            <p:ph type="sldNum" sz="quarter" idx="12"/>
          </p:nvPr>
        </p:nvSpPr>
        <p:spPr/>
        <p:txBody>
          <a:bodyPr/>
          <a:lstStyle/>
          <a:p>
            <a:fld id="{F9EA56F7-CDE7-5743-A6EA-31D29B1C3FD2}" type="slidenum">
              <a:rPr lang="en-US"/>
              <a:pPr/>
              <a:t>13</a:t>
            </a:fld>
            <a:endParaRPr lang="en-US"/>
          </a:p>
        </p:txBody>
      </p:sp>
      <p:sp>
        <p:nvSpPr>
          <p:cNvPr id="376834" name="Rectangle 2"/>
          <p:cNvSpPr>
            <a:spLocks noGrp="1" noChangeArrowheads="1"/>
          </p:cNvSpPr>
          <p:nvPr>
            <p:ph type="title" idx="4294967295"/>
          </p:nvPr>
        </p:nvSpPr>
        <p:spPr>
          <a:xfrm>
            <a:off x="228600" y="609600"/>
            <a:ext cx="9067800" cy="609600"/>
          </a:xfrm>
        </p:spPr>
        <p:txBody>
          <a:bodyPr>
            <a:normAutofit fontScale="90000"/>
          </a:bodyPr>
          <a:lstStyle/>
          <a:p>
            <a:pPr algn="l"/>
            <a:r>
              <a:rPr lang="en-US" sz="3600" b="1">
                <a:solidFill>
                  <a:srgbClr val="FFFF00"/>
                </a:solidFill>
                <a:latin typeface="Arial" charset="0"/>
              </a:rPr>
              <a:t>1950s-1980s: panbiogeography</a:t>
            </a:r>
            <a:endParaRPr lang="en-US" sz="2400" b="1">
              <a:solidFill>
                <a:srgbClr val="FFFF00"/>
              </a:solidFill>
              <a:latin typeface="Arial" charset="0"/>
            </a:endParaRPr>
          </a:p>
        </p:txBody>
      </p:sp>
      <p:sp>
        <p:nvSpPr>
          <p:cNvPr id="376835" name="Rectangle 3"/>
          <p:cNvSpPr>
            <a:spLocks noChangeArrowheads="1"/>
          </p:cNvSpPr>
          <p:nvPr/>
        </p:nvSpPr>
        <p:spPr bwMode="auto">
          <a:xfrm>
            <a:off x="457200" y="1371600"/>
            <a:ext cx="5486400" cy="609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182880" tIns="91440" rIns="182880" bIns="91440">
            <a:spAutoFit/>
          </a:bodyPr>
          <a:lstStyle/>
          <a:p>
            <a:r>
              <a:rPr lang="en-US" sz="2800">
                <a:solidFill>
                  <a:srgbClr val="1DF800"/>
                </a:solidFill>
                <a:latin typeface="Arial" charset="0"/>
              </a:rPr>
              <a:t>Methodology unclear…</a:t>
            </a:r>
          </a:p>
        </p:txBody>
      </p:sp>
      <p:pic>
        <p:nvPicPr>
          <p:cNvPr id="3768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1200"/>
            <a:ext cx="8382000" cy="4140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376837" name="Rectangle 5"/>
          <p:cNvSpPr>
            <a:spLocks noChangeArrowheads="1"/>
          </p:cNvSpPr>
          <p:nvPr/>
        </p:nvSpPr>
        <p:spPr bwMode="auto">
          <a:xfrm>
            <a:off x="1" y="6248401"/>
            <a:ext cx="9243556"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82880" tIns="91440" rIns="182880" bIns="91440">
            <a:spAutoFit/>
          </a:bodyPr>
          <a:lstStyle/>
          <a:p>
            <a:r>
              <a:rPr lang="en-US" sz="2000">
                <a:solidFill>
                  <a:srgbClr val="1DF800"/>
                </a:solidFill>
                <a:latin typeface="Arial" charset="0"/>
              </a:rPr>
              <a:t>Croizat</a:t>
            </a:r>
            <a:r>
              <a:rPr lang="ja-JP" altLang="en-US" sz="2000">
                <a:solidFill>
                  <a:srgbClr val="1DF800"/>
                </a:solidFill>
                <a:latin typeface="Arial" charset="0"/>
              </a:rPr>
              <a:t>’</a:t>
            </a:r>
            <a:r>
              <a:rPr lang="en-US" sz="2000">
                <a:solidFill>
                  <a:srgbClr val="1DF800"/>
                </a:solidFill>
                <a:latin typeface="Arial" charset="0"/>
              </a:rPr>
              <a:t>s summary diagram of global tracks from his (1958) </a:t>
            </a:r>
            <a:r>
              <a:rPr lang="en-US" sz="2000" i="1">
                <a:solidFill>
                  <a:srgbClr val="1DF800"/>
                </a:solidFill>
                <a:latin typeface="Arial" charset="0"/>
              </a:rPr>
              <a:t>Panbiogeography</a:t>
            </a:r>
            <a:endParaRPr lang="en-US" sz="2000">
              <a:solidFill>
                <a:srgbClr val="1DF800"/>
              </a:solidFill>
              <a:latin typeface="Arial" charset="0"/>
            </a:endParaRPr>
          </a:p>
        </p:txBody>
      </p:sp>
    </p:spTree>
    <p:extLst>
      <p:ext uri="{BB962C8B-B14F-4D97-AF65-F5344CB8AC3E}">
        <p14:creationId xmlns:p14="http://schemas.microsoft.com/office/powerpoint/2010/main" val="3975294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r>
              <a:rPr lang="en-US"/>
              <a:t>Nov. 22, 2008</a:t>
            </a:r>
          </a:p>
        </p:txBody>
      </p:sp>
      <p:sp>
        <p:nvSpPr>
          <p:cNvPr id="6" name="Footer Placeholder 2"/>
          <p:cNvSpPr>
            <a:spLocks noGrp="1"/>
          </p:cNvSpPr>
          <p:nvPr>
            <p:ph type="ftr" sz="quarter" idx="11"/>
          </p:nvPr>
        </p:nvSpPr>
        <p:spPr/>
        <p:txBody>
          <a:bodyPr/>
          <a:lstStyle/>
          <a:p>
            <a:r>
              <a:rPr lang="en-US"/>
              <a:t>UC Berkeley Comp Bio Group</a:t>
            </a:r>
          </a:p>
        </p:txBody>
      </p:sp>
      <p:sp>
        <p:nvSpPr>
          <p:cNvPr id="7" name="Slide Number Placeholder 3"/>
          <p:cNvSpPr>
            <a:spLocks noGrp="1"/>
          </p:cNvSpPr>
          <p:nvPr>
            <p:ph type="sldNum" sz="quarter" idx="12"/>
          </p:nvPr>
        </p:nvSpPr>
        <p:spPr/>
        <p:txBody>
          <a:bodyPr/>
          <a:lstStyle/>
          <a:p>
            <a:fld id="{D8A906D4-241B-0346-B5F9-7C4EA35613C4}" type="slidenum">
              <a:rPr lang="en-US"/>
              <a:pPr/>
              <a:t>14</a:t>
            </a:fld>
            <a:endParaRPr lang="en-US"/>
          </a:p>
        </p:txBody>
      </p:sp>
      <p:sp>
        <p:nvSpPr>
          <p:cNvPr id="374786" name="Rectangle 2"/>
          <p:cNvSpPr>
            <a:spLocks noGrp="1" noChangeArrowheads="1"/>
          </p:cNvSpPr>
          <p:nvPr>
            <p:ph type="title" idx="4294967295"/>
          </p:nvPr>
        </p:nvSpPr>
        <p:spPr>
          <a:xfrm>
            <a:off x="228600" y="609600"/>
            <a:ext cx="9067800" cy="609600"/>
          </a:xfrm>
        </p:spPr>
        <p:txBody>
          <a:bodyPr>
            <a:normAutofit fontScale="90000"/>
          </a:bodyPr>
          <a:lstStyle/>
          <a:p>
            <a:pPr algn="l"/>
            <a:r>
              <a:rPr lang="en-US" sz="3600" b="1">
                <a:solidFill>
                  <a:srgbClr val="FFFF00"/>
                </a:solidFill>
                <a:latin typeface="Arial" charset="0"/>
              </a:rPr>
              <a:t>1960s-1990s: plate tectonics &amp; cladistic</a:t>
            </a:r>
            <a:br>
              <a:rPr lang="en-US" sz="3600" b="1">
                <a:solidFill>
                  <a:srgbClr val="FFFF00"/>
                </a:solidFill>
                <a:latin typeface="Arial" charset="0"/>
              </a:rPr>
            </a:br>
            <a:r>
              <a:rPr lang="en-US" sz="3600" b="1">
                <a:solidFill>
                  <a:srgbClr val="FFFF00"/>
                </a:solidFill>
                <a:latin typeface="Arial" charset="0"/>
              </a:rPr>
              <a:t>biogeography</a:t>
            </a:r>
            <a:endParaRPr lang="en-US" sz="2400" b="1">
              <a:solidFill>
                <a:srgbClr val="FFFF00"/>
              </a:solidFill>
              <a:latin typeface="Arial" charset="0"/>
            </a:endParaRPr>
          </a:p>
        </p:txBody>
      </p:sp>
      <p:sp>
        <p:nvSpPr>
          <p:cNvPr id="374790" name="Rectangle 6"/>
          <p:cNvSpPr>
            <a:spLocks noChangeArrowheads="1"/>
          </p:cNvSpPr>
          <p:nvPr/>
        </p:nvSpPr>
        <p:spPr bwMode="auto">
          <a:xfrm>
            <a:off x="1676401" y="6248401"/>
            <a:ext cx="5902326" cy="488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82880" tIns="91440" rIns="182880" bIns="91440">
            <a:spAutoFit/>
          </a:bodyPr>
          <a:lstStyle/>
          <a:p>
            <a:r>
              <a:rPr lang="en-US" sz="2000">
                <a:solidFill>
                  <a:srgbClr val="1DF800"/>
                </a:solidFill>
                <a:latin typeface="Arial" charset="0"/>
              </a:rPr>
              <a:t>Different scenarios for breakup of Gondwanaland</a:t>
            </a:r>
          </a:p>
        </p:txBody>
      </p:sp>
      <p:pic>
        <p:nvPicPr>
          <p:cNvPr id="374791" name="Picture 7" descr="Region cap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1" y="1676400"/>
            <a:ext cx="6664326" cy="454977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55104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r>
              <a:rPr lang="en-US"/>
              <a:t>Nov. 22, 2008</a:t>
            </a:r>
          </a:p>
        </p:txBody>
      </p:sp>
      <p:sp>
        <p:nvSpPr>
          <p:cNvPr id="6" name="Footer Placeholder 2"/>
          <p:cNvSpPr>
            <a:spLocks noGrp="1"/>
          </p:cNvSpPr>
          <p:nvPr>
            <p:ph type="ftr" sz="quarter" idx="11"/>
          </p:nvPr>
        </p:nvSpPr>
        <p:spPr/>
        <p:txBody>
          <a:bodyPr/>
          <a:lstStyle/>
          <a:p>
            <a:r>
              <a:rPr lang="en-US"/>
              <a:t>UC Berkeley Comp Bio Group</a:t>
            </a:r>
          </a:p>
        </p:txBody>
      </p:sp>
      <p:sp>
        <p:nvSpPr>
          <p:cNvPr id="7" name="Slide Number Placeholder 3"/>
          <p:cNvSpPr>
            <a:spLocks noGrp="1"/>
          </p:cNvSpPr>
          <p:nvPr>
            <p:ph type="sldNum" sz="quarter" idx="12"/>
          </p:nvPr>
        </p:nvSpPr>
        <p:spPr/>
        <p:txBody>
          <a:bodyPr/>
          <a:lstStyle/>
          <a:p>
            <a:fld id="{C30CA69D-5265-814A-9D02-DDA9FE403C21}" type="slidenum">
              <a:rPr lang="en-US"/>
              <a:pPr/>
              <a:t>15</a:t>
            </a:fld>
            <a:endParaRPr lang="en-US"/>
          </a:p>
        </p:txBody>
      </p:sp>
      <p:sp>
        <p:nvSpPr>
          <p:cNvPr id="378882" name="Rectangle 2"/>
          <p:cNvSpPr>
            <a:spLocks noGrp="1" noChangeArrowheads="1"/>
          </p:cNvSpPr>
          <p:nvPr>
            <p:ph type="title" idx="4294967295"/>
          </p:nvPr>
        </p:nvSpPr>
        <p:spPr>
          <a:xfrm>
            <a:off x="228600" y="457200"/>
            <a:ext cx="9067800" cy="609600"/>
          </a:xfrm>
        </p:spPr>
        <p:txBody>
          <a:bodyPr>
            <a:normAutofit fontScale="90000"/>
          </a:bodyPr>
          <a:lstStyle/>
          <a:p>
            <a:pPr algn="l"/>
            <a:r>
              <a:rPr lang="en-US" sz="3600" b="1">
                <a:solidFill>
                  <a:srgbClr val="FFFF00"/>
                </a:solidFill>
                <a:latin typeface="Arial" charset="0"/>
              </a:rPr>
              <a:t>1960s-1990s: plate tectonics &amp; cladistic</a:t>
            </a:r>
            <a:br>
              <a:rPr lang="en-US" sz="3600" b="1">
                <a:solidFill>
                  <a:srgbClr val="FFFF00"/>
                </a:solidFill>
                <a:latin typeface="Arial" charset="0"/>
              </a:rPr>
            </a:br>
            <a:r>
              <a:rPr lang="en-US" sz="3600" b="1">
                <a:solidFill>
                  <a:srgbClr val="FFFF00"/>
                </a:solidFill>
                <a:latin typeface="Arial" charset="0"/>
              </a:rPr>
              <a:t>biogeography</a:t>
            </a:r>
            <a:endParaRPr lang="en-US" sz="2400" b="1">
              <a:solidFill>
                <a:srgbClr val="FFFF00"/>
              </a:solidFill>
              <a:latin typeface="Arial" charset="0"/>
            </a:endParaRPr>
          </a:p>
        </p:txBody>
      </p:sp>
      <p:sp>
        <p:nvSpPr>
          <p:cNvPr id="378883" name="Rectangle 3"/>
          <p:cNvSpPr>
            <a:spLocks noChangeArrowheads="1"/>
          </p:cNvSpPr>
          <p:nvPr/>
        </p:nvSpPr>
        <p:spPr bwMode="auto">
          <a:xfrm>
            <a:off x="2178050" y="6369051"/>
            <a:ext cx="4419600" cy="488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82880" tIns="91440" rIns="182880" bIns="91440">
            <a:spAutoFit/>
          </a:bodyPr>
          <a:lstStyle/>
          <a:p>
            <a:r>
              <a:rPr lang="en-US" sz="2000">
                <a:solidFill>
                  <a:srgbClr val="1DF800"/>
                </a:solidFill>
                <a:latin typeface="Arial" charset="0"/>
              </a:rPr>
              <a:t>Congruence or pseudocongruence?</a:t>
            </a:r>
          </a:p>
        </p:txBody>
      </p:sp>
      <p:pic>
        <p:nvPicPr>
          <p:cNvPr id="378885" name="Picture 5" descr="Region cap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371601"/>
            <a:ext cx="6553200" cy="50101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085918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r>
              <a:rPr lang="en-US"/>
              <a:t>Nov. 22, 2008</a:t>
            </a:r>
          </a:p>
        </p:txBody>
      </p:sp>
      <p:sp>
        <p:nvSpPr>
          <p:cNvPr id="6" name="Footer Placeholder 2"/>
          <p:cNvSpPr>
            <a:spLocks noGrp="1"/>
          </p:cNvSpPr>
          <p:nvPr>
            <p:ph type="ftr" sz="quarter" idx="11"/>
          </p:nvPr>
        </p:nvSpPr>
        <p:spPr/>
        <p:txBody>
          <a:bodyPr/>
          <a:lstStyle/>
          <a:p>
            <a:r>
              <a:rPr lang="en-US"/>
              <a:t>UC Berkeley Comp Bio Group</a:t>
            </a:r>
          </a:p>
        </p:txBody>
      </p:sp>
      <p:sp>
        <p:nvSpPr>
          <p:cNvPr id="7" name="Slide Number Placeholder 3"/>
          <p:cNvSpPr>
            <a:spLocks noGrp="1"/>
          </p:cNvSpPr>
          <p:nvPr>
            <p:ph type="sldNum" sz="quarter" idx="12"/>
          </p:nvPr>
        </p:nvSpPr>
        <p:spPr/>
        <p:txBody>
          <a:bodyPr/>
          <a:lstStyle/>
          <a:p>
            <a:fld id="{A233F9D8-98FA-9D41-8899-4001A7874CCE}" type="slidenum">
              <a:rPr lang="en-US"/>
              <a:pPr/>
              <a:t>16</a:t>
            </a:fld>
            <a:endParaRPr lang="en-US"/>
          </a:p>
        </p:txBody>
      </p:sp>
      <p:sp>
        <p:nvSpPr>
          <p:cNvPr id="387074" name="Rectangle 2"/>
          <p:cNvSpPr>
            <a:spLocks noGrp="1" noChangeArrowheads="1"/>
          </p:cNvSpPr>
          <p:nvPr>
            <p:ph type="title" idx="4294967295"/>
          </p:nvPr>
        </p:nvSpPr>
        <p:spPr>
          <a:xfrm>
            <a:off x="228600" y="457200"/>
            <a:ext cx="9067800" cy="609600"/>
          </a:xfrm>
        </p:spPr>
        <p:txBody>
          <a:bodyPr>
            <a:normAutofit fontScale="90000"/>
          </a:bodyPr>
          <a:lstStyle/>
          <a:p>
            <a:pPr algn="l"/>
            <a:r>
              <a:rPr lang="en-US" sz="3600" b="1">
                <a:solidFill>
                  <a:srgbClr val="FFFF00"/>
                </a:solidFill>
                <a:latin typeface="Arial" charset="0"/>
              </a:rPr>
              <a:t>1960s-1990s: plate tectonics &amp; cladistic</a:t>
            </a:r>
            <a:br>
              <a:rPr lang="en-US" sz="3600" b="1">
                <a:solidFill>
                  <a:srgbClr val="FFFF00"/>
                </a:solidFill>
                <a:latin typeface="Arial" charset="0"/>
              </a:rPr>
            </a:br>
            <a:r>
              <a:rPr lang="en-US" sz="3600" b="1">
                <a:solidFill>
                  <a:srgbClr val="FFFF00"/>
                </a:solidFill>
                <a:latin typeface="Arial" charset="0"/>
              </a:rPr>
              <a:t>biogeography</a:t>
            </a:r>
            <a:endParaRPr lang="en-US" sz="2400" b="1">
              <a:solidFill>
                <a:srgbClr val="FFFF00"/>
              </a:solidFill>
              <a:latin typeface="Arial" charset="0"/>
            </a:endParaRPr>
          </a:p>
        </p:txBody>
      </p:sp>
      <p:sp>
        <p:nvSpPr>
          <p:cNvPr id="387075" name="Rectangle 3"/>
          <p:cNvSpPr>
            <a:spLocks noChangeArrowheads="1"/>
          </p:cNvSpPr>
          <p:nvPr/>
        </p:nvSpPr>
        <p:spPr bwMode="auto">
          <a:xfrm>
            <a:off x="304801" y="5181601"/>
            <a:ext cx="3375026" cy="488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82880" tIns="91440" rIns="182880" bIns="91440">
            <a:spAutoFit/>
          </a:bodyPr>
          <a:lstStyle/>
          <a:p>
            <a:r>
              <a:rPr lang="en-US" sz="2000">
                <a:solidFill>
                  <a:srgbClr val="1DF800"/>
                </a:solidFill>
                <a:latin typeface="Arial" charset="0"/>
              </a:rPr>
              <a:t>Donoghue &amp; Moore (2003)</a:t>
            </a:r>
          </a:p>
        </p:txBody>
      </p:sp>
      <p:pic>
        <p:nvPicPr>
          <p:cNvPr id="387077" name="Picture 5" descr="Region cap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1" y="762000"/>
            <a:ext cx="4933950" cy="5892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283275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r>
              <a:rPr lang="en-US"/>
              <a:t>Nov. 22, 2008</a:t>
            </a:r>
          </a:p>
        </p:txBody>
      </p:sp>
      <p:sp>
        <p:nvSpPr>
          <p:cNvPr id="5" name="Footer Placeholder 2"/>
          <p:cNvSpPr>
            <a:spLocks noGrp="1"/>
          </p:cNvSpPr>
          <p:nvPr>
            <p:ph type="ftr" sz="quarter" idx="11"/>
          </p:nvPr>
        </p:nvSpPr>
        <p:spPr/>
        <p:txBody>
          <a:bodyPr/>
          <a:lstStyle/>
          <a:p>
            <a:r>
              <a:rPr lang="en-US"/>
              <a:t>UC Berkeley Comp Bio Group</a:t>
            </a:r>
          </a:p>
        </p:txBody>
      </p:sp>
      <p:sp>
        <p:nvSpPr>
          <p:cNvPr id="6" name="Slide Number Placeholder 3"/>
          <p:cNvSpPr>
            <a:spLocks noGrp="1"/>
          </p:cNvSpPr>
          <p:nvPr>
            <p:ph type="sldNum" sz="quarter" idx="12"/>
          </p:nvPr>
        </p:nvSpPr>
        <p:spPr/>
        <p:txBody>
          <a:bodyPr/>
          <a:lstStyle/>
          <a:p>
            <a:fld id="{AE16EF08-4E63-6C49-86D5-96C31174F13E}" type="slidenum">
              <a:rPr lang="en-US"/>
              <a:pPr/>
              <a:t>17</a:t>
            </a:fld>
            <a:endParaRPr lang="en-US"/>
          </a:p>
        </p:txBody>
      </p:sp>
      <p:sp>
        <p:nvSpPr>
          <p:cNvPr id="380930" name="Rectangle 2"/>
          <p:cNvSpPr>
            <a:spLocks noGrp="1" noChangeArrowheads="1"/>
          </p:cNvSpPr>
          <p:nvPr>
            <p:ph type="title" idx="4294967295"/>
          </p:nvPr>
        </p:nvSpPr>
        <p:spPr>
          <a:xfrm>
            <a:off x="228600" y="283003"/>
            <a:ext cx="9067800" cy="609600"/>
          </a:xfrm>
        </p:spPr>
        <p:txBody>
          <a:bodyPr>
            <a:normAutofit fontScale="90000"/>
          </a:bodyPr>
          <a:lstStyle/>
          <a:p>
            <a:pPr algn="l"/>
            <a:r>
              <a:rPr lang="en-US" sz="3600" b="1" dirty="0">
                <a:solidFill>
                  <a:srgbClr val="FFFF00"/>
                </a:solidFill>
                <a:latin typeface="Arial" charset="0"/>
              </a:rPr>
              <a:t>1980s-2000s: diversity of methods in use</a:t>
            </a:r>
            <a:endParaRPr lang="en-US" sz="2400" b="1" dirty="0">
              <a:solidFill>
                <a:srgbClr val="FFFF00"/>
              </a:solidFill>
              <a:latin typeface="Arial" charset="0"/>
            </a:endParaRPr>
          </a:p>
        </p:txBody>
      </p:sp>
      <p:pic>
        <p:nvPicPr>
          <p:cNvPr id="380934" name="Picture 6" descr="Region cap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914400"/>
            <a:ext cx="5657850" cy="57912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550100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D versus V"/>
          <p:cNvSpPr txBox="1">
            <a:spLocks noGrp="1"/>
          </p:cNvSpPr>
          <p:nvPr>
            <p:ph type="title"/>
          </p:nvPr>
        </p:nvSpPr>
        <p:spPr>
          <a:xfrm>
            <a:off x="892969" y="-169664"/>
            <a:ext cx="7358063" cy="1053703"/>
          </a:xfrm>
          <a:prstGeom prst="rect">
            <a:avLst/>
          </a:prstGeom>
        </p:spPr>
        <p:txBody>
          <a:bodyPr/>
          <a:lstStyle/>
          <a:p>
            <a:r>
              <a:t>D versus V</a:t>
            </a:r>
          </a:p>
        </p:txBody>
      </p:sp>
      <p:sp>
        <p:nvSpPr>
          <p:cNvPr id="256" name="“A high frequency of dispersal also suggests that a fundamental methodological assumption of many biogeographical studies -- that vicariance is a priori a more probable explanation than dispersal -- needs to be re-evaluated and perhaps discarded.&quot;…"/>
          <p:cNvSpPr/>
          <p:nvPr/>
        </p:nvSpPr>
        <p:spPr>
          <a:xfrm>
            <a:off x="3402489" y="973336"/>
            <a:ext cx="4687808" cy="2419945"/>
          </a:xfrm>
          <a:custGeom>
            <a:avLst/>
            <a:gdLst/>
            <a:ahLst/>
            <a:cxnLst>
              <a:cxn ang="0">
                <a:pos x="wd2" y="hd2"/>
              </a:cxn>
              <a:cxn ang="5400000">
                <a:pos x="wd2" y="hd2"/>
              </a:cxn>
              <a:cxn ang="10800000">
                <a:pos x="wd2" y="hd2"/>
              </a:cxn>
              <a:cxn ang="16200000">
                <a:pos x="wd2" y="hd2"/>
              </a:cxn>
            </a:cxnLst>
            <a:rect l="0" t="0" r="r" b="b"/>
            <a:pathLst>
              <a:path w="21600" h="21600" extrusionOk="0">
                <a:moveTo>
                  <a:pt x="3415" y="0"/>
                </a:moveTo>
                <a:cubicBezTo>
                  <a:pt x="2165" y="0"/>
                  <a:pt x="1151" y="1964"/>
                  <a:pt x="1151" y="4386"/>
                </a:cubicBezTo>
                <a:lnTo>
                  <a:pt x="1151" y="16611"/>
                </a:lnTo>
                <a:lnTo>
                  <a:pt x="0" y="18883"/>
                </a:lnTo>
                <a:lnTo>
                  <a:pt x="1380" y="19127"/>
                </a:lnTo>
                <a:cubicBezTo>
                  <a:pt x="1747" y="20589"/>
                  <a:pt x="2519" y="21600"/>
                  <a:pt x="3415" y="21600"/>
                </a:cubicBezTo>
                <a:lnTo>
                  <a:pt x="19337" y="21600"/>
                </a:lnTo>
                <a:cubicBezTo>
                  <a:pt x="20587" y="21600"/>
                  <a:pt x="21600" y="19638"/>
                  <a:pt x="21600" y="17216"/>
                </a:cubicBezTo>
                <a:lnTo>
                  <a:pt x="21600" y="4386"/>
                </a:lnTo>
                <a:cubicBezTo>
                  <a:pt x="21600" y="1964"/>
                  <a:pt x="20587" y="0"/>
                  <a:pt x="19337" y="0"/>
                </a:cubicBezTo>
                <a:lnTo>
                  <a:pt x="3415"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1800"/>
            </a:pPr>
            <a:r>
              <a:rPr sz="1700"/>
              <a:t>“A high frequency of dispersal also suggests that a fundamental methodological assumption of many biogeographical studies -- that vicariance is </a:t>
            </a:r>
            <a:r>
              <a:rPr sz="1700" i="1"/>
              <a:t>a priori</a:t>
            </a:r>
            <a:r>
              <a:rPr sz="1700"/>
              <a:t> a more probable explanation than dispersal -- needs to be re-evaluated and perhaps discarded."</a:t>
            </a:r>
          </a:p>
          <a:p>
            <a:pPr lvl="1">
              <a:spcBef>
                <a:spcPts val="1687"/>
              </a:spcBef>
              <a:defRPr sz="1400"/>
            </a:pPr>
            <a:r>
              <a:t>de Queiroz, A. (2005). "The resurrection of oceanic dispersal in historical biogeography." TREE, 20(2).</a:t>
            </a:r>
          </a:p>
        </p:txBody>
      </p:sp>
      <p:sp>
        <p:nvSpPr>
          <p:cNvPr id="257" name="“We hope, therefore, that the trend identified by de Queiroz (2005) – the resurrection of oceanic dispersal as important in historical biogeography – is real and that the straightjacket of strict vicariance biogeography is being loosened to include once again the plurality of mechanisms and processes...&quot;…"/>
          <p:cNvSpPr/>
          <p:nvPr/>
        </p:nvSpPr>
        <p:spPr>
          <a:xfrm>
            <a:off x="3358679" y="4063008"/>
            <a:ext cx="5579939" cy="2286000"/>
          </a:xfrm>
          <a:custGeom>
            <a:avLst/>
            <a:gdLst/>
            <a:ahLst/>
            <a:cxnLst>
              <a:cxn ang="0">
                <a:pos x="wd2" y="hd2"/>
              </a:cxn>
              <a:cxn ang="5400000">
                <a:pos x="wd2" y="hd2"/>
              </a:cxn>
              <a:cxn ang="10800000">
                <a:pos x="wd2" y="hd2"/>
              </a:cxn>
              <a:cxn ang="16200000">
                <a:pos x="wd2" y="hd2"/>
              </a:cxn>
            </a:cxnLst>
            <a:rect l="0" t="0" r="r" b="b"/>
            <a:pathLst>
              <a:path w="21600" h="21600" extrusionOk="0">
                <a:moveTo>
                  <a:pt x="2728" y="0"/>
                </a:moveTo>
                <a:cubicBezTo>
                  <a:pt x="1677" y="0"/>
                  <a:pt x="825" y="2080"/>
                  <a:pt x="825" y="4643"/>
                </a:cubicBezTo>
                <a:lnTo>
                  <a:pt x="825" y="16959"/>
                </a:lnTo>
                <a:cubicBezTo>
                  <a:pt x="825" y="16962"/>
                  <a:pt x="825" y="16965"/>
                  <a:pt x="825" y="16967"/>
                </a:cubicBezTo>
                <a:lnTo>
                  <a:pt x="0" y="18576"/>
                </a:lnTo>
                <a:lnTo>
                  <a:pt x="995" y="18868"/>
                </a:lnTo>
                <a:cubicBezTo>
                  <a:pt x="1293" y="20478"/>
                  <a:pt x="1956" y="21600"/>
                  <a:pt x="2728" y="21600"/>
                </a:cubicBezTo>
                <a:lnTo>
                  <a:pt x="19699" y="21600"/>
                </a:lnTo>
                <a:cubicBezTo>
                  <a:pt x="20749" y="21600"/>
                  <a:pt x="21600" y="19523"/>
                  <a:pt x="21600" y="16959"/>
                </a:cubicBezTo>
                <a:lnTo>
                  <a:pt x="21600" y="4643"/>
                </a:lnTo>
                <a:cubicBezTo>
                  <a:pt x="21600" y="2080"/>
                  <a:pt x="20749" y="0"/>
                  <a:pt x="19699" y="0"/>
                </a:cubicBezTo>
                <a:lnTo>
                  <a:pt x="2728"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2400"/>
            </a:pPr>
            <a:r>
              <a:rPr sz="1400" dirty="0"/>
              <a:t>“We hope, therefore, that the trend identified by de Queiroz (2005) – the resurrection of oceanic dispersal as important in historical biogeography – is real and that the straightjacket of strict vicariance biogeography is being loosened to include once again the plurality of mechanisms and processes..."</a:t>
            </a:r>
          </a:p>
          <a:p>
            <a:pPr lvl="1">
              <a:spcBef>
                <a:spcPts val="1687"/>
              </a:spcBef>
              <a:defRPr sz="1400"/>
            </a:pPr>
            <a:r>
              <a:rPr sz="1400" dirty="0"/>
              <a:t>p. 197 of: Cowie, R.H.; Holland, B.S. (2006). "Dispersal is fundamental to biogeography and the evolution of biodiversity on oceanic islands." Journal of Biogeography, 33, 193-198. Emphasis added.</a:t>
            </a:r>
          </a:p>
        </p:txBody>
      </p:sp>
      <p:pic>
        <p:nvPicPr>
          <p:cNvPr id="258" name="Region capture 18.png" descr="Region capture 18.png"/>
          <p:cNvPicPr>
            <a:picLocks noChangeAspect="1"/>
          </p:cNvPicPr>
          <p:nvPr/>
        </p:nvPicPr>
        <p:blipFill>
          <a:blip r:embed="rId2"/>
          <a:stretch>
            <a:fillRect/>
          </a:stretch>
        </p:blipFill>
        <p:spPr>
          <a:xfrm>
            <a:off x="281952" y="783743"/>
            <a:ext cx="3036094" cy="2939654"/>
          </a:xfrm>
          <a:prstGeom prst="rect">
            <a:avLst/>
          </a:prstGeom>
          <a:ln w="12700">
            <a:solidFill>
              <a:srgbClr val="000000"/>
            </a:solidFill>
            <a:miter lim="400000"/>
          </a:ln>
        </p:spPr>
      </p:pic>
      <p:pic>
        <p:nvPicPr>
          <p:cNvPr id="259" name="Screen Shot 2013-09-22 at 10.09.23 AM.png" descr="Screen Shot 2013-09-22 at 10.09.23 AM.png"/>
          <p:cNvPicPr>
            <a:picLocks noChangeAspect="1"/>
          </p:cNvPicPr>
          <p:nvPr/>
        </p:nvPicPr>
        <p:blipFill>
          <a:blip r:embed="rId3"/>
          <a:stretch>
            <a:fillRect/>
          </a:stretch>
        </p:blipFill>
        <p:spPr>
          <a:xfrm>
            <a:off x="276568" y="3795117"/>
            <a:ext cx="3036346" cy="3009305"/>
          </a:xfrm>
          <a:prstGeom prst="rect">
            <a:avLst/>
          </a:prstGeom>
          <a:ln w="12700">
            <a:solidFill>
              <a:srgbClr val="000000"/>
            </a:solidFill>
            <a:miter lim="400000"/>
          </a:ln>
        </p:spPr>
      </p:pic>
    </p:spTree>
    <p:extLst>
      <p:ext uri="{BB962C8B-B14F-4D97-AF65-F5344CB8AC3E}">
        <p14:creationId xmlns:p14="http://schemas.microsoft.com/office/powerpoint/2010/main" val="327879268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 name="droppedImage.tiff" descr="droppedImage.tiff"/>
          <p:cNvPicPr>
            <a:picLocks noChangeAspect="1"/>
          </p:cNvPicPr>
          <p:nvPr/>
        </p:nvPicPr>
        <p:blipFill>
          <a:blip r:embed="rId2"/>
          <a:stretch>
            <a:fillRect/>
          </a:stretch>
        </p:blipFill>
        <p:spPr>
          <a:xfrm>
            <a:off x="1250156" y="3293185"/>
            <a:ext cx="2178844" cy="3546956"/>
          </a:xfrm>
          <a:prstGeom prst="rect">
            <a:avLst/>
          </a:prstGeom>
          <a:ln w="12700">
            <a:solidFill>
              <a:srgbClr val="000000"/>
            </a:solidFill>
            <a:miter lim="400000"/>
          </a:ln>
        </p:spPr>
      </p:pic>
      <p:sp>
        <p:nvSpPr>
          <p:cNvPr id="262" name="“The resurrection of dispersalism, as de Queiroz (2005) has envisioned, is reactionary and with little (or even no) empirical foundation.”  Santos, C.M.D. (2007). “On basal clades and ancestral areas.” Journal of Biogeography, 34, 1470-1469."/>
          <p:cNvSpPr/>
          <p:nvPr/>
        </p:nvSpPr>
        <p:spPr>
          <a:xfrm>
            <a:off x="3746004" y="2259211"/>
            <a:ext cx="4969371" cy="1464469"/>
          </a:xfrm>
          <a:custGeom>
            <a:avLst/>
            <a:gdLst/>
            <a:ahLst/>
            <a:cxnLst>
              <a:cxn ang="0">
                <a:pos x="wd2" y="hd2"/>
              </a:cxn>
              <a:cxn ang="5400000">
                <a:pos x="wd2" y="hd2"/>
              </a:cxn>
              <a:cxn ang="10800000">
                <a:pos x="wd2" y="hd2"/>
              </a:cxn>
              <a:cxn ang="16200000">
                <a:pos x="wd2" y="hd2"/>
              </a:cxn>
            </a:cxnLst>
            <a:rect l="0" t="0" r="r" b="b"/>
            <a:pathLst>
              <a:path w="21600" h="21600" extrusionOk="0">
                <a:moveTo>
                  <a:pt x="2932" y="0"/>
                </a:moveTo>
                <a:cubicBezTo>
                  <a:pt x="2192" y="0"/>
                  <a:pt x="1540" y="1276"/>
                  <a:pt x="1157" y="3214"/>
                </a:cubicBezTo>
                <a:lnTo>
                  <a:pt x="0" y="4997"/>
                </a:lnTo>
                <a:lnTo>
                  <a:pt x="796" y="7404"/>
                </a:lnTo>
                <a:lnTo>
                  <a:pt x="796" y="14356"/>
                </a:lnTo>
                <a:cubicBezTo>
                  <a:pt x="796" y="18358"/>
                  <a:pt x="1752" y="21600"/>
                  <a:pt x="2932" y="21600"/>
                </a:cubicBezTo>
                <a:lnTo>
                  <a:pt x="19465" y="21600"/>
                </a:lnTo>
                <a:cubicBezTo>
                  <a:pt x="20645" y="21600"/>
                  <a:pt x="21600" y="18358"/>
                  <a:pt x="21600" y="14356"/>
                </a:cubicBezTo>
                <a:lnTo>
                  <a:pt x="21600" y="7248"/>
                </a:lnTo>
                <a:cubicBezTo>
                  <a:pt x="21600" y="3246"/>
                  <a:pt x="20645" y="0"/>
                  <a:pt x="19465" y="0"/>
                </a:cubicBezTo>
                <a:lnTo>
                  <a:pt x="2932"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1800"/>
            </a:pPr>
            <a:r>
              <a:rPr sz="1700"/>
              <a:t>“The resurrection of dispersalism, as de Queiroz (2005) has envisioned, is reactionary and with little (or even no) empirical foundation.”</a:t>
            </a:r>
            <a:br/>
            <a:br/>
            <a:r>
              <a:rPr sz="1000"/>
              <a:t>Santos, C.M.D. (2007). “On basal clades and ancestral areas.” </a:t>
            </a:r>
            <a:r>
              <a:rPr sz="1000" i="1"/>
              <a:t>Journal of Biogeography</a:t>
            </a:r>
            <a:r>
              <a:rPr sz="1000"/>
              <a:t>, 34, 1470-1469.</a:t>
            </a:r>
          </a:p>
        </p:txBody>
      </p:sp>
      <p:sp>
        <p:nvSpPr>
          <p:cNvPr id="263" name="“Most modern biogeographers follow Mayr...in accepting that allopatry can be found by vicariance (dichopatry) or by founder dispersal (peripatry), but only vicariance is accepted here.”"/>
          <p:cNvSpPr/>
          <p:nvPr/>
        </p:nvSpPr>
        <p:spPr>
          <a:xfrm>
            <a:off x="3631871" y="3857625"/>
            <a:ext cx="4967418" cy="1436006"/>
          </a:xfrm>
          <a:custGeom>
            <a:avLst/>
            <a:gdLst/>
            <a:ahLst/>
            <a:cxnLst>
              <a:cxn ang="0">
                <a:pos x="wd2" y="hd2"/>
              </a:cxn>
              <a:cxn ang="5400000">
                <a:pos x="wd2" y="hd2"/>
              </a:cxn>
              <a:cxn ang="10800000">
                <a:pos x="wd2" y="hd2"/>
              </a:cxn>
              <a:cxn ang="16200000">
                <a:pos x="wd2" y="hd2"/>
              </a:cxn>
            </a:cxnLst>
            <a:rect l="0" t="0" r="r" b="b"/>
            <a:pathLst>
              <a:path w="21600" h="21600" extrusionOk="0">
                <a:moveTo>
                  <a:pt x="2187" y="0"/>
                </a:moveTo>
                <a:cubicBezTo>
                  <a:pt x="1007" y="0"/>
                  <a:pt x="50" y="3311"/>
                  <a:pt x="50" y="7392"/>
                </a:cubicBezTo>
                <a:lnTo>
                  <a:pt x="50" y="10611"/>
                </a:lnTo>
                <a:cubicBezTo>
                  <a:pt x="50" y="14692"/>
                  <a:pt x="1007" y="17999"/>
                  <a:pt x="2187" y="17999"/>
                </a:cubicBezTo>
                <a:lnTo>
                  <a:pt x="2200" y="17999"/>
                </a:lnTo>
                <a:lnTo>
                  <a:pt x="0" y="21600"/>
                </a:lnTo>
                <a:lnTo>
                  <a:pt x="4946" y="17999"/>
                </a:lnTo>
                <a:lnTo>
                  <a:pt x="19464" y="17999"/>
                </a:lnTo>
                <a:cubicBezTo>
                  <a:pt x="20644" y="17999"/>
                  <a:pt x="21600" y="14692"/>
                  <a:pt x="21600" y="10611"/>
                </a:cubicBezTo>
                <a:lnTo>
                  <a:pt x="21600" y="7392"/>
                </a:lnTo>
                <a:cubicBezTo>
                  <a:pt x="21600" y="3311"/>
                  <a:pt x="20644" y="0"/>
                  <a:pt x="19464" y="0"/>
                </a:cubicBezTo>
                <a:lnTo>
                  <a:pt x="2187"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2400"/>
            </a:pPr>
            <a:r>
              <a:rPr sz="1600" dirty="0"/>
              <a:t>“Most modern biogeographers follow Mayr...in accepting that allopatry can be found by vicariance (dichopatry) or by founder dispersal (peripatry), but only vicariance is accepted here.”</a:t>
            </a:r>
            <a:br>
              <a:rPr sz="1600" dirty="0"/>
            </a:br>
            <a:endParaRPr sz="1600" dirty="0"/>
          </a:p>
        </p:txBody>
      </p:sp>
      <p:sp>
        <p:nvSpPr>
          <p:cNvPr id="264" name="“founder dispersal...is controversial and may not exist.”…"/>
          <p:cNvSpPr/>
          <p:nvPr/>
        </p:nvSpPr>
        <p:spPr>
          <a:xfrm>
            <a:off x="3607594" y="5456039"/>
            <a:ext cx="4955977" cy="1300107"/>
          </a:xfrm>
          <a:custGeom>
            <a:avLst/>
            <a:gdLst/>
            <a:ahLst/>
            <a:cxnLst>
              <a:cxn ang="0">
                <a:pos x="wd2" y="hd2"/>
              </a:cxn>
              <a:cxn ang="5400000">
                <a:pos x="wd2" y="hd2"/>
              </a:cxn>
              <a:cxn ang="10800000">
                <a:pos x="wd2" y="hd2"/>
              </a:cxn>
              <a:cxn ang="16200000">
                <a:pos x="wd2" y="hd2"/>
              </a:cxn>
            </a:cxnLst>
            <a:rect l="0" t="0" r="r" b="b"/>
            <a:pathLst>
              <a:path w="21600" h="21600" extrusionOk="0">
                <a:moveTo>
                  <a:pt x="2142" y="0"/>
                </a:moveTo>
                <a:cubicBezTo>
                  <a:pt x="959" y="0"/>
                  <a:pt x="0" y="3657"/>
                  <a:pt x="0" y="8164"/>
                </a:cubicBezTo>
                <a:lnTo>
                  <a:pt x="0" y="10385"/>
                </a:lnTo>
                <a:cubicBezTo>
                  <a:pt x="0" y="14893"/>
                  <a:pt x="959" y="18545"/>
                  <a:pt x="2142" y="18545"/>
                </a:cubicBezTo>
                <a:lnTo>
                  <a:pt x="2408" y="18545"/>
                </a:lnTo>
                <a:lnTo>
                  <a:pt x="351" y="21600"/>
                </a:lnTo>
                <a:lnTo>
                  <a:pt x="3793" y="18545"/>
                </a:lnTo>
                <a:lnTo>
                  <a:pt x="19459" y="18545"/>
                </a:lnTo>
                <a:cubicBezTo>
                  <a:pt x="20642" y="18545"/>
                  <a:pt x="21600" y="14893"/>
                  <a:pt x="21600" y="10385"/>
                </a:cubicBezTo>
                <a:lnTo>
                  <a:pt x="21600" y="8164"/>
                </a:lnTo>
                <a:cubicBezTo>
                  <a:pt x="21600" y="3657"/>
                  <a:pt x="20642" y="0"/>
                  <a:pt x="19459" y="0"/>
                </a:cubicBezTo>
                <a:lnTo>
                  <a:pt x="2142"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2400"/>
            </a:pPr>
            <a:r>
              <a:rPr sz="1600" dirty="0"/>
              <a:t>“founder dispersal...is controversial and may not exist.”</a:t>
            </a:r>
          </a:p>
          <a:p>
            <a:pPr lvl="1">
              <a:spcBef>
                <a:spcPts val="1687"/>
              </a:spcBef>
              <a:defRPr sz="1400"/>
            </a:pPr>
            <a:r>
              <a:rPr dirty="0"/>
              <a:t>p. 15 in: Heads, M.J. (2012) </a:t>
            </a:r>
            <a:r>
              <a:rPr i="1" dirty="0"/>
              <a:t>Molecular panbiogeography of the tropics</a:t>
            </a:r>
            <a:r>
              <a:rPr dirty="0"/>
              <a:t>. University of California Press, Berkeley, CA.</a:t>
            </a:r>
            <a:br>
              <a:rPr dirty="0"/>
            </a:br>
            <a:endParaRPr dirty="0"/>
          </a:p>
        </p:txBody>
      </p:sp>
      <p:pic>
        <p:nvPicPr>
          <p:cNvPr id="265" name="Screen Shot 2013-09-22 at 10.16.57 AM.png" descr="Screen Shot 2013-09-22 at 10.16.57 AM.png"/>
          <p:cNvPicPr>
            <a:picLocks noChangeAspect="1"/>
          </p:cNvPicPr>
          <p:nvPr/>
        </p:nvPicPr>
        <p:blipFill>
          <a:blip r:embed="rId3"/>
          <a:stretch>
            <a:fillRect/>
          </a:stretch>
        </p:blipFill>
        <p:spPr>
          <a:xfrm>
            <a:off x="1" y="803672"/>
            <a:ext cx="3691003" cy="2134195"/>
          </a:xfrm>
          <a:prstGeom prst="rect">
            <a:avLst/>
          </a:prstGeom>
          <a:ln w="12700">
            <a:solidFill>
              <a:srgbClr val="000000"/>
            </a:solidFill>
            <a:miter lim="400000"/>
          </a:ln>
        </p:spPr>
      </p:pic>
      <p:sp>
        <p:nvSpPr>
          <p:cNvPr id="266" name="“During the last 40 years, historical biogeography has been the arena for an apparently endless struggle: the so-called dispersal versus vicariance debate.”"/>
          <p:cNvSpPr/>
          <p:nvPr/>
        </p:nvSpPr>
        <p:spPr>
          <a:xfrm>
            <a:off x="3771956" y="830461"/>
            <a:ext cx="4952349" cy="1294805"/>
          </a:xfrm>
          <a:custGeom>
            <a:avLst/>
            <a:gdLst/>
            <a:ahLst/>
            <a:cxnLst>
              <a:cxn ang="0">
                <a:pos x="wd2" y="hd2"/>
              </a:cxn>
              <a:cxn ang="5400000">
                <a:pos x="wd2" y="hd2"/>
              </a:cxn>
              <a:cxn ang="10800000">
                <a:pos x="wd2" y="hd2"/>
              </a:cxn>
              <a:cxn ang="16200000">
                <a:pos x="wd2" y="hd2"/>
              </a:cxn>
            </a:cxnLst>
            <a:rect l="0" t="0" r="r" b="b"/>
            <a:pathLst>
              <a:path w="21600" h="21600" extrusionOk="0">
                <a:moveTo>
                  <a:pt x="2829" y="0"/>
                </a:moveTo>
                <a:cubicBezTo>
                  <a:pt x="1645" y="0"/>
                  <a:pt x="685" y="3672"/>
                  <a:pt x="685" y="8198"/>
                </a:cubicBezTo>
                <a:lnTo>
                  <a:pt x="685" y="13407"/>
                </a:lnTo>
                <a:cubicBezTo>
                  <a:pt x="685" y="14285"/>
                  <a:pt x="722" y="15128"/>
                  <a:pt x="789" y="15921"/>
                </a:cubicBezTo>
                <a:lnTo>
                  <a:pt x="0" y="18039"/>
                </a:lnTo>
                <a:lnTo>
                  <a:pt x="1422" y="19575"/>
                </a:lnTo>
                <a:cubicBezTo>
                  <a:pt x="1798" y="20832"/>
                  <a:pt x="2289" y="21600"/>
                  <a:pt x="2829" y="21600"/>
                </a:cubicBezTo>
                <a:lnTo>
                  <a:pt x="19458" y="21600"/>
                </a:lnTo>
                <a:cubicBezTo>
                  <a:pt x="20641" y="21600"/>
                  <a:pt x="21600" y="17933"/>
                  <a:pt x="21600" y="13407"/>
                </a:cubicBezTo>
                <a:lnTo>
                  <a:pt x="21600" y="8198"/>
                </a:lnTo>
                <a:cubicBezTo>
                  <a:pt x="21600" y="3672"/>
                  <a:pt x="20641" y="0"/>
                  <a:pt x="19458" y="0"/>
                </a:cubicBezTo>
                <a:lnTo>
                  <a:pt x="2829" y="0"/>
                </a:lnTo>
                <a:close/>
              </a:path>
            </a:pathLst>
          </a:custGeom>
          <a:solidFill>
            <a:srgbClr val="FFFFFF"/>
          </a:solidFill>
          <a:ln w="50800">
            <a:solidFill>
              <a:srgbClr val="3A88FE"/>
            </a:solidFill>
            <a:miter lim="400000"/>
          </a:ln>
          <a:extLst>
            <a:ext uri="{C572A759-6A51-4108-AA02-DFA0A04FC94B}">
              <ma14:wrappingTextBoxFlag xmlns="" xmlns:ma14="http://schemas.microsoft.com/office/mac/drawingml/2011/main" val="1"/>
            </a:ext>
          </a:extLst>
        </p:spPr>
        <p:txBody>
          <a:bodyPr lIns="35717" tIns="35717" rIns="35717" bIns="35717" anchor="ctr"/>
          <a:lstStyle/>
          <a:p>
            <a:pPr lvl="1">
              <a:spcBef>
                <a:spcPts val="1687"/>
              </a:spcBef>
              <a:defRPr sz="1800"/>
            </a:pPr>
            <a:r>
              <a:rPr sz="1700"/>
              <a:t>“During the last 40 years, historical biogeography has been the arena for an apparently endless struggle: the so-called dispersal versus vicariance debate.”</a:t>
            </a:r>
          </a:p>
        </p:txBody>
      </p:sp>
      <p:sp>
        <p:nvSpPr>
          <p:cNvPr id="267" name="D versus V"/>
          <p:cNvSpPr/>
          <p:nvPr/>
        </p:nvSpPr>
        <p:spPr>
          <a:xfrm>
            <a:off x="892969" y="-169664"/>
            <a:ext cx="7358063" cy="1053703"/>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lvl1pPr>
              <a:defRPr sz="8400"/>
            </a:lvl1pPr>
          </a:lstStyle>
          <a:p>
            <a:r>
              <a:t>D versus V</a:t>
            </a:r>
          </a:p>
        </p:txBody>
      </p:sp>
    </p:spTree>
    <p:extLst>
      <p:ext uri="{BB962C8B-B14F-4D97-AF65-F5344CB8AC3E}">
        <p14:creationId xmlns:p14="http://schemas.microsoft.com/office/powerpoint/2010/main" val="362766930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mmary: dispersal versus vicariance">
            <a:extLst>
              <a:ext uri="{FF2B5EF4-FFF2-40B4-BE49-F238E27FC236}">
                <a16:creationId xmlns:a16="http://schemas.microsoft.com/office/drawing/2014/main" id="{6F92BDCA-1216-A667-0676-E766D1AFA799}"/>
              </a:ext>
            </a:extLst>
          </p:cNvPr>
          <p:cNvSpPr/>
          <p:nvPr/>
        </p:nvSpPr>
        <p:spPr>
          <a:xfrm>
            <a:off x="147145" y="303609"/>
            <a:ext cx="8996855" cy="116978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lvl1pPr>
              <a:defRPr sz="4400" b="1"/>
            </a:lvl1pPr>
          </a:lstStyle>
          <a:p>
            <a:pPr>
              <a:defRPr b="0"/>
            </a:pPr>
            <a:r>
              <a:rPr b="1" dirty="0"/>
              <a:t>Summary: dispersal versus vicariance</a:t>
            </a:r>
          </a:p>
        </p:txBody>
      </p:sp>
    </p:spTree>
    <p:extLst>
      <p:ext uri="{BB962C8B-B14F-4D97-AF65-F5344CB8AC3E}">
        <p14:creationId xmlns:p14="http://schemas.microsoft.com/office/powerpoint/2010/main" val="79541101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ummary: dispersal versus vicariance"/>
          <p:cNvSpPr/>
          <p:nvPr/>
        </p:nvSpPr>
        <p:spPr>
          <a:xfrm>
            <a:off x="147145" y="303609"/>
            <a:ext cx="8996855" cy="116978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lvl1pPr>
              <a:defRPr sz="4400" b="1"/>
            </a:lvl1pPr>
          </a:lstStyle>
          <a:p>
            <a:pPr>
              <a:defRPr b="0"/>
            </a:pPr>
            <a:r>
              <a:rPr b="1" dirty="0"/>
              <a:t>Summary: dispersal versus vicariance</a:t>
            </a:r>
          </a:p>
        </p:txBody>
      </p:sp>
      <p:pic>
        <p:nvPicPr>
          <p:cNvPr id="272" name="droppedImage.tiff" descr="droppedImage.tiff"/>
          <p:cNvPicPr>
            <a:picLocks noChangeAspect="1"/>
          </p:cNvPicPr>
          <p:nvPr/>
        </p:nvPicPr>
        <p:blipFill>
          <a:blip r:embed="rId2"/>
          <a:stretch>
            <a:fillRect/>
          </a:stretch>
        </p:blipFill>
        <p:spPr>
          <a:xfrm>
            <a:off x="272737" y="1857375"/>
            <a:ext cx="8594444" cy="4196953"/>
          </a:xfrm>
          <a:prstGeom prst="rect">
            <a:avLst/>
          </a:prstGeom>
          <a:ln w="12700">
            <a:miter lim="400000"/>
          </a:ln>
        </p:spPr>
      </p:pic>
    </p:spTree>
    <p:extLst>
      <p:ext uri="{BB962C8B-B14F-4D97-AF65-F5344CB8AC3E}">
        <p14:creationId xmlns:p14="http://schemas.microsoft.com/office/powerpoint/2010/main" val="417108940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82FA0-815D-E3FA-CE52-110C5EF67153}"/>
            </a:ext>
          </a:extLst>
        </p:cNvPr>
        <p:cNvGrpSpPr/>
        <p:nvPr/>
      </p:nvGrpSpPr>
      <p:grpSpPr>
        <a:xfrm>
          <a:off x="0" y="0"/>
          <a:ext cx="0" cy="0"/>
          <a:chOff x="0" y="0"/>
          <a:chExt cx="0" cy="0"/>
        </a:xfrm>
      </p:grpSpPr>
      <p:sp>
        <p:nvSpPr>
          <p:cNvPr id="271" name="Summary: dispersal versus vicariance">
            <a:extLst>
              <a:ext uri="{FF2B5EF4-FFF2-40B4-BE49-F238E27FC236}">
                <a16:creationId xmlns:a16="http://schemas.microsoft.com/office/drawing/2014/main" id="{97047EE0-D124-9B52-50F3-01126A64A2E5}"/>
              </a:ext>
            </a:extLst>
          </p:cNvPr>
          <p:cNvSpPr/>
          <p:nvPr/>
        </p:nvSpPr>
        <p:spPr>
          <a:xfrm>
            <a:off x="994394" y="1781535"/>
            <a:ext cx="7543550" cy="116978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lvl1pPr>
              <a:defRPr sz="4400" b="1"/>
            </a:lvl1pPr>
          </a:lstStyle>
          <a:p>
            <a:pPr algn="ctr">
              <a:defRPr b="0"/>
            </a:pPr>
            <a:r>
              <a:rPr lang="en-US" b="1" dirty="0"/>
              <a:t>Molecular phylogenetics and biogeographical inference methods</a:t>
            </a:r>
            <a:endParaRPr b="1" dirty="0"/>
          </a:p>
        </p:txBody>
      </p:sp>
    </p:spTree>
    <p:extLst>
      <p:ext uri="{BB962C8B-B14F-4D97-AF65-F5344CB8AC3E}">
        <p14:creationId xmlns:p14="http://schemas.microsoft.com/office/powerpoint/2010/main" val="166823772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371174" y="77158"/>
            <a:ext cx="7522605" cy="467344"/>
          </a:xfrm>
        </p:spPr>
        <p:txBody>
          <a:bodyPr>
            <a:noAutofit/>
          </a:bodyPr>
          <a:lstStyle/>
          <a:p>
            <a:pPr algn="l"/>
            <a:r>
              <a:rPr lang="en-US" sz="2800" dirty="0"/>
              <a:t>How do we put geological dates on molecular phylogenies? </a:t>
            </a:r>
          </a:p>
        </p:txBody>
      </p:sp>
      <p:sp>
        <p:nvSpPr>
          <p:cNvPr id="8" name="Rectangle 7">
            <a:extLst>
              <a:ext uri="{FF2B5EF4-FFF2-40B4-BE49-F238E27FC236}">
                <a16:creationId xmlns:a16="http://schemas.microsoft.com/office/drawing/2014/main" id="{724A848B-D500-6445-9792-EA1EDD147CD3}"/>
              </a:ext>
            </a:extLst>
          </p:cNvPr>
          <p:cNvSpPr/>
          <p:nvPr/>
        </p:nvSpPr>
        <p:spPr>
          <a:xfrm>
            <a:off x="295989" y="1023291"/>
            <a:ext cx="2616037" cy="830997"/>
          </a:xfrm>
          <a:prstGeom prst="rect">
            <a:avLst/>
          </a:prstGeom>
        </p:spPr>
        <p:txBody>
          <a:bodyPr wrap="none">
            <a:spAutoFit/>
          </a:bodyPr>
          <a:lstStyle/>
          <a:p>
            <a:r>
              <a:rPr lang="en-US" sz="1600" baseline="0" dirty="0"/>
              <a:t>Oversimplified, but:</a:t>
            </a:r>
          </a:p>
          <a:p>
            <a:endParaRPr lang="en-US" sz="1600" baseline="0" dirty="0"/>
          </a:p>
          <a:p>
            <a:r>
              <a:rPr lang="en-US" sz="1600" b="1" baseline="0" dirty="0"/>
              <a:t>1. </a:t>
            </a:r>
            <a:r>
              <a:rPr lang="en-US" sz="1600" baseline="0" dirty="0"/>
              <a:t>Start with a molecular tree</a:t>
            </a:r>
          </a:p>
        </p:txBody>
      </p:sp>
      <p:cxnSp>
        <p:nvCxnSpPr>
          <p:cNvPr id="10" name="Straight Connector 9">
            <a:extLst>
              <a:ext uri="{FF2B5EF4-FFF2-40B4-BE49-F238E27FC236}">
                <a16:creationId xmlns:a16="http://schemas.microsoft.com/office/drawing/2014/main" id="{181FF5C5-068E-364C-B009-445A625CD2B0}"/>
              </a:ext>
            </a:extLst>
          </p:cNvPr>
          <p:cNvCxnSpPr>
            <a:cxnSpLocks/>
          </p:cNvCxnSpPr>
          <p:nvPr/>
        </p:nvCxnSpPr>
        <p:spPr>
          <a:xfrm>
            <a:off x="1080512" y="2476053"/>
            <a:ext cx="10774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84A8C72-DBFC-B941-82BB-81DDD5E7D347}"/>
              </a:ext>
            </a:extLst>
          </p:cNvPr>
          <p:cNvCxnSpPr>
            <a:cxnSpLocks/>
          </p:cNvCxnSpPr>
          <p:nvPr/>
        </p:nvCxnSpPr>
        <p:spPr>
          <a:xfrm>
            <a:off x="1080512" y="2943006"/>
            <a:ext cx="73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63ED4D4-7915-9C42-9B6D-BA7BDBD43F44}"/>
              </a:ext>
            </a:extLst>
          </p:cNvPr>
          <p:cNvCxnSpPr>
            <a:cxnSpLocks/>
          </p:cNvCxnSpPr>
          <p:nvPr/>
        </p:nvCxnSpPr>
        <p:spPr>
          <a:xfrm>
            <a:off x="655011" y="3402644"/>
            <a:ext cx="1897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0A4C9A-C575-C044-BA8C-2F9FA83165BC}"/>
              </a:ext>
            </a:extLst>
          </p:cNvPr>
          <p:cNvCxnSpPr>
            <a:cxnSpLocks/>
          </p:cNvCxnSpPr>
          <p:nvPr/>
        </p:nvCxnSpPr>
        <p:spPr>
          <a:xfrm>
            <a:off x="1080512" y="2476053"/>
            <a:ext cx="0" cy="466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305A7A-AA97-924F-A3A5-B2E356B397D1}"/>
              </a:ext>
            </a:extLst>
          </p:cNvPr>
          <p:cNvCxnSpPr>
            <a:cxnSpLocks/>
          </p:cNvCxnSpPr>
          <p:nvPr/>
        </p:nvCxnSpPr>
        <p:spPr>
          <a:xfrm flipH="1">
            <a:off x="644339" y="2709529"/>
            <a:ext cx="10672" cy="7004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268B9D-AD73-6B4B-929E-BBF6C822EE84}"/>
              </a:ext>
            </a:extLst>
          </p:cNvPr>
          <p:cNvCxnSpPr>
            <a:cxnSpLocks/>
          </p:cNvCxnSpPr>
          <p:nvPr/>
        </p:nvCxnSpPr>
        <p:spPr>
          <a:xfrm>
            <a:off x="655011" y="2710606"/>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76F642-ED50-1644-BCBB-3608882C7706}"/>
              </a:ext>
            </a:extLst>
          </p:cNvPr>
          <p:cNvCxnSpPr>
            <a:cxnSpLocks/>
          </p:cNvCxnSpPr>
          <p:nvPr/>
        </p:nvCxnSpPr>
        <p:spPr>
          <a:xfrm>
            <a:off x="238312" y="3059744"/>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C6BE8C0-8FB6-094C-91AA-2CC151DBAAAE}"/>
              </a:ext>
            </a:extLst>
          </p:cNvPr>
          <p:cNvSpPr/>
          <p:nvPr/>
        </p:nvSpPr>
        <p:spPr>
          <a:xfrm>
            <a:off x="238312" y="3771769"/>
            <a:ext cx="3607083" cy="1815882"/>
          </a:xfrm>
          <a:prstGeom prst="rect">
            <a:avLst/>
          </a:prstGeom>
        </p:spPr>
        <p:txBody>
          <a:bodyPr wrap="square">
            <a:spAutoFit/>
          </a:bodyPr>
          <a:lstStyle/>
          <a:p>
            <a:r>
              <a:rPr lang="en-US" sz="1600" baseline="0" dirty="0"/>
              <a:t>Here, the branches represent the estimated percentage of DNA change on each branch, e.g.</a:t>
            </a:r>
          </a:p>
          <a:p>
            <a:endParaRPr lang="en-US" sz="1600" baseline="0" dirty="0"/>
          </a:p>
          <a:p>
            <a:r>
              <a:rPr lang="en-US" sz="1600" baseline="0" dirty="0"/>
              <a:t>Sp. A and Sp. B have 99% identical DNA</a:t>
            </a:r>
          </a:p>
          <a:p>
            <a:endParaRPr lang="en-US" sz="1600" baseline="0" dirty="0"/>
          </a:p>
          <a:p>
            <a:r>
              <a:rPr lang="en-US" sz="1600" baseline="0" dirty="0"/>
              <a:t>Sp. C is 98% identical to A &amp; B</a:t>
            </a:r>
          </a:p>
        </p:txBody>
      </p:sp>
      <p:sp>
        <p:nvSpPr>
          <p:cNvPr id="24" name="Rectangle 23">
            <a:extLst>
              <a:ext uri="{FF2B5EF4-FFF2-40B4-BE49-F238E27FC236}">
                <a16:creationId xmlns:a16="http://schemas.microsoft.com/office/drawing/2014/main" id="{E026883C-6D8D-0B41-819A-65B6801F8D2E}"/>
              </a:ext>
            </a:extLst>
          </p:cNvPr>
          <p:cNvSpPr/>
          <p:nvPr/>
        </p:nvSpPr>
        <p:spPr>
          <a:xfrm>
            <a:off x="2121409" y="2281286"/>
            <a:ext cx="1058303" cy="1323439"/>
          </a:xfrm>
          <a:prstGeom prst="rect">
            <a:avLst/>
          </a:prstGeom>
        </p:spPr>
        <p:txBody>
          <a:bodyPr wrap="none">
            <a:spAutoFit/>
          </a:bodyPr>
          <a:lstStyle/>
          <a:p>
            <a:r>
              <a:rPr lang="en-US" sz="1600" dirty="0"/>
              <a:t>Sp. A</a:t>
            </a:r>
          </a:p>
          <a:p>
            <a:endParaRPr lang="en-US" sz="1600" dirty="0"/>
          </a:p>
          <a:p>
            <a:r>
              <a:rPr lang="en-US" sz="1600" dirty="0"/>
              <a:t>Sp. B</a:t>
            </a:r>
          </a:p>
          <a:p>
            <a:endParaRPr lang="en-US" sz="1600" dirty="0"/>
          </a:p>
          <a:p>
            <a:r>
              <a:rPr lang="en-US" sz="1600" dirty="0"/>
              <a:t>         Sp. C </a:t>
            </a:r>
          </a:p>
        </p:txBody>
      </p:sp>
      <p:sp>
        <p:nvSpPr>
          <p:cNvPr id="29" name="Rectangle 28">
            <a:extLst>
              <a:ext uri="{FF2B5EF4-FFF2-40B4-BE49-F238E27FC236}">
                <a16:creationId xmlns:a16="http://schemas.microsoft.com/office/drawing/2014/main" id="{B86C198E-8D2C-1B46-A089-B866ED336CE7}"/>
              </a:ext>
            </a:extLst>
          </p:cNvPr>
          <p:cNvSpPr/>
          <p:nvPr/>
        </p:nvSpPr>
        <p:spPr>
          <a:xfrm>
            <a:off x="6430061" y="5264142"/>
            <a:ext cx="2618842" cy="331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81509B6-B953-EE45-97CF-C530D08A2446}"/>
              </a:ext>
            </a:extLst>
          </p:cNvPr>
          <p:cNvSpPr/>
          <p:nvPr/>
        </p:nvSpPr>
        <p:spPr>
          <a:xfrm>
            <a:off x="6422745" y="5056388"/>
            <a:ext cx="438913" cy="188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863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371174" y="77158"/>
            <a:ext cx="7522605" cy="467344"/>
          </a:xfrm>
        </p:spPr>
        <p:txBody>
          <a:bodyPr>
            <a:noAutofit/>
          </a:bodyPr>
          <a:lstStyle/>
          <a:p>
            <a:pPr algn="l"/>
            <a:r>
              <a:rPr lang="en-US" sz="2800" dirty="0"/>
              <a:t>How do we put geological dates on molecular phylogenies? </a:t>
            </a:r>
          </a:p>
        </p:txBody>
      </p:sp>
      <p:sp>
        <p:nvSpPr>
          <p:cNvPr id="8" name="Rectangle 7">
            <a:extLst>
              <a:ext uri="{FF2B5EF4-FFF2-40B4-BE49-F238E27FC236}">
                <a16:creationId xmlns:a16="http://schemas.microsoft.com/office/drawing/2014/main" id="{724A848B-D500-6445-9792-EA1EDD147CD3}"/>
              </a:ext>
            </a:extLst>
          </p:cNvPr>
          <p:cNvSpPr/>
          <p:nvPr/>
        </p:nvSpPr>
        <p:spPr>
          <a:xfrm>
            <a:off x="295989" y="1023291"/>
            <a:ext cx="2616037" cy="830997"/>
          </a:xfrm>
          <a:prstGeom prst="rect">
            <a:avLst/>
          </a:prstGeom>
        </p:spPr>
        <p:txBody>
          <a:bodyPr wrap="none">
            <a:spAutoFit/>
          </a:bodyPr>
          <a:lstStyle/>
          <a:p>
            <a:r>
              <a:rPr lang="en-US" sz="1600" baseline="0" dirty="0"/>
              <a:t>Oversimplified, but:</a:t>
            </a:r>
          </a:p>
          <a:p>
            <a:endParaRPr lang="en-US" sz="1600" baseline="0" dirty="0"/>
          </a:p>
          <a:p>
            <a:r>
              <a:rPr lang="en-US" sz="1600" b="1" baseline="0" dirty="0"/>
              <a:t>1. </a:t>
            </a:r>
            <a:r>
              <a:rPr lang="en-US" sz="1600" baseline="0" dirty="0"/>
              <a:t>Start with a molecular tree</a:t>
            </a:r>
          </a:p>
        </p:txBody>
      </p:sp>
      <p:cxnSp>
        <p:nvCxnSpPr>
          <p:cNvPr id="10" name="Straight Connector 9">
            <a:extLst>
              <a:ext uri="{FF2B5EF4-FFF2-40B4-BE49-F238E27FC236}">
                <a16:creationId xmlns:a16="http://schemas.microsoft.com/office/drawing/2014/main" id="{181FF5C5-068E-364C-B009-445A625CD2B0}"/>
              </a:ext>
            </a:extLst>
          </p:cNvPr>
          <p:cNvCxnSpPr>
            <a:cxnSpLocks/>
          </p:cNvCxnSpPr>
          <p:nvPr/>
        </p:nvCxnSpPr>
        <p:spPr>
          <a:xfrm>
            <a:off x="1080512" y="2476053"/>
            <a:ext cx="10774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84A8C72-DBFC-B941-82BB-81DDD5E7D347}"/>
              </a:ext>
            </a:extLst>
          </p:cNvPr>
          <p:cNvCxnSpPr>
            <a:cxnSpLocks/>
          </p:cNvCxnSpPr>
          <p:nvPr/>
        </p:nvCxnSpPr>
        <p:spPr>
          <a:xfrm>
            <a:off x="1080512" y="2943006"/>
            <a:ext cx="73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63ED4D4-7915-9C42-9B6D-BA7BDBD43F44}"/>
              </a:ext>
            </a:extLst>
          </p:cNvPr>
          <p:cNvCxnSpPr>
            <a:cxnSpLocks/>
          </p:cNvCxnSpPr>
          <p:nvPr/>
        </p:nvCxnSpPr>
        <p:spPr>
          <a:xfrm>
            <a:off x="655011" y="3402644"/>
            <a:ext cx="1897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0A4C9A-C575-C044-BA8C-2F9FA83165BC}"/>
              </a:ext>
            </a:extLst>
          </p:cNvPr>
          <p:cNvCxnSpPr>
            <a:cxnSpLocks/>
          </p:cNvCxnSpPr>
          <p:nvPr/>
        </p:nvCxnSpPr>
        <p:spPr>
          <a:xfrm>
            <a:off x="1080512" y="2476053"/>
            <a:ext cx="0" cy="466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305A7A-AA97-924F-A3A5-B2E356B397D1}"/>
              </a:ext>
            </a:extLst>
          </p:cNvPr>
          <p:cNvCxnSpPr>
            <a:cxnSpLocks/>
          </p:cNvCxnSpPr>
          <p:nvPr/>
        </p:nvCxnSpPr>
        <p:spPr>
          <a:xfrm flipH="1">
            <a:off x="644339" y="2709529"/>
            <a:ext cx="10672" cy="7004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268B9D-AD73-6B4B-929E-BBF6C822EE84}"/>
              </a:ext>
            </a:extLst>
          </p:cNvPr>
          <p:cNvCxnSpPr>
            <a:cxnSpLocks/>
          </p:cNvCxnSpPr>
          <p:nvPr/>
        </p:nvCxnSpPr>
        <p:spPr>
          <a:xfrm>
            <a:off x="655011" y="2710606"/>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76F642-ED50-1644-BCBB-3608882C7706}"/>
              </a:ext>
            </a:extLst>
          </p:cNvPr>
          <p:cNvCxnSpPr>
            <a:cxnSpLocks/>
          </p:cNvCxnSpPr>
          <p:nvPr/>
        </p:nvCxnSpPr>
        <p:spPr>
          <a:xfrm>
            <a:off x="238312" y="3059744"/>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C6BE8C0-8FB6-094C-91AA-2CC151DBAAAE}"/>
              </a:ext>
            </a:extLst>
          </p:cNvPr>
          <p:cNvSpPr/>
          <p:nvPr/>
        </p:nvSpPr>
        <p:spPr>
          <a:xfrm>
            <a:off x="238312" y="3771769"/>
            <a:ext cx="3607083" cy="1815882"/>
          </a:xfrm>
          <a:prstGeom prst="rect">
            <a:avLst/>
          </a:prstGeom>
        </p:spPr>
        <p:txBody>
          <a:bodyPr wrap="square">
            <a:spAutoFit/>
          </a:bodyPr>
          <a:lstStyle/>
          <a:p>
            <a:r>
              <a:rPr lang="en-US" sz="1600" baseline="0" dirty="0"/>
              <a:t>Here, the branches represent the estimated percentage of DNA change on each branch, e.g.</a:t>
            </a:r>
          </a:p>
          <a:p>
            <a:endParaRPr lang="en-US" sz="1600" baseline="0" dirty="0"/>
          </a:p>
          <a:p>
            <a:r>
              <a:rPr lang="en-US" sz="1600" baseline="0" dirty="0"/>
              <a:t>Sp. A and Sp. B have 99% identical DNA</a:t>
            </a:r>
          </a:p>
          <a:p>
            <a:endParaRPr lang="en-US" sz="1600" baseline="0" dirty="0"/>
          </a:p>
          <a:p>
            <a:r>
              <a:rPr lang="en-US" sz="1600" baseline="0" dirty="0"/>
              <a:t>Sp. C is 98% identical to A &amp; B</a:t>
            </a:r>
          </a:p>
        </p:txBody>
      </p:sp>
      <p:sp>
        <p:nvSpPr>
          <p:cNvPr id="24" name="Rectangle 23">
            <a:extLst>
              <a:ext uri="{FF2B5EF4-FFF2-40B4-BE49-F238E27FC236}">
                <a16:creationId xmlns:a16="http://schemas.microsoft.com/office/drawing/2014/main" id="{E026883C-6D8D-0B41-819A-65B6801F8D2E}"/>
              </a:ext>
            </a:extLst>
          </p:cNvPr>
          <p:cNvSpPr/>
          <p:nvPr/>
        </p:nvSpPr>
        <p:spPr>
          <a:xfrm>
            <a:off x="2121409" y="2281286"/>
            <a:ext cx="1058303" cy="1323439"/>
          </a:xfrm>
          <a:prstGeom prst="rect">
            <a:avLst/>
          </a:prstGeom>
        </p:spPr>
        <p:txBody>
          <a:bodyPr wrap="none">
            <a:spAutoFit/>
          </a:bodyPr>
          <a:lstStyle/>
          <a:p>
            <a:r>
              <a:rPr lang="en-US" sz="1600" dirty="0"/>
              <a:t>Sp. A</a:t>
            </a:r>
          </a:p>
          <a:p>
            <a:endParaRPr lang="en-US" sz="1600" dirty="0"/>
          </a:p>
          <a:p>
            <a:r>
              <a:rPr lang="en-US" sz="1600" dirty="0"/>
              <a:t>Sp. B</a:t>
            </a:r>
          </a:p>
          <a:p>
            <a:endParaRPr lang="en-US" sz="1600" dirty="0"/>
          </a:p>
          <a:p>
            <a:r>
              <a:rPr lang="en-US" sz="1600" dirty="0"/>
              <a:t>         Sp. C </a:t>
            </a:r>
          </a:p>
        </p:txBody>
      </p:sp>
      <p:sp>
        <p:nvSpPr>
          <p:cNvPr id="25" name="Rectangle 24">
            <a:extLst>
              <a:ext uri="{FF2B5EF4-FFF2-40B4-BE49-F238E27FC236}">
                <a16:creationId xmlns:a16="http://schemas.microsoft.com/office/drawing/2014/main" id="{884BD0A6-D6B4-E147-99D2-172EC0B9A436}"/>
              </a:ext>
            </a:extLst>
          </p:cNvPr>
          <p:cNvSpPr/>
          <p:nvPr/>
        </p:nvSpPr>
        <p:spPr>
          <a:xfrm>
            <a:off x="3460166" y="947494"/>
            <a:ext cx="2566074" cy="1077218"/>
          </a:xfrm>
          <a:prstGeom prst="rect">
            <a:avLst/>
          </a:prstGeom>
        </p:spPr>
        <p:txBody>
          <a:bodyPr wrap="square">
            <a:spAutoFit/>
          </a:bodyPr>
          <a:lstStyle/>
          <a:p>
            <a:r>
              <a:rPr lang="en-US" sz="1600" b="1" baseline="0" dirty="0"/>
              <a:t>2. </a:t>
            </a:r>
            <a:r>
              <a:rPr lang="en-US" sz="1600" baseline="0" dirty="0"/>
              <a:t>Construct a morphological tree of living &amp; fossil (X) species, using skeletal characters</a:t>
            </a:r>
          </a:p>
        </p:txBody>
      </p:sp>
      <p:sp>
        <p:nvSpPr>
          <p:cNvPr id="28" name="Rectangle 27">
            <a:extLst>
              <a:ext uri="{FF2B5EF4-FFF2-40B4-BE49-F238E27FC236}">
                <a16:creationId xmlns:a16="http://schemas.microsoft.com/office/drawing/2014/main" id="{8CDB5668-995F-214C-B046-A5C3533BF9F7}"/>
              </a:ext>
            </a:extLst>
          </p:cNvPr>
          <p:cNvSpPr/>
          <p:nvPr/>
        </p:nvSpPr>
        <p:spPr>
          <a:xfrm>
            <a:off x="3694176" y="4147717"/>
            <a:ext cx="2618842" cy="1455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86C198E-8D2C-1B46-A089-B866ED336CE7}"/>
              </a:ext>
            </a:extLst>
          </p:cNvPr>
          <p:cNvSpPr/>
          <p:nvPr/>
        </p:nvSpPr>
        <p:spPr>
          <a:xfrm>
            <a:off x="6430061" y="5264142"/>
            <a:ext cx="2618842" cy="331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81509B6-B953-EE45-97CF-C530D08A2446}"/>
              </a:ext>
            </a:extLst>
          </p:cNvPr>
          <p:cNvSpPr/>
          <p:nvPr/>
        </p:nvSpPr>
        <p:spPr>
          <a:xfrm>
            <a:off x="6422745" y="5056388"/>
            <a:ext cx="438913" cy="188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8" descr="Figure_S1_linking_BEAST_runs.png">
            <a:extLst>
              <a:ext uri="{FF2B5EF4-FFF2-40B4-BE49-F238E27FC236}">
                <a16:creationId xmlns:a16="http://schemas.microsoft.com/office/drawing/2014/main" id="{96E87B4B-EE95-4248-A0E9-F391AB5873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30313" y="2024712"/>
            <a:ext cx="2927524" cy="422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CEA76937-834E-8B4C-A0EF-C414C8961336}"/>
              </a:ext>
            </a:extLst>
          </p:cNvPr>
          <p:cNvSpPr/>
          <p:nvPr/>
        </p:nvSpPr>
        <p:spPr>
          <a:xfrm>
            <a:off x="3749040" y="4147716"/>
            <a:ext cx="2578608" cy="14399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3412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371174" y="77158"/>
            <a:ext cx="7522605" cy="467344"/>
          </a:xfrm>
        </p:spPr>
        <p:txBody>
          <a:bodyPr>
            <a:noAutofit/>
          </a:bodyPr>
          <a:lstStyle/>
          <a:p>
            <a:pPr algn="l"/>
            <a:r>
              <a:rPr lang="en-US" sz="2800" dirty="0"/>
              <a:t>How do we put geological dates on molecular phylogenies? </a:t>
            </a:r>
          </a:p>
        </p:txBody>
      </p:sp>
      <p:sp>
        <p:nvSpPr>
          <p:cNvPr id="8" name="Rectangle 7">
            <a:extLst>
              <a:ext uri="{FF2B5EF4-FFF2-40B4-BE49-F238E27FC236}">
                <a16:creationId xmlns:a16="http://schemas.microsoft.com/office/drawing/2014/main" id="{724A848B-D500-6445-9792-EA1EDD147CD3}"/>
              </a:ext>
            </a:extLst>
          </p:cNvPr>
          <p:cNvSpPr/>
          <p:nvPr/>
        </p:nvSpPr>
        <p:spPr>
          <a:xfrm>
            <a:off x="295989" y="1023291"/>
            <a:ext cx="2616037" cy="830997"/>
          </a:xfrm>
          <a:prstGeom prst="rect">
            <a:avLst/>
          </a:prstGeom>
        </p:spPr>
        <p:txBody>
          <a:bodyPr wrap="none">
            <a:spAutoFit/>
          </a:bodyPr>
          <a:lstStyle/>
          <a:p>
            <a:r>
              <a:rPr lang="en-US" sz="1600" baseline="0" dirty="0"/>
              <a:t>Oversimplified, but:</a:t>
            </a:r>
          </a:p>
          <a:p>
            <a:endParaRPr lang="en-US" sz="1600" baseline="0" dirty="0"/>
          </a:p>
          <a:p>
            <a:r>
              <a:rPr lang="en-US" sz="1600" b="1" baseline="0" dirty="0"/>
              <a:t>1. </a:t>
            </a:r>
            <a:r>
              <a:rPr lang="en-US" sz="1600" baseline="0" dirty="0"/>
              <a:t>Start with a molecular tree</a:t>
            </a:r>
          </a:p>
        </p:txBody>
      </p:sp>
      <p:cxnSp>
        <p:nvCxnSpPr>
          <p:cNvPr id="10" name="Straight Connector 9">
            <a:extLst>
              <a:ext uri="{FF2B5EF4-FFF2-40B4-BE49-F238E27FC236}">
                <a16:creationId xmlns:a16="http://schemas.microsoft.com/office/drawing/2014/main" id="{181FF5C5-068E-364C-B009-445A625CD2B0}"/>
              </a:ext>
            </a:extLst>
          </p:cNvPr>
          <p:cNvCxnSpPr>
            <a:cxnSpLocks/>
          </p:cNvCxnSpPr>
          <p:nvPr/>
        </p:nvCxnSpPr>
        <p:spPr>
          <a:xfrm>
            <a:off x="1080512" y="2476053"/>
            <a:ext cx="10774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84A8C72-DBFC-B941-82BB-81DDD5E7D347}"/>
              </a:ext>
            </a:extLst>
          </p:cNvPr>
          <p:cNvCxnSpPr>
            <a:cxnSpLocks/>
          </p:cNvCxnSpPr>
          <p:nvPr/>
        </p:nvCxnSpPr>
        <p:spPr>
          <a:xfrm>
            <a:off x="1080512" y="2943006"/>
            <a:ext cx="7336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63ED4D4-7915-9C42-9B6D-BA7BDBD43F44}"/>
              </a:ext>
            </a:extLst>
          </p:cNvPr>
          <p:cNvCxnSpPr>
            <a:cxnSpLocks/>
          </p:cNvCxnSpPr>
          <p:nvPr/>
        </p:nvCxnSpPr>
        <p:spPr>
          <a:xfrm>
            <a:off x="655011" y="3402644"/>
            <a:ext cx="1897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0A4C9A-C575-C044-BA8C-2F9FA83165BC}"/>
              </a:ext>
            </a:extLst>
          </p:cNvPr>
          <p:cNvCxnSpPr>
            <a:cxnSpLocks/>
          </p:cNvCxnSpPr>
          <p:nvPr/>
        </p:nvCxnSpPr>
        <p:spPr>
          <a:xfrm>
            <a:off x="1080512" y="2476053"/>
            <a:ext cx="0" cy="466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305A7A-AA97-924F-A3A5-B2E356B397D1}"/>
              </a:ext>
            </a:extLst>
          </p:cNvPr>
          <p:cNvCxnSpPr>
            <a:cxnSpLocks/>
          </p:cNvCxnSpPr>
          <p:nvPr/>
        </p:nvCxnSpPr>
        <p:spPr>
          <a:xfrm flipH="1">
            <a:off x="644339" y="2709529"/>
            <a:ext cx="10672" cy="70043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268B9D-AD73-6B4B-929E-BBF6C822EE84}"/>
              </a:ext>
            </a:extLst>
          </p:cNvPr>
          <p:cNvCxnSpPr>
            <a:cxnSpLocks/>
          </p:cNvCxnSpPr>
          <p:nvPr/>
        </p:nvCxnSpPr>
        <p:spPr>
          <a:xfrm>
            <a:off x="655011" y="2710606"/>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76F642-ED50-1644-BCBB-3608882C7706}"/>
              </a:ext>
            </a:extLst>
          </p:cNvPr>
          <p:cNvCxnSpPr>
            <a:cxnSpLocks/>
          </p:cNvCxnSpPr>
          <p:nvPr/>
        </p:nvCxnSpPr>
        <p:spPr>
          <a:xfrm>
            <a:off x="238312" y="3059744"/>
            <a:ext cx="4255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C6BE8C0-8FB6-094C-91AA-2CC151DBAAAE}"/>
              </a:ext>
            </a:extLst>
          </p:cNvPr>
          <p:cNvSpPr/>
          <p:nvPr/>
        </p:nvSpPr>
        <p:spPr>
          <a:xfrm>
            <a:off x="238312" y="3771769"/>
            <a:ext cx="3607083" cy="1815882"/>
          </a:xfrm>
          <a:prstGeom prst="rect">
            <a:avLst/>
          </a:prstGeom>
        </p:spPr>
        <p:txBody>
          <a:bodyPr wrap="square">
            <a:spAutoFit/>
          </a:bodyPr>
          <a:lstStyle/>
          <a:p>
            <a:r>
              <a:rPr lang="en-US" sz="1600" baseline="0" dirty="0"/>
              <a:t>Here, the branches represent the estimated percentage of DNA change on each branch, e.g.</a:t>
            </a:r>
          </a:p>
          <a:p>
            <a:endParaRPr lang="en-US" sz="1600" baseline="0" dirty="0"/>
          </a:p>
          <a:p>
            <a:r>
              <a:rPr lang="en-US" sz="1600" baseline="0" dirty="0"/>
              <a:t>Sp. A and Sp. B have 99% identical DNA</a:t>
            </a:r>
          </a:p>
          <a:p>
            <a:endParaRPr lang="en-US" sz="1600" baseline="0" dirty="0"/>
          </a:p>
          <a:p>
            <a:r>
              <a:rPr lang="en-US" sz="1600" baseline="0" dirty="0"/>
              <a:t>Sp. C is 98% identical to A &amp; B</a:t>
            </a:r>
          </a:p>
        </p:txBody>
      </p:sp>
      <p:sp>
        <p:nvSpPr>
          <p:cNvPr id="24" name="Rectangle 23">
            <a:extLst>
              <a:ext uri="{FF2B5EF4-FFF2-40B4-BE49-F238E27FC236}">
                <a16:creationId xmlns:a16="http://schemas.microsoft.com/office/drawing/2014/main" id="{E026883C-6D8D-0B41-819A-65B6801F8D2E}"/>
              </a:ext>
            </a:extLst>
          </p:cNvPr>
          <p:cNvSpPr/>
          <p:nvPr/>
        </p:nvSpPr>
        <p:spPr>
          <a:xfrm>
            <a:off x="2121409" y="2281286"/>
            <a:ext cx="1058303" cy="1323439"/>
          </a:xfrm>
          <a:prstGeom prst="rect">
            <a:avLst/>
          </a:prstGeom>
        </p:spPr>
        <p:txBody>
          <a:bodyPr wrap="none">
            <a:spAutoFit/>
          </a:bodyPr>
          <a:lstStyle/>
          <a:p>
            <a:r>
              <a:rPr lang="en-US" sz="1600" dirty="0"/>
              <a:t>Sp. A</a:t>
            </a:r>
          </a:p>
          <a:p>
            <a:endParaRPr lang="en-US" sz="1600" dirty="0"/>
          </a:p>
          <a:p>
            <a:r>
              <a:rPr lang="en-US" sz="1600" dirty="0"/>
              <a:t>Sp. B</a:t>
            </a:r>
          </a:p>
          <a:p>
            <a:endParaRPr lang="en-US" sz="1600" dirty="0"/>
          </a:p>
          <a:p>
            <a:r>
              <a:rPr lang="en-US" sz="1600" dirty="0"/>
              <a:t>         Sp. C </a:t>
            </a:r>
          </a:p>
        </p:txBody>
      </p:sp>
      <p:sp>
        <p:nvSpPr>
          <p:cNvPr id="25" name="Rectangle 24">
            <a:extLst>
              <a:ext uri="{FF2B5EF4-FFF2-40B4-BE49-F238E27FC236}">
                <a16:creationId xmlns:a16="http://schemas.microsoft.com/office/drawing/2014/main" id="{884BD0A6-D6B4-E147-99D2-172EC0B9A436}"/>
              </a:ext>
            </a:extLst>
          </p:cNvPr>
          <p:cNvSpPr/>
          <p:nvPr/>
        </p:nvSpPr>
        <p:spPr>
          <a:xfrm>
            <a:off x="3460166" y="947494"/>
            <a:ext cx="2566074" cy="1077218"/>
          </a:xfrm>
          <a:prstGeom prst="rect">
            <a:avLst/>
          </a:prstGeom>
        </p:spPr>
        <p:txBody>
          <a:bodyPr wrap="square">
            <a:spAutoFit/>
          </a:bodyPr>
          <a:lstStyle/>
          <a:p>
            <a:r>
              <a:rPr lang="en-US" sz="1600" b="1" baseline="0" dirty="0"/>
              <a:t>2. </a:t>
            </a:r>
            <a:r>
              <a:rPr lang="en-US" sz="1600" baseline="0" dirty="0"/>
              <a:t>Construct a morphological tree of living &amp; fossil (X) species, using skeletal characters</a:t>
            </a:r>
          </a:p>
        </p:txBody>
      </p:sp>
      <p:pic>
        <p:nvPicPr>
          <p:cNvPr id="26" name="Picture 8" descr="Figure_S1_linking_BEAST_runs.png">
            <a:extLst>
              <a:ext uri="{FF2B5EF4-FFF2-40B4-BE49-F238E27FC236}">
                <a16:creationId xmlns:a16="http://schemas.microsoft.com/office/drawing/2014/main" id="{D02C925E-55C2-494B-851D-3B52EAE51C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16476" y="2005568"/>
            <a:ext cx="2927524" cy="422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26">
            <a:extLst>
              <a:ext uri="{FF2B5EF4-FFF2-40B4-BE49-F238E27FC236}">
                <a16:creationId xmlns:a16="http://schemas.microsoft.com/office/drawing/2014/main" id="{AC06512F-606F-5D43-820A-0AB47EBBFCD2}"/>
              </a:ext>
            </a:extLst>
          </p:cNvPr>
          <p:cNvSpPr/>
          <p:nvPr/>
        </p:nvSpPr>
        <p:spPr>
          <a:xfrm>
            <a:off x="6430061" y="1004139"/>
            <a:ext cx="2611526" cy="954107"/>
          </a:xfrm>
          <a:prstGeom prst="rect">
            <a:avLst/>
          </a:prstGeom>
        </p:spPr>
        <p:txBody>
          <a:bodyPr wrap="square">
            <a:spAutoFit/>
          </a:bodyPr>
          <a:lstStyle/>
          <a:p>
            <a:r>
              <a:rPr lang="en-US" sz="1400" b="1" baseline="0" dirty="0"/>
              <a:t>3. </a:t>
            </a:r>
            <a:r>
              <a:rPr lang="en-US" sz="1400" baseline="0" dirty="0"/>
              <a:t>The fossils imply minimum ages. Construct a prior probability distribution (blue) on the node age</a:t>
            </a:r>
          </a:p>
        </p:txBody>
      </p:sp>
      <p:sp>
        <p:nvSpPr>
          <p:cNvPr id="28" name="Rectangle 27">
            <a:extLst>
              <a:ext uri="{FF2B5EF4-FFF2-40B4-BE49-F238E27FC236}">
                <a16:creationId xmlns:a16="http://schemas.microsoft.com/office/drawing/2014/main" id="{8CDB5668-995F-214C-B046-A5C3533BF9F7}"/>
              </a:ext>
            </a:extLst>
          </p:cNvPr>
          <p:cNvSpPr/>
          <p:nvPr/>
        </p:nvSpPr>
        <p:spPr>
          <a:xfrm>
            <a:off x="3694176" y="4147717"/>
            <a:ext cx="2618842" cy="1455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86C198E-8D2C-1B46-A089-B866ED336CE7}"/>
              </a:ext>
            </a:extLst>
          </p:cNvPr>
          <p:cNvSpPr/>
          <p:nvPr/>
        </p:nvSpPr>
        <p:spPr>
          <a:xfrm>
            <a:off x="6430061" y="5264142"/>
            <a:ext cx="2618842" cy="331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81509B6-B953-EE45-97CF-C530D08A2446}"/>
              </a:ext>
            </a:extLst>
          </p:cNvPr>
          <p:cNvSpPr/>
          <p:nvPr/>
        </p:nvSpPr>
        <p:spPr>
          <a:xfrm>
            <a:off x="6422745" y="5056388"/>
            <a:ext cx="438913" cy="188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8" descr="Figure_S1_linking_BEAST_runs.png">
            <a:extLst>
              <a:ext uri="{FF2B5EF4-FFF2-40B4-BE49-F238E27FC236}">
                <a16:creationId xmlns:a16="http://schemas.microsoft.com/office/drawing/2014/main" id="{96E87B4B-EE95-4248-A0E9-F391AB5873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30313" y="2024712"/>
            <a:ext cx="2927524" cy="422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CEA76937-834E-8B4C-A0EF-C414C8961336}"/>
              </a:ext>
            </a:extLst>
          </p:cNvPr>
          <p:cNvSpPr/>
          <p:nvPr/>
        </p:nvSpPr>
        <p:spPr>
          <a:xfrm>
            <a:off x="3749040" y="4147716"/>
            <a:ext cx="2578608" cy="14399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1D4E4EF-207C-1C4D-BE77-FC55BCE5E203}"/>
              </a:ext>
            </a:extLst>
          </p:cNvPr>
          <p:cNvSpPr/>
          <p:nvPr/>
        </p:nvSpPr>
        <p:spPr>
          <a:xfrm>
            <a:off x="6163252" y="5274381"/>
            <a:ext cx="2665666" cy="276999"/>
          </a:xfrm>
          <a:prstGeom prst="rect">
            <a:avLst/>
          </a:prstGeom>
        </p:spPr>
        <p:txBody>
          <a:bodyPr wrap="none">
            <a:spAutoFit/>
          </a:bodyPr>
          <a:lstStyle/>
          <a:p>
            <a:r>
              <a:rPr lang="en-US" sz="1200" b="1" dirty="0">
                <a:solidFill>
                  <a:schemeClr val="accent1">
                    <a:lumMod val="60000"/>
                    <a:lumOff val="40000"/>
                  </a:schemeClr>
                </a:solidFill>
              </a:rPr>
              <a:t>Prior probability distributions on dates</a:t>
            </a:r>
          </a:p>
        </p:txBody>
      </p:sp>
      <p:sp>
        <p:nvSpPr>
          <p:cNvPr id="33" name="Subtitle 2">
            <a:extLst>
              <a:ext uri="{FF2B5EF4-FFF2-40B4-BE49-F238E27FC236}">
                <a16:creationId xmlns:a16="http://schemas.microsoft.com/office/drawing/2014/main" id="{CFE9AEC2-70AD-F341-936D-AAAD9D2FADF8}"/>
              </a:ext>
            </a:extLst>
          </p:cNvPr>
          <p:cNvSpPr txBox="1">
            <a:spLocks/>
          </p:cNvSpPr>
          <p:nvPr/>
        </p:nvSpPr>
        <p:spPr>
          <a:xfrm>
            <a:off x="295989" y="6317634"/>
            <a:ext cx="8532929" cy="41247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1" baseline="0" dirty="0"/>
              <a:t>Summary: Dating information from fossils is used to constrain node dates, converting undated molecular phylogenies (phylograms) into dated molecular phylogenies (dendrograms)</a:t>
            </a:r>
          </a:p>
        </p:txBody>
      </p:sp>
    </p:spTree>
    <p:extLst>
      <p:ext uri="{BB962C8B-B14F-4D97-AF65-F5344CB8AC3E}">
        <p14:creationId xmlns:p14="http://schemas.microsoft.com/office/powerpoint/2010/main" val="4255916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290707" y="1311664"/>
            <a:ext cx="2876775" cy="2183239"/>
          </a:xfrm>
        </p:spPr>
        <p:txBody>
          <a:bodyPr>
            <a:noAutofit/>
          </a:bodyPr>
          <a:lstStyle/>
          <a:p>
            <a:pPr algn="l"/>
            <a:r>
              <a:rPr lang="en-US" dirty="0"/>
              <a:t>A poster doing this for hominins, by Matzke et al:</a:t>
            </a:r>
          </a:p>
          <a:p>
            <a:pPr algn="l"/>
            <a:endParaRPr lang="en-US" dirty="0"/>
          </a:p>
        </p:txBody>
      </p:sp>
      <p:sp>
        <p:nvSpPr>
          <p:cNvPr id="36" name="Subtitle 2">
            <a:extLst>
              <a:ext uri="{FF2B5EF4-FFF2-40B4-BE49-F238E27FC236}">
                <a16:creationId xmlns:a16="http://schemas.microsoft.com/office/drawing/2014/main" id="{67DD4A60-90C8-3B41-80DF-F6937D0679F1}"/>
              </a:ext>
            </a:extLst>
          </p:cNvPr>
          <p:cNvSpPr txBox="1">
            <a:spLocks/>
          </p:cNvSpPr>
          <p:nvPr/>
        </p:nvSpPr>
        <p:spPr>
          <a:xfrm>
            <a:off x="371174" y="77158"/>
            <a:ext cx="7522605" cy="4673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aseline="0" dirty="0"/>
              <a:t>How do we put geological dates on molecular phylogenies? (Joint fossils &amp; molecules approach)</a:t>
            </a:r>
          </a:p>
        </p:txBody>
      </p:sp>
      <p:pic>
        <p:nvPicPr>
          <p:cNvPr id="6" name="Picture 7">
            <a:extLst>
              <a:ext uri="{FF2B5EF4-FFF2-40B4-BE49-F238E27FC236}">
                <a16:creationId xmlns:a16="http://schemas.microsoft.com/office/drawing/2014/main" id="{2CB2861B-1EE4-2C45-B098-BD7362396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905" y="1543508"/>
            <a:ext cx="2342766" cy="1104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descr="Figure1_joint_plot_v1_WORKED_ARCHIVE.pdf">
            <a:extLst>
              <a:ext uri="{FF2B5EF4-FFF2-40B4-BE49-F238E27FC236}">
                <a16:creationId xmlns:a16="http://schemas.microsoft.com/office/drawing/2014/main" id="{4AD45C03-4F0B-2E47-83AB-1DB306DE74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4525" y="1311664"/>
            <a:ext cx="5095152" cy="5095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8B9A49E-48AE-A243-BB2A-9E138EDAC607}"/>
              </a:ext>
            </a:extLst>
          </p:cNvPr>
          <p:cNvSpPr/>
          <p:nvPr/>
        </p:nvSpPr>
        <p:spPr>
          <a:xfrm>
            <a:off x="3635654" y="1258214"/>
            <a:ext cx="4674413" cy="2750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980DC2-CB7C-2D4C-8D89-8D75379D5BDA}"/>
              </a:ext>
            </a:extLst>
          </p:cNvPr>
          <p:cNvSpPr/>
          <p:nvPr/>
        </p:nvSpPr>
        <p:spPr>
          <a:xfrm>
            <a:off x="3167482" y="4722443"/>
            <a:ext cx="5142585" cy="1334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8603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290707" y="1311664"/>
            <a:ext cx="2876775" cy="2183239"/>
          </a:xfrm>
        </p:spPr>
        <p:txBody>
          <a:bodyPr>
            <a:noAutofit/>
          </a:bodyPr>
          <a:lstStyle/>
          <a:p>
            <a:pPr algn="l"/>
            <a:r>
              <a:rPr lang="en-US" dirty="0"/>
              <a:t>A poster doing this for hominins, by Matzke et al:</a:t>
            </a:r>
          </a:p>
          <a:p>
            <a:pPr algn="l"/>
            <a:endParaRPr lang="en-US" dirty="0"/>
          </a:p>
        </p:txBody>
      </p:sp>
      <p:sp>
        <p:nvSpPr>
          <p:cNvPr id="36" name="Subtitle 2">
            <a:extLst>
              <a:ext uri="{FF2B5EF4-FFF2-40B4-BE49-F238E27FC236}">
                <a16:creationId xmlns:a16="http://schemas.microsoft.com/office/drawing/2014/main" id="{67DD4A60-90C8-3B41-80DF-F6937D0679F1}"/>
              </a:ext>
            </a:extLst>
          </p:cNvPr>
          <p:cNvSpPr txBox="1">
            <a:spLocks/>
          </p:cNvSpPr>
          <p:nvPr/>
        </p:nvSpPr>
        <p:spPr>
          <a:xfrm>
            <a:off x="371174" y="77158"/>
            <a:ext cx="7522605" cy="4673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aseline="0" dirty="0"/>
              <a:t>How do we put geological dates on molecular phylogenies? (Joint fossils &amp; molecules approach)</a:t>
            </a:r>
          </a:p>
        </p:txBody>
      </p:sp>
      <p:pic>
        <p:nvPicPr>
          <p:cNvPr id="6" name="Picture 7">
            <a:extLst>
              <a:ext uri="{FF2B5EF4-FFF2-40B4-BE49-F238E27FC236}">
                <a16:creationId xmlns:a16="http://schemas.microsoft.com/office/drawing/2014/main" id="{2CB2861B-1EE4-2C45-B098-BD7362396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905" y="1543508"/>
            <a:ext cx="2342766" cy="1104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descr="Figure1_joint_plot_v1_WORKED_ARCHIVE.pdf">
            <a:extLst>
              <a:ext uri="{FF2B5EF4-FFF2-40B4-BE49-F238E27FC236}">
                <a16:creationId xmlns:a16="http://schemas.microsoft.com/office/drawing/2014/main" id="{4AD45C03-4F0B-2E47-83AB-1DB306DE74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4525" y="1311664"/>
            <a:ext cx="5095152" cy="5095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A980DC2-CB7C-2D4C-8D89-8D75379D5BDA}"/>
              </a:ext>
            </a:extLst>
          </p:cNvPr>
          <p:cNvSpPr/>
          <p:nvPr/>
        </p:nvSpPr>
        <p:spPr>
          <a:xfrm>
            <a:off x="3167482" y="4722443"/>
            <a:ext cx="5142585" cy="1334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8204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522BAE-BC36-D94E-98F0-8C3A8C74F512}"/>
              </a:ext>
            </a:extLst>
          </p:cNvPr>
          <p:cNvSpPr>
            <a:spLocks noGrp="1"/>
          </p:cNvSpPr>
          <p:nvPr>
            <p:ph type="subTitle" idx="1"/>
          </p:nvPr>
        </p:nvSpPr>
        <p:spPr>
          <a:xfrm>
            <a:off x="290707" y="1311664"/>
            <a:ext cx="2876775" cy="2183239"/>
          </a:xfrm>
        </p:spPr>
        <p:txBody>
          <a:bodyPr>
            <a:noAutofit/>
          </a:bodyPr>
          <a:lstStyle/>
          <a:p>
            <a:pPr algn="l"/>
            <a:r>
              <a:rPr lang="en-US" dirty="0"/>
              <a:t>A poster doing this for hominins, by Matzke et al:</a:t>
            </a:r>
          </a:p>
          <a:p>
            <a:pPr algn="l"/>
            <a:endParaRPr lang="en-US" dirty="0"/>
          </a:p>
        </p:txBody>
      </p:sp>
      <p:sp>
        <p:nvSpPr>
          <p:cNvPr id="36" name="Subtitle 2">
            <a:extLst>
              <a:ext uri="{FF2B5EF4-FFF2-40B4-BE49-F238E27FC236}">
                <a16:creationId xmlns:a16="http://schemas.microsoft.com/office/drawing/2014/main" id="{67DD4A60-90C8-3B41-80DF-F6937D0679F1}"/>
              </a:ext>
            </a:extLst>
          </p:cNvPr>
          <p:cNvSpPr txBox="1">
            <a:spLocks/>
          </p:cNvSpPr>
          <p:nvPr/>
        </p:nvSpPr>
        <p:spPr>
          <a:xfrm>
            <a:off x="371174" y="77158"/>
            <a:ext cx="7522605" cy="4673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aseline="0" dirty="0"/>
              <a:t>How do we put geological dates on molecular phylogenies? (Joint fossils &amp; molecules approach)</a:t>
            </a:r>
          </a:p>
        </p:txBody>
      </p:sp>
      <p:pic>
        <p:nvPicPr>
          <p:cNvPr id="6" name="Picture 7">
            <a:extLst>
              <a:ext uri="{FF2B5EF4-FFF2-40B4-BE49-F238E27FC236}">
                <a16:creationId xmlns:a16="http://schemas.microsoft.com/office/drawing/2014/main" id="{2CB2861B-1EE4-2C45-B098-BD7362396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905" y="1543508"/>
            <a:ext cx="2342766" cy="1104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descr="Figure1_joint_plot_v1_WORKED_ARCHIVE.pdf">
            <a:extLst>
              <a:ext uri="{FF2B5EF4-FFF2-40B4-BE49-F238E27FC236}">
                <a16:creationId xmlns:a16="http://schemas.microsoft.com/office/drawing/2014/main" id="{4AD45C03-4F0B-2E47-83AB-1DB306DE74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4525" y="1311664"/>
            <a:ext cx="5095152" cy="5095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9C90F03-9B29-2943-8DF3-8806CCD19373}"/>
              </a:ext>
            </a:extLst>
          </p:cNvPr>
          <p:cNvSpPr/>
          <p:nvPr/>
        </p:nvSpPr>
        <p:spPr>
          <a:xfrm>
            <a:off x="237591" y="3140968"/>
            <a:ext cx="3046934" cy="3477875"/>
          </a:xfrm>
          <a:prstGeom prst="rect">
            <a:avLst/>
          </a:prstGeom>
        </p:spPr>
        <p:txBody>
          <a:bodyPr wrap="square">
            <a:spAutoFit/>
          </a:bodyPr>
          <a:lstStyle/>
          <a:p>
            <a:r>
              <a:rPr lang="en-US" sz="2000" baseline="0" dirty="0"/>
              <a:t>Purple bars represent the 95% uncertainty around each node date.</a:t>
            </a:r>
          </a:p>
          <a:p>
            <a:endParaRPr lang="en-US" sz="2000" baseline="0" dirty="0"/>
          </a:p>
          <a:p>
            <a:r>
              <a:rPr lang="en-US" sz="2000" baseline="0" dirty="0"/>
              <a:t>The blue line, at bottom, represents the full posterior probability distribution of the human-chimp node date</a:t>
            </a:r>
          </a:p>
          <a:p>
            <a:endParaRPr lang="en-US" sz="2000" baseline="0" dirty="0"/>
          </a:p>
          <a:p>
            <a:r>
              <a:rPr lang="en-US" sz="2000" baseline="0" dirty="0"/>
              <a:t>(Other colors: other estimates)</a:t>
            </a:r>
          </a:p>
        </p:txBody>
      </p:sp>
    </p:spTree>
    <p:extLst>
      <p:ext uri="{BB962C8B-B14F-4D97-AF65-F5344CB8AC3E}">
        <p14:creationId xmlns:p14="http://schemas.microsoft.com/office/powerpoint/2010/main" val="851313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27B9EC-3A51-2940-9126-4C43E2E4E211}"/>
              </a:ext>
            </a:extLst>
          </p:cNvPr>
          <p:cNvGrpSpPr/>
          <p:nvPr/>
        </p:nvGrpSpPr>
        <p:grpSpPr>
          <a:xfrm>
            <a:off x="1619672" y="626350"/>
            <a:ext cx="6090918" cy="6072644"/>
            <a:chOff x="0" y="0"/>
            <a:chExt cx="6549024" cy="6858000"/>
          </a:xfrm>
        </p:grpSpPr>
        <p:pic>
          <p:nvPicPr>
            <p:cNvPr id="5" name="Picture 4">
              <a:extLst>
                <a:ext uri="{FF2B5EF4-FFF2-40B4-BE49-F238E27FC236}">
                  <a16:creationId xmlns:a16="http://schemas.microsoft.com/office/drawing/2014/main" id="{95AF4473-B743-634E-B0A0-C37BF3C5B3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6549024" cy="4038216"/>
            </a:xfrm>
            <a:prstGeom prst="rect">
              <a:avLst/>
            </a:prstGeom>
            <a:noFill/>
          </p:spPr>
        </p:pic>
        <p:pic>
          <p:nvPicPr>
            <p:cNvPr id="6" name="Picture 5">
              <a:extLst>
                <a:ext uri="{FF2B5EF4-FFF2-40B4-BE49-F238E27FC236}">
                  <a16:creationId xmlns:a16="http://schemas.microsoft.com/office/drawing/2014/main" id="{CA4BAA9D-5D27-4341-922E-CC4E177DD5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92209"/>
              <a:ext cx="3256537" cy="5465791"/>
            </a:xfrm>
            <a:prstGeom prst="rect">
              <a:avLst/>
            </a:prstGeom>
            <a:noFill/>
          </p:spPr>
        </p:pic>
      </p:grpSp>
      <p:sp>
        <p:nvSpPr>
          <p:cNvPr id="7" name="Subtitle 2">
            <a:extLst>
              <a:ext uri="{FF2B5EF4-FFF2-40B4-BE49-F238E27FC236}">
                <a16:creationId xmlns:a16="http://schemas.microsoft.com/office/drawing/2014/main" id="{5B469EEB-ED29-F24C-BCBB-C8136BC40CA0}"/>
              </a:ext>
            </a:extLst>
          </p:cNvPr>
          <p:cNvSpPr txBox="1">
            <a:spLocks/>
          </p:cNvSpPr>
          <p:nvPr/>
        </p:nvSpPr>
        <p:spPr>
          <a:xfrm>
            <a:off x="378490" y="159006"/>
            <a:ext cx="7522605" cy="4673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aseline="0" dirty="0"/>
              <a:t>Large molecular phylogenies &amp; biogeography</a:t>
            </a:r>
          </a:p>
        </p:txBody>
      </p:sp>
    </p:spTree>
    <p:extLst>
      <p:ext uri="{BB962C8B-B14F-4D97-AF65-F5344CB8AC3E}">
        <p14:creationId xmlns:p14="http://schemas.microsoft.com/office/powerpoint/2010/main" val="546909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Event-based method #1"/>
          <p:cNvSpPr txBox="1">
            <a:spLocks noGrp="1"/>
          </p:cNvSpPr>
          <p:nvPr>
            <p:ph type="title"/>
          </p:nvPr>
        </p:nvSpPr>
        <p:spPr>
          <a:xfrm>
            <a:off x="205383" y="71437"/>
            <a:ext cx="5634633" cy="946547"/>
          </a:xfrm>
          <a:prstGeom prst="rect">
            <a:avLst/>
          </a:prstGeom>
        </p:spPr>
        <p:txBody>
          <a:bodyPr>
            <a:normAutofit fontScale="90000"/>
          </a:bodyPr>
          <a:lstStyle>
            <a:lvl1pPr algn="l">
              <a:defRPr sz="4800" b="1"/>
            </a:lvl1pPr>
          </a:lstStyle>
          <a:p>
            <a:pPr>
              <a:defRPr b="0"/>
            </a:pPr>
            <a:r>
              <a:rPr b="1"/>
              <a:t>Event-based method #1</a:t>
            </a:r>
          </a:p>
        </p:txBody>
      </p:sp>
      <p:sp>
        <p:nvSpPr>
          <p:cNvPr id="302" name="Treat biogeography as any other discrete character"/>
          <p:cNvSpPr txBox="1">
            <a:spLocks noGrp="1"/>
          </p:cNvSpPr>
          <p:nvPr>
            <p:ph type="body" sz="quarter" idx="1"/>
          </p:nvPr>
        </p:nvSpPr>
        <p:spPr>
          <a:xfrm>
            <a:off x="562570" y="1062633"/>
            <a:ext cx="8242102" cy="732234"/>
          </a:xfrm>
          <a:prstGeom prst="rect">
            <a:avLst/>
          </a:prstGeom>
        </p:spPr>
        <p:txBody>
          <a:bodyPr anchor="t">
            <a:normAutofit fontScale="92500"/>
          </a:bodyPr>
          <a:lstStyle>
            <a:lvl1pPr marL="0" indent="190500">
              <a:buSzTx/>
              <a:buNone/>
            </a:lvl1pPr>
          </a:lstStyle>
          <a:p>
            <a:r>
              <a:t>Treat biogeography as any other discrete character</a:t>
            </a:r>
          </a:p>
        </p:txBody>
      </p:sp>
      <p:sp>
        <p:nvSpPr>
          <p:cNvPr id="303" name="Guzman B, Vargas P (2009). &quot;Historical biogeography and character evolution of Cistaceae (Malvales) based on analysis of plastid rbcL and trnL-trnF sequences.&quot; Organisms, Diversity &amp; Evolution 9, 83–99."/>
          <p:cNvSpPr/>
          <p:nvPr/>
        </p:nvSpPr>
        <p:spPr>
          <a:xfrm>
            <a:off x="4714875" y="6527602"/>
            <a:ext cx="4580930" cy="62612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spAutoFit/>
          </a:bodyPr>
          <a:lstStyle/>
          <a:p>
            <a:pPr algn="l">
              <a:defRPr sz="1200"/>
            </a:pPr>
            <a:r>
              <a:t>Guzman B, Vargas P (2009). "Historical biogeography and character evolution of Cistaceae (Malvales) based on analysis of plastid rbcL and trnL-trnF sequences." </a:t>
            </a:r>
            <a:r>
              <a:rPr i="1"/>
              <a:t>Organisms, Diversity &amp; Evolution</a:t>
            </a:r>
            <a:r>
              <a:t> 9, 83–99.</a:t>
            </a:r>
          </a:p>
        </p:txBody>
      </p:sp>
      <p:pic>
        <p:nvPicPr>
          <p:cNvPr id="304" name="Region capture 23.tiff" descr="Region capture 23.tiff"/>
          <p:cNvPicPr>
            <a:picLocks noChangeAspect="1"/>
          </p:cNvPicPr>
          <p:nvPr/>
        </p:nvPicPr>
        <p:blipFill>
          <a:blip r:embed="rId2"/>
          <a:stretch>
            <a:fillRect/>
          </a:stretch>
        </p:blipFill>
        <p:spPr>
          <a:xfrm>
            <a:off x="0" y="2634258"/>
            <a:ext cx="4423752" cy="3330773"/>
          </a:xfrm>
          <a:prstGeom prst="rect">
            <a:avLst/>
          </a:prstGeom>
          <a:ln w="12700">
            <a:miter lim="400000"/>
          </a:ln>
        </p:spPr>
      </p:pic>
      <p:pic>
        <p:nvPicPr>
          <p:cNvPr id="305" name="Region capture 25.tiff" descr="Region capture 25.tiff"/>
          <p:cNvPicPr>
            <a:picLocks noChangeAspect="1"/>
          </p:cNvPicPr>
          <p:nvPr/>
        </p:nvPicPr>
        <p:blipFill>
          <a:blip r:embed="rId3"/>
          <a:stretch>
            <a:fillRect/>
          </a:stretch>
        </p:blipFill>
        <p:spPr>
          <a:xfrm>
            <a:off x="4434520" y="3821906"/>
            <a:ext cx="4415591" cy="2250281"/>
          </a:xfrm>
          <a:prstGeom prst="rect">
            <a:avLst/>
          </a:prstGeom>
          <a:ln w="12700">
            <a:miter lim="400000"/>
          </a:ln>
        </p:spPr>
      </p:pic>
      <p:pic>
        <p:nvPicPr>
          <p:cNvPr id="306" name="Region capture 24.png" descr="Region capture 24.png"/>
          <p:cNvPicPr>
            <a:picLocks noChangeAspect="1"/>
          </p:cNvPicPr>
          <p:nvPr/>
        </p:nvPicPr>
        <p:blipFill>
          <a:blip r:embed="rId4"/>
          <a:stretch>
            <a:fillRect/>
          </a:stretch>
        </p:blipFill>
        <p:spPr>
          <a:xfrm>
            <a:off x="4857750" y="2666822"/>
            <a:ext cx="4000500" cy="1227055"/>
          </a:xfrm>
          <a:prstGeom prst="rect">
            <a:avLst/>
          </a:prstGeom>
          <a:ln w="12700">
            <a:miter lim="400000"/>
          </a:ln>
        </p:spPr>
      </p:pic>
    </p:spTree>
    <p:extLst>
      <p:ext uri="{BB962C8B-B14F-4D97-AF65-F5344CB8AC3E}">
        <p14:creationId xmlns:p14="http://schemas.microsoft.com/office/powerpoint/2010/main" val="319093627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r>
              <a:rPr lang="en-US"/>
              <a:t>Nov. 22, 2008</a:t>
            </a:r>
          </a:p>
        </p:txBody>
      </p:sp>
      <p:sp>
        <p:nvSpPr>
          <p:cNvPr id="5" name="Footer Placeholder 2"/>
          <p:cNvSpPr>
            <a:spLocks noGrp="1"/>
          </p:cNvSpPr>
          <p:nvPr>
            <p:ph type="ftr" sz="quarter" idx="11"/>
          </p:nvPr>
        </p:nvSpPr>
        <p:spPr/>
        <p:txBody>
          <a:bodyPr/>
          <a:lstStyle/>
          <a:p>
            <a:r>
              <a:rPr lang="en-US"/>
              <a:t>UC Berkeley Comp Bio Group</a:t>
            </a:r>
          </a:p>
        </p:txBody>
      </p:sp>
      <p:sp>
        <p:nvSpPr>
          <p:cNvPr id="6" name="Slide Number Placeholder 3"/>
          <p:cNvSpPr>
            <a:spLocks noGrp="1"/>
          </p:cNvSpPr>
          <p:nvPr>
            <p:ph type="sldNum" sz="quarter" idx="12"/>
          </p:nvPr>
        </p:nvSpPr>
        <p:spPr/>
        <p:txBody>
          <a:bodyPr/>
          <a:lstStyle/>
          <a:p>
            <a:fld id="{161820AF-97E6-164B-A74B-F957552269C8}" type="slidenum">
              <a:rPr lang="en-US"/>
              <a:pPr/>
              <a:t>31</a:t>
            </a:fld>
            <a:endParaRPr lang="en-US"/>
          </a:p>
        </p:txBody>
      </p:sp>
      <p:sp>
        <p:nvSpPr>
          <p:cNvPr id="393218" name="Rectangle 2"/>
          <p:cNvSpPr>
            <a:spLocks noGrp="1" noChangeArrowheads="1"/>
          </p:cNvSpPr>
          <p:nvPr>
            <p:ph type="title" idx="4294967295"/>
          </p:nvPr>
        </p:nvSpPr>
        <p:spPr>
          <a:xfrm>
            <a:off x="228600" y="457200"/>
            <a:ext cx="9067800" cy="609600"/>
          </a:xfrm>
        </p:spPr>
        <p:txBody>
          <a:bodyPr>
            <a:normAutofit fontScale="90000"/>
          </a:bodyPr>
          <a:lstStyle/>
          <a:p>
            <a:pPr algn="l"/>
            <a:r>
              <a:rPr lang="en-US" sz="3600" b="1" dirty="0">
                <a:latin typeface="Arial" charset="0"/>
              </a:rPr>
              <a:t>1980s-2000s: parsimony methods</a:t>
            </a:r>
            <a:endParaRPr lang="en-US" sz="2400" b="1" dirty="0">
              <a:latin typeface="Arial" charset="0"/>
            </a:endParaRPr>
          </a:p>
        </p:txBody>
      </p:sp>
      <p:pic>
        <p:nvPicPr>
          <p:cNvPr id="393220" name="Picture 4" descr="Region cap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6" y="1676401"/>
            <a:ext cx="8886824" cy="393065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913179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Event-based method #2:   DIVA: Dispersal-vicariance analysis"/>
          <p:cNvSpPr txBox="1">
            <a:spLocks noGrp="1"/>
          </p:cNvSpPr>
          <p:nvPr>
            <p:ph type="title"/>
          </p:nvPr>
        </p:nvSpPr>
        <p:spPr>
          <a:xfrm>
            <a:off x="205383" y="71437"/>
            <a:ext cx="8376047" cy="1294805"/>
          </a:xfrm>
          <a:prstGeom prst="rect">
            <a:avLst/>
          </a:prstGeom>
        </p:spPr>
        <p:txBody>
          <a:bodyPr>
            <a:normAutofit/>
          </a:bodyPr>
          <a:lstStyle/>
          <a:p>
            <a:pPr algn="l">
              <a:defRPr sz="4800"/>
            </a:pPr>
            <a:r>
              <a:rPr sz="2400" b="1" dirty="0"/>
              <a:t>Event-based method #2: </a:t>
            </a:r>
          </a:p>
          <a:p>
            <a:pPr algn="l">
              <a:defRPr sz="4800"/>
            </a:pPr>
            <a:r>
              <a:rPr sz="2400" b="1" dirty="0"/>
              <a:t>	DIVA: Dispersal-vicariance analysis</a:t>
            </a:r>
          </a:p>
        </p:txBody>
      </p:sp>
      <p:sp>
        <p:nvSpPr>
          <p:cNvPr id="438" name="Ronquist F, Sanmartin I (2011). &quot;Phylogenetic Methods in Biogeography.&quot; Annu Rev Ecol Evol Syst. 2011. 42:441–64"/>
          <p:cNvSpPr/>
          <p:nvPr/>
        </p:nvSpPr>
        <p:spPr>
          <a:xfrm>
            <a:off x="0" y="6456164"/>
            <a:ext cx="2607469" cy="81079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spAutoFit/>
          </a:bodyPr>
          <a:lstStyle/>
          <a:p>
            <a:pPr algn="l">
              <a:defRPr sz="1200"/>
            </a:pPr>
            <a:r>
              <a:t>Ronquist F, Sanmartin I (2011). "Phylogenetic Methods in Biogeography." </a:t>
            </a:r>
            <a:r>
              <a:rPr i="1"/>
              <a:t>Annu Rev Ecol Evol Syst. </a:t>
            </a:r>
            <a:r>
              <a:t>2011. 42:441–64</a:t>
            </a:r>
          </a:p>
        </p:txBody>
      </p:sp>
      <p:pic>
        <p:nvPicPr>
          <p:cNvPr id="439" name="Region capture 27.tiff" descr="Region capture 27.tiff"/>
          <p:cNvPicPr>
            <a:picLocks noChangeAspect="1"/>
          </p:cNvPicPr>
          <p:nvPr/>
        </p:nvPicPr>
        <p:blipFill>
          <a:blip r:embed="rId2"/>
          <a:srcRect l="811" t="1102" r="11635"/>
          <a:stretch>
            <a:fillRect/>
          </a:stretch>
        </p:blipFill>
        <p:spPr>
          <a:xfrm>
            <a:off x="2795509" y="1445759"/>
            <a:ext cx="4964907" cy="5241306"/>
          </a:xfrm>
          <a:prstGeom prst="rect">
            <a:avLst/>
          </a:prstGeom>
          <a:ln w="12700">
            <a:miter lim="400000"/>
          </a:ln>
        </p:spPr>
      </p:pic>
    </p:spTree>
    <p:extLst>
      <p:ext uri="{BB962C8B-B14F-4D97-AF65-F5344CB8AC3E}">
        <p14:creationId xmlns:p14="http://schemas.microsoft.com/office/powerpoint/2010/main" val="2896432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Ronquist F, Sanmartin I (2011). &quot;Phylogenetic Methods in Biogeography.&quot; Annu Rev Ecol Evol Syst. 2011. 42:441–64"/>
          <p:cNvSpPr/>
          <p:nvPr/>
        </p:nvSpPr>
        <p:spPr>
          <a:xfrm>
            <a:off x="0" y="6456164"/>
            <a:ext cx="2607469" cy="81079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spAutoFit/>
          </a:bodyPr>
          <a:lstStyle/>
          <a:p>
            <a:pPr algn="l">
              <a:defRPr sz="1200"/>
            </a:pPr>
            <a:r>
              <a:t>Ronquist F, Sanmartin I (2011). "Phylogenetic Methods in Biogeography." </a:t>
            </a:r>
            <a:r>
              <a:rPr i="1"/>
              <a:t>Annu Rev Ecol Evol Syst. </a:t>
            </a:r>
            <a:r>
              <a:t>2011. 42:441–64</a:t>
            </a:r>
          </a:p>
        </p:txBody>
      </p:sp>
      <p:pic>
        <p:nvPicPr>
          <p:cNvPr id="442" name="Region capture 27.tiff" descr="Region capture 27.tiff"/>
          <p:cNvPicPr>
            <a:picLocks noChangeAspect="1"/>
          </p:cNvPicPr>
          <p:nvPr/>
        </p:nvPicPr>
        <p:blipFill>
          <a:blip r:embed="rId2"/>
          <a:srcRect l="811" t="1110"/>
          <a:stretch>
            <a:fillRect/>
          </a:stretch>
        </p:blipFill>
        <p:spPr>
          <a:xfrm>
            <a:off x="2795508" y="1446184"/>
            <a:ext cx="5624736" cy="5240881"/>
          </a:xfrm>
          <a:prstGeom prst="rect">
            <a:avLst/>
          </a:prstGeom>
          <a:ln w="12700">
            <a:miter lim="400000"/>
          </a:ln>
        </p:spPr>
      </p:pic>
      <p:sp>
        <p:nvSpPr>
          <p:cNvPr id="443" name="Event-based method #2:   DIVA: Dispersal-vicariance analysis"/>
          <p:cNvSpPr/>
          <p:nvPr/>
        </p:nvSpPr>
        <p:spPr>
          <a:xfrm>
            <a:off x="205383" y="71437"/>
            <a:ext cx="8376047" cy="129480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p>
            <a:pPr algn="l">
              <a:defRPr sz="4800"/>
            </a:pPr>
            <a:r>
              <a:rPr sz="2400" b="1" dirty="0"/>
              <a:t>Event-based method #2: </a:t>
            </a:r>
          </a:p>
          <a:p>
            <a:pPr algn="l">
              <a:defRPr sz="4800"/>
            </a:pPr>
            <a:r>
              <a:rPr sz="2400" b="1" dirty="0"/>
              <a:t>	DIVA: Dispersal-vicariance analysis</a:t>
            </a:r>
          </a:p>
        </p:txBody>
      </p:sp>
    </p:spTree>
    <p:extLst>
      <p:ext uri="{BB962C8B-B14F-4D97-AF65-F5344CB8AC3E}">
        <p14:creationId xmlns:p14="http://schemas.microsoft.com/office/powerpoint/2010/main" val="26665277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rogram: “LAGRANGE” e.g., Ree &amp; Smith (2008) Hawaiian Psychotria"/>
          <p:cNvSpPr/>
          <p:nvPr/>
        </p:nvSpPr>
        <p:spPr>
          <a:xfrm>
            <a:off x="178594" y="991195"/>
            <a:ext cx="6223992" cy="561210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spAutoFit/>
          </a:bodyPr>
          <a:lstStyle/>
          <a:p>
            <a:pPr algn="l">
              <a:defRPr sz="3600" b="1">
                <a:latin typeface="Calibri"/>
                <a:ea typeface="Calibri"/>
                <a:cs typeface="Calibri"/>
                <a:sym typeface="Calibri"/>
              </a:defRPr>
            </a:pPr>
            <a:endParaRPr sz="2400" dirty="0"/>
          </a:p>
          <a:p>
            <a:pPr algn="l">
              <a:defRPr sz="3600" b="1">
                <a:latin typeface="Calibri"/>
                <a:ea typeface="Calibri"/>
                <a:cs typeface="Calibri"/>
                <a:sym typeface="Calibri"/>
              </a:defRPr>
            </a:pPr>
            <a:r>
              <a:rPr sz="2400" dirty="0"/>
              <a:t>Program: “LAGRANGE”</a:t>
            </a:r>
          </a:p>
          <a:p>
            <a:pPr algn="l">
              <a:defRPr sz="3600">
                <a:latin typeface="Calibri"/>
                <a:ea typeface="Calibri"/>
                <a:cs typeface="Calibri"/>
                <a:sym typeface="Calibri"/>
              </a:defRPr>
            </a:pPr>
            <a:r>
              <a:rPr sz="2400" dirty="0"/>
              <a:t>e.g., Ree &amp; Smith (2008) Hawaiian</a:t>
            </a:r>
            <a:br>
              <a:rPr sz="2400" dirty="0"/>
            </a:br>
            <a:r>
              <a:rPr sz="2400" i="1" dirty="0"/>
              <a:t>Psychotria</a:t>
            </a:r>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endParaRPr sz="2400" i="1" dirty="0"/>
          </a:p>
          <a:p>
            <a:pPr algn="l">
              <a:defRPr sz="3600">
                <a:latin typeface="Calibri"/>
                <a:ea typeface="Calibri"/>
                <a:cs typeface="Calibri"/>
                <a:sym typeface="Calibri"/>
              </a:defRPr>
            </a:pPr>
            <a:r>
              <a:rPr sz="2400" dirty="0"/>
              <a:t>	</a:t>
            </a:r>
          </a:p>
        </p:txBody>
      </p:sp>
      <p:pic>
        <p:nvPicPr>
          <p:cNvPr id="446" name="image.png" descr="image.png"/>
          <p:cNvPicPr>
            <a:picLocks/>
          </p:cNvPicPr>
          <p:nvPr/>
        </p:nvPicPr>
        <p:blipFill>
          <a:blip r:embed="rId2"/>
          <a:stretch>
            <a:fillRect/>
          </a:stretch>
        </p:blipFill>
        <p:spPr>
          <a:xfrm>
            <a:off x="285155" y="2982516"/>
            <a:ext cx="4281488" cy="3690938"/>
          </a:xfrm>
          <a:prstGeom prst="rect">
            <a:avLst/>
          </a:prstGeom>
        </p:spPr>
      </p:pic>
      <p:pic>
        <p:nvPicPr>
          <p:cNvPr id="447" name="image.png" descr="image.png"/>
          <p:cNvPicPr>
            <a:picLocks/>
          </p:cNvPicPr>
          <p:nvPr/>
        </p:nvPicPr>
        <p:blipFill>
          <a:blip r:embed="rId3"/>
          <a:stretch>
            <a:fillRect/>
          </a:stretch>
        </p:blipFill>
        <p:spPr>
          <a:xfrm>
            <a:off x="4768453" y="1009055"/>
            <a:ext cx="4339828" cy="5715000"/>
          </a:xfrm>
          <a:prstGeom prst="rect">
            <a:avLst/>
          </a:prstGeom>
        </p:spPr>
      </p:pic>
      <p:sp>
        <p:nvSpPr>
          <p:cNvPr id="448" name="Event-based method #3:   DEC: Dispersal-extinction cladogenesis"/>
          <p:cNvSpPr/>
          <p:nvPr/>
        </p:nvSpPr>
        <p:spPr>
          <a:xfrm>
            <a:off x="205383" y="71437"/>
            <a:ext cx="9108281" cy="129480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p>
            <a:pPr algn="l">
              <a:defRPr sz="4800"/>
            </a:pPr>
            <a:r>
              <a:rPr sz="2400" b="1" dirty="0"/>
              <a:t>Event-based method #3: </a:t>
            </a:r>
          </a:p>
          <a:p>
            <a:pPr algn="l">
              <a:defRPr sz="4800"/>
            </a:pPr>
            <a:r>
              <a:rPr sz="2400" b="1" dirty="0"/>
              <a:t>	DEC: Dispersal-extinction cladogenesis</a:t>
            </a:r>
          </a:p>
        </p:txBody>
      </p:sp>
    </p:spTree>
    <p:extLst>
      <p:ext uri="{BB962C8B-B14F-4D97-AF65-F5344CB8AC3E}">
        <p14:creationId xmlns:p14="http://schemas.microsoft.com/office/powerpoint/2010/main" val="1358095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Cladogenesis -- range evolution at speciation events (LAGRANGE model)"/>
          <p:cNvSpPr txBox="1">
            <a:spLocks noGrp="1"/>
          </p:cNvSpPr>
          <p:nvPr>
            <p:ph type="body" sz="quarter" idx="1"/>
          </p:nvPr>
        </p:nvSpPr>
        <p:spPr>
          <a:xfrm>
            <a:off x="1062633" y="1946672"/>
            <a:ext cx="7358063" cy="946547"/>
          </a:xfrm>
          <a:prstGeom prst="rect">
            <a:avLst/>
          </a:prstGeom>
        </p:spPr>
        <p:txBody>
          <a:bodyPr>
            <a:normAutofit fontScale="92500" lnSpcReduction="10000"/>
          </a:bodyPr>
          <a:lstStyle/>
          <a:p>
            <a:pPr marL="0" indent="0">
              <a:buNone/>
            </a:pPr>
            <a:r>
              <a:rPr b="1" dirty="0"/>
              <a:t>Cladogenesis</a:t>
            </a:r>
            <a:r>
              <a:rPr dirty="0"/>
              <a:t> -- range evolution at speciation events </a:t>
            </a:r>
            <a:r>
              <a:rPr b="1" dirty="0"/>
              <a:t>(LAGRANGE model)</a:t>
            </a:r>
          </a:p>
        </p:txBody>
      </p:sp>
      <p:sp>
        <p:nvSpPr>
          <p:cNvPr id="379" name="Probabilites per speciation event:"/>
          <p:cNvSpPr/>
          <p:nvPr/>
        </p:nvSpPr>
        <p:spPr>
          <a:xfrm>
            <a:off x="-107156" y="2788216"/>
            <a:ext cx="1705570" cy="154945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lvl="1">
              <a:spcBef>
                <a:spcPts val="1687"/>
              </a:spcBef>
              <a:defRPr sz="2400" i="1"/>
            </a:pPr>
            <a:r>
              <a:t>Probabilites per speciation event:</a:t>
            </a:r>
          </a:p>
        </p:txBody>
      </p:sp>
      <p:pic>
        <p:nvPicPr>
          <p:cNvPr id="380" name="spmat_various.pdf" descr="spmat_various.pdf"/>
          <p:cNvPicPr>
            <a:picLocks noChangeAspect="1"/>
          </p:cNvPicPr>
          <p:nvPr/>
        </p:nvPicPr>
        <p:blipFill>
          <a:blip r:embed="rId2"/>
          <a:stretch>
            <a:fillRect/>
          </a:stretch>
        </p:blipFill>
        <p:spPr>
          <a:xfrm>
            <a:off x="-169664" y="4384477"/>
            <a:ext cx="9420820" cy="1322694"/>
          </a:xfrm>
          <a:prstGeom prst="rect">
            <a:avLst/>
          </a:prstGeom>
          <a:ln w="12700">
            <a:miter lim="400000"/>
          </a:ln>
        </p:spPr>
      </p:pic>
      <p:pic>
        <p:nvPicPr>
          <p:cNvPr id="381" name="Screen Shot 2012-11-17 at 10.27.32 PM.png" descr="Screen Shot 2012-11-17 at 10.27.32 PM.png"/>
          <p:cNvPicPr>
            <a:picLocks noChangeAspect="1"/>
          </p:cNvPicPr>
          <p:nvPr/>
        </p:nvPicPr>
        <p:blipFill>
          <a:blip r:embed="rId3"/>
          <a:stretch>
            <a:fillRect/>
          </a:stretch>
        </p:blipFill>
        <p:spPr>
          <a:xfrm>
            <a:off x="1571625" y="3161109"/>
            <a:ext cx="1535906" cy="767953"/>
          </a:xfrm>
          <a:prstGeom prst="rect">
            <a:avLst/>
          </a:prstGeom>
          <a:ln w="12700">
            <a:miter lim="400000"/>
          </a:ln>
        </p:spPr>
      </p:pic>
      <p:pic>
        <p:nvPicPr>
          <p:cNvPr id="382" name="Screen Shot 2012-11-17 at 10.27.47 PM.png" descr="Screen Shot 2012-11-17 at 10.27.47 PM.png"/>
          <p:cNvPicPr>
            <a:picLocks noChangeAspect="1"/>
          </p:cNvPicPr>
          <p:nvPr/>
        </p:nvPicPr>
        <p:blipFill>
          <a:blip r:embed="rId4"/>
          <a:stretch>
            <a:fillRect/>
          </a:stretch>
        </p:blipFill>
        <p:spPr>
          <a:xfrm>
            <a:off x="4071937" y="3152180"/>
            <a:ext cx="1553766" cy="776883"/>
          </a:xfrm>
          <a:prstGeom prst="rect">
            <a:avLst/>
          </a:prstGeom>
          <a:ln w="12700">
            <a:miter lim="400000"/>
          </a:ln>
        </p:spPr>
      </p:pic>
      <p:pic>
        <p:nvPicPr>
          <p:cNvPr id="383" name="Screen Shot 2012-11-17 at 10.27.56 PM.png" descr="Screen Shot 2012-11-17 at 10.27.56 PM.png"/>
          <p:cNvPicPr>
            <a:picLocks noChangeAspect="1"/>
          </p:cNvPicPr>
          <p:nvPr/>
        </p:nvPicPr>
        <p:blipFill>
          <a:blip r:embed="rId5"/>
          <a:stretch>
            <a:fillRect/>
          </a:stretch>
        </p:blipFill>
        <p:spPr>
          <a:xfrm>
            <a:off x="6590109" y="3152179"/>
            <a:ext cx="1553766" cy="785813"/>
          </a:xfrm>
          <a:prstGeom prst="rect">
            <a:avLst/>
          </a:prstGeom>
          <a:ln w="12700">
            <a:miter lim="400000"/>
          </a:ln>
        </p:spPr>
      </p:pic>
      <p:sp>
        <p:nvSpPr>
          <p:cNvPr id="384" name="sympatric"/>
          <p:cNvSpPr/>
          <p:nvPr/>
        </p:nvSpPr>
        <p:spPr>
          <a:xfrm>
            <a:off x="1553765" y="3909248"/>
            <a:ext cx="1297978" cy="441463"/>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defRPr sz="2400"/>
            </a:pPr>
            <a:r>
              <a:t>sympatric</a:t>
            </a:r>
          </a:p>
        </p:txBody>
      </p:sp>
      <p:sp>
        <p:nvSpPr>
          <p:cNvPr id="385" name="subset"/>
          <p:cNvSpPr/>
          <p:nvPr/>
        </p:nvSpPr>
        <p:spPr>
          <a:xfrm>
            <a:off x="4125516" y="3815487"/>
            <a:ext cx="892518" cy="441463"/>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defRPr sz="2400"/>
            </a:pPr>
            <a:r>
              <a:t>subset</a:t>
            </a:r>
          </a:p>
        </p:txBody>
      </p:sp>
      <p:sp>
        <p:nvSpPr>
          <p:cNvPr id="386" name="vicariance"/>
          <p:cNvSpPr/>
          <p:nvPr/>
        </p:nvSpPr>
        <p:spPr>
          <a:xfrm>
            <a:off x="6500813" y="3815487"/>
            <a:ext cx="1329687" cy="441463"/>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defRPr sz="2400"/>
            </a:pPr>
            <a:r>
              <a:t>vicariance</a:t>
            </a:r>
          </a:p>
        </p:txBody>
      </p:sp>
      <p:sp>
        <p:nvSpPr>
          <p:cNvPr id="387" name="Event-based method #3:   DEC: Dispersal-extinction cladogenesis"/>
          <p:cNvSpPr/>
          <p:nvPr/>
        </p:nvSpPr>
        <p:spPr>
          <a:xfrm>
            <a:off x="205383" y="71437"/>
            <a:ext cx="9108281" cy="129480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p>
            <a:pPr algn="l">
              <a:defRPr sz="4800"/>
            </a:pPr>
            <a:r>
              <a:rPr sz="2400" b="1" dirty="0"/>
              <a:t>Event-based method #3: </a:t>
            </a:r>
          </a:p>
          <a:p>
            <a:pPr algn="l">
              <a:defRPr sz="4800"/>
            </a:pPr>
            <a:r>
              <a:rPr sz="2400" b="1" dirty="0"/>
              <a:t>	DEC: Dispersal-extinction cladogenesis</a:t>
            </a:r>
          </a:p>
        </p:txBody>
      </p:sp>
    </p:spTree>
    <p:extLst>
      <p:ext uri="{BB962C8B-B14F-4D97-AF65-F5344CB8AC3E}">
        <p14:creationId xmlns:p14="http://schemas.microsoft.com/office/powerpoint/2010/main" val="165711215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d = “dispersal” = range extension…"/>
          <p:cNvSpPr txBox="1">
            <a:spLocks noGrp="1"/>
          </p:cNvSpPr>
          <p:nvPr>
            <p:ph type="body" sz="half" idx="1"/>
          </p:nvPr>
        </p:nvSpPr>
        <p:spPr>
          <a:xfrm>
            <a:off x="1169789" y="2000250"/>
            <a:ext cx="7358063" cy="2152055"/>
          </a:xfrm>
          <a:prstGeom prst="rect">
            <a:avLst/>
          </a:prstGeom>
        </p:spPr>
        <p:txBody>
          <a:bodyPr/>
          <a:lstStyle/>
          <a:p>
            <a:r>
              <a:rPr i="1"/>
              <a:t>d</a:t>
            </a:r>
            <a:r>
              <a:t> = “dispersal” = range extension</a:t>
            </a:r>
          </a:p>
          <a:p>
            <a:r>
              <a:rPr i="1"/>
              <a:t>e</a:t>
            </a:r>
            <a:r>
              <a:t> = “extinction” = range loss</a:t>
            </a:r>
          </a:p>
          <a:p>
            <a:r>
              <a:t>cladogenesis process</a:t>
            </a:r>
          </a:p>
        </p:txBody>
      </p:sp>
      <p:sp>
        <p:nvSpPr>
          <p:cNvPr id="390" name="Implemented in the program LAGRANGE…"/>
          <p:cNvSpPr/>
          <p:nvPr/>
        </p:nvSpPr>
        <p:spPr>
          <a:xfrm>
            <a:off x="223242" y="4600610"/>
            <a:ext cx="5013050" cy="1335811"/>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spcBef>
                <a:spcPts val="1687"/>
              </a:spcBef>
            </a:pPr>
            <a:r>
              <a:t>Implemented in the program LAGRANGE</a:t>
            </a:r>
          </a:p>
          <a:p>
            <a:pPr lvl="1">
              <a:spcBef>
                <a:spcPts val="1687"/>
              </a:spcBef>
            </a:pPr>
            <a:r>
              <a:t>(</a:t>
            </a:r>
            <a:r>
              <a:rPr u="sng"/>
              <a:t>L</a:t>
            </a:r>
            <a:r>
              <a:t>ikelihood </a:t>
            </a:r>
            <a:r>
              <a:rPr u="sng"/>
              <a:t>A</a:t>
            </a:r>
            <a:r>
              <a:t>nalysis of </a:t>
            </a:r>
            <a:r>
              <a:rPr u="sng"/>
              <a:t>G</a:t>
            </a:r>
            <a:r>
              <a:t>eographic </a:t>
            </a:r>
            <a:r>
              <a:rPr u="sng"/>
              <a:t>RANG</a:t>
            </a:r>
            <a:r>
              <a:t>e </a:t>
            </a:r>
            <a:r>
              <a:rPr u="sng"/>
              <a:t>E</a:t>
            </a:r>
            <a:r>
              <a:t>volution)</a:t>
            </a:r>
          </a:p>
          <a:p>
            <a:pPr lvl="1">
              <a:spcBef>
                <a:spcPts val="1687"/>
              </a:spcBef>
            </a:pPr>
            <a:r>
              <a:t>                          by Rick Ree &amp; Stephen Smith (2008)</a:t>
            </a:r>
          </a:p>
        </p:txBody>
      </p:sp>
      <p:sp>
        <p:nvSpPr>
          <p:cNvPr id="391" name="Event-based method #3:   DEC: Dispersal-extinction cladogenesis"/>
          <p:cNvSpPr/>
          <p:nvPr/>
        </p:nvSpPr>
        <p:spPr>
          <a:xfrm>
            <a:off x="205383" y="71437"/>
            <a:ext cx="9108281" cy="1294805"/>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p>
            <a:pPr algn="l">
              <a:defRPr sz="4800"/>
            </a:pPr>
            <a:r>
              <a:rPr sz="2400" b="1" dirty="0"/>
              <a:t>Event-based method #3: </a:t>
            </a:r>
          </a:p>
          <a:p>
            <a:pPr algn="l">
              <a:defRPr sz="4800"/>
            </a:pPr>
            <a:r>
              <a:rPr sz="2400" b="1" dirty="0"/>
              <a:t>	DEC: Dispersal-extinction cladogenesis</a:t>
            </a:r>
          </a:p>
        </p:txBody>
      </p:sp>
    </p:spTree>
    <p:extLst>
      <p:ext uri="{BB962C8B-B14F-4D97-AF65-F5344CB8AC3E}">
        <p14:creationId xmlns:p14="http://schemas.microsoft.com/office/powerpoint/2010/main" val="355912910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A"/>
          <p:cNvSpPr/>
          <p:nvPr/>
        </p:nvSpPr>
        <p:spPr>
          <a:xfrm>
            <a:off x="2357437" y="3312389"/>
            <a:ext cx="351881"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A</a:t>
            </a:r>
          </a:p>
        </p:txBody>
      </p:sp>
      <p:sp>
        <p:nvSpPr>
          <p:cNvPr id="394" name="Line"/>
          <p:cNvSpPr/>
          <p:nvPr/>
        </p:nvSpPr>
        <p:spPr>
          <a:xfrm flipH="1">
            <a:off x="2714625" y="3625453"/>
            <a:ext cx="1253691" cy="1"/>
          </a:xfrm>
          <a:prstGeom prst="line">
            <a:avLst/>
          </a:prstGeom>
          <a:ln w="38100">
            <a:solidFill>
              <a:srgbClr val="000000"/>
            </a:solidFill>
            <a:miter lim="400000"/>
            <a:headEnd type="stealth"/>
          </a:ln>
        </p:spPr>
        <p:txBody>
          <a:bodyPr lIns="35717" tIns="35717" rIns="35717" bIns="35717" anchor="ctr"/>
          <a:lstStyle/>
          <a:p>
            <a:pPr defTabSz="321457">
              <a:defRPr sz="1200">
                <a:latin typeface="Helvetica"/>
                <a:ea typeface="Helvetica"/>
                <a:cs typeface="Helvetica"/>
                <a:sym typeface="Helvetica"/>
              </a:defRPr>
            </a:pPr>
            <a:endParaRPr/>
          </a:p>
        </p:txBody>
      </p:sp>
      <p:sp>
        <p:nvSpPr>
          <p:cNvPr id="395" name="AB"/>
          <p:cNvSpPr/>
          <p:nvPr/>
        </p:nvSpPr>
        <p:spPr>
          <a:xfrm>
            <a:off x="3982641" y="3312389"/>
            <a:ext cx="610665"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AB</a:t>
            </a:r>
          </a:p>
        </p:txBody>
      </p:sp>
      <p:sp>
        <p:nvSpPr>
          <p:cNvPr id="396" name="“dispersal” event…"/>
          <p:cNvSpPr/>
          <p:nvPr/>
        </p:nvSpPr>
        <p:spPr>
          <a:xfrm>
            <a:off x="4723805" y="2972882"/>
            <a:ext cx="4809832" cy="1180127"/>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algn="l">
              <a:defRPr sz="3600" b="1">
                <a:latin typeface="Calibri"/>
                <a:ea typeface="Calibri"/>
                <a:cs typeface="Calibri"/>
                <a:sym typeface="Calibri"/>
              </a:defRPr>
            </a:pPr>
            <a:r>
              <a:t>“dispersal” event</a:t>
            </a:r>
          </a:p>
          <a:p>
            <a:pPr algn="l">
              <a:defRPr sz="3600" b="1">
                <a:latin typeface="Calibri"/>
                <a:ea typeface="Calibri"/>
                <a:cs typeface="Calibri"/>
                <a:sym typeface="Calibri"/>
              </a:defRPr>
            </a:pPr>
            <a:r>
              <a:t>(really, range expansion)</a:t>
            </a:r>
          </a:p>
        </p:txBody>
      </p:sp>
      <p:sp>
        <p:nvSpPr>
          <p:cNvPr id="397" name="AB"/>
          <p:cNvSpPr/>
          <p:nvPr/>
        </p:nvSpPr>
        <p:spPr>
          <a:xfrm>
            <a:off x="2250281" y="4857225"/>
            <a:ext cx="610665"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AB</a:t>
            </a:r>
          </a:p>
        </p:txBody>
      </p:sp>
      <p:sp>
        <p:nvSpPr>
          <p:cNvPr id="398" name="Line"/>
          <p:cNvSpPr/>
          <p:nvPr/>
        </p:nvSpPr>
        <p:spPr>
          <a:xfrm flipH="1">
            <a:off x="2705696" y="5170289"/>
            <a:ext cx="1253691" cy="1"/>
          </a:xfrm>
          <a:prstGeom prst="line">
            <a:avLst/>
          </a:prstGeom>
          <a:ln w="38100">
            <a:solidFill>
              <a:srgbClr val="000000"/>
            </a:solidFill>
            <a:miter lim="400000"/>
            <a:headEnd type="stealth"/>
          </a:ln>
        </p:spPr>
        <p:txBody>
          <a:bodyPr lIns="35717" tIns="35717" rIns="35717" bIns="35717" anchor="ctr"/>
          <a:lstStyle/>
          <a:p>
            <a:pPr defTabSz="321457">
              <a:defRPr sz="1200">
                <a:latin typeface="Helvetica"/>
                <a:ea typeface="Helvetica"/>
                <a:cs typeface="Helvetica"/>
                <a:sym typeface="Helvetica"/>
              </a:defRPr>
            </a:pPr>
            <a:endParaRPr/>
          </a:p>
        </p:txBody>
      </p:sp>
      <p:sp>
        <p:nvSpPr>
          <p:cNvPr id="399" name="A"/>
          <p:cNvSpPr/>
          <p:nvPr/>
        </p:nvSpPr>
        <p:spPr>
          <a:xfrm>
            <a:off x="3973711" y="4857225"/>
            <a:ext cx="351881"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A</a:t>
            </a:r>
          </a:p>
        </p:txBody>
      </p:sp>
      <p:sp>
        <p:nvSpPr>
          <p:cNvPr id="400" name="“extinction” event…"/>
          <p:cNvSpPr/>
          <p:nvPr/>
        </p:nvSpPr>
        <p:spPr>
          <a:xfrm>
            <a:off x="4768453" y="4035158"/>
            <a:ext cx="3839766" cy="2288123"/>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algn="l">
              <a:defRPr sz="3600" b="1">
                <a:latin typeface="Calibri"/>
                <a:ea typeface="Calibri"/>
                <a:cs typeface="Calibri"/>
                <a:sym typeface="Calibri"/>
              </a:defRPr>
            </a:pPr>
            <a:r>
              <a:t>“extinction” event</a:t>
            </a:r>
          </a:p>
          <a:p>
            <a:pPr algn="l">
              <a:defRPr sz="3600" b="1">
                <a:latin typeface="Calibri"/>
                <a:ea typeface="Calibri"/>
                <a:cs typeface="Calibri"/>
                <a:sym typeface="Calibri"/>
              </a:defRPr>
            </a:pPr>
            <a:r>
              <a:t>(really, extirpation or</a:t>
            </a:r>
            <a:br/>
            <a:r>
              <a:t>range contraction)</a:t>
            </a:r>
          </a:p>
        </p:txBody>
      </p:sp>
      <p:sp>
        <p:nvSpPr>
          <p:cNvPr id="401" name="+B"/>
          <p:cNvSpPr/>
          <p:nvPr/>
        </p:nvSpPr>
        <p:spPr>
          <a:xfrm>
            <a:off x="3089672" y="3053428"/>
            <a:ext cx="560847"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+B</a:t>
            </a:r>
          </a:p>
        </p:txBody>
      </p:sp>
      <p:sp>
        <p:nvSpPr>
          <p:cNvPr id="402" name="-B"/>
          <p:cNvSpPr/>
          <p:nvPr/>
        </p:nvSpPr>
        <p:spPr>
          <a:xfrm>
            <a:off x="3143250" y="4607194"/>
            <a:ext cx="472256" cy="626129"/>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lvl1pPr algn="l">
              <a:defRPr sz="3600" b="1">
                <a:latin typeface="Calibri"/>
                <a:ea typeface="Calibri"/>
                <a:cs typeface="Calibri"/>
                <a:sym typeface="Calibri"/>
              </a:defRPr>
            </a:lvl1pPr>
          </a:lstStyle>
          <a:p>
            <a:r>
              <a:t>-B</a:t>
            </a:r>
          </a:p>
        </p:txBody>
      </p:sp>
      <p:sp>
        <p:nvSpPr>
          <p:cNvPr id="403" name="Line"/>
          <p:cNvSpPr/>
          <p:nvPr/>
        </p:nvSpPr>
        <p:spPr>
          <a:xfrm>
            <a:off x="3312914" y="3509368"/>
            <a:ext cx="0" cy="229191"/>
          </a:xfrm>
          <a:prstGeom prst="line">
            <a:avLst/>
          </a:prstGeom>
          <a:ln w="38100">
            <a:solidFill>
              <a:srgbClr val="000000"/>
            </a:solidFill>
            <a:miter lim="400000"/>
          </a:ln>
        </p:spPr>
        <p:txBody>
          <a:bodyPr lIns="35717" tIns="35717" rIns="35717" bIns="35717" anchor="ctr"/>
          <a:lstStyle/>
          <a:p>
            <a:pPr defTabSz="321457">
              <a:defRPr sz="1200">
                <a:latin typeface="Helvetica"/>
                <a:ea typeface="Helvetica"/>
                <a:cs typeface="Helvetica"/>
                <a:sym typeface="Helvetica"/>
              </a:defRPr>
            </a:pPr>
            <a:endParaRPr/>
          </a:p>
        </p:txBody>
      </p:sp>
      <p:sp>
        <p:nvSpPr>
          <p:cNvPr id="404" name="Line"/>
          <p:cNvSpPr/>
          <p:nvPr/>
        </p:nvSpPr>
        <p:spPr>
          <a:xfrm>
            <a:off x="3312914" y="5063133"/>
            <a:ext cx="0" cy="229192"/>
          </a:xfrm>
          <a:prstGeom prst="line">
            <a:avLst/>
          </a:prstGeom>
          <a:ln w="38100">
            <a:solidFill>
              <a:srgbClr val="000000"/>
            </a:solidFill>
            <a:miter lim="400000"/>
          </a:ln>
        </p:spPr>
        <p:txBody>
          <a:bodyPr lIns="35717" tIns="35717" rIns="35717" bIns="35717" anchor="ctr"/>
          <a:lstStyle/>
          <a:p>
            <a:pPr defTabSz="321457">
              <a:defRPr sz="1200">
                <a:latin typeface="Helvetica"/>
                <a:ea typeface="Helvetica"/>
                <a:cs typeface="Helvetica"/>
                <a:sym typeface="Helvetica"/>
              </a:defRPr>
            </a:pPr>
            <a:endParaRPr/>
          </a:p>
        </p:txBody>
      </p:sp>
      <p:sp>
        <p:nvSpPr>
          <p:cNvPr id="405" name="DEC: Dispersal-extinction cladogenesis"/>
          <p:cNvSpPr/>
          <p:nvPr/>
        </p:nvSpPr>
        <p:spPr>
          <a:xfrm>
            <a:off x="892969" y="178594"/>
            <a:ext cx="7358063" cy="1714500"/>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lstStyle>
            <a:lvl1pPr algn="l">
              <a:defRPr sz="4800" b="1"/>
            </a:lvl1pPr>
          </a:lstStyle>
          <a:p>
            <a:pPr>
              <a:defRPr b="0"/>
            </a:pPr>
            <a:r>
              <a:rPr b="1"/>
              <a:t>DEC: Dispersal-extinction cladogenesis</a:t>
            </a:r>
          </a:p>
        </p:txBody>
      </p:sp>
    </p:spTree>
    <p:extLst>
      <p:ext uri="{BB962C8B-B14F-4D97-AF65-F5344CB8AC3E}">
        <p14:creationId xmlns:p14="http://schemas.microsoft.com/office/powerpoint/2010/main" val="274215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DEC: Dispersal-extinction cladogenesis"/>
          <p:cNvSpPr txBox="1">
            <a:spLocks noGrp="1"/>
          </p:cNvSpPr>
          <p:nvPr>
            <p:ph type="title"/>
          </p:nvPr>
        </p:nvSpPr>
        <p:spPr>
          <a:prstGeom prst="rect">
            <a:avLst/>
          </a:prstGeom>
        </p:spPr>
        <p:txBody>
          <a:bodyPr>
            <a:normAutofit fontScale="90000"/>
          </a:bodyPr>
          <a:lstStyle>
            <a:lvl1pPr algn="l">
              <a:defRPr sz="4800" b="1"/>
            </a:lvl1pPr>
          </a:lstStyle>
          <a:p>
            <a:pPr>
              <a:defRPr b="0"/>
            </a:pPr>
            <a:r>
              <a:rPr b="1"/>
              <a:t>DEC: Dispersal-extinction cladogenesis</a:t>
            </a:r>
          </a:p>
        </p:txBody>
      </p:sp>
      <p:sp>
        <p:nvSpPr>
          <p:cNvPr id="408" name="d = “dispersal” = range extension…"/>
          <p:cNvSpPr txBox="1">
            <a:spLocks noGrp="1"/>
          </p:cNvSpPr>
          <p:nvPr>
            <p:ph type="body" sz="half" idx="1"/>
          </p:nvPr>
        </p:nvSpPr>
        <p:spPr>
          <a:xfrm>
            <a:off x="1062633" y="1946672"/>
            <a:ext cx="7358063" cy="1714500"/>
          </a:xfrm>
          <a:prstGeom prst="rect">
            <a:avLst/>
          </a:prstGeom>
        </p:spPr>
        <p:txBody>
          <a:bodyPr/>
          <a:lstStyle/>
          <a:p>
            <a:r>
              <a:rPr i="1"/>
              <a:t>d</a:t>
            </a:r>
            <a:r>
              <a:t> = “dispersal” = range extension</a:t>
            </a:r>
          </a:p>
          <a:p>
            <a:r>
              <a:rPr i="1"/>
              <a:t>e</a:t>
            </a:r>
            <a:r>
              <a:t> = “extinction” = range loss</a:t>
            </a:r>
          </a:p>
        </p:txBody>
      </p:sp>
      <p:sp>
        <p:nvSpPr>
          <p:cNvPr id="409" name="Instantaneous rate matrix:"/>
          <p:cNvSpPr/>
          <p:nvPr/>
        </p:nvSpPr>
        <p:spPr>
          <a:xfrm>
            <a:off x="196453" y="3743693"/>
            <a:ext cx="1705570" cy="1549459"/>
          </a:xfrm>
          <a:prstGeom prst="rect">
            <a:avLst/>
          </a:prstGeom>
          <a:ln w="12700">
            <a:miter lim="400000"/>
          </a:ln>
          <a:extLst>
            <a:ext uri="{C572A759-6A51-4108-AA02-DFA0A04FC94B}">
              <ma14:wrappingTextBoxFlag xmlns="" xmlns:ma14="http://schemas.microsoft.com/office/mac/drawingml/2011/main" val="1"/>
            </a:ext>
          </a:extLst>
        </p:spPr>
        <p:txBody>
          <a:bodyPr lIns="35717" tIns="35717" rIns="35717" bIns="35717" anchor="ctr">
            <a:spAutoFit/>
          </a:bodyPr>
          <a:lstStyle/>
          <a:p>
            <a:pPr lvl="1">
              <a:spcBef>
                <a:spcPts val="1687"/>
              </a:spcBef>
              <a:defRPr sz="2400" i="1"/>
            </a:pPr>
            <a:r>
              <a:t>Instantaneous rate matrix:</a:t>
            </a:r>
          </a:p>
        </p:txBody>
      </p:sp>
      <p:pic>
        <p:nvPicPr>
          <p:cNvPr id="410" name="Screen Shot 2012-11-18 at 9.22.32 AM.png" descr="Screen Shot 2012-11-18 at 9.22.32 AM.png"/>
          <p:cNvPicPr>
            <a:picLocks noChangeAspect="1"/>
          </p:cNvPicPr>
          <p:nvPr/>
        </p:nvPicPr>
        <p:blipFill>
          <a:blip r:embed="rId2"/>
          <a:stretch>
            <a:fillRect/>
          </a:stretch>
        </p:blipFill>
        <p:spPr>
          <a:xfrm>
            <a:off x="1946672" y="3536157"/>
            <a:ext cx="5643563" cy="3163640"/>
          </a:xfrm>
          <a:prstGeom prst="rect">
            <a:avLst/>
          </a:prstGeom>
          <a:ln w="12700">
            <a:miter lim="400000"/>
          </a:ln>
        </p:spPr>
      </p:pic>
    </p:spTree>
    <p:extLst>
      <p:ext uri="{BB962C8B-B14F-4D97-AF65-F5344CB8AC3E}">
        <p14:creationId xmlns:p14="http://schemas.microsoft.com/office/powerpoint/2010/main" val="308658812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roblems with the state-of-the-art analysis"/>
          <p:cNvSpPr txBox="1">
            <a:spLocks noGrp="1"/>
          </p:cNvSpPr>
          <p:nvPr>
            <p:ph type="title"/>
          </p:nvPr>
        </p:nvSpPr>
        <p:spPr>
          <a:prstGeom prst="rect">
            <a:avLst/>
          </a:prstGeom>
        </p:spPr>
        <p:txBody>
          <a:bodyPr>
            <a:normAutofit fontScale="90000"/>
          </a:bodyPr>
          <a:lstStyle>
            <a:lvl1pPr algn="l">
              <a:defRPr sz="4800" b="1"/>
            </a:lvl1pPr>
          </a:lstStyle>
          <a:p>
            <a:pPr>
              <a:defRPr b="0"/>
            </a:pPr>
            <a:r>
              <a:rPr b="1"/>
              <a:t>Problems with the state-of-the-art analysis</a:t>
            </a:r>
          </a:p>
        </p:txBody>
      </p:sp>
      <p:sp>
        <p:nvSpPr>
          <p:cNvPr id="485" name="Complete range data is assumed…"/>
          <p:cNvSpPr txBox="1">
            <a:spLocks noGrp="1"/>
          </p:cNvSpPr>
          <p:nvPr>
            <p:ph type="body" idx="1"/>
          </p:nvPr>
        </p:nvSpPr>
        <p:spPr>
          <a:xfrm>
            <a:off x="892969" y="1928813"/>
            <a:ext cx="7867055" cy="3991570"/>
          </a:xfrm>
          <a:prstGeom prst="rect">
            <a:avLst/>
          </a:prstGeom>
        </p:spPr>
        <p:txBody>
          <a:bodyPr>
            <a:normAutofit lnSpcReduction="10000"/>
          </a:bodyPr>
          <a:lstStyle/>
          <a:p>
            <a:r>
              <a:t>Complete range data is assumed</a:t>
            </a:r>
          </a:p>
          <a:p>
            <a:r>
              <a:t>“true” vicariance is not allowed</a:t>
            </a:r>
          </a:p>
          <a:p>
            <a:pPr lvl="1"/>
            <a:r>
              <a:t>new species </a:t>
            </a:r>
            <a:r>
              <a:rPr i="1"/>
              <a:t>always</a:t>
            </a:r>
            <a:r>
              <a:t> start out at rangesize=1</a:t>
            </a:r>
          </a:p>
          <a:p>
            <a:r>
              <a:t>Species always start inside their ancestral range</a:t>
            </a:r>
          </a:p>
          <a:p>
            <a:r>
              <a:t>In LAGRANGE, this cladogenesis model is</a:t>
            </a:r>
            <a:br/>
            <a:r>
              <a:rPr i="1" u="sng"/>
              <a:t>fixed and unchangeable</a:t>
            </a:r>
            <a:r>
              <a:t> </a:t>
            </a:r>
          </a:p>
        </p:txBody>
      </p:sp>
    </p:spTree>
    <p:extLst>
      <p:ext uri="{BB962C8B-B14F-4D97-AF65-F5344CB8AC3E}">
        <p14:creationId xmlns:p14="http://schemas.microsoft.com/office/powerpoint/2010/main" val="235434531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Unresolved fundamental issues"/>
          <p:cNvSpPr txBox="1">
            <a:spLocks noGrp="1"/>
          </p:cNvSpPr>
          <p:nvPr>
            <p:ph type="title"/>
          </p:nvPr>
        </p:nvSpPr>
        <p:spPr>
          <a:xfrm>
            <a:off x="892969" y="107156"/>
            <a:ext cx="7358063" cy="1714500"/>
          </a:xfrm>
          <a:prstGeom prst="rect">
            <a:avLst/>
          </a:prstGeom>
        </p:spPr>
        <p:txBody>
          <a:bodyPr/>
          <a:lstStyle>
            <a:lvl1pPr algn="l">
              <a:defRPr sz="4800" b="1"/>
            </a:lvl1pPr>
          </a:lstStyle>
          <a:p>
            <a:pPr>
              <a:defRPr b="0"/>
            </a:pPr>
            <a:r>
              <a:rPr b="1"/>
              <a:t>Unresolved fundamental issues</a:t>
            </a:r>
          </a:p>
        </p:txBody>
      </p:sp>
      <p:sp>
        <p:nvSpPr>
          <p:cNvPr id="488" name="“Vicariance vs. dispersal”…"/>
          <p:cNvSpPr txBox="1">
            <a:spLocks noGrp="1"/>
          </p:cNvSpPr>
          <p:nvPr>
            <p:ph type="body" idx="1"/>
          </p:nvPr>
        </p:nvSpPr>
        <p:spPr>
          <a:xfrm>
            <a:off x="892969" y="2490971"/>
            <a:ext cx="7358063" cy="4018359"/>
          </a:xfrm>
          <a:prstGeom prst="rect">
            <a:avLst/>
          </a:prstGeom>
        </p:spPr>
        <p:txBody>
          <a:bodyPr/>
          <a:lstStyle/>
          <a:p>
            <a:pPr marL="401822"/>
            <a:r>
              <a:rPr dirty="0"/>
              <a:t>“Vicariance vs. dispersal”</a:t>
            </a:r>
          </a:p>
          <a:p>
            <a:pPr marL="401822"/>
            <a:r>
              <a:rPr dirty="0"/>
              <a:t>Range extension / contraction</a:t>
            </a:r>
          </a:p>
          <a:p>
            <a:pPr marL="401822"/>
            <a:r>
              <a:rPr dirty="0"/>
              <a:t>Cladogenic vs. anagenic change</a:t>
            </a:r>
          </a:p>
          <a:p>
            <a:pPr marL="401822"/>
            <a:r>
              <a:rPr dirty="0"/>
              <a:t>Founder-event speciation</a:t>
            </a:r>
          </a:p>
        </p:txBody>
      </p:sp>
      <p:sp>
        <p:nvSpPr>
          <p:cNvPr id="489" name="What is the right model?"/>
          <p:cNvSpPr/>
          <p:nvPr/>
        </p:nvSpPr>
        <p:spPr>
          <a:xfrm>
            <a:off x="214313" y="2022137"/>
            <a:ext cx="2394995" cy="349131"/>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spcBef>
                <a:spcPts val="1687"/>
              </a:spcBef>
            </a:pPr>
            <a:r>
              <a:t>What is the right model?</a:t>
            </a:r>
          </a:p>
        </p:txBody>
      </p:sp>
    </p:spTree>
    <p:extLst>
      <p:ext uri="{BB962C8B-B14F-4D97-AF65-F5344CB8AC3E}">
        <p14:creationId xmlns:p14="http://schemas.microsoft.com/office/powerpoint/2010/main" val="51009360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Unresolved fundamental issues"/>
          <p:cNvSpPr txBox="1">
            <a:spLocks noGrp="1"/>
          </p:cNvSpPr>
          <p:nvPr>
            <p:ph type="title"/>
          </p:nvPr>
        </p:nvSpPr>
        <p:spPr>
          <a:xfrm>
            <a:off x="892969" y="107156"/>
            <a:ext cx="7358063" cy="1714500"/>
          </a:xfrm>
          <a:prstGeom prst="rect">
            <a:avLst/>
          </a:prstGeom>
        </p:spPr>
        <p:txBody>
          <a:bodyPr/>
          <a:lstStyle>
            <a:lvl1pPr algn="l">
              <a:defRPr sz="4800" b="1"/>
            </a:lvl1pPr>
          </a:lstStyle>
          <a:p>
            <a:pPr>
              <a:defRPr b="0"/>
            </a:pPr>
            <a:r>
              <a:rPr b="1"/>
              <a:t>Unresolved fundamental issues</a:t>
            </a:r>
          </a:p>
        </p:txBody>
      </p:sp>
      <p:sp>
        <p:nvSpPr>
          <p:cNvPr id="492" name="“Vicariance vs. dispersal”…"/>
          <p:cNvSpPr txBox="1">
            <a:spLocks noGrp="1"/>
          </p:cNvSpPr>
          <p:nvPr>
            <p:ph type="body" idx="1"/>
          </p:nvPr>
        </p:nvSpPr>
        <p:spPr>
          <a:xfrm>
            <a:off x="892969" y="2523370"/>
            <a:ext cx="7358063" cy="4018359"/>
          </a:xfrm>
          <a:prstGeom prst="rect">
            <a:avLst/>
          </a:prstGeom>
        </p:spPr>
        <p:txBody>
          <a:bodyPr/>
          <a:lstStyle/>
          <a:p>
            <a:pPr marL="401822"/>
            <a:r>
              <a:rPr dirty="0"/>
              <a:t>“Vicariance vs. dispersal”</a:t>
            </a:r>
          </a:p>
          <a:p>
            <a:pPr marL="401822"/>
            <a:r>
              <a:rPr dirty="0"/>
              <a:t>Range extension / contraction</a:t>
            </a:r>
          </a:p>
          <a:p>
            <a:pPr marL="401822"/>
            <a:r>
              <a:rPr dirty="0"/>
              <a:t>Cladogenic vs. anagenic change</a:t>
            </a:r>
          </a:p>
          <a:p>
            <a:pPr marL="401822">
              <a:defRPr b="1"/>
            </a:pPr>
            <a:r>
              <a:rPr dirty="0"/>
              <a:t>Founder-event speciation</a:t>
            </a:r>
          </a:p>
        </p:txBody>
      </p:sp>
      <p:sp>
        <p:nvSpPr>
          <p:cNvPr id="493" name="What is the right model?"/>
          <p:cNvSpPr/>
          <p:nvPr/>
        </p:nvSpPr>
        <p:spPr>
          <a:xfrm>
            <a:off x="214313" y="2022137"/>
            <a:ext cx="2394995" cy="349131"/>
          </a:xfrm>
          <a:prstGeom prst="rect">
            <a:avLst/>
          </a:prstGeom>
          <a:ln w="12700">
            <a:miter lim="400000"/>
          </a:ln>
          <a:extLst>
            <a:ext uri="{C572A759-6A51-4108-AA02-DFA0A04FC94B}">
              <ma14:wrappingTextBoxFlag xmlns="" xmlns:ma14="http://schemas.microsoft.com/office/mac/drawingml/2011/main" val="1"/>
            </a:ext>
          </a:extLst>
        </p:spPr>
        <p:txBody>
          <a:bodyPr wrap="none" lIns="35717" tIns="35717" rIns="35717" bIns="35717" anchor="ctr">
            <a:spAutoFit/>
          </a:bodyPr>
          <a:lstStyle/>
          <a:p>
            <a:pPr lvl="1">
              <a:spcBef>
                <a:spcPts val="1687"/>
              </a:spcBef>
            </a:pPr>
            <a:r>
              <a:t>What is the right model?</a:t>
            </a:r>
          </a:p>
        </p:txBody>
      </p:sp>
    </p:spTree>
    <p:extLst>
      <p:ext uri="{BB962C8B-B14F-4D97-AF65-F5344CB8AC3E}">
        <p14:creationId xmlns:p14="http://schemas.microsoft.com/office/powerpoint/2010/main" val="391086961"/>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890" y="497720"/>
            <a:ext cx="8697516" cy="5388270"/>
          </a:xfrm>
          <a:prstGeom prst="rect">
            <a:avLst/>
          </a:prstGeom>
        </p:spPr>
        <p:txBody>
          <a:bodyPr vert="horz" wrap="square" lIns="0" tIns="0" rIns="0" bIns="0" rtlCol="0">
            <a:spAutoFit/>
          </a:bodyPr>
          <a:lstStyle/>
          <a:p>
            <a:pPr marL="8929"/>
            <a:r>
              <a:rPr lang="en-US" sz="3375" b="1" spc="-32" dirty="0">
                <a:latin typeface="Gill Sans"/>
                <a:cs typeface="Gill Sans"/>
              </a:rPr>
              <a:t>Summary of previous lectures:</a:t>
            </a:r>
            <a:endParaRPr sz="3375" dirty="0">
              <a:latin typeface="Gill Sans"/>
              <a:cs typeface="Gill Sans"/>
            </a:endParaRPr>
          </a:p>
          <a:p>
            <a:pPr>
              <a:spcBef>
                <a:spcPts val="5"/>
              </a:spcBef>
            </a:pPr>
            <a:endParaRPr lang="en-US" sz="3375" dirty="0">
              <a:latin typeface="Gill Sans"/>
              <a:cs typeface="Gill Sans"/>
            </a:endParaRPr>
          </a:p>
          <a:p>
            <a:pPr>
              <a:spcBef>
                <a:spcPts val="5"/>
              </a:spcBef>
            </a:pPr>
            <a:r>
              <a:rPr lang="en-US" sz="3375" dirty="0">
                <a:latin typeface="Gill Sans"/>
                <a:cs typeface="Gill Sans"/>
              </a:rPr>
              <a:t>Different authorities have different assumptions about what processes matter!</a:t>
            </a:r>
          </a:p>
          <a:p>
            <a:pPr>
              <a:spcBef>
                <a:spcPts val="5"/>
              </a:spcBef>
            </a:pPr>
            <a:endParaRPr lang="en-US" sz="3375" dirty="0">
              <a:latin typeface="Gill Sans"/>
              <a:cs typeface="Gill Sans"/>
            </a:endParaRPr>
          </a:p>
          <a:p>
            <a:pPr>
              <a:spcBef>
                <a:spcPts val="5"/>
              </a:spcBef>
            </a:pPr>
            <a:r>
              <a:rPr lang="en-US" sz="3375" dirty="0">
                <a:latin typeface="Gill Sans"/>
                <a:cs typeface="Gill Sans"/>
              </a:rPr>
              <a:t>Your inferences will depend on your assumptions</a:t>
            </a:r>
          </a:p>
          <a:p>
            <a:pPr>
              <a:spcBef>
                <a:spcPts val="5"/>
              </a:spcBef>
            </a:pPr>
            <a:endParaRPr lang="en-US" sz="2109" dirty="0">
              <a:latin typeface="Gill Sans"/>
              <a:cs typeface="Gill Sans"/>
            </a:endParaRPr>
          </a:p>
          <a:p>
            <a:pPr>
              <a:spcBef>
                <a:spcPts val="5"/>
              </a:spcBef>
            </a:pPr>
            <a:r>
              <a:rPr lang="en-US" sz="2109" dirty="0">
                <a:latin typeface="Gill Sans"/>
                <a:cs typeface="Gill Sans"/>
              </a:rPr>
              <a:t>Vicariance: deterministic vision where geology determines ranges</a:t>
            </a:r>
          </a:p>
          <a:p>
            <a:pPr>
              <a:spcBef>
                <a:spcPts val="5"/>
              </a:spcBef>
            </a:pPr>
            <a:endParaRPr lang="en-US" sz="2109" dirty="0">
              <a:latin typeface="Gill Sans"/>
              <a:cs typeface="Gill Sans"/>
            </a:endParaRPr>
          </a:p>
          <a:p>
            <a:pPr>
              <a:spcBef>
                <a:spcPts val="5"/>
              </a:spcBef>
            </a:pPr>
            <a:r>
              <a:rPr lang="en-US" sz="2109" dirty="0">
                <a:latin typeface="Gill Sans"/>
                <a:cs typeface="Gill Sans"/>
              </a:rPr>
              <a:t>Dispersal: “unpredictable” “chance events”</a:t>
            </a:r>
          </a:p>
          <a:p>
            <a:pPr>
              <a:spcBef>
                <a:spcPts val="5"/>
              </a:spcBef>
            </a:pPr>
            <a:endParaRPr lang="en-US" sz="2109" dirty="0">
              <a:latin typeface="Gill Sans"/>
              <a:cs typeface="Gill Sans"/>
            </a:endParaRPr>
          </a:p>
          <a:p>
            <a:pPr>
              <a:spcBef>
                <a:spcPts val="5"/>
              </a:spcBef>
            </a:pPr>
            <a:r>
              <a:rPr lang="en-US" sz="2109" dirty="0">
                <a:latin typeface="Gill Sans"/>
                <a:cs typeface="Gill Sans"/>
              </a:rPr>
              <a:t>Me: “Unpredictable” doesn’t mean intractable </a:t>
            </a:r>
            <a:r>
              <a:rPr lang="mr-IN" sz="2109" dirty="0">
                <a:latin typeface="Gill Sans"/>
                <a:cs typeface="Gill Sans"/>
              </a:rPr>
              <a:t>–</a:t>
            </a:r>
            <a:r>
              <a:rPr lang="en-US" sz="2109" dirty="0">
                <a:latin typeface="Gill Sans"/>
                <a:cs typeface="Gill Sans"/>
              </a:rPr>
              <a:t> we can address using probabilistic models</a:t>
            </a:r>
            <a:endParaRPr sz="2109" dirty="0">
              <a:latin typeface="Times New Roman"/>
              <a:cs typeface="Times New Roman"/>
            </a:endParaRPr>
          </a:p>
        </p:txBody>
      </p:sp>
    </p:spTree>
    <p:extLst>
      <p:ext uri="{BB962C8B-B14F-4D97-AF65-F5344CB8AC3E}">
        <p14:creationId xmlns:p14="http://schemas.microsoft.com/office/powerpoint/2010/main" val="804086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758" y="265548"/>
            <a:ext cx="7307163" cy="1500411"/>
          </a:xfrm>
          <a:prstGeom prst="rect">
            <a:avLst/>
          </a:prstGeom>
        </p:spPr>
        <p:txBody>
          <a:bodyPr vert="horz" wrap="square" lIns="0" tIns="0" rIns="0" bIns="0" rtlCol="0">
            <a:spAutoFit/>
          </a:bodyPr>
          <a:lstStyle/>
          <a:p>
            <a:pPr marL="964372" marR="3572" indent="-955443">
              <a:lnSpc>
                <a:spcPts val="3867"/>
              </a:lnSpc>
            </a:pPr>
            <a:r>
              <a:rPr sz="3375" b="1" spc="-49" dirty="0">
                <a:latin typeface="Gill Sans"/>
                <a:cs typeface="Gill Sans"/>
              </a:rPr>
              <a:t>R</a:t>
            </a:r>
            <a:r>
              <a:rPr sz="3375" b="1" dirty="0">
                <a:latin typeface="Gill Sans"/>
                <a:cs typeface="Gill Sans"/>
              </a:rPr>
              <a:t>e</a:t>
            </a:r>
            <a:r>
              <a:rPr sz="3375" b="1" spc="-18" dirty="0">
                <a:latin typeface="Gill Sans"/>
                <a:cs typeface="Gill Sans"/>
              </a:rPr>
              <a:t>s</a:t>
            </a:r>
            <a:r>
              <a:rPr sz="3375" b="1" spc="-4" dirty="0">
                <a:latin typeface="Gill Sans"/>
                <a:cs typeface="Gill Sans"/>
              </a:rPr>
              <a:t>u</a:t>
            </a:r>
            <a:r>
              <a:rPr sz="3375" b="1" dirty="0">
                <a:latin typeface="Gill Sans"/>
                <a:cs typeface="Gill Sans"/>
              </a:rPr>
              <a:t>l</a:t>
            </a:r>
            <a:r>
              <a:rPr sz="3375" b="1" spc="-4" dirty="0">
                <a:latin typeface="Gill Sans"/>
                <a:cs typeface="Gill Sans"/>
              </a:rPr>
              <a:t>t</a:t>
            </a:r>
            <a:r>
              <a:rPr sz="3375" b="1" spc="-18" dirty="0">
                <a:latin typeface="Gill Sans"/>
                <a:cs typeface="Gill Sans"/>
              </a:rPr>
              <a:t>s</a:t>
            </a:r>
            <a:r>
              <a:rPr sz="3375" b="1" spc="-4" dirty="0">
                <a:latin typeface="Gill Sans"/>
                <a:cs typeface="Gill Sans"/>
              </a:rPr>
              <a:t> o</a:t>
            </a:r>
            <a:r>
              <a:rPr sz="3375" b="1" dirty="0">
                <a:latin typeface="Gill Sans"/>
                <a:cs typeface="Gill Sans"/>
              </a:rPr>
              <a:t>f</a:t>
            </a:r>
            <a:r>
              <a:rPr sz="3375" b="1" spc="95" dirty="0">
                <a:latin typeface="Gill Sans"/>
                <a:cs typeface="Gill Sans"/>
              </a:rPr>
              <a:t> </a:t>
            </a:r>
            <a:r>
              <a:rPr sz="3375" b="1" dirty="0">
                <a:latin typeface="Gill Sans"/>
                <a:cs typeface="Gill Sans"/>
              </a:rPr>
              <a:t>di</a:t>
            </a:r>
            <a:r>
              <a:rPr sz="3375" b="1" spc="95" dirty="0">
                <a:latin typeface="Gill Sans"/>
                <a:cs typeface="Gill Sans"/>
              </a:rPr>
              <a:t>f</a:t>
            </a:r>
            <a:r>
              <a:rPr sz="3375" b="1" spc="-4" dirty="0">
                <a:latin typeface="Gill Sans"/>
                <a:cs typeface="Gill Sans"/>
              </a:rPr>
              <a:t>f</a:t>
            </a:r>
            <a:r>
              <a:rPr sz="3375" b="1" dirty="0">
                <a:latin typeface="Gill Sans"/>
                <a:cs typeface="Gill Sans"/>
              </a:rPr>
              <a:t>e</a:t>
            </a:r>
            <a:r>
              <a:rPr sz="3375" b="1" spc="-148" dirty="0">
                <a:latin typeface="Gill Sans"/>
                <a:cs typeface="Gill Sans"/>
              </a:rPr>
              <a:t>r</a:t>
            </a:r>
            <a:r>
              <a:rPr sz="3375" b="1" dirty="0">
                <a:latin typeface="Gill Sans"/>
                <a:cs typeface="Gill Sans"/>
              </a:rPr>
              <a:t>e</a:t>
            </a:r>
            <a:r>
              <a:rPr sz="3375" b="1" spc="-4" dirty="0">
                <a:latin typeface="Gill Sans"/>
                <a:cs typeface="Gill Sans"/>
              </a:rPr>
              <a:t>n</a:t>
            </a:r>
            <a:r>
              <a:rPr sz="3375" b="1" dirty="0">
                <a:latin typeface="Gill Sans"/>
                <a:cs typeface="Gill Sans"/>
              </a:rPr>
              <a:t>t</a:t>
            </a:r>
            <a:r>
              <a:rPr sz="3375" b="1" spc="-4" dirty="0">
                <a:latin typeface="Gill Sans"/>
                <a:cs typeface="Gill Sans"/>
              </a:rPr>
              <a:t> </a:t>
            </a:r>
            <a:r>
              <a:rPr sz="3375" b="1" dirty="0">
                <a:latin typeface="Gill Sans"/>
                <a:cs typeface="Gill Sans"/>
              </a:rPr>
              <a:t>bi</a:t>
            </a:r>
            <a:r>
              <a:rPr sz="3375" b="1" spc="-4" dirty="0">
                <a:latin typeface="Gill Sans"/>
                <a:cs typeface="Gill Sans"/>
              </a:rPr>
              <a:t>o</a:t>
            </a:r>
            <a:r>
              <a:rPr sz="3375" b="1" dirty="0">
                <a:latin typeface="Gill Sans"/>
                <a:cs typeface="Gill Sans"/>
              </a:rPr>
              <a:t>ge</a:t>
            </a:r>
            <a:r>
              <a:rPr sz="3375" b="1" spc="-4" dirty="0">
                <a:latin typeface="Gill Sans"/>
                <a:cs typeface="Gill Sans"/>
              </a:rPr>
              <a:t>o</a:t>
            </a:r>
            <a:r>
              <a:rPr sz="3375" b="1" spc="123" dirty="0">
                <a:latin typeface="Gill Sans"/>
                <a:cs typeface="Gill Sans"/>
              </a:rPr>
              <a:t>g</a:t>
            </a:r>
            <a:r>
              <a:rPr sz="3375" b="1" spc="-49" dirty="0">
                <a:latin typeface="Gill Sans"/>
                <a:cs typeface="Gill Sans"/>
              </a:rPr>
              <a:t>r</a:t>
            </a:r>
            <a:r>
              <a:rPr sz="3375" b="1" spc="21" dirty="0">
                <a:latin typeface="Gill Sans"/>
                <a:cs typeface="Gill Sans"/>
              </a:rPr>
              <a:t>a</a:t>
            </a:r>
            <a:r>
              <a:rPr sz="3375" b="1" dirty="0">
                <a:latin typeface="Gill Sans"/>
                <a:cs typeface="Gill Sans"/>
              </a:rPr>
              <a:t>p</a:t>
            </a:r>
            <a:r>
              <a:rPr sz="3375" b="1" spc="-4" dirty="0">
                <a:latin typeface="Gill Sans"/>
                <a:cs typeface="Gill Sans"/>
              </a:rPr>
              <a:t>h</a:t>
            </a:r>
            <a:r>
              <a:rPr sz="3375" b="1" dirty="0">
                <a:latin typeface="Gill Sans"/>
                <a:cs typeface="Gill Sans"/>
              </a:rPr>
              <a:t>y </a:t>
            </a:r>
            <a:r>
              <a:rPr sz="3375" b="1" spc="-4" dirty="0">
                <a:latin typeface="Gill Sans"/>
                <a:cs typeface="Gill Sans"/>
              </a:rPr>
              <a:t>model</a:t>
            </a:r>
            <a:r>
              <a:rPr sz="3375" b="1" dirty="0">
                <a:latin typeface="Gill Sans"/>
                <a:cs typeface="Gill Sans"/>
              </a:rPr>
              <a:t>s</a:t>
            </a:r>
            <a:r>
              <a:rPr sz="3375" b="1" spc="4" dirty="0">
                <a:latin typeface="Gill Sans"/>
                <a:cs typeface="Gill Sans"/>
              </a:rPr>
              <a:t> </a:t>
            </a:r>
            <a:r>
              <a:rPr sz="3375" b="1" spc="-4" dirty="0">
                <a:latin typeface="Gill Sans"/>
                <a:cs typeface="Gill Sans"/>
              </a:rPr>
              <a:t>o</a:t>
            </a:r>
            <a:r>
              <a:rPr sz="3375" b="1" dirty="0">
                <a:latin typeface="Gill Sans"/>
                <a:cs typeface="Gill Sans"/>
              </a:rPr>
              <a:t>n </a:t>
            </a:r>
            <a:r>
              <a:rPr sz="3375" b="1" spc="-18" dirty="0">
                <a:latin typeface="Gill Sans"/>
                <a:cs typeface="Gill Sans"/>
              </a:rPr>
              <a:t>s</a:t>
            </a:r>
            <a:r>
              <a:rPr sz="3375" b="1" spc="21" dirty="0">
                <a:latin typeface="Gill Sans"/>
                <a:cs typeface="Gill Sans"/>
              </a:rPr>
              <a:t>a</a:t>
            </a:r>
            <a:r>
              <a:rPr sz="3375" b="1" spc="-4" dirty="0">
                <a:latin typeface="Gill Sans"/>
                <a:cs typeface="Gill Sans"/>
              </a:rPr>
              <a:t>m</a:t>
            </a:r>
            <a:r>
              <a:rPr sz="3375" b="1" dirty="0">
                <a:latin typeface="Gill Sans"/>
                <a:cs typeface="Gill Sans"/>
              </a:rPr>
              <a:t>e dataset:</a:t>
            </a:r>
            <a:endParaRPr sz="3375">
              <a:latin typeface="Gill Sans"/>
              <a:cs typeface="Gill Sans"/>
            </a:endParaRPr>
          </a:p>
        </p:txBody>
      </p:sp>
      <p:sp>
        <p:nvSpPr>
          <p:cNvPr id="3" name="object 3"/>
          <p:cNvSpPr/>
          <p:nvPr/>
        </p:nvSpPr>
        <p:spPr>
          <a:xfrm>
            <a:off x="1659765" y="1667488"/>
            <a:ext cx="5824468" cy="4213586"/>
          </a:xfrm>
          <a:prstGeom prst="rect">
            <a:avLst/>
          </a:prstGeom>
          <a:blipFill>
            <a:blip r:embed="rId3" cstate="print"/>
            <a:stretch>
              <a:fillRect/>
            </a:stretch>
          </a:blipFill>
        </p:spPr>
        <p:txBody>
          <a:bodyPr wrap="square" lIns="0" tIns="0" rIns="0" bIns="0" rtlCol="0"/>
          <a:lstStyle/>
          <a:p>
            <a:endParaRPr sz="1266"/>
          </a:p>
        </p:txBody>
      </p:sp>
      <p:sp>
        <p:nvSpPr>
          <p:cNvPr id="4" name="object 4"/>
          <p:cNvSpPr/>
          <p:nvPr/>
        </p:nvSpPr>
        <p:spPr>
          <a:xfrm>
            <a:off x="1659766" y="1667487"/>
            <a:ext cx="5824834" cy="4213920"/>
          </a:xfrm>
          <a:custGeom>
            <a:avLst/>
            <a:gdLst/>
            <a:ahLst/>
            <a:cxnLst/>
            <a:rect l="l" t="t" r="r" b="b"/>
            <a:pathLst>
              <a:path w="8284209" h="5993130">
                <a:moveTo>
                  <a:pt x="0" y="0"/>
                </a:moveTo>
                <a:lnTo>
                  <a:pt x="8283688" y="0"/>
                </a:lnTo>
                <a:lnTo>
                  <a:pt x="8283688" y="5992656"/>
                </a:lnTo>
                <a:lnTo>
                  <a:pt x="0" y="5992656"/>
                </a:lnTo>
                <a:lnTo>
                  <a:pt x="0" y="0"/>
                </a:lnTo>
                <a:close/>
              </a:path>
            </a:pathLst>
          </a:custGeom>
          <a:ln w="12700">
            <a:solidFill>
              <a:srgbClr val="000000"/>
            </a:solidFill>
          </a:ln>
        </p:spPr>
        <p:txBody>
          <a:bodyPr wrap="square" lIns="0" tIns="0" rIns="0" bIns="0" rtlCol="0"/>
          <a:lstStyle/>
          <a:p>
            <a:endParaRPr sz="1266"/>
          </a:p>
        </p:txBody>
      </p:sp>
      <p:sp>
        <p:nvSpPr>
          <p:cNvPr id="6" name="object 6"/>
          <p:cNvSpPr/>
          <p:nvPr/>
        </p:nvSpPr>
        <p:spPr>
          <a:xfrm>
            <a:off x="3220247" y="4301132"/>
            <a:ext cx="2143124" cy="1393031"/>
          </a:xfrm>
          <a:prstGeom prst="rect">
            <a:avLst/>
          </a:prstGeom>
          <a:blipFill>
            <a:blip r:embed="rId4" cstate="print"/>
            <a:stretch>
              <a:fillRect/>
            </a:stretch>
          </a:blipFill>
        </p:spPr>
        <p:txBody>
          <a:bodyPr wrap="square" lIns="0" tIns="0" rIns="0" bIns="0" rtlCol="0"/>
          <a:lstStyle/>
          <a:p>
            <a:endParaRPr sz="1266"/>
          </a:p>
        </p:txBody>
      </p:sp>
      <p:sp>
        <p:nvSpPr>
          <p:cNvPr id="7" name="object 7"/>
          <p:cNvSpPr txBox="1"/>
          <p:nvPr/>
        </p:nvSpPr>
        <p:spPr>
          <a:xfrm>
            <a:off x="3170040" y="5697201"/>
            <a:ext cx="2401639" cy="108171"/>
          </a:xfrm>
          <a:prstGeom prst="rect">
            <a:avLst/>
          </a:prstGeom>
        </p:spPr>
        <p:txBody>
          <a:bodyPr vert="horz" wrap="square" lIns="0" tIns="0" rIns="0" bIns="0" rtlCol="0">
            <a:spAutoFit/>
          </a:bodyPr>
          <a:lstStyle/>
          <a:p>
            <a:pPr marL="8929"/>
            <a:r>
              <a:rPr sz="703" u="sng" dirty="0">
                <a:latin typeface="Gill Sans"/>
                <a:cs typeface="Gill Sans"/>
                <a:hlinkClick r:id="rId5"/>
              </a:rPr>
              <a:t>http:</a:t>
            </a:r>
            <a:r>
              <a:rPr sz="703" u="sng" spc="-4" dirty="0">
                <a:latin typeface="Gill Sans"/>
                <a:cs typeface="Gill Sans"/>
                <a:hlinkClick r:id="rId5"/>
              </a:rPr>
              <a:t>//farm8.stati</a:t>
            </a:r>
            <a:r>
              <a:rPr sz="703" u="sng" spc="7" dirty="0">
                <a:latin typeface="Gill Sans"/>
                <a:cs typeface="Gill Sans"/>
                <a:hlinkClick r:id="rId5"/>
              </a:rPr>
              <a:t>c</a:t>
            </a:r>
            <a:r>
              <a:rPr sz="703" u="sng" dirty="0">
                <a:latin typeface="Gill Sans"/>
                <a:cs typeface="Gill Sans"/>
                <a:hlinkClick r:id="rId5"/>
              </a:rPr>
              <a:t>.</a:t>
            </a:r>
            <a:r>
              <a:rPr sz="703" u="sng" spc="4" dirty="0">
                <a:latin typeface="Gill Sans"/>
                <a:cs typeface="Gill Sans"/>
                <a:hlinkClick r:id="rId5"/>
              </a:rPr>
              <a:t>fli</a:t>
            </a:r>
            <a:r>
              <a:rPr sz="703" u="sng" spc="-4" dirty="0">
                <a:latin typeface="Gill Sans"/>
                <a:cs typeface="Gill Sans"/>
                <a:hlinkClick r:id="rId5"/>
              </a:rPr>
              <a:t>ck</a:t>
            </a:r>
            <a:r>
              <a:rPr sz="703" u="sng" spc="-77" dirty="0">
                <a:latin typeface="Gill Sans"/>
                <a:cs typeface="Gill Sans"/>
                <a:hlinkClick r:id="rId5"/>
              </a:rPr>
              <a:t>r</a:t>
            </a:r>
            <a:r>
              <a:rPr sz="703" u="sng" dirty="0">
                <a:latin typeface="Gill Sans"/>
                <a:cs typeface="Gill Sans"/>
                <a:hlinkClick r:id="rId5"/>
              </a:rPr>
              <a:t>.</a:t>
            </a:r>
            <a:r>
              <a:rPr sz="703" u="sng" spc="-4" dirty="0">
                <a:latin typeface="Gill Sans"/>
                <a:cs typeface="Gill Sans"/>
                <a:hlinkClick r:id="rId5"/>
              </a:rPr>
              <a:t>com/7446/9252634315_0ecf0ba853_</a:t>
            </a:r>
            <a:r>
              <a:rPr sz="703" u="sng" dirty="0">
                <a:latin typeface="Gill Sans"/>
                <a:cs typeface="Gill Sans"/>
                <a:hlinkClick r:id="rId5"/>
              </a:rPr>
              <a:t>m.j</a:t>
            </a:r>
            <a:r>
              <a:rPr sz="703" u="sng" spc="-4" dirty="0">
                <a:latin typeface="Gill Sans"/>
                <a:cs typeface="Gill Sans"/>
                <a:hlinkClick r:id="rId5"/>
              </a:rPr>
              <a:t>pg</a:t>
            </a:r>
            <a:endParaRPr sz="703" dirty="0">
              <a:latin typeface="Gill Sans"/>
              <a:cs typeface="Gill Sans"/>
            </a:endParaRPr>
          </a:p>
        </p:txBody>
      </p:sp>
      <p:sp>
        <p:nvSpPr>
          <p:cNvPr id="8" name="object 8"/>
          <p:cNvSpPr txBox="1"/>
          <p:nvPr/>
        </p:nvSpPr>
        <p:spPr>
          <a:xfrm>
            <a:off x="3232547" y="4134446"/>
            <a:ext cx="922883" cy="129907"/>
          </a:xfrm>
          <a:prstGeom prst="rect">
            <a:avLst/>
          </a:prstGeom>
        </p:spPr>
        <p:txBody>
          <a:bodyPr vert="horz" wrap="square" lIns="0" tIns="0" rIns="0" bIns="0" rtlCol="0">
            <a:spAutoFit/>
          </a:bodyPr>
          <a:lstStyle/>
          <a:p>
            <a:pPr marL="8929"/>
            <a:r>
              <a:rPr sz="844" b="1" i="1" dirty="0">
                <a:latin typeface="Calibri"/>
                <a:cs typeface="Calibri"/>
              </a:rPr>
              <a:t>P</a:t>
            </a:r>
            <a:r>
              <a:rPr sz="844" b="1" i="1" spc="-14" dirty="0">
                <a:latin typeface="Calibri"/>
                <a:cs typeface="Calibri"/>
              </a:rPr>
              <a:t>s</a:t>
            </a:r>
            <a:r>
              <a:rPr sz="844" b="1" i="1" spc="-7" dirty="0">
                <a:latin typeface="Calibri"/>
                <a:cs typeface="Calibri"/>
              </a:rPr>
              <a:t>yc</a:t>
            </a:r>
            <a:r>
              <a:rPr sz="844" b="1" i="1" spc="-4" dirty="0">
                <a:latin typeface="Calibri"/>
                <a:cs typeface="Calibri"/>
              </a:rPr>
              <a:t>hotr</a:t>
            </a:r>
            <a:r>
              <a:rPr sz="844" b="1" i="1" spc="-7" dirty="0">
                <a:latin typeface="Calibri"/>
                <a:cs typeface="Calibri"/>
              </a:rPr>
              <a:t>ia</a:t>
            </a:r>
            <a:r>
              <a:rPr sz="844" b="1" i="1" dirty="0">
                <a:latin typeface="Calibri"/>
                <a:cs typeface="Calibri"/>
              </a:rPr>
              <a:t> </a:t>
            </a:r>
            <a:r>
              <a:rPr sz="844" b="1" i="1" spc="-4" dirty="0">
                <a:latin typeface="Calibri"/>
                <a:cs typeface="Calibri"/>
              </a:rPr>
              <a:t>h</a:t>
            </a:r>
            <a:r>
              <a:rPr sz="844" b="1" i="1" spc="-21" dirty="0">
                <a:latin typeface="Calibri"/>
                <a:cs typeface="Calibri"/>
              </a:rPr>
              <a:t>e</a:t>
            </a:r>
            <a:r>
              <a:rPr sz="844" b="1" i="1" spc="-18" dirty="0">
                <a:latin typeface="Calibri"/>
                <a:cs typeface="Calibri"/>
              </a:rPr>
              <a:t>x</a:t>
            </a:r>
            <a:r>
              <a:rPr sz="844" b="1" i="1" spc="-7" dirty="0">
                <a:latin typeface="Calibri"/>
                <a:cs typeface="Calibri"/>
              </a:rPr>
              <a:t>andra</a:t>
            </a:r>
            <a:endParaRPr sz="844">
              <a:latin typeface="Calibri"/>
              <a:cs typeface="Calibri"/>
            </a:endParaRPr>
          </a:p>
        </p:txBody>
      </p:sp>
      <p:graphicFrame>
        <p:nvGraphicFramePr>
          <p:cNvPr id="5" name="object 5"/>
          <p:cNvGraphicFramePr>
            <a:graphicFrameLocks noGrp="1"/>
          </p:cNvGraphicFramePr>
          <p:nvPr/>
        </p:nvGraphicFramePr>
        <p:xfrm>
          <a:off x="1862935" y="4260949"/>
          <a:ext cx="1231564" cy="1326058"/>
        </p:xfrm>
        <a:graphic>
          <a:graphicData uri="http://schemas.openxmlformats.org/drawingml/2006/table">
            <a:tbl>
              <a:tblPr firstRow="1" bandRow="1">
                <a:tableStyleId>{2D5ABB26-0587-4C30-8999-92F81FD0307C}</a:tableStyleId>
              </a:tblPr>
              <a:tblGrid>
                <a:gridCol w="1194363">
                  <a:extLst>
                    <a:ext uri="{9D8B030D-6E8A-4147-A177-3AD203B41FA5}">
                      <a16:colId xmlns:a16="http://schemas.microsoft.com/office/drawing/2014/main" val="20000"/>
                    </a:ext>
                  </a:extLst>
                </a:gridCol>
                <a:gridCol w="37201">
                  <a:extLst>
                    <a:ext uri="{9D8B030D-6E8A-4147-A177-3AD203B41FA5}">
                      <a16:colId xmlns:a16="http://schemas.microsoft.com/office/drawing/2014/main" val="20001"/>
                    </a:ext>
                  </a:extLst>
                </a:gridCol>
              </a:tblGrid>
              <a:tr h="332631">
                <a:tc>
                  <a:txBody>
                    <a:bodyPr/>
                    <a:lstStyle/>
                    <a:p>
                      <a:pPr marL="55244">
                        <a:lnSpc>
                          <a:spcPct val="100000"/>
                        </a:lnSpc>
                      </a:pPr>
                      <a:r>
                        <a:rPr sz="1700" b="1" dirty="0">
                          <a:latin typeface="Calibri"/>
                          <a:cs typeface="Calibri"/>
                        </a:rPr>
                        <a:t>K</a:t>
                      </a:r>
                      <a:r>
                        <a:rPr sz="1700" b="1" spc="-5" dirty="0">
                          <a:latin typeface="Calibri"/>
                          <a:cs typeface="Calibri"/>
                        </a:rPr>
                        <a:t>=</a:t>
                      </a:r>
                      <a:r>
                        <a:rPr sz="1700" b="1" spc="-35" dirty="0">
                          <a:latin typeface="Calibri"/>
                          <a:cs typeface="Calibri"/>
                        </a:rPr>
                        <a:t>K</a:t>
                      </a:r>
                      <a:r>
                        <a:rPr sz="1700" b="1" dirty="0">
                          <a:latin typeface="Calibri"/>
                          <a:cs typeface="Calibri"/>
                        </a:rPr>
                        <a:t>auai</a:t>
                      </a:r>
                      <a:endParaRPr sz="1700">
                        <a:latin typeface="Calibri"/>
                        <a:cs typeface="Calibri"/>
                      </a:endParaRPr>
                    </a:p>
                  </a:txBody>
                  <a:tcPr marL="0" marR="0" marT="0" marB="0">
                    <a:solidFill>
                      <a:srgbClr val="0061FF"/>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0"/>
                  </a:ext>
                </a:extLst>
              </a:tr>
              <a:tr h="332631">
                <a:tc>
                  <a:txBody>
                    <a:bodyPr/>
                    <a:lstStyle/>
                    <a:p>
                      <a:pPr marL="55244">
                        <a:lnSpc>
                          <a:spcPct val="100000"/>
                        </a:lnSpc>
                      </a:pPr>
                      <a:r>
                        <a:rPr sz="1700" b="1" dirty="0">
                          <a:latin typeface="Calibri"/>
                          <a:cs typeface="Calibri"/>
                        </a:rPr>
                        <a:t>O</a:t>
                      </a:r>
                      <a:r>
                        <a:rPr sz="1700" b="1" spc="-5" dirty="0">
                          <a:latin typeface="Calibri"/>
                          <a:cs typeface="Calibri"/>
                        </a:rPr>
                        <a:t>=</a:t>
                      </a:r>
                      <a:r>
                        <a:rPr sz="1700" b="1" dirty="0">
                          <a:latin typeface="Calibri"/>
                          <a:cs typeface="Calibri"/>
                        </a:rPr>
                        <a:t>Oahu</a:t>
                      </a:r>
                      <a:endParaRPr sz="1700">
                        <a:latin typeface="Calibri"/>
                        <a:cs typeface="Calibri"/>
                      </a:endParaRPr>
                    </a:p>
                  </a:txBody>
                  <a:tcPr marL="0" marR="0" marT="0" marB="0">
                    <a:solidFill>
                      <a:srgbClr val="53D5FD"/>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1"/>
                  </a:ext>
                </a:extLst>
              </a:tr>
              <a:tr h="330398">
                <a:tc>
                  <a:txBody>
                    <a:bodyPr/>
                    <a:lstStyle/>
                    <a:p>
                      <a:pPr marL="55244">
                        <a:lnSpc>
                          <a:spcPct val="100000"/>
                        </a:lnSpc>
                      </a:pPr>
                      <a:r>
                        <a:rPr sz="1700" b="1" dirty="0">
                          <a:latin typeface="Calibri"/>
                          <a:cs typeface="Calibri"/>
                        </a:rPr>
                        <a:t>M=Maui-Nui</a:t>
                      </a:r>
                      <a:endParaRPr sz="1700">
                        <a:latin typeface="Calibri"/>
                        <a:cs typeface="Calibri"/>
                      </a:endParaRPr>
                    </a:p>
                  </a:txBody>
                  <a:tcPr marL="0" marR="0" marT="0" marB="0">
                    <a:solidFill>
                      <a:srgbClr val="FFFC41"/>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2"/>
                  </a:ext>
                </a:extLst>
              </a:tr>
              <a:tr h="330398">
                <a:tc gridSpan="2">
                  <a:txBody>
                    <a:bodyPr/>
                    <a:lstStyle/>
                    <a:p>
                      <a:pPr marL="55244">
                        <a:lnSpc>
                          <a:spcPct val="100000"/>
                        </a:lnSpc>
                      </a:pPr>
                      <a:r>
                        <a:rPr sz="1700" b="1" dirty="0">
                          <a:latin typeface="Calibri"/>
                          <a:cs typeface="Calibri"/>
                        </a:rPr>
                        <a:t>H</a:t>
                      </a:r>
                      <a:r>
                        <a:rPr sz="1700" b="1" spc="-5" dirty="0">
                          <a:latin typeface="Calibri"/>
                          <a:cs typeface="Calibri"/>
                        </a:rPr>
                        <a:t>=</a:t>
                      </a:r>
                      <a:r>
                        <a:rPr sz="1700" b="1" dirty="0">
                          <a:latin typeface="Calibri"/>
                          <a:cs typeface="Calibri"/>
                        </a:rPr>
                        <a:t>H</a:t>
                      </a:r>
                      <a:r>
                        <a:rPr sz="1700" b="1" spc="-20" dirty="0">
                          <a:latin typeface="Calibri"/>
                          <a:cs typeface="Calibri"/>
                        </a:rPr>
                        <a:t>a</a:t>
                      </a:r>
                      <a:r>
                        <a:rPr sz="1700" b="1" spc="-30" dirty="0">
                          <a:latin typeface="Calibri"/>
                          <a:cs typeface="Calibri"/>
                        </a:rPr>
                        <a:t>w</a:t>
                      </a:r>
                      <a:r>
                        <a:rPr sz="1700" b="1" dirty="0">
                          <a:latin typeface="Calibri"/>
                          <a:cs typeface="Calibri"/>
                        </a:rPr>
                        <a:t>a</a:t>
                      </a:r>
                      <a:r>
                        <a:rPr sz="1700" b="1" spc="25" dirty="0">
                          <a:latin typeface="Calibri"/>
                          <a:cs typeface="Calibri"/>
                        </a:rPr>
                        <a:t>i</a:t>
                      </a:r>
                      <a:r>
                        <a:rPr sz="1700" b="1" spc="5" dirty="0">
                          <a:latin typeface="Calibri"/>
                          <a:cs typeface="Calibri"/>
                        </a:rPr>
                        <a:t>’</a:t>
                      </a:r>
                      <a:r>
                        <a:rPr sz="1700" b="1" dirty="0">
                          <a:latin typeface="Calibri"/>
                          <a:cs typeface="Calibri"/>
                        </a:rPr>
                        <a:t>i</a:t>
                      </a:r>
                      <a:endParaRPr sz="1700">
                        <a:latin typeface="Calibri"/>
                        <a:cs typeface="Calibri"/>
                      </a:endParaRPr>
                    </a:p>
                  </a:txBody>
                  <a:tcPr marL="0" marR="0" marT="0" marB="0">
                    <a:solidFill>
                      <a:srgbClr val="FF4013"/>
                    </a:solidFill>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59732"/>
            <a:ext cx="5572837" cy="5898267"/>
          </a:xfrm>
          <a:prstGeom prst="rect">
            <a:avLst/>
          </a:prstGeom>
          <a:blipFill>
            <a:blip r:embed="rId3" cstate="print"/>
            <a:stretch>
              <a:fillRect/>
            </a:stretch>
          </a:blipFill>
        </p:spPr>
        <p:txBody>
          <a:bodyPr wrap="square" lIns="0" tIns="0" rIns="0" bIns="0" rtlCol="0"/>
          <a:lstStyle/>
          <a:p>
            <a:endParaRPr sz="1266"/>
          </a:p>
        </p:txBody>
      </p:sp>
      <p:sp>
        <p:nvSpPr>
          <p:cNvPr id="3" name="object 3"/>
          <p:cNvSpPr txBox="1"/>
          <p:nvPr/>
        </p:nvSpPr>
        <p:spPr>
          <a:xfrm>
            <a:off x="848321" y="15517"/>
            <a:ext cx="7451378" cy="1538883"/>
          </a:xfrm>
          <a:prstGeom prst="rect">
            <a:avLst/>
          </a:prstGeom>
        </p:spPr>
        <p:txBody>
          <a:bodyPr vert="horz" wrap="square" lIns="0" tIns="0" rIns="0" bIns="0" rtlCol="0">
            <a:spAutoFit/>
          </a:bodyPr>
          <a:lstStyle/>
          <a:p>
            <a:pPr algn="ctr">
              <a:lnSpc>
                <a:spcPts val="3958"/>
              </a:lnSpc>
            </a:pPr>
            <a:r>
              <a:rPr sz="3375" b="1" dirty="0">
                <a:latin typeface="Gill Sans"/>
                <a:cs typeface="Gill Sans"/>
              </a:rPr>
              <a:t>E</a:t>
            </a:r>
            <a:r>
              <a:rPr sz="3375" b="1" spc="-4" dirty="0">
                <a:latin typeface="Gill Sans"/>
                <a:cs typeface="Gill Sans"/>
              </a:rPr>
              <a:t>x</a:t>
            </a:r>
            <a:r>
              <a:rPr sz="3375" b="1" spc="21" dirty="0">
                <a:latin typeface="Gill Sans"/>
                <a:cs typeface="Gill Sans"/>
              </a:rPr>
              <a:t>a</a:t>
            </a:r>
            <a:r>
              <a:rPr sz="3375" b="1" spc="-4" dirty="0">
                <a:latin typeface="Gill Sans"/>
                <a:cs typeface="Gill Sans"/>
              </a:rPr>
              <a:t>m</a:t>
            </a:r>
            <a:r>
              <a:rPr sz="3375" b="1" dirty="0">
                <a:latin typeface="Gill Sans"/>
                <a:cs typeface="Gill Sans"/>
              </a:rPr>
              <a:t>ple</a:t>
            </a:r>
            <a:r>
              <a:rPr sz="3375" b="1" spc="-4" dirty="0">
                <a:latin typeface="Gill Sans"/>
                <a:cs typeface="Gill Sans"/>
              </a:rPr>
              <a:t> o</a:t>
            </a:r>
            <a:r>
              <a:rPr sz="3375" b="1" dirty="0">
                <a:latin typeface="Gill Sans"/>
                <a:cs typeface="Gill Sans"/>
              </a:rPr>
              <a:t>f</a:t>
            </a:r>
            <a:r>
              <a:rPr sz="3375" b="1" spc="95" dirty="0">
                <a:latin typeface="Gill Sans"/>
                <a:cs typeface="Gill Sans"/>
              </a:rPr>
              <a:t> </a:t>
            </a:r>
            <a:r>
              <a:rPr sz="3375" b="1" dirty="0">
                <a:latin typeface="Gill Sans"/>
                <a:cs typeface="Gill Sans"/>
              </a:rPr>
              <a:t>bi</a:t>
            </a:r>
            <a:r>
              <a:rPr sz="3375" b="1" spc="-4" dirty="0">
                <a:latin typeface="Gill Sans"/>
                <a:cs typeface="Gill Sans"/>
              </a:rPr>
              <a:t>o</a:t>
            </a:r>
            <a:r>
              <a:rPr sz="3375" b="1" dirty="0">
                <a:latin typeface="Gill Sans"/>
                <a:cs typeface="Gill Sans"/>
              </a:rPr>
              <a:t>ge</a:t>
            </a:r>
            <a:r>
              <a:rPr sz="3375" b="1" spc="-4" dirty="0">
                <a:latin typeface="Gill Sans"/>
                <a:cs typeface="Gill Sans"/>
              </a:rPr>
              <a:t>o</a:t>
            </a:r>
            <a:r>
              <a:rPr sz="3375" b="1" spc="123" dirty="0">
                <a:latin typeface="Gill Sans"/>
                <a:cs typeface="Gill Sans"/>
              </a:rPr>
              <a:t>g</a:t>
            </a:r>
            <a:r>
              <a:rPr sz="3375" b="1" spc="-49" dirty="0">
                <a:latin typeface="Gill Sans"/>
                <a:cs typeface="Gill Sans"/>
              </a:rPr>
              <a:t>r</a:t>
            </a:r>
            <a:r>
              <a:rPr sz="3375" b="1" spc="21" dirty="0">
                <a:latin typeface="Gill Sans"/>
                <a:cs typeface="Gill Sans"/>
              </a:rPr>
              <a:t>a</a:t>
            </a:r>
            <a:r>
              <a:rPr sz="3375" b="1" dirty="0">
                <a:latin typeface="Gill Sans"/>
                <a:cs typeface="Gill Sans"/>
              </a:rPr>
              <a:t>p</a:t>
            </a:r>
            <a:r>
              <a:rPr sz="3375" b="1" spc="-4" dirty="0">
                <a:latin typeface="Gill Sans"/>
                <a:cs typeface="Gill Sans"/>
              </a:rPr>
              <a:t>h</a:t>
            </a:r>
            <a:r>
              <a:rPr sz="3375" b="1" dirty="0">
                <a:latin typeface="Gill Sans"/>
                <a:cs typeface="Gill Sans"/>
              </a:rPr>
              <a:t>ic</a:t>
            </a:r>
            <a:r>
              <a:rPr sz="3375" b="1" spc="-4" dirty="0">
                <a:latin typeface="Gill Sans"/>
                <a:cs typeface="Gill Sans"/>
              </a:rPr>
              <a:t> h</a:t>
            </a:r>
            <a:r>
              <a:rPr sz="3375" b="1" dirty="0">
                <a:latin typeface="Gill Sans"/>
                <a:cs typeface="Gill Sans"/>
              </a:rPr>
              <a:t>i</a:t>
            </a:r>
            <a:r>
              <a:rPr sz="3375" b="1" spc="-18" dirty="0">
                <a:latin typeface="Gill Sans"/>
                <a:cs typeface="Gill Sans"/>
              </a:rPr>
              <a:t>s</a:t>
            </a:r>
            <a:r>
              <a:rPr sz="3375" b="1" spc="-4" dirty="0">
                <a:latin typeface="Gill Sans"/>
                <a:cs typeface="Gill Sans"/>
              </a:rPr>
              <a:t>to</a:t>
            </a:r>
            <a:r>
              <a:rPr sz="3375" b="1" dirty="0">
                <a:latin typeface="Gill Sans"/>
                <a:cs typeface="Gill Sans"/>
              </a:rPr>
              <a:t>r</a:t>
            </a:r>
            <a:r>
              <a:rPr sz="3375" b="1" spc="-18" dirty="0">
                <a:latin typeface="Gill Sans"/>
                <a:cs typeface="Gill Sans"/>
              </a:rPr>
              <a:t>y:</a:t>
            </a:r>
            <a:endParaRPr sz="3375">
              <a:latin typeface="Gill Sans"/>
              <a:cs typeface="Gill Sans"/>
            </a:endParaRPr>
          </a:p>
          <a:p>
            <a:pPr algn="ctr">
              <a:lnSpc>
                <a:spcPts val="3958"/>
              </a:lnSpc>
            </a:pPr>
            <a:r>
              <a:rPr sz="3375" b="1" i="1" dirty="0">
                <a:latin typeface="Gill Sans"/>
                <a:cs typeface="Gill Sans"/>
              </a:rPr>
              <a:t>Ps</a:t>
            </a:r>
            <a:r>
              <a:rPr sz="3375" b="1" i="1" spc="46" dirty="0">
                <a:latin typeface="Gill Sans"/>
                <a:cs typeface="Gill Sans"/>
              </a:rPr>
              <a:t>y</a:t>
            </a:r>
            <a:r>
              <a:rPr sz="3375" b="1" i="1" spc="28" dirty="0">
                <a:latin typeface="Gill Sans"/>
                <a:cs typeface="Gill Sans"/>
              </a:rPr>
              <a:t>c</a:t>
            </a:r>
            <a:r>
              <a:rPr sz="3375" b="1" i="1" dirty="0">
                <a:latin typeface="Gill Sans"/>
                <a:cs typeface="Gill Sans"/>
              </a:rPr>
              <a:t>hotr</a:t>
            </a:r>
            <a:r>
              <a:rPr sz="3375" b="1" i="1" spc="-21" dirty="0">
                <a:latin typeface="Gill Sans"/>
                <a:cs typeface="Gill Sans"/>
              </a:rPr>
              <a:t>ia</a:t>
            </a:r>
            <a:endParaRPr sz="3375">
              <a:latin typeface="Gill Sans"/>
              <a:cs typeface="Gill Sans"/>
            </a:endParaRPr>
          </a:p>
        </p:txBody>
      </p:sp>
      <p:sp>
        <p:nvSpPr>
          <p:cNvPr id="4" name="object 4"/>
          <p:cNvSpPr/>
          <p:nvPr/>
        </p:nvSpPr>
        <p:spPr>
          <a:xfrm>
            <a:off x="6148422" y="3183699"/>
            <a:ext cx="2369597" cy="1714234"/>
          </a:xfrm>
          <a:prstGeom prst="rect">
            <a:avLst/>
          </a:prstGeom>
          <a:blipFill>
            <a:blip r:embed="rId4" cstate="print"/>
            <a:stretch>
              <a:fillRect/>
            </a:stretch>
          </a:blipFill>
        </p:spPr>
        <p:txBody>
          <a:bodyPr wrap="square" lIns="0" tIns="0" rIns="0" bIns="0" rtlCol="0"/>
          <a:lstStyle/>
          <a:p>
            <a:endParaRPr sz="1266"/>
          </a:p>
        </p:txBody>
      </p:sp>
      <p:sp>
        <p:nvSpPr>
          <p:cNvPr id="5" name="object 5"/>
          <p:cNvSpPr/>
          <p:nvPr/>
        </p:nvSpPr>
        <p:spPr>
          <a:xfrm>
            <a:off x="6148422" y="3183697"/>
            <a:ext cx="2369938" cy="1714500"/>
          </a:xfrm>
          <a:custGeom>
            <a:avLst/>
            <a:gdLst/>
            <a:ahLst/>
            <a:cxnLst/>
            <a:rect l="l" t="t" r="r" b="b"/>
            <a:pathLst>
              <a:path w="3370579" h="2438400">
                <a:moveTo>
                  <a:pt x="0" y="0"/>
                </a:moveTo>
                <a:lnTo>
                  <a:pt x="3370094" y="0"/>
                </a:lnTo>
                <a:lnTo>
                  <a:pt x="3370094" y="2438022"/>
                </a:lnTo>
                <a:lnTo>
                  <a:pt x="0" y="2438022"/>
                </a:lnTo>
                <a:lnTo>
                  <a:pt x="0" y="0"/>
                </a:lnTo>
                <a:close/>
              </a:path>
            </a:pathLst>
          </a:custGeom>
          <a:ln w="12700">
            <a:solidFill>
              <a:srgbClr val="000000"/>
            </a:solidFill>
          </a:ln>
        </p:spPr>
        <p:txBody>
          <a:bodyPr wrap="square" lIns="0" tIns="0" rIns="0" bIns="0" rtlCol="0"/>
          <a:lstStyle/>
          <a:p>
            <a:endParaRPr sz="1266"/>
          </a:p>
        </p:txBody>
      </p:sp>
      <p:sp>
        <p:nvSpPr>
          <p:cNvPr id="7" name="object 7"/>
          <p:cNvSpPr/>
          <p:nvPr/>
        </p:nvSpPr>
        <p:spPr>
          <a:xfrm>
            <a:off x="6684966" y="5277445"/>
            <a:ext cx="2143125" cy="1393031"/>
          </a:xfrm>
          <a:prstGeom prst="rect">
            <a:avLst/>
          </a:prstGeom>
          <a:blipFill>
            <a:blip r:embed="rId5" cstate="print"/>
            <a:stretch>
              <a:fillRect/>
            </a:stretch>
          </a:blipFill>
        </p:spPr>
        <p:txBody>
          <a:bodyPr wrap="square" lIns="0" tIns="0" rIns="0" bIns="0" rtlCol="0"/>
          <a:lstStyle/>
          <a:p>
            <a:endParaRPr sz="1266"/>
          </a:p>
        </p:txBody>
      </p:sp>
      <p:sp>
        <p:nvSpPr>
          <p:cNvPr id="8" name="object 8"/>
          <p:cNvSpPr txBox="1"/>
          <p:nvPr/>
        </p:nvSpPr>
        <p:spPr>
          <a:xfrm>
            <a:off x="6634758" y="6670537"/>
            <a:ext cx="2401639" cy="108171"/>
          </a:xfrm>
          <a:prstGeom prst="rect">
            <a:avLst/>
          </a:prstGeom>
        </p:spPr>
        <p:txBody>
          <a:bodyPr vert="horz" wrap="square" lIns="0" tIns="0" rIns="0" bIns="0" rtlCol="0">
            <a:spAutoFit/>
          </a:bodyPr>
          <a:lstStyle/>
          <a:p>
            <a:pPr marL="8929"/>
            <a:r>
              <a:rPr sz="703" u="sng" dirty="0">
                <a:latin typeface="Gill Sans"/>
                <a:cs typeface="Gill Sans"/>
                <a:hlinkClick r:id="rId6"/>
              </a:rPr>
              <a:t>http:</a:t>
            </a:r>
            <a:r>
              <a:rPr sz="703" u="sng" spc="-4" dirty="0">
                <a:latin typeface="Gill Sans"/>
                <a:cs typeface="Gill Sans"/>
                <a:hlinkClick r:id="rId6"/>
              </a:rPr>
              <a:t>//farm8.stati</a:t>
            </a:r>
            <a:r>
              <a:rPr sz="703" u="sng" spc="7" dirty="0">
                <a:latin typeface="Gill Sans"/>
                <a:cs typeface="Gill Sans"/>
                <a:hlinkClick r:id="rId6"/>
              </a:rPr>
              <a:t>c</a:t>
            </a:r>
            <a:r>
              <a:rPr sz="703" u="sng" dirty="0">
                <a:latin typeface="Gill Sans"/>
                <a:cs typeface="Gill Sans"/>
                <a:hlinkClick r:id="rId6"/>
              </a:rPr>
              <a:t>.</a:t>
            </a:r>
            <a:r>
              <a:rPr sz="703" u="sng" spc="4" dirty="0">
                <a:latin typeface="Gill Sans"/>
                <a:cs typeface="Gill Sans"/>
                <a:hlinkClick r:id="rId6"/>
              </a:rPr>
              <a:t>fli</a:t>
            </a:r>
            <a:r>
              <a:rPr sz="703" u="sng" spc="-4" dirty="0">
                <a:latin typeface="Gill Sans"/>
                <a:cs typeface="Gill Sans"/>
                <a:hlinkClick r:id="rId6"/>
              </a:rPr>
              <a:t>ck</a:t>
            </a:r>
            <a:r>
              <a:rPr sz="703" u="sng" spc="-77" dirty="0">
                <a:latin typeface="Gill Sans"/>
                <a:cs typeface="Gill Sans"/>
                <a:hlinkClick r:id="rId6"/>
              </a:rPr>
              <a:t>r</a:t>
            </a:r>
            <a:r>
              <a:rPr sz="703" u="sng" dirty="0">
                <a:latin typeface="Gill Sans"/>
                <a:cs typeface="Gill Sans"/>
                <a:hlinkClick r:id="rId6"/>
              </a:rPr>
              <a:t>.</a:t>
            </a:r>
            <a:r>
              <a:rPr sz="703" u="sng" spc="-4" dirty="0">
                <a:latin typeface="Gill Sans"/>
                <a:cs typeface="Gill Sans"/>
                <a:hlinkClick r:id="rId6"/>
              </a:rPr>
              <a:t>com/7446/9252634315_0ecf0ba853_</a:t>
            </a:r>
            <a:r>
              <a:rPr sz="703" u="sng" dirty="0">
                <a:latin typeface="Gill Sans"/>
                <a:cs typeface="Gill Sans"/>
                <a:hlinkClick r:id="rId6"/>
              </a:rPr>
              <a:t>m.j</a:t>
            </a:r>
            <a:r>
              <a:rPr sz="703" u="sng" spc="-4" dirty="0">
                <a:latin typeface="Gill Sans"/>
                <a:cs typeface="Gill Sans"/>
                <a:hlinkClick r:id="rId6"/>
              </a:rPr>
              <a:t>pg</a:t>
            </a:r>
            <a:endParaRPr sz="703" dirty="0">
              <a:latin typeface="Gill Sans"/>
              <a:cs typeface="Gill Sans"/>
            </a:endParaRPr>
          </a:p>
        </p:txBody>
      </p:sp>
      <p:sp>
        <p:nvSpPr>
          <p:cNvPr id="9" name="object 9"/>
          <p:cNvSpPr txBox="1"/>
          <p:nvPr/>
        </p:nvSpPr>
        <p:spPr>
          <a:xfrm>
            <a:off x="6697266" y="5107782"/>
            <a:ext cx="922883" cy="129907"/>
          </a:xfrm>
          <a:prstGeom prst="rect">
            <a:avLst/>
          </a:prstGeom>
        </p:spPr>
        <p:txBody>
          <a:bodyPr vert="horz" wrap="square" lIns="0" tIns="0" rIns="0" bIns="0" rtlCol="0">
            <a:spAutoFit/>
          </a:bodyPr>
          <a:lstStyle/>
          <a:p>
            <a:pPr marL="8929"/>
            <a:r>
              <a:rPr sz="844" b="1" i="1" dirty="0">
                <a:latin typeface="Calibri"/>
                <a:cs typeface="Calibri"/>
              </a:rPr>
              <a:t>P</a:t>
            </a:r>
            <a:r>
              <a:rPr sz="844" b="1" i="1" spc="-14" dirty="0">
                <a:latin typeface="Calibri"/>
                <a:cs typeface="Calibri"/>
              </a:rPr>
              <a:t>s</a:t>
            </a:r>
            <a:r>
              <a:rPr sz="844" b="1" i="1" spc="-7" dirty="0">
                <a:latin typeface="Calibri"/>
                <a:cs typeface="Calibri"/>
              </a:rPr>
              <a:t>yc</a:t>
            </a:r>
            <a:r>
              <a:rPr sz="844" b="1" i="1" spc="-4" dirty="0">
                <a:latin typeface="Calibri"/>
                <a:cs typeface="Calibri"/>
              </a:rPr>
              <a:t>hotr</a:t>
            </a:r>
            <a:r>
              <a:rPr sz="844" b="1" i="1" spc="-7" dirty="0">
                <a:latin typeface="Calibri"/>
                <a:cs typeface="Calibri"/>
              </a:rPr>
              <a:t>ia</a:t>
            </a:r>
            <a:r>
              <a:rPr sz="844" b="1" i="1" dirty="0">
                <a:latin typeface="Calibri"/>
                <a:cs typeface="Calibri"/>
              </a:rPr>
              <a:t> </a:t>
            </a:r>
            <a:r>
              <a:rPr sz="844" b="1" i="1" spc="-4" dirty="0">
                <a:latin typeface="Calibri"/>
                <a:cs typeface="Calibri"/>
              </a:rPr>
              <a:t>h</a:t>
            </a:r>
            <a:r>
              <a:rPr sz="844" b="1" i="1" spc="-21" dirty="0">
                <a:latin typeface="Calibri"/>
                <a:cs typeface="Calibri"/>
              </a:rPr>
              <a:t>e</a:t>
            </a:r>
            <a:r>
              <a:rPr sz="844" b="1" i="1" spc="-18" dirty="0">
                <a:latin typeface="Calibri"/>
                <a:cs typeface="Calibri"/>
              </a:rPr>
              <a:t>x</a:t>
            </a:r>
            <a:r>
              <a:rPr sz="844" b="1" i="1" spc="-7" dirty="0">
                <a:latin typeface="Calibri"/>
                <a:cs typeface="Calibri"/>
              </a:rPr>
              <a:t>andra</a:t>
            </a:r>
            <a:endParaRPr sz="844">
              <a:latin typeface="Calibri"/>
              <a:cs typeface="Calibri"/>
            </a:endParaRPr>
          </a:p>
        </p:txBody>
      </p:sp>
      <p:sp>
        <p:nvSpPr>
          <p:cNvPr id="10" name="object 10"/>
          <p:cNvSpPr/>
          <p:nvPr/>
        </p:nvSpPr>
        <p:spPr>
          <a:xfrm>
            <a:off x="126550" y="1114072"/>
            <a:ext cx="5594449" cy="475506"/>
          </a:xfrm>
          <a:custGeom>
            <a:avLst/>
            <a:gdLst/>
            <a:ahLst/>
            <a:cxnLst/>
            <a:rect l="l" t="t" r="r" b="b"/>
            <a:pathLst>
              <a:path w="7956550" h="676275">
                <a:moveTo>
                  <a:pt x="0" y="0"/>
                </a:moveTo>
                <a:lnTo>
                  <a:pt x="7956483" y="0"/>
                </a:lnTo>
                <a:lnTo>
                  <a:pt x="7956483" y="676142"/>
                </a:lnTo>
                <a:lnTo>
                  <a:pt x="0" y="676142"/>
                </a:lnTo>
                <a:lnTo>
                  <a:pt x="0" y="0"/>
                </a:lnTo>
                <a:close/>
              </a:path>
            </a:pathLst>
          </a:custGeom>
          <a:solidFill>
            <a:srgbClr val="FFFFFF"/>
          </a:solidFill>
        </p:spPr>
        <p:txBody>
          <a:bodyPr wrap="square" lIns="0" tIns="0" rIns="0" bIns="0" rtlCol="0"/>
          <a:lstStyle/>
          <a:p>
            <a:endParaRPr sz="1266"/>
          </a:p>
        </p:txBody>
      </p:sp>
      <p:sp>
        <p:nvSpPr>
          <p:cNvPr id="11" name="object 11"/>
          <p:cNvSpPr txBox="1"/>
          <p:nvPr/>
        </p:nvSpPr>
        <p:spPr>
          <a:xfrm>
            <a:off x="1009055" y="1149587"/>
            <a:ext cx="2558802" cy="519373"/>
          </a:xfrm>
          <a:prstGeom prst="rect">
            <a:avLst/>
          </a:prstGeom>
        </p:spPr>
        <p:txBody>
          <a:bodyPr vert="horz" wrap="square" lIns="0" tIns="0" rIns="0" bIns="0" rtlCol="0">
            <a:spAutoFit/>
          </a:bodyPr>
          <a:lstStyle/>
          <a:p>
            <a:pPr marL="8929"/>
            <a:r>
              <a:rPr sz="3375" b="1" dirty="0">
                <a:latin typeface="Gill Sans"/>
                <a:cs typeface="Gill Sans"/>
              </a:rPr>
              <a:t>M</a:t>
            </a:r>
            <a:r>
              <a:rPr sz="3375" b="1" spc="-4" dirty="0">
                <a:latin typeface="Gill Sans"/>
                <a:cs typeface="Gill Sans"/>
              </a:rPr>
              <a:t>o</a:t>
            </a:r>
            <a:r>
              <a:rPr sz="3375" b="1" dirty="0">
                <a:latin typeface="Gill Sans"/>
                <a:cs typeface="Gill Sans"/>
              </a:rPr>
              <a:t>del</a:t>
            </a:r>
            <a:r>
              <a:rPr sz="3375" b="1" spc="-11" dirty="0">
                <a:latin typeface="Gill Sans"/>
                <a:cs typeface="Gill Sans"/>
              </a:rPr>
              <a:t>:</a:t>
            </a:r>
            <a:r>
              <a:rPr sz="3375" b="1" spc="-4" dirty="0">
                <a:latin typeface="Gill Sans"/>
                <a:cs typeface="Gill Sans"/>
              </a:rPr>
              <a:t> </a:t>
            </a:r>
            <a:r>
              <a:rPr sz="3375" b="1" spc="-28" dirty="0">
                <a:latin typeface="Gill Sans"/>
                <a:cs typeface="Gill Sans"/>
              </a:rPr>
              <a:t>D</a:t>
            </a:r>
            <a:r>
              <a:rPr sz="3375" b="1" dirty="0">
                <a:latin typeface="Gill Sans"/>
                <a:cs typeface="Gill Sans"/>
              </a:rPr>
              <a:t>EC</a:t>
            </a:r>
            <a:endParaRPr sz="3375">
              <a:latin typeface="Gill Sans"/>
              <a:cs typeface="Gill Sans"/>
            </a:endParaRPr>
          </a:p>
        </p:txBody>
      </p:sp>
      <p:graphicFrame>
        <p:nvGraphicFramePr>
          <p:cNvPr id="6" name="object 6"/>
          <p:cNvGraphicFramePr>
            <a:graphicFrameLocks noGrp="1"/>
          </p:cNvGraphicFramePr>
          <p:nvPr/>
        </p:nvGraphicFramePr>
        <p:xfrm>
          <a:off x="5327653" y="5237262"/>
          <a:ext cx="1231564" cy="1326058"/>
        </p:xfrm>
        <a:graphic>
          <a:graphicData uri="http://schemas.openxmlformats.org/drawingml/2006/table">
            <a:tbl>
              <a:tblPr firstRow="1" bandRow="1">
                <a:tableStyleId>{2D5ABB26-0587-4C30-8999-92F81FD0307C}</a:tableStyleId>
              </a:tblPr>
              <a:tblGrid>
                <a:gridCol w="1194363">
                  <a:extLst>
                    <a:ext uri="{9D8B030D-6E8A-4147-A177-3AD203B41FA5}">
                      <a16:colId xmlns:a16="http://schemas.microsoft.com/office/drawing/2014/main" val="20000"/>
                    </a:ext>
                  </a:extLst>
                </a:gridCol>
                <a:gridCol w="37201">
                  <a:extLst>
                    <a:ext uri="{9D8B030D-6E8A-4147-A177-3AD203B41FA5}">
                      <a16:colId xmlns:a16="http://schemas.microsoft.com/office/drawing/2014/main" val="20001"/>
                    </a:ext>
                  </a:extLst>
                </a:gridCol>
              </a:tblGrid>
              <a:tr h="332631">
                <a:tc>
                  <a:txBody>
                    <a:bodyPr/>
                    <a:lstStyle/>
                    <a:p>
                      <a:pPr marL="55244">
                        <a:lnSpc>
                          <a:spcPct val="100000"/>
                        </a:lnSpc>
                      </a:pPr>
                      <a:r>
                        <a:rPr sz="1700" b="1" dirty="0">
                          <a:latin typeface="Calibri"/>
                          <a:cs typeface="Calibri"/>
                        </a:rPr>
                        <a:t>K</a:t>
                      </a:r>
                      <a:r>
                        <a:rPr sz="1700" b="1" spc="-5" dirty="0">
                          <a:latin typeface="Calibri"/>
                          <a:cs typeface="Calibri"/>
                        </a:rPr>
                        <a:t>=</a:t>
                      </a:r>
                      <a:r>
                        <a:rPr sz="1700" b="1" spc="-35" dirty="0">
                          <a:latin typeface="Calibri"/>
                          <a:cs typeface="Calibri"/>
                        </a:rPr>
                        <a:t>K</a:t>
                      </a:r>
                      <a:r>
                        <a:rPr sz="1700" b="1" dirty="0">
                          <a:latin typeface="Calibri"/>
                          <a:cs typeface="Calibri"/>
                        </a:rPr>
                        <a:t>auai</a:t>
                      </a:r>
                      <a:endParaRPr sz="1700">
                        <a:latin typeface="Calibri"/>
                        <a:cs typeface="Calibri"/>
                      </a:endParaRPr>
                    </a:p>
                  </a:txBody>
                  <a:tcPr marL="0" marR="0" marT="0" marB="0">
                    <a:solidFill>
                      <a:srgbClr val="0061FF"/>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0"/>
                  </a:ext>
                </a:extLst>
              </a:tr>
              <a:tr h="332631">
                <a:tc>
                  <a:txBody>
                    <a:bodyPr/>
                    <a:lstStyle/>
                    <a:p>
                      <a:pPr marL="55244">
                        <a:lnSpc>
                          <a:spcPct val="100000"/>
                        </a:lnSpc>
                      </a:pPr>
                      <a:r>
                        <a:rPr sz="1700" b="1" dirty="0">
                          <a:latin typeface="Calibri"/>
                          <a:cs typeface="Calibri"/>
                        </a:rPr>
                        <a:t>O</a:t>
                      </a:r>
                      <a:r>
                        <a:rPr sz="1700" b="1" spc="-5" dirty="0">
                          <a:latin typeface="Calibri"/>
                          <a:cs typeface="Calibri"/>
                        </a:rPr>
                        <a:t>=</a:t>
                      </a:r>
                      <a:r>
                        <a:rPr sz="1700" b="1" dirty="0">
                          <a:latin typeface="Calibri"/>
                          <a:cs typeface="Calibri"/>
                        </a:rPr>
                        <a:t>Oahu</a:t>
                      </a:r>
                      <a:endParaRPr sz="1700">
                        <a:latin typeface="Calibri"/>
                        <a:cs typeface="Calibri"/>
                      </a:endParaRPr>
                    </a:p>
                  </a:txBody>
                  <a:tcPr marL="0" marR="0" marT="0" marB="0">
                    <a:solidFill>
                      <a:srgbClr val="53D5FD"/>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1"/>
                  </a:ext>
                </a:extLst>
              </a:tr>
              <a:tr h="330398">
                <a:tc>
                  <a:txBody>
                    <a:bodyPr/>
                    <a:lstStyle/>
                    <a:p>
                      <a:pPr marL="55244">
                        <a:lnSpc>
                          <a:spcPct val="100000"/>
                        </a:lnSpc>
                      </a:pPr>
                      <a:r>
                        <a:rPr sz="1700" b="1" dirty="0">
                          <a:latin typeface="Calibri"/>
                          <a:cs typeface="Calibri"/>
                        </a:rPr>
                        <a:t>M=Maui-Nui</a:t>
                      </a:r>
                      <a:endParaRPr sz="1700">
                        <a:latin typeface="Calibri"/>
                        <a:cs typeface="Calibri"/>
                      </a:endParaRPr>
                    </a:p>
                  </a:txBody>
                  <a:tcPr marL="0" marR="0" marT="0" marB="0">
                    <a:solidFill>
                      <a:srgbClr val="FFFC41"/>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2"/>
                  </a:ext>
                </a:extLst>
              </a:tr>
              <a:tr h="330398">
                <a:tc gridSpan="2">
                  <a:txBody>
                    <a:bodyPr/>
                    <a:lstStyle/>
                    <a:p>
                      <a:pPr marL="55244">
                        <a:lnSpc>
                          <a:spcPct val="100000"/>
                        </a:lnSpc>
                      </a:pPr>
                      <a:r>
                        <a:rPr sz="1700" b="1" dirty="0">
                          <a:latin typeface="Calibri"/>
                          <a:cs typeface="Calibri"/>
                        </a:rPr>
                        <a:t>H</a:t>
                      </a:r>
                      <a:r>
                        <a:rPr sz="1700" b="1" spc="-5" dirty="0">
                          <a:latin typeface="Calibri"/>
                          <a:cs typeface="Calibri"/>
                        </a:rPr>
                        <a:t>=</a:t>
                      </a:r>
                      <a:r>
                        <a:rPr sz="1700" b="1" dirty="0">
                          <a:latin typeface="Calibri"/>
                          <a:cs typeface="Calibri"/>
                        </a:rPr>
                        <a:t>H</a:t>
                      </a:r>
                      <a:r>
                        <a:rPr sz="1700" b="1" spc="-20" dirty="0">
                          <a:latin typeface="Calibri"/>
                          <a:cs typeface="Calibri"/>
                        </a:rPr>
                        <a:t>a</a:t>
                      </a:r>
                      <a:r>
                        <a:rPr sz="1700" b="1" spc="-30" dirty="0">
                          <a:latin typeface="Calibri"/>
                          <a:cs typeface="Calibri"/>
                        </a:rPr>
                        <a:t>w</a:t>
                      </a:r>
                      <a:r>
                        <a:rPr sz="1700" b="1" dirty="0">
                          <a:latin typeface="Calibri"/>
                          <a:cs typeface="Calibri"/>
                        </a:rPr>
                        <a:t>a</a:t>
                      </a:r>
                      <a:r>
                        <a:rPr sz="1700" b="1" spc="25" dirty="0">
                          <a:latin typeface="Calibri"/>
                          <a:cs typeface="Calibri"/>
                        </a:rPr>
                        <a:t>i</a:t>
                      </a:r>
                      <a:r>
                        <a:rPr sz="1700" b="1" spc="5" dirty="0">
                          <a:latin typeface="Calibri"/>
                          <a:cs typeface="Calibri"/>
                        </a:rPr>
                        <a:t>’</a:t>
                      </a:r>
                      <a:r>
                        <a:rPr sz="1700" b="1" dirty="0">
                          <a:latin typeface="Calibri"/>
                          <a:cs typeface="Calibri"/>
                        </a:rPr>
                        <a:t>i</a:t>
                      </a:r>
                      <a:endParaRPr sz="1700">
                        <a:latin typeface="Calibri"/>
                        <a:cs typeface="Calibri"/>
                      </a:endParaRPr>
                    </a:p>
                  </a:txBody>
                  <a:tcPr marL="0" marR="0" marT="0" marB="0">
                    <a:solidFill>
                      <a:srgbClr val="FF4013"/>
                    </a:solidFill>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0372" y="1215948"/>
            <a:ext cx="2924270" cy="3670086"/>
          </a:xfrm>
          <a:prstGeom prst="rect">
            <a:avLst/>
          </a:prstGeom>
          <a:blipFill>
            <a:blip r:embed="rId3" cstate="print"/>
            <a:stretch>
              <a:fillRect/>
            </a:stretch>
          </a:blipFill>
        </p:spPr>
        <p:txBody>
          <a:bodyPr wrap="square" lIns="0" tIns="0" rIns="0" bIns="0" rtlCol="0"/>
          <a:lstStyle/>
          <a:p>
            <a:endParaRPr sz="1266"/>
          </a:p>
        </p:txBody>
      </p:sp>
      <p:sp>
        <p:nvSpPr>
          <p:cNvPr id="3" name="object 3"/>
          <p:cNvSpPr/>
          <p:nvPr/>
        </p:nvSpPr>
        <p:spPr>
          <a:xfrm>
            <a:off x="1" y="1145186"/>
            <a:ext cx="2857932" cy="4003461"/>
          </a:xfrm>
          <a:prstGeom prst="rect">
            <a:avLst/>
          </a:prstGeom>
          <a:blipFill>
            <a:blip r:embed="rId4" cstate="print"/>
            <a:stretch>
              <a:fillRect/>
            </a:stretch>
          </a:blipFill>
        </p:spPr>
        <p:txBody>
          <a:bodyPr wrap="square" lIns="0" tIns="0" rIns="0" bIns="0" rtlCol="0"/>
          <a:lstStyle/>
          <a:p>
            <a:endParaRPr sz="1266"/>
          </a:p>
        </p:txBody>
      </p:sp>
      <p:sp>
        <p:nvSpPr>
          <p:cNvPr id="4" name="object 4"/>
          <p:cNvSpPr txBox="1">
            <a:spLocks noGrp="1"/>
          </p:cNvSpPr>
          <p:nvPr>
            <p:ph type="title"/>
          </p:nvPr>
        </p:nvSpPr>
        <p:spPr>
          <a:xfrm>
            <a:off x="321469" y="224625"/>
            <a:ext cx="5786438" cy="740633"/>
          </a:xfrm>
          <a:prstGeom prst="rect">
            <a:avLst/>
          </a:prstGeom>
        </p:spPr>
        <p:txBody>
          <a:bodyPr vert="horz" wrap="square" lIns="0" tIns="219120" rIns="0" bIns="0" rtlCol="0" anchor="ctr">
            <a:spAutoFit/>
          </a:bodyPr>
          <a:lstStyle/>
          <a:p>
            <a:pPr marL="1185374"/>
            <a:r>
              <a:rPr sz="3375" dirty="0">
                <a:latin typeface="Gill Sans"/>
                <a:cs typeface="Gill Sans"/>
              </a:rPr>
              <a:t>Comp</a:t>
            </a:r>
            <a:r>
              <a:rPr sz="3375" spc="46" dirty="0">
                <a:latin typeface="Gill Sans"/>
                <a:cs typeface="Gill Sans"/>
              </a:rPr>
              <a:t>a</a:t>
            </a:r>
            <a:r>
              <a:rPr sz="3375" spc="-148" dirty="0">
                <a:latin typeface="Gill Sans"/>
                <a:cs typeface="Gill Sans"/>
              </a:rPr>
              <a:t>r</a:t>
            </a:r>
            <a:r>
              <a:rPr sz="3375" spc="-4" dirty="0">
                <a:latin typeface="Gill Sans"/>
                <a:cs typeface="Gill Sans"/>
              </a:rPr>
              <a:t>ison</a:t>
            </a:r>
            <a:r>
              <a:rPr sz="3375" dirty="0">
                <a:latin typeface="Gill Sans"/>
                <a:cs typeface="Gill Sans"/>
              </a:rPr>
              <a:t>:</a:t>
            </a:r>
            <a:r>
              <a:rPr sz="3375" spc="4" dirty="0">
                <a:latin typeface="Gill Sans"/>
                <a:cs typeface="Gill Sans"/>
              </a:rPr>
              <a:t> </a:t>
            </a:r>
            <a:r>
              <a:rPr sz="3375" dirty="0">
                <a:latin typeface="Gill Sans"/>
                <a:cs typeface="Gill Sans"/>
              </a:rPr>
              <a:t>3 </a:t>
            </a:r>
            <a:r>
              <a:rPr sz="3375" spc="-4" dirty="0">
                <a:latin typeface="Gill Sans"/>
                <a:cs typeface="Gill Sans"/>
              </a:rPr>
              <a:t>models</a:t>
            </a:r>
            <a:endParaRPr sz="3375" dirty="0">
              <a:latin typeface="Gill Sans"/>
              <a:cs typeface="Gill Sans"/>
            </a:endParaRPr>
          </a:p>
        </p:txBody>
      </p:sp>
      <p:sp>
        <p:nvSpPr>
          <p:cNvPr id="6" name="object 6"/>
          <p:cNvSpPr/>
          <p:nvPr/>
        </p:nvSpPr>
        <p:spPr>
          <a:xfrm>
            <a:off x="6684966" y="5277445"/>
            <a:ext cx="2143125" cy="1393031"/>
          </a:xfrm>
          <a:prstGeom prst="rect">
            <a:avLst/>
          </a:prstGeom>
          <a:blipFill>
            <a:blip r:embed="rId5" cstate="print"/>
            <a:stretch>
              <a:fillRect/>
            </a:stretch>
          </a:blipFill>
        </p:spPr>
        <p:txBody>
          <a:bodyPr wrap="square" lIns="0" tIns="0" rIns="0" bIns="0" rtlCol="0"/>
          <a:lstStyle/>
          <a:p>
            <a:endParaRPr sz="1266"/>
          </a:p>
        </p:txBody>
      </p:sp>
      <p:sp>
        <p:nvSpPr>
          <p:cNvPr id="7" name="object 7"/>
          <p:cNvSpPr txBox="1"/>
          <p:nvPr/>
        </p:nvSpPr>
        <p:spPr>
          <a:xfrm>
            <a:off x="6634758" y="6670537"/>
            <a:ext cx="2401639" cy="108171"/>
          </a:xfrm>
          <a:prstGeom prst="rect">
            <a:avLst/>
          </a:prstGeom>
        </p:spPr>
        <p:txBody>
          <a:bodyPr vert="horz" wrap="square" lIns="0" tIns="0" rIns="0" bIns="0" rtlCol="0">
            <a:spAutoFit/>
          </a:bodyPr>
          <a:lstStyle/>
          <a:p>
            <a:pPr marL="8929"/>
            <a:r>
              <a:rPr sz="703" u="sng" dirty="0">
                <a:latin typeface="Gill Sans"/>
                <a:cs typeface="Gill Sans"/>
                <a:hlinkClick r:id="rId6"/>
              </a:rPr>
              <a:t>http:</a:t>
            </a:r>
            <a:r>
              <a:rPr sz="703" u="sng" spc="-4" dirty="0">
                <a:latin typeface="Gill Sans"/>
                <a:cs typeface="Gill Sans"/>
                <a:hlinkClick r:id="rId6"/>
              </a:rPr>
              <a:t>//farm8.stati</a:t>
            </a:r>
            <a:r>
              <a:rPr sz="703" u="sng" spc="7" dirty="0">
                <a:latin typeface="Gill Sans"/>
                <a:cs typeface="Gill Sans"/>
                <a:hlinkClick r:id="rId6"/>
              </a:rPr>
              <a:t>c</a:t>
            </a:r>
            <a:r>
              <a:rPr sz="703" u="sng" dirty="0">
                <a:latin typeface="Gill Sans"/>
                <a:cs typeface="Gill Sans"/>
                <a:hlinkClick r:id="rId6"/>
              </a:rPr>
              <a:t>.</a:t>
            </a:r>
            <a:r>
              <a:rPr sz="703" u="sng" spc="4" dirty="0">
                <a:latin typeface="Gill Sans"/>
                <a:cs typeface="Gill Sans"/>
                <a:hlinkClick r:id="rId6"/>
              </a:rPr>
              <a:t>fli</a:t>
            </a:r>
            <a:r>
              <a:rPr sz="703" u="sng" spc="-4" dirty="0">
                <a:latin typeface="Gill Sans"/>
                <a:cs typeface="Gill Sans"/>
                <a:hlinkClick r:id="rId6"/>
              </a:rPr>
              <a:t>ck</a:t>
            </a:r>
            <a:r>
              <a:rPr sz="703" u="sng" spc="-77" dirty="0">
                <a:latin typeface="Gill Sans"/>
                <a:cs typeface="Gill Sans"/>
                <a:hlinkClick r:id="rId6"/>
              </a:rPr>
              <a:t>r</a:t>
            </a:r>
            <a:r>
              <a:rPr sz="703" u="sng" dirty="0">
                <a:latin typeface="Gill Sans"/>
                <a:cs typeface="Gill Sans"/>
                <a:hlinkClick r:id="rId6"/>
              </a:rPr>
              <a:t>.</a:t>
            </a:r>
            <a:r>
              <a:rPr sz="703" u="sng" spc="-4" dirty="0">
                <a:latin typeface="Gill Sans"/>
                <a:cs typeface="Gill Sans"/>
                <a:hlinkClick r:id="rId6"/>
              </a:rPr>
              <a:t>com/7446/9252634315_0ecf0ba853_</a:t>
            </a:r>
            <a:r>
              <a:rPr sz="703" u="sng" dirty="0">
                <a:latin typeface="Gill Sans"/>
                <a:cs typeface="Gill Sans"/>
                <a:hlinkClick r:id="rId6"/>
              </a:rPr>
              <a:t>m.j</a:t>
            </a:r>
            <a:r>
              <a:rPr sz="703" u="sng" spc="-4" dirty="0">
                <a:latin typeface="Gill Sans"/>
                <a:cs typeface="Gill Sans"/>
                <a:hlinkClick r:id="rId6"/>
              </a:rPr>
              <a:t>pg</a:t>
            </a:r>
            <a:endParaRPr sz="703" dirty="0">
              <a:latin typeface="Gill Sans"/>
              <a:cs typeface="Gill Sans"/>
            </a:endParaRPr>
          </a:p>
        </p:txBody>
      </p:sp>
      <p:sp>
        <p:nvSpPr>
          <p:cNvPr id="8" name="object 8"/>
          <p:cNvSpPr txBox="1"/>
          <p:nvPr/>
        </p:nvSpPr>
        <p:spPr>
          <a:xfrm>
            <a:off x="6697266" y="5107782"/>
            <a:ext cx="922883" cy="129907"/>
          </a:xfrm>
          <a:prstGeom prst="rect">
            <a:avLst/>
          </a:prstGeom>
        </p:spPr>
        <p:txBody>
          <a:bodyPr vert="horz" wrap="square" lIns="0" tIns="0" rIns="0" bIns="0" rtlCol="0">
            <a:spAutoFit/>
          </a:bodyPr>
          <a:lstStyle/>
          <a:p>
            <a:pPr marL="8929"/>
            <a:r>
              <a:rPr sz="844" b="1" i="1" dirty="0">
                <a:latin typeface="Calibri"/>
                <a:cs typeface="Calibri"/>
              </a:rPr>
              <a:t>P</a:t>
            </a:r>
            <a:r>
              <a:rPr sz="844" b="1" i="1" spc="-14" dirty="0">
                <a:latin typeface="Calibri"/>
                <a:cs typeface="Calibri"/>
              </a:rPr>
              <a:t>s</a:t>
            </a:r>
            <a:r>
              <a:rPr sz="844" b="1" i="1" spc="-7" dirty="0">
                <a:latin typeface="Calibri"/>
                <a:cs typeface="Calibri"/>
              </a:rPr>
              <a:t>yc</a:t>
            </a:r>
            <a:r>
              <a:rPr sz="844" b="1" i="1" spc="-4" dirty="0">
                <a:latin typeface="Calibri"/>
                <a:cs typeface="Calibri"/>
              </a:rPr>
              <a:t>hotr</a:t>
            </a:r>
            <a:r>
              <a:rPr sz="844" b="1" i="1" spc="-7" dirty="0">
                <a:latin typeface="Calibri"/>
                <a:cs typeface="Calibri"/>
              </a:rPr>
              <a:t>ia</a:t>
            </a:r>
            <a:r>
              <a:rPr sz="844" b="1" i="1" dirty="0">
                <a:latin typeface="Calibri"/>
                <a:cs typeface="Calibri"/>
              </a:rPr>
              <a:t> </a:t>
            </a:r>
            <a:r>
              <a:rPr sz="844" b="1" i="1" spc="-4" dirty="0">
                <a:latin typeface="Calibri"/>
                <a:cs typeface="Calibri"/>
              </a:rPr>
              <a:t>h</a:t>
            </a:r>
            <a:r>
              <a:rPr sz="844" b="1" i="1" spc="-21" dirty="0">
                <a:latin typeface="Calibri"/>
                <a:cs typeface="Calibri"/>
              </a:rPr>
              <a:t>e</a:t>
            </a:r>
            <a:r>
              <a:rPr sz="844" b="1" i="1" spc="-18" dirty="0">
                <a:latin typeface="Calibri"/>
                <a:cs typeface="Calibri"/>
              </a:rPr>
              <a:t>x</a:t>
            </a:r>
            <a:r>
              <a:rPr sz="844" b="1" i="1" spc="-7" dirty="0">
                <a:latin typeface="Calibri"/>
                <a:cs typeface="Calibri"/>
              </a:rPr>
              <a:t>andra</a:t>
            </a:r>
            <a:endParaRPr sz="844">
              <a:latin typeface="Calibri"/>
              <a:cs typeface="Calibri"/>
            </a:endParaRPr>
          </a:p>
        </p:txBody>
      </p:sp>
      <p:sp>
        <p:nvSpPr>
          <p:cNvPr id="9" name="object 9"/>
          <p:cNvSpPr txBox="1"/>
          <p:nvPr/>
        </p:nvSpPr>
        <p:spPr>
          <a:xfrm>
            <a:off x="759023" y="954306"/>
            <a:ext cx="1288554" cy="259623"/>
          </a:xfrm>
          <a:prstGeom prst="rect">
            <a:avLst/>
          </a:prstGeom>
        </p:spPr>
        <p:txBody>
          <a:bodyPr vert="horz" wrap="square" lIns="0" tIns="0" rIns="0" bIns="0" rtlCol="0">
            <a:spAutoFit/>
          </a:bodyPr>
          <a:lstStyle/>
          <a:p>
            <a:pPr marL="8929"/>
            <a:r>
              <a:rPr sz="1687" b="1" dirty="0">
                <a:latin typeface="Gill Sans"/>
                <a:cs typeface="Gill Sans"/>
              </a:rPr>
              <a:t>Model</a:t>
            </a:r>
            <a:r>
              <a:rPr sz="1687" b="1" spc="-7" dirty="0">
                <a:latin typeface="Gill Sans"/>
                <a:cs typeface="Gill Sans"/>
              </a:rPr>
              <a:t>:</a:t>
            </a:r>
            <a:r>
              <a:rPr sz="1687" b="1" spc="-4" dirty="0">
                <a:latin typeface="Gill Sans"/>
                <a:cs typeface="Gill Sans"/>
              </a:rPr>
              <a:t> </a:t>
            </a:r>
            <a:r>
              <a:rPr sz="1687" b="1" spc="-14" dirty="0">
                <a:latin typeface="Gill Sans"/>
                <a:cs typeface="Gill Sans"/>
              </a:rPr>
              <a:t>D</a:t>
            </a:r>
            <a:r>
              <a:rPr sz="1687" b="1" dirty="0">
                <a:latin typeface="Gill Sans"/>
                <a:cs typeface="Gill Sans"/>
              </a:rPr>
              <a:t>EC</a:t>
            </a:r>
            <a:endParaRPr sz="1687">
              <a:latin typeface="Gill Sans"/>
              <a:cs typeface="Gill Sans"/>
            </a:endParaRPr>
          </a:p>
        </p:txBody>
      </p:sp>
      <p:sp>
        <p:nvSpPr>
          <p:cNvPr id="10" name="object 10"/>
          <p:cNvSpPr/>
          <p:nvPr/>
        </p:nvSpPr>
        <p:spPr>
          <a:xfrm>
            <a:off x="6053210" y="1222944"/>
            <a:ext cx="2905526" cy="3636450"/>
          </a:xfrm>
          <a:prstGeom prst="rect">
            <a:avLst/>
          </a:prstGeom>
          <a:blipFill>
            <a:blip r:embed="rId7" cstate="print"/>
            <a:stretch>
              <a:fillRect/>
            </a:stretch>
          </a:blipFill>
        </p:spPr>
        <p:txBody>
          <a:bodyPr wrap="square" lIns="0" tIns="0" rIns="0" bIns="0" rtlCol="0"/>
          <a:lstStyle/>
          <a:p>
            <a:endParaRPr sz="1266"/>
          </a:p>
        </p:txBody>
      </p:sp>
      <p:sp>
        <p:nvSpPr>
          <p:cNvPr id="11" name="object 11"/>
          <p:cNvSpPr txBox="1"/>
          <p:nvPr/>
        </p:nvSpPr>
        <p:spPr>
          <a:xfrm>
            <a:off x="3723680" y="963235"/>
            <a:ext cx="4506367" cy="259623"/>
          </a:xfrm>
          <a:prstGeom prst="rect">
            <a:avLst/>
          </a:prstGeom>
        </p:spPr>
        <p:txBody>
          <a:bodyPr vert="horz" wrap="square" lIns="0" tIns="0" rIns="0" bIns="0" rtlCol="0">
            <a:spAutoFit/>
          </a:bodyPr>
          <a:lstStyle/>
          <a:p>
            <a:pPr marL="8929">
              <a:tabLst>
                <a:tab pos="2767658" algn="l"/>
              </a:tabLst>
            </a:pPr>
            <a:r>
              <a:rPr sz="1687" b="1" dirty="0">
                <a:latin typeface="Gill Sans"/>
                <a:cs typeface="Gill Sans"/>
              </a:rPr>
              <a:t>Model</a:t>
            </a:r>
            <a:r>
              <a:rPr sz="1687" b="1" spc="-7" dirty="0">
                <a:latin typeface="Gill Sans"/>
                <a:cs typeface="Gill Sans"/>
              </a:rPr>
              <a:t>:</a:t>
            </a:r>
            <a:r>
              <a:rPr sz="1687" b="1" spc="-4" dirty="0">
                <a:latin typeface="Gill Sans"/>
                <a:cs typeface="Gill Sans"/>
              </a:rPr>
              <a:t> </a:t>
            </a:r>
            <a:r>
              <a:rPr sz="1687" b="1" spc="-11" dirty="0">
                <a:latin typeface="Gill Sans"/>
                <a:cs typeface="Gill Sans"/>
              </a:rPr>
              <a:t>DI</a:t>
            </a:r>
            <a:r>
              <a:rPr sz="1687" b="1" spc="-137" dirty="0">
                <a:latin typeface="Gill Sans"/>
                <a:cs typeface="Gill Sans"/>
              </a:rPr>
              <a:t>V</a:t>
            </a:r>
            <a:r>
              <a:rPr sz="1687" b="1" dirty="0">
                <a:latin typeface="Gill Sans"/>
                <a:cs typeface="Gill Sans"/>
              </a:rPr>
              <a:t>A	Model</a:t>
            </a:r>
            <a:r>
              <a:rPr sz="1687" b="1" spc="-7" dirty="0">
                <a:latin typeface="Gill Sans"/>
                <a:cs typeface="Gill Sans"/>
              </a:rPr>
              <a:t>:</a:t>
            </a:r>
            <a:r>
              <a:rPr sz="1687" b="1" spc="-4" dirty="0">
                <a:latin typeface="Gill Sans"/>
                <a:cs typeface="Gill Sans"/>
              </a:rPr>
              <a:t> </a:t>
            </a:r>
            <a:r>
              <a:rPr sz="1687" b="1" spc="-14" dirty="0">
                <a:latin typeface="Gill Sans"/>
                <a:cs typeface="Gill Sans"/>
              </a:rPr>
              <a:t>Ba</a:t>
            </a:r>
            <a:r>
              <a:rPr sz="1687" b="1" dirty="0">
                <a:latin typeface="Gill Sans"/>
                <a:cs typeface="Gill Sans"/>
              </a:rPr>
              <a:t>yA</a:t>
            </a:r>
            <a:r>
              <a:rPr sz="1687" b="1" spc="-74" dirty="0">
                <a:latin typeface="Gill Sans"/>
                <a:cs typeface="Gill Sans"/>
              </a:rPr>
              <a:t>r</a:t>
            </a:r>
            <a:r>
              <a:rPr sz="1687" b="1" dirty="0">
                <a:latin typeface="Gill Sans"/>
                <a:cs typeface="Gill Sans"/>
              </a:rPr>
              <a:t>e</a:t>
            </a:r>
            <a:r>
              <a:rPr sz="1687" b="1" spc="-11" dirty="0">
                <a:latin typeface="Gill Sans"/>
                <a:cs typeface="Gill Sans"/>
              </a:rPr>
              <a:t>a</a:t>
            </a:r>
            <a:endParaRPr sz="1687">
              <a:latin typeface="Gill Sans"/>
              <a:cs typeface="Gill Sans"/>
            </a:endParaRPr>
          </a:p>
        </p:txBody>
      </p:sp>
      <p:graphicFrame>
        <p:nvGraphicFramePr>
          <p:cNvPr id="5" name="object 5"/>
          <p:cNvGraphicFramePr>
            <a:graphicFrameLocks noGrp="1"/>
          </p:cNvGraphicFramePr>
          <p:nvPr/>
        </p:nvGraphicFramePr>
        <p:xfrm>
          <a:off x="5327653" y="5237262"/>
          <a:ext cx="1231564" cy="1326058"/>
        </p:xfrm>
        <a:graphic>
          <a:graphicData uri="http://schemas.openxmlformats.org/drawingml/2006/table">
            <a:tbl>
              <a:tblPr firstRow="1" bandRow="1">
                <a:tableStyleId>{2D5ABB26-0587-4C30-8999-92F81FD0307C}</a:tableStyleId>
              </a:tblPr>
              <a:tblGrid>
                <a:gridCol w="1194363">
                  <a:extLst>
                    <a:ext uri="{9D8B030D-6E8A-4147-A177-3AD203B41FA5}">
                      <a16:colId xmlns:a16="http://schemas.microsoft.com/office/drawing/2014/main" val="20000"/>
                    </a:ext>
                  </a:extLst>
                </a:gridCol>
                <a:gridCol w="37201">
                  <a:extLst>
                    <a:ext uri="{9D8B030D-6E8A-4147-A177-3AD203B41FA5}">
                      <a16:colId xmlns:a16="http://schemas.microsoft.com/office/drawing/2014/main" val="20001"/>
                    </a:ext>
                  </a:extLst>
                </a:gridCol>
              </a:tblGrid>
              <a:tr h="332631">
                <a:tc>
                  <a:txBody>
                    <a:bodyPr/>
                    <a:lstStyle/>
                    <a:p>
                      <a:pPr marL="55244">
                        <a:lnSpc>
                          <a:spcPct val="100000"/>
                        </a:lnSpc>
                      </a:pPr>
                      <a:r>
                        <a:rPr sz="1700" b="1" dirty="0">
                          <a:latin typeface="Calibri"/>
                          <a:cs typeface="Calibri"/>
                        </a:rPr>
                        <a:t>K</a:t>
                      </a:r>
                      <a:r>
                        <a:rPr sz="1700" b="1" spc="-5" dirty="0">
                          <a:latin typeface="Calibri"/>
                          <a:cs typeface="Calibri"/>
                        </a:rPr>
                        <a:t>=</a:t>
                      </a:r>
                      <a:r>
                        <a:rPr sz="1700" b="1" spc="-35" dirty="0">
                          <a:latin typeface="Calibri"/>
                          <a:cs typeface="Calibri"/>
                        </a:rPr>
                        <a:t>K</a:t>
                      </a:r>
                      <a:r>
                        <a:rPr sz="1700" b="1" dirty="0">
                          <a:latin typeface="Calibri"/>
                          <a:cs typeface="Calibri"/>
                        </a:rPr>
                        <a:t>auai</a:t>
                      </a:r>
                      <a:endParaRPr sz="1700">
                        <a:latin typeface="Calibri"/>
                        <a:cs typeface="Calibri"/>
                      </a:endParaRPr>
                    </a:p>
                  </a:txBody>
                  <a:tcPr marL="0" marR="0" marT="0" marB="0">
                    <a:solidFill>
                      <a:srgbClr val="0061FF"/>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0"/>
                  </a:ext>
                </a:extLst>
              </a:tr>
              <a:tr h="332631">
                <a:tc>
                  <a:txBody>
                    <a:bodyPr/>
                    <a:lstStyle/>
                    <a:p>
                      <a:pPr marL="55244">
                        <a:lnSpc>
                          <a:spcPct val="100000"/>
                        </a:lnSpc>
                      </a:pPr>
                      <a:r>
                        <a:rPr sz="1700" b="1" dirty="0">
                          <a:latin typeface="Calibri"/>
                          <a:cs typeface="Calibri"/>
                        </a:rPr>
                        <a:t>O</a:t>
                      </a:r>
                      <a:r>
                        <a:rPr sz="1700" b="1" spc="-5" dirty="0">
                          <a:latin typeface="Calibri"/>
                          <a:cs typeface="Calibri"/>
                        </a:rPr>
                        <a:t>=</a:t>
                      </a:r>
                      <a:r>
                        <a:rPr sz="1700" b="1" dirty="0">
                          <a:latin typeface="Calibri"/>
                          <a:cs typeface="Calibri"/>
                        </a:rPr>
                        <a:t>Oahu</a:t>
                      </a:r>
                      <a:endParaRPr sz="1700">
                        <a:latin typeface="Calibri"/>
                        <a:cs typeface="Calibri"/>
                      </a:endParaRPr>
                    </a:p>
                  </a:txBody>
                  <a:tcPr marL="0" marR="0" marT="0" marB="0">
                    <a:solidFill>
                      <a:srgbClr val="53D5FD"/>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1"/>
                  </a:ext>
                </a:extLst>
              </a:tr>
              <a:tr h="330398">
                <a:tc>
                  <a:txBody>
                    <a:bodyPr/>
                    <a:lstStyle/>
                    <a:p>
                      <a:pPr marL="55244">
                        <a:lnSpc>
                          <a:spcPct val="100000"/>
                        </a:lnSpc>
                      </a:pPr>
                      <a:r>
                        <a:rPr sz="1700" b="1" dirty="0">
                          <a:latin typeface="Calibri"/>
                          <a:cs typeface="Calibri"/>
                        </a:rPr>
                        <a:t>M=Maui-Nui</a:t>
                      </a:r>
                      <a:endParaRPr sz="1700">
                        <a:latin typeface="Calibri"/>
                        <a:cs typeface="Calibri"/>
                      </a:endParaRPr>
                    </a:p>
                  </a:txBody>
                  <a:tcPr marL="0" marR="0" marT="0" marB="0">
                    <a:solidFill>
                      <a:srgbClr val="FFFC41"/>
                    </a:solidFill>
                  </a:tcPr>
                </a:tc>
                <a:tc>
                  <a:txBody>
                    <a:bodyPr/>
                    <a:lstStyle/>
                    <a:p>
                      <a:endParaRPr sz="1700">
                        <a:latin typeface="Calibri"/>
                        <a:cs typeface="Calibri"/>
                      </a:endParaRPr>
                    </a:p>
                  </a:txBody>
                  <a:tcPr marL="0" marR="0" marT="0" marB="0"/>
                </a:tc>
                <a:extLst>
                  <a:ext uri="{0D108BD9-81ED-4DB2-BD59-A6C34878D82A}">
                    <a16:rowId xmlns:a16="http://schemas.microsoft.com/office/drawing/2014/main" val="10002"/>
                  </a:ext>
                </a:extLst>
              </a:tr>
              <a:tr h="330398">
                <a:tc gridSpan="2">
                  <a:txBody>
                    <a:bodyPr/>
                    <a:lstStyle/>
                    <a:p>
                      <a:pPr marL="55244">
                        <a:lnSpc>
                          <a:spcPct val="100000"/>
                        </a:lnSpc>
                      </a:pPr>
                      <a:r>
                        <a:rPr sz="1700" b="1" dirty="0">
                          <a:latin typeface="Calibri"/>
                          <a:cs typeface="Calibri"/>
                        </a:rPr>
                        <a:t>H</a:t>
                      </a:r>
                      <a:r>
                        <a:rPr sz="1700" b="1" spc="-5" dirty="0">
                          <a:latin typeface="Calibri"/>
                          <a:cs typeface="Calibri"/>
                        </a:rPr>
                        <a:t>=</a:t>
                      </a:r>
                      <a:r>
                        <a:rPr sz="1700" b="1" dirty="0">
                          <a:latin typeface="Calibri"/>
                          <a:cs typeface="Calibri"/>
                        </a:rPr>
                        <a:t>H</a:t>
                      </a:r>
                      <a:r>
                        <a:rPr sz="1700" b="1" spc="-20" dirty="0">
                          <a:latin typeface="Calibri"/>
                          <a:cs typeface="Calibri"/>
                        </a:rPr>
                        <a:t>a</a:t>
                      </a:r>
                      <a:r>
                        <a:rPr sz="1700" b="1" spc="-30" dirty="0">
                          <a:latin typeface="Calibri"/>
                          <a:cs typeface="Calibri"/>
                        </a:rPr>
                        <a:t>w</a:t>
                      </a:r>
                      <a:r>
                        <a:rPr sz="1700" b="1" dirty="0">
                          <a:latin typeface="Calibri"/>
                          <a:cs typeface="Calibri"/>
                        </a:rPr>
                        <a:t>a</a:t>
                      </a:r>
                      <a:r>
                        <a:rPr sz="1700" b="1" spc="25" dirty="0">
                          <a:latin typeface="Calibri"/>
                          <a:cs typeface="Calibri"/>
                        </a:rPr>
                        <a:t>i</a:t>
                      </a:r>
                      <a:r>
                        <a:rPr sz="1700" b="1" spc="5" dirty="0">
                          <a:latin typeface="Calibri"/>
                          <a:cs typeface="Calibri"/>
                        </a:rPr>
                        <a:t>’</a:t>
                      </a:r>
                      <a:r>
                        <a:rPr sz="1700" b="1" dirty="0">
                          <a:latin typeface="Calibri"/>
                          <a:cs typeface="Calibri"/>
                        </a:rPr>
                        <a:t>i</a:t>
                      </a:r>
                      <a:endParaRPr sz="1700">
                        <a:latin typeface="Calibri"/>
                        <a:cs typeface="Calibri"/>
                      </a:endParaRPr>
                    </a:p>
                  </a:txBody>
                  <a:tcPr marL="0" marR="0" marT="0" marB="0">
                    <a:solidFill>
                      <a:srgbClr val="FF4013"/>
                    </a:solidFill>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0430" y="2640845"/>
            <a:ext cx="7087046" cy="3564053"/>
          </a:xfrm>
          <a:prstGeom prst="rect">
            <a:avLst/>
          </a:prstGeom>
        </p:spPr>
        <p:txBody>
          <a:bodyPr vert="horz" wrap="square" lIns="0" tIns="0" rIns="0" bIns="0" rtlCol="0">
            <a:spAutoFit/>
          </a:bodyPr>
          <a:lstStyle/>
          <a:p>
            <a:pPr marL="8929"/>
            <a:r>
              <a:rPr sz="3375" b="1" dirty="0">
                <a:latin typeface="Gill Sans"/>
                <a:cs typeface="Gill Sans"/>
              </a:rPr>
              <a:t>Comp</a:t>
            </a:r>
            <a:r>
              <a:rPr sz="3375" b="1" spc="46" dirty="0">
                <a:latin typeface="Gill Sans"/>
                <a:cs typeface="Gill Sans"/>
              </a:rPr>
              <a:t>a</a:t>
            </a:r>
            <a:r>
              <a:rPr sz="3375" b="1" spc="-148" dirty="0">
                <a:latin typeface="Gill Sans"/>
                <a:cs typeface="Gill Sans"/>
              </a:rPr>
              <a:t>r</a:t>
            </a:r>
            <a:r>
              <a:rPr sz="3375" b="1" spc="-4" dirty="0">
                <a:latin typeface="Gill Sans"/>
                <a:cs typeface="Gill Sans"/>
              </a:rPr>
              <a:t>iso</a:t>
            </a:r>
            <a:r>
              <a:rPr sz="3375" b="1" dirty="0">
                <a:latin typeface="Gill Sans"/>
                <a:cs typeface="Gill Sans"/>
              </a:rPr>
              <a:t>n of</a:t>
            </a:r>
            <a:r>
              <a:rPr sz="3375" b="1" spc="98" dirty="0">
                <a:latin typeface="Gill Sans"/>
                <a:cs typeface="Gill Sans"/>
              </a:rPr>
              <a:t> </a:t>
            </a:r>
            <a:r>
              <a:rPr sz="3375" b="1" spc="-4" dirty="0">
                <a:latin typeface="Gill Sans"/>
                <a:cs typeface="Gill Sans"/>
              </a:rPr>
              <a:t>t</a:t>
            </a:r>
            <a:r>
              <a:rPr sz="3375" b="1" spc="-49" dirty="0">
                <a:latin typeface="Gill Sans"/>
                <a:cs typeface="Gill Sans"/>
              </a:rPr>
              <a:t>w</a:t>
            </a:r>
            <a:r>
              <a:rPr sz="3375" b="1" dirty="0">
                <a:latin typeface="Gill Sans"/>
                <a:cs typeface="Gill Sans"/>
              </a:rPr>
              <a:t>o </a:t>
            </a:r>
            <a:r>
              <a:rPr sz="3375" b="1" spc="-4" dirty="0">
                <a:latin typeface="Gill Sans"/>
                <a:cs typeface="Gill Sans"/>
              </a:rPr>
              <a:t>models:</a:t>
            </a:r>
            <a:endParaRPr sz="3375">
              <a:latin typeface="Gill Sans"/>
              <a:cs typeface="Gill Sans"/>
            </a:endParaRPr>
          </a:p>
          <a:p>
            <a:pPr>
              <a:spcBef>
                <a:spcPts val="4"/>
              </a:spcBef>
            </a:pPr>
            <a:endParaRPr sz="3445">
              <a:latin typeface="Times New Roman"/>
              <a:cs typeface="Times New Roman"/>
            </a:endParaRPr>
          </a:p>
          <a:p>
            <a:pPr marL="607197" marR="3572" indent="-598268">
              <a:lnSpc>
                <a:spcPts val="3867"/>
              </a:lnSpc>
              <a:buFont typeface="Gill Sans"/>
              <a:buAutoNum type="arabicPeriod"/>
              <a:tabLst>
                <a:tab pos="607197" algn="l"/>
              </a:tabLst>
            </a:pPr>
            <a:r>
              <a:rPr sz="3375" b="1" spc="-4" dirty="0">
                <a:latin typeface="Gill Sans"/>
                <a:cs typeface="Gill Sans"/>
              </a:rPr>
              <a:t>mo</a:t>
            </a:r>
            <a:r>
              <a:rPr sz="3375" b="1" dirty="0">
                <a:latin typeface="Gill Sans"/>
                <a:cs typeface="Gill Sans"/>
              </a:rPr>
              <a:t>del</a:t>
            </a:r>
            <a:r>
              <a:rPr sz="3375" b="1" spc="-4" dirty="0">
                <a:latin typeface="Gill Sans"/>
                <a:cs typeface="Gill Sans"/>
              </a:rPr>
              <a:t> </a:t>
            </a:r>
            <a:r>
              <a:rPr sz="3375" b="1" dirty="0">
                <a:latin typeface="Gill Sans"/>
                <a:cs typeface="Gill Sans"/>
              </a:rPr>
              <a:t>wi</a:t>
            </a:r>
            <a:r>
              <a:rPr sz="3375" b="1" spc="-4" dirty="0">
                <a:latin typeface="Gill Sans"/>
                <a:cs typeface="Gill Sans"/>
              </a:rPr>
              <a:t>thou</a:t>
            </a:r>
            <a:r>
              <a:rPr sz="3375" b="1" dirty="0">
                <a:latin typeface="Gill Sans"/>
                <a:cs typeface="Gill Sans"/>
              </a:rPr>
              <a:t>t</a:t>
            </a:r>
            <a:r>
              <a:rPr sz="3375" b="1" spc="-4" dirty="0">
                <a:latin typeface="Gill Sans"/>
                <a:cs typeface="Gill Sans"/>
              </a:rPr>
              <a:t> foun</a:t>
            </a:r>
            <a:r>
              <a:rPr sz="3375" b="1" dirty="0">
                <a:latin typeface="Gill Sans"/>
                <a:cs typeface="Gill Sans"/>
              </a:rPr>
              <a:t>de</a:t>
            </a:r>
            <a:r>
              <a:rPr sz="3375" b="1" spc="-148" dirty="0">
                <a:latin typeface="Gill Sans"/>
                <a:cs typeface="Gill Sans"/>
              </a:rPr>
              <a:t>r</a:t>
            </a:r>
            <a:r>
              <a:rPr sz="3375" b="1" spc="-4" dirty="0">
                <a:latin typeface="Gill Sans"/>
                <a:cs typeface="Gill Sans"/>
              </a:rPr>
              <a:t>-</a:t>
            </a:r>
            <a:r>
              <a:rPr sz="3375" b="1" dirty="0">
                <a:latin typeface="Gill Sans"/>
                <a:cs typeface="Gill Sans"/>
              </a:rPr>
              <a:t>e</a:t>
            </a:r>
            <a:r>
              <a:rPr sz="3375" b="1" spc="-49" dirty="0">
                <a:latin typeface="Gill Sans"/>
                <a:cs typeface="Gill Sans"/>
              </a:rPr>
              <a:t>v</a:t>
            </a:r>
            <a:r>
              <a:rPr sz="3375" b="1" dirty="0">
                <a:latin typeface="Gill Sans"/>
                <a:cs typeface="Gill Sans"/>
              </a:rPr>
              <a:t>e</a:t>
            </a:r>
            <a:r>
              <a:rPr sz="3375" b="1" spc="-4" dirty="0">
                <a:latin typeface="Gill Sans"/>
                <a:cs typeface="Gill Sans"/>
              </a:rPr>
              <a:t>n</a:t>
            </a:r>
            <a:r>
              <a:rPr sz="3375" b="1" dirty="0">
                <a:latin typeface="Gill Sans"/>
                <a:cs typeface="Gill Sans"/>
              </a:rPr>
              <a:t>t speciation</a:t>
            </a:r>
            <a:endParaRPr sz="3375">
              <a:latin typeface="Gill Sans"/>
              <a:cs typeface="Gill Sans"/>
            </a:endParaRPr>
          </a:p>
          <a:p>
            <a:pPr>
              <a:spcBef>
                <a:spcPts val="26"/>
              </a:spcBef>
              <a:buFont typeface="Gill Sans"/>
              <a:buAutoNum type="arabicPeriod"/>
            </a:pPr>
            <a:endParaRPr sz="3340">
              <a:latin typeface="Times New Roman"/>
              <a:cs typeface="Times New Roman"/>
            </a:endParaRPr>
          </a:p>
          <a:p>
            <a:pPr marL="607197" marR="751406" indent="-598268">
              <a:lnSpc>
                <a:spcPts val="3867"/>
              </a:lnSpc>
              <a:buFont typeface="Gill Sans"/>
              <a:buAutoNum type="arabicPeriod"/>
              <a:tabLst>
                <a:tab pos="607197" algn="l"/>
              </a:tabLst>
            </a:pPr>
            <a:r>
              <a:rPr sz="3375" b="1" spc="-4" dirty="0">
                <a:latin typeface="Gill Sans"/>
                <a:cs typeface="Gill Sans"/>
              </a:rPr>
              <a:t>mo</a:t>
            </a:r>
            <a:r>
              <a:rPr sz="3375" b="1" dirty="0">
                <a:latin typeface="Gill Sans"/>
                <a:cs typeface="Gill Sans"/>
              </a:rPr>
              <a:t>del</a:t>
            </a:r>
            <a:r>
              <a:rPr sz="3375" b="1" spc="-4" dirty="0">
                <a:latin typeface="Gill Sans"/>
                <a:cs typeface="Gill Sans"/>
              </a:rPr>
              <a:t> </a:t>
            </a:r>
            <a:r>
              <a:rPr sz="3375" b="1" dirty="0">
                <a:latin typeface="Gill Sans"/>
                <a:cs typeface="Gill Sans"/>
              </a:rPr>
              <a:t>wi</a:t>
            </a:r>
            <a:r>
              <a:rPr sz="3375" b="1" spc="-4" dirty="0">
                <a:latin typeface="Gill Sans"/>
                <a:cs typeface="Gill Sans"/>
              </a:rPr>
              <a:t>t</a:t>
            </a:r>
            <a:r>
              <a:rPr sz="3375" b="1" dirty="0">
                <a:latin typeface="Gill Sans"/>
                <a:cs typeface="Gill Sans"/>
              </a:rPr>
              <a:t>h</a:t>
            </a:r>
            <a:r>
              <a:rPr sz="3375" b="1" spc="-4" dirty="0">
                <a:latin typeface="Gill Sans"/>
                <a:cs typeface="Gill Sans"/>
              </a:rPr>
              <a:t> foun</a:t>
            </a:r>
            <a:r>
              <a:rPr sz="3375" b="1" dirty="0">
                <a:latin typeface="Gill Sans"/>
                <a:cs typeface="Gill Sans"/>
              </a:rPr>
              <a:t>de</a:t>
            </a:r>
            <a:r>
              <a:rPr sz="3375" b="1" spc="-148" dirty="0">
                <a:latin typeface="Gill Sans"/>
                <a:cs typeface="Gill Sans"/>
              </a:rPr>
              <a:t>r</a:t>
            </a:r>
            <a:r>
              <a:rPr sz="3375" b="1" spc="-4" dirty="0">
                <a:latin typeface="Gill Sans"/>
                <a:cs typeface="Gill Sans"/>
              </a:rPr>
              <a:t>-</a:t>
            </a:r>
            <a:r>
              <a:rPr sz="3375" b="1" dirty="0">
                <a:latin typeface="Gill Sans"/>
                <a:cs typeface="Gill Sans"/>
              </a:rPr>
              <a:t>e</a:t>
            </a:r>
            <a:r>
              <a:rPr sz="3375" b="1" spc="-49" dirty="0">
                <a:latin typeface="Gill Sans"/>
                <a:cs typeface="Gill Sans"/>
              </a:rPr>
              <a:t>v</a:t>
            </a:r>
            <a:r>
              <a:rPr sz="3375" b="1" dirty="0">
                <a:latin typeface="Gill Sans"/>
                <a:cs typeface="Gill Sans"/>
              </a:rPr>
              <a:t>e</a:t>
            </a:r>
            <a:r>
              <a:rPr sz="3375" b="1" spc="-4" dirty="0">
                <a:latin typeface="Gill Sans"/>
                <a:cs typeface="Gill Sans"/>
              </a:rPr>
              <a:t>n</a:t>
            </a:r>
            <a:r>
              <a:rPr sz="3375" b="1" dirty="0">
                <a:latin typeface="Gill Sans"/>
                <a:cs typeface="Gill Sans"/>
              </a:rPr>
              <a:t>t speciation</a:t>
            </a:r>
            <a:endParaRPr sz="3375">
              <a:latin typeface="Gill Sans"/>
              <a:cs typeface="Gill Sans"/>
            </a:endParaRPr>
          </a:p>
        </p:txBody>
      </p:sp>
      <p:sp>
        <p:nvSpPr>
          <p:cNvPr id="3" name="object 3"/>
          <p:cNvSpPr txBox="1"/>
          <p:nvPr/>
        </p:nvSpPr>
        <p:spPr>
          <a:xfrm>
            <a:off x="1580555" y="271110"/>
            <a:ext cx="5972175" cy="1769715"/>
          </a:xfrm>
          <a:prstGeom prst="rect">
            <a:avLst/>
          </a:prstGeom>
        </p:spPr>
        <p:txBody>
          <a:bodyPr vert="horz" wrap="square" lIns="0" tIns="0" rIns="0" bIns="0" rtlCol="0">
            <a:spAutoFit/>
          </a:bodyPr>
          <a:lstStyle/>
          <a:p>
            <a:pPr marL="8929" marR="3572" indent="11162" algn="ctr">
              <a:lnSpc>
                <a:spcPts val="4570"/>
              </a:lnSpc>
            </a:pPr>
            <a:r>
              <a:rPr sz="3937" b="1" spc="-18" dirty="0">
                <a:latin typeface="Gill Sans"/>
                <a:cs typeface="Gill Sans"/>
              </a:rPr>
              <a:t>I</a:t>
            </a:r>
            <a:r>
              <a:rPr sz="3937" b="1" spc="-4" dirty="0">
                <a:latin typeface="Gill Sans"/>
                <a:cs typeface="Gill Sans"/>
              </a:rPr>
              <a:t> th</a:t>
            </a:r>
            <a:r>
              <a:rPr sz="3937" b="1" dirty="0">
                <a:latin typeface="Gill Sans"/>
                <a:cs typeface="Gill Sans"/>
              </a:rPr>
              <a:t>i</a:t>
            </a:r>
            <a:r>
              <a:rPr sz="3937" b="1" spc="-4" dirty="0">
                <a:latin typeface="Gill Sans"/>
                <a:cs typeface="Gill Sans"/>
              </a:rPr>
              <a:t>n</a:t>
            </a:r>
            <a:r>
              <a:rPr sz="3937" b="1" spc="-28" dirty="0">
                <a:latin typeface="Gill Sans"/>
                <a:cs typeface="Gill Sans"/>
              </a:rPr>
              <a:t>k</a:t>
            </a:r>
            <a:r>
              <a:rPr sz="3937" b="1" spc="-4" dirty="0">
                <a:latin typeface="Gill Sans"/>
                <a:cs typeface="Gill Sans"/>
              </a:rPr>
              <a:t> </a:t>
            </a:r>
            <a:r>
              <a:rPr sz="3937" b="1" spc="-56" dirty="0">
                <a:latin typeface="Gill Sans"/>
                <a:cs typeface="Gill Sans"/>
              </a:rPr>
              <a:t>w</a:t>
            </a:r>
            <a:r>
              <a:rPr sz="3937" b="1" dirty="0">
                <a:latin typeface="Gill Sans"/>
                <a:cs typeface="Gill Sans"/>
              </a:rPr>
              <a:t>e</a:t>
            </a:r>
            <a:r>
              <a:rPr sz="3937" b="1" spc="-4" dirty="0">
                <a:latin typeface="Gill Sans"/>
                <a:cs typeface="Gill Sans"/>
              </a:rPr>
              <a:t> </a:t>
            </a:r>
            <a:r>
              <a:rPr sz="3937" b="1" spc="-21" dirty="0">
                <a:latin typeface="Gill Sans"/>
                <a:cs typeface="Gill Sans"/>
              </a:rPr>
              <a:t>s</a:t>
            </a:r>
            <a:r>
              <a:rPr sz="3937" b="1" spc="-4" dirty="0">
                <a:latin typeface="Gill Sans"/>
                <a:cs typeface="Gill Sans"/>
              </a:rPr>
              <a:t>hou</a:t>
            </a:r>
            <a:r>
              <a:rPr sz="3937" b="1" dirty="0">
                <a:latin typeface="Gill Sans"/>
                <a:cs typeface="Gill Sans"/>
              </a:rPr>
              <a:t>ld</a:t>
            </a:r>
            <a:r>
              <a:rPr sz="3937" b="1" spc="-4" dirty="0">
                <a:latin typeface="Gill Sans"/>
                <a:cs typeface="Gill Sans"/>
              </a:rPr>
              <a:t> u</a:t>
            </a:r>
            <a:r>
              <a:rPr sz="3937" b="1" spc="-21" dirty="0">
                <a:latin typeface="Gill Sans"/>
                <a:cs typeface="Gill Sans"/>
              </a:rPr>
              <a:t>s</a:t>
            </a:r>
            <a:r>
              <a:rPr sz="3937" b="1" dirty="0">
                <a:latin typeface="Gill Sans"/>
                <a:cs typeface="Gill Sans"/>
              </a:rPr>
              <a:t>e </a:t>
            </a:r>
            <a:r>
              <a:rPr sz="3937" b="1" u="heavy" dirty="0">
                <a:latin typeface="Gill Sans"/>
                <a:cs typeface="Gill Sans"/>
              </a:rPr>
              <a:t>statistical</a:t>
            </a:r>
            <a:r>
              <a:rPr sz="3937" b="1" u="heavy" spc="-28" dirty="0">
                <a:latin typeface="Gill Sans"/>
                <a:cs typeface="Gill Sans"/>
              </a:rPr>
              <a:t> </a:t>
            </a:r>
            <a:r>
              <a:rPr sz="3937" b="1" u="heavy" spc="-4" dirty="0">
                <a:latin typeface="Gill Sans"/>
                <a:cs typeface="Gill Sans"/>
              </a:rPr>
              <a:t>model</a:t>
            </a:r>
            <a:r>
              <a:rPr sz="3937" b="1" u="heavy" spc="-11" dirty="0">
                <a:latin typeface="Gill Sans"/>
                <a:cs typeface="Gill Sans"/>
              </a:rPr>
              <a:t> </a:t>
            </a:r>
            <a:r>
              <a:rPr sz="3937" b="1" u="heavy" spc="-4" dirty="0">
                <a:latin typeface="Gill Sans"/>
                <a:cs typeface="Gill Sans"/>
              </a:rPr>
              <a:t>choice</a:t>
            </a:r>
            <a:r>
              <a:rPr sz="3937" b="1" spc="-4" dirty="0">
                <a:latin typeface="Gill Sans"/>
                <a:cs typeface="Gill Sans"/>
              </a:rPr>
              <a:t> </a:t>
            </a:r>
            <a:r>
              <a:rPr sz="3937" b="1" dirty="0">
                <a:latin typeface="Gill Sans"/>
                <a:cs typeface="Gill Sans"/>
              </a:rPr>
              <a:t>in</a:t>
            </a:r>
            <a:r>
              <a:rPr sz="3937" b="1" spc="-4" dirty="0">
                <a:latin typeface="Gill Sans"/>
                <a:cs typeface="Gill Sans"/>
              </a:rPr>
              <a:t> </a:t>
            </a:r>
            <a:r>
              <a:rPr sz="3937" b="1" dirty="0">
                <a:latin typeface="Gill Sans"/>
                <a:cs typeface="Gill Sans"/>
              </a:rPr>
              <a:t>bi</a:t>
            </a:r>
            <a:r>
              <a:rPr sz="3937" b="1" spc="-4" dirty="0">
                <a:latin typeface="Gill Sans"/>
                <a:cs typeface="Gill Sans"/>
              </a:rPr>
              <a:t>o</a:t>
            </a:r>
            <a:r>
              <a:rPr sz="3937" b="1" dirty="0">
                <a:latin typeface="Gill Sans"/>
                <a:cs typeface="Gill Sans"/>
              </a:rPr>
              <a:t>ge</a:t>
            </a:r>
            <a:r>
              <a:rPr sz="3937" b="1" spc="-4" dirty="0">
                <a:latin typeface="Gill Sans"/>
                <a:cs typeface="Gill Sans"/>
              </a:rPr>
              <a:t>o</a:t>
            </a:r>
            <a:r>
              <a:rPr sz="3937" b="1" spc="141" dirty="0">
                <a:latin typeface="Gill Sans"/>
                <a:cs typeface="Gill Sans"/>
              </a:rPr>
              <a:t>g</a:t>
            </a:r>
            <a:r>
              <a:rPr sz="3937" b="1" spc="-56" dirty="0">
                <a:latin typeface="Gill Sans"/>
                <a:cs typeface="Gill Sans"/>
              </a:rPr>
              <a:t>r</a:t>
            </a:r>
            <a:r>
              <a:rPr sz="3937" b="1" spc="28" dirty="0">
                <a:latin typeface="Gill Sans"/>
                <a:cs typeface="Gill Sans"/>
              </a:rPr>
              <a:t>a</a:t>
            </a:r>
            <a:r>
              <a:rPr sz="3937" b="1" dirty="0">
                <a:latin typeface="Gill Sans"/>
                <a:cs typeface="Gill Sans"/>
              </a:rPr>
              <a:t>p</a:t>
            </a:r>
            <a:r>
              <a:rPr sz="3937" b="1" spc="-4" dirty="0">
                <a:latin typeface="Gill Sans"/>
                <a:cs typeface="Gill Sans"/>
              </a:rPr>
              <a:t>h</a:t>
            </a:r>
            <a:r>
              <a:rPr sz="3937" b="1" dirty="0">
                <a:latin typeface="Gill Sans"/>
                <a:cs typeface="Gill Sans"/>
              </a:rPr>
              <a:t>y</a:t>
            </a:r>
            <a:endParaRPr sz="3937">
              <a:latin typeface="Gill Sans"/>
              <a:cs typeface="Gill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
            <a:ext cx="9144000" cy="920231"/>
          </a:xfrm>
          <a:prstGeom prst="rect">
            <a:avLst/>
          </a:prstGeom>
          <a:solidFill>
            <a:srgbClr val="000B91"/>
          </a:solidFill>
        </p:spPr>
        <p:style>
          <a:lnRef idx="1">
            <a:schemeClr val="accent1"/>
          </a:lnRef>
          <a:fillRef idx="3">
            <a:schemeClr val="accent1"/>
          </a:fillRef>
          <a:effectRef idx="2">
            <a:schemeClr val="accent1"/>
          </a:effectRef>
          <a:fontRef idx="minor">
            <a:schemeClr val="lt1"/>
          </a:fontRef>
        </p:style>
        <p:txBody>
          <a:bodyPr lIns="91439" tIns="45719" rIns="91439" bIns="45719" rtlCol="0" anchor="ctr"/>
          <a:lstStyle/>
          <a:p>
            <a:pPr algn="ctr"/>
            <a:r>
              <a:rPr lang="en-US" sz="3023" i="1" dirty="0" err="1">
                <a:latin typeface="Cambria"/>
                <a:cs typeface="Cambria"/>
              </a:rPr>
              <a:t>PhyBEARS</a:t>
            </a:r>
            <a:r>
              <a:rPr lang="en-US" sz="3023" dirty="0">
                <a:latin typeface="Cambria"/>
                <a:cs typeface="Cambria"/>
              </a:rPr>
              <a:t>: complexifying biogeography</a:t>
            </a:r>
            <a:endParaRPr lang="en-US" sz="3023" dirty="0"/>
          </a:p>
        </p:txBody>
      </p:sp>
      <p:sp>
        <p:nvSpPr>
          <p:cNvPr id="7" name="Title 6"/>
          <p:cNvSpPr>
            <a:spLocks noGrp="1"/>
          </p:cNvSpPr>
          <p:nvPr>
            <p:ph type="ctrTitle"/>
          </p:nvPr>
        </p:nvSpPr>
        <p:spPr>
          <a:xfrm>
            <a:off x="4212176" y="927837"/>
            <a:ext cx="4741324" cy="673775"/>
          </a:xfrm>
        </p:spPr>
        <p:txBody>
          <a:bodyPr>
            <a:noAutofit/>
          </a:bodyPr>
          <a:lstStyle/>
          <a:p>
            <a:r>
              <a:rPr lang="en-US" sz="2800" dirty="0"/>
              <a:t>Comparison of model features</a:t>
            </a: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4027835" y="1705361"/>
            <a:ext cx="5001497" cy="4274255"/>
          </a:xfrm>
          <a:prstGeom prst="rect">
            <a:avLst/>
          </a:prstGeom>
          <a:extLst>
            <a:ext uri="{FAA26D3D-D897-4be2-8F04-BA451C77F1D7}">
              <ma14:placeholderFlag xmlns:ma14="http://schemas.microsoft.com/office/mac/drawingml/2011/main" xmlns=""/>
            </a:ext>
          </a:extLst>
        </p:spPr>
      </p:pic>
      <p:sp>
        <p:nvSpPr>
          <p:cNvPr id="2" name="Rectangle 1"/>
          <p:cNvSpPr/>
          <p:nvPr/>
        </p:nvSpPr>
        <p:spPr>
          <a:xfrm rot="16200000">
            <a:off x="7925203" y="2160867"/>
            <a:ext cx="1335620" cy="590031"/>
          </a:xfrm>
          <a:prstGeom prst="rect">
            <a:avLst/>
          </a:prstGeom>
          <a:solidFill>
            <a:schemeClr val="bg1">
              <a:lumMod val="85000"/>
            </a:schemeClr>
          </a:solidFill>
        </p:spPr>
        <p:txBody>
          <a:bodyPr wrap="none" lIns="91439" tIns="45719" rIns="91439" bIns="45719">
            <a:spAutoFit/>
          </a:bodyPr>
          <a:lstStyle/>
          <a:p>
            <a:pPr algn="ctr"/>
            <a:r>
              <a:rPr lang="en-US" sz="1617" dirty="0"/>
              <a:t>This Proposal</a:t>
            </a:r>
            <a:br>
              <a:rPr lang="en-US" sz="1617" dirty="0"/>
            </a:br>
            <a:r>
              <a:rPr lang="en-US" sz="1617" dirty="0"/>
              <a:t>(</a:t>
            </a:r>
            <a:r>
              <a:rPr lang="en-US" sz="1617" i="1" dirty="0"/>
              <a:t>BioGeoJulia</a:t>
            </a:r>
            <a:r>
              <a:rPr lang="en-US" sz="1617" dirty="0"/>
              <a:t>) </a:t>
            </a:r>
          </a:p>
        </p:txBody>
      </p:sp>
      <p:sp>
        <p:nvSpPr>
          <p:cNvPr id="24" name="Title 6">
            <a:extLst>
              <a:ext uri="{FF2B5EF4-FFF2-40B4-BE49-F238E27FC236}">
                <a16:creationId xmlns:a16="http://schemas.microsoft.com/office/drawing/2014/main" id="{DD7292D3-56F9-C64C-957A-ABFD37D0B7F5}"/>
              </a:ext>
            </a:extLst>
          </p:cNvPr>
          <p:cNvSpPr txBox="1">
            <a:spLocks/>
          </p:cNvSpPr>
          <p:nvPr/>
        </p:nvSpPr>
        <p:spPr>
          <a:xfrm>
            <a:off x="69627" y="1356176"/>
            <a:ext cx="3599113" cy="1157740"/>
          </a:xfrm>
          <a:prstGeom prst="rect">
            <a:avLst/>
          </a:prstGeom>
        </p:spPr>
        <p:txBody>
          <a:bodyPr vert="horz" lIns="91439" tIns="45719" rIns="91439" bIns="45719"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391" dirty="0"/>
              <a:t>Integrate </a:t>
            </a:r>
            <a:r>
              <a:rPr lang="en-US" sz="2391" i="1" dirty="0"/>
              <a:t>BioGeoJulia </a:t>
            </a:r>
            <a:r>
              <a:rPr lang="en-US" sz="2391" dirty="0"/>
              <a:t>with </a:t>
            </a:r>
            <a:r>
              <a:rPr lang="en-US" sz="2391" i="1" dirty="0"/>
              <a:t>GPlates</a:t>
            </a:r>
            <a:r>
              <a:rPr lang="en-US" sz="2391" dirty="0"/>
              <a:t> for continuous palaeogeography</a:t>
            </a:r>
          </a:p>
        </p:txBody>
      </p:sp>
      <p:grpSp>
        <p:nvGrpSpPr>
          <p:cNvPr id="25" name="Group 24">
            <a:extLst>
              <a:ext uri="{FF2B5EF4-FFF2-40B4-BE49-F238E27FC236}">
                <a16:creationId xmlns:a16="http://schemas.microsoft.com/office/drawing/2014/main" id="{2DF67363-8ABC-7640-811D-FC6007983A11}"/>
              </a:ext>
            </a:extLst>
          </p:cNvPr>
          <p:cNvGrpSpPr/>
          <p:nvPr/>
        </p:nvGrpSpPr>
        <p:grpSpPr>
          <a:xfrm>
            <a:off x="-110343" y="2624418"/>
            <a:ext cx="4092349" cy="2403935"/>
            <a:chOff x="4907718" y="2691713"/>
            <a:chExt cx="4092349" cy="2403935"/>
          </a:xfrm>
        </p:grpSpPr>
        <p:pic>
          <p:nvPicPr>
            <p:cNvPr id="34" name="Picture 33" descr="Muller_Zahirovic_2018_Zealandia_thickness.gif">
              <a:extLst>
                <a:ext uri="{FF2B5EF4-FFF2-40B4-BE49-F238E27FC236}">
                  <a16:creationId xmlns:a16="http://schemas.microsoft.com/office/drawing/2014/main" id="{0483E8C4-9990-CE41-B9AF-E7B5C9865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239" y="2992853"/>
              <a:ext cx="3986828" cy="1843908"/>
            </a:xfrm>
            <a:prstGeom prst="rect">
              <a:avLst/>
            </a:prstGeom>
          </p:spPr>
        </p:pic>
        <p:sp>
          <p:nvSpPr>
            <p:cNvPr id="35" name="Rectangle 34">
              <a:extLst>
                <a:ext uri="{FF2B5EF4-FFF2-40B4-BE49-F238E27FC236}">
                  <a16:creationId xmlns:a16="http://schemas.microsoft.com/office/drawing/2014/main" id="{6636BFAD-A937-4147-AB5C-77D3A2952908}"/>
                </a:ext>
              </a:extLst>
            </p:cNvPr>
            <p:cNvSpPr/>
            <p:nvPr/>
          </p:nvSpPr>
          <p:spPr>
            <a:xfrm>
              <a:off x="4907718" y="4786974"/>
              <a:ext cx="4092349" cy="308674"/>
            </a:xfrm>
            <a:prstGeom prst="rect">
              <a:avLst/>
            </a:prstGeom>
          </p:spPr>
          <p:txBody>
            <a:bodyPr wrap="square">
              <a:spAutoFit/>
            </a:bodyPr>
            <a:lstStyle/>
            <a:p>
              <a:pPr algn="ctr"/>
              <a:r>
                <a:rPr lang="en-US" sz="703" dirty="0">
                  <a:solidFill>
                    <a:schemeClr val="bg1">
                      <a:lumMod val="65000"/>
                    </a:schemeClr>
                  </a:solidFill>
                </a:rPr>
                <a:t>Müller, Sahirovic et al. (2018), U. Sydney "Modelling and visualising distributed crustal deformation of Australia and Zealandia using </a:t>
              </a:r>
              <a:r>
                <a:rPr lang="en-US" sz="703" i="1" dirty="0">
                  <a:solidFill>
                    <a:schemeClr val="bg1">
                      <a:lumMod val="65000"/>
                    </a:schemeClr>
                  </a:solidFill>
                </a:rPr>
                <a:t>GPlates 2.0</a:t>
              </a:r>
              <a:r>
                <a:rPr lang="en-US" sz="703" dirty="0">
                  <a:solidFill>
                    <a:schemeClr val="bg1">
                      <a:lumMod val="65000"/>
                    </a:schemeClr>
                  </a:solidFill>
                </a:rPr>
                <a:t>." https://www.youtube.com/watch?v=iKkCIdZ6oaE  </a:t>
              </a:r>
            </a:p>
          </p:txBody>
        </p:sp>
        <p:sp>
          <p:nvSpPr>
            <p:cNvPr id="36" name="Rectangle 35">
              <a:extLst>
                <a:ext uri="{FF2B5EF4-FFF2-40B4-BE49-F238E27FC236}">
                  <a16:creationId xmlns:a16="http://schemas.microsoft.com/office/drawing/2014/main" id="{44D73703-33B7-1F40-AB14-3535010217F0}"/>
                </a:ext>
              </a:extLst>
            </p:cNvPr>
            <p:cNvSpPr/>
            <p:nvPr/>
          </p:nvSpPr>
          <p:spPr>
            <a:xfrm>
              <a:off x="5202392" y="2691713"/>
              <a:ext cx="3569247" cy="308674"/>
            </a:xfrm>
            <a:prstGeom prst="rect">
              <a:avLst/>
            </a:prstGeom>
          </p:spPr>
          <p:txBody>
            <a:bodyPr wrap="none">
              <a:spAutoFit/>
            </a:bodyPr>
            <a:lstStyle/>
            <a:p>
              <a:r>
                <a:rPr lang="en-US" sz="1406" i="1" dirty="0"/>
                <a:t>GPlates</a:t>
              </a:r>
              <a:r>
                <a:rPr lang="en-US" sz="1406" dirty="0"/>
                <a:t> animation: Zealandia crustal thickness</a:t>
              </a:r>
            </a:p>
          </p:txBody>
        </p:sp>
      </p:grpSp>
      <p:grpSp>
        <p:nvGrpSpPr>
          <p:cNvPr id="37" name="Group 36">
            <a:extLst>
              <a:ext uri="{FF2B5EF4-FFF2-40B4-BE49-F238E27FC236}">
                <a16:creationId xmlns:a16="http://schemas.microsoft.com/office/drawing/2014/main" id="{F0AA8CCE-D385-284C-8035-33360B37F24F}"/>
              </a:ext>
            </a:extLst>
          </p:cNvPr>
          <p:cNvGrpSpPr/>
          <p:nvPr/>
        </p:nvGrpSpPr>
        <p:grpSpPr>
          <a:xfrm>
            <a:off x="184332" y="5027457"/>
            <a:ext cx="3975475" cy="1758375"/>
            <a:chOff x="5202392" y="5094751"/>
            <a:chExt cx="3975475" cy="1758375"/>
          </a:xfrm>
        </p:grpSpPr>
        <p:sp>
          <p:nvSpPr>
            <p:cNvPr id="38" name="Rounded Rectangle 37">
              <a:extLst>
                <a:ext uri="{FF2B5EF4-FFF2-40B4-BE49-F238E27FC236}">
                  <a16:creationId xmlns:a16="http://schemas.microsoft.com/office/drawing/2014/main" id="{6A70D5CB-98CC-DE4D-AD81-DE08FC25A058}"/>
                </a:ext>
              </a:extLst>
            </p:cNvPr>
            <p:cNvSpPr/>
            <p:nvPr/>
          </p:nvSpPr>
          <p:spPr>
            <a:xfrm>
              <a:off x="5202392" y="5532332"/>
              <a:ext cx="2146656" cy="1249044"/>
            </a:xfrm>
            <a:prstGeom prst="roundRect">
              <a:avLst/>
            </a:prstGeom>
            <a:solidFill>
              <a:schemeClr val="bg1">
                <a:lumMod val="85000"/>
              </a:schemeClr>
            </a:solidFill>
            <a:ln w="3810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25313" tIns="12656" rIns="25313" bIns="12656" rtlCol="0" anchor="ctr"/>
            <a:lstStyle/>
            <a:p>
              <a:pPr algn="ctr"/>
              <a:r>
                <a:rPr lang="en-US" sz="1266" i="1" dirty="0">
                  <a:solidFill>
                    <a:schemeClr val="tx1"/>
                  </a:solidFill>
                </a:rPr>
                <a:t>BioGeoJulia</a:t>
              </a:r>
              <a:r>
                <a:rPr lang="en-US" sz="1266" dirty="0">
                  <a:solidFill>
                    <a:schemeClr val="tx1"/>
                  </a:solidFill>
                </a:rPr>
                <a:t>: extract &amp;  use continuous estimates of areas, distances</a:t>
              </a:r>
              <a:endParaRPr lang="en-US" sz="773" dirty="0">
                <a:solidFill>
                  <a:schemeClr val="tx1"/>
                </a:solidFill>
              </a:endParaRPr>
            </a:p>
          </p:txBody>
        </p:sp>
        <p:sp>
          <p:nvSpPr>
            <p:cNvPr id="39" name="Right Arrow 38">
              <a:extLst>
                <a:ext uri="{FF2B5EF4-FFF2-40B4-BE49-F238E27FC236}">
                  <a16:creationId xmlns:a16="http://schemas.microsoft.com/office/drawing/2014/main" id="{5F2A387A-EA9B-E848-B466-F3B7846BC6D5}"/>
                </a:ext>
              </a:extLst>
            </p:cNvPr>
            <p:cNvSpPr/>
            <p:nvPr/>
          </p:nvSpPr>
          <p:spPr>
            <a:xfrm rot="5400000">
              <a:off x="6048114" y="5153339"/>
              <a:ext cx="390585" cy="273410"/>
            </a:xfrm>
            <a:prstGeom prst="rightArrow">
              <a:avLst/>
            </a:prstGeom>
            <a:solidFill>
              <a:schemeClr val="bg1">
                <a:lumMod val="85000"/>
              </a:schemeClr>
            </a:solidFill>
            <a:ln w="2540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66"/>
            </a:p>
          </p:txBody>
        </p:sp>
        <p:pic>
          <p:nvPicPr>
            <p:cNvPr id="40" name="Picture 39">
              <a:extLst>
                <a:ext uri="{FF2B5EF4-FFF2-40B4-BE49-F238E27FC236}">
                  <a16:creationId xmlns:a16="http://schemas.microsoft.com/office/drawing/2014/main" id="{3BC82B85-E20F-1A46-870D-B4060C51BD93}"/>
                </a:ext>
              </a:extLst>
            </p:cNvPr>
            <p:cNvPicPr>
              <a:picLocks noChangeAspect="1"/>
            </p:cNvPicPr>
            <p:nvPr/>
          </p:nvPicPr>
          <p:blipFill rotWithShape="1">
            <a:blip r:embed="rId4"/>
            <a:srcRect l="-3" t="27400" r="32145" b="7034"/>
            <a:stretch/>
          </p:blipFill>
          <p:spPr>
            <a:xfrm>
              <a:off x="7704669" y="5309121"/>
              <a:ext cx="1256309" cy="1213866"/>
            </a:xfrm>
            <a:prstGeom prst="rect">
              <a:avLst/>
            </a:prstGeom>
          </p:spPr>
        </p:pic>
        <p:sp>
          <p:nvSpPr>
            <p:cNvPr id="41" name="Rectangle 40">
              <a:extLst>
                <a:ext uri="{FF2B5EF4-FFF2-40B4-BE49-F238E27FC236}">
                  <a16:creationId xmlns:a16="http://schemas.microsoft.com/office/drawing/2014/main" id="{060BB1DC-264E-4A47-BD5E-CAC00F29BA55}"/>
                </a:ext>
              </a:extLst>
            </p:cNvPr>
            <p:cNvSpPr/>
            <p:nvPr/>
          </p:nvSpPr>
          <p:spPr>
            <a:xfrm>
              <a:off x="7506691" y="6457890"/>
              <a:ext cx="1671176" cy="395236"/>
            </a:xfrm>
            <a:prstGeom prst="rect">
              <a:avLst/>
            </a:prstGeom>
          </p:spPr>
          <p:txBody>
            <a:bodyPr wrap="square">
              <a:spAutoFit/>
            </a:bodyPr>
            <a:lstStyle/>
            <a:p>
              <a:pPr algn="ctr"/>
              <a:r>
                <a:rPr lang="en-US" sz="984" dirty="0"/>
                <a:t>Sabin Zahirovic, </a:t>
              </a:r>
              <a:r>
                <a:rPr lang="en-US" sz="984" i="1" dirty="0"/>
                <a:t>GPlates </a:t>
              </a:r>
              <a:r>
                <a:rPr lang="en-US" sz="984" dirty="0"/>
                <a:t>coauthor, U. Sydney</a:t>
              </a:r>
            </a:p>
          </p:txBody>
        </p:sp>
      </p:grpSp>
    </p:spTree>
    <p:extLst>
      <p:ext uri="{BB962C8B-B14F-4D97-AF65-F5344CB8AC3E}">
        <p14:creationId xmlns:p14="http://schemas.microsoft.com/office/powerpoint/2010/main" val="959938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The puzzle of NZ biogeography</a:t>
            </a:r>
          </a:p>
        </p:txBody>
      </p:sp>
      <p:sp>
        <p:nvSpPr>
          <p:cNvPr id="29" name="Title 6">
            <a:extLst>
              <a:ext uri="{FF2B5EF4-FFF2-40B4-BE49-F238E27FC236}">
                <a16:creationId xmlns:a16="http://schemas.microsoft.com/office/drawing/2014/main" id="{EB2679C8-DD82-2A48-B030-87536BD094FE}"/>
              </a:ext>
            </a:extLst>
          </p:cNvPr>
          <p:cNvSpPr txBox="1">
            <a:spLocks/>
          </p:cNvSpPr>
          <p:nvPr/>
        </p:nvSpPr>
        <p:spPr>
          <a:xfrm>
            <a:off x="246377" y="970334"/>
            <a:ext cx="8521842" cy="5787457"/>
          </a:xfrm>
          <a:prstGeom prst="rect">
            <a:avLst/>
          </a:prstGeom>
        </p:spPr>
        <p:txBody>
          <a:bodyPr vert="horz" lIns="91440" tIns="45720" rIns="91440" bIns="45720" rtlCol="0"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200" indent="-457200" algn="l">
              <a:buFont typeface="Arial"/>
              <a:buChar char="•"/>
            </a:pPr>
            <a:endParaRPr lang="en-US" sz="2400" b="1" dirty="0"/>
          </a:p>
          <a:p>
            <a:pPr marL="457200" indent="-457200" algn="l">
              <a:buFont typeface="Arial"/>
              <a:buChar char="•"/>
            </a:pPr>
            <a:r>
              <a:rPr lang="en-US" sz="2400" b="1" dirty="0"/>
              <a:t>Debated origins of NZ’s flora and fauna – and their fate, under anthropogenic disturbance</a:t>
            </a:r>
            <a:br>
              <a:rPr lang="en-US" sz="2400" b="1" dirty="0"/>
            </a:br>
            <a:endParaRPr lang="en-US" sz="2400" b="1" dirty="0"/>
          </a:p>
        </p:txBody>
      </p:sp>
      <p:pic>
        <p:nvPicPr>
          <p:cNvPr id="19" name="Picture 18">
            <a:extLst>
              <a:ext uri="{FF2B5EF4-FFF2-40B4-BE49-F238E27FC236}">
                <a16:creationId xmlns:a16="http://schemas.microsoft.com/office/drawing/2014/main" id="{3EF8840E-F3A2-0E46-BED4-0426ABF1213E}"/>
              </a:ext>
            </a:extLst>
          </p:cNvPr>
          <p:cNvPicPr>
            <a:picLocks noChangeAspect="1"/>
          </p:cNvPicPr>
          <p:nvPr/>
        </p:nvPicPr>
        <p:blipFill rotWithShape="1">
          <a:blip r:embed="rId2"/>
          <a:srcRect r="43307"/>
          <a:stretch/>
        </p:blipFill>
        <p:spPr>
          <a:xfrm>
            <a:off x="434430" y="2270640"/>
            <a:ext cx="2752179" cy="2233087"/>
          </a:xfrm>
          <a:prstGeom prst="rect">
            <a:avLst/>
          </a:prstGeom>
          <a:ln>
            <a:solidFill>
              <a:schemeClr val="tx1"/>
            </a:solidFill>
          </a:ln>
        </p:spPr>
      </p:pic>
      <p:pic>
        <p:nvPicPr>
          <p:cNvPr id="21" name="Picture 20">
            <a:extLst>
              <a:ext uri="{FF2B5EF4-FFF2-40B4-BE49-F238E27FC236}">
                <a16:creationId xmlns:a16="http://schemas.microsoft.com/office/drawing/2014/main" id="{3DA6CDF3-DA57-8845-962F-9F6B92E10796}"/>
              </a:ext>
            </a:extLst>
          </p:cNvPr>
          <p:cNvPicPr>
            <a:picLocks noChangeAspect="1"/>
          </p:cNvPicPr>
          <p:nvPr/>
        </p:nvPicPr>
        <p:blipFill>
          <a:blip r:embed="rId3"/>
          <a:stretch>
            <a:fillRect/>
          </a:stretch>
        </p:blipFill>
        <p:spPr>
          <a:xfrm>
            <a:off x="3266810" y="2129454"/>
            <a:ext cx="900240" cy="1217370"/>
          </a:xfrm>
          <a:prstGeom prst="rect">
            <a:avLst/>
          </a:prstGeom>
          <a:ln>
            <a:solidFill>
              <a:schemeClr val="tx1"/>
            </a:solidFill>
          </a:ln>
        </p:spPr>
      </p:pic>
      <p:pic>
        <p:nvPicPr>
          <p:cNvPr id="22" name="Picture 21">
            <a:extLst>
              <a:ext uri="{FF2B5EF4-FFF2-40B4-BE49-F238E27FC236}">
                <a16:creationId xmlns:a16="http://schemas.microsoft.com/office/drawing/2014/main" id="{12077E54-358F-BD4D-A0CD-69D3EF0EAB1E}"/>
              </a:ext>
            </a:extLst>
          </p:cNvPr>
          <p:cNvPicPr>
            <a:picLocks noChangeAspect="1"/>
          </p:cNvPicPr>
          <p:nvPr/>
        </p:nvPicPr>
        <p:blipFill>
          <a:blip r:embed="rId4"/>
          <a:stretch>
            <a:fillRect/>
          </a:stretch>
        </p:blipFill>
        <p:spPr>
          <a:xfrm>
            <a:off x="3697643" y="3434303"/>
            <a:ext cx="938814" cy="1216800"/>
          </a:xfrm>
          <a:prstGeom prst="rect">
            <a:avLst/>
          </a:prstGeom>
          <a:ln>
            <a:solidFill>
              <a:schemeClr val="tx1"/>
            </a:solidFill>
          </a:ln>
        </p:spPr>
      </p:pic>
      <p:pic>
        <p:nvPicPr>
          <p:cNvPr id="23" name="Picture 22">
            <a:extLst>
              <a:ext uri="{FF2B5EF4-FFF2-40B4-BE49-F238E27FC236}">
                <a16:creationId xmlns:a16="http://schemas.microsoft.com/office/drawing/2014/main" id="{E834B2CE-F5E1-A94C-9296-443C8A84A8F3}"/>
              </a:ext>
            </a:extLst>
          </p:cNvPr>
          <p:cNvPicPr>
            <a:picLocks noChangeAspect="1"/>
          </p:cNvPicPr>
          <p:nvPr/>
        </p:nvPicPr>
        <p:blipFill rotWithShape="1">
          <a:blip r:embed="rId5"/>
          <a:srcRect t="1" b="46062"/>
          <a:stretch/>
        </p:blipFill>
        <p:spPr>
          <a:xfrm>
            <a:off x="5297340" y="2608837"/>
            <a:ext cx="3335386" cy="737987"/>
          </a:xfrm>
          <a:prstGeom prst="rect">
            <a:avLst/>
          </a:prstGeom>
          <a:ln>
            <a:solidFill>
              <a:schemeClr val="tx1"/>
            </a:solidFill>
          </a:ln>
        </p:spPr>
      </p:pic>
      <p:pic>
        <p:nvPicPr>
          <p:cNvPr id="24" name="Picture 23">
            <a:extLst>
              <a:ext uri="{FF2B5EF4-FFF2-40B4-BE49-F238E27FC236}">
                <a16:creationId xmlns:a16="http://schemas.microsoft.com/office/drawing/2014/main" id="{7AF743A6-DA42-4849-AA19-92C0C0CA3378}"/>
              </a:ext>
            </a:extLst>
          </p:cNvPr>
          <p:cNvPicPr>
            <a:picLocks noChangeAspect="1"/>
          </p:cNvPicPr>
          <p:nvPr/>
        </p:nvPicPr>
        <p:blipFill rotWithShape="1">
          <a:blip r:embed="rId6"/>
          <a:srcRect b="41887"/>
          <a:stretch/>
        </p:blipFill>
        <p:spPr>
          <a:xfrm>
            <a:off x="5161847" y="3902648"/>
            <a:ext cx="3568724" cy="601079"/>
          </a:xfrm>
          <a:prstGeom prst="rect">
            <a:avLst/>
          </a:prstGeom>
          <a:ln>
            <a:solidFill>
              <a:schemeClr val="tx1"/>
            </a:solidFill>
          </a:ln>
        </p:spPr>
      </p:pic>
      <p:pic>
        <p:nvPicPr>
          <p:cNvPr id="25" name="Picture 24">
            <a:extLst>
              <a:ext uri="{FF2B5EF4-FFF2-40B4-BE49-F238E27FC236}">
                <a16:creationId xmlns:a16="http://schemas.microsoft.com/office/drawing/2014/main" id="{A2153D07-6311-8945-8929-947B94A8BA3C}"/>
              </a:ext>
            </a:extLst>
          </p:cNvPr>
          <p:cNvPicPr>
            <a:picLocks noChangeAspect="1"/>
          </p:cNvPicPr>
          <p:nvPr/>
        </p:nvPicPr>
        <p:blipFill>
          <a:blip r:embed="rId7"/>
          <a:stretch>
            <a:fillRect/>
          </a:stretch>
        </p:blipFill>
        <p:spPr>
          <a:xfrm>
            <a:off x="5161847" y="5650846"/>
            <a:ext cx="3606372" cy="746951"/>
          </a:xfrm>
          <a:prstGeom prst="rect">
            <a:avLst/>
          </a:prstGeom>
          <a:ln>
            <a:solidFill>
              <a:schemeClr val="tx1"/>
            </a:solidFill>
          </a:ln>
        </p:spPr>
      </p:pic>
      <p:sp>
        <p:nvSpPr>
          <p:cNvPr id="3" name="Rectangle 2"/>
          <p:cNvSpPr/>
          <p:nvPr/>
        </p:nvSpPr>
        <p:spPr>
          <a:xfrm>
            <a:off x="168253" y="4651103"/>
            <a:ext cx="4892159" cy="2031325"/>
          </a:xfrm>
          <a:prstGeom prst="rect">
            <a:avLst/>
          </a:prstGeom>
        </p:spPr>
        <p:txBody>
          <a:bodyPr wrap="none">
            <a:spAutoFit/>
          </a:bodyPr>
          <a:lstStyle/>
          <a:p>
            <a:r>
              <a:rPr lang="en-US" b="1" dirty="0"/>
              <a:t>How much of NZ biota is Gondwanan remnant?</a:t>
            </a:r>
            <a:br>
              <a:rPr lang="en-US" b="1" dirty="0"/>
            </a:br>
            <a:br>
              <a:rPr lang="en-US" b="1" dirty="0"/>
            </a:br>
            <a:r>
              <a:rPr lang="en-US" b="1" dirty="0"/>
              <a:t>How much more recent dispersal?</a:t>
            </a:r>
          </a:p>
          <a:p>
            <a:endParaRPr lang="en-US" b="1" dirty="0"/>
          </a:p>
          <a:p>
            <a:r>
              <a:rPr lang="en-US" b="1" dirty="0"/>
              <a:t>The “drowning”, if it happened, would have </a:t>
            </a:r>
          </a:p>
          <a:p>
            <a:r>
              <a:rPr lang="en-US" b="1" dirty="0"/>
              <a:t>wiped out all NZ biota, thus everything dispersed</a:t>
            </a:r>
            <a:br>
              <a:rPr lang="en-US" b="1" dirty="0"/>
            </a:br>
            <a:r>
              <a:rPr lang="en-US" b="1" dirty="0"/>
              <a:t>back</a:t>
            </a:r>
            <a:endParaRPr lang="en-US" dirty="0"/>
          </a:p>
        </p:txBody>
      </p:sp>
    </p:spTree>
    <p:extLst>
      <p:ext uri="{BB962C8B-B14F-4D97-AF65-F5344CB8AC3E}">
        <p14:creationId xmlns:p14="http://schemas.microsoft.com/office/powerpoint/2010/main" val="280444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1B385-0B5E-416B-6973-617C0F6C01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93C71A6-132C-037D-76F6-7E0A3268DF0A}"/>
              </a:ext>
            </a:extLst>
          </p:cNvPr>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a:extLst>
              <a:ext uri="{FF2B5EF4-FFF2-40B4-BE49-F238E27FC236}">
                <a16:creationId xmlns:a16="http://schemas.microsoft.com/office/drawing/2014/main" id="{42A165A7-6B74-1110-089B-0626063C8AE3}"/>
              </a:ext>
            </a:extLst>
          </p:cNvPr>
          <p:cNvPicPr>
            <a:picLocks noChangeAspect="1"/>
          </p:cNvPicPr>
          <p:nvPr/>
        </p:nvPicPr>
        <p:blipFill>
          <a:blip r:embed="rId2"/>
          <a:stretch>
            <a:fillRect/>
          </a:stretch>
        </p:blipFill>
        <p:spPr>
          <a:xfrm>
            <a:off x="77178" y="1217898"/>
            <a:ext cx="5318184" cy="5190718"/>
          </a:xfrm>
          <a:prstGeom prst="rect">
            <a:avLst/>
          </a:prstGeom>
        </p:spPr>
      </p:pic>
      <p:sp>
        <p:nvSpPr>
          <p:cNvPr id="4" name="Rectangle 3">
            <a:extLst>
              <a:ext uri="{FF2B5EF4-FFF2-40B4-BE49-F238E27FC236}">
                <a16:creationId xmlns:a16="http://schemas.microsoft.com/office/drawing/2014/main" id="{5BF75253-1693-96D9-2B60-E13F444AD196}"/>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3136076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56662" y="1074616"/>
            <a:ext cx="6136301" cy="5653128"/>
          </a:xfrm>
          <a:prstGeom prst="rect">
            <a:avLst/>
          </a:prstGeom>
        </p:spPr>
      </p:pic>
      <p:sp>
        <p:nvSpPr>
          <p:cNvPr id="4" name="Rectangle 3">
            <a:extLst>
              <a:ext uri="{FF2B5EF4-FFF2-40B4-BE49-F238E27FC236}">
                <a16:creationId xmlns:a16="http://schemas.microsoft.com/office/drawing/2014/main" id="{0CF3D73D-914D-C34D-791A-AA0269A53DDD}"/>
              </a:ext>
            </a:extLst>
          </p:cNvPr>
          <p:cNvSpPr/>
          <p:nvPr/>
        </p:nvSpPr>
        <p:spPr>
          <a:xfrm>
            <a:off x="531855" y="6604633"/>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39881148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148818" y="989948"/>
            <a:ext cx="5596449" cy="5470769"/>
          </a:xfrm>
          <a:prstGeom prst="rect">
            <a:avLst/>
          </a:prstGeom>
        </p:spPr>
      </p:pic>
      <p:sp>
        <p:nvSpPr>
          <p:cNvPr id="4" name="Rectangle 3">
            <a:extLst>
              <a:ext uri="{FF2B5EF4-FFF2-40B4-BE49-F238E27FC236}">
                <a16:creationId xmlns:a16="http://schemas.microsoft.com/office/drawing/2014/main" id="{176A1E9C-354B-1C0B-79DE-01E6BC6574D1}"/>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33878400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143608" y="983435"/>
            <a:ext cx="5736169" cy="5522872"/>
          </a:xfrm>
          <a:prstGeom prst="rect">
            <a:avLst/>
          </a:prstGeom>
        </p:spPr>
      </p:pic>
      <p:sp>
        <p:nvSpPr>
          <p:cNvPr id="4" name="Rectangle 3">
            <a:extLst>
              <a:ext uri="{FF2B5EF4-FFF2-40B4-BE49-F238E27FC236}">
                <a16:creationId xmlns:a16="http://schemas.microsoft.com/office/drawing/2014/main" id="{48939A06-6DF8-05B7-E7EE-BE3EFFEAF8CC}"/>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2000221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84668" y="976924"/>
            <a:ext cx="5798530" cy="5607538"/>
          </a:xfrm>
          <a:prstGeom prst="rect">
            <a:avLst/>
          </a:prstGeom>
        </p:spPr>
      </p:pic>
      <p:sp>
        <p:nvSpPr>
          <p:cNvPr id="4" name="Rectangle 3">
            <a:extLst>
              <a:ext uri="{FF2B5EF4-FFF2-40B4-BE49-F238E27FC236}">
                <a16:creationId xmlns:a16="http://schemas.microsoft.com/office/drawing/2014/main" id="{6FC2DB11-86CB-DA89-236D-A41AB7ECA49A}"/>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22845535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0" y="920231"/>
            <a:ext cx="6273692" cy="5711744"/>
          </a:xfrm>
          <a:prstGeom prst="rect">
            <a:avLst/>
          </a:prstGeom>
        </p:spPr>
      </p:pic>
      <p:sp>
        <p:nvSpPr>
          <p:cNvPr id="4" name="Rectangle 3">
            <a:extLst>
              <a:ext uri="{FF2B5EF4-FFF2-40B4-BE49-F238E27FC236}">
                <a16:creationId xmlns:a16="http://schemas.microsoft.com/office/drawing/2014/main" id="{EBF35428-CC0F-0271-6E4F-75B3895ECAF7}"/>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2571387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GNS maps</a:t>
            </a:r>
          </a:p>
        </p:txBody>
      </p:sp>
      <p:pic>
        <p:nvPicPr>
          <p:cNvPr id="3" name="Picture 2"/>
          <p:cNvPicPr>
            <a:picLocks noChangeAspect="1"/>
          </p:cNvPicPr>
          <p:nvPr/>
        </p:nvPicPr>
        <p:blipFill>
          <a:blip r:embed="rId2"/>
          <a:stretch>
            <a:fillRect/>
          </a:stretch>
        </p:blipFill>
        <p:spPr>
          <a:xfrm>
            <a:off x="0" y="983435"/>
            <a:ext cx="5396303" cy="4572001"/>
          </a:xfrm>
          <a:prstGeom prst="rect">
            <a:avLst/>
          </a:prstGeom>
        </p:spPr>
      </p:pic>
      <p:sp>
        <p:nvSpPr>
          <p:cNvPr id="4" name="Rectangle 3">
            <a:extLst>
              <a:ext uri="{FF2B5EF4-FFF2-40B4-BE49-F238E27FC236}">
                <a16:creationId xmlns:a16="http://schemas.microsoft.com/office/drawing/2014/main" id="{11AA7252-144F-A389-D7A8-7D906651D90F}"/>
              </a:ext>
            </a:extLst>
          </p:cNvPr>
          <p:cNvSpPr/>
          <p:nvPr/>
        </p:nvSpPr>
        <p:spPr>
          <a:xfrm>
            <a:off x="457200" y="6508864"/>
            <a:ext cx="8555483" cy="246221"/>
          </a:xfrm>
          <a:prstGeom prst="rect">
            <a:avLst/>
          </a:prstGeom>
        </p:spPr>
        <p:txBody>
          <a:bodyPr wrap="square">
            <a:spAutoFit/>
          </a:bodyPr>
          <a:lstStyle/>
          <a:p>
            <a:r>
              <a:rPr lang="en-US" sz="1000" dirty="0">
                <a:hlinkClick r:id="rId3"/>
              </a:rPr>
              <a:t>https://www.gns.cri.nz/Home/Our-Science/Energy-Futures/Oil-and-Gas/NZs-Sedimentary-Basins/Paleogeographic-maps/Present</a:t>
            </a:r>
            <a:r>
              <a:rPr lang="en-US" sz="1000" dirty="0"/>
              <a:t> </a:t>
            </a:r>
          </a:p>
        </p:txBody>
      </p:sp>
    </p:spTree>
    <p:extLst>
      <p:ext uri="{BB962C8B-B14F-4D97-AF65-F5344CB8AC3E}">
        <p14:creationId xmlns:p14="http://schemas.microsoft.com/office/powerpoint/2010/main" val="3800252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7" name="Picture 6" descr="A map of the ocean&#10;&#10;AI-generated content may be incorrect.">
            <a:extLst>
              <a:ext uri="{FF2B5EF4-FFF2-40B4-BE49-F238E27FC236}">
                <a16:creationId xmlns:a16="http://schemas.microsoft.com/office/drawing/2014/main" id="{8D534887-9290-CF6B-27AF-4C90C22895AC}"/>
              </a:ext>
            </a:extLst>
          </p:cNvPr>
          <p:cNvPicPr>
            <a:picLocks noChangeAspect="1"/>
          </p:cNvPicPr>
          <p:nvPr/>
        </p:nvPicPr>
        <p:blipFill>
          <a:blip r:embed="rId2"/>
          <a:stretch>
            <a:fillRect/>
          </a:stretch>
        </p:blipFill>
        <p:spPr>
          <a:xfrm>
            <a:off x="3846588" y="920231"/>
            <a:ext cx="5297412" cy="5709684"/>
          </a:xfrm>
          <a:prstGeom prst="rect">
            <a:avLst/>
          </a:prstGeom>
        </p:spPr>
      </p:pic>
      <p:pic>
        <p:nvPicPr>
          <p:cNvPr id="4" name="Picture 3">
            <a:extLst>
              <a:ext uri="{FF2B5EF4-FFF2-40B4-BE49-F238E27FC236}">
                <a16:creationId xmlns:a16="http://schemas.microsoft.com/office/drawing/2014/main" id="{23B23675-25E9-A4BE-9BA7-0663CE5E490C}"/>
              </a:ext>
            </a:extLst>
          </p:cNvPr>
          <p:cNvPicPr>
            <a:picLocks noChangeAspect="1"/>
          </p:cNvPicPr>
          <p:nvPr/>
        </p:nvPicPr>
        <p:blipFill>
          <a:blip r:embed="rId3"/>
          <a:stretch>
            <a:fillRect/>
          </a:stretch>
        </p:blipFill>
        <p:spPr>
          <a:xfrm>
            <a:off x="79743" y="1467808"/>
            <a:ext cx="3907467" cy="1142962"/>
          </a:xfrm>
          <a:prstGeom prst="rect">
            <a:avLst/>
          </a:prstGeom>
          <a:ln>
            <a:solidFill>
              <a:schemeClr val="accent1"/>
            </a:solidFill>
          </a:ln>
        </p:spPr>
      </p:pic>
    </p:spTree>
    <p:extLst>
      <p:ext uri="{BB962C8B-B14F-4D97-AF65-F5344CB8AC3E}">
        <p14:creationId xmlns:p14="http://schemas.microsoft.com/office/powerpoint/2010/main" val="14759407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989F1-8175-E061-41AE-3AE8E56CE58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643E32A-AF83-E1DC-1215-452695437835}"/>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collage of different colored maps&#10;&#10;AI-generated content may be incorrect.">
            <a:extLst>
              <a:ext uri="{FF2B5EF4-FFF2-40B4-BE49-F238E27FC236}">
                <a16:creationId xmlns:a16="http://schemas.microsoft.com/office/drawing/2014/main" id="{B0E1EB84-633C-75CC-598C-99F04CF28737}"/>
              </a:ext>
            </a:extLst>
          </p:cNvPr>
          <p:cNvPicPr>
            <a:picLocks noChangeAspect="1"/>
          </p:cNvPicPr>
          <p:nvPr/>
        </p:nvPicPr>
        <p:blipFill>
          <a:blip r:embed="rId2"/>
          <a:stretch>
            <a:fillRect/>
          </a:stretch>
        </p:blipFill>
        <p:spPr>
          <a:xfrm>
            <a:off x="294957" y="2232837"/>
            <a:ext cx="5962282" cy="3179032"/>
          </a:xfrm>
          <a:prstGeom prst="rect">
            <a:avLst/>
          </a:prstGeom>
        </p:spPr>
      </p:pic>
      <p:pic>
        <p:nvPicPr>
          <p:cNvPr id="6" name="Picture 5" descr="A chart of different types of land&#10;&#10;AI-generated content may be incorrect.">
            <a:extLst>
              <a:ext uri="{FF2B5EF4-FFF2-40B4-BE49-F238E27FC236}">
                <a16:creationId xmlns:a16="http://schemas.microsoft.com/office/drawing/2014/main" id="{ABAC4746-5A60-F1F0-63B1-24945CFA3878}"/>
              </a:ext>
            </a:extLst>
          </p:cNvPr>
          <p:cNvPicPr>
            <a:picLocks noChangeAspect="1"/>
          </p:cNvPicPr>
          <p:nvPr/>
        </p:nvPicPr>
        <p:blipFill>
          <a:blip r:embed="rId3"/>
          <a:stretch>
            <a:fillRect/>
          </a:stretch>
        </p:blipFill>
        <p:spPr>
          <a:xfrm>
            <a:off x="6242582" y="0"/>
            <a:ext cx="2804454" cy="6858000"/>
          </a:xfrm>
          <a:prstGeom prst="rect">
            <a:avLst/>
          </a:prstGeom>
        </p:spPr>
      </p:pic>
    </p:spTree>
    <p:extLst>
      <p:ext uri="{BB962C8B-B14F-4D97-AF65-F5344CB8AC3E}">
        <p14:creationId xmlns:p14="http://schemas.microsoft.com/office/powerpoint/2010/main" val="2102348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CC59A-007D-6B5A-E41E-1F9B1A179C1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7913D53-3FBD-5FD2-8428-026F534C6219}"/>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coast&#10;&#10;AI-generated content may be incorrect.">
            <a:extLst>
              <a:ext uri="{FF2B5EF4-FFF2-40B4-BE49-F238E27FC236}">
                <a16:creationId xmlns:a16="http://schemas.microsoft.com/office/drawing/2014/main" id="{D28FE4C9-4072-6772-9CC1-ED145177C22C}"/>
              </a:ext>
            </a:extLst>
          </p:cNvPr>
          <p:cNvPicPr>
            <a:picLocks noChangeAspect="1"/>
          </p:cNvPicPr>
          <p:nvPr/>
        </p:nvPicPr>
        <p:blipFill>
          <a:blip r:embed="rId2"/>
          <a:stretch>
            <a:fillRect/>
          </a:stretch>
        </p:blipFill>
        <p:spPr>
          <a:xfrm>
            <a:off x="3657600" y="0"/>
            <a:ext cx="5877388" cy="6858000"/>
          </a:xfrm>
          <a:prstGeom prst="rect">
            <a:avLst/>
          </a:prstGeom>
        </p:spPr>
      </p:pic>
    </p:spTree>
    <p:extLst>
      <p:ext uri="{BB962C8B-B14F-4D97-AF65-F5344CB8AC3E}">
        <p14:creationId xmlns:p14="http://schemas.microsoft.com/office/powerpoint/2010/main" val="6110002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7385B-8571-3BD9-A8A0-2FDD41F6BF3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D5C397-4E65-D168-7EEF-0B0BDDBA7DB9}"/>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BA3B4E95-A275-198E-44F7-7B95DD05D77E}"/>
              </a:ext>
            </a:extLst>
          </p:cNvPr>
          <p:cNvPicPr>
            <a:picLocks noChangeAspect="1"/>
          </p:cNvPicPr>
          <p:nvPr/>
        </p:nvPicPr>
        <p:blipFill>
          <a:blip r:embed="rId2"/>
          <a:stretch>
            <a:fillRect/>
          </a:stretch>
        </p:blipFill>
        <p:spPr>
          <a:xfrm>
            <a:off x="3655058" y="0"/>
            <a:ext cx="5488942" cy="5241851"/>
          </a:xfrm>
          <a:prstGeom prst="rect">
            <a:avLst/>
          </a:prstGeom>
        </p:spPr>
      </p:pic>
    </p:spTree>
    <p:extLst>
      <p:ext uri="{BB962C8B-B14F-4D97-AF65-F5344CB8AC3E}">
        <p14:creationId xmlns:p14="http://schemas.microsoft.com/office/powerpoint/2010/main" val="2593839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E433D-56B5-1F12-3072-331DB9947D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62E65DA-1BB7-6F8D-1CC7-F014C89FE254}"/>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late cretaceous&#10;&#10;AI-generated content may be incorrect.">
            <a:extLst>
              <a:ext uri="{FF2B5EF4-FFF2-40B4-BE49-F238E27FC236}">
                <a16:creationId xmlns:a16="http://schemas.microsoft.com/office/drawing/2014/main" id="{6BCF8BEF-F2BA-C850-C713-E21C124C11EB}"/>
              </a:ext>
            </a:extLst>
          </p:cNvPr>
          <p:cNvPicPr>
            <a:picLocks noChangeAspect="1"/>
          </p:cNvPicPr>
          <p:nvPr/>
        </p:nvPicPr>
        <p:blipFill>
          <a:blip r:embed="rId2"/>
          <a:stretch>
            <a:fillRect/>
          </a:stretch>
        </p:blipFill>
        <p:spPr>
          <a:xfrm>
            <a:off x="3635664" y="0"/>
            <a:ext cx="5508335" cy="5220586"/>
          </a:xfrm>
          <a:prstGeom prst="rect">
            <a:avLst/>
          </a:prstGeom>
        </p:spPr>
      </p:pic>
    </p:spTree>
    <p:extLst>
      <p:ext uri="{BB962C8B-B14F-4D97-AF65-F5344CB8AC3E}">
        <p14:creationId xmlns:p14="http://schemas.microsoft.com/office/powerpoint/2010/main" val="24252628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32DF-921A-8332-1FA9-A75F295D9C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6A04F3B-AA2A-8A09-222E-B502A9D97C54}"/>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land&#10;&#10;AI-generated content may be incorrect.">
            <a:extLst>
              <a:ext uri="{FF2B5EF4-FFF2-40B4-BE49-F238E27FC236}">
                <a16:creationId xmlns:a16="http://schemas.microsoft.com/office/drawing/2014/main" id="{8BC4CC8F-1900-D75F-502C-AA242C38CF10}"/>
              </a:ext>
            </a:extLst>
          </p:cNvPr>
          <p:cNvPicPr>
            <a:picLocks noChangeAspect="1"/>
          </p:cNvPicPr>
          <p:nvPr/>
        </p:nvPicPr>
        <p:blipFill>
          <a:blip r:embed="rId2"/>
          <a:stretch>
            <a:fillRect/>
          </a:stretch>
        </p:blipFill>
        <p:spPr>
          <a:xfrm>
            <a:off x="3572600" y="0"/>
            <a:ext cx="5571400" cy="5220586"/>
          </a:xfrm>
          <a:prstGeom prst="rect">
            <a:avLst/>
          </a:prstGeom>
        </p:spPr>
      </p:pic>
    </p:spTree>
    <p:extLst>
      <p:ext uri="{BB962C8B-B14F-4D97-AF65-F5344CB8AC3E}">
        <p14:creationId xmlns:p14="http://schemas.microsoft.com/office/powerpoint/2010/main" val="10464200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5C37-CBCB-0461-AAC9-7C6C861B71B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7DF98A-74CB-EE8A-CFCF-363EA989409B}"/>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D1A46407-D162-F054-0637-44077D9E74F8}"/>
              </a:ext>
            </a:extLst>
          </p:cNvPr>
          <p:cNvPicPr>
            <a:picLocks noChangeAspect="1"/>
          </p:cNvPicPr>
          <p:nvPr/>
        </p:nvPicPr>
        <p:blipFill>
          <a:blip r:embed="rId2"/>
          <a:stretch>
            <a:fillRect/>
          </a:stretch>
        </p:blipFill>
        <p:spPr>
          <a:xfrm>
            <a:off x="3576546" y="0"/>
            <a:ext cx="5480455" cy="5263116"/>
          </a:xfrm>
          <a:prstGeom prst="rect">
            <a:avLst/>
          </a:prstGeom>
        </p:spPr>
      </p:pic>
    </p:spTree>
    <p:extLst>
      <p:ext uri="{BB962C8B-B14F-4D97-AF65-F5344CB8AC3E}">
        <p14:creationId xmlns:p14="http://schemas.microsoft.com/office/powerpoint/2010/main" val="38954745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5EE08-F9FA-FC5D-85C4-D9C86A5F0EB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B71ECFA-94A6-4201-EF01-304F08880C6D}"/>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DB8A4C81-5C67-1439-AE50-99300971AF74}"/>
              </a:ext>
            </a:extLst>
          </p:cNvPr>
          <p:cNvPicPr>
            <a:picLocks noChangeAspect="1"/>
          </p:cNvPicPr>
          <p:nvPr/>
        </p:nvPicPr>
        <p:blipFill>
          <a:blip r:embed="rId2"/>
          <a:stretch>
            <a:fillRect/>
          </a:stretch>
        </p:blipFill>
        <p:spPr>
          <a:xfrm>
            <a:off x="3587170" y="0"/>
            <a:ext cx="5703134" cy="5241851"/>
          </a:xfrm>
          <a:prstGeom prst="rect">
            <a:avLst/>
          </a:prstGeom>
        </p:spPr>
      </p:pic>
    </p:spTree>
    <p:extLst>
      <p:ext uri="{BB962C8B-B14F-4D97-AF65-F5344CB8AC3E}">
        <p14:creationId xmlns:p14="http://schemas.microsoft.com/office/powerpoint/2010/main" val="20037389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A3AC-C832-6A53-7FC7-7EB38D6FA09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F1F26CD-B166-601F-7AF1-2C9CB3CE4143}"/>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middle eceene region&#10;&#10;AI-generated content may be incorrect.">
            <a:extLst>
              <a:ext uri="{FF2B5EF4-FFF2-40B4-BE49-F238E27FC236}">
                <a16:creationId xmlns:a16="http://schemas.microsoft.com/office/drawing/2014/main" id="{D86F8283-31FC-770C-CCC0-53744B5FAA2E}"/>
              </a:ext>
            </a:extLst>
          </p:cNvPr>
          <p:cNvPicPr>
            <a:picLocks noChangeAspect="1"/>
          </p:cNvPicPr>
          <p:nvPr/>
        </p:nvPicPr>
        <p:blipFill>
          <a:blip r:embed="rId2"/>
          <a:stretch>
            <a:fillRect/>
          </a:stretch>
        </p:blipFill>
        <p:spPr>
          <a:xfrm>
            <a:off x="3575401" y="0"/>
            <a:ext cx="5603692" cy="5295014"/>
          </a:xfrm>
          <a:prstGeom prst="rect">
            <a:avLst/>
          </a:prstGeom>
        </p:spPr>
      </p:pic>
    </p:spTree>
    <p:extLst>
      <p:ext uri="{BB962C8B-B14F-4D97-AF65-F5344CB8AC3E}">
        <p14:creationId xmlns:p14="http://schemas.microsoft.com/office/powerpoint/2010/main" val="3872098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10F52-9DFD-AA95-FC95-BB7E7074B90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7D333F9-D750-42BA-7A8B-F0ACF5DD3C0F}"/>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28EFD313-4D01-4A43-591E-028716028E28}"/>
              </a:ext>
            </a:extLst>
          </p:cNvPr>
          <p:cNvPicPr>
            <a:picLocks noChangeAspect="1"/>
          </p:cNvPicPr>
          <p:nvPr/>
        </p:nvPicPr>
        <p:blipFill>
          <a:blip r:embed="rId2"/>
          <a:stretch>
            <a:fillRect/>
          </a:stretch>
        </p:blipFill>
        <p:spPr>
          <a:xfrm>
            <a:off x="3675932" y="0"/>
            <a:ext cx="5417500" cy="5114260"/>
          </a:xfrm>
          <a:prstGeom prst="rect">
            <a:avLst/>
          </a:prstGeom>
        </p:spPr>
      </p:pic>
    </p:spTree>
    <p:extLst>
      <p:ext uri="{BB962C8B-B14F-4D97-AF65-F5344CB8AC3E}">
        <p14:creationId xmlns:p14="http://schemas.microsoft.com/office/powerpoint/2010/main" val="42694047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81D3-C2EE-11D9-AC07-AA6A6BB984E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F1CFA85-8895-D1F3-CEEE-BF3E22B5CC5C}"/>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196EFB8D-B226-6EEC-64D8-BEB65ECA4EB2}"/>
              </a:ext>
            </a:extLst>
          </p:cNvPr>
          <p:cNvPicPr>
            <a:picLocks noChangeAspect="1"/>
          </p:cNvPicPr>
          <p:nvPr/>
        </p:nvPicPr>
        <p:blipFill>
          <a:blip r:embed="rId2"/>
          <a:stretch>
            <a:fillRect/>
          </a:stretch>
        </p:blipFill>
        <p:spPr>
          <a:xfrm>
            <a:off x="3543799" y="0"/>
            <a:ext cx="5600201" cy="5231219"/>
          </a:xfrm>
          <a:prstGeom prst="rect">
            <a:avLst/>
          </a:prstGeom>
        </p:spPr>
      </p:pic>
    </p:spTree>
    <p:extLst>
      <p:ext uri="{BB962C8B-B14F-4D97-AF65-F5344CB8AC3E}">
        <p14:creationId xmlns:p14="http://schemas.microsoft.com/office/powerpoint/2010/main" val="14297411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D3ED4-6CAC-DD44-B62A-9FE89461458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FDFC5CA-43B3-9E6E-65DF-9B533194389E}"/>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AE6EC3E7-B8C3-A99A-5303-7D1741A800A3}"/>
              </a:ext>
            </a:extLst>
          </p:cNvPr>
          <p:cNvPicPr>
            <a:picLocks noChangeAspect="1"/>
          </p:cNvPicPr>
          <p:nvPr/>
        </p:nvPicPr>
        <p:blipFill>
          <a:blip r:embed="rId2"/>
          <a:stretch>
            <a:fillRect/>
          </a:stretch>
        </p:blipFill>
        <p:spPr>
          <a:xfrm>
            <a:off x="3586143" y="0"/>
            <a:ext cx="5557857" cy="5273749"/>
          </a:xfrm>
          <a:prstGeom prst="rect">
            <a:avLst/>
          </a:prstGeom>
        </p:spPr>
      </p:pic>
    </p:spTree>
    <p:extLst>
      <p:ext uri="{BB962C8B-B14F-4D97-AF65-F5344CB8AC3E}">
        <p14:creationId xmlns:p14="http://schemas.microsoft.com/office/powerpoint/2010/main" val="6157731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4A4D-9523-590D-588B-65F7D519533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E72C3C3-B4D1-7470-0FBE-C689DED99AEB}"/>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earth&#10;&#10;AI-generated content may be incorrect.">
            <a:extLst>
              <a:ext uri="{FF2B5EF4-FFF2-40B4-BE49-F238E27FC236}">
                <a16:creationId xmlns:a16="http://schemas.microsoft.com/office/drawing/2014/main" id="{5DEC4968-650B-FEB3-53D2-4C9D7ABAEF1C}"/>
              </a:ext>
            </a:extLst>
          </p:cNvPr>
          <p:cNvPicPr>
            <a:picLocks noChangeAspect="1"/>
          </p:cNvPicPr>
          <p:nvPr/>
        </p:nvPicPr>
        <p:blipFill>
          <a:blip r:embed="rId2"/>
          <a:stretch>
            <a:fillRect/>
          </a:stretch>
        </p:blipFill>
        <p:spPr>
          <a:xfrm>
            <a:off x="3569047" y="0"/>
            <a:ext cx="5574953" cy="5295014"/>
          </a:xfrm>
          <a:prstGeom prst="rect">
            <a:avLst/>
          </a:prstGeom>
        </p:spPr>
      </p:pic>
    </p:spTree>
    <p:extLst>
      <p:ext uri="{BB962C8B-B14F-4D97-AF65-F5344CB8AC3E}">
        <p14:creationId xmlns:p14="http://schemas.microsoft.com/office/powerpoint/2010/main" val="7013307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59F88-40E5-8932-4FAD-54CCE023ECA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4939A13-66AF-F915-67E6-798A22A9D1C2}"/>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middle miocene&#10;&#10;AI-generated content may be incorrect.">
            <a:extLst>
              <a:ext uri="{FF2B5EF4-FFF2-40B4-BE49-F238E27FC236}">
                <a16:creationId xmlns:a16="http://schemas.microsoft.com/office/drawing/2014/main" id="{D885F86D-879C-C681-C7EA-141F230BCF03}"/>
              </a:ext>
            </a:extLst>
          </p:cNvPr>
          <p:cNvPicPr>
            <a:picLocks noChangeAspect="1"/>
          </p:cNvPicPr>
          <p:nvPr/>
        </p:nvPicPr>
        <p:blipFill>
          <a:blip r:embed="rId2"/>
          <a:stretch>
            <a:fillRect/>
          </a:stretch>
        </p:blipFill>
        <p:spPr>
          <a:xfrm>
            <a:off x="3610907" y="0"/>
            <a:ext cx="5651944" cy="5326912"/>
          </a:xfrm>
          <a:prstGeom prst="rect">
            <a:avLst/>
          </a:prstGeom>
        </p:spPr>
      </p:pic>
    </p:spTree>
    <p:extLst>
      <p:ext uri="{BB962C8B-B14F-4D97-AF65-F5344CB8AC3E}">
        <p14:creationId xmlns:p14="http://schemas.microsoft.com/office/powerpoint/2010/main" val="27957358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19921-1B63-ABB1-6210-C440295EF21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545A297-8745-C263-A8D7-362E50D9538D}"/>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F6617806-0B3A-3950-1F44-B8CF9AB50433}"/>
              </a:ext>
            </a:extLst>
          </p:cNvPr>
          <p:cNvPicPr>
            <a:picLocks noChangeAspect="1"/>
          </p:cNvPicPr>
          <p:nvPr/>
        </p:nvPicPr>
        <p:blipFill>
          <a:blip r:embed="rId2"/>
          <a:stretch>
            <a:fillRect/>
          </a:stretch>
        </p:blipFill>
        <p:spPr>
          <a:xfrm>
            <a:off x="3635591" y="0"/>
            <a:ext cx="5508409" cy="5231219"/>
          </a:xfrm>
          <a:prstGeom prst="rect">
            <a:avLst/>
          </a:prstGeom>
        </p:spPr>
      </p:pic>
    </p:spTree>
    <p:extLst>
      <p:ext uri="{BB962C8B-B14F-4D97-AF65-F5344CB8AC3E}">
        <p14:creationId xmlns:p14="http://schemas.microsoft.com/office/powerpoint/2010/main" val="15454957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FF87-4B83-FBF2-9B4C-350FD5B48E1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1FBF9F4-C840-D357-AE63-283F81306C3C}"/>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70AB094D-5003-2B76-4C64-BACB8AE2B885}"/>
              </a:ext>
            </a:extLst>
          </p:cNvPr>
          <p:cNvPicPr>
            <a:picLocks noChangeAspect="1"/>
          </p:cNvPicPr>
          <p:nvPr/>
        </p:nvPicPr>
        <p:blipFill>
          <a:blip r:embed="rId2"/>
          <a:stretch>
            <a:fillRect/>
          </a:stretch>
        </p:blipFill>
        <p:spPr>
          <a:xfrm>
            <a:off x="3648180" y="0"/>
            <a:ext cx="5622644" cy="5241851"/>
          </a:xfrm>
          <a:prstGeom prst="rect">
            <a:avLst/>
          </a:prstGeom>
        </p:spPr>
      </p:pic>
    </p:spTree>
    <p:extLst>
      <p:ext uri="{BB962C8B-B14F-4D97-AF65-F5344CB8AC3E}">
        <p14:creationId xmlns:p14="http://schemas.microsoft.com/office/powerpoint/2010/main" val="17821523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08520-47A2-C71E-6E81-0CC815A0BA6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9C070B6-4BA8-3DC6-5858-5DC8FFABF008}"/>
              </a:ext>
            </a:extLst>
          </p:cNvPr>
          <p:cNvSpPr/>
          <p:nvPr/>
        </p:nvSpPr>
        <p:spPr>
          <a:xfrm>
            <a:off x="0" y="0"/>
            <a:ext cx="36576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map of the ocean&#10;&#10;AI-generated content may be incorrect.">
            <a:extLst>
              <a:ext uri="{FF2B5EF4-FFF2-40B4-BE49-F238E27FC236}">
                <a16:creationId xmlns:a16="http://schemas.microsoft.com/office/drawing/2014/main" id="{A3B207EE-4C64-0424-0A34-DBCD1E78A747}"/>
              </a:ext>
            </a:extLst>
          </p:cNvPr>
          <p:cNvPicPr>
            <a:picLocks noChangeAspect="1"/>
          </p:cNvPicPr>
          <p:nvPr/>
        </p:nvPicPr>
        <p:blipFill>
          <a:blip r:embed="rId2"/>
          <a:stretch>
            <a:fillRect/>
          </a:stretch>
        </p:blipFill>
        <p:spPr>
          <a:xfrm>
            <a:off x="3619759" y="0"/>
            <a:ext cx="5524241" cy="5241851"/>
          </a:xfrm>
          <a:prstGeom prst="rect">
            <a:avLst/>
          </a:prstGeom>
        </p:spPr>
      </p:pic>
    </p:spTree>
    <p:extLst>
      <p:ext uri="{BB962C8B-B14F-4D97-AF65-F5344CB8AC3E}">
        <p14:creationId xmlns:p14="http://schemas.microsoft.com/office/powerpoint/2010/main" val="7109461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7D34-4E64-5C1A-024F-41A490FE906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4F95D15-0B53-44D6-BD8C-CEA7DCC1BA1A}"/>
              </a:ext>
            </a:extLst>
          </p:cNvPr>
          <p:cNvSpPr/>
          <p:nvPr/>
        </p:nvSpPr>
        <p:spPr>
          <a:xfrm>
            <a:off x="0" y="0"/>
            <a:ext cx="4242391"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Strogen et al. (2022)</a:t>
            </a:r>
          </a:p>
        </p:txBody>
      </p:sp>
      <p:pic>
        <p:nvPicPr>
          <p:cNvPr id="3" name="Picture 2" descr="A graph showing the growth of land&#10;&#10;AI-generated content may be incorrect.">
            <a:extLst>
              <a:ext uri="{FF2B5EF4-FFF2-40B4-BE49-F238E27FC236}">
                <a16:creationId xmlns:a16="http://schemas.microsoft.com/office/drawing/2014/main" id="{77EEC1A9-449B-C0C5-F37A-867EDAC5BE03}"/>
              </a:ext>
            </a:extLst>
          </p:cNvPr>
          <p:cNvPicPr>
            <a:picLocks noChangeAspect="1"/>
          </p:cNvPicPr>
          <p:nvPr/>
        </p:nvPicPr>
        <p:blipFill>
          <a:blip r:embed="rId2"/>
          <a:stretch>
            <a:fillRect/>
          </a:stretch>
        </p:blipFill>
        <p:spPr>
          <a:xfrm>
            <a:off x="4033330" y="0"/>
            <a:ext cx="5110670" cy="4848447"/>
          </a:xfrm>
          <a:prstGeom prst="rect">
            <a:avLst/>
          </a:prstGeom>
        </p:spPr>
      </p:pic>
    </p:spTree>
    <p:extLst>
      <p:ext uri="{BB962C8B-B14F-4D97-AF65-F5344CB8AC3E}">
        <p14:creationId xmlns:p14="http://schemas.microsoft.com/office/powerpoint/2010/main" val="30143827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The puzzle of NZ biogeography</a:t>
            </a:r>
          </a:p>
        </p:txBody>
      </p:sp>
      <p:sp>
        <p:nvSpPr>
          <p:cNvPr id="14" name="Rounded Rectangular Callout 13"/>
          <p:cNvSpPr/>
          <p:nvPr/>
        </p:nvSpPr>
        <p:spPr>
          <a:xfrm>
            <a:off x="2265167" y="1551185"/>
            <a:ext cx="4762500" cy="1231226"/>
          </a:xfrm>
          <a:prstGeom prst="wedgeRoundRectCallout">
            <a:avLst>
              <a:gd name="adj1" fmla="val -30349"/>
              <a:gd name="adj2" fmla="val 66437"/>
              <a:gd name="adj3" fmla="val 16667"/>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a:t>
            </a:r>
            <a:r>
              <a:rPr lang="mr-IN" dirty="0">
                <a:solidFill>
                  <a:schemeClr val="tx1"/>
                </a:solidFill>
              </a:rPr>
              <a:t>…</a:t>
            </a:r>
            <a:r>
              <a:rPr lang="en-US" dirty="0">
                <a:solidFill>
                  <a:schemeClr val="tx1"/>
                </a:solidFill>
              </a:rPr>
              <a:t>explain New Zealand and the </a:t>
            </a:r>
            <a:br>
              <a:rPr lang="en-US" dirty="0">
                <a:solidFill>
                  <a:schemeClr val="tx1"/>
                </a:solidFill>
              </a:rPr>
            </a:br>
            <a:r>
              <a:rPr lang="en-US" dirty="0">
                <a:solidFill>
                  <a:schemeClr val="tx1"/>
                </a:solidFill>
              </a:rPr>
              <a:t>world falls into place arou</a:t>
            </a:r>
            <a:r>
              <a:rPr lang="en-US" dirty="0">
                <a:solidFill>
                  <a:srgbClr val="000000"/>
                </a:solidFill>
              </a:rPr>
              <a:t>nd it.”</a:t>
            </a:r>
          </a:p>
          <a:p>
            <a:pPr algn="r"/>
            <a:br>
              <a:rPr lang="en-US" sz="1200" dirty="0">
                <a:solidFill>
                  <a:srgbClr val="000000"/>
                </a:solidFill>
              </a:rPr>
            </a:br>
            <a:r>
              <a:rPr lang="en-US" sz="1200" dirty="0">
                <a:solidFill>
                  <a:srgbClr val="000000"/>
                </a:solidFill>
              </a:rPr>
              <a:t>--</a:t>
            </a:r>
            <a:r>
              <a:rPr lang="en-US" sz="1200" i="1" dirty="0">
                <a:solidFill>
                  <a:srgbClr val="000000"/>
                </a:solidFill>
              </a:rPr>
              <a:t>JRSNZ </a:t>
            </a:r>
            <a:r>
              <a:rPr lang="en-US" sz="1200" dirty="0">
                <a:solidFill>
                  <a:srgbClr val="000000"/>
                </a:solidFill>
              </a:rPr>
              <a:t>(2021), call for papers, Evolutionary Biogeography of Aotearoa New Zealand; citing Gareth Nelson (1975).</a:t>
            </a:r>
            <a:r>
              <a:rPr lang="en-US" sz="1200" i="1" dirty="0">
                <a:solidFill>
                  <a:srgbClr val="000000"/>
                </a:solidFill>
              </a:rPr>
              <a:t> </a:t>
            </a:r>
            <a:endParaRPr lang="en-US" sz="1200" i="1" dirty="0">
              <a:solidFill>
                <a:schemeClr val="tx1"/>
              </a:solidFill>
            </a:endParaRPr>
          </a:p>
        </p:txBody>
      </p:sp>
      <p:grpSp>
        <p:nvGrpSpPr>
          <p:cNvPr id="15" name="Group 14">
            <a:extLst>
              <a:ext uri="{FF2B5EF4-FFF2-40B4-BE49-F238E27FC236}">
                <a16:creationId xmlns:a16="http://schemas.microsoft.com/office/drawing/2014/main" id="{2DF67363-8ABC-7640-811D-FC6007983A11}"/>
              </a:ext>
            </a:extLst>
          </p:cNvPr>
          <p:cNvGrpSpPr/>
          <p:nvPr/>
        </p:nvGrpSpPr>
        <p:grpSpPr>
          <a:xfrm>
            <a:off x="2159565" y="3674468"/>
            <a:ext cx="4092349" cy="2403038"/>
            <a:chOff x="4907718" y="2691713"/>
            <a:chExt cx="4092349" cy="2403038"/>
          </a:xfrm>
        </p:grpSpPr>
        <p:pic>
          <p:nvPicPr>
            <p:cNvPr id="16" name="Picture 15" descr="Muller_Zahirovic_2018_Zealandia_thickness.gif">
              <a:extLst>
                <a:ext uri="{FF2B5EF4-FFF2-40B4-BE49-F238E27FC236}">
                  <a16:creationId xmlns:a16="http://schemas.microsoft.com/office/drawing/2014/main" id="{0483E8C4-9990-CE41-B9AF-E7B5C9865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239" y="2992853"/>
              <a:ext cx="3986828" cy="1843908"/>
            </a:xfrm>
            <a:prstGeom prst="rect">
              <a:avLst/>
            </a:prstGeom>
          </p:spPr>
        </p:pic>
        <p:sp>
          <p:nvSpPr>
            <p:cNvPr id="17" name="Rectangle 16">
              <a:extLst>
                <a:ext uri="{FF2B5EF4-FFF2-40B4-BE49-F238E27FC236}">
                  <a16:creationId xmlns:a16="http://schemas.microsoft.com/office/drawing/2014/main" id="{6636BFAD-A937-4147-AB5C-77D3A2952908}"/>
                </a:ext>
              </a:extLst>
            </p:cNvPr>
            <p:cNvSpPr/>
            <p:nvPr/>
          </p:nvSpPr>
          <p:spPr>
            <a:xfrm>
              <a:off x="4907718" y="4786974"/>
              <a:ext cx="4092349" cy="307777"/>
            </a:xfrm>
            <a:prstGeom prst="rect">
              <a:avLst/>
            </a:prstGeom>
          </p:spPr>
          <p:txBody>
            <a:bodyPr wrap="square">
              <a:spAutoFit/>
            </a:bodyPr>
            <a:lstStyle/>
            <a:p>
              <a:pPr algn="ctr"/>
              <a:r>
                <a:rPr lang="en-US" sz="700" dirty="0">
                  <a:solidFill>
                    <a:schemeClr val="bg1">
                      <a:lumMod val="65000"/>
                    </a:schemeClr>
                  </a:solidFill>
                </a:rPr>
                <a:t>Müller, Sahirovic et al. (2018), U. Sydney "Modelling and visualising distributed crustal deformation of Australia and Zealandia using </a:t>
              </a:r>
              <a:r>
                <a:rPr lang="en-US" sz="700" i="1" dirty="0">
                  <a:solidFill>
                    <a:schemeClr val="bg1">
                      <a:lumMod val="65000"/>
                    </a:schemeClr>
                  </a:solidFill>
                </a:rPr>
                <a:t>GPlates 2.0</a:t>
              </a:r>
              <a:r>
                <a:rPr lang="en-US" sz="700" dirty="0">
                  <a:solidFill>
                    <a:schemeClr val="bg1">
                      <a:lumMod val="65000"/>
                    </a:schemeClr>
                  </a:solidFill>
                </a:rPr>
                <a:t>." https://www.youtube.com/watch?v=iKkCIdZ6oaE  </a:t>
              </a:r>
            </a:p>
          </p:txBody>
        </p:sp>
        <p:sp>
          <p:nvSpPr>
            <p:cNvPr id="18" name="Rectangle 17">
              <a:extLst>
                <a:ext uri="{FF2B5EF4-FFF2-40B4-BE49-F238E27FC236}">
                  <a16:creationId xmlns:a16="http://schemas.microsoft.com/office/drawing/2014/main" id="{44D73703-33B7-1F40-AB14-3535010217F0}"/>
                </a:ext>
              </a:extLst>
            </p:cNvPr>
            <p:cNvSpPr/>
            <p:nvPr/>
          </p:nvSpPr>
          <p:spPr>
            <a:xfrm>
              <a:off x="5202392" y="2691713"/>
              <a:ext cx="3572024" cy="307777"/>
            </a:xfrm>
            <a:prstGeom prst="rect">
              <a:avLst/>
            </a:prstGeom>
          </p:spPr>
          <p:txBody>
            <a:bodyPr wrap="none">
              <a:spAutoFit/>
            </a:bodyPr>
            <a:lstStyle/>
            <a:p>
              <a:r>
                <a:rPr lang="en-US" sz="1400" i="1" dirty="0"/>
                <a:t>GPlates</a:t>
              </a:r>
              <a:r>
                <a:rPr lang="en-US" sz="1400" dirty="0"/>
                <a:t> animation: Zealandia crustal thickness</a:t>
              </a:r>
            </a:p>
          </p:txBody>
        </p:sp>
      </p:grpSp>
      <p:sp>
        <p:nvSpPr>
          <p:cNvPr id="3" name="TextBox 2">
            <a:extLst>
              <a:ext uri="{FF2B5EF4-FFF2-40B4-BE49-F238E27FC236}">
                <a16:creationId xmlns:a16="http://schemas.microsoft.com/office/drawing/2014/main" id="{81A9BE27-80C5-5F11-97DE-10D59A569C45}"/>
              </a:ext>
            </a:extLst>
          </p:cNvPr>
          <p:cNvSpPr txBox="1"/>
          <p:nvPr/>
        </p:nvSpPr>
        <p:spPr>
          <a:xfrm>
            <a:off x="531627" y="6229737"/>
            <a:ext cx="9399181" cy="523220"/>
          </a:xfrm>
          <a:prstGeom prst="rect">
            <a:avLst/>
          </a:prstGeom>
          <a:noFill/>
        </p:spPr>
        <p:txBody>
          <a:bodyPr wrap="square">
            <a:spAutoFit/>
          </a:bodyPr>
          <a:lstStyle/>
          <a:p>
            <a:r>
              <a:rPr lang="en-NZ" sz="1400" b="0" i="0" dirty="0">
                <a:solidFill>
                  <a:srgbClr val="273540"/>
                </a:solidFill>
                <a:effectLst/>
                <a:latin typeface="Lato Extended"/>
              </a:rPr>
              <a:t>JRSNZ special issue: Evolutionary biogeography of Aotearoa (2023):</a:t>
            </a:r>
            <a:br>
              <a:rPr lang="en-NZ" sz="1400" b="0" i="0" dirty="0">
                <a:solidFill>
                  <a:srgbClr val="273540"/>
                </a:solidFill>
                <a:effectLst/>
                <a:latin typeface="Lato Extended"/>
              </a:rPr>
            </a:br>
            <a:r>
              <a:rPr lang="en-NZ" sz="1400" b="0" i="0" dirty="0">
                <a:solidFill>
                  <a:srgbClr val="273540"/>
                </a:solidFill>
                <a:effectLst/>
                <a:latin typeface="Lato Extended"/>
              </a:rPr>
              <a:t> </a:t>
            </a:r>
            <a:r>
              <a:rPr lang="en-NZ" sz="1400" b="0" i="0" u="sng" dirty="0">
                <a:solidFill>
                  <a:srgbClr val="003F70"/>
                </a:solidFill>
                <a:effectLst/>
                <a:latin typeface="Lato Extended"/>
                <a:hlinkClick r:id="rId3"/>
              </a:rPr>
              <a:t>https://www.royalsociety.org.nz/news/jrsnz-special-issue-evolutionary-biogeography-of-aotearoa/</a:t>
            </a:r>
            <a:endParaRPr lang="en-US" sz="1400" dirty="0"/>
          </a:p>
        </p:txBody>
      </p:sp>
    </p:spTree>
    <p:extLst>
      <p:ext uri="{BB962C8B-B14F-4D97-AF65-F5344CB8AC3E}">
        <p14:creationId xmlns:p14="http://schemas.microsoft.com/office/powerpoint/2010/main" val="257889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Putting it all together for Zealandia</a:t>
            </a:r>
          </a:p>
        </p:txBody>
      </p:sp>
      <p:pic>
        <p:nvPicPr>
          <p:cNvPr id="2" name="Picture 1"/>
          <p:cNvPicPr>
            <a:picLocks noChangeAspect="1"/>
          </p:cNvPicPr>
          <p:nvPr/>
        </p:nvPicPr>
        <p:blipFill>
          <a:blip r:embed="rId2"/>
          <a:stretch>
            <a:fillRect/>
          </a:stretch>
        </p:blipFill>
        <p:spPr>
          <a:xfrm>
            <a:off x="2110152" y="920231"/>
            <a:ext cx="5367119" cy="5798956"/>
          </a:xfrm>
          <a:prstGeom prst="rect">
            <a:avLst/>
          </a:prstGeom>
        </p:spPr>
      </p:pic>
    </p:spTree>
    <p:extLst>
      <p:ext uri="{BB962C8B-B14F-4D97-AF65-F5344CB8AC3E}">
        <p14:creationId xmlns:p14="http://schemas.microsoft.com/office/powerpoint/2010/main" val="31157984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F9CD-A534-B031-D5E7-0C9EE72A011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5BC6AF-B885-BF99-E1E2-0C2F65E18087}"/>
              </a:ext>
            </a:extLst>
          </p:cNvPr>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a:extLst>
              <a:ext uri="{FF2B5EF4-FFF2-40B4-BE49-F238E27FC236}">
                <a16:creationId xmlns:a16="http://schemas.microsoft.com/office/drawing/2014/main" id="{EF2A29D8-7CF1-30F4-1C74-994A4E3B4D69}"/>
              </a:ext>
            </a:extLst>
          </p:cNvPr>
          <p:cNvPicPr>
            <a:picLocks noChangeAspect="1"/>
          </p:cNvPicPr>
          <p:nvPr/>
        </p:nvPicPr>
        <p:blipFill>
          <a:blip r:embed="rId2"/>
          <a:stretch>
            <a:fillRect/>
          </a:stretch>
        </p:blipFill>
        <p:spPr>
          <a:xfrm>
            <a:off x="2110152" y="920231"/>
            <a:ext cx="5367119" cy="5798956"/>
          </a:xfrm>
          <a:prstGeom prst="rect">
            <a:avLst/>
          </a:prstGeom>
        </p:spPr>
      </p:pic>
    </p:spTree>
    <p:extLst>
      <p:ext uri="{BB962C8B-B14F-4D97-AF65-F5344CB8AC3E}">
        <p14:creationId xmlns:p14="http://schemas.microsoft.com/office/powerpoint/2010/main" val="2275790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rot="5400000">
            <a:off x="1885607" y="-165354"/>
            <a:ext cx="5548630" cy="7952154"/>
          </a:xfrm>
          <a:prstGeom prst="rect">
            <a:avLst/>
          </a:prstGeom>
        </p:spPr>
      </p:pic>
    </p:spTree>
    <p:extLst>
      <p:ext uri="{BB962C8B-B14F-4D97-AF65-F5344CB8AC3E}">
        <p14:creationId xmlns:p14="http://schemas.microsoft.com/office/powerpoint/2010/main" val="20602946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rot="5400000">
            <a:off x="1753352" y="-213721"/>
            <a:ext cx="5740314" cy="8259445"/>
          </a:xfrm>
          <a:prstGeom prst="rect">
            <a:avLst/>
          </a:prstGeom>
        </p:spPr>
      </p:pic>
    </p:spTree>
    <p:extLst>
      <p:ext uri="{BB962C8B-B14F-4D97-AF65-F5344CB8AC3E}">
        <p14:creationId xmlns:p14="http://schemas.microsoft.com/office/powerpoint/2010/main" val="20602946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rot="5400000">
            <a:off x="1647921" y="-171787"/>
            <a:ext cx="5758833" cy="8061024"/>
          </a:xfrm>
          <a:prstGeom prst="rect">
            <a:avLst/>
          </a:prstGeom>
        </p:spPr>
      </p:pic>
    </p:spTree>
    <p:extLst>
      <p:ext uri="{BB962C8B-B14F-4D97-AF65-F5344CB8AC3E}">
        <p14:creationId xmlns:p14="http://schemas.microsoft.com/office/powerpoint/2010/main" val="20602946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5442113" y="58615"/>
            <a:ext cx="3334060" cy="6858000"/>
          </a:xfrm>
          <a:prstGeom prst="rect">
            <a:avLst/>
          </a:prstGeom>
        </p:spPr>
      </p:pic>
      <p:pic>
        <p:nvPicPr>
          <p:cNvPr id="3" name="Picture 2"/>
          <p:cNvPicPr>
            <a:picLocks noChangeAspect="1"/>
          </p:cNvPicPr>
          <p:nvPr/>
        </p:nvPicPr>
        <p:blipFill>
          <a:blip r:embed="rId3"/>
          <a:stretch>
            <a:fillRect/>
          </a:stretch>
        </p:blipFill>
        <p:spPr>
          <a:xfrm>
            <a:off x="465015" y="1042050"/>
            <a:ext cx="3964855" cy="5718257"/>
          </a:xfrm>
          <a:prstGeom prst="rect">
            <a:avLst/>
          </a:prstGeom>
        </p:spPr>
      </p:pic>
    </p:spTree>
    <p:extLst>
      <p:ext uri="{BB962C8B-B14F-4D97-AF65-F5344CB8AC3E}">
        <p14:creationId xmlns:p14="http://schemas.microsoft.com/office/powerpoint/2010/main" val="20602946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245208" y="996461"/>
            <a:ext cx="4028112" cy="5653128"/>
          </a:xfrm>
          <a:prstGeom prst="rect">
            <a:avLst/>
          </a:prstGeom>
        </p:spPr>
      </p:pic>
      <p:pic>
        <p:nvPicPr>
          <p:cNvPr id="4" name="Picture 3"/>
          <p:cNvPicPr>
            <a:picLocks noChangeAspect="1"/>
          </p:cNvPicPr>
          <p:nvPr/>
        </p:nvPicPr>
        <p:blipFill>
          <a:blip r:embed="rId3"/>
          <a:stretch>
            <a:fillRect/>
          </a:stretch>
        </p:blipFill>
        <p:spPr>
          <a:xfrm>
            <a:off x="4364072" y="2155744"/>
            <a:ext cx="4413256" cy="3519822"/>
          </a:xfrm>
          <a:prstGeom prst="rect">
            <a:avLst/>
          </a:prstGeom>
        </p:spPr>
      </p:pic>
    </p:spTree>
    <p:extLst>
      <p:ext uri="{BB962C8B-B14F-4D97-AF65-F5344CB8AC3E}">
        <p14:creationId xmlns:p14="http://schemas.microsoft.com/office/powerpoint/2010/main" val="20602946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0" y="1921282"/>
            <a:ext cx="4158115" cy="4207282"/>
          </a:xfrm>
          <a:prstGeom prst="rect">
            <a:avLst/>
          </a:prstGeom>
        </p:spPr>
      </p:pic>
      <p:pic>
        <p:nvPicPr>
          <p:cNvPr id="3" name="Picture 2"/>
          <p:cNvPicPr>
            <a:picLocks noChangeAspect="1"/>
          </p:cNvPicPr>
          <p:nvPr/>
        </p:nvPicPr>
        <p:blipFill>
          <a:blip r:embed="rId3"/>
          <a:stretch>
            <a:fillRect/>
          </a:stretch>
        </p:blipFill>
        <p:spPr>
          <a:xfrm>
            <a:off x="4931954" y="1029026"/>
            <a:ext cx="3356567" cy="5731282"/>
          </a:xfrm>
          <a:prstGeom prst="rect">
            <a:avLst/>
          </a:prstGeom>
        </p:spPr>
      </p:pic>
    </p:spTree>
    <p:extLst>
      <p:ext uri="{BB962C8B-B14F-4D97-AF65-F5344CB8AC3E}">
        <p14:creationId xmlns:p14="http://schemas.microsoft.com/office/powerpoint/2010/main" val="22805208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69036" y="1934308"/>
            <a:ext cx="4615331" cy="3232312"/>
          </a:xfrm>
          <a:prstGeom prst="rect">
            <a:avLst/>
          </a:prstGeom>
        </p:spPr>
      </p:pic>
      <p:sp>
        <p:nvSpPr>
          <p:cNvPr id="6" name="Rectangle 5"/>
          <p:cNvSpPr/>
          <p:nvPr/>
        </p:nvSpPr>
        <p:spPr>
          <a:xfrm>
            <a:off x="4303440" y="6409565"/>
            <a:ext cx="4535992" cy="369332"/>
          </a:xfrm>
          <a:prstGeom prst="rect">
            <a:avLst/>
          </a:prstGeom>
        </p:spPr>
        <p:txBody>
          <a:bodyPr wrap="none">
            <a:spAutoFit/>
          </a:bodyPr>
          <a:lstStyle/>
          <a:p>
            <a:r>
              <a:rPr lang="en-US" dirty="0">
                <a:hlinkClick r:id="rId3"/>
              </a:rPr>
              <a:t>https://www.pnas.org/content/103/51/19419</a:t>
            </a:r>
            <a:r>
              <a:rPr lang="en-US" dirty="0"/>
              <a:t> </a:t>
            </a:r>
          </a:p>
        </p:txBody>
      </p:sp>
      <p:pic>
        <p:nvPicPr>
          <p:cNvPr id="7" name="Picture 6"/>
          <p:cNvPicPr>
            <a:picLocks noChangeAspect="1"/>
          </p:cNvPicPr>
          <p:nvPr/>
        </p:nvPicPr>
        <p:blipFill>
          <a:blip r:embed="rId4"/>
          <a:stretch>
            <a:fillRect/>
          </a:stretch>
        </p:blipFill>
        <p:spPr>
          <a:xfrm>
            <a:off x="4985308" y="1146256"/>
            <a:ext cx="3854124" cy="5286725"/>
          </a:xfrm>
          <a:prstGeom prst="rect">
            <a:avLst/>
          </a:prstGeom>
        </p:spPr>
      </p:pic>
    </p:spTree>
    <p:extLst>
      <p:ext uri="{BB962C8B-B14F-4D97-AF65-F5344CB8AC3E}">
        <p14:creationId xmlns:p14="http://schemas.microsoft.com/office/powerpoint/2010/main" val="22805208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69036" y="1934308"/>
            <a:ext cx="4615331" cy="3232312"/>
          </a:xfrm>
          <a:prstGeom prst="rect">
            <a:avLst/>
          </a:prstGeom>
        </p:spPr>
      </p:pic>
      <p:pic>
        <p:nvPicPr>
          <p:cNvPr id="4" name="Picture 3"/>
          <p:cNvPicPr>
            <a:picLocks noChangeAspect="1"/>
          </p:cNvPicPr>
          <p:nvPr/>
        </p:nvPicPr>
        <p:blipFill>
          <a:blip r:embed="rId3"/>
          <a:stretch>
            <a:fillRect/>
          </a:stretch>
        </p:blipFill>
        <p:spPr>
          <a:xfrm>
            <a:off x="5086514" y="859693"/>
            <a:ext cx="3920718" cy="5611252"/>
          </a:xfrm>
          <a:prstGeom prst="rect">
            <a:avLst/>
          </a:prstGeom>
        </p:spPr>
      </p:pic>
      <p:sp>
        <p:nvSpPr>
          <p:cNvPr id="6" name="Rectangle 5"/>
          <p:cNvSpPr/>
          <p:nvPr/>
        </p:nvSpPr>
        <p:spPr>
          <a:xfrm>
            <a:off x="4303440" y="6409565"/>
            <a:ext cx="4535992" cy="369332"/>
          </a:xfrm>
          <a:prstGeom prst="rect">
            <a:avLst/>
          </a:prstGeom>
        </p:spPr>
        <p:txBody>
          <a:bodyPr wrap="none">
            <a:spAutoFit/>
          </a:bodyPr>
          <a:lstStyle/>
          <a:p>
            <a:r>
              <a:rPr lang="en-US" dirty="0">
                <a:hlinkClick r:id="rId4"/>
              </a:rPr>
              <a:t>https://www.pnas.org/content/103/51/19419</a:t>
            </a:r>
            <a:r>
              <a:rPr lang="en-US" dirty="0"/>
              <a:t> </a:t>
            </a:r>
          </a:p>
        </p:txBody>
      </p:sp>
    </p:spTree>
    <p:extLst>
      <p:ext uri="{BB962C8B-B14F-4D97-AF65-F5344CB8AC3E}">
        <p14:creationId xmlns:p14="http://schemas.microsoft.com/office/powerpoint/2010/main" val="2045055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Wallis &amp; Jorge 2018 </a:t>
            </a:r>
          </a:p>
        </p:txBody>
      </p:sp>
      <p:pic>
        <p:nvPicPr>
          <p:cNvPr id="2" name="Picture 1"/>
          <p:cNvPicPr>
            <a:picLocks noChangeAspect="1"/>
          </p:cNvPicPr>
          <p:nvPr/>
        </p:nvPicPr>
        <p:blipFill>
          <a:blip r:embed="rId2"/>
          <a:stretch>
            <a:fillRect/>
          </a:stretch>
        </p:blipFill>
        <p:spPr>
          <a:xfrm>
            <a:off x="69036" y="1934308"/>
            <a:ext cx="4615331" cy="3232312"/>
          </a:xfrm>
          <a:prstGeom prst="rect">
            <a:avLst/>
          </a:prstGeom>
        </p:spPr>
      </p:pic>
      <p:sp>
        <p:nvSpPr>
          <p:cNvPr id="6" name="Rectangle 5"/>
          <p:cNvSpPr/>
          <p:nvPr/>
        </p:nvSpPr>
        <p:spPr>
          <a:xfrm>
            <a:off x="4303440" y="6409565"/>
            <a:ext cx="4535992" cy="369332"/>
          </a:xfrm>
          <a:prstGeom prst="rect">
            <a:avLst/>
          </a:prstGeom>
        </p:spPr>
        <p:txBody>
          <a:bodyPr wrap="none">
            <a:spAutoFit/>
          </a:bodyPr>
          <a:lstStyle/>
          <a:p>
            <a:r>
              <a:rPr lang="en-US" dirty="0">
                <a:hlinkClick r:id="rId3"/>
              </a:rPr>
              <a:t>https://www.pnas.org/content/103/51/19419</a:t>
            </a:r>
            <a:r>
              <a:rPr lang="en-US" dirty="0"/>
              <a:t> </a:t>
            </a:r>
          </a:p>
        </p:txBody>
      </p:sp>
      <p:pic>
        <p:nvPicPr>
          <p:cNvPr id="3" name="Picture 2"/>
          <p:cNvPicPr>
            <a:picLocks noChangeAspect="1"/>
          </p:cNvPicPr>
          <p:nvPr/>
        </p:nvPicPr>
        <p:blipFill>
          <a:blip r:embed="rId4"/>
          <a:stretch>
            <a:fillRect/>
          </a:stretch>
        </p:blipFill>
        <p:spPr>
          <a:xfrm>
            <a:off x="4769034" y="1120206"/>
            <a:ext cx="4279950" cy="4961820"/>
          </a:xfrm>
          <a:prstGeom prst="rect">
            <a:avLst/>
          </a:prstGeom>
        </p:spPr>
      </p:pic>
    </p:spTree>
    <p:extLst>
      <p:ext uri="{BB962C8B-B14F-4D97-AF65-F5344CB8AC3E}">
        <p14:creationId xmlns:p14="http://schemas.microsoft.com/office/powerpoint/2010/main" val="12561474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D79B3-468C-3B14-8623-7003CCFAAD8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E39B9D-24E2-2173-BAEA-3B3A461C3542}"/>
              </a:ext>
            </a:extLst>
          </p:cNvPr>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Other processes need to be considered-e.g. extinction</a:t>
            </a:r>
          </a:p>
        </p:txBody>
      </p:sp>
    </p:spTree>
    <p:extLst>
      <p:ext uri="{BB962C8B-B14F-4D97-AF65-F5344CB8AC3E}">
        <p14:creationId xmlns:p14="http://schemas.microsoft.com/office/powerpoint/2010/main" val="13564542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3">
            <a:extLst>
              <a:ext uri="{FF2B5EF4-FFF2-40B4-BE49-F238E27FC236}">
                <a16:creationId xmlns:a16="http://schemas.microsoft.com/office/drawing/2014/main" id="{DE9F158E-0A74-7E4B-92C0-3BD6B920BA29}"/>
              </a:ext>
            </a:extLst>
          </p:cNvPr>
          <p:cNvSpPr txBox="1">
            <a:spLocks noChangeArrowheads="1"/>
          </p:cNvSpPr>
          <p:nvPr/>
        </p:nvSpPr>
        <p:spPr bwMode="auto">
          <a:xfrm>
            <a:off x="130411" y="52892"/>
            <a:ext cx="8105760" cy="413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kern="1200">
                <a:solidFill>
                  <a:schemeClr val="tx1"/>
                </a:solidFill>
                <a:latin typeface="+mj-lt"/>
                <a:ea typeface="+mj-ea"/>
                <a:cs typeface="+mj-cs"/>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9pPr>
          </a:lstStyle>
          <a:p>
            <a:r>
              <a:rPr lang="en-US" altLang="en-US" sz="2540" dirty="0"/>
              <a:t>Extinction cascade in New Zealand</a:t>
            </a:r>
            <a:endParaRPr lang="en-US" altLang="en-US" sz="3628" dirty="0"/>
          </a:p>
        </p:txBody>
      </p:sp>
      <p:sp>
        <p:nvSpPr>
          <p:cNvPr id="3" name="TextBox 2">
            <a:extLst>
              <a:ext uri="{FF2B5EF4-FFF2-40B4-BE49-F238E27FC236}">
                <a16:creationId xmlns:a16="http://schemas.microsoft.com/office/drawing/2014/main" id="{B9D1305C-7F81-5F44-EE7D-DED64856D4FC}"/>
              </a:ext>
            </a:extLst>
          </p:cNvPr>
          <p:cNvSpPr txBox="1"/>
          <p:nvPr/>
        </p:nvSpPr>
        <p:spPr>
          <a:xfrm>
            <a:off x="5029223" y="6302971"/>
            <a:ext cx="3707865" cy="511102"/>
          </a:xfrm>
          <a:prstGeom prst="rect">
            <a:avLst/>
          </a:prstGeom>
          <a:noFill/>
        </p:spPr>
        <p:txBody>
          <a:bodyPr wrap="square">
            <a:spAutoFit/>
          </a:bodyPr>
          <a:lstStyle/>
          <a:p>
            <a:r>
              <a:rPr lang="en-AU" sz="907" dirty="0" err="1">
                <a:solidFill>
                  <a:srgbClr val="181817"/>
                </a:solidFill>
                <a:latin typeface="noto sans" panose="020B0604020202020204" pitchFamily="34" charset="0"/>
              </a:rPr>
              <a:t>Rawlence</a:t>
            </a:r>
            <a:r>
              <a:rPr lang="en-AU" sz="907" dirty="0">
                <a:solidFill>
                  <a:srgbClr val="181817"/>
                </a:solidFill>
                <a:latin typeface="noto sans" panose="020B0604020202020204" pitchFamily="34" charset="0"/>
              </a:rPr>
              <a:t> et al. (2022). Reconstructing the Impact of Humans on Aotearoa New Zealand's Biodiversity. In </a:t>
            </a:r>
            <a:r>
              <a:rPr lang="en-AU" sz="907" i="1" dirty="0">
                <a:solidFill>
                  <a:srgbClr val="181817"/>
                </a:solidFill>
                <a:latin typeface="noto sans" panose="020B0604020202020204" pitchFamily="34" charset="0"/>
              </a:rPr>
              <a:t>Historical Ecology</a:t>
            </a:r>
            <a:r>
              <a:rPr lang="en-AU" sz="907" dirty="0">
                <a:solidFill>
                  <a:srgbClr val="181817"/>
                </a:solidFill>
                <a:latin typeface="noto sans" panose="020B0604020202020204" pitchFamily="34" charset="0"/>
              </a:rPr>
              <a:t>, G. </a:t>
            </a:r>
            <a:r>
              <a:rPr lang="en-AU" sz="907" dirty="0" err="1">
                <a:solidFill>
                  <a:srgbClr val="181817"/>
                </a:solidFill>
                <a:latin typeface="noto sans" panose="020B0604020202020204" pitchFamily="34" charset="0"/>
              </a:rPr>
              <a:t>Decocq</a:t>
            </a:r>
            <a:r>
              <a:rPr lang="en-AU" sz="907" dirty="0">
                <a:solidFill>
                  <a:srgbClr val="181817"/>
                </a:solidFill>
                <a:latin typeface="noto sans" panose="020B0604020202020204" pitchFamily="34" charset="0"/>
              </a:rPr>
              <a:t> (Ed.). </a:t>
            </a:r>
            <a:r>
              <a:rPr lang="en-AU" sz="907" dirty="0">
                <a:solidFill>
                  <a:srgbClr val="181817"/>
                </a:solidFill>
                <a:latin typeface="noto sans" panose="020B0604020202020204" pitchFamily="34" charset="0"/>
                <a:hlinkClick r:id="rId3"/>
              </a:rPr>
              <a:t>https://doi.org/10.1002/9781394169764.ch18</a:t>
            </a:r>
            <a:r>
              <a:rPr lang="en-AU" sz="907" dirty="0">
                <a:solidFill>
                  <a:srgbClr val="181817"/>
                </a:solidFill>
                <a:latin typeface="noto sans" panose="020B0604020202020204" pitchFamily="34" charset="0"/>
              </a:rPr>
              <a:t> </a:t>
            </a:r>
            <a:endParaRPr lang="en-US" sz="907" i="1" dirty="0"/>
          </a:p>
        </p:txBody>
      </p:sp>
      <p:pic>
        <p:nvPicPr>
          <p:cNvPr id="4" name="Picture 3" descr="A diagram&#10;&#10;Description automatically generated">
            <a:extLst>
              <a:ext uri="{FF2B5EF4-FFF2-40B4-BE49-F238E27FC236}">
                <a16:creationId xmlns:a16="http://schemas.microsoft.com/office/drawing/2014/main" id="{AD5BE011-6FCB-1EBF-34BE-09E28A94C4FD}"/>
              </a:ext>
            </a:extLst>
          </p:cNvPr>
          <p:cNvPicPr>
            <a:picLocks noChangeAspect="1"/>
          </p:cNvPicPr>
          <p:nvPr/>
        </p:nvPicPr>
        <p:blipFill rotWithShape="1">
          <a:blip r:embed="rId4"/>
          <a:srcRect l="32426" t="9942" b="7205"/>
          <a:stretch/>
        </p:blipFill>
        <p:spPr>
          <a:xfrm>
            <a:off x="458580" y="466557"/>
            <a:ext cx="8289582" cy="5682622"/>
          </a:xfrm>
          <a:prstGeom prst="rect">
            <a:avLst/>
          </a:prstGeom>
          <a:ln>
            <a:solidFill>
              <a:schemeClr val="tx1"/>
            </a:solidFill>
          </a:ln>
        </p:spPr>
      </p:pic>
      <p:sp>
        <p:nvSpPr>
          <p:cNvPr id="5" name="Rectangle 4">
            <a:extLst>
              <a:ext uri="{FF2B5EF4-FFF2-40B4-BE49-F238E27FC236}">
                <a16:creationId xmlns:a16="http://schemas.microsoft.com/office/drawing/2014/main" id="{F99336E1-D679-E24D-A690-2CE632822FC4}"/>
              </a:ext>
            </a:extLst>
          </p:cNvPr>
          <p:cNvSpPr/>
          <p:nvPr/>
        </p:nvSpPr>
        <p:spPr>
          <a:xfrm>
            <a:off x="0" y="6487611"/>
            <a:ext cx="632082" cy="400110"/>
          </a:xfrm>
          <a:prstGeom prst="rect">
            <a:avLst/>
          </a:prstGeom>
          <a:solidFill>
            <a:srgbClr val="009FFF"/>
          </a:solidFill>
        </p:spPr>
        <p:txBody>
          <a:bodyPr wrap="square">
            <a:spAutoFit/>
          </a:bodyPr>
          <a:lstStyle/>
          <a:p>
            <a:pPr algn="ctr"/>
            <a:r>
              <a:rPr lang="en-US" sz="2000" dirty="0">
                <a:latin typeface="Calibri" panose="020F0502020204030204" pitchFamily="34" charset="0"/>
                <a:cs typeface="Calibri" panose="020F0502020204030204" pitchFamily="34" charset="0"/>
              </a:rPr>
              <a:t>LO4</a:t>
            </a:r>
          </a:p>
        </p:txBody>
      </p:sp>
    </p:spTree>
    <p:extLst>
      <p:ext uri="{BB962C8B-B14F-4D97-AF65-F5344CB8AC3E}">
        <p14:creationId xmlns:p14="http://schemas.microsoft.com/office/powerpoint/2010/main" val="3283600637"/>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9" name="Rectangle 43">
            <a:extLst>
              <a:ext uri="{FF2B5EF4-FFF2-40B4-BE49-F238E27FC236}">
                <a16:creationId xmlns:a16="http://schemas.microsoft.com/office/drawing/2014/main" id="{26F57C4B-40CF-7441-98F5-91BB73E5AC82}"/>
              </a:ext>
            </a:extLst>
          </p:cNvPr>
          <p:cNvSpPr>
            <a:spLocks noGrp="1" noChangeArrowheads="1"/>
          </p:cNvSpPr>
          <p:nvPr>
            <p:ph type="title"/>
          </p:nvPr>
        </p:nvSpPr>
        <p:spPr>
          <a:xfrm>
            <a:off x="261045" y="245161"/>
            <a:ext cx="8778240" cy="963045"/>
          </a:xfrm>
        </p:spPr>
        <p:txBody>
          <a:bodyPr/>
          <a:lstStyle/>
          <a:p>
            <a:r>
              <a:rPr lang="en-US" altLang="en-US" dirty="0"/>
              <a:t>Causes of mass extinctions</a:t>
            </a:r>
          </a:p>
        </p:txBody>
      </p:sp>
      <p:sp>
        <p:nvSpPr>
          <p:cNvPr id="5" name="Rectangle 4">
            <a:extLst>
              <a:ext uri="{FF2B5EF4-FFF2-40B4-BE49-F238E27FC236}">
                <a16:creationId xmlns:a16="http://schemas.microsoft.com/office/drawing/2014/main" id="{1E46EE34-451C-D045-A3AE-128919F6DB18}"/>
              </a:ext>
            </a:extLst>
          </p:cNvPr>
          <p:cNvSpPr/>
          <p:nvPr/>
        </p:nvSpPr>
        <p:spPr>
          <a:xfrm>
            <a:off x="195728" y="1273523"/>
            <a:ext cx="3919050" cy="3777637"/>
          </a:xfrm>
          <a:prstGeom prst="rect">
            <a:avLst/>
          </a:prstGeom>
        </p:spPr>
        <p:txBody>
          <a:bodyPr wrap="square">
            <a:spAutoFit/>
          </a:bodyPr>
          <a:lstStyle/>
          <a:p>
            <a:r>
              <a:rPr lang="en-US" altLang="en-US" sz="2177" dirty="0"/>
              <a:t>Some HUGE perturbation</a:t>
            </a:r>
          </a:p>
          <a:p>
            <a:endParaRPr lang="en-US" sz="2177" dirty="0"/>
          </a:p>
          <a:p>
            <a:r>
              <a:rPr lang="en-US" sz="2177" dirty="0"/>
              <a:t>E.g.:</a:t>
            </a:r>
          </a:p>
          <a:p>
            <a:endParaRPr lang="en-US" sz="2177" dirty="0"/>
          </a:p>
          <a:p>
            <a:r>
              <a:rPr lang="en-US" sz="2177" dirty="0"/>
              <a:t>Meteor impact</a:t>
            </a:r>
          </a:p>
          <a:p>
            <a:endParaRPr lang="en-US" sz="2177" dirty="0"/>
          </a:p>
          <a:p>
            <a:r>
              <a:rPr lang="en-US" sz="2177" dirty="0"/>
              <a:t>Mass volcanism</a:t>
            </a:r>
          </a:p>
          <a:p>
            <a:endParaRPr lang="en-US" sz="2177" dirty="0"/>
          </a:p>
          <a:p>
            <a:r>
              <a:rPr lang="en-US" sz="2177" dirty="0"/>
              <a:t>Icehouse earth</a:t>
            </a:r>
          </a:p>
          <a:p>
            <a:endParaRPr lang="en-US" sz="2177" dirty="0"/>
          </a:p>
          <a:p>
            <a:r>
              <a:rPr lang="en-US" sz="2177" dirty="0"/>
              <a:t>…etc.</a:t>
            </a:r>
          </a:p>
        </p:txBody>
      </p:sp>
      <p:pic>
        <p:nvPicPr>
          <p:cNvPr id="2" name="Picture 1">
            <a:extLst>
              <a:ext uri="{FF2B5EF4-FFF2-40B4-BE49-F238E27FC236}">
                <a16:creationId xmlns:a16="http://schemas.microsoft.com/office/drawing/2014/main" id="{88A731C7-335A-6E42-BA4B-A9FE83ECDA0D}"/>
              </a:ext>
            </a:extLst>
          </p:cNvPr>
          <p:cNvPicPr>
            <a:picLocks noChangeAspect="1"/>
          </p:cNvPicPr>
          <p:nvPr/>
        </p:nvPicPr>
        <p:blipFill>
          <a:blip r:embed="rId3"/>
          <a:stretch>
            <a:fillRect/>
          </a:stretch>
        </p:blipFill>
        <p:spPr>
          <a:xfrm>
            <a:off x="2547158" y="1730746"/>
            <a:ext cx="6240192" cy="4734989"/>
          </a:xfrm>
          <a:prstGeom prst="rect">
            <a:avLst/>
          </a:prstGeom>
        </p:spPr>
      </p:pic>
      <p:sp>
        <p:nvSpPr>
          <p:cNvPr id="6" name="Rectangle 5">
            <a:extLst>
              <a:ext uri="{FF2B5EF4-FFF2-40B4-BE49-F238E27FC236}">
                <a16:creationId xmlns:a16="http://schemas.microsoft.com/office/drawing/2014/main" id="{0B0BAEBF-A96B-D047-9312-514B82214CAB}"/>
              </a:ext>
            </a:extLst>
          </p:cNvPr>
          <p:cNvSpPr/>
          <p:nvPr/>
        </p:nvSpPr>
        <p:spPr>
          <a:xfrm>
            <a:off x="0" y="6487611"/>
            <a:ext cx="632082" cy="400110"/>
          </a:xfrm>
          <a:prstGeom prst="rect">
            <a:avLst/>
          </a:prstGeom>
          <a:solidFill>
            <a:srgbClr val="009FFF"/>
          </a:solidFill>
        </p:spPr>
        <p:txBody>
          <a:bodyPr wrap="square">
            <a:spAutoFit/>
          </a:bodyPr>
          <a:lstStyle/>
          <a:p>
            <a:pPr algn="ctr"/>
            <a:r>
              <a:rPr lang="en-US" sz="2000" dirty="0">
                <a:latin typeface="Calibri" panose="020F0502020204030204" pitchFamily="34" charset="0"/>
                <a:cs typeface="Calibri" panose="020F0502020204030204" pitchFamily="34" charset="0"/>
              </a:rPr>
              <a:t>LO2</a:t>
            </a:r>
          </a:p>
        </p:txBody>
      </p:sp>
      <p:sp>
        <p:nvSpPr>
          <p:cNvPr id="3" name="Rectangle 2">
            <a:extLst>
              <a:ext uri="{FF2B5EF4-FFF2-40B4-BE49-F238E27FC236}">
                <a16:creationId xmlns:a16="http://schemas.microsoft.com/office/drawing/2014/main" id="{83AF2FE6-0956-E19F-6E8B-8F1F38B60C5D}"/>
              </a:ext>
            </a:extLst>
          </p:cNvPr>
          <p:cNvSpPr/>
          <p:nvPr/>
        </p:nvSpPr>
        <p:spPr>
          <a:xfrm>
            <a:off x="718268" y="6487611"/>
            <a:ext cx="632082" cy="400110"/>
          </a:xfrm>
          <a:prstGeom prst="rect">
            <a:avLst/>
          </a:prstGeom>
          <a:solidFill>
            <a:srgbClr val="009FFF"/>
          </a:solidFill>
        </p:spPr>
        <p:txBody>
          <a:bodyPr wrap="square">
            <a:spAutoFit/>
          </a:bodyPr>
          <a:lstStyle/>
          <a:p>
            <a:pPr algn="ctr"/>
            <a:r>
              <a:rPr lang="en-US" sz="2000" dirty="0">
                <a:latin typeface="Calibri" panose="020F0502020204030204" pitchFamily="34" charset="0"/>
                <a:cs typeface="Calibri" panose="020F0502020204030204" pitchFamily="34" charset="0"/>
              </a:rPr>
              <a:t>LO3</a:t>
            </a:r>
          </a:p>
        </p:txBody>
      </p:sp>
    </p:spTree>
    <p:extLst>
      <p:ext uri="{BB962C8B-B14F-4D97-AF65-F5344CB8AC3E}">
        <p14:creationId xmlns:p14="http://schemas.microsoft.com/office/powerpoint/2010/main" val="192295895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7560-3AF9-028A-E2F6-A9CAAB43893F}"/>
              </a:ext>
            </a:extLst>
          </p:cNvPr>
          <p:cNvSpPr>
            <a:spLocks noGrp="1"/>
          </p:cNvSpPr>
          <p:nvPr>
            <p:ph type="title"/>
          </p:nvPr>
        </p:nvSpPr>
        <p:spPr>
          <a:xfrm>
            <a:off x="195728" y="361"/>
            <a:ext cx="7806240" cy="1143360"/>
          </a:xfrm>
        </p:spPr>
        <p:txBody>
          <a:bodyPr>
            <a:normAutofit fontScale="90000"/>
          </a:bodyPr>
          <a:lstStyle/>
          <a:p>
            <a:r>
              <a:rPr lang="en-US" dirty="0"/>
              <a:t>Detour: Nature of Science and the ‘end’ of the dinosaurs</a:t>
            </a:r>
          </a:p>
        </p:txBody>
      </p:sp>
      <p:pic>
        <p:nvPicPr>
          <p:cNvPr id="4" name="Picture 3">
            <a:extLst>
              <a:ext uri="{FF2B5EF4-FFF2-40B4-BE49-F238E27FC236}">
                <a16:creationId xmlns:a16="http://schemas.microsoft.com/office/drawing/2014/main" id="{A66EFEE2-9146-75D0-EEBD-88EEDE713DC1}"/>
              </a:ext>
            </a:extLst>
          </p:cNvPr>
          <p:cNvPicPr>
            <a:picLocks noChangeAspect="1"/>
          </p:cNvPicPr>
          <p:nvPr/>
        </p:nvPicPr>
        <p:blipFill>
          <a:blip r:embed="rId2"/>
          <a:stretch>
            <a:fillRect/>
          </a:stretch>
        </p:blipFill>
        <p:spPr>
          <a:xfrm>
            <a:off x="326363" y="1861381"/>
            <a:ext cx="5747939" cy="3961529"/>
          </a:xfrm>
          <a:prstGeom prst="rect">
            <a:avLst/>
          </a:prstGeom>
          <a:ln>
            <a:solidFill>
              <a:schemeClr val="tx1"/>
            </a:solidFill>
          </a:ln>
        </p:spPr>
      </p:pic>
      <p:sp>
        <p:nvSpPr>
          <p:cNvPr id="6" name="TextBox 5">
            <a:extLst>
              <a:ext uri="{FF2B5EF4-FFF2-40B4-BE49-F238E27FC236}">
                <a16:creationId xmlns:a16="http://schemas.microsoft.com/office/drawing/2014/main" id="{03180B1A-CC74-B1D1-0294-F51CE1E67376}"/>
              </a:ext>
            </a:extLst>
          </p:cNvPr>
          <p:cNvSpPr txBox="1"/>
          <p:nvPr/>
        </p:nvSpPr>
        <p:spPr>
          <a:xfrm>
            <a:off x="326363" y="5828001"/>
            <a:ext cx="5747939" cy="762773"/>
          </a:xfrm>
          <a:prstGeom prst="rect">
            <a:avLst/>
          </a:prstGeom>
          <a:noFill/>
        </p:spPr>
        <p:txBody>
          <a:bodyPr wrap="square">
            <a:spAutoFit/>
          </a:bodyPr>
          <a:lstStyle/>
          <a:p>
            <a:r>
              <a:rPr lang="en-AU" sz="1089" dirty="0">
                <a:solidFill>
                  <a:srgbClr val="273540"/>
                </a:solidFill>
                <a:latin typeface="Calibri" panose="020F0502020204030204" pitchFamily="34" charset="0"/>
                <a:cs typeface="Calibri" panose="020F0502020204030204" pitchFamily="34" charset="0"/>
              </a:rPr>
              <a:t>Understanding Science (2007). Asteroids and dinosaurs: Unexpected twists and an unfinished story. </a:t>
            </a:r>
            <a:r>
              <a:rPr lang="en-AU" sz="1089" i="1" dirty="0">
                <a:solidFill>
                  <a:srgbClr val="273540"/>
                </a:solidFill>
                <a:latin typeface="Calibri" panose="020F0502020204030204" pitchFamily="34" charset="0"/>
                <a:cs typeface="Calibri" panose="020F0502020204030204" pitchFamily="34" charset="0"/>
              </a:rPr>
              <a:t>Understanding Science website at UC Berkeley</a:t>
            </a:r>
            <a:r>
              <a:rPr lang="en-AU" sz="1089" dirty="0">
                <a:solidFill>
                  <a:srgbClr val="273540"/>
                </a:solidFill>
                <a:latin typeface="Calibri" panose="020F0502020204030204" pitchFamily="34" charset="0"/>
                <a:cs typeface="Calibri" panose="020F0502020204030204" pitchFamily="34" charset="0"/>
              </a:rPr>
              <a:t>. This is a good deep dive into the process that led the father-son Alvarez team to the impact theory for the extinction of the dinosaurs. </a:t>
            </a:r>
            <a:r>
              <a:rPr lang="en-AU" sz="1089" u="sng" dirty="0">
                <a:solidFill>
                  <a:srgbClr val="003F70"/>
                </a:solidFill>
                <a:latin typeface="Calibri" panose="020F0502020204030204" pitchFamily="34" charset="0"/>
                <a:cs typeface="Calibri" panose="020F0502020204030204" pitchFamily="34" charset="0"/>
                <a:hlinkClick r:id="rId3"/>
              </a:rPr>
              <a:t>https://undsci.berkeley.edu/lessons/pdfs/alvarez_woflow.pdf</a:t>
            </a:r>
            <a:endParaRPr lang="en-US" sz="1089" dirty="0">
              <a:latin typeface="Calibri" panose="020F0502020204030204" pitchFamily="34" charset="0"/>
              <a:cs typeface="Calibri" panose="020F0502020204030204" pitchFamily="34" charset="0"/>
            </a:endParaRPr>
          </a:p>
        </p:txBody>
      </p:sp>
      <p:sp>
        <p:nvSpPr>
          <p:cNvPr id="9" name="Title 1">
            <a:extLst>
              <a:ext uri="{FF2B5EF4-FFF2-40B4-BE49-F238E27FC236}">
                <a16:creationId xmlns:a16="http://schemas.microsoft.com/office/drawing/2014/main" id="{D8C0FC65-68ED-2EBC-FFB0-2D917D7626A5}"/>
              </a:ext>
            </a:extLst>
          </p:cNvPr>
          <p:cNvSpPr txBox="1">
            <a:spLocks/>
          </p:cNvSpPr>
          <p:nvPr/>
        </p:nvSpPr>
        <p:spPr bwMode="auto">
          <a:xfrm>
            <a:off x="326363" y="1437938"/>
            <a:ext cx="2482065" cy="40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kern="1200">
                <a:solidFill>
                  <a:schemeClr val="tx1"/>
                </a:solidFill>
                <a:latin typeface="+mj-lt"/>
                <a:ea typeface="+mj-ea"/>
                <a:cs typeface="+mj-cs"/>
              </a:defRPr>
            </a:lvl1pPr>
            <a:lvl2pPr marL="742950" indent="-28575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2pPr>
            <a:lvl3pPr marL="1143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3pPr>
            <a:lvl4pPr marL="1600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4pPr>
            <a:lvl5pPr marL="20574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algn="l" defTabSz="457200" rtl="0" fontAlgn="base" hangingPunct="0">
              <a:lnSpc>
                <a:spcPct val="93000"/>
              </a:lnSpc>
              <a:spcBef>
                <a:spcPct val="0"/>
              </a:spcBef>
              <a:spcAft>
                <a:spcPct val="0"/>
              </a:spcAft>
              <a:buClr>
                <a:srgbClr val="000000"/>
              </a:buClr>
              <a:buSzPct val="100000"/>
              <a:buFont typeface="Times New Roman" panose="02020603050405020304" pitchFamily="18" charset="0"/>
              <a:defRPr sz="4000" b="1">
                <a:solidFill>
                  <a:srgbClr val="FFFF66"/>
                </a:solidFill>
                <a:latin typeface="Arial" panose="020B0604020202020204" pitchFamily="34" charset="0"/>
                <a:ea typeface="Arial Unicode MS" panose="020B0604020202020204" pitchFamily="34" charset="-128"/>
                <a:cs typeface="Arial Unicode MS" panose="020B0604020202020204" pitchFamily="34" charset="-128"/>
              </a:defRPr>
            </a:lvl9pPr>
          </a:lstStyle>
          <a:p>
            <a:r>
              <a:rPr lang="en-US" sz="1451" dirty="0"/>
              <a:t>Recommended reading:</a:t>
            </a:r>
          </a:p>
        </p:txBody>
      </p:sp>
    </p:spTree>
    <p:extLst>
      <p:ext uri="{BB962C8B-B14F-4D97-AF65-F5344CB8AC3E}">
        <p14:creationId xmlns:p14="http://schemas.microsoft.com/office/powerpoint/2010/main" val="39457418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3CA1-9A92-2F65-C59E-CE832B49881E}"/>
              </a:ext>
            </a:extLst>
          </p:cNvPr>
          <p:cNvSpPr>
            <a:spLocks noGrp="1"/>
          </p:cNvSpPr>
          <p:nvPr>
            <p:ph type="title"/>
          </p:nvPr>
        </p:nvSpPr>
        <p:spPr/>
        <p:txBody>
          <a:bodyPr/>
          <a:lstStyle/>
          <a:p>
            <a:r>
              <a:rPr lang="en-US" dirty="0"/>
              <a:t>K-Pg tsunami in NZ?</a:t>
            </a:r>
          </a:p>
        </p:txBody>
      </p:sp>
      <p:sp>
        <p:nvSpPr>
          <p:cNvPr id="3" name="Content Placeholder 2">
            <a:extLst>
              <a:ext uri="{FF2B5EF4-FFF2-40B4-BE49-F238E27FC236}">
                <a16:creationId xmlns:a16="http://schemas.microsoft.com/office/drawing/2014/main" id="{FEFEC077-F8B8-C676-3EFA-58733C3579F9}"/>
              </a:ext>
            </a:extLst>
          </p:cNvPr>
          <p:cNvSpPr>
            <a:spLocks noGrp="1"/>
          </p:cNvSpPr>
          <p:nvPr>
            <p:ph idx="1"/>
          </p:nvPr>
        </p:nvSpPr>
        <p:spPr/>
        <p:txBody>
          <a:bodyPr/>
          <a:lstStyle/>
          <a:p>
            <a:r>
              <a:rPr lang="en-NZ" b="1" dirty="0"/>
              <a:t>A Mega-Tsunami Deposit at the KT Boundary</a:t>
            </a:r>
          </a:p>
          <a:p>
            <a:r>
              <a:rPr lang="en-US" dirty="0">
                <a:hlinkClick r:id="rId2"/>
              </a:rPr>
              <a:t>https://www.youtube.com/watch?v=3RI1QtF-Tuk</a:t>
            </a:r>
            <a:r>
              <a:rPr lang="en-US" dirty="0"/>
              <a:t> </a:t>
            </a:r>
          </a:p>
          <a:p>
            <a:r>
              <a:rPr lang="en-US" dirty="0"/>
              <a:t>NZ Geographic: </a:t>
            </a:r>
            <a:r>
              <a:rPr lang="en-US" dirty="0">
                <a:hlinkClick r:id="rId3"/>
              </a:rPr>
              <a:t>https://www.nzgeo.com/stories/the-day-the-earth-stood-still/</a:t>
            </a:r>
            <a:r>
              <a:rPr lang="en-US" dirty="0"/>
              <a:t> </a:t>
            </a:r>
          </a:p>
        </p:txBody>
      </p:sp>
    </p:spTree>
    <p:extLst>
      <p:ext uri="{BB962C8B-B14F-4D97-AF65-F5344CB8AC3E}">
        <p14:creationId xmlns:p14="http://schemas.microsoft.com/office/powerpoint/2010/main" val="35909636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9" name="Rectangle 43">
            <a:extLst>
              <a:ext uri="{FF2B5EF4-FFF2-40B4-BE49-F238E27FC236}">
                <a16:creationId xmlns:a16="http://schemas.microsoft.com/office/drawing/2014/main" id="{26F57C4B-40CF-7441-98F5-91BB73E5AC82}"/>
              </a:ext>
            </a:extLst>
          </p:cNvPr>
          <p:cNvSpPr>
            <a:spLocks noGrp="1" noChangeArrowheads="1"/>
          </p:cNvSpPr>
          <p:nvPr>
            <p:ph type="title"/>
          </p:nvPr>
        </p:nvSpPr>
        <p:spPr>
          <a:xfrm>
            <a:off x="115171" y="256502"/>
            <a:ext cx="3527145" cy="1599750"/>
          </a:xfrm>
        </p:spPr>
        <p:txBody>
          <a:bodyPr>
            <a:normAutofit fontScale="90000"/>
          </a:bodyPr>
          <a:lstStyle/>
          <a:p>
            <a:r>
              <a:rPr lang="en-US" altLang="en-US" sz="2540" dirty="0"/>
              <a:t>Extinction as macroevolution:</a:t>
            </a:r>
            <a:br>
              <a:rPr lang="en-US" altLang="en-US" sz="2540" dirty="0"/>
            </a:br>
            <a:r>
              <a:rPr lang="en-US" altLang="en-US" sz="2540" dirty="0"/>
              <a:t>    Biases in mass   </a:t>
            </a:r>
            <a:br>
              <a:rPr lang="en-US" altLang="en-US" sz="2540" dirty="0"/>
            </a:br>
            <a:r>
              <a:rPr lang="en-US" altLang="en-US" sz="2540" dirty="0"/>
              <a:t>       extinctions</a:t>
            </a:r>
            <a:endParaRPr lang="en-US" altLang="en-US" dirty="0"/>
          </a:p>
        </p:txBody>
      </p:sp>
      <p:pic>
        <p:nvPicPr>
          <p:cNvPr id="2" name="Picture 1"/>
          <p:cNvPicPr>
            <a:picLocks noChangeAspect="1"/>
          </p:cNvPicPr>
          <p:nvPr/>
        </p:nvPicPr>
        <p:blipFill>
          <a:blip r:embed="rId3"/>
          <a:stretch>
            <a:fillRect/>
          </a:stretch>
        </p:blipFill>
        <p:spPr>
          <a:xfrm>
            <a:off x="3657556" y="620348"/>
            <a:ext cx="5355810" cy="1423697"/>
          </a:xfrm>
          <a:prstGeom prst="rect">
            <a:avLst/>
          </a:prstGeom>
          <a:ln>
            <a:solidFill>
              <a:schemeClr val="bg1">
                <a:lumMod val="65000"/>
              </a:schemeClr>
            </a:solidFill>
          </a:ln>
        </p:spPr>
      </p:pic>
      <p:pic>
        <p:nvPicPr>
          <p:cNvPr id="3" name="Picture 2"/>
          <p:cNvPicPr>
            <a:picLocks noChangeAspect="1"/>
          </p:cNvPicPr>
          <p:nvPr/>
        </p:nvPicPr>
        <p:blipFill>
          <a:blip r:embed="rId4"/>
          <a:stretch>
            <a:fillRect/>
          </a:stretch>
        </p:blipFill>
        <p:spPr>
          <a:xfrm>
            <a:off x="4572000" y="2253286"/>
            <a:ext cx="3937989" cy="4090568"/>
          </a:xfrm>
          <a:prstGeom prst="rect">
            <a:avLst/>
          </a:prstGeom>
          <a:ln>
            <a:solidFill>
              <a:schemeClr val="bg1">
                <a:lumMod val="65000"/>
              </a:schemeClr>
            </a:solidFill>
          </a:ln>
        </p:spPr>
      </p:pic>
      <p:pic>
        <p:nvPicPr>
          <p:cNvPr id="4" name="Picture 3"/>
          <p:cNvPicPr>
            <a:picLocks noChangeAspect="1"/>
          </p:cNvPicPr>
          <p:nvPr/>
        </p:nvPicPr>
        <p:blipFill>
          <a:blip r:embed="rId5"/>
          <a:stretch>
            <a:fillRect/>
          </a:stretch>
        </p:blipFill>
        <p:spPr>
          <a:xfrm>
            <a:off x="195728" y="1992015"/>
            <a:ext cx="3420558" cy="4594591"/>
          </a:xfrm>
          <a:prstGeom prst="rect">
            <a:avLst/>
          </a:prstGeom>
          <a:ln>
            <a:solidFill>
              <a:schemeClr val="bg1">
                <a:lumMod val="65000"/>
              </a:schemeClr>
            </a:solidFill>
          </a:ln>
        </p:spPr>
      </p:pic>
      <p:sp>
        <p:nvSpPr>
          <p:cNvPr id="6" name="Rectangle 5">
            <a:extLst>
              <a:ext uri="{FF2B5EF4-FFF2-40B4-BE49-F238E27FC236}">
                <a16:creationId xmlns:a16="http://schemas.microsoft.com/office/drawing/2014/main" id="{BE37DD12-CBF3-654C-9C63-BB2B14BFACBC}"/>
              </a:ext>
            </a:extLst>
          </p:cNvPr>
          <p:cNvSpPr/>
          <p:nvPr/>
        </p:nvSpPr>
        <p:spPr>
          <a:xfrm>
            <a:off x="0" y="6537354"/>
            <a:ext cx="632082" cy="400110"/>
          </a:xfrm>
          <a:prstGeom prst="rect">
            <a:avLst/>
          </a:prstGeom>
          <a:solidFill>
            <a:srgbClr val="009FFF"/>
          </a:solidFill>
        </p:spPr>
        <p:txBody>
          <a:bodyPr wrap="square">
            <a:spAutoFit/>
          </a:bodyPr>
          <a:lstStyle/>
          <a:p>
            <a:pPr algn="ctr"/>
            <a:r>
              <a:rPr lang="en-US" sz="2000" dirty="0">
                <a:latin typeface="Calibri" panose="020F0502020204030204" pitchFamily="34" charset="0"/>
                <a:cs typeface="Calibri" panose="020F0502020204030204" pitchFamily="34" charset="0"/>
              </a:rPr>
              <a:t>LO3</a:t>
            </a:r>
          </a:p>
        </p:txBody>
      </p:sp>
      <p:sp>
        <p:nvSpPr>
          <p:cNvPr id="5" name="Rectangle 4">
            <a:extLst>
              <a:ext uri="{FF2B5EF4-FFF2-40B4-BE49-F238E27FC236}">
                <a16:creationId xmlns:a16="http://schemas.microsoft.com/office/drawing/2014/main" id="{00F94ABF-A509-3EF9-9F10-9757ACE38633}"/>
              </a:ext>
            </a:extLst>
          </p:cNvPr>
          <p:cNvSpPr/>
          <p:nvPr/>
        </p:nvSpPr>
        <p:spPr>
          <a:xfrm>
            <a:off x="784546" y="6544999"/>
            <a:ext cx="632082" cy="400110"/>
          </a:xfrm>
          <a:prstGeom prst="rect">
            <a:avLst/>
          </a:prstGeom>
          <a:solidFill>
            <a:srgbClr val="009FFF"/>
          </a:solidFill>
        </p:spPr>
        <p:txBody>
          <a:bodyPr wrap="square">
            <a:spAutoFit/>
          </a:bodyPr>
          <a:lstStyle/>
          <a:p>
            <a:pPr algn="ctr"/>
            <a:r>
              <a:rPr lang="en-US" sz="2000" dirty="0">
                <a:latin typeface="Calibri" panose="020F0502020204030204" pitchFamily="34" charset="0"/>
                <a:cs typeface="Calibri" panose="020F0502020204030204" pitchFamily="34" charset="0"/>
              </a:rPr>
              <a:t>LO4</a:t>
            </a:r>
          </a:p>
        </p:txBody>
      </p:sp>
    </p:spTree>
    <p:extLst>
      <p:ext uri="{BB962C8B-B14F-4D97-AF65-F5344CB8AC3E}">
        <p14:creationId xmlns:p14="http://schemas.microsoft.com/office/powerpoint/2010/main" val="2240103214"/>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The puzzle of NZ biogeography</a:t>
            </a:r>
          </a:p>
        </p:txBody>
      </p:sp>
      <p:sp>
        <p:nvSpPr>
          <p:cNvPr id="14" name="Rounded Rectangular Callout 13"/>
          <p:cNvSpPr/>
          <p:nvPr/>
        </p:nvSpPr>
        <p:spPr>
          <a:xfrm>
            <a:off x="2265167" y="1551185"/>
            <a:ext cx="4762500" cy="1231226"/>
          </a:xfrm>
          <a:prstGeom prst="wedgeRoundRectCallout">
            <a:avLst>
              <a:gd name="adj1" fmla="val -30349"/>
              <a:gd name="adj2" fmla="val 66437"/>
              <a:gd name="adj3" fmla="val 16667"/>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a:solidFill>
                  <a:schemeClr val="tx1"/>
                </a:solidFill>
              </a:rPr>
              <a:t>“</a:t>
            </a:r>
            <a:r>
              <a:rPr lang="mr-IN" dirty="0">
                <a:solidFill>
                  <a:schemeClr val="tx1"/>
                </a:solidFill>
              </a:rPr>
              <a:t>…</a:t>
            </a:r>
            <a:r>
              <a:rPr lang="en-US" dirty="0">
                <a:solidFill>
                  <a:schemeClr val="tx1"/>
                </a:solidFill>
              </a:rPr>
              <a:t>explain New Zealand and the </a:t>
            </a:r>
            <a:br>
              <a:rPr lang="en-US" dirty="0">
                <a:solidFill>
                  <a:schemeClr val="tx1"/>
                </a:solidFill>
              </a:rPr>
            </a:br>
            <a:r>
              <a:rPr lang="en-US" dirty="0">
                <a:solidFill>
                  <a:schemeClr val="tx1"/>
                </a:solidFill>
              </a:rPr>
              <a:t>world falls into place arou</a:t>
            </a:r>
            <a:r>
              <a:rPr lang="en-US" dirty="0">
                <a:solidFill>
                  <a:srgbClr val="000000"/>
                </a:solidFill>
              </a:rPr>
              <a:t>nd it.”</a:t>
            </a:r>
          </a:p>
          <a:p>
            <a:pPr algn="r"/>
            <a:br>
              <a:rPr lang="en-US" sz="1200" dirty="0">
                <a:solidFill>
                  <a:srgbClr val="000000"/>
                </a:solidFill>
              </a:rPr>
            </a:br>
            <a:r>
              <a:rPr lang="en-US" sz="1200" dirty="0">
                <a:solidFill>
                  <a:srgbClr val="000000"/>
                </a:solidFill>
              </a:rPr>
              <a:t>--</a:t>
            </a:r>
            <a:r>
              <a:rPr lang="en-US" sz="1200" i="1" dirty="0">
                <a:solidFill>
                  <a:srgbClr val="000000"/>
                </a:solidFill>
              </a:rPr>
              <a:t>JRSNZ </a:t>
            </a:r>
            <a:r>
              <a:rPr lang="en-US" sz="1200" dirty="0">
                <a:solidFill>
                  <a:srgbClr val="000000"/>
                </a:solidFill>
              </a:rPr>
              <a:t>(2021), call for papers, Evolutionary Biogeography of Aotearoa New Zealand; citing Gareth Nelson (1975).</a:t>
            </a:r>
            <a:r>
              <a:rPr lang="en-US" sz="1200" i="1" dirty="0">
                <a:solidFill>
                  <a:srgbClr val="000000"/>
                </a:solidFill>
              </a:rPr>
              <a:t> </a:t>
            </a:r>
            <a:endParaRPr lang="en-US" sz="1200" i="1" dirty="0">
              <a:solidFill>
                <a:schemeClr val="tx1"/>
              </a:solidFill>
            </a:endParaRPr>
          </a:p>
        </p:txBody>
      </p:sp>
      <p:grpSp>
        <p:nvGrpSpPr>
          <p:cNvPr id="15" name="Group 14">
            <a:extLst>
              <a:ext uri="{FF2B5EF4-FFF2-40B4-BE49-F238E27FC236}">
                <a16:creationId xmlns:a16="http://schemas.microsoft.com/office/drawing/2014/main" id="{2DF67363-8ABC-7640-811D-FC6007983A11}"/>
              </a:ext>
            </a:extLst>
          </p:cNvPr>
          <p:cNvGrpSpPr/>
          <p:nvPr/>
        </p:nvGrpSpPr>
        <p:grpSpPr>
          <a:xfrm>
            <a:off x="2159565" y="3674468"/>
            <a:ext cx="4092349" cy="2403038"/>
            <a:chOff x="4907718" y="2691713"/>
            <a:chExt cx="4092349" cy="2403038"/>
          </a:xfrm>
        </p:grpSpPr>
        <p:pic>
          <p:nvPicPr>
            <p:cNvPr id="16" name="Picture 15" descr="Muller_Zahirovic_2018_Zealandia_thickness.gif">
              <a:extLst>
                <a:ext uri="{FF2B5EF4-FFF2-40B4-BE49-F238E27FC236}">
                  <a16:creationId xmlns:a16="http://schemas.microsoft.com/office/drawing/2014/main" id="{0483E8C4-9990-CE41-B9AF-E7B5C9865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239" y="2992853"/>
              <a:ext cx="3986828" cy="1843908"/>
            </a:xfrm>
            <a:prstGeom prst="rect">
              <a:avLst/>
            </a:prstGeom>
          </p:spPr>
        </p:pic>
        <p:sp>
          <p:nvSpPr>
            <p:cNvPr id="17" name="Rectangle 16">
              <a:extLst>
                <a:ext uri="{FF2B5EF4-FFF2-40B4-BE49-F238E27FC236}">
                  <a16:creationId xmlns:a16="http://schemas.microsoft.com/office/drawing/2014/main" id="{6636BFAD-A937-4147-AB5C-77D3A2952908}"/>
                </a:ext>
              </a:extLst>
            </p:cNvPr>
            <p:cNvSpPr/>
            <p:nvPr/>
          </p:nvSpPr>
          <p:spPr>
            <a:xfrm>
              <a:off x="4907718" y="4786974"/>
              <a:ext cx="4092349" cy="307777"/>
            </a:xfrm>
            <a:prstGeom prst="rect">
              <a:avLst/>
            </a:prstGeom>
          </p:spPr>
          <p:txBody>
            <a:bodyPr wrap="square">
              <a:spAutoFit/>
            </a:bodyPr>
            <a:lstStyle/>
            <a:p>
              <a:pPr algn="ctr"/>
              <a:r>
                <a:rPr lang="en-US" sz="700" dirty="0">
                  <a:solidFill>
                    <a:schemeClr val="bg1">
                      <a:lumMod val="65000"/>
                    </a:schemeClr>
                  </a:solidFill>
                </a:rPr>
                <a:t>Müller, Sahirovic et al. (2018), U. Sydney "Modelling and visualising distributed crustal deformation of Australia and Zealandia using </a:t>
              </a:r>
              <a:r>
                <a:rPr lang="en-US" sz="700" i="1" dirty="0">
                  <a:solidFill>
                    <a:schemeClr val="bg1">
                      <a:lumMod val="65000"/>
                    </a:schemeClr>
                  </a:solidFill>
                </a:rPr>
                <a:t>GPlates 2.0</a:t>
              </a:r>
              <a:r>
                <a:rPr lang="en-US" sz="700" dirty="0">
                  <a:solidFill>
                    <a:schemeClr val="bg1">
                      <a:lumMod val="65000"/>
                    </a:schemeClr>
                  </a:solidFill>
                </a:rPr>
                <a:t>." https://www.youtube.com/watch?v=iKkCIdZ6oaE  </a:t>
              </a:r>
            </a:p>
          </p:txBody>
        </p:sp>
        <p:sp>
          <p:nvSpPr>
            <p:cNvPr id="18" name="Rectangle 17">
              <a:extLst>
                <a:ext uri="{FF2B5EF4-FFF2-40B4-BE49-F238E27FC236}">
                  <a16:creationId xmlns:a16="http://schemas.microsoft.com/office/drawing/2014/main" id="{44D73703-33B7-1F40-AB14-3535010217F0}"/>
                </a:ext>
              </a:extLst>
            </p:cNvPr>
            <p:cNvSpPr/>
            <p:nvPr/>
          </p:nvSpPr>
          <p:spPr>
            <a:xfrm>
              <a:off x="5202392" y="2691713"/>
              <a:ext cx="3572024" cy="307777"/>
            </a:xfrm>
            <a:prstGeom prst="rect">
              <a:avLst/>
            </a:prstGeom>
          </p:spPr>
          <p:txBody>
            <a:bodyPr wrap="none">
              <a:spAutoFit/>
            </a:bodyPr>
            <a:lstStyle/>
            <a:p>
              <a:r>
                <a:rPr lang="en-US" sz="1400" i="1" dirty="0"/>
                <a:t>GPlates</a:t>
              </a:r>
              <a:r>
                <a:rPr lang="en-US" sz="1400" dirty="0"/>
                <a:t> animation: Zealandia crustal thickness</a:t>
              </a:r>
            </a:p>
          </p:txBody>
        </p:sp>
      </p:grpSp>
    </p:spTree>
    <p:extLst>
      <p:ext uri="{BB962C8B-B14F-4D97-AF65-F5344CB8AC3E}">
        <p14:creationId xmlns:p14="http://schemas.microsoft.com/office/powerpoint/2010/main" val="3260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Conclusions </a:t>
            </a:r>
            <a:r>
              <a:rPr lang="mr-IN" sz="3200" dirty="0"/>
              <a:t>–</a:t>
            </a:r>
            <a:r>
              <a:rPr lang="en-US" sz="3200" dirty="0"/>
              <a:t> for review</a:t>
            </a:r>
          </a:p>
        </p:txBody>
      </p:sp>
      <p:sp>
        <p:nvSpPr>
          <p:cNvPr id="2" name="Rectangle 1"/>
          <p:cNvSpPr/>
          <p:nvPr/>
        </p:nvSpPr>
        <p:spPr>
          <a:xfrm>
            <a:off x="255003" y="1043001"/>
            <a:ext cx="8591489" cy="5262980"/>
          </a:xfrm>
          <a:prstGeom prst="rect">
            <a:avLst/>
          </a:prstGeom>
        </p:spPr>
        <p:txBody>
          <a:bodyPr wrap="none">
            <a:spAutoFit/>
          </a:bodyPr>
          <a:lstStyle/>
          <a:p>
            <a:r>
              <a:rPr lang="en-US" sz="2800" dirty="0"/>
              <a:t>Clearly, no one explanation/paradigm will fully explain NZ</a:t>
            </a:r>
          </a:p>
          <a:p>
            <a:endParaRPr lang="en-US" sz="2800" dirty="0"/>
          </a:p>
          <a:p>
            <a:r>
              <a:rPr lang="en-US" sz="2800" dirty="0"/>
              <a:t>Oligocene drowning was partial, not total</a:t>
            </a:r>
          </a:p>
          <a:p>
            <a:endParaRPr lang="en-US" sz="2800" dirty="0"/>
          </a:p>
          <a:p>
            <a:r>
              <a:rPr lang="en-US" sz="2800" dirty="0"/>
              <a:t>Dispersal important throughout, but likely some deep </a:t>
            </a:r>
            <a:br>
              <a:rPr lang="en-US" sz="2800" dirty="0"/>
            </a:br>
            <a:r>
              <a:rPr lang="en-US" sz="2800" dirty="0"/>
              <a:t>Gondwanan “ghosts”</a:t>
            </a:r>
          </a:p>
          <a:p>
            <a:endParaRPr lang="en-US" sz="2800" dirty="0"/>
          </a:p>
          <a:p>
            <a:r>
              <a:rPr lang="en-US" sz="2800" dirty="0"/>
              <a:t>Some fossils controversial (St. </a:t>
            </a:r>
            <a:r>
              <a:rPr lang="en-US" sz="2800" dirty="0" err="1"/>
              <a:t>Bathans</a:t>
            </a:r>
            <a:r>
              <a:rPr lang="en-US" sz="2800" dirty="0"/>
              <a:t> mammal)</a:t>
            </a:r>
          </a:p>
          <a:p>
            <a:endParaRPr lang="en-US" sz="2800" dirty="0"/>
          </a:p>
          <a:p>
            <a:r>
              <a:rPr lang="en-US" sz="2800" dirty="0"/>
              <a:t>I’d like to move this area to a model-based discussion, </a:t>
            </a:r>
            <a:br>
              <a:rPr lang="en-US" sz="2800" dirty="0"/>
            </a:br>
            <a:r>
              <a:rPr lang="en-US" sz="2800" dirty="0"/>
              <a:t>where we include e.g. extinction, climate change in our</a:t>
            </a:r>
            <a:br>
              <a:rPr lang="en-US" sz="2800" dirty="0"/>
            </a:br>
            <a:r>
              <a:rPr lang="en-US" sz="2800" dirty="0"/>
              <a:t>probabilistic weighing of different hypotheses</a:t>
            </a:r>
          </a:p>
        </p:txBody>
      </p:sp>
    </p:spTree>
    <p:extLst>
      <p:ext uri="{BB962C8B-B14F-4D97-AF65-F5344CB8AC3E}">
        <p14:creationId xmlns:p14="http://schemas.microsoft.com/office/powerpoint/2010/main" val="20251981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933F4-3D80-0D8B-E8B9-21B1B550ED8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802319E-B086-DC6F-1254-96D8C15C3290}"/>
              </a:ext>
            </a:extLst>
          </p:cNvPr>
          <p:cNvSpPr/>
          <p:nvPr/>
        </p:nvSpPr>
        <p:spPr>
          <a:xfrm>
            <a:off x="0" y="0"/>
            <a:ext cx="9144000" cy="920231"/>
          </a:xfrm>
          <a:prstGeom prst="rect">
            <a:avLst/>
          </a:prstGeom>
          <a:solidFill>
            <a:srgbClr val="000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a:t>Remaining time</a:t>
            </a:r>
          </a:p>
        </p:txBody>
      </p:sp>
      <p:sp>
        <p:nvSpPr>
          <p:cNvPr id="2" name="Rectangle 1">
            <a:extLst>
              <a:ext uri="{FF2B5EF4-FFF2-40B4-BE49-F238E27FC236}">
                <a16:creationId xmlns:a16="http://schemas.microsoft.com/office/drawing/2014/main" id="{1F16D112-D7AD-A750-D82F-A893CDEB39B7}"/>
              </a:ext>
            </a:extLst>
          </p:cNvPr>
          <p:cNvSpPr/>
          <p:nvPr/>
        </p:nvSpPr>
        <p:spPr>
          <a:xfrm>
            <a:off x="255003" y="1043001"/>
            <a:ext cx="7708783" cy="1815882"/>
          </a:xfrm>
          <a:prstGeom prst="rect">
            <a:avLst/>
          </a:prstGeom>
        </p:spPr>
        <p:txBody>
          <a:bodyPr wrap="square">
            <a:spAutoFit/>
          </a:bodyPr>
          <a:lstStyle/>
          <a:p>
            <a:r>
              <a:rPr lang="en-US" sz="2800" dirty="0"/>
              <a:t>Discuss papers in </a:t>
            </a:r>
            <a:r>
              <a:rPr lang="en-US" sz="2800" dirty="0" err="1"/>
              <a:t>zipfile</a:t>
            </a:r>
            <a:r>
              <a:rPr lang="en-US" sz="2800" dirty="0"/>
              <a:t>; what’s behind the dispersal/vicariance debate?</a:t>
            </a:r>
          </a:p>
          <a:p>
            <a:endParaRPr lang="en-US" sz="2800" dirty="0"/>
          </a:p>
          <a:p>
            <a:r>
              <a:rPr lang="en-US" sz="2800" dirty="0"/>
              <a:t>Assign 6 clades </a:t>
            </a:r>
            <a:r>
              <a:rPr lang="en-US" sz="2800"/>
              <a:t>for next week.</a:t>
            </a:r>
            <a:endParaRPr lang="en-US" sz="2800" dirty="0"/>
          </a:p>
        </p:txBody>
      </p:sp>
    </p:spTree>
    <p:extLst>
      <p:ext uri="{BB962C8B-B14F-4D97-AF65-F5344CB8AC3E}">
        <p14:creationId xmlns:p14="http://schemas.microsoft.com/office/powerpoint/2010/main" val="415590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75eb9d1-7479-4f8a-9240-cc5b19dbbc64}" enabled="1" method="Standard" siteId="{d1b36e95-0d50-42e9-958f-b63fa906beaa}" contentBits="0" removed="0"/>
</clbl:labelList>
</file>

<file path=docProps/app.xml><?xml version="1.0" encoding="utf-8"?>
<Properties xmlns="http://schemas.openxmlformats.org/officeDocument/2006/extended-properties" xmlns:vt="http://schemas.openxmlformats.org/officeDocument/2006/docPropsVTypes">
  <TotalTime>50340</TotalTime>
  <Words>3068</Words>
  <Application>Microsoft Macintosh PowerPoint</Application>
  <PresentationFormat>On-screen Show (4:3)</PresentationFormat>
  <Paragraphs>410</Paragraphs>
  <Slides>94</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94</vt:i4>
      </vt:variant>
    </vt:vector>
  </HeadingPairs>
  <TitlesOfParts>
    <vt:vector size="102" baseType="lpstr">
      <vt:lpstr>Arial</vt:lpstr>
      <vt:lpstr>Calibri</vt:lpstr>
      <vt:lpstr>Cambria</vt:lpstr>
      <vt:lpstr>Gill Sans</vt:lpstr>
      <vt:lpstr>Lato Extended</vt:lpstr>
      <vt:lpstr>noto sans</vt:lpstr>
      <vt:lpstr>Times New Roman</vt:lpstr>
      <vt:lpstr>Office Theme</vt:lpstr>
      <vt:lpstr>Module 1: Zealandia Controversies</vt:lpstr>
      <vt:lpstr>PowerPoint Presentation</vt:lpstr>
      <vt:lpstr>PowerPoint Presentation</vt:lpstr>
      <vt:lpstr>PowerPoint Presentation</vt:lpstr>
      <vt:lpstr>Evolution solved one biogeographical problem, but created new puzzles</vt:lpstr>
      <vt:lpstr>Evolution solved one biogeographical problem, but created new puzzles</vt:lpstr>
      <vt:lpstr>PowerPoint Presentation</vt:lpstr>
      <vt:lpstr>PowerPoint Presentation</vt:lpstr>
      <vt:lpstr>PowerPoint Presentation</vt:lpstr>
      <vt:lpstr>Wegener, continental drift</vt:lpstr>
      <vt:lpstr>Plate tectonics led many to favor vicariance</vt:lpstr>
      <vt:lpstr>1950s-1980s: panbiogeography</vt:lpstr>
      <vt:lpstr>1950s-1980s: panbiogeography</vt:lpstr>
      <vt:lpstr>1960s-1990s: plate tectonics &amp; cladistic biogeography</vt:lpstr>
      <vt:lpstr>1960s-1990s: plate tectonics &amp; cladistic biogeography</vt:lpstr>
      <vt:lpstr>1960s-1990s: plate tectonics &amp; cladistic biogeography</vt:lpstr>
      <vt:lpstr>1980s-2000s: diversity of methods in use</vt:lpstr>
      <vt:lpstr>D versus 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Event-based method #1</vt:lpstr>
      <vt:lpstr>1980s-2000s: parsimony methods</vt:lpstr>
      <vt:lpstr>Event-based method #2:   DIVA: Dispersal-vicariance analysis</vt:lpstr>
      <vt:lpstr>PowerPoint Presentation</vt:lpstr>
      <vt:lpstr>PowerPoint Presentation</vt:lpstr>
      <vt:lpstr>PowerPoint Presentation</vt:lpstr>
      <vt:lpstr>PowerPoint Presentation</vt:lpstr>
      <vt:lpstr>PowerPoint Presentation</vt:lpstr>
      <vt:lpstr>DEC: Dispersal-extinction cladogenesis</vt:lpstr>
      <vt:lpstr>Problems with the state-of-the-art analysis</vt:lpstr>
      <vt:lpstr>Unresolved fundamental issues</vt:lpstr>
      <vt:lpstr>Unresolved fundamental issues</vt:lpstr>
      <vt:lpstr>PowerPoint Presentation</vt:lpstr>
      <vt:lpstr>PowerPoint Presentation</vt:lpstr>
      <vt:lpstr>PowerPoint Presentation</vt:lpstr>
      <vt:lpstr>Comparison: 3 models</vt:lpstr>
      <vt:lpstr>PowerPoint Presentation</vt:lpstr>
      <vt:lpstr>Comparison of model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Causes of mass extinctions</vt:lpstr>
      <vt:lpstr>Detour: Nature of Science and the ‘end’ of the dinosaurs</vt:lpstr>
      <vt:lpstr>K-Pg tsunami in NZ?</vt:lpstr>
      <vt:lpstr>Extinction as macroevolution:     Biases in mass           extinctions</vt:lpstr>
      <vt:lpstr>PowerPoint Presentation</vt:lpstr>
      <vt:lpstr>PowerPoint Presentation</vt:lpstr>
      <vt:lpstr>PowerPoint Presentation</vt:lpstr>
    </vt:vector>
  </TitlesOfParts>
  <Company>ANU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Revolutionising phylogenetic biogeography</dc:title>
  <dc:creator>Nick Matzke</dc:creator>
  <cp:lastModifiedBy>Nicholas Matzke</cp:lastModifiedBy>
  <cp:revision>231</cp:revision>
  <dcterms:created xsi:type="dcterms:W3CDTF">2018-09-04T23:49:11Z</dcterms:created>
  <dcterms:modified xsi:type="dcterms:W3CDTF">2026-10-12T03:03:49Z</dcterms:modified>
</cp:coreProperties>
</file>