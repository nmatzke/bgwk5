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40DE4A-4FBC-4175-A0F5-E35C037F04AC}">
  <a:tblStyle styleId="{7940DE4A-4FBC-4175-A0F5-E35C037F04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6414B30-0893-49A6-B19A-E50DCBDA90D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05496bb02d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05496bb02d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05b2976318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05b2976318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5b297631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5b297631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05b2976318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05b2976318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05496bb02d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05496bb02d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05b2976318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05b2976318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05b297631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05b297631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05b297631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05b297631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50">
                <a:solidFill>
                  <a:schemeClr val="dk1"/>
                </a:solidFill>
              </a:rPr>
              <a:t>How might the inclusion of additional ecological or environmental factors impact the performance and accuracy of your models? </a:t>
            </a:r>
            <a:endParaRPr sz="1800">
              <a:solidFill>
                <a:srgbClr val="595959"/>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Stick in Gplates graphic from website and a picture of Sabine</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05b2976318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05b2976318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50">
                <a:solidFill>
                  <a:schemeClr val="dk1"/>
                </a:solidFill>
              </a:rPr>
              <a:t>How might the inclusion of additional ecological or environmental factors impact the performance and accuracy of your models? </a:t>
            </a:r>
            <a:endParaRPr sz="1800">
              <a:solidFill>
                <a:srgbClr val="595959"/>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5496bb02d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5496bb02d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Even since the development of these shapefiles and samples, GPlates has updated their information on plate movement. Geographic reconstructions are continuously improving.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Within the sample GUI from GPlates, you can create shapefiles based on their existing world file, must go through timestamps though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Taking Wallace’s new biogeographic regions, I </a:t>
            </a:r>
            <a:r>
              <a:rPr lang="en"/>
              <a:t>handbuilt</a:t>
            </a:r>
            <a:r>
              <a:rPr lang="en"/>
              <a:t> shapefiles for </a:t>
            </a:r>
            <a:r>
              <a:rPr lang="en"/>
              <a:t>individual </a:t>
            </a:r>
            <a:r>
              <a:rPr lang="en"/>
              <a:t>regions over various timestamps over millions of years combining multiple tectonic plates. Tectonic landmasses are left the same labeled number as the original rotational file so as to not lose their modeled movement, but grouped together under a single name so the user can define borders.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05496bb02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05496bb02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5b2976318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5b2976318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05496bb02d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05496bb02d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05b2976318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05b2976318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5b297631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05b297631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2x2</a:t>
            </a:r>
            <a:endParaRPr/>
          </a:p>
          <a:p>
            <a:pPr indent="0" lvl="0" marL="0" rtl="0" algn="l">
              <a:spcBef>
                <a:spcPts val="0"/>
              </a:spcBef>
              <a:spcAft>
                <a:spcPts val="0"/>
              </a:spcAft>
              <a:buNone/>
            </a:pPr>
            <a:r>
              <a:rPr lang="en"/>
              <a:t>4x4</a:t>
            </a:r>
            <a:endParaRPr/>
          </a:p>
          <a:p>
            <a:pPr indent="0" lvl="0" marL="0" rtl="0" algn="l">
              <a:spcBef>
                <a:spcPts val="0"/>
              </a:spcBef>
              <a:spcAft>
                <a:spcPts val="0"/>
              </a:spcAft>
              <a:buNone/>
            </a:pPr>
            <a:r>
              <a:rPr lang="en"/>
              <a:t>10x10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Table:</a:t>
            </a:r>
            <a:endParaRPr/>
          </a:p>
          <a:p>
            <a:pPr indent="0" lvl="0" marL="0" rtl="0" algn="l">
              <a:spcBef>
                <a:spcPts val="0"/>
              </a:spcBef>
              <a:spcAft>
                <a:spcPts val="0"/>
              </a:spcAft>
              <a:buNone/>
            </a:pPr>
            <a:r>
              <a:rPr lang="en"/>
              <a:t>Number of Areas (2) number</a:t>
            </a:r>
            <a:endParaRPr/>
          </a:p>
          <a:p>
            <a:pPr indent="0" lvl="0" marL="0" rtl="0" algn="l">
              <a:spcBef>
                <a:spcPts val="0"/>
              </a:spcBef>
              <a:spcAft>
                <a:spcPts val="0"/>
              </a:spcAft>
              <a:buNone/>
            </a:pPr>
            <a:r>
              <a:rPr lang="en"/>
              <a:t>Number of Ranges (4)  n^2</a:t>
            </a:r>
            <a:endParaRPr/>
          </a:p>
          <a:p>
            <a:pPr indent="0" lvl="0" marL="0" rtl="0" algn="l">
              <a:spcBef>
                <a:spcPts val="0"/>
              </a:spcBef>
              <a:spcAft>
                <a:spcPts val="0"/>
              </a:spcAft>
              <a:buNone/>
            </a:pPr>
            <a:r>
              <a:rPr lang="en"/>
              <a:t>Number of Interacting ODEs (8) n^2 x2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5b2976318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05b2976318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number of ODE interactions get exponentionally larger</a:t>
            </a:r>
            <a:endParaRPr/>
          </a:p>
          <a:p>
            <a:pPr indent="0" lvl="0" marL="0" rtl="0" algn="l">
              <a:spcBef>
                <a:spcPts val="0"/>
              </a:spcBef>
              <a:spcAft>
                <a:spcPts val="0"/>
              </a:spcAft>
              <a:buNone/>
            </a:pPr>
            <a:r>
              <a:rPr lang="en"/>
              <a:t>And our matrices of interactions grows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5b2976318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05b2976318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number of ODE interactions get </a:t>
            </a:r>
            <a:r>
              <a:rPr lang="en"/>
              <a:t>exponentially</a:t>
            </a:r>
            <a:r>
              <a:rPr lang="en"/>
              <a:t> larger</a:t>
            </a:r>
            <a:endParaRPr/>
          </a:p>
          <a:p>
            <a:pPr indent="0" lvl="0" marL="0" rtl="0" algn="l">
              <a:spcBef>
                <a:spcPts val="0"/>
              </a:spcBef>
              <a:spcAft>
                <a:spcPts val="0"/>
              </a:spcAft>
              <a:buNone/>
            </a:pPr>
            <a:r>
              <a:rPr lang="en"/>
              <a:t>And our matrices of interactions grows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05b2976318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05b2976318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Julia optimizers in blue - nice and green and speedy</a:t>
            </a:r>
            <a:endParaRPr/>
          </a:p>
          <a:p>
            <a:pPr indent="0" lvl="0" marL="0" rtl="0" algn="l">
              <a:spcBef>
                <a:spcPts val="0"/>
              </a:spcBef>
              <a:spcAft>
                <a:spcPts val="0"/>
              </a:spcAft>
              <a:buNone/>
            </a:pPr>
            <a:r>
              <a:rPr lang="en"/>
              <a:t>R in pink -a couple are okay, but most are poop</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5496bb02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05496bb02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 Poops are 7 areas</a:t>
            </a:r>
            <a:endParaRPr/>
          </a:p>
          <a:p>
            <a:pPr indent="0" lvl="0" marL="0" rtl="0" algn="l">
              <a:spcBef>
                <a:spcPts val="0"/>
              </a:spcBef>
              <a:spcAft>
                <a:spcPts val="0"/>
              </a:spcAft>
              <a:buNone/>
            </a:pPr>
            <a:r>
              <a:rPr lang="en"/>
              <a:t>Sucks to suck</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05496bb02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05496bb02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Datasets Nareas 2 - 11 (4 states to 2048 states)</a:t>
            </a:r>
            <a:endParaRPr/>
          </a:p>
          <a:p>
            <a:pPr indent="0" lvl="0" marL="0" rtl="0" algn="l">
              <a:spcBef>
                <a:spcPts val="0"/>
              </a:spcBef>
              <a:spcAft>
                <a:spcPts val="0"/>
              </a:spcAft>
              <a:buNone/>
            </a:pPr>
            <a:r>
              <a:rPr lang="en"/>
              <a:t>DECj Failed on the 11 state dataset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05496bb02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05496bb02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Arkode is R solver</a:t>
            </a:r>
            <a:endParaRPr/>
          </a:p>
          <a:p>
            <a:pPr indent="0" lvl="0" marL="0" rtl="0" algn="l">
              <a:spcBef>
                <a:spcPts val="0"/>
              </a:spcBef>
              <a:spcAft>
                <a:spcPts val="0"/>
              </a:spcAft>
              <a:buNone/>
            </a:pPr>
            <a:r>
              <a:rPr lang="en"/>
              <a:t>Maybe if we run Julia solvers in R we would get Julia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CVODE is good with precision even though it appeared to be ever so </a:t>
            </a:r>
            <a:r>
              <a:rPr lang="en"/>
              <a:t>slightly slower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05b297631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05b2976318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5496bb02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5496bb02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Realistic biogeographic model uses Speciation and Dispersal rates that change continuously</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We insert GPlates changing palaeodistances here, which impact both S and D rates, which impact the main ODEs within our analysis.</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Using hillclimbing optimization (stepped) to calculate maximum likelihood</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05496bb02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05496bb02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05b2976318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05b2976318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05b2976318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05b2976318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05b2976318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05b2976318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05496bb02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05496bb02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05496bb02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05496bb02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05b297631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05b297631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05496bb02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05496bb02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05496bb02d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05496bb02d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Split again was the worst</a:t>
            </a:r>
            <a:endParaRPr/>
          </a:p>
          <a:p>
            <a:pPr indent="0" lvl="0" marL="0" rtl="0" algn="l">
              <a:spcBef>
                <a:spcPts val="0"/>
              </a:spcBef>
              <a:spcAft>
                <a:spcPts val="0"/>
              </a:spcAft>
              <a:buNone/>
            </a:pPr>
            <a:r>
              <a:rPr lang="en"/>
              <a:t>Distance based SSE had the highest net Lnls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Again Split did better when using the DBSSE simulations than it’s own simulations</a:t>
            </a:r>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50.71% DBSSE vs Spread</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Times New Roman"/>
                <a:ea typeface="Times New Roman"/>
                <a:cs typeface="Times New Roman"/>
                <a:sym typeface="Times New Roman"/>
              </a:rPr>
              <a:t>21% vs Split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05b297631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05b297631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05b297631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05b297631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05b297631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05b297631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05b297631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05b297631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05b297631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05b297631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05b297631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05b297631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05b297631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05b297631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saw high rates of ABC rootstate assumption by the Control Model across all start states (lower, but still present assumptions by the other models for ABC. So to see Control as the highest correct model for ABC start state was not a huge </a:t>
            </a:r>
            <a:r>
              <a:rPr lang="en"/>
              <a:t>surprise</a:t>
            </a:r>
            <a:r>
              <a:rPr lang="en"/>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05496bb02d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05496bb02d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Correct State Probabilities for control were still</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05b297631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05b297631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saw high rates of ABC rootstate assumption by the Control Model across all start states (lower, but still present assumptions by the other models for ABC. So to see Control as the highest correct model for ABC start state was not a huge surprise)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05496bb02d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05496bb02d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05496bb02d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05496bb02d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05b2976318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05b2976318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Changing speciation and extinction changed the way the trees formed</a:t>
            </a:r>
            <a:endParaRPr/>
          </a:p>
          <a:p>
            <a:pPr indent="0" lvl="0" marL="0" rtl="0" algn="l">
              <a:spcBef>
                <a:spcPts val="0"/>
              </a:spcBef>
              <a:spcAft>
                <a:spcPts val="0"/>
              </a:spcAft>
              <a:buNone/>
            </a:pPr>
            <a:r>
              <a:rPr lang="en"/>
              <a:t>Removing easily inferred nodes - 100% node removal compensated for our concern that a tree might be ‘easy to solve’. Were our inferences more accurate amongst the ‘contested’ nodes? In short! Yes! (But weirdly the split model was actually the best model? Was the worst model against it’s own simulations…</a:t>
            </a:r>
            <a:endParaRPr/>
          </a:p>
          <a:p>
            <a:pPr indent="0" lvl="0" marL="0" rtl="0" algn="l">
              <a:spcBef>
                <a:spcPts val="0"/>
              </a:spcBef>
              <a:spcAft>
                <a:spcPts val="0"/>
              </a:spcAft>
              <a:buNone/>
            </a:pPr>
            <a:r>
              <a:rPr lang="en"/>
              <a:t>Lower Geographic Isolation (higher population connectivity) - In reality we do not know what the geographic isolation </a:t>
            </a:r>
            <a:r>
              <a:rPr lang="en"/>
              <a:t>threshold</a:t>
            </a:r>
            <a:r>
              <a:rPr lang="en"/>
              <a:t> would be, so do our models still work even if the isolation threshold is slightly off?</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05b297631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05b297631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05b297631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05b297631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05b2976318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05b2976318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05496bb0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05496bb0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05b297631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05b297631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05b297631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05b297631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05496bb02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05496bb02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05496bb02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05496bb02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05496bb02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05496bb02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2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8.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7.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0.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Improving realism in biogeographic simulation and inference with state-dependent speciation and extinction models using GPlates palaeogeography and the Julia programming language</a:t>
            </a:r>
            <a:endParaRPr/>
          </a:p>
        </p:txBody>
      </p:sp>
      <p:sp>
        <p:nvSpPr>
          <p:cNvPr id="55" name="Google Shape;55;p13"/>
          <p:cNvSpPr txBox="1"/>
          <p:nvPr>
            <p:ph idx="1" type="body"/>
          </p:nvPr>
        </p:nvSpPr>
        <p:spPr>
          <a:xfrm>
            <a:off x="3663650" y="4429525"/>
            <a:ext cx="5878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Wallis Bland</a:t>
            </a:r>
            <a:endParaRPr sz="2100"/>
          </a:p>
          <a:p>
            <a:pPr indent="0" lvl="0" marL="0" rtl="0" algn="l">
              <a:spcBef>
                <a:spcPts val="1200"/>
              </a:spcBef>
              <a:spcAft>
                <a:spcPts val="1200"/>
              </a:spcAft>
              <a:buNone/>
            </a:pPr>
            <a:r>
              <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768050" y="1191025"/>
            <a:ext cx="58782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lang="en" sz="2100"/>
              <a:t>Background</a:t>
            </a:r>
            <a:endParaRPr sz="2100"/>
          </a:p>
          <a:p>
            <a:pPr indent="-336550" lvl="1" marL="914400" rtl="0" algn="l">
              <a:spcBef>
                <a:spcPts val="0"/>
              </a:spcBef>
              <a:spcAft>
                <a:spcPts val="0"/>
              </a:spcAft>
              <a:buSzPts val="1700"/>
              <a:buAutoNum type="alphaLcPeriod"/>
            </a:pPr>
            <a:r>
              <a:rPr lang="en" sz="1700"/>
              <a:t>Biogeography and Models</a:t>
            </a:r>
            <a:endParaRPr sz="1700"/>
          </a:p>
          <a:p>
            <a:pPr indent="-336550" lvl="1" marL="914400" rtl="0" algn="l">
              <a:spcBef>
                <a:spcPts val="0"/>
              </a:spcBef>
              <a:spcAft>
                <a:spcPts val="0"/>
              </a:spcAft>
              <a:buSzPts val="1700"/>
              <a:buAutoNum type="alphaLcPeriod"/>
            </a:pPr>
            <a:r>
              <a:rPr lang="en" sz="1700"/>
              <a:t>Previous limitations - Realism and Speed</a:t>
            </a:r>
            <a:endParaRPr sz="1700"/>
          </a:p>
          <a:p>
            <a:pPr indent="-361950" lvl="0" marL="457200" rtl="0" algn="l">
              <a:spcBef>
                <a:spcPts val="0"/>
              </a:spcBef>
              <a:spcAft>
                <a:spcPts val="0"/>
              </a:spcAft>
              <a:buSzPts val="2100"/>
              <a:buAutoNum type="arabicPeriod"/>
            </a:pPr>
            <a:r>
              <a:rPr lang="en" sz="2100"/>
              <a:t>GPlates for Biogeographers</a:t>
            </a:r>
            <a:endParaRPr sz="2100"/>
          </a:p>
          <a:p>
            <a:pPr indent="-361950" lvl="0" marL="457200" rtl="0" algn="l">
              <a:spcBef>
                <a:spcPts val="0"/>
              </a:spcBef>
              <a:spcAft>
                <a:spcPts val="0"/>
              </a:spcAft>
              <a:buSzPts val="2100"/>
              <a:buAutoNum type="arabicPeriod"/>
            </a:pPr>
            <a:r>
              <a:rPr lang="en" sz="2100"/>
              <a:t>Julia Speed for Complex ODEs</a:t>
            </a:r>
            <a:endParaRPr sz="2100"/>
          </a:p>
          <a:p>
            <a:pPr indent="-361950" lvl="0" marL="457200" rtl="0" algn="l">
              <a:spcBef>
                <a:spcPts val="0"/>
              </a:spcBef>
              <a:spcAft>
                <a:spcPts val="0"/>
              </a:spcAft>
              <a:buSzPts val="2100"/>
              <a:buAutoNum type="arabicPeriod"/>
            </a:pPr>
            <a:r>
              <a:rPr lang="en" sz="2100"/>
              <a:t>Testing Accuracy of Distance Based SSE Models</a:t>
            </a:r>
            <a:endParaRPr sz="2100"/>
          </a:p>
          <a:p>
            <a:pPr indent="-361950" lvl="0" marL="457200" rtl="0" algn="l">
              <a:spcBef>
                <a:spcPts val="0"/>
              </a:spcBef>
              <a:spcAft>
                <a:spcPts val="0"/>
              </a:spcAft>
              <a:buSzPts val="2100"/>
              <a:buAutoNum type="arabicPeriod"/>
            </a:pPr>
            <a:r>
              <a:rPr lang="en" sz="2100"/>
              <a:t>Conclusions</a:t>
            </a:r>
            <a:endParaRPr sz="2100"/>
          </a:p>
          <a:p>
            <a:pPr indent="0" lvl="0" marL="0" rtl="0" algn="l">
              <a:spcBef>
                <a:spcPts val="1200"/>
              </a:spcBef>
              <a:spcAft>
                <a:spcPts val="1200"/>
              </a:spcAft>
              <a:buNone/>
            </a:pPr>
            <a:r>
              <a:t/>
            </a:r>
            <a:endParaRPr sz="2100"/>
          </a:p>
        </p:txBody>
      </p:sp>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768050" y="1191025"/>
            <a:ext cx="58782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b="1" lang="en" sz="2100"/>
              <a:t>Background</a:t>
            </a:r>
            <a:endParaRPr b="1" sz="2100"/>
          </a:p>
          <a:p>
            <a:pPr indent="-336550" lvl="1" marL="914400" rtl="0" algn="l">
              <a:spcBef>
                <a:spcPts val="0"/>
              </a:spcBef>
              <a:spcAft>
                <a:spcPts val="0"/>
              </a:spcAft>
              <a:buSzPts val="1700"/>
              <a:buAutoNum type="alphaLcPeriod"/>
            </a:pPr>
            <a:r>
              <a:rPr lang="en" sz="1700"/>
              <a:t>Biogeography and Models</a:t>
            </a:r>
            <a:endParaRPr sz="1700"/>
          </a:p>
          <a:p>
            <a:pPr indent="-336550" lvl="1" marL="914400" rtl="0" algn="l">
              <a:spcBef>
                <a:spcPts val="0"/>
              </a:spcBef>
              <a:spcAft>
                <a:spcPts val="0"/>
              </a:spcAft>
              <a:buSzPts val="1700"/>
              <a:buAutoNum type="alphaLcPeriod"/>
            </a:pPr>
            <a:r>
              <a:rPr lang="en" sz="1700"/>
              <a:t>Previous limitations - Realism and Speed</a:t>
            </a:r>
            <a:endParaRPr sz="1700"/>
          </a:p>
          <a:p>
            <a:pPr indent="-361950" lvl="0" marL="457200" rtl="0" algn="l">
              <a:spcBef>
                <a:spcPts val="0"/>
              </a:spcBef>
              <a:spcAft>
                <a:spcPts val="0"/>
              </a:spcAft>
              <a:buSzPts val="2100"/>
              <a:buAutoNum type="arabicPeriod"/>
            </a:pPr>
            <a:r>
              <a:rPr lang="en" sz="2100"/>
              <a:t>GPlates for Biogeographers</a:t>
            </a:r>
            <a:endParaRPr sz="2100"/>
          </a:p>
          <a:p>
            <a:pPr indent="-361950" lvl="0" marL="457200" rtl="0" algn="l">
              <a:spcBef>
                <a:spcPts val="0"/>
              </a:spcBef>
              <a:spcAft>
                <a:spcPts val="0"/>
              </a:spcAft>
              <a:buSzPts val="2100"/>
              <a:buAutoNum type="arabicPeriod"/>
            </a:pPr>
            <a:r>
              <a:rPr lang="en" sz="2100"/>
              <a:t>Julia Speed for Complex ODEs</a:t>
            </a:r>
            <a:endParaRPr sz="2100"/>
          </a:p>
          <a:p>
            <a:pPr indent="-361950" lvl="0" marL="457200" rtl="0" algn="l">
              <a:spcBef>
                <a:spcPts val="0"/>
              </a:spcBef>
              <a:spcAft>
                <a:spcPts val="0"/>
              </a:spcAft>
              <a:buSzPts val="2100"/>
              <a:buAutoNum type="arabicPeriod"/>
            </a:pPr>
            <a:r>
              <a:rPr lang="en" sz="2100"/>
              <a:t>Testing Accuracy of Distance Based SSE Models</a:t>
            </a:r>
            <a:endParaRPr sz="2100"/>
          </a:p>
          <a:p>
            <a:pPr indent="-361950" lvl="0" marL="457200" rtl="0" algn="l">
              <a:spcBef>
                <a:spcPts val="0"/>
              </a:spcBef>
              <a:spcAft>
                <a:spcPts val="0"/>
              </a:spcAft>
              <a:buSzPts val="2100"/>
              <a:buAutoNum type="arabicPeriod"/>
            </a:pPr>
            <a:r>
              <a:rPr lang="en" sz="2100"/>
              <a:t>Conclusions</a:t>
            </a:r>
            <a:endParaRPr sz="2100"/>
          </a:p>
          <a:p>
            <a:pPr indent="0" lvl="0" marL="0" rtl="0" algn="l">
              <a:spcBef>
                <a:spcPts val="1200"/>
              </a:spcBef>
              <a:spcAft>
                <a:spcPts val="1200"/>
              </a:spcAft>
              <a:buNone/>
            </a:pPr>
            <a:r>
              <a:t/>
            </a:r>
            <a:endParaRPr sz="2100"/>
          </a:p>
        </p:txBody>
      </p:sp>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pic>
        <p:nvPicPr>
          <p:cNvPr id="73" name="Google Shape;73;p16"/>
          <p:cNvPicPr preferRelativeResize="0"/>
          <p:nvPr/>
        </p:nvPicPr>
        <p:blipFill>
          <a:blip r:embed="rId3">
            <a:alphaModFix/>
          </a:blip>
          <a:stretch>
            <a:fillRect/>
          </a:stretch>
        </p:blipFill>
        <p:spPr>
          <a:xfrm>
            <a:off x="0" y="3914775"/>
            <a:ext cx="1636700" cy="1228725"/>
          </a:xfrm>
          <a:prstGeom prst="rect">
            <a:avLst/>
          </a:prstGeom>
          <a:noFill/>
          <a:ln>
            <a:noFill/>
          </a:ln>
        </p:spPr>
      </p:pic>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Phylogenetic Biogeography allows us to understand how species have dispersed over millions of years</a:t>
            </a:r>
            <a:endParaRPr/>
          </a:p>
          <a:p>
            <a:pPr indent="-342900" lvl="0" marL="457200" rtl="0" algn="l">
              <a:spcBef>
                <a:spcPts val="0"/>
              </a:spcBef>
              <a:spcAft>
                <a:spcPts val="0"/>
              </a:spcAft>
              <a:buSzPts val="1800"/>
              <a:buChar char="●"/>
            </a:pPr>
            <a:r>
              <a:rPr lang="en"/>
              <a:t>We combine phylogenies and biogeographic models to estimate these histories</a:t>
            </a:r>
            <a:endParaRPr/>
          </a:p>
          <a:p>
            <a:pPr indent="-342900" lvl="0" marL="457200" rtl="0" algn="l">
              <a:spcBef>
                <a:spcPts val="0"/>
              </a:spcBef>
              <a:spcAft>
                <a:spcPts val="0"/>
              </a:spcAft>
              <a:buSzPts val="1800"/>
              <a:buChar char="●"/>
            </a:pPr>
            <a:r>
              <a:rPr lang="en"/>
              <a:t>Inferring the way species have </a:t>
            </a:r>
            <a:r>
              <a:rPr lang="en"/>
              <a:t>dispersed and survived</a:t>
            </a:r>
            <a:r>
              <a:rPr lang="en"/>
              <a:t> in the past helps scientists the future of species as humans impact the </a:t>
            </a:r>
            <a:r>
              <a:rPr lang="en"/>
              <a:t>environment</a:t>
            </a:r>
            <a:endParaRPr/>
          </a:p>
          <a:p>
            <a:pPr indent="0" lvl="0" marL="0" rtl="0" algn="l">
              <a:spcBef>
                <a:spcPts val="1200"/>
              </a:spcBef>
              <a:spcAft>
                <a:spcPts val="0"/>
              </a:spcAft>
              <a:buNone/>
            </a:pPr>
            <a:r>
              <a:t/>
            </a:r>
            <a:endParaRPr/>
          </a:p>
          <a:p>
            <a:pPr indent="0" lvl="0" marL="0" rtl="0" algn="ctr">
              <a:spcBef>
                <a:spcPts val="1200"/>
              </a:spcBef>
              <a:spcAft>
                <a:spcPts val="1200"/>
              </a:spcAft>
              <a:buNone/>
            </a:pPr>
            <a:r>
              <a:rPr lang="en"/>
              <a:t>This is particularly important in New Zealand, which has a large number of endemic and unique species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80" name="Google Shape;80;p17"/>
          <p:cNvPicPr preferRelativeResize="0"/>
          <p:nvPr/>
        </p:nvPicPr>
        <p:blipFill rotWithShape="1">
          <a:blip r:embed="rId3">
            <a:alphaModFix/>
          </a:blip>
          <a:srcRect b="0" l="0" r="15626" t="0"/>
          <a:stretch/>
        </p:blipFill>
        <p:spPr>
          <a:xfrm>
            <a:off x="0" y="1170875"/>
            <a:ext cx="2978924" cy="1985950"/>
          </a:xfrm>
          <a:prstGeom prst="rect">
            <a:avLst/>
          </a:prstGeom>
          <a:noFill/>
          <a:ln>
            <a:noFill/>
          </a:ln>
        </p:spPr>
      </p:pic>
      <p:pic>
        <p:nvPicPr>
          <p:cNvPr id="81" name="Google Shape;81;p17"/>
          <p:cNvPicPr preferRelativeResize="0"/>
          <p:nvPr/>
        </p:nvPicPr>
        <p:blipFill>
          <a:blip r:embed="rId4">
            <a:alphaModFix/>
          </a:blip>
          <a:stretch>
            <a:fillRect/>
          </a:stretch>
        </p:blipFill>
        <p:spPr>
          <a:xfrm>
            <a:off x="0" y="3157550"/>
            <a:ext cx="2978926" cy="1985951"/>
          </a:xfrm>
          <a:prstGeom prst="rect">
            <a:avLst/>
          </a:prstGeom>
          <a:noFill/>
          <a:ln>
            <a:noFill/>
          </a:ln>
        </p:spPr>
      </p:pic>
      <p:pic>
        <p:nvPicPr>
          <p:cNvPr id="82" name="Google Shape;82;p17"/>
          <p:cNvPicPr preferRelativeResize="0"/>
          <p:nvPr/>
        </p:nvPicPr>
        <p:blipFill rotWithShape="1">
          <a:blip r:embed="rId5">
            <a:alphaModFix/>
          </a:blip>
          <a:srcRect b="0" l="0" r="0" t="56295"/>
          <a:stretch/>
        </p:blipFill>
        <p:spPr>
          <a:xfrm>
            <a:off x="2978925" y="0"/>
            <a:ext cx="6165074" cy="4953370"/>
          </a:xfrm>
          <a:prstGeom prst="rect">
            <a:avLst/>
          </a:prstGeom>
          <a:noFill/>
          <a:ln>
            <a:noFill/>
          </a:ln>
        </p:spPr>
      </p:pic>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 Pacific Rails</a:t>
            </a:r>
            <a:endParaRPr/>
          </a:p>
        </p:txBody>
      </p:sp>
      <p:sp>
        <p:nvSpPr>
          <p:cNvPr id="84" name="Google Shape;84;p17"/>
          <p:cNvSpPr txBox="1"/>
          <p:nvPr/>
        </p:nvSpPr>
        <p:spPr>
          <a:xfrm>
            <a:off x="4292600" y="4953375"/>
            <a:ext cx="7429500" cy="24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
              <a:t>Garcia-R, Juan C.; Matzke, Nicholas J. (2021). Trait-dependent dispersal in rails (Aves: Rallidae): Historical biogeography of a cosmopolitan bird clade. Molecular Phylogenetics and Evolution, 159: 107106. </a:t>
            </a:r>
            <a:endParaRPr sz="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Models and Software</a:t>
            </a:r>
            <a:endParaRPr/>
          </a:p>
        </p:txBody>
      </p:sp>
      <p:sp>
        <p:nvSpPr>
          <p:cNvPr id="90" name="Google Shape;90;p1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BiogeoBEARS</a:t>
            </a:r>
            <a:endParaRPr b="1"/>
          </a:p>
          <a:p>
            <a:pPr indent="-342900" lvl="0" marL="457200" rtl="0" algn="l">
              <a:spcBef>
                <a:spcPts val="1200"/>
              </a:spcBef>
              <a:spcAft>
                <a:spcPts val="0"/>
              </a:spcAft>
              <a:buSzPts val="1800"/>
              <a:buChar char="●"/>
            </a:pPr>
            <a:r>
              <a:rPr lang="en"/>
              <a:t>R Package</a:t>
            </a:r>
            <a:endParaRPr/>
          </a:p>
          <a:p>
            <a:pPr indent="-342900" lvl="0" marL="457200" rtl="0" algn="l">
              <a:spcBef>
                <a:spcPts val="0"/>
              </a:spcBef>
              <a:spcAft>
                <a:spcPts val="0"/>
              </a:spcAft>
              <a:buSzPts val="1800"/>
              <a:buChar char="●"/>
            </a:pPr>
            <a:r>
              <a:rPr lang="en"/>
              <a:t>Calculates likelihoods with:</a:t>
            </a:r>
            <a:endParaRPr/>
          </a:p>
          <a:p>
            <a:pPr indent="-317500" lvl="1" marL="914400" rtl="0" algn="l">
              <a:spcBef>
                <a:spcPts val="0"/>
              </a:spcBef>
              <a:spcAft>
                <a:spcPts val="0"/>
              </a:spcAft>
              <a:buSzPts val="1400"/>
              <a:buChar char="○"/>
            </a:pPr>
            <a:r>
              <a:rPr lang="en"/>
              <a:t>Matrix Exponentiation </a:t>
            </a:r>
            <a:endParaRPr/>
          </a:p>
          <a:p>
            <a:pPr indent="-342900" lvl="0" marL="457200" rtl="0" algn="l">
              <a:spcBef>
                <a:spcPts val="0"/>
              </a:spcBef>
              <a:spcAft>
                <a:spcPts val="0"/>
              </a:spcAft>
              <a:buSzPts val="1800"/>
              <a:buChar char="●"/>
            </a:pPr>
            <a:r>
              <a:rPr lang="en"/>
              <a:t>Ignores:</a:t>
            </a:r>
            <a:endParaRPr/>
          </a:p>
          <a:p>
            <a:pPr indent="-317500" lvl="1" marL="914400" rtl="0" algn="l">
              <a:spcBef>
                <a:spcPts val="0"/>
              </a:spcBef>
              <a:spcAft>
                <a:spcPts val="0"/>
              </a:spcAft>
              <a:buSzPts val="1400"/>
              <a:buChar char="○"/>
            </a:pPr>
            <a:r>
              <a:rPr lang="en"/>
              <a:t>Changing Palaeogeography</a:t>
            </a:r>
            <a:endParaRPr/>
          </a:p>
          <a:p>
            <a:pPr indent="-317500" lvl="1" marL="914400" rtl="0" algn="l">
              <a:spcBef>
                <a:spcPts val="0"/>
              </a:spcBef>
              <a:spcAft>
                <a:spcPts val="0"/>
              </a:spcAft>
              <a:buSzPts val="1400"/>
              <a:buChar char="○"/>
            </a:pPr>
            <a:r>
              <a:rPr lang="en"/>
              <a:t>Area Size</a:t>
            </a:r>
            <a:endParaRPr/>
          </a:p>
          <a:p>
            <a:pPr indent="-317500" lvl="1" marL="914400" rtl="0" algn="l">
              <a:spcBef>
                <a:spcPts val="0"/>
              </a:spcBef>
              <a:spcAft>
                <a:spcPts val="0"/>
              </a:spcAft>
              <a:buSzPts val="1400"/>
              <a:buChar char="○"/>
            </a:pPr>
            <a:r>
              <a:rPr lang="en"/>
              <a:t>Extinction</a:t>
            </a:r>
            <a:endParaRPr/>
          </a:p>
        </p:txBody>
      </p:sp>
      <p:sp>
        <p:nvSpPr>
          <p:cNvPr id="91" name="Google Shape;91;p18"/>
          <p:cNvSpPr txBox="1"/>
          <p:nvPr>
            <p:ph idx="1" type="body"/>
          </p:nvPr>
        </p:nvSpPr>
        <p:spPr>
          <a:xfrm>
            <a:off x="4165600" y="1152475"/>
            <a:ext cx="4876800" cy="420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PhyBEARS.jl</a:t>
            </a:r>
            <a:endParaRPr b="1"/>
          </a:p>
          <a:p>
            <a:pPr indent="-342900" lvl="0" marL="457200" rtl="0" algn="l">
              <a:spcBef>
                <a:spcPts val="1200"/>
              </a:spcBef>
              <a:spcAft>
                <a:spcPts val="0"/>
              </a:spcAft>
              <a:buSzPts val="1800"/>
              <a:buChar char="●"/>
            </a:pPr>
            <a:r>
              <a:rPr lang="en"/>
              <a:t>Julia Package</a:t>
            </a:r>
            <a:endParaRPr/>
          </a:p>
          <a:p>
            <a:pPr indent="-342900" lvl="0" marL="457200" rtl="0" algn="l">
              <a:spcBef>
                <a:spcPts val="0"/>
              </a:spcBef>
              <a:spcAft>
                <a:spcPts val="0"/>
              </a:spcAft>
              <a:buSzPts val="1800"/>
              <a:buChar char="●"/>
            </a:pPr>
            <a:r>
              <a:rPr lang="en"/>
              <a:t>Calculates likelihoods with:</a:t>
            </a:r>
            <a:endParaRPr/>
          </a:p>
          <a:p>
            <a:pPr indent="-317500" lvl="1" marL="914400" rtl="0" algn="l">
              <a:spcBef>
                <a:spcPts val="0"/>
              </a:spcBef>
              <a:spcAft>
                <a:spcPts val="0"/>
              </a:spcAft>
              <a:buSzPts val="1400"/>
              <a:buChar char="○"/>
            </a:pPr>
            <a:r>
              <a:rPr lang="en"/>
              <a:t>Ordinary</a:t>
            </a:r>
            <a:r>
              <a:rPr lang="en"/>
              <a:t> Differential Equation (ODE) Solvers</a:t>
            </a:r>
            <a:endParaRPr/>
          </a:p>
          <a:p>
            <a:pPr indent="-342900" lvl="0" marL="457200" rtl="0" algn="l">
              <a:spcBef>
                <a:spcPts val="0"/>
              </a:spcBef>
              <a:spcAft>
                <a:spcPts val="0"/>
              </a:spcAft>
              <a:buSzPts val="1800"/>
              <a:buChar char="●"/>
            </a:pPr>
            <a:r>
              <a:rPr lang="en"/>
              <a:t>Includes</a:t>
            </a:r>
            <a:endParaRPr/>
          </a:p>
          <a:p>
            <a:pPr indent="-317500" lvl="1" marL="914400" rtl="0" algn="l">
              <a:spcBef>
                <a:spcPts val="0"/>
              </a:spcBef>
              <a:spcAft>
                <a:spcPts val="0"/>
              </a:spcAft>
              <a:buSzPts val="1400"/>
              <a:buChar char="○"/>
            </a:pPr>
            <a:r>
              <a:rPr lang="en"/>
              <a:t>Changing Palaeogeography</a:t>
            </a:r>
            <a:endParaRPr/>
          </a:p>
          <a:p>
            <a:pPr indent="-317500" lvl="1" marL="914400" rtl="0" algn="l">
              <a:spcBef>
                <a:spcPts val="0"/>
              </a:spcBef>
              <a:spcAft>
                <a:spcPts val="0"/>
              </a:spcAft>
              <a:buSzPts val="1400"/>
              <a:buChar char="○"/>
            </a:pPr>
            <a:r>
              <a:rPr lang="en"/>
              <a:t>Area Size</a:t>
            </a:r>
            <a:endParaRPr/>
          </a:p>
          <a:p>
            <a:pPr indent="-317500" lvl="1" marL="914400" rtl="0" algn="l">
              <a:spcBef>
                <a:spcPts val="0"/>
              </a:spcBef>
              <a:spcAft>
                <a:spcPts val="0"/>
              </a:spcAft>
              <a:buSzPts val="1400"/>
              <a:buChar char="○"/>
            </a:pPr>
            <a:r>
              <a:rPr lang="en"/>
              <a:t>Extinction</a:t>
            </a:r>
            <a:endParaRPr/>
          </a:p>
          <a:p>
            <a:pPr indent="-317500" lvl="1" marL="914400" rtl="0" algn="l">
              <a:spcBef>
                <a:spcPts val="0"/>
              </a:spcBef>
              <a:spcAft>
                <a:spcPts val="0"/>
              </a:spcAft>
              <a:buSzPts val="1400"/>
              <a:buChar char="○"/>
            </a:pPr>
            <a:r>
              <a:rPr lang="en"/>
              <a:t>AND MORE</a:t>
            </a:r>
            <a:endParaRPr/>
          </a:p>
          <a:p>
            <a:pPr indent="-342900" lvl="0" marL="457200" rtl="0" algn="l">
              <a:spcBef>
                <a:spcPts val="0"/>
              </a:spcBef>
              <a:spcAft>
                <a:spcPts val="0"/>
              </a:spcAft>
              <a:buSzPts val="1800"/>
              <a:buChar char="●"/>
            </a:pPr>
            <a:r>
              <a:rPr lang="en"/>
              <a:t>Allowed through time </a:t>
            </a:r>
            <a:r>
              <a:rPr lang="en"/>
              <a:t>varying</a:t>
            </a:r>
            <a:r>
              <a:rPr lang="en"/>
              <a:t> State-Based Speciation and Extinction Models (SSEs)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idx="1" type="body"/>
          </p:nvPr>
        </p:nvSpPr>
        <p:spPr>
          <a:xfrm>
            <a:off x="768050" y="1191025"/>
            <a:ext cx="58782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lang="en" sz="2100"/>
              <a:t>Background</a:t>
            </a:r>
            <a:endParaRPr sz="2100"/>
          </a:p>
          <a:p>
            <a:pPr indent="-336550" lvl="1" marL="914400" rtl="0" algn="l">
              <a:spcBef>
                <a:spcPts val="0"/>
              </a:spcBef>
              <a:spcAft>
                <a:spcPts val="0"/>
              </a:spcAft>
              <a:buSzPts val="1700"/>
              <a:buAutoNum type="alphaLcPeriod"/>
            </a:pPr>
            <a:r>
              <a:rPr lang="en" sz="1700"/>
              <a:t>Biogeography and Models</a:t>
            </a:r>
            <a:endParaRPr sz="1700"/>
          </a:p>
          <a:p>
            <a:pPr indent="-336550" lvl="1" marL="914400" rtl="0" algn="l">
              <a:spcBef>
                <a:spcPts val="0"/>
              </a:spcBef>
              <a:spcAft>
                <a:spcPts val="0"/>
              </a:spcAft>
              <a:buSzPts val="1700"/>
              <a:buAutoNum type="alphaLcPeriod"/>
            </a:pPr>
            <a:r>
              <a:rPr lang="en" sz="1700"/>
              <a:t>Previous limitations - Realism and Speed</a:t>
            </a:r>
            <a:endParaRPr sz="1700"/>
          </a:p>
          <a:p>
            <a:pPr indent="-361950" lvl="0" marL="457200" rtl="0" algn="l">
              <a:spcBef>
                <a:spcPts val="0"/>
              </a:spcBef>
              <a:spcAft>
                <a:spcPts val="0"/>
              </a:spcAft>
              <a:buSzPts val="2100"/>
              <a:buAutoNum type="arabicPeriod"/>
            </a:pPr>
            <a:r>
              <a:rPr b="1" lang="en" sz="2100"/>
              <a:t>GPlates for Biogeographers</a:t>
            </a:r>
            <a:endParaRPr b="1" sz="2100"/>
          </a:p>
          <a:p>
            <a:pPr indent="-361950" lvl="0" marL="457200" rtl="0" algn="l">
              <a:spcBef>
                <a:spcPts val="0"/>
              </a:spcBef>
              <a:spcAft>
                <a:spcPts val="0"/>
              </a:spcAft>
              <a:buSzPts val="2100"/>
              <a:buAutoNum type="arabicPeriod"/>
            </a:pPr>
            <a:r>
              <a:rPr lang="en" sz="2100"/>
              <a:t>Julia Speed for Complex ODEs</a:t>
            </a:r>
            <a:endParaRPr sz="2100"/>
          </a:p>
          <a:p>
            <a:pPr indent="-361950" lvl="0" marL="457200" rtl="0" algn="l">
              <a:spcBef>
                <a:spcPts val="0"/>
              </a:spcBef>
              <a:spcAft>
                <a:spcPts val="0"/>
              </a:spcAft>
              <a:buSzPts val="2100"/>
              <a:buAutoNum type="arabicPeriod"/>
            </a:pPr>
            <a:r>
              <a:rPr lang="en" sz="2100"/>
              <a:t>Testing Accuracy of Distance Based SSE Models</a:t>
            </a:r>
            <a:endParaRPr sz="2100"/>
          </a:p>
          <a:p>
            <a:pPr indent="-361950" lvl="0" marL="457200" rtl="0" algn="l">
              <a:spcBef>
                <a:spcPts val="0"/>
              </a:spcBef>
              <a:spcAft>
                <a:spcPts val="0"/>
              </a:spcAft>
              <a:buSzPts val="2100"/>
              <a:buAutoNum type="arabicPeriod"/>
            </a:pPr>
            <a:r>
              <a:rPr lang="en" sz="2100"/>
              <a:t>Conclusions</a:t>
            </a:r>
            <a:endParaRPr sz="2100"/>
          </a:p>
          <a:p>
            <a:pPr indent="0" lvl="0" marL="0" rtl="0" algn="l">
              <a:spcBef>
                <a:spcPts val="1200"/>
              </a:spcBef>
              <a:spcAft>
                <a:spcPts val="1200"/>
              </a:spcAft>
              <a:buNone/>
            </a:pPr>
            <a:r>
              <a:t/>
            </a:r>
            <a:endParaRPr sz="2100"/>
          </a:p>
        </p:txBody>
      </p:sp>
      <p:sp>
        <p:nvSpPr>
          <p:cNvPr id="97" name="Google Shape;9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96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can we incorporate palaeogeography into phylogenetic Biogeography?</a:t>
            </a:r>
            <a:endParaRPr/>
          </a:p>
        </p:txBody>
      </p:sp>
      <p:sp>
        <p:nvSpPr>
          <p:cNvPr id="103" name="Google Shape;103;p20"/>
          <p:cNvSpPr txBox="1"/>
          <p:nvPr>
            <p:ph idx="1" type="body"/>
          </p:nvPr>
        </p:nvSpPr>
        <p:spPr>
          <a:xfrm>
            <a:off x="742650" y="14860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Old System:</a:t>
            </a:r>
            <a:endParaRPr sz="2100"/>
          </a:p>
          <a:p>
            <a:pPr indent="457200" lvl="0" marL="457200" rtl="0" algn="l">
              <a:spcBef>
                <a:spcPts val="1200"/>
              </a:spcBef>
              <a:spcAft>
                <a:spcPts val="0"/>
              </a:spcAft>
              <a:buNone/>
            </a:pPr>
            <a:r>
              <a:rPr lang="en" sz="2100"/>
              <a:t>Rulers and Paper palaepgeographic maps</a:t>
            </a:r>
            <a:endParaRPr sz="2100"/>
          </a:p>
          <a:p>
            <a:pPr indent="0" lvl="0" marL="0" rtl="0" algn="l">
              <a:spcBef>
                <a:spcPts val="1200"/>
              </a:spcBef>
              <a:spcAft>
                <a:spcPts val="0"/>
              </a:spcAft>
              <a:buNone/>
            </a:pPr>
            <a:r>
              <a:t/>
            </a:r>
            <a:endParaRPr sz="2100"/>
          </a:p>
          <a:p>
            <a:pPr indent="0" lvl="0" marL="0" rtl="0" algn="l">
              <a:spcBef>
                <a:spcPts val="1200"/>
              </a:spcBef>
              <a:spcAft>
                <a:spcPts val="0"/>
              </a:spcAft>
              <a:buNone/>
            </a:pPr>
            <a:r>
              <a:rPr lang="en" sz="2100"/>
              <a:t>New System:</a:t>
            </a:r>
            <a:endParaRPr sz="2100"/>
          </a:p>
          <a:p>
            <a:pPr indent="0" lvl="0" marL="0" rtl="0" algn="l">
              <a:spcBef>
                <a:spcPts val="1200"/>
              </a:spcBef>
              <a:spcAft>
                <a:spcPts val="0"/>
              </a:spcAft>
              <a:buNone/>
            </a:pPr>
            <a:r>
              <a:rPr lang="en" sz="2100"/>
              <a:t>		Graphical Information Systems (GIS) within a 3D* system</a:t>
            </a:r>
            <a:endParaRPr sz="2100"/>
          </a:p>
          <a:p>
            <a:pPr indent="0" lvl="0" marL="0" rtl="0" algn="l">
              <a:spcBef>
                <a:spcPts val="1200"/>
              </a:spcBef>
              <a:spcAft>
                <a:spcPts val="0"/>
              </a:spcAft>
              <a:buNone/>
            </a:pPr>
            <a:r>
              <a:t/>
            </a:r>
            <a:endParaRPr sz="2100"/>
          </a:p>
          <a:p>
            <a:pPr indent="0" lvl="0" marL="0" rtl="0" algn="l">
              <a:spcBef>
                <a:spcPts val="1200"/>
              </a:spcBef>
              <a:spcAft>
                <a:spcPts val="1200"/>
              </a:spcAft>
              <a:buNone/>
            </a:pPr>
            <a:r>
              <a:t/>
            </a:r>
            <a:endParaRPr sz="2100"/>
          </a:p>
        </p:txBody>
      </p:sp>
      <p:sp>
        <p:nvSpPr>
          <p:cNvPr id="104" name="Google Shape;104;p20"/>
          <p:cNvSpPr txBox="1"/>
          <p:nvPr/>
        </p:nvSpPr>
        <p:spPr>
          <a:xfrm>
            <a:off x="7607300" y="4728000"/>
            <a:ext cx="18288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500">
                <a:solidFill>
                  <a:schemeClr val="dk2"/>
                </a:solidFill>
              </a:rPr>
              <a:t>*</a:t>
            </a:r>
            <a:r>
              <a:rPr lang="en" sz="1500">
                <a:solidFill>
                  <a:schemeClr val="dk2"/>
                </a:solidFill>
              </a:rPr>
              <a:t>or 4D with time!</a:t>
            </a:r>
            <a:endParaRPr sz="800"/>
          </a:p>
        </p:txBody>
      </p:sp>
      <p:sp>
        <p:nvSpPr>
          <p:cNvPr id="105" name="Google Shape;105;p20"/>
          <p:cNvSpPr txBox="1"/>
          <p:nvPr>
            <p:ph type="title"/>
          </p:nvPr>
        </p:nvSpPr>
        <p:spPr>
          <a:xfrm>
            <a:off x="172000" y="4204225"/>
            <a:ext cx="8032200" cy="572700"/>
          </a:xfrm>
          <a:prstGeom prst="rect">
            <a:avLst/>
          </a:prstGeom>
          <a:ln cap="flat" cmpd="sng" w="28575">
            <a:solidFill>
              <a:srgbClr val="FF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how do we biologists get distances from GPlates?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GPlates in a</a:t>
            </a:r>
            <a:endParaRPr/>
          </a:p>
          <a:p>
            <a:pPr indent="0" lvl="0" marL="0" rtl="0" algn="l">
              <a:spcBef>
                <a:spcPts val="0"/>
              </a:spcBef>
              <a:spcAft>
                <a:spcPts val="0"/>
              </a:spcAft>
              <a:buNone/>
            </a:pPr>
            <a:r>
              <a:rPr lang="en"/>
              <a:t>Biological Context</a:t>
            </a:r>
            <a:endParaRPr/>
          </a:p>
        </p:txBody>
      </p:sp>
      <p:pic>
        <p:nvPicPr>
          <p:cNvPr id="111" name="Google Shape;111;p21"/>
          <p:cNvPicPr preferRelativeResize="0"/>
          <p:nvPr/>
        </p:nvPicPr>
        <p:blipFill rotWithShape="1">
          <a:blip r:embed="rId3">
            <a:alphaModFix/>
          </a:blip>
          <a:srcRect b="0" l="0" r="0" t="0"/>
          <a:stretch/>
        </p:blipFill>
        <p:spPr>
          <a:xfrm>
            <a:off x="852327" y="-161812"/>
            <a:ext cx="10634906" cy="6044965"/>
          </a:xfrm>
          <a:custGeom>
            <a:rect b="b" l="l" r="r" t="t"/>
            <a:pathLst>
              <a:path extrusionOk="0" h="5290998" w="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a:noFill/>
          <a:ln>
            <a:noFill/>
          </a:ln>
        </p:spPr>
      </p:pic>
      <p:sp>
        <p:nvSpPr>
          <p:cNvPr id="112" name="Google Shape;112;p21"/>
          <p:cNvSpPr txBox="1"/>
          <p:nvPr>
            <p:ph idx="1" type="body"/>
          </p:nvPr>
        </p:nvSpPr>
        <p:spPr>
          <a:xfrm>
            <a:off x="171150" y="3213225"/>
            <a:ext cx="327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a:t>
            </a:r>
            <a:endParaRPr/>
          </a:p>
          <a:p>
            <a:pPr indent="0" lvl="0" marL="0" rtl="0" algn="l">
              <a:spcBef>
                <a:spcPts val="1200"/>
              </a:spcBef>
              <a:spcAft>
                <a:spcPts val="0"/>
              </a:spcAft>
              <a:buNone/>
            </a:pPr>
            <a:r>
              <a:rPr lang="en"/>
              <a:t>Biologists-defined-areas </a:t>
            </a:r>
            <a:br>
              <a:rPr lang="en"/>
            </a:br>
            <a:r>
              <a:rPr lang="en"/>
              <a:t>can be made of many plate areas</a:t>
            </a:r>
            <a:endParaRPr/>
          </a:p>
          <a:p>
            <a:pPr indent="0" lvl="0" marL="0" rtl="0" algn="l">
              <a:spcBef>
                <a:spcPts val="1200"/>
              </a:spcBef>
              <a:spcAft>
                <a:spcPts val="1200"/>
              </a:spcAft>
              <a:buNone/>
            </a:pPr>
            <a:r>
              <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2"/>
          <p:cNvPicPr preferRelativeResize="0"/>
          <p:nvPr/>
        </p:nvPicPr>
        <p:blipFill>
          <a:blip r:embed="rId3">
            <a:alphaModFix/>
          </a:blip>
          <a:stretch>
            <a:fillRect/>
          </a:stretch>
        </p:blipFill>
        <p:spPr>
          <a:xfrm>
            <a:off x="1200450" y="62825"/>
            <a:ext cx="7219450" cy="2792150"/>
          </a:xfrm>
          <a:prstGeom prst="rect">
            <a:avLst/>
          </a:prstGeom>
          <a:noFill/>
          <a:ln>
            <a:noFill/>
          </a:ln>
        </p:spPr>
      </p:pic>
      <p:graphicFrame>
        <p:nvGraphicFramePr>
          <p:cNvPr id="118" name="Google Shape;118;p22"/>
          <p:cNvGraphicFramePr/>
          <p:nvPr/>
        </p:nvGraphicFramePr>
        <p:xfrm>
          <a:off x="637075" y="2918425"/>
          <a:ext cx="3000000" cy="3000000"/>
        </p:xfrm>
        <a:graphic>
          <a:graphicData uri="http://schemas.openxmlformats.org/drawingml/2006/table">
            <a:tbl>
              <a:tblPr>
                <a:noFill/>
                <a:tableStyleId>{7940DE4A-4FBC-4175-A0F5-E35C037F04AC}</a:tableStyleId>
              </a:tblPr>
              <a:tblGrid>
                <a:gridCol w="1624075"/>
                <a:gridCol w="1629325"/>
                <a:gridCol w="1629325"/>
                <a:gridCol w="1629325"/>
                <a:gridCol w="1629325"/>
              </a:tblGrid>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Antarctica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South East Asia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Australia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Africa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New Zealand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New Caledonia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Gondwana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North America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South America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Eurasia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19" name="Google Shape;119;p22"/>
          <p:cNvGraphicFramePr/>
          <p:nvPr/>
        </p:nvGraphicFramePr>
        <p:xfrm>
          <a:off x="2263775" y="3762975"/>
          <a:ext cx="3000000" cy="3000000"/>
        </p:xfrm>
        <a:graphic>
          <a:graphicData uri="http://schemas.openxmlformats.org/drawingml/2006/table">
            <a:tbl>
              <a:tblPr>
                <a:noFill/>
                <a:tableStyleId>{7940DE4A-4FBC-4175-A0F5-E35C037F04AC}</a:tableStyleId>
              </a:tblPr>
              <a:tblGrid>
                <a:gridCol w="1629325"/>
                <a:gridCol w="1629325"/>
                <a:gridCol w="1629325"/>
              </a:tblGrid>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Madagascar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Sundaland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Himalaya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0" name="Google Shape;120;p22"/>
          <p:cNvSpPr txBox="1"/>
          <p:nvPr/>
        </p:nvSpPr>
        <p:spPr>
          <a:xfrm>
            <a:off x="1840650" y="4524225"/>
            <a:ext cx="5797200" cy="53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Shapefiles currently used for testing</a:t>
            </a:r>
            <a:endParaRPr sz="1800">
              <a:solidFill>
                <a:schemeClr val="dk2"/>
              </a:solidFill>
            </a:endParaRPr>
          </a:p>
        </p:txBody>
      </p:sp>
      <p:sp>
        <p:nvSpPr>
          <p:cNvPr id="121" name="Google Shape;121;p22"/>
          <p:cNvSpPr txBox="1"/>
          <p:nvPr/>
        </p:nvSpPr>
        <p:spPr>
          <a:xfrm rot="-5400000">
            <a:off x="-2341800" y="2357700"/>
            <a:ext cx="5111700" cy="428100"/>
          </a:xfrm>
          <a:prstGeom prst="rect">
            <a:avLst/>
          </a:prstGeom>
          <a:noFill/>
          <a:ln>
            <a:noFill/>
          </a:ln>
        </p:spPr>
        <p:txBody>
          <a:bodyPr anchorCtr="0" anchor="t" bIns="91425" lIns="91425" spcFirstLastPara="1" rIns="91425" wrap="square" tIns="91425">
            <a:spAutoFit/>
          </a:bodyPr>
          <a:lstStyle/>
          <a:p>
            <a:pPr indent="0" lvl="0" marL="0" rtl="0" algn="l">
              <a:lnSpc>
                <a:spcPct val="163636"/>
              </a:lnSpc>
              <a:spcBef>
                <a:spcPts val="0"/>
              </a:spcBef>
              <a:spcAft>
                <a:spcPts val="500"/>
              </a:spcAft>
              <a:buNone/>
            </a:pPr>
            <a:r>
              <a:rPr lang="en" sz="600">
                <a:solidFill>
                  <a:schemeClr val="dk1"/>
                </a:solidFill>
                <a:latin typeface="Times New Roman"/>
                <a:ea typeface="Times New Roman"/>
                <a:cs typeface="Times New Roman"/>
                <a:sym typeface="Times New Roman"/>
              </a:rPr>
              <a:t>Holt, B. G., Lessard, J.-P., Borregaard, M. K., Fritz, S. A., Araújo, M. B., Dimitrov, D., . . . Rahbek, C. (2013). An Update of Wallace’s Zoogeographic Regions of the World. </a:t>
            </a:r>
            <a:r>
              <a:rPr i="1" lang="en" sz="600">
                <a:solidFill>
                  <a:schemeClr val="dk1"/>
                </a:solidFill>
                <a:latin typeface="Times New Roman"/>
                <a:ea typeface="Times New Roman"/>
                <a:cs typeface="Times New Roman"/>
                <a:sym typeface="Times New Roman"/>
              </a:rPr>
              <a:t>Science, 339</a:t>
            </a:r>
            <a:r>
              <a:rPr lang="en" sz="600">
                <a:solidFill>
                  <a:schemeClr val="dk1"/>
                </a:solidFill>
                <a:latin typeface="Times New Roman"/>
                <a:ea typeface="Times New Roman"/>
                <a:cs typeface="Times New Roman"/>
                <a:sym typeface="Times New Roman"/>
              </a:rPr>
              <a:t>(6115), 74-78. doi:doi:10.1126/science.1228282</a:t>
            </a:r>
            <a:endParaRPr sz="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3"/>
          <p:cNvPicPr preferRelativeResize="0"/>
          <p:nvPr/>
        </p:nvPicPr>
        <p:blipFill>
          <a:blip r:embed="rId3">
            <a:alphaModFix/>
          </a:blip>
          <a:stretch>
            <a:fillRect/>
          </a:stretch>
        </p:blipFill>
        <p:spPr>
          <a:xfrm>
            <a:off x="1200450" y="62825"/>
            <a:ext cx="7219450" cy="2792150"/>
          </a:xfrm>
          <a:prstGeom prst="rect">
            <a:avLst/>
          </a:prstGeom>
          <a:noFill/>
          <a:ln>
            <a:noFill/>
          </a:ln>
        </p:spPr>
      </p:pic>
      <p:graphicFrame>
        <p:nvGraphicFramePr>
          <p:cNvPr id="127" name="Google Shape;127;p23"/>
          <p:cNvGraphicFramePr/>
          <p:nvPr/>
        </p:nvGraphicFramePr>
        <p:xfrm>
          <a:off x="637075" y="2918425"/>
          <a:ext cx="3000000" cy="3000000"/>
        </p:xfrm>
        <a:graphic>
          <a:graphicData uri="http://schemas.openxmlformats.org/drawingml/2006/table">
            <a:tbl>
              <a:tblPr>
                <a:noFill/>
                <a:tableStyleId>{7940DE4A-4FBC-4175-A0F5-E35C037F04AC}</a:tableStyleId>
              </a:tblPr>
              <a:tblGrid>
                <a:gridCol w="1624075"/>
                <a:gridCol w="1629325"/>
                <a:gridCol w="1629325"/>
                <a:gridCol w="1629325"/>
                <a:gridCol w="1629325"/>
              </a:tblGrid>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*Nearctic</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*Sino-Japanese</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*Australia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Africa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New Zealand</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*Panamanian</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*Oriental</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*Afrotropical</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Indonesia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Indian Subcontinent</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*Oceanian</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*Palearctic</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North-Western Asia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North America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Antarctica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*Neotropical</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*Saharo-Arabian</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South-Western Asia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South America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Arab </a:t>
                      </a:r>
                      <a:r>
                        <a:rPr lang="en" sz="1200">
                          <a:latin typeface="Times New Roman"/>
                          <a:ea typeface="Times New Roman"/>
                          <a:cs typeface="Times New Roman"/>
                          <a:sym typeface="Times New Roman"/>
                        </a:rPr>
                        <a:t>Peninsula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28" name="Google Shape;128;p23"/>
          <p:cNvGraphicFramePr/>
          <p:nvPr/>
        </p:nvGraphicFramePr>
        <p:xfrm>
          <a:off x="2945300" y="4607525"/>
          <a:ext cx="3000000" cy="3000000"/>
        </p:xfrm>
        <a:graphic>
          <a:graphicData uri="http://schemas.openxmlformats.org/drawingml/2006/table">
            <a:tbl>
              <a:tblPr>
                <a:noFill/>
                <a:tableStyleId>{7940DE4A-4FBC-4175-A0F5-E35C037F04AC}</a:tableStyleId>
              </a:tblPr>
              <a:tblGrid>
                <a:gridCol w="1624075"/>
                <a:gridCol w="1629325"/>
              </a:tblGrid>
              <a:tr h="365425">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*Madagascar</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64000"/>
                        </a:lnSpc>
                        <a:spcBef>
                          <a:spcPts val="0"/>
                        </a:spcBef>
                        <a:spcAft>
                          <a:spcPts val="0"/>
                        </a:spcAft>
                        <a:buNone/>
                      </a:pPr>
                      <a:r>
                        <a:rPr lang="en" sz="1200">
                          <a:latin typeface="Times New Roman"/>
                          <a:ea typeface="Times New Roman"/>
                          <a:cs typeface="Times New Roman"/>
                          <a:sym typeface="Times New Roman"/>
                        </a:rPr>
                        <a:t>Eurasia</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29" name="Google Shape;129;p23"/>
          <p:cNvSpPr txBox="1"/>
          <p:nvPr/>
        </p:nvSpPr>
        <p:spPr>
          <a:xfrm rot="-5400000">
            <a:off x="-2341800" y="2357700"/>
            <a:ext cx="5111700" cy="428100"/>
          </a:xfrm>
          <a:prstGeom prst="rect">
            <a:avLst/>
          </a:prstGeom>
          <a:noFill/>
          <a:ln>
            <a:noFill/>
          </a:ln>
        </p:spPr>
        <p:txBody>
          <a:bodyPr anchorCtr="0" anchor="t" bIns="91425" lIns="91425" spcFirstLastPara="1" rIns="91425" wrap="square" tIns="91425">
            <a:spAutoFit/>
          </a:bodyPr>
          <a:lstStyle/>
          <a:p>
            <a:pPr indent="0" lvl="0" marL="0" rtl="0" algn="l">
              <a:lnSpc>
                <a:spcPct val="163636"/>
              </a:lnSpc>
              <a:spcBef>
                <a:spcPts val="0"/>
              </a:spcBef>
              <a:spcAft>
                <a:spcPts val="500"/>
              </a:spcAft>
              <a:buNone/>
            </a:pPr>
            <a:r>
              <a:rPr lang="en" sz="600">
                <a:solidFill>
                  <a:schemeClr val="dk1"/>
                </a:solidFill>
                <a:latin typeface="Times New Roman"/>
                <a:ea typeface="Times New Roman"/>
                <a:cs typeface="Times New Roman"/>
                <a:sym typeface="Times New Roman"/>
              </a:rPr>
              <a:t>Holt, B. G., Lessard, J.-P., Borregaard, M. K., Fritz, S. A., Araújo, M. B., Dimitrov, D., . . . Rahbek, C. (2013). An Update of Wallace’s Zoogeographic Regions of the World. </a:t>
            </a:r>
            <a:r>
              <a:rPr i="1" lang="en" sz="600">
                <a:solidFill>
                  <a:schemeClr val="dk1"/>
                </a:solidFill>
                <a:latin typeface="Times New Roman"/>
                <a:ea typeface="Times New Roman"/>
                <a:cs typeface="Times New Roman"/>
                <a:sym typeface="Times New Roman"/>
              </a:rPr>
              <a:t>Science, 339</a:t>
            </a:r>
            <a:r>
              <a:rPr lang="en" sz="600">
                <a:solidFill>
                  <a:schemeClr val="dk1"/>
                </a:solidFill>
                <a:latin typeface="Times New Roman"/>
                <a:ea typeface="Times New Roman"/>
                <a:cs typeface="Times New Roman"/>
                <a:sym typeface="Times New Roman"/>
              </a:rPr>
              <a:t>(6115), 74-78. doi:doi:10.1126/science.1228282</a:t>
            </a:r>
            <a:endParaRPr sz="6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PyGplates Printer</a:t>
            </a:r>
            <a:endParaRPr/>
          </a:p>
        </p:txBody>
      </p:sp>
      <p:sp>
        <p:nvSpPr>
          <p:cNvPr id="135" name="Google Shape;135;p24"/>
          <p:cNvSpPr txBox="1"/>
          <p:nvPr>
            <p:ph idx="1" type="body"/>
          </p:nvPr>
        </p:nvSpPr>
        <p:spPr>
          <a:xfrm>
            <a:off x="311700" y="26900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Python script </a:t>
            </a:r>
            <a:endParaRPr/>
          </a:p>
          <a:p>
            <a:pPr indent="-342900" lvl="0" marL="457200" rtl="0" algn="l">
              <a:spcBef>
                <a:spcPts val="0"/>
              </a:spcBef>
              <a:spcAft>
                <a:spcPts val="0"/>
              </a:spcAft>
              <a:buSzPts val="1800"/>
              <a:buChar char="●"/>
            </a:pPr>
            <a:r>
              <a:rPr lang="en"/>
              <a:t>Using pyGPlates package as base</a:t>
            </a:r>
            <a:endParaRPr/>
          </a:p>
          <a:p>
            <a:pPr indent="-342900" lvl="0" marL="457200" rtl="0" algn="l">
              <a:spcBef>
                <a:spcPts val="0"/>
              </a:spcBef>
              <a:spcAft>
                <a:spcPts val="0"/>
              </a:spcAft>
              <a:buSzPts val="1800"/>
              <a:buChar char="●"/>
            </a:pPr>
            <a:r>
              <a:rPr lang="en"/>
              <a:t>Inputs: </a:t>
            </a:r>
            <a:endParaRPr/>
          </a:p>
          <a:p>
            <a:pPr indent="-317500" lvl="1" marL="914400" rtl="0" algn="l">
              <a:spcBef>
                <a:spcPts val="0"/>
              </a:spcBef>
              <a:spcAft>
                <a:spcPts val="0"/>
              </a:spcAft>
              <a:buSzPts val="1400"/>
              <a:buChar char="○"/>
            </a:pPr>
            <a:r>
              <a:rPr lang="en"/>
              <a:t>Individual area shapefiles (any number of files)</a:t>
            </a:r>
            <a:endParaRPr/>
          </a:p>
          <a:p>
            <a:pPr indent="-317500" lvl="1" marL="914400" rtl="0" algn="l">
              <a:spcBef>
                <a:spcPts val="0"/>
              </a:spcBef>
              <a:spcAft>
                <a:spcPts val="0"/>
              </a:spcAft>
              <a:buSzPts val="1400"/>
              <a:buChar char="○"/>
            </a:pPr>
            <a:r>
              <a:rPr lang="en"/>
              <a:t>Chosen rotational file</a:t>
            </a:r>
            <a:endParaRPr/>
          </a:p>
          <a:p>
            <a:pPr indent="-317500" lvl="1" marL="914400" rtl="0" algn="l">
              <a:spcBef>
                <a:spcPts val="0"/>
              </a:spcBef>
              <a:spcAft>
                <a:spcPts val="0"/>
              </a:spcAft>
              <a:buSzPts val="1400"/>
              <a:buChar char="○"/>
            </a:pPr>
            <a:r>
              <a:rPr lang="en"/>
              <a:t>Chosen timestamps</a:t>
            </a:r>
            <a:endParaRPr/>
          </a:p>
          <a:p>
            <a:pPr indent="-342900" lvl="0" marL="457200" rtl="0" algn="l">
              <a:spcBef>
                <a:spcPts val="0"/>
              </a:spcBef>
              <a:spcAft>
                <a:spcPts val="0"/>
              </a:spcAft>
              <a:buSzPts val="1800"/>
              <a:buChar char="●"/>
            </a:pPr>
            <a:r>
              <a:rPr lang="en"/>
              <a:t>Outputs:</a:t>
            </a:r>
            <a:endParaRPr/>
          </a:p>
          <a:p>
            <a:pPr indent="-317500" lvl="1" marL="914400" rtl="0" algn="l">
              <a:spcBef>
                <a:spcPts val="0"/>
              </a:spcBef>
              <a:spcAft>
                <a:spcPts val="0"/>
              </a:spcAft>
              <a:buSzPts val="1400"/>
              <a:buChar char="○"/>
            </a:pPr>
            <a:r>
              <a:rPr lang="en"/>
              <a:t>Table of distances between closest points for every shapefile pairing</a:t>
            </a:r>
            <a:endParaRPr/>
          </a:p>
        </p:txBody>
      </p:sp>
      <p:pic>
        <p:nvPicPr>
          <p:cNvPr id="136" name="Google Shape;136;p24"/>
          <p:cNvPicPr preferRelativeResize="0"/>
          <p:nvPr/>
        </p:nvPicPr>
        <p:blipFill>
          <a:blip r:embed="rId3">
            <a:alphaModFix/>
          </a:blip>
          <a:stretch>
            <a:fillRect/>
          </a:stretch>
        </p:blipFill>
        <p:spPr>
          <a:xfrm>
            <a:off x="1127125" y="1030425"/>
            <a:ext cx="6889749" cy="1758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5"/>
          <p:cNvPicPr preferRelativeResize="0"/>
          <p:nvPr/>
        </p:nvPicPr>
        <p:blipFill>
          <a:blip r:embed="rId3">
            <a:alphaModFix/>
          </a:blip>
          <a:stretch>
            <a:fillRect/>
          </a:stretch>
        </p:blipFill>
        <p:spPr>
          <a:xfrm>
            <a:off x="3929975" y="0"/>
            <a:ext cx="5143499" cy="5143499"/>
          </a:xfrm>
          <a:prstGeom prst="rect">
            <a:avLst/>
          </a:prstGeom>
          <a:noFill/>
          <a:ln>
            <a:noFill/>
          </a:ln>
        </p:spPr>
      </p:pic>
      <p:pic>
        <p:nvPicPr>
          <p:cNvPr id="142" name="Google Shape;142;p25"/>
          <p:cNvPicPr preferRelativeResize="0"/>
          <p:nvPr/>
        </p:nvPicPr>
        <p:blipFill rotWithShape="1">
          <a:blip r:embed="rId4">
            <a:alphaModFix/>
          </a:blip>
          <a:srcRect b="1727" l="9772" r="10259" t="1747"/>
          <a:stretch/>
        </p:blipFill>
        <p:spPr>
          <a:xfrm>
            <a:off x="1392102" y="170553"/>
            <a:ext cx="1566448" cy="1629747"/>
          </a:xfrm>
          <a:prstGeom prst="rect">
            <a:avLst/>
          </a:prstGeom>
          <a:noFill/>
          <a:ln>
            <a:noFill/>
          </a:ln>
        </p:spPr>
      </p:pic>
      <p:pic>
        <p:nvPicPr>
          <p:cNvPr id="143" name="Google Shape;143;p25"/>
          <p:cNvPicPr preferRelativeResize="0"/>
          <p:nvPr/>
        </p:nvPicPr>
        <p:blipFill rotWithShape="1">
          <a:blip r:embed="rId5">
            <a:alphaModFix/>
          </a:blip>
          <a:srcRect b="1117" l="6889" r="9295" t="1672"/>
          <a:stretch/>
        </p:blipFill>
        <p:spPr>
          <a:xfrm>
            <a:off x="1392100" y="1800297"/>
            <a:ext cx="1566449" cy="1629748"/>
          </a:xfrm>
          <a:prstGeom prst="rect">
            <a:avLst/>
          </a:prstGeom>
          <a:noFill/>
          <a:ln>
            <a:noFill/>
          </a:ln>
        </p:spPr>
      </p:pic>
      <p:pic>
        <p:nvPicPr>
          <p:cNvPr id="144" name="Google Shape;144;p25"/>
          <p:cNvPicPr preferRelativeResize="0"/>
          <p:nvPr/>
        </p:nvPicPr>
        <p:blipFill rotWithShape="1">
          <a:blip r:embed="rId6">
            <a:alphaModFix/>
          </a:blip>
          <a:srcRect b="1004" l="6090" r="5764" t="1501"/>
          <a:stretch/>
        </p:blipFill>
        <p:spPr>
          <a:xfrm>
            <a:off x="1392100" y="3430050"/>
            <a:ext cx="1566448" cy="1629747"/>
          </a:xfrm>
          <a:prstGeom prst="rect">
            <a:avLst/>
          </a:prstGeom>
          <a:noFill/>
          <a:ln>
            <a:noFill/>
          </a:ln>
        </p:spPr>
      </p:pic>
      <p:pic>
        <p:nvPicPr>
          <p:cNvPr id="145" name="Google Shape;145;p25"/>
          <p:cNvPicPr preferRelativeResize="0"/>
          <p:nvPr/>
        </p:nvPicPr>
        <p:blipFill rotWithShape="1">
          <a:blip r:embed="rId3">
            <a:alphaModFix/>
          </a:blip>
          <a:srcRect b="42716" l="86557" r="-1866" t="38764"/>
          <a:stretch/>
        </p:blipFill>
        <p:spPr>
          <a:xfrm>
            <a:off x="8166100" y="2093475"/>
            <a:ext cx="1104901" cy="1336574"/>
          </a:xfrm>
          <a:prstGeom prst="rect">
            <a:avLst/>
          </a:prstGeom>
          <a:noFill/>
          <a:ln>
            <a:noFill/>
          </a:ln>
        </p:spPr>
      </p:pic>
      <p:sp>
        <p:nvSpPr>
          <p:cNvPr id="146" name="Google Shape;146;p25"/>
          <p:cNvSpPr/>
          <p:nvPr/>
        </p:nvSpPr>
        <p:spPr>
          <a:xfrm rot="-5400000">
            <a:off x="2936150" y="2404228"/>
            <a:ext cx="2077800" cy="241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Closest Distance (Km)</a:t>
            </a:r>
            <a:endParaRPr/>
          </a:p>
        </p:txBody>
      </p:sp>
      <p:sp>
        <p:nvSpPr>
          <p:cNvPr id="147" name="Google Shape;147;p25"/>
          <p:cNvSpPr/>
          <p:nvPr/>
        </p:nvSpPr>
        <p:spPr>
          <a:xfrm rot="-5400000">
            <a:off x="-1631950" y="2476600"/>
            <a:ext cx="4889400" cy="241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100                               Time (mya)                                  0 </a:t>
            </a:r>
            <a:endParaRPr/>
          </a:p>
        </p:txBody>
      </p:sp>
      <p:sp>
        <p:nvSpPr>
          <p:cNvPr id="148" name="Google Shape;148;p25"/>
          <p:cNvSpPr/>
          <p:nvPr/>
        </p:nvSpPr>
        <p:spPr>
          <a:xfrm>
            <a:off x="730250" y="3124200"/>
            <a:ext cx="171600" cy="12573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5"/>
          <p:cNvSpPr/>
          <p:nvPr/>
        </p:nvSpPr>
        <p:spPr>
          <a:xfrm>
            <a:off x="730250" y="685800"/>
            <a:ext cx="171600" cy="12573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5"/>
          <p:cNvSpPr/>
          <p:nvPr/>
        </p:nvSpPr>
        <p:spPr>
          <a:xfrm>
            <a:off x="5486400" y="4991100"/>
            <a:ext cx="1765200" cy="152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Time (mya)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idx="1" type="body"/>
          </p:nvPr>
        </p:nvSpPr>
        <p:spPr>
          <a:xfrm>
            <a:off x="768050" y="1191025"/>
            <a:ext cx="58782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lang="en" sz="2100"/>
              <a:t>Background</a:t>
            </a:r>
            <a:endParaRPr sz="2100"/>
          </a:p>
          <a:p>
            <a:pPr indent="-336550" lvl="1" marL="914400" rtl="0" algn="l">
              <a:spcBef>
                <a:spcPts val="0"/>
              </a:spcBef>
              <a:spcAft>
                <a:spcPts val="0"/>
              </a:spcAft>
              <a:buSzPts val="1700"/>
              <a:buAutoNum type="alphaLcPeriod"/>
            </a:pPr>
            <a:r>
              <a:rPr lang="en" sz="1700"/>
              <a:t>Biogeography and Models</a:t>
            </a:r>
            <a:endParaRPr sz="1700"/>
          </a:p>
          <a:p>
            <a:pPr indent="-336550" lvl="1" marL="914400" rtl="0" algn="l">
              <a:spcBef>
                <a:spcPts val="0"/>
              </a:spcBef>
              <a:spcAft>
                <a:spcPts val="0"/>
              </a:spcAft>
              <a:buSzPts val="1700"/>
              <a:buAutoNum type="alphaLcPeriod"/>
            </a:pPr>
            <a:r>
              <a:rPr lang="en" sz="1700"/>
              <a:t>Previous limitations - Realism and Speed</a:t>
            </a:r>
            <a:endParaRPr sz="1700"/>
          </a:p>
          <a:p>
            <a:pPr indent="-361950" lvl="0" marL="457200" rtl="0" algn="l">
              <a:spcBef>
                <a:spcPts val="0"/>
              </a:spcBef>
              <a:spcAft>
                <a:spcPts val="0"/>
              </a:spcAft>
              <a:buSzPts val="2100"/>
              <a:buAutoNum type="arabicPeriod"/>
            </a:pPr>
            <a:r>
              <a:rPr lang="en" sz="2100"/>
              <a:t>GPlates for Biogeographers</a:t>
            </a:r>
            <a:endParaRPr sz="2100"/>
          </a:p>
          <a:p>
            <a:pPr indent="-361950" lvl="0" marL="457200" rtl="0" algn="l">
              <a:spcBef>
                <a:spcPts val="0"/>
              </a:spcBef>
              <a:spcAft>
                <a:spcPts val="0"/>
              </a:spcAft>
              <a:buSzPts val="2100"/>
              <a:buAutoNum type="arabicPeriod"/>
            </a:pPr>
            <a:r>
              <a:rPr b="1" lang="en" sz="2100"/>
              <a:t>Julia Speed for Complex ODEs</a:t>
            </a:r>
            <a:endParaRPr b="1" sz="2100"/>
          </a:p>
          <a:p>
            <a:pPr indent="-361950" lvl="0" marL="457200" rtl="0" algn="l">
              <a:spcBef>
                <a:spcPts val="0"/>
              </a:spcBef>
              <a:spcAft>
                <a:spcPts val="0"/>
              </a:spcAft>
              <a:buSzPts val="2100"/>
              <a:buAutoNum type="arabicPeriod"/>
            </a:pPr>
            <a:r>
              <a:rPr lang="en" sz="2100"/>
              <a:t>Testing Accuracy of Distance Based SSE Models</a:t>
            </a:r>
            <a:endParaRPr sz="2100"/>
          </a:p>
          <a:p>
            <a:pPr indent="-361950" lvl="0" marL="457200" rtl="0" algn="l">
              <a:spcBef>
                <a:spcPts val="0"/>
              </a:spcBef>
              <a:spcAft>
                <a:spcPts val="0"/>
              </a:spcAft>
              <a:buSzPts val="2100"/>
              <a:buAutoNum type="arabicPeriod"/>
            </a:pPr>
            <a:r>
              <a:rPr lang="en" sz="2100"/>
              <a:t>Conclusions</a:t>
            </a:r>
            <a:endParaRPr sz="2100"/>
          </a:p>
          <a:p>
            <a:pPr indent="0" lvl="0" marL="0" rtl="0" algn="l">
              <a:spcBef>
                <a:spcPts val="1200"/>
              </a:spcBef>
              <a:spcAft>
                <a:spcPts val="1200"/>
              </a:spcAft>
              <a:buNone/>
            </a:pPr>
            <a:r>
              <a:t/>
            </a:r>
            <a:endParaRPr sz="2100"/>
          </a:p>
        </p:txBody>
      </p:sp>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Julia for Biogeographic Phylogenetics</a:t>
            </a:r>
            <a:endParaRPr/>
          </a:p>
        </p:txBody>
      </p:sp>
      <p:sp>
        <p:nvSpPr>
          <p:cNvPr id="162" name="Google Shape;162;p27"/>
          <p:cNvSpPr txBox="1"/>
          <p:nvPr>
            <p:ph idx="1" type="body"/>
          </p:nvPr>
        </p:nvSpPr>
        <p:spPr>
          <a:xfrm>
            <a:off x="311700" y="1152475"/>
            <a:ext cx="7435200" cy="190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Improved biogeographic models will require better computation speeds</a:t>
            </a:r>
            <a:endParaRPr/>
          </a:p>
          <a:p>
            <a:pPr indent="0" lvl="0" marL="0" rtl="0" algn="l">
              <a:spcBef>
                <a:spcPts val="1200"/>
              </a:spcBef>
              <a:spcAft>
                <a:spcPts val="1200"/>
              </a:spcAft>
              <a:buNone/>
            </a:pPr>
            <a:r>
              <a:rPr lang="en"/>
              <a:t>As our models get more complex and our datasets larger, we handle </a:t>
            </a:r>
            <a:br>
              <a:rPr lang="en"/>
            </a:br>
            <a:r>
              <a:rPr lang="en"/>
              <a:t>an amount of data that is almost overwhelming to previous systems</a:t>
            </a:r>
            <a:endParaRPr/>
          </a:p>
        </p:txBody>
      </p:sp>
      <p:pic>
        <p:nvPicPr>
          <p:cNvPr id="163" name="Google Shape;163;p27"/>
          <p:cNvPicPr preferRelativeResize="0"/>
          <p:nvPr/>
        </p:nvPicPr>
        <p:blipFill rotWithShape="1">
          <a:blip r:embed="rId3">
            <a:alphaModFix/>
          </a:blip>
          <a:srcRect b="23879" l="0" r="69443" t="0"/>
          <a:stretch/>
        </p:blipFill>
        <p:spPr>
          <a:xfrm>
            <a:off x="6946900" y="2264601"/>
            <a:ext cx="1739863" cy="2712845"/>
          </a:xfrm>
          <a:prstGeom prst="rect">
            <a:avLst/>
          </a:prstGeom>
          <a:noFill/>
          <a:ln>
            <a:noFill/>
          </a:ln>
        </p:spPr>
      </p:pic>
      <p:pic>
        <p:nvPicPr>
          <p:cNvPr id="164" name="Google Shape;164;p27"/>
          <p:cNvPicPr preferRelativeResize="0"/>
          <p:nvPr/>
        </p:nvPicPr>
        <p:blipFill>
          <a:blip r:embed="rId4">
            <a:alphaModFix/>
          </a:blip>
          <a:stretch>
            <a:fillRect/>
          </a:stretch>
        </p:blipFill>
        <p:spPr>
          <a:xfrm>
            <a:off x="152400" y="2666875"/>
            <a:ext cx="5799009" cy="1908300"/>
          </a:xfrm>
          <a:prstGeom prst="rect">
            <a:avLst/>
          </a:prstGeom>
          <a:noFill/>
          <a:ln>
            <a:noFill/>
          </a:ln>
        </p:spPr>
      </p:pic>
      <p:cxnSp>
        <p:nvCxnSpPr>
          <p:cNvPr id="165" name="Google Shape;165;p27"/>
          <p:cNvCxnSpPr/>
          <p:nvPr/>
        </p:nvCxnSpPr>
        <p:spPr>
          <a:xfrm>
            <a:off x="7009526" y="4977451"/>
            <a:ext cx="1677300" cy="0"/>
          </a:xfrm>
          <a:prstGeom prst="straightConnector1">
            <a:avLst/>
          </a:prstGeom>
          <a:noFill/>
          <a:ln cap="flat" cmpd="sng" w="9525">
            <a:solidFill>
              <a:schemeClr val="dk2"/>
            </a:solidFill>
            <a:prstDash val="solid"/>
            <a:round/>
            <a:headEnd len="med" w="med" type="none"/>
            <a:tailEnd len="med" w="med" type="none"/>
          </a:ln>
        </p:spPr>
      </p:cxnSp>
      <p:sp>
        <p:nvSpPr>
          <p:cNvPr id="166" name="Google Shape;166;p27"/>
          <p:cNvSpPr txBox="1"/>
          <p:nvPr/>
        </p:nvSpPr>
        <p:spPr>
          <a:xfrm rot="-5400000">
            <a:off x="-2417400" y="2433300"/>
            <a:ext cx="5111700" cy="276900"/>
          </a:xfrm>
          <a:prstGeom prst="rect">
            <a:avLst/>
          </a:prstGeom>
          <a:noFill/>
          <a:ln>
            <a:noFill/>
          </a:ln>
        </p:spPr>
        <p:txBody>
          <a:bodyPr anchorCtr="0" anchor="t" bIns="91425" lIns="91425" spcFirstLastPara="1" rIns="91425" wrap="square" tIns="91425">
            <a:spAutoFit/>
          </a:bodyPr>
          <a:lstStyle/>
          <a:p>
            <a:pPr indent="0" lvl="0" marL="0" rtl="0" algn="l">
              <a:lnSpc>
                <a:spcPct val="163636"/>
              </a:lnSpc>
              <a:spcBef>
                <a:spcPts val="0"/>
              </a:spcBef>
              <a:spcAft>
                <a:spcPts val="500"/>
              </a:spcAft>
              <a:buNone/>
            </a:pPr>
            <a:r>
              <a:rPr lang="en" sz="600">
                <a:solidFill>
                  <a:schemeClr val="dk1"/>
                </a:solidFill>
                <a:latin typeface="Times New Roman"/>
                <a:ea typeface="Times New Roman"/>
                <a:cs typeface="Times New Roman"/>
                <a:sym typeface="Times New Roman"/>
              </a:rPr>
              <a:t>Freyman and Höhna. 2017. The tempo of evolutionary decline in self-compatible plant lineages. Systematic Biology. 68: 505-519. 10.1093/sysbio/syy078</a:t>
            </a:r>
            <a:endParaRPr sz="6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Julia for Biogeographic Phylogenetics</a:t>
            </a:r>
            <a:endParaRPr/>
          </a:p>
        </p:txBody>
      </p:sp>
      <p:graphicFrame>
        <p:nvGraphicFramePr>
          <p:cNvPr id="172" name="Google Shape;172;p28"/>
          <p:cNvGraphicFramePr/>
          <p:nvPr/>
        </p:nvGraphicFramePr>
        <p:xfrm>
          <a:off x="76200" y="1098550"/>
          <a:ext cx="3000000" cy="3000000"/>
        </p:xfrm>
        <a:graphic>
          <a:graphicData uri="http://schemas.openxmlformats.org/drawingml/2006/table">
            <a:tbl>
              <a:tblPr>
                <a:noFill/>
                <a:tableStyleId>{A6414B30-0893-49A6-B19A-E50DCBDA90DE}</a:tableStyleId>
              </a:tblPr>
              <a:tblGrid>
                <a:gridCol w="913150"/>
                <a:gridCol w="1021125"/>
                <a:gridCol w="1253400"/>
              </a:tblGrid>
              <a:tr h="381000">
                <a:tc>
                  <a:txBody>
                    <a:bodyPr/>
                    <a:lstStyle/>
                    <a:p>
                      <a:pPr indent="0" lvl="0" marL="0" rtl="0" algn="ctr">
                        <a:spcBef>
                          <a:spcPts val="0"/>
                        </a:spcBef>
                        <a:spcAft>
                          <a:spcPts val="0"/>
                        </a:spcAft>
                        <a:buNone/>
                      </a:pPr>
                      <a:r>
                        <a:rPr lang="en" sz="1200"/>
                        <a:t># of Areas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n</a:t>
                      </a:r>
                      <a:endParaRPr sz="1200"/>
                    </a:p>
                  </a:txBody>
                  <a:tcPr marT="91425" marB="91425" marR="91425" marL="91425"/>
                </a:tc>
                <a:tc>
                  <a:txBody>
                    <a:bodyPr/>
                    <a:lstStyle/>
                    <a:p>
                      <a:pPr indent="0" lvl="0" marL="0" rtl="0" algn="ctr">
                        <a:spcBef>
                          <a:spcPts val="0"/>
                        </a:spcBef>
                        <a:spcAft>
                          <a:spcPts val="0"/>
                        </a:spcAft>
                        <a:buNone/>
                      </a:pPr>
                      <a:r>
                        <a:rPr lang="en" sz="1200"/>
                        <a:t># of Ranges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2^n</a:t>
                      </a:r>
                      <a:endParaRPr sz="1200"/>
                    </a:p>
                  </a:txBody>
                  <a:tcPr marT="91425" marB="91425" marR="91425" marL="91425"/>
                </a:tc>
                <a:tc>
                  <a:txBody>
                    <a:bodyPr/>
                    <a:lstStyle/>
                    <a:p>
                      <a:pPr indent="0" lvl="0" marL="0" rtl="0" algn="ctr">
                        <a:spcBef>
                          <a:spcPts val="0"/>
                        </a:spcBef>
                        <a:spcAft>
                          <a:spcPts val="0"/>
                        </a:spcAft>
                        <a:buNone/>
                      </a:pPr>
                      <a:r>
                        <a:rPr lang="en" sz="1200"/>
                        <a:t># of Interacting ODES </a:t>
                      </a:r>
                      <a:endParaRPr sz="1200"/>
                    </a:p>
                    <a:p>
                      <a:pPr indent="0" lvl="0" marL="0" rtl="0" algn="ctr">
                        <a:spcBef>
                          <a:spcPts val="0"/>
                        </a:spcBef>
                        <a:spcAft>
                          <a:spcPts val="0"/>
                        </a:spcAft>
                        <a:buNone/>
                      </a:pPr>
                      <a:r>
                        <a:rPr lang="en" sz="1200"/>
                        <a:t>(E + D)</a:t>
                      </a:r>
                      <a:endParaRPr sz="1200"/>
                    </a:p>
                  </a:txBody>
                  <a:tcPr marT="91425" marB="91425" marR="91425" marL="91425"/>
                </a:tc>
              </a:tr>
              <a:tr h="381000">
                <a:tc>
                  <a:txBody>
                    <a:bodyPr/>
                    <a:lstStyle/>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rPr lang="en"/>
                        <a:t>5</a:t>
                      </a:r>
                      <a:endParaRPr/>
                    </a:p>
                    <a:p>
                      <a:pPr indent="0" lvl="0" marL="0" rtl="0" algn="ctr">
                        <a:spcBef>
                          <a:spcPts val="0"/>
                        </a:spcBef>
                        <a:spcAft>
                          <a:spcPts val="0"/>
                        </a:spcAft>
                        <a:buNone/>
                      </a:pPr>
                      <a:r>
                        <a:rPr lang="en"/>
                        <a:t>10</a:t>
                      </a:r>
                      <a:endParaRPr/>
                    </a:p>
                    <a:p>
                      <a:pPr indent="0" lvl="0" marL="0" rtl="0" algn="ctr">
                        <a:spcBef>
                          <a:spcPts val="0"/>
                        </a:spcBef>
                        <a:spcAft>
                          <a:spcPts val="0"/>
                        </a:spcAft>
                        <a:buNone/>
                      </a:pPr>
                      <a:r>
                        <a:rPr lang="en"/>
                        <a:t>25</a:t>
                      </a:r>
                      <a:endParaRPr/>
                    </a:p>
                  </a:txBody>
                  <a:tcPr marT="91425" marB="91425" marR="91425" marL="91425"/>
                </a:tc>
                <a:tc>
                  <a:txBody>
                    <a:bodyPr/>
                    <a:lstStyle/>
                    <a:p>
                      <a:pPr indent="0" lvl="0" marL="0" rtl="0" algn="ctr">
                        <a:spcBef>
                          <a:spcPts val="0"/>
                        </a:spcBef>
                        <a:spcAft>
                          <a:spcPts val="0"/>
                        </a:spcAft>
                        <a:buNone/>
                      </a:pPr>
                      <a:r>
                        <a:rPr lang="en"/>
                        <a:t>4</a:t>
                      </a:r>
                      <a:endParaRPr/>
                    </a:p>
                    <a:p>
                      <a:pPr indent="0" lvl="0" marL="0" rtl="0" algn="ctr">
                        <a:spcBef>
                          <a:spcPts val="0"/>
                        </a:spcBef>
                        <a:spcAft>
                          <a:spcPts val="0"/>
                        </a:spcAft>
                        <a:buNone/>
                      </a:pPr>
                      <a:r>
                        <a:rPr lang="en"/>
                        <a:t>8</a:t>
                      </a:r>
                      <a:endParaRPr/>
                    </a:p>
                    <a:p>
                      <a:pPr indent="0" lvl="0" marL="0" rtl="0" algn="ctr">
                        <a:spcBef>
                          <a:spcPts val="0"/>
                        </a:spcBef>
                        <a:spcAft>
                          <a:spcPts val="0"/>
                        </a:spcAft>
                        <a:buNone/>
                      </a:pPr>
                      <a:r>
                        <a:rPr lang="en"/>
                        <a:t>16</a:t>
                      </a:r>
                      <a:endParaRPr/>
                    </a:p>
                    <a:p>
                      <a:pPr indent="0" lvl="0" marL="0" rtl="0" algn="ctr">
                        <a:spcBef>
                          <a:spcPts val="0"/>
                        </a:spcBef>
                        <a:spcAft>
                          <a:spcPts val="0"/>
                        </a:spcAft>
                        <a:buNone/>
                      </a:pPr>
                      <a:r>
                        <a:rPr lang="en"/>
                        <a:t>32</a:t>
                      </a:r>
                      <a:endParaRPr/>
                    </a:p>
                    <a:p>
                      <a:pPr indent="0" lvl="0" marL="0" rtl="0" algn="ctr">
                        <a:spcBef>
                          <a:spcPts val="0"/>
                        </a:spcBef>
                        <a:spcAft>
                          <a:spcPts val="0"/>
                        </a:spcAft>
                        <a:buNone/>
                      </a:pPr>
                      <a:r>
                        <a:rPr lang="en"/>
                        <a:t>1024</a:t>
                      </a:r>
                      <a:endParaRPr/>
                    </a:p>
                    <a:p>
                      <a:pPr indent="0" lvl="0" marL="0" rtl="0" algn="ctr">
                        <a:spcBef>
                          <a:spcPts val="0"/>
                        </a:spcBef>
                        <a:spcAft>
                          <a:spcPts val="0"/>
                        </a:spcAft>
                        <a:buNone/>
                      </a:pPr>
                      <a:r>
                        <a:rPr lang="en"/>
                        <a:t>33554432</a:t>
                      </a:r>
                      <a:endParaRPr/>
                    </a:p>
                  </a:txBody>
                  <a:tcPr marT="91425" marB="91425" marR="91425" marL="91425"/>
                </a:tc>
                <a:tc>
                  <a:txBody>
                    <a:bodyPr/>
                    <a:lstStyle/>
                    <a:p>
                      <a:pPr indent="0" lvl="0" marL="0" rtl="0" algn="ctr">
                        <a:spcBef>
                          <a:spcPts val="0"/>
                        </a:spcBef>
                        <a:spcAft>
                          <a:spcPts val="0"/>
                        </a:spcAft>
                        <a:buNone/>
                      </a:pPr>
                      <a:r>
                        <a:rPr lang="en"/>
                        <a:t>8</a:t>
                      </a:r>
                      <a:endParaRPr/>
                    </a:p>
                    <a:p>
                      <a:pPr indent="0" lvl="0" marL="0" rtl="0" algn="ctr">
                        <a:spcBef>
                          <a:spcPts val="0"/>
                        </a:spcBef>
                        <a:spcAft>
                          <a:spcPts val="0"/>
                        </a:spcAft>
                        <a:buNone/>
                      </a:pPr>
                      <a:r>
                        <a:rPr lang="en"/>
                        <a:t>16</a:t>
                      </a:r>
                      <a:endParaRPr/>
                    </a:p>
                    <a:p>
                      <a:pPr indent="0" lvl="0" marL="0" rtl="0" algn="ctr">
                        <a:spcBef>
                          <a:spcPts val="0"/>
                        </a:spcBef>
                        <a:spcAft>
                          <a:spcPts val="0"/>
                        </a:spcAft>
                        <a:buNone/>
                      </a:pPr>
                      <a:r>
                        <a:rPr lang="en"/>
                        <a:t>32</a:t>
                      </a:r>
                      <a:endParaRPr/>
                    </a:p>
                    <a:p>
                      <a:pPr indent="0" lvl="0" marL="0" rtl="0" algn="ctr">
                        <a:spcBef>
                          <a:spcPts val="0"/>
                        </a:spcBef>
                        <a:spcAft>
                          <a:spcPts val="0"/>
                        </a:spcAft>
                        <a:buNone/>
                      </a:pPr>
                      <a:r>
                        <a:rPr lang="en"/>
                        <a:t>64</a:t>
                      </a:r>
                      <a:endParaRPr/>
                    </a:p>
                    <a:p>
                      <a:pPr indent="0" lvl="0" marL="0" rtl="0" algn="ctr">
                        <a:spcBef>
                          <a:spcPts val="0"/>
                        </a:spcBef>
                        <a:spcAft>
                          <a:spcPts val="0"/>
                        </a:spcAft>
                        <a:buNone/>
                      </a:pPr>
                      <a:r>
                        <a:rPr lang="en"/>
                        <a:t>2048</a:t>
                      </a:r>
                      <a:endParaRPr/>
                    </a:p>
                    <a:p>
                      <a:pPr indent="0" lvl="0" marL="0" rtl="0" algn="ctr">
                        <a:spcBef>
                          <a:spcPts val="0"/>
                        </a:spcBef>
                        <a:spcAft>
                          <a:spcPts val="0"/>
                        </a:spcAft>
                        <a:buNone/>
                      </a:pPr>
                      <a:r>
                        <a:rPr lang="en"/>
                        <a:t>67108864</a:t>
                      </a:r>
                      <a:endParaRPr/>
                    </a:p>
                  </a:txBody>
                  <a:tcPr marT="91425" marB="91425" marR="91425" marL="91425"/>
                </a:tc>
              </a:tr>
            </a:tbl>
          </a:graphicData>
        </a:graphic>
      </p:graphicFrame>
      <p:graphicFrame>
        <p:nvGraphicFramePr>
          <p:cNvPr id="173" name="Google Shape;173;p28"/>
          <p:cNvGraphicFramePr/>
          <p:nvPr/>
        </p:nvGraphicFramePr>
        <p:xfrm>
          <a:off x="2138900" y="3791800"/>
          <a:ext cx="3000000" cy="3000000"/>
        </p:xfrm>
        <a:graphic>
          <a:graphicData uri="http://schemas.openxmlformats.org/drawingml/2006/table">
            <a:tbl>
              <a:tblPr>
                <a:noFill/>
                <a:tableStyleId>{A6414B30-0893-49A6-B19A-E50DCBDA90DE}</a:tableStyleId>
              </a:tblPr>
              <a:tblGrid>
                <a:gridCol w="508000"/>
                <a:gridCol w="508000"/>
              </a:tblGrid>
              <a:tr h="4413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4413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74" name="Google Shape;174;p28"/>
          <p:cNvGraphicFramePr/>
          <p:nvPr/>
        </p:nvGraphicFramePr>
        <p:xfrm>
          <a:off x="3364450" y="3130350"/>
          <a:ext cx="3000000" cy="3000000"/>
        </p:xfrm>
        <a:graphic>
          <a:graphicData uri="http://schemas.openxmlformats.org/drawingml/2006/table">
            <a:tbl>
              <a:tblPr>
                <a:noFill/>
                <a:tableStyleId>{A6414B30-0893-49A6-B19A-E50DCBDA90DE}</a:tableStyleId>
              </a:tblPr>
              <a:tblGrid>
                <a:gridCol w="382850"/>
                <a:gridCol w="382850"/>
                <a:gridCol w="382850"/>
                <a:gridCol w="382850"/>
              </a:tblGrid>
              <a:tr h="377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62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628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7735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175" name="Google Shape;175;p28"/>
          <p:cNvGraphicFramePr/>
          <p:nvPr/>
        </p:nvGraphicFramePr>
        <p:xfrm>
          <a:off x="5105400" y="996950"/>
          <a:ext cx="3000000" cy="3000000"/>
        </p:xfrm>
        <a:graphic>
          <a:graphicData uri="http://schemas.openxmlformats.org/drawingml/2006/table">
            <a:tbl>
              <a:tblPr>
                <a:noFill/>
                <a:tableStyleId>{A6414B30-0893-49A6-B19A-E50DCBDA90DE}</a:tableStyleId>
              </a:tblPr>
              <a:tblGrid>
                <a:gridCol w="382850"/>
                <a:gridCol w="382850"/>
                <a:gridCol w="382850"/>
                <a:gridCol w="382850"/>
                <a:gridCol w="382850"/>
                <a:gridCol w="382850"/>
                <a:gridCol w="382850"/>
                <a:gridCol w="382850"/>
                <a:gridCol w="382850"/>
                <a:gridCol w="382850"/>
              </a:tblGrid>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149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Julia for Biogeographic Phylogenetics</a:t>
            </a:r>
            <a:endParaRPr/>
          </a:p>
        </p:txBody>
      </p:sp>
      <p:pic>
        <p:nvPicPr>
          <p:cNvPr id="181" name="Google Shape;181;p29"/>
          <p:cNvPicPr preferRelativeResize="0"/>
          <p:nvPr/>
        </p:nvPicPr>
        <p:blipFill>
          <a:blip r:embed="rId3">
            <a:alphaModFix/>
          </a:blip>
          <a:stretch>
            <a:fillRect/>
          </a:stretch>
        </p:blipFill>
        <p:spPr>
          <a:xfrm>
            <a:off x="3149600" y="3136775"/>
            <a:ext cx="5799009" cy="1908300"/>
          </a:xfrm>
          <a:prstGeom prst="rect">
            <a:avLst/>
          </a:prstGeom>
          <a:noFill/>
          <a:ln>
            <a:noFill/>
          </a:ln>
        </p:spPr>
      </p:pic>
      <p:graphicFrame>
        <p:nvGraphicFramePr>
          <p:cNvPr id="182" name="Google Shape;182;p29"/>
          <p:cNvGraphicFramePr/>
          <p:nvPr/>
        </p:nvGraphicFramePr>
        <p:xfrm>
          <a:off x="76200" y="1098550"/>
          <a:ext cx="3000000" cy="3000000"/>
        </p:xfrm>
        <a:graphic>
          <a:graphicData uri="http://schemas.openxmlformats.org/drawingml/2006/table">
            <a:tbl>
              <a:tblPr>
                <a:noFill/>
                <a:tableStyleId>{A6414B30-0893-49A6-B19A-E50DCBDA90DE}</a:tableStyleId>
              </a:tblPr>
              <a:tblGrid>
                <a:gridCol w="913150"/>
                <a:gridCol w="1021125"/>
                <a:gridCol w="1253400"/>
              </a:tblGrid>
              <a:tr h="381000">
                <a:tc>
                  <a:txBody>
                    <a:bodyPr/>
                    <a:lstStyle/>
                    <a:p>
                      <a:pPr indent="0" lvl="0" marL="0" rtl="0" algn="ctr">
                        <a:spcBef>
                          <a:spcPts val="0"/>
                        </a:spcBef>
                        <a:spcAft>
                          <a:spcPts val="0"/>
                        </a:spcAft>
                        <a:buNone/>
                      </a:pPr>
                      <a:r>
                        <a:rPr lang="en" sz="1200"/>
                        <a:t># of Areas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n</a:t>
                      </a:r>
                      <a:endParaRPr sz="1200"/>
                    </a:p>
                  </a:txBody>
                  <a:tcPr marT="91425" marB="91425" marR="91425" marL="91425"/>
                </a:tc>
                <a:tc>
                  <a:txBody>
                    <a:bodyPr/>
                    <a:lstStyle/>
                    <a:p>
                      <a:pPr indent="0" lvl="0" marL="0" rtl="0" algn="ctr">
                        <a:spcBef>
                          <a:spcPts val="0"/>
                        </a:spcBef>
                        <a:spcAft>
                          <a:spcPts val="0"/>
                        </a:spcAft>
                        <a:buNone/>
                      </a:pPr>
                      <a:r>
                        <a:rPr lang="en" sz="1200"/>
                        <a:t># of Ranges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rPr lang="en" sz="1200"/>
                        <a:t>2^n</a:t>
                      </a:r>
                      <a:endParaRPr sz="1200"/>
                    </a:p>
                  </a:txBody>
                  <a:tcPr marT="91425" marB="91425" marR="91425" marL="91425"/>
                </a:tc>
                <a:tc>
                  <a:txBody>
                    <a:bodyPr/>
                    <a:lstStyle/>
                    <a:p>
                      <a:pPr indent="0" lvl="0" marL="0" rtl="0" algn="ctr">
                        <a:spcBef>
                          <a:spcPts val="0"/>
                        </a:spcBef>
                        <a:spcAft>
                          <a:spcPts val="0"/>
                        </a:spcAft>
                        <a:buNone/>
                      </a:pPr>
                      <a:r>
                        <a:rPr lang="en" sz="1200"/>
                        <a:t># of Interacting ODES </a:t>
                      </a:r>
                      <a:endParaRPr sz="1200"/>
                    </a:p>
                    <a:p>
                      <a:pPr indent="0" lvl="0" marL="0" rtl="0" algn="ctr">
                        <a:spcBef>
                          <a:spcPts val="0"/>
                        </a:spcBef>
                        <a:spcAft>
                          <a:spcPts val="0"/>
                        </a:spcAft>
                        <a:buNone/>
                      </a:pPr>
                      <a:r>
                        <a:rPr lang="en" sz="1200"/>
                        <a:t>(E + D)</a:t>
                      </a:r>
                      <a:endParaRPr sz="1200"/>
                    </a:p>
                  </a:txBody>
                  <a:tcPr marT="91425" marB="91425" marR="91425" marL="91425"/>
                </a:tc>
              </a:tr>
              <a:tr h="381000">
                <a:tc>
                  <a:txBody>
                    <a:bodyPr/>
                    <a:lstStyle/>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rPr lang="en"/>
                        <a:t>5</a:t>
                      </a:r>
                      <a:endParaRPr/>
                    </a:p>
                    <a:p>
                      <a:pPr indent="0" lvl="0" marL="0" rtl="0" algn="ctr">
                        <a:spcBef>
                          <a:spcPts val="0"/>
                        </a:spcBef>
                        <a:spcAft>
                          <a:spcPts val="0"/>
                        </a:spcAft>
                        <a:buNone/>
                      </a:pPr>
                      <a:r>
                        <a:rPr lang="en"/>
                        <a:t>10</a:t>
                      </a:r>
                      <a:endParaRPr/>
                    </a:p>
                    <a:p>
                      <a:pPr indent="0" lvl="0" marL="0" rtl="0" algn="ctr">
                        <a:spcBef>
                          <a:spcPts val="0"/>
                        </a:spcBef>
                        <a:spcAft>
                          <a:spcPts val="0"/>
                        </a:spcAft>
                        <a:buNone/>
                      </a:pPr>
                      <a:r>
                        <a:rPr lang="en"/>
                        <a:t>25</a:t>
                      </a:r>
                      <a:endParaRPr/>
                    </a:p>
                  </a:txBody>
                  <a:tcPr marT="91425" marB="91425" marR="91425" marL="91425"/>
                </a:tc>
                <a:tc>
                  <a:txBody>
                    <a:bodyPr/>
                    <a:lstStyle/>
                    <a:p>
                      <a:pPr indent="0" lvl="0" marL="0" rtl="0" algn="ctr">
                        <a:spcBef>
                          <a:spcPts val="0"/>
                        </a:spcBef>
                        <a:spcAft>
                          <a:spcPts val="0"/>
                        </a:spcAft>
                        <a:buNone/>
                      </a:pPr>
                      <a:r>
                        <a:rPr lang="en"/>
                        <a:t>4</a:t>
                      </a:r>
                      <a:endParaRPr/>
                    </a:p>
                    <a:p>
                      <a:pPr indent="0" lvl="0" marL="0" rtl="0" algn="ctr">
                        <a:spcBef>
                          <a:spcPts val="0"/>
                        </a:spcBef>
                        <a:spcAft>
                          <a:spcPts val="0"/>
                        </a:spcAft>
                        <a:buNone/>
                      </a:pPr>
                      <a:r>
                        <a:rPr lang="en"/>
                        <a:t>8</a:t>
                      </a:r>
                      <a:endParaRPr/>
                    </a:p>
                    <a:p>
                      <a:pPr indent="0" lvl="0" marL="0" rtl="0" algn="ctr">
                        <a:spcBef>
                          <a:spcPts val="0"/>
                        </a:spcBef>
                        <a:spcAft>
                          <a:spcPts val="0"/>
                        </a:spcAft>
                        <a:buNone/>
                      </a:pPr>
                      <a:r>
                        <a:rPr lang="en"/>
                        <a:t>16</a:t>
                      </a:r>
                      <a:endParaRPr/>
                    </a:p>
                    <a:p>
                      <a:pPr indent="0" lvl="0" marL="0" rtl="0" algn="ctr">
                        <a:spcBef>
                          <a:spcPts val="0"/>
                        </a:spcBef>
                        <a:spcAft>
                          <a:spcPts val="0"/>
                        </a:spcAft>
                        <a:buNone/>
                      </a:pPr>
                      <a:r>
                        <a:rPr lang="en"/>
                        <a:t>32</a:t>
                      </a:r>
                      <a:endParaRPr/>
                    </a:p>
                    <a:p>
                      <a:pPr indent="0" lvl="0" marL="0" rtl="0" algn="ctr">
                        <a:spcBef>
                          <a:spcPts val="0"/>
                        </a:spcBef>
                        <a:spcAft>
                          <a:spcPts val="0"/>
                        </a:spcAft>
                        <a:buNone/>
                      </a:pPr>
                      <a:r>
                        <a:rPr lang="en"/>
                        <a:t>1024</a:t>
                      </a:r>
                      <a:endParaRPr/>
                    </a:p>
                    <a:p>
                      <a:pPr indent="0" lvl="0" marL="0" rtl="0" algn="ctr">
                        <a:spcBef>
                          <a:spcPts val="0"/>
                        </a:spcBef>
                        <a:spcAft>
                          <a:spcPts val="0"/>
                        </a:spcAft>
                        <a:buNone/>
                      </a:pPr>
                      <a:r>
                        <a:rPr lang="en"/>
                        <a:t>33554432</a:t>
                      </a:r>
                      <a:endParaRPr/>
                    </a:p>
                  </a:txBody>
                  <a:tcPr marT="91425" marB="91425" marR="91425" marL="91425"/>
                </a:tc>
                <a:tc>
                  <a:txBody>
                    <a:bodyPr/>
                    <a:lstStyle/>
                    <a:p>
                      <a:pPr indent="0" lvl="0" marL="0" rtl="0" algn="ctr">
                        <a:spcBef>
                          <a:spcPts val="0"/>
                        </a:spcBef>
                        <a:spcAft>
                          <a:spcPts val="0"/>
                        </a:spcAft>
                        <a:buNone/>
                      </a:pPr>
                      <a:r>
                        <a:rPr lang="en"/>
                        <a:t>8</a:t>
                      </a:r>
                      <a:endParaRPr/>
                    </a:p>
                    <a:p>
                      <a:pPr indent="0" lvl="0" marL="0" rtl="0" algn="ctr">
                        <a:spcBef>
                          <a:spcPts val="0"/>
                        </a:spcBef>
                        <a:spcAft>
                          <a:spcPts val="0"/>
                        </a:spcAft>
                        <a:buNone/>
                      </a:pPr>
                      <a:r>
                        <a:rPr lang="en"/>
                        <a:t>16</a:t>
                      </a:r>
                      <a:endParaRPr/>
                    </a:p>
                    <a:p>
                      <a:pPr indent="0" lvl="0" marL="0" rtl="0" algn="ctr">
                        <a:spcBef>
                          <a:spcPts val="0"/>
                        </a:spcBef>
                        <a:spcAft>
                          <a:spcPts val="0"/>
                        </a:spcAft>
                        <a:buNone/>
                      </a:pPr>
                      <a:r>
                        <a:rPr lang="en"/>
                        <a:t>32</a:t>
                      </a:r>
                      <a:endParaRPr/>
                    </a:p>
                    <a:p>
                      <a:pPr indent="0" lvl="0" marL="0" rtl="0" algn="ctr">
                        <a:spcBef>
                          <a:spcPts val="0"/>
                        </a:spcBef>
                        <a:spcAft>
                          <a:spcPts val="0"/>
                        </a:spcAft>
                        <a:buNone/>
                      </a:pPr>
                      <a:r>
                        <a:rPr lang="en"/>
                        <a:t>64</a:t>
                      </a:r>
                      <a:endParaRPr/>
                    </a:p>
                    <a:p>
                      <a:pPr indent="0" lvl="0" marL="0" rtl="0" algn="ctr">
                        <a:spcBef>
                          <a:spcPts val="0"/>
                        </a:spcBef>
                        <a:spcAft>
                          <a:spcPts val="0"/>
                        </a:spcAft>
                        <a:buNone/>
                      </a:pPr>
                      <a:r>
                        <a:rPr lang="en"/>
                        <a:t>2048</a:t>
                      </a:r>
                      <a:endParaRPr/>
                    </a:p>
                    <a:p>
                      <a:pPr indent="0" lvl="0" marL="0" rtl="0" algn="ctr">
                        <a:spcBef>
                          <a:spcPts val="0"/>
                        </a:spcBef>
                        <a:spcAft>
                          <a:spcPts val="0"/>
                        </a:spcAft>
                        <a:buNone/>
                      </a:pPr>
                      <a:r>
                        <a:rPr lang="en"/>
                        <a:t>67108864</a:t>
                      </a:r>
                      <a:endParaRPr/>
                    </a:p>
                  </a:txBody>
                  <a:tcPr marT="91425" marB="91425" marR="91425" marL="91425"/>
                </a:tc>
              </a:tr>
            </a:tbl>
          </a:graphicData>
        </a:graphic>
      </p:graphicFrame>
      <p:sp>
        <p:nvSpPr>
          <p:cNvPr id="183" name="Google Shape;183;p29"/>
          <p:cNvSpPr txBox="1"/>
          <p:nvPr>
            <p:ph idx="1" type="body"/>
          </p:nvPr>
        </p:nvSpPr>
        <p:spPr>
          <a:xfrm>
            <a:off x="5163100" y="1163850"/>
            <a:ext cx="2126700" cy="1407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Putting all of that</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
              <a:t>Through this</a:t>
            </a:r>
            <a:endParaRPr/>
          </a:p>
        </p:txBody>
      </p:sp>
      <p:sp>
        <p:nvSpPr>
          <p:cNvPr id="184" name="Google Shape;184;p29"/>
          <p:cNvSpPr/>
          <p:nvPr/>
        </p:nvSpPr>
        <p:spPr>
          <a:xfrm>
            <a:off x="4279900" y="1282700"/>
            <a:ext cx="978000" cy="2541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29"/>
          <p:cNvSpPr/>
          <p:nvPr/>
        </p:nvSpPr>
        <p:spPr>
          <a:xfrm>
            <a:off x="6146800" y="2590800"/>
            <a:ext cx="203100" cy="4065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p:cNvPicPr preferRelativeResize="0"/>
          <p:nvPr/>
        </p:nvPicPr>
        <p:blipFill>
          <a:blip r:embed="rId3">
            <a:alphaModFix/>
          </a:blip>
          <a:stretch>
            <a:fillRect/>
          </a:stretch>
        </p:blipFill>
        <p:spPr>
          <a:xfrm>
            <a:off x="740050" y="-33762"/>
            <a:ext cx="8010252" cy="5211026"/>
          </a:xfrm>
          <a:prstGeom prst="rect">
            <a:avLst/>
          </a:prstGeom>
          <a:noFill/>
          <a:ln>
            <a:noFill/>
          </a:ln>
        </p:spPr>
      </p:pic>
      <p:sp>
        <p:nvSpPr>
          <p:cNvPr id="191" name="Google Shape;191;p30"/>
          <p:cNvSpPr/>
          <p:nvPr/>
        </p:nvSpPr>
        <p:spPr>
          <a:xfrm>
            <a:off x="3314700" y="-12700"/>
            <a:ext cx="711300" cy="42798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30"/>
          <p:cNvSpPr/>
          <p:nvPr/>
        </p:nvSpPr>
        <p:spPr>
          <a:xfrm>
            <a:off x="2844800" y="-25400"/>
            <a:ext cx="469800" cy="4292400"/>
          </a:xfrm>
          <a:prstGeom prst="rect">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30"/>
          <p:cNvSpPr txBox="1"/>
          <p:nvPr/>
        </p:nvSpPr>
        <p:spPr>
          <a:xfrm rot="-5400000">
            <a:off x="-2456550" y="2443825"/>
            <a:ext cx="5190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t>https://www.stochasticlifestyle.com/comparison-differential-equation-solver-suites-matlab-r-julia-python-c-fortran/</a:t>
            </a:r>
            <a:endParaRPr sz="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11700" y="188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Julia Speed Testing </a:t>
            </a:r>
            <a:endParaRPr/>
          </a:p>
          <a:p>
            <a:pPr indent="0" lvl="0" marL="0" rtl="0" algn="l">
              <a:spcBef>
                <a:spcPts val="0"/>
              </a:spcBef>
              <a:spcAft>
                <a:spcPts val="0"/>
              </a:spcAft>
              <a:buNone/>
            </a:pPr>
            <a:r>
              <a:rPr lang="en"/>
              <a:t>Old vs New</a:t>
            </a:r>
            <a:endParaRPr/>
          </a:p>
        </p:txBody>
      </p:sp>
      <p:sp>
        <p:nvSpPr>
          <p:cNvPr id="199" name="Google Shape;199;p31"/>
          <p:cNvSpPr txBox="1"/>
          <p:nvPr>
            <p:ph idx="1" type="body"/>
          </p:nvPr>
        </p:nvSpPr>
        <p:spPr>
          <a:xfrm>
            <a:off x="243600" y="1396525"/>
            <a:ext cx="4328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Previous testing of ODEs* within Julia and R suggested that Julia’s increased speed would allow for us to work with higher precision at faster rates</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DeSolveDiffEq.lsoda is R’s main solver. This dropped out at 8 states in previous tests</a:t>
            </a:r>
            <a:endParaRPr/>
          </a:p>
        </p:txBody>
      </p:sp>
      <p:pic>
        <p:nvPicPr>
          <p:cNvPr id="200" name="Google Shape;200;p31"/>
          <p:cNvPicPr preferRelativeResize="0"/>
          <p:nvPr/>
        </p:nvPicPr>
        <p:blipFill>
          <a:blip r:embed="rId3">
            <a:alphaModFix/>
          </a:blip>
          <a:stretch>
            <a:fillRect/>
          </a:stretch>
        </p:blipFill>
        <p:spPr>
          <a:xfrm>
            <a:off x="5701225" y="57550"/>
            <a:ext cx="2689419" cy="2514200"/>
          </a:xfrm>
          <a:prstGeom prst="rect">
            <a:avLst/>
          </a:prstGeom>
          <a:noFill/>
          <a:ln>
            <a:noFill/>
          </a:ln>
        </p:spPr>
      </p:pic>
      <p:pic>
        <p:nvPicPr>
          <p:cNvPr id="201" name="Google Shape;201;p31"/>
          <p:cNvPicPr preferRelativeResize="0"/>
          <p:nvPr/>
        </p:nvPicPr>
        <p:blipFill>
          <a:blip r:embed="rId4">
            <a:alphaModFix/>
          </a:blip>
          <a:stretch>
            <a:fillRect/>
          </a:stretch>
        </p:blipFill>
        <p:spPr>
          <a:xfrm>
            <a:off x="5698450" y="2597525"/>
            <a:ext cx="2694975" cy="2519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Julia Speed Testing </a:t>
            </a:r>
            <a:endParaRPr/>
          </a:p>
          <a:p>
            <a:pPr indent="0" lvl="0" marL="0" rtl="0" algn="l">
              <a:spcBef>
                <a:spcPts val="0"/>
              </a:spcBef>
              <a:spcAft>
                <a:spcPts val="0"/>
              </a:spcAft>
              <a:buNone/>
            </a:pPr>
            <a:r>
              <a:rPr lang="en"/>
              <a:t>Old vs New</a:t>
            </a:r>
            <a:endParaRPr/>
          </a:p>
        </p:txBody>
      </p:sp>
      <p:sp>
        <p:nvSpPr>
          <p:cNvPr id="207" name="Google Shape;207;p32"/>
          <p:cNvSpPr txBox="1"/>
          <p:nvPr>
            <p:ph idx="1" type="body"/>
          </p:nvPr>
        </p:nvSpPr>
        <p:spPr>
          <a:xfrm>
            <a:off x="235500" y="1376450"/>
            <a:ext cx="3885600" cy="3411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Ran from 2 - 11 areas on 20 datasets</a:t>
            </a:r>
            <a:endParaRPr/>
          </a:p>
          <a:p>
            <a:pPr indent="-317500" lvl="1" marL="914400" rtl="0" algn="l">
              <a:spcBef>
                <a:spcPts val="0"/>
              </a:spcBef>
              <a:spcAft>
                <a:spcPts val="0"/>
              </a:spcAft>
              <a:buSzPts val="1400"/>
              <a:buChar char="○"/>
            </a:pPr>
            <a:r>
              <a:rPr lang="en"/>
              <a:t>BiogeoBEARS vs PhyBEARS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Similar to previous test -</a:t>
            </a:r>
            <a:endParaRPr/>
          </a:p>
          <a:p>
            <a:pPr indent="457200" lvl="0" marL="0" rtl="0" algn="l">
              <a:spcBef>
                <a:spcPts val="1200"/>
              </a:spcBef>
              <a:spcAft>
                <a:spcPts val="0"/>
              </a:spcAft>
              <a:buNone/>
            </a:pPr>
            <a:r>
              <a:rPr lang="en"/>
              <a:t>Slower speeds (exponentially)</a:t>
            </a:r>
            <a:endParaRPr/>
          </a:p>
          <a:p>
            <a:pPr indent="457200" lvl="0" marL="0" rtl="0" algn="l">
              <a:spcBef>
                <a:spcPts val="1200"/>
              </a:spcBef>
              <a:spcAft>
                <a:spcPts val="1200"/>
              </a:spcAft>
              <a:buNone/>
            </a:pPr>
            <a:r>
              <a:rPr lang="en"/>
              <a:t>DECj in R failed 11 state test </a:t>
            </a:r>
            <a:endParaRPr/>
          </a:p>
        </p:txBody>
      </p:sp>
      <p:pic>
        <p:nvPicPr>
          <p:cNvPr id="208" name="Google Shape;208;p32"/>
          <p:cNvPicPr preferRelativeResize="0"/>
          <p:nvPr/>
        </p:nvPicPr>
        <p:blipFill>
          <a:blip r:embed="rId3">
            <a:alphaModFix/>
          </a:blip>
          <a:stretch>
            <a:fillRect/>
          </a:stretch>
        </p:blipFill>
        <p:spPr>
          <a:xfrm>
            <a:off x="4095650" y="187325"/>
            <a:ext cx="4809900" cy="4809900"/>
          </a:xfrm>
          <a:prstGeom prst="rect">
            <a:avLst/>
          </a:prstGeom>
          <a:noFill/>
          <a:ln>
            <a:noFill/>
          </a:ln>
        </p:spPr>
      </p:pic>
      <p:sp>
        <p:nvSpPr>
          <p:cNvPr id="209" name="Google Shape;209;p32"/>
          <p:cNvSpPr/>
          <p:nvPr/>
        </p:nvSpPr>
        <p:spPr>
          <a:xfrm rot="-5400000">
            <a:off x="3213100" y="2451138"/>
            <a:ext cx="1727100" cy="241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Total Time (s)</a:t>
            </a:r>
            <a:endParaRPr/>
          </a:p>
        </p:txBody>
      </p:sp>
      <p:sp>
        <p:nvSpPr>
          <p:cNvPr id="210" name="Google Shape;210;p32"/>
          <p:cNvSpPr/>
          <p:nvPr/>
        </p:nvSpPr>
        <p:spPr>
          <a:xfrm>
            <a:off x="5359400" y="4876900"/>
            <a:ext cx="1727100" cy="241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Number of Areas</a:t>
            </a:r>
            <a:endParaRPr/>
          </a:p>
        </p:txBody>
      </p:sp>
      <p:pic>
        <p:nvPicPr>
          <p:cNvPr id="211" name="Google Shape;211;p32"/>
          <p:cNvPicPr preferRelativeResize="0"/>
          <p:nvPr/>
        </p:nvPicPr>
        <p:blipFill rotWithShape="1">
          <a:blip r:embed="rId3">
            <a:alphaModFix/>
          </a:blip>
          <a:srcRect b="39997" l="89907" r="0" t="34917"/>
          <a:stretch/>
        </p:blipFill>
        <p:spPr>
          <a:xfrm>
            <a:off x="8166101" y="1562100"/>
            <a:ext cx="904550" cy="22480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Various Solvers:</a:t>
            </a:r>
            <a:endParaRPr/>
          </a:p>
        </p:txBody>
      </p:sp>
      <p:pic>
        <p:nvPicPr>
          <p:cNvPr id="217" name="Google Shape;217;p33"/>
          <p:cNvPicPr preferRelativeResize="0"/>
          <p:nvPr/>
        </p:nvPicPr>
        <p:blipFill>
          <a:blip r:embed="rId3">
            <a:alphaModFix/>
          </a:blip>
          <a:stretch>
            <a:fillRect/>
          </a:stretch>
        </p:blipFill>
        <p:spPr>
          <a:xfrm>
            <a:off x="4048050" y="155988"/>
            <a:ext cx="4831524" cy="4831524"/>
          </a:xfrm>
          <a:prstGeom prst="rect">
            <a:avLst/>
          </a:prstGeom>
          <a:noFill/>
          <a:ln>
            <a:noFill/>
          </a:ln>
        </p:spPr>
      </p:pic>
      <p:sp>
        <p:nvSpPr>
          <p:cNvPr id="218" name="Google Shape;218;p33"/>
          <p:cNvSpPr txBox="1"/>
          <p:nvPr>
            <p:ph idx="1" type="body"/>
          </p:nvPr>
        </p:nvSpPr>
        <p:spPr>
          <a:xfrm>
            <a:off x="235500" y="1376450"/>
            <a:ext cx="4322700" cy="314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Julia vs R equivalent models</a:t>
            </a:r>
            <a:endParaRPr/>
          </a:p>
          <a:p>
            <a:pPr indent="0" lvl="0" marL="0" rtl="0" algn="l">
              <a:spcBef>
                <a:spcPts val="1200"/>
              </a:spcBef>
              <a:spcAft>
                <a:spcPts val="0"/>
              </a:spcAft>
              <a:buNone/>
            </a:pPr>
            <a:r>
              <a:rPr lang="en"/>
              <a:t>	Similar models, but Julia runs </a:t>
            </a:r>
            <a:br>
              <a:rPr lang="en"/>
            </a:br>
            <a:r>
              <a:rPr lang="en"/>
              <a:t>	with ODES</a:t>
            </a:r>
            <a:endParaRPr/>
          </a:p>
          <a:p>
            <a:pPr indent="457200" lvl="0" marL="0" rtl="0" algn="l">
              <a:spcBef>
                <a:spcPts val="1200"/>
              </a:spcBef>
              <a:spcAft>
                <a:spcPts val="1200"/>
              </a:spcAft>
              <a:buNone/>
            </a:pPr>
            <a:r>
              <a:rPr lang="en"/>
              <a:t>ARKODE (R solver) slower </a:t>
            </a:r>
            <a:br>
              <a:rPr lang="en"/>
            </a:br>
            <a:r>
              <a:rPr lang="en"/>
              <a:t>	than all other solvers</a:t>
            </a:r>
            <a:endParaRPr/>
          </a:p>
        </p:txBody>
      </p:sp>
      <p:pic>
        <p:nvPicPr>
          <p:cNvPr id="219" name="Google Shape;219;p33"/>
          <p:cNvPicPr preferRelativeResize="0"/>
          <p:nvPr/>
        </p:nvPicPr>
        <p:blipFill rotWithShape="1">
          <a:blip r:embed="rId3">
            <a:alphaModFix/>
          </a:blip>
          <a:srcRect b="41455" l="82867" r="0" t="37253"/>
          <a:stretch/>
        </p:blipFill>
        <p:spPr>
          <a:xfrm>
            <a:off x="7815475" y="1746248"/>
            <a:ext cx="1328526" cy="1651001"/>
          </a:xfrm>
          <a:prstGeom prst="rect">
            <a:avLst/>
          </a:prstGeom>
          <a:noFill/>
          <a:ln>
            <a:noFill/>
          </a:ln>
        </p:spPr>
      </p:pic>
      <p:sp>
        <p:nvSpPr>
          <p:cNvPr id="220" name="Google Shape;220;p33"/>
          <p:cNvSpPr/>
          <p:nvPr/>
        </p:nvSpPr>
        <p:spPr>
          <a:xfrm>
            <a:off x="5359400" y="4876900"/>
            <a:ext cx="1727100" cy="241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Number of Areas</a:t>
            </a:r>
            <a:endParaRPr/>
          </a:p>
        </p:txBody>
      </p:sp>
      <p:sp>
        <p:nvSpPr>
          <p:cNvPr id="221" name="Google Shape;221;p33"/>
          <p:cNvSpPr/>
          <p:nvPr/>
        </p:nvSpPr>
        <p:spPr>
          <a:xfrm rot="-5400000">
            <a:off x="3187700" y="2655763"/>
            <a:ext cx="1727100" cy="241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Total Time (s)</a:t>
            </a:r>
            <a:endParaRPr/>
          </a:p>
        </p:txBody>
      </p:sp>
      <p:sp>
        <p:nvSpPr>
          <p:cNvPr id="222" name="Google Shape;222;p33"/>
          <p:cNvSpPr txBox="1"/>
          <p:nvPr/>
        </p:nvSpPr>
        <p:spPr>
          <a:xfrm>
            <a:off x="215750" y="4178500"/>
            <a:ext cx="3714900" cy="6984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Julia consistently runs faster when run on the same data</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idx="1" type="body"/>
          </p:nvPr>
        </p:nvSpPr>
        <p:spPr>
          <a:xfrm>
            <a:off x="768050" y="1191025"/>
            <a:ext cx="58782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AutoNum type="arabicPeriod"/>
            </a:pPr>
            <a:r>
              <a:rPr lang="en" sz="2100"/>
              <a:t>Background</a:t>
            </a:r>
            <a:endParaRPr sz="2100"/>
          </a:p>
          <a:p>
            <a:pPr indent="-336550" lvl="1" marL="914400" rtl="0" algn="l">
              <a:spcBef>
                <a:spcPts val="0"/>
              </a:spcBef>
              <a:spcAft>
                <a:spcPts val="0"/>
              </a:spcAft>
              <a:buSzPts val="1700"/>
              <a:buAutoNum type="alphaLcPeriod"/>
            </a:pPr>
            <a:r>
              <a:rPr lang="en" sz="1700"/>
              <a:t>Biogeography and Models</a:t>
            </a:r>
            <a:endParaRPr sz="1700"/>
          </a:p>
          <a:p>
            <a:pPr indent="-336550" lvl="1" marL="914400" rtl="0" algn="l">
              <a:spcBef>
                <a:spcPts val="0"/>
              </a:spcBef>
              <a:spcAft>
                <a:spcPts val="0"/>
              </a:spcAft>
              <a:buSzPts val="1700"/>
              <a:buAutoNum type="alphaLcPeriod"/>
            </a:pPr>
            <a:r>
              <a:rPr lang="en" sz="1700"/>
              <a:t>Previous limitations - Realism and Speed</a:t>
            </a:r>
            <a:endParaRPr sz="1700"/>
          </a:p>
          <a:p>
            <a:pPr indent="-361950" lvl="0" marL="457200" rtl="0" algn="l">
              <a:spcBef>
                <a:spcPts val="0"/>
              </a:spcBef>
              <a:spcAft>
                <a:spcPts val="0"/>
              </a:spcAft>
              <a:buSzPts val="2100"/>
              <a:buAutoNum type="arabicPeriod"/>
            </a:pPr>
            <a:r>
              <a:rPr lang="en" sz="2100"/>
              <a:t>GPlates for Biogeographers</a:t>
            </a:r>
            <a:endParaRPr sz="2100"/>
          </a:p>
          <a:p>
            <a:pPr indent="-361950" lvl="0" marL="457200" rtl="0" algn="l">
              <a:spcBef>
                <a:spcPts val="0"/>
              </a:spcBef>
              <a:spcAft>
                <a:spcPts val="0"/>
              </a:spcAft>
              <a:buSzPts val="2100"/>
              <a:buAutoNum type="arabicPeriod"/>
            </a:pPr>
            <a:r>
              <a:rPr lang="en" sz="2100"/>
              <a:t>Julia Speed for Complex ODEs</a:t>
            </a:r>
            <a:endParaRPr sz="2100"/>
          </a:p>
          <a:p>
            <a:pPr indent="-361950" lvl="0" marL="457200" rtl="0" algn="l">
              <a:spcBef>
                <a:spcPts val="0"/>
              </a:spcBef>
              <a:spcAft>
                <a:spcPts val="0"/>
              </a:spcAft>
              <a:buSzPts val="2100"/>
              <a:buAutoNum type="arabicPeriod"/>
            </a:pPr>
            <a:r>
              <a:rPr b="1" lang="en" sz="2100"/>
              <a:t>Testing Accuracy of Distance Based SSE Models</a:t>
            </a:r>
            <a:endParaRPr b="1" sz="2100"/>
          </a:p>
          <a:p>
            <a:pPr indent="-361950" lvl="0" marL="457200" rtl="0" algn="l">
              <a:spcBef>
                <a:spcPts val="0"/>
              </a:spcBef>
              <a:spcAft>
                <a:spcPts val="0"/>
              </a:spcAft>
              <a:buSzPts val="2100"/>
              <a:buAutoNum type="arabicPeriod"/>
            </a:pPr>
            <a:r>
              <a:rPr lang="en" sz="2100"/>
              <a:t>Conclusions</a:t>
            </a:r>
            <a:endParaRPr sz="2100"/>
          </a:p>
          <a:p>
            <a:pPr indent="0" lvl="0" marL="0" rtl="0" algn="l">
              <a:spcBef>
                <a:spcPts val="1200"/>
              </a:spcBef>
              <a:spcAft>
                <a:spcPts val="1200"/>
              </a:spcAft>
              <a:buNone/>
            </a:pPr>
            <a:r>
              <a:t/>
            </a:r>
            <a:endParaRPr sz="2100"/>
          </a:p>
        </p:txBody>
      </p:sp>
      <p:sp>
        <p:nvSpPr>
          <p:cNvPr id="228" name="Google Shape;22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type="title"/>
          </p:nvPr>
        </p:nvSpPr>
        <p:spPr>
          <a:xfrm>
            <a:off x="311700" y="445025"/>
            <a:ext cx="8520600" cy="774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Incorporating Changing Palaeodistance into a time-varying SSE </a:t>
            </a:r>
            <a:r>
              <a:rPr lang="en"/>
              <a:t>likelihood</a:t>
            </a:r>
            <a:r>
              <a:rPr lang="en"/>
              <a:t> calculation</a:t>
            </a:r>
            <a:endParaRPr/>
          </a:p>
        </p:txBody>
      </p:sp>
      <p:pic>
        <p:nvPicPr>
          <p:cNvPr id="234" name="Google Shape;234;p35"/>
          <p:cNvPicPr preferRelativeResize="0"/>
          <p:nvPr/>
        </p:nvPicPr>
        <p:blipFill>
          <a:blip r:embed="rId3">
            <a:alphaModFix/>
          </a:blip>
          <a:stretch>
            <a:fillRect/>
          </a:stretch>
        </p:blipFill>
        <p:spPr>
          <a:xfrm>
            <a:off x="114300" y="1409700"/>
            <a:ext cx="8915400" cy="2324100"/>
          </a:xfrm>
          <a:prstGeom prst="rect">
            <a:avLst/>
          </a:prstGeom>
          <a:noFill/>
          <a:ln>
            <a:noFill/>
          </a:ln>
        </p:spPr>
      </p:pic>
      <p:sp>
        <p:nvSpPr>
          <p:cNvPr id="235" name="Google Shape;235;p35"/>
          <p:cNvSpPr/>
          <p:nvPr/>
        </p:nvSpPr>
        <p:spPr>
          <a:xfrm>
            <a:off x="1312345" y="1892262"/>
            <a:ext cx="1823400" cy="12213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837875" y="1830975"/>
            <a:ext cx="7468227" cy="2857250"/>
          </a:xfrm>
          <a:prstGeom prst="rect">
            <a:avLst/>
          </a:prstGeom>
          <a:noFill/>
          <a:ln>
            <a:noFill/>
          </a:ln>
        </p:spPr>
      </p:pic>
      <p:sp>
        <p:nvSpPr>
          <p:cNvPr id="241" name="Google Shape;241;p36"/>
          <p:cNvSpPr txBox="1"/>
          <p:nvPr>
            <p:ph type="title"/>
          </p:nvPr>
        </p:nvSpPr>
        <p:spPr>
          <a:xfrm>
            <a:off x="311700" y="445025"/>
            <a:ext cx="8520600" cy="774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Model: </a:t>
            </a:r>
            <a:endParaRPr/>
          </a:p>
          <a:p>
            <a:pPr indent="457200" lvl="0" marL="457200" rtl="0" algn="l">
              <a:spcBef>
                <a:spcPts val="0"/>
              </a:spcBef>
              <a:spcAft>
                <a:spcPts val="0"/>
              </a:spcAft>
              <a:buNone/>
            </a:pPr>
            <a:r>
              <a:rPr lang="en"/>
              <a:t>How distance affects </a:t>
            </a:r>
            <a:r>
              <a:rPr lang="en"/>
              <a:t>speciation</a:t>
            </a:r>
            <a:r>
              <a:rPr lang="en"/>
              <a:t> and dispersal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3 Possible Palaeodistance Based SSE Models</a:t>
            </a:r>
            <a:endParaRPr/>
          </a:p>
        </p:txBody>
      </p:sp>
      <p:sp>
        <p:nvSpPr>
          <p:cNvPr id="247" name="Google Shape;247;p37"/>
          <p:cNvSpPr txBox="1"/>
          <p:nvPr>
            <p:ph idx="1" type="body"/>
          </p:nvPr>
        </p:nvSpPr>
        <p:spPr>
          <a:xfrm>
            <a:off x="311700" y="1152475"/>
            <a:ext cx="8520600" cy="1565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Split </a:t>
            </a:r>
            <a:r>
              <a:rPr lang="en"/>
              <a:t>- Distance on Speciation Rates</a:t>
            </a:r>
            <a:endParaRPr/>
          </a:p>
          <a:p>
            <a:pPr indent="0" lvl="0" marL="0" rtl="0" algn="ctr">
              <a:spcBef>
                <a:spcPts val="1200"/>
              </a:spcBef>
              <a:spcAft>
                <a:spcPts val="0"/>
              </a:spcAft>
              <a:buNone/>
            </a:pPr>
            <a:r>
              <a:rPr b="1" lang="en"/>
              <a:t>Spread</a:t>
            </a:r>
            <a:r>
              <a:rPr lang="en"/>
              <a:t> - Distance influences dispersal rates</a:t>
            </a:r>
            <a:endParaRPr/>
          </a:p>
          <a:p>
            <a:pPr indent="0" lvl="0" marL="0" rtl="0" algn="ctr">
              <a:spcBef>
                <a:spcPts val="1200"/>
              </a:spcBef>
              <a:spcAft>
                <a:spcPts val="1200"/>
              </a:spcAft>
              <a:buNone/>
            </a:pPr>
            <a:r>
              <a:rPr b="1" lang="en"/>
              <a:t>Distance Based - SSE</a:t>
            </a:r>
            <a:r>
              <a:rPr lang="en"/>
              <a:t> (Combined Model)</a:t>
            </a:r>
            <a:endParaRPr/>
          </a:p>
        </p:txBody>
      </p:sp>
      <p:sp>
        <p:nvSpPr>
          <p:cNvPr id="248" name="Google Shape;248;p37"/>
          <p:cNvSpPr txBox="1"/>
          <p:nvPr>
            <p:ph idx="1" type="body"/>
          </p:nvPr>
        </p:nvSpPr>
        <p:spPr>
          <a:xfrm>
            <a:off x="311700" y="3184500"/>
            <a:ext cx="8520600" cy="195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1250"/>
              <a:t>Methods:</a:t>
            </a:r>
            <a:br>
              <a:rPr b="1" lang="en" sz="1250"/>
            </a:br>
            <a:r>
              <a:rPr b="1" lang="en" sz="1250"/>
              <a:t>Simulation - Inference Testing</a:t>
            </a:r>
            <a:endParaRPr b="1" sz="1250"/>
          </a:p>
          <a:p>
            <a:pPr indent="0" lvl="0" marL="0" rtl="0" algn="ctr">
              <a:spcBef>
                <a:spcPts val="1200"/>
              </a:spcBef>
              <a:spcAft>
                <a:spcPts val="0"/>
              </a:spcAft>
              <a:buNone/>
            </a:pPr>
            <a:r>
              <a:t/>
            </a:r>
            <a:endParaRPr b="1" sz="1250"/>
          </a:p>
          <a:p>
            <a:pPr indent="0" lvl="0" marL="0" rtl="0" algn="ctr">
              <a:spcBef>
                <a:spcPts val="1200"/>
              </a:spcBef>
              <a:spcAft>
                <a:spcPts val="0"/>
              </a:spcAft>
              <a:buNone/>
            </a:pPr>
            <a:r>
              <a:rPr b="1" lang="en" sz="1250"/>
              <a:t>SImulation: 7 Start States - 600 Simulations per start state (total 4,200)</a:t>
            </a:r>
            <a:endParaRPr b="1" sz="1250"/>
          </a:p>
          <a:p>
            <a:pPr indent="0" lvl="0" marL="0" rtl="0" algn="ctr">
              <a:spcBef>
                <a:spcPts val="1200"/>
              </a:spcBef>
              <a:spcAft>
                <a:spcPts val="1200"/>
              </a:spcAft>
              <a:buNone/>
            </a:pPr>
            <a:r>
              <a:rPr b="1" lang="en" sz="1250"/>
              <a:t>Inference: Control + Test model (total 8,400)</a:t>
            </a:r>
            <a:br>
              <a:rPr b="1" lang="en" sz="1250"/>
            </a:br>
            <a:r>
              <a:rPr b="1" lang="en" sz="1250"/>
              <a:t>For Distance Based SSE, Split and Spread inference were additionally run for comparison (+ 8,400)</a:t>
            </a:r>
            <a:endParaRPr b="1" sz="125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Split Model</a:t>
            </a:r>
            <a:endParaRPr/>
          </a:p>
        </p:txBody>
      </p:sp>
      <p:pic>
        <p:nvPicPr>
          <p:cNvPr id="254" name="Google Shape;254;p38"/>
          <p:cNvPicPr preferRelativeResize="0"/>
          <p:nvPr/>
        </p:nvPicPr>
        <p:blipFill>
          <a:blip r:embed="rId3">
            <a:alphaModFix/>
          </a:blip>
          <a:stretch>
            <a:fillRect/>
          </a:stretch>
        </p:blipFill>
        <p:spPr>
          <a:xfrm>
            <a:off x="4241800" y="1017725"/>
            <a:ext cx="4358483" cy="3820975"/>
          </a:xfrm>
          <a:prstGeom prst="rect">
            <a:avLst/>
          </a:prstGeom>
          <a:noFill/>
          <a:ln>
            <a:noFill/>
          </a:ln>
        </p:spPr>
      </p:pic>
      <p:sp>
        <p:nvSpPr>
          <p:cNvPr id="255" name="Google Shape;255;p38"/>
          <p:cNvSpPr txBox="1"/>
          <p:nvPr>
            <p:ph idx="1" type="body"/>
          </p:nvPr>
        </p:nvSpPr>
        <p:spPr>
          <a:xfrm>
            <a:off x="311700" y="1927175"/>
            <a:ext cx="4006200" cy="360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land masses get closer together</a:t>
            </a:r>
            <a:endParaRPr/>
          </a:p>
          <a:p>
            <a:pPr indent="0" lvl="0" marL="0" rtl="0" algn="l">
              <a:spcBef>
                <a:spcPts val="1200"/>
              </a:spcBef>
              <a:spcAft>
                <a:spcPts val="1200"/>
              </a:spcAft>
              <a:buNone/>
            </a:pPr>
            <a:r>
              <a:rPr lang="en"/>
              <a:t>species disperse to cover more areas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Split Model</a:t>
            </a:r>
            <a:endParaRPr/>
          </a:p>
        </p:txBody>
      </p:sp>
      <p:sp>
        <p:nvSpPr>
          <p:cNvPr id="261" name="Google Shape;261;p39"/>
          <p:cNvSpPr txBox="1"/>
          <p:nvPr>
            <p:ph idx="1" type="body"/>
          </p:nvPr>
        </p:nvSpPr>
        <p:spPr>
          <a:xfrm>
            <a:off x="5074200" y="2003375"/>
            <a:ext cx="4006200" cy="360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 land masses get further apart</a:t>
            </a:r>
            <a:endParaRPr/>
          </a:p>
          <a:p>
            <a:pPr indent="0" lvl="0" marL="0" rtl="0" algn="l">
              <a:spcBef>
                <a:spcPts val="1200"/>
              </a:spcBef>
              <a:spcAft>
                <a:spcPts val="1200"/>
              </a:spcAft>
              <a:buNone/>
            </a:pPr>
            <a:r>
              <a:rPr lang="en"/>
              <a:t>species ranges split</a:t>
            </a:r>
            <a:endParaRPr/>
          </a:p>
        </p:txBody>
      </p:sp>
      <p:pic>
        <p:nvPicPr>
          <p:cNvPr id="262" name="Google Shape;262;p39"/>
          <p:cNvPicPr preferRelativeResize="0"/>
          <p:nvPr/>
        </p:nvPicPr>
        <p:blipFill>
          <a:blip r:embed="rId3">
            <a:alphaModFix/>
          </a:blip>
          <a:stretch>
            <a:fillRect/>
          </a:stretch>
        </p:blipFill>
        <p:spPr>
          <a:xfrm>
            <a:off x="311700" y="1601925"/>
            <a:ext cx="4521300" cy="226735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40"/>
          <p:cNvPicPr preferRelativeResize="0"/>
          <p:nvPr/>
        </p:nvPicPr>
        <p:blipFill>
          <a:blip r:embed="rId3">
            <a:alphaModFix/>
          </a:blip>
          <a:stretch>
            <a:fillRect/>
          </a:stretch>
        </p:blipFill>
        <p:spPr>
          <a:xfrm>
            <a:off x="1632638" y="1070563"/>
            <a:ext cx="5878726" cy="3965724"/>
          </a:xfrm>
          <a:prstGeom prst="rect">
            <a:avLst/>
          </a:prstGeom>
          <a:noFill/>
          <a:ln>
            <a:noFill/>
          </a:ln>
        </p:spPr>
      </p:pic>
      <p:sp>
        <p:nvSpPr>
          <p:cNvPr id="268" name="Google Shape;26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 the models differ</a:t>
            </a:r>
            <a:endParaRPr/>
          </a:p>
        </p:txBody>
      </p:sp>
      <p:sp>
        <p:nvSpPr>
          <p:cNvPr id="269" name="Google Shape;269;p40"/>
          <p:cNvSpPr/>
          <p:nvPr/>
        </p:nvSpPr>
        <p:spPr>
          <a:xfrm>
            <a:off x="7175500" y="2209800"/>
            <a:ext cx="1054200" cy="431700"/>
          </a:xfrm>
          <a:prstGeom prst="leftArrow">
            <a:avLst>
              <a:gd fmla="val 50000" name="adj1"/>
              <a:gd fmla="val 50000" name="adj2"/>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40"/>
          <p:cNvSpPr txBox="1"/>
          <p:nvPr/>
        </p:nvSpPr>
        <p:spPr>
          <a:xfrm>
            <a:off x="7708900" y="2463600"/>
            <a:ext cx="1295400" cy="13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Later inclusion of area on extinction</a:t>
            </a:r>
            <a:endParaRPr>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1"/>
          <p:cNvSpPr/>
          <p:nvPr/>
        </p:nvSpPr>
        <p:spPr>
          <a:xfrm rot="5400000">
            <a:off x="5667888" y="2331414"/>
            <a:ext cx="693600" cy="480600"/>
          </a:xfrm>
          <a:prstGeom prst="rightArrow">
            <a:avLst>
              <a:gd fmla="val 50000" name="adj1"/>
              <a:gd fmla="val 50000" name="adj2"/>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76" name="Google Shape;276;p41"/>
          <p:cNvGraphicFramePr/>
          <p:nvPr/>
        </p:nvGraphicFramePr>
        <p:xfrm>
          <a:off x="3001650" y="276875"/>
          <a:ext cx="3000000" cy="3000000"/>
        </p:xfrm>
        <a:graphic>
          <a:graphicData uri="http://schemas.openxmlformats.org/drawingml/2006/table">
            <a:tbl>
              <a:tblPr>
                <a:noFill/>
                <a:tableStyleId>{7940DE4A-4FBC-4175-A0F5-E35C037F04AC}</a:tableStyleId>
              </a:tblPr>
              <a:tblGrid>
                <a:gridCol w="405075"/>
                <a:gridCol w="614100"/>
                <a:gridCol w="666750"/>
                <a:gridCol w="666750"/>
                <a:gridCol w="666750"/>
                <a:gridCol w="666750"/>
                <a:gridCol w="666750"/>
                <a:gridCol w="666750"/>
                <a:gridCol w="666750"/>
              </a:tblGrid>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NULL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NULL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-0.218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-0.218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-0.218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-0.151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-0.151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-0.151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-0.084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277" name="Google Shape;277;p41"/>
          <p:cNvGraphicFramePr/>
          <p:nvPr/>
        </p:nvGraphicFramePr>
        <p:xfrm>
          <a:off x="3001657" y="2974264"/>
          <a:ext cx="3000000" cy="3000000"/>
        </p:xfrm>
        <a:graphic>
          <a:graphicData uri="http://schemas.openxmlformats.org/drawingml/2006/table">
            <a:tbl>
              <a:tblPr>
                <a:noFill/>
                <a:tableStyleId>{7940DE4A-4FBC-4175-A0F5-E35C037F04AC}</a:tableStyleId>
              </a:tblPr>
              <a:tblGrid>
                <a:gridCol w="396175"/>
                <a:gridCol w="623000"/>
                <a:gridCol w="605300"/>
                <a:gridCol w="728200"/>
                <a:gridCol w="666750"/>
                <a:gridCol w="666750"/>
                <a:gridCol w="666750"/>
                <a:gridCol w="666750"/>
                <a:gridCol w="666750"/>
              </a:tblGrid>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NULL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ABC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NULL</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-0.0874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0.0595333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0.0278667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-0.1507333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0.0595333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-0.119067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0.0278667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-0.059533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0.0595333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0.0912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 sz="1000"/>
                        <a:t>ABC</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78" name="Google Shape;27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Spread </a:t>
            </a:r>
            <a:endParaRPr/>
          </a:p>
          <a:p>
            <a:pPr indent="0" lvl="0" marL="0" rtl="0" algn="l">
              <a:spcBef>
                <a:spcPts val="0"/>
              </a:spcBef>
              <a:spcAft>
                <a:spcPts val="0"/>
              </a:spcAft>
              <a:buNone/>
            </a:pPr>
            <a:r>
              <a:rPr lang="en"/>
              <a:t>Anagenetic</a:t>
            </a:r>
            <a:endParaRPr/>
          </a:p>
        </p:txBody>
      </p:sp>
      <p:sp>
        <p:nvSpPr>
          <p:cNvPr id="279" name="Google Shape;279;p41"/>
          <p:cNvSpPr txBox="1"/>
          <p:nvPr>
            <p:ph idx="1" type="body"/>
          </p:nvPr>
        </p:nvSpPr>
        <p:spPr>
          <a:xfrm>
            <a:off x="311700" y="1651350"/>
            <a:ext cx="2219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Distances are input into a series of timestamped </a:t>
            </a:r>
            <a:r>
              <a:rPr b="1" lang="en"/>
              <a:t>anagenetic</a:t>
            </a:r>
            <a:r>
              <a:rPr lang="en"/>
              <a:t> tables which are then iterated over during inference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Split</a:t>
            </a:r>
            <a:endParaRPr/>
          </a:p>
          <a:p>
            <a:pPr indent="0" lvl="0" marL="0" rtl="0" algn="l">
              <a:spcBef>
                <a:spcPts val="0"/>
              </a:spcBef>
              <a:spcAft>
                <a:spcPts val="0"/>
              </a:spcAft>
              <a:buNone/>
            </a:pPr>
            <a:r>
              <a:rPr lang="en"/>
              <a:t>Cladogenetic</a:t>
            </a:r>
            <a:endParaRPr/>
          </a:p>
        </p:txBody>
      </p:sp>
      <p:sp>
        <p:nvSpPr>
          <p:cNvPr id="285" name="Google Shape;285;p42"/>
          <p:cNvSpPr txBox="1"/>
          <p:nvPr>
            <p:ph idx="1" type="body"/>
          </p:nvPr>
        </p:nvSpPr>
        <p:spPr>
          <a:xfrm>
            <a:off x="311700" y="1651350"/>
            <a:ext cx="2219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Distances are input into a series of timestamped </a:t>
            </a:r>
            <a:r>
              <a:rPr b="1" lang="en"/>
              <a:t>cladogenetic </a:t>
            </a:r>
            <a:r>
              <a:rPr lang="en"/>
              <a:t>tables which are then iterated over during inference</a:t>
            </a:r>
            <a:endParaRPr/>
          </a:p>
        </p:txBody>
      </p:sp>
      <p:graphicFrame>
        <p:nvGraphicFramePr>
          <p:cNvPr id="286" name="Google Shape;286;p42"/>
          <p:cNvGraphicFramePr/>
          <p:nvPr/>
        </p:nvGraphicFramePr>
        <p:xfrm>
          <a:off x="6924675" y="63500"/>
          <a:ext cx="3000000" cy="3000000"/>
        </p:xfrm>
        <a:graphic>
          <a:graphicData uri="http://schemas.openxmlformats.org/drawingml/2006/table">
            <a:tbl>
              <a:tblPr>
                <a:noFill/>
                <a:tableStyleId>{7940DE4A-4FBC-4175-A0F5-E35C037F04AC}</a:tableStyleId>
              </a:tblPr>
              <a:tblGrid>
                <a:gridCol w="400050"/>
                <a:gridCol w="419100"/>
                <a:gridCol w="447675"/>
                <a:gridCol w="952500"/>
              </a:tblGrid>
              <a:tr h="200025">
                <a:tc>
                  <a:txBody>
                    <a:bodyPr/>
                    <a:lstStyle/>
                    <a:p>
                      <a:pPr indent="0" lvl="0" marL="0" rtl="0" algn="l">
                        <a:lnSpc>
                          <a:spcPct val="115000"/>
                        </a:lnSpc>
                        <a:spcBef>
                          <a:spcPts val="0"/>
                        </a:spcBef>
                        <a:spcAft>
                          <a:spcPts val="0"/>
                        </a:spcAft>
                        <a:buNone/>
                      </a:pPr>
                      <a:r>
                        <a:rPr lang="en" sz="1000"/>
                        <a:t>i</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c>
                  <a:txBody>
                    <a:bodyPr/>
                    <a:lstStyle/>
                    <a:p>
                      <a:pPr indent="0" lvl="0" marL="0" rtl="0" algn="l">
                        <a:lnSpc>
                          <a:spcPct val="115000"/>
                        </a:lnSpc>
                        <a:spcBef>
                          <a:spcPts val="0"/>
                        </a:spcBef>
                        <a:spcAft>
                          <a:spcPts val="0"/>
                        </a:spcAft>
                        <a:buNone/>
                      </a:pPr>
                      <a:r>
                        <a:rPr lang="en" sz="1000"/>
                        <a:t>j</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c>
                  <a:txBody>
                    <a:bodyPr/>
                    <a:lstStyle/>
                    <a:p>
                      <a:pPr indent="0" lvl="0" marL="0" rtl="0" algn="l">
                        <a:lnSpc>
                          <a:spcPct val="115000"/>
                        </a:lnSpc>
                        <a:spcBef>
                          <a:spcPts val="0"/>
                        </a:spcBef>
                        <a:spcAft>
                          <a:spcPts val="0"/>
                        </a:spcAft>
                        <a:buNone/>
                      </a:pPr>
                      <a:r>
                        <a:rPr lang="en" sz="1000"/>
                        <a:t>k</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c>
                  <a:txBody>
                    <a:bodyPr/>
                    <a:lstStyle/>
                    <a:p>
                      <a:pPr indent="0" lvl="0" marL="0" rtl="0" algn="l">
                        <a:lnSpc>
                          <a:spcPct val="115000"/>
                        </a:lnSpc>
                        <a:spcBef>
                          <a:spcPts val="0"/>
                        </a:spcBef>
                        <a:spcAft>
                          <a:spcPts val="0"/>
                        </a:spcAft>
                        <a:buNone/>
                      </a:pPr>
                      <a:r>
                        <a:rPr lang="en" sz="1000"/>
                        <a:t>prob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r>
              <a:tr h="200025">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0.03225806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0.48387097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0.48387097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0.01639344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0.49180328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0.49180328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0.0625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0.46875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0.46875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0.02040816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0.04081633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0.02040816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0.30612245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0.30612245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0.30612245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graphicFrame>
        <p:nvGraphicFramePr>
          <p:cNvPr id="287" name="Google Shape;287;p42"/>
          <p:cNvGraphicFramePr/>
          <p:nvPr/>
        </p:nvGraphicFramePr>
        <p:xfrm>
          <a:off x="2894175" y="63500"/>
          <a:ext cx="3000000" cy="3000000"/>
        </p:xfrm>
        <a:graphic>
          <a:graphicData uri="http://schemas.openxmlformats.org/drawingml/2006/table">
            <a:tbl>
              <a:tblPr>
                <a:noFill/>
                <a:tableStyleId>{7940DE4A-4FBC-4175-A0F5-E35C037F04AC}</a:tableStyleId>
              </a:tblPr>
              <a:tblGrid>
                <a:gridCol w="371475"/>
                <a:gridCol w="400050"/>
                <a:gridCol w="400050"/>
                <a:gridCol w="952500"/>
              </a:tblGrid>
              <a:tr h="200025">
                <a:tc>
                  <a:txBody>
                    <a:bodyPr/>
                    <a:lstStyle/>
                    <a:p>
                      <a:pPr indent="0" lvl="0" marL="0" rtl="0" algn="l">
                        <a:lnSpc>
                          <a:spcPct val="115000"/>
                        </a:lnSpc>
                        <a:spcBef>
                          <a:spcPts val="0"/>
                        </a:spcBef>
                        <a:spcAft>
                          <a:spcPts val="0"/>
                        </a:spcAft>
                        <a:buNone/>
                      </a:pPr>
                      <a:r>
                        <a:rPr lang="en" sz="1000"/>
                        <a:t>i</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c>
                  <a:txBody>
                    <a:bodyPr/>
                    <a:lstStyle/>
                    <a:p>
                      <a:pPr indent="0" lvl="0" marL="0" rtl="0" algn="l">
                        <a:lnSpc>
                          <a:spcPct val="115000"/>
                        </a:lnSpc>
                        <a:spcBef>
                          <a:spcPts val="0"/>
                        </a:spcBef>
                        <a:spcAft>
                          <a:spcPts val="0"/>
                        </a:spcAft>
                        <a:buNone/>
                      </a:pPr>
                      <a:r>
                        <a:rPr lang="en" sz="1000"/>
                        <a:t>j</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c>
                  <a:txBody>
                    <a:bodyPr/>
                    <a:lstStyle/>
                    <a:p>
                      <a:pPr indent="0" lvl="0" marL="0" rtl="0" algn="l">
                        <a:lnSpc>
                          <a:spcPct val="115000"/>
                        </a:lnSpc>
                        <a:spcBef>
                          <a:spcPts val="0"/>
                        </a:spcBef>
                        <a:spcAft>
                          <a:spcPts val="0"/>
                        </a:spcAft>
                        <a:buNone/>
                      </a:pPr>
                      <a:r>
                        <a:rPr lang="en" sz="1000"/>
                        <a:t>k</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c>
                  <a:txBody>
                    <a:bodyPr/>
                    <a:lstStyle/>
                    <a:p>
                      <a:pPr indent="0" lvl="0" marL="0" rtl="0" algn="l">
                        <a:lnSpc>
                          <a:spcPct val="115000"/>
                        </a:lnSpc>
                        <a:spcBef>
                          <a:spcPts val="0"/>
                        </a:spcBef>
                        <a:spcAft>
                          <a:spcPts val="0"/>
                        </a:spcAft>
                        <a:buNone/>
                      </a:pPr>
                      <a:r>
                        <a:rPr lang="en" sz="1000"/>
                        <a:t>prob</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BDBD"/>
                    </a:solidFill>
                  </a:tcPr>
                </a:tc>
              </a:tr>
              <a:tr h="200025">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1</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0.3333333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4</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0.1666667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2</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0.1666667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3</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0.1666667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5</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0.1666667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6</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0.1666667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c>
                  <a:txBody>
                    <a:bodyPr/>
                    <a:lstStyle/>
                    <a:p>
                      <a:pPr indent="0" lvl="0" marL="0" rtl="0" algn="r">
                        <a:lnSpc>
                          <a:spcPct val="115000"/>
                        </a:lnSpc>
                        <a:spcBef>
                          <a:spcPts val="0"/>
                        </a:spcBef>
                        <a:spcAft>
                          <a:spcPts val="0"/>
                        </a:spcAft>
                        <a:buNone/>
                      </a:pPr>
                      <a:r>
                        <a:rPr lang="en" sz="1000"/>
                        <a:t>0.1666667</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3F3F3"/>
                    </a:solidFill>
                  </a:tcPr>
                </a:tc>
              </a:tr>
              <a:tr h="200025">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8</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t>0</a:t>
                      </a:r>
                      <a:endParaRPr sz="1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288" name="Google Shape;288;p42"/>
          <p:cNvSpPr/>
          <p:nvPr/>
        </p:nvSpPr>
        <p:spPr>
          <a:xfrm>
            <a:off x="5401350" y="2161500"/>
            <a:ext cx="1220100" cy="677100"/>
          </a:xfrm>
          <a:prstGeom prst="rightArrow">
            <a:avLst>
              <a:gd fmla="val 50000" name="adj1"/>
              <a:gd fmla="val 50000" name="adj2"/>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id="293" name="Google Shape;293;p43"/>
          <p:cNvPicPr preferRelativeResize="0"/>
          <p:nvPr/>
        </p:nvPicPr>
        <p:blipFill rotWithShape="1">
          <a:blip r:embed="rId3">
            <a:alphaModFix/>
          </a:blip>
          <a:srcRect b="2462" l="5891" r="0" t="2462"/>
          <a:stretch/>
        </p:blipFill>
        <p:spPr>
          <a:xfrm>
            <a:off x="-74700" y="1876908"/>
            <a:ext cx="3233300" cy="3266593"/>
          </a:xfrm>
          <a:prstGeom prst="rect">
            <a:avLst/>
          </a:prstGeom>
          <a:noFill/>
          <a:ln>
            <a:noFill/>
          </a:ln>
        </p:spPr>
      </p:pic>
      <p:pic>
        <p:nvPicPr>
          <p:cNvPr id="294" name="Google Shape;294;p43"/>
          <p:cNvPicPr preferRelativeResize="0"/>
          <p:nvPr/>
        </p:nvPicPr>
        <p:blipFill rotWithShape="1">
          <a:blip r:embed="rId4">
            <a:alphaModFix/>
          </a:blip>
          <a:srcRect b="0" l="5303" r="0" t="0"/>
          <a:stretch/>
        </p:blipFill>
        <p:spPr>
          <a:xfrm>
            <a:off x="2911575" y="1897225"/>
            <a:ext cx="3233300" cy="3246275"/>
          </a:xfrm>
          <a:prstGeom prst="rect">
            <a:avLst/>
          </a:prstGeom>
          <a:noFill/>
          <a:ln>
            <a:noFill/>
          </a:ln>
        </p:spPr>
      </p:pic>
      <p:pic>
        <p:nvPicPr>
          <p:cNvPr id="295" name="Google Shape;295;p43"/>
          <p:cNvPicPr preferRelativeResize="0"/>
          <p:nvPr/>
        </p:nvPicPr>
        <p:blipFill rotWithShape="1">
          <a:blip r:embed="rId5">
            <a:alphaModFix/>
          </a:blip>
          <a:srcRect b="0" l="7011" r="0" t="0"/>
          <a:stretch/>
        </p:blipFill>
        <p:spPr>
          <a:xfrm>
            <a:off x="5963329" y="1876900"/>
            <a:ext cx="3256871" cy="3329949"/>
          </a:xfrm>
          <a:prstGeom prst="rect">
            <a:avLst/>
          </a:prstGeom>
          <a:noFill/>
          <a:ln>
            <a:noFill/>
          </a:ln>
        </p:spPr>
      </p:pic>
      <p:pic>
        <p:nvPicPr>
          <p:cNvPr id="296" name="Google Shape;296;p43"/>
          <p:cNvPicPr preferRelativeResize="0"/>
          <p:nvPr/>
        </p:nvPicPr>
        <p:blipFill>
          <a:blip r:embed="rId6">
            <a:alphaModFix/>
          </a:blip>
          <a:stretch>
            <a:fillRect/>
          </a:stretch>
        </p:blipFill>
        <p:spPr>
          <a:xfrm>
            <a:off x="7618379" y="187500"/>
            <a:ext cx="1374600" cy="1374600"/>
          </a:xfrm>
          <a:prstGeom prst="rect">
            <a:avLst/>
          </a:prstGeom>
          <a:noFill/>
          <a:ln>
            <a:noFill/>
          </a:ln>
        </p:spPr>
      </p:pic>
      <p:sp>
        <p:nvSpPr>
          <p:cNvPr id="297" name="Google Shape;29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298" name="Google Shape;298;p43"/>
          <p:cNvSpPr/>
          <p:nvPr/>
        </p:nvSpPr>
        <p:spPr>
          <a:xfrm>
            <a:off x="3588475" y="1676400"/>
            <a:ext cx="1727100" cy="462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Control Inferred States</a:t>
            </a:r>
            <a:endParaRPr/>
          </a:p>
        </p:txBody>
      </p:sp>
      <p:sp>
        <p:nvSpPr>
          <p:cNvPr id="299" name="Google Shape;299;p43"/>
          <p:cNvSpPr/>
          <p:nvPr/>
        </p:nvSpPr>
        <p:spPr>
          <a:xfrm>
            <a:off x="6585675" y="1638300"/>
            <a:ext cx="1948800" cy="462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Distance Based SSE Inferred States</a:t>
            </a:r>
            <a:endParaRPr/>
          </a:p>
        </p:txBody>
      </p:sp>
      <p:sp>
        <p:nvSpPr>
          <p:cNvPr id="300" name="Google Shape;300;p43"/>
          <p:cNvSpPr/>
          <p:nvPr/>
        </p:nvSpPr>
        <p:spPr>
          <a:xfrm>
            <a:off x="620500" y="1600200"/>
            <a:ext cx="1727100" cy="462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Simulated</a:t>
            </a:r>
            <a:endParaRPr/>
          </a:p>
          <a:p>
            <a:pPr indent="0" lvl="0" marL="0" rtl="0" algn="ctr">
              <a:spcBef>
                <a:spcPts val="0"/>
              </a:spcBef>
              <a:spcAft>
                <a:spcPts val="0"/>
              </a:spcAft>
              <a:buNone/>
            </a:pPr>
            <a:r>
              <a:rPr lang="en"/>
              <a:t> States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id="305" name="Google Shape;305;p44"/>
          <p:cNvPicPr preferRelativeResize="0"/>
          <p:nvPr/>
        </p:nvPicPr>
        <p:blipFill>
          <a:blip r:embed="rId3">
            <a:alphaModFix/>
          </a:blip>
          <a:stretch>
            <a:fillRect/>
          </a:stretch>
        </p:blipFill>
        <p:spPr>
          <a:xfrm>
            <a:off x="5789600" y="941800"/>
            <a:ext cx="3231599" cy="3231599"/>
          </a:xfrm>
          <a:prstGeom prst="rect">
            <a:avLst/>
          </a:prstGeom>
          <a:noFill/>
          <a:ln>
            <a:noFill/>
          </a:ln>
        </p:spPr>
      </p:pic>
      <p:pic>
        <p:nvPicPr>
          <p:cNvPr id="306" name="Google Shape;306;p44"/>
          <p:cNvPicPr preferRelativeResize="0"/>
          <p:nvPr/>
        </p:nvPicPr>
        <p:blipFill>
          <a:blip r:embed="rId4">
            <a:alphaModFix/>
          </a:blip>
          <a:stretch>
            <a:fillRect/>
          </a:stretch>
        </p:blipFill>
        <p:spPr>
          <a:xfrm>
            <a:off x="2791475" y="1175287"/>
            <a:ext cx="2998125" cy="2998125"/>
          </a:xfrm>
          <a:prstGeom prst="rect">
            <a:avLst/>
          </a:prstGeom>
          <a:noFill/>
          <a:ln>
            <a:noFill/>
          </a:ln>
        </p:spPr>
      </p:pic>
      <p:pic>
        <p:nvPicPr>
          <p:cNvPr id="307" name="Google Shape;307;p44"/>
          <p:cNvPicPr preferRelativeResize="0"/>
          <p:nvPr/>
        </p:nvPicPr>
        <p:blipFill>
          <a:blip r:embed="rId5">
            <a:alphaModFix/>
          </a:blip>
          <a:stretch>
            <a:fillRect/>
          </a:stretch>
        </p:blipFill>
        <p:spPr>
          <a:xfrm>
            <a:off x="0" y="1503651"/>
            <a:ext cx="2998125" cy="2664979"/>
          </a:xfrm>
          <a:prstGeom prst="rect">
            <a:avLst/>
          </a:prstGeom>
          <a:noFill/>
          <a:ln>
            <a:noFill/>
          </a:ln>
        </p:spPr>
      </p:pic>
      <p:sp>
        <p:nvSpPr>
          <p:cNvPr id="308" name="Google Shape;30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1: Lnls - </a:t>
            </a:r>
            <a:r>
              <a:rPr lang="en"/>
              <a:t>Significantly Higher</a:t>
            </a:r>
            <a:endParaRPr/>
          </a:p>
        </p:txBody>
      </p:sp>
      <p:sp>
        <p:nvSpPr>
          <p:cNvPr id="309" name="Google Shape;309;p44"/>
          <p:cNvSpPr/>
          <p:nvPr/>
        </p:nvSpPr>
        <p:spPr>
          <a:xfrm>
            <a:off x="914400" y="3987800"/>
            <a:ext cx="7200900" cy="279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Net Log </a:t>
            </a:r>
            <a:r>
              <a:rPr lang="en"/>
              <a:t>Likelihood</a:t>
            </a:r>
            <a:endParaRPr/>
          </a:p>
        </p:txBody>
      </p:sp>
      <p:sp>
        <p:nvSpPr>
          <p:cNvPr id="310" name="Google Shape;310;p44"/>
          <p:cNvSpPr/>
          <p:nvPr/>
        </p:nvSpPr>
        <p:spPr>
          <a:xfrm>
            <a:off x="95663" y="1175275"/>
            <a:ext cx="2806800" cy="35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Histogram: Spread - Control</a:t>
            </a:r>
            <a:endParaRPr/>
          </a:p>
        </p:txBody>
      </p:sp>
      <p:sp>
        <p:nvSpPr>
          <p:cNvPr id="311" name="Google Shape;311;p44"/>
          <p:cNvSpPr/>
          <p:nvPr/>
        </p:nvSpPr>
        <p:spPr>
          <a:xfrm>
            <a:off x="2942625" y="1175275"/>
            <a:ext cx="2806800" cy="35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Histogram: Split - Control</a:t>
            </a:r>
            <a:endParaRPr/>
          </a:p>
        </p:txBody>
      </p:sp>
      <p:sp>
        <p:nvSpPr>
          <p:cNvPr id="312" name="Google Shape;312;p44"/>
          <p:cNvSpPr/>
          <p:nvPr/>
        </p:nvSpPr>
        <p:spPr>
          <a:xfrm>
            <a:off x="6143025" y="1017725"/>
            <a:ext cx="2806800" cy="355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Histogram: Distance Based SSE - Control</a:t>
            </a:r>
            <a:endParaRPr/>
          </a:p>
        </p:txBody>
      </p:sp>
      <p:sp>
        <p:nvSpPr>
          <p:cNvPr id="313" name="Google Shape;313;p44"/>
          <p:cNvSpPr txBox="1"/>
          <p:nvPr/>
        </p:nvSpPr>
        <p:spPr>
          <a:xfrm>
            <a:off x="711725" y="4774200"/>
            <a:ext cx="157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51.14% above 1.92</a:t>
            </a:r>
            <a:endParaRPr/>
          </a:p>
        </p:txBody>
      </p:sp>
      <p:sp>
        <p:nvSpPr>
          <p:cNvPr id="314" name="Google Shape;314;p44"/>
          <p:cNvSpPr txBox="1"/>
          <p:nvPr/>
        </p:nvSpPr>
        <p:spPr>
          <a:xfrm>
            <a:off x="3503188" y="4774200"/>
            <a:ext cx="157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25.76</a:t>
            </a:r>
            <a:r>
              <a:rPr lang="en" sz="1200">
                <a:solidFill>
                  <a:schemeClr val="dk1"/>
                </a:solidFill>
              </a:rPr>
              <a:t>% above 1.92</a:t>
            </a:r>
            <a:endParaRPr/>
          </a:p>
        </p:txBody>
      </p:sp>
      <p:sp>
        <p:nvSpPr>
          <p:cNvPr id="315" name="Google Shape;315;p44"/>
          <p:cNvSpPr txBox="1"/>
          <p:nvPr/>
        </p:nvSpPr>
        <p:spPr>
          <a:xfrm>
            <a:off x="6618038" y="4774200"/>
            <a:ext cx="1574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rPr>
              <a:t>47.1</a:t>
            </a:r>
            <a:r>
              <a:rPr lang="en" sz="1200">
                <a:solidFill>
                  <a:schemeClr val="dk1"/>
                </a:solidFill>
              </a:rPr>
              <a:t>% above 3.84</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5"/>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pic>
        <p:nvPicPr>
          <p:cNvPr id="321" name="Google Shape;321;p45"/>
          <p:cNvPicPr preferRelativeResize="0"/>
          <p:nvPr/>
        </p:nvPicPr>
        <p:blipFill>
          <a:blip r:embed="rId3">
            <a:alphaModFix/>
          </a:blip>
          <a:stretch>
            <a:fillRect/>
          </a:stretch>
        </p:blipFill>
        <p:spPr>
          <a:xfrm>
            <a:off x="2565399" y="445025"/>
            <a:ext cx="4384624" cy="4347151"/>
          </a:xfrm>
          <a:prstGeom prst="rect">
            <a:avLst/>
          </a:prstGeom>
          <a:noFill/>
          <a:ln>
            <a:noFill/>
          </a:ln>
        </p:spPr>
      </p:pic>
      <p:sp>
        <p:nvSpPr>
          <p:cNvPr id="322" name="Google Shape;322;p45"/>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23" name="Google Shape;323;p45"/>
          <p:cNvSpPr/>
          <p:nvPr/>
        </p:nvSpPr>
        <p:spPr>
          <a:xfrm>
            <a:off x="19304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2 (A)</a:t>
            </a:r>
            <a:endParaRPr/>
          </a:p>
        </p:txBody>
      </p:sp>
      <p:sp>
        <p:nvSpPr>
          <p:cNvPr id="324" name="Google Shape;324;p45"/>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25" name="Google Shape;325;p45"/>
          <p:cNvPicPr preferRelativeResize="0"/>
          <p:nvPr/>
        </p:nvPicPr>
        <p:blipFill rotWithShape="1">
          <a:blip r:embed="rId3">
            <a:alphaModFix/>
          </a:blip>
          <a:srcRect b="42458" l="85446" r="0" t="40012"/>
          <a:stretch/>
        </p:blipFill>
        <p:spPr>
          <a:xfrm>
            <a:off x="6311900" y="1864700"/>
            <a:ext cx="1184225" cy="1414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id="330" name="Google Shape;330;p46"/>
          <p:cNvPicPr preferRelativeResize="0"/>
          <p:nvPr/>
        </p:nvPicPr>
        <p:blipFill>
          <a:blip r:embed="rId3">
            <a:alphaModFix/>
          </a:blip>
          <a:stretch>
            <a:fillRect/>
          </a:stretch>
        </p:blipFill>
        <p:spPr>
          <a:xfrm>
            <a:off x="2491975" y="406500"/>
            <a:ext cx="4454925" cy="4416825"/>
          </a:xfrm>
          <a:prstGeom prst="rect">
            <a:avLst/>
          </a:prstGeom>
          <a:noFill/>
          <a:ln>
            <a:noFill/>
          </a:ln>
        </p:spPr>
      </p:pic>
      <p:sp>
        <p:nvSpPr>
          <p:cNvPr id="331" name="Google Shape;331;p46"/>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32" name="Google Shape;332;p46"/>
          <p:cNvSpPr/>
          <p:nvPr/>
        </p:nvSpPr>
        <p:spPr>
          <a:xfrm>
            <a:off x="19304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3 (B)</a:t>
            </a:r>
            <a:endParaRPr/>
          </a:p>
        </p:txBody>
      </p:sp>
      <p:sp>
        <p:nvSpPr>
          <p:cNvPr id="333" name="Google Shape;333;p46"/>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34" name="Google Shape;334;p46"/>
          <p:cNvPicPr preferRelativeResize="0"/>
          <p:nvPr/>
        </p:nvPicPr>
        <p:blipFill rotWithShape="1">
          <a:blip r:embed="rId4">
            <a:alphaModFix/>
          </a:blip>
          <a:srcRect b="42458" l="85446" r="0" t="40012"/>
          <a:stretch/>
        </p:blipFill>
        <p:spPr>
          <a:xfrm>
            <a:off x="6311900" y="1864700"/>
            <a:ext cx="1184225" cy="1414100"/>
          </a:xfrm>
          <a:prstGeom prst="rect">
            <a:avLst/>
          </a:prstGeom>
          <a:noFill/>
          <a:ln>
            <a:noFill/>
          </a:ln>
        </p:spPr>
      </p:pic>
      <p:sp>
        <p:nvSpPr>
          <p:cNvPr id="335" name="Google Shape;335;p46"/>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47"/>
          <p:cNvPicPr preferRelativeResize="0"/>
          <p:nvPr/>
        </p:nvPicPr>
        <p:blipFill>
          <a:blip r:embed="rId3">
            <a:alphaModFix/>
          </a:blip>
          <a:stretch>
            <a:fillRect/>
          </a:stretch>
        </p:blipFill>
        <p:spPr>
          <a:xfrm>
            <a:off x="2573150" y="406500"/>
            <a:ext cx="4382649" cy="4457600"/>
          </a:xfrm>
          <a:prstGeom prst="rect">
            <a:avLst/>
          </a:prstGeom>
          <a:noFill/>
          <a:ln>
            <a:noFill/>
          </a:ln>
        </p:spPr>
      </p:pic>
      <p:sp>
        <p:nvSpPr>
          <p:cNvPr id="341" name="Google Shape;341;p47"/>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42" name="Google Shape;342;p47"/>
          <p:cNvSpPr/>
          <p:nvPr/>
        </p:nvSpPr>
        <p:spPr>
          <a:xfrm>
            <a:off x="19304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4 (C)</a:t>
            </a:r>
            <a:endParaRPr/>
          </a:p>
        </p:txBody>
      </p:sp>
      <p:sp>
        <p:nvSpPr>
          <p:cNvPr id="343" name="Google Shape;343;p47"/>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44" name="Google Shape;344;p47"/>
          <p:cNvPicPr preferRelativeResize="0"/>
          <p:nvPr/>
        </p:nvPicPr>
        <p:blipFill rotWithShape="1">
          <a:blip r:embed="rId4">
            <a:alphaModFix/>
          </a:blip>
          <a:srcRect b="42458" l="85446" r="0" t="40012"/>
          <a:stretch/>
        </p:blipFill>
        <p:spPr>
          <a:xfrm>
            <a:off x="6311900" y="1864700"/>
            <a:ext cx="1184225" cy="1414100"/>
          </a:xfrm>
          <a:prstGeom prst="rect">
            <a:avLst/>
          </a:prstGeom>
          <a:noFill/>
          <a:ln>
            <a:noFill/>
          </a:ln>
        </p:spPr>
      </p:pic>
      <p:sp>
        <p:nvSpPr>
          <p:cNvPr id="345" name="Google Shape;345;p47"/>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id="350" name="Google Shape;350;p48"/>
          <p:cNvPicPr preferRelativeResize="0"/>
          <p:nvPr/>
        </p:nvPicPr>
        <p:blipFill>
          <a:blip r:embed="rId3">
            <a:alphaModFix/>
          </a:blip>
          <a:stretch>
            <a:fillRect/>
          </a:stretch>
        </p:blipFill>
        <p:spPr>
          <a:xfrm>
            <a:off x="2547750" y="389500"/>
            <a:ext cx="4411876" cy="4487300"/>
          </a:xfrm>
          <a:prstGeom prst="rect">
            <a:avLst/>
          </a:prstGeom>
          <a:noFill/>
          <a:ln>
            <a:noFill/>
          </a:ln>
        </p:spPr>
      </p:pic>
      <p:sp>
        <p:nvSpPr>
          <p:cNvPr id="351" name="Google Shape;351;p48"/>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52" name="Google Shape;352;p48"/>
          <p:cNvSpPr/>
          <p:nvPr/>
        </p:nvSpPr>
        <p:spPr>
          <a:xfrm>
            <a:off x="19939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5 (AB)</a:t>
            </a:r>
            <a:endParaRPr/>
          </a:p>
        </p:txBody>
      </p:sp>
      <p:sp>
        <p:nvSpPr>
          <p:cNvPr id="353" name="Google Shape;353;p48"/>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54" name="Google Shape;354;p48"/>
          <p:cNvPicPr preferRelativeResize="0"/>
          <p:nvPr/>
        </p:nvPicPr>
        <p:blipFill rotWithShape="1">
          <a:blip r:embed="rId4">
            <a:alphaModFix/>
          </a:blip>
          <a:srcRect b="42458" l="85446" r="0" t="40012"/>
          <a:stretch/>
        </p:blipFill>
        <p:spPr>
          <a:xfrm>
            <a:off x="6311900" y="1864700"/>
            <a:ext cx="1184225" cy="1414100"/>
          </a:xfrm>
          <a:prstGeom prst="rect">
            <a:avLst/>
          </a:prstGeom>
          <a:noFill/>
          <a:ln>
            <a:noFill/>
          </a:ln>
        </p:spPr>
      </p:pic>
      <p:sp>
        <p:nvSpPr>
          <p:cNvPr id="355" name="Google Shape;355;p48"/>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49"/>
          <p:cNvPicPr preferRelativeResize="0"/>
          <p:nvPr/>
        </p:nvPicPr>
        <p:blipFill>
          <a:blip r:embed="rId3">
            <a:alphaModFix/>
          </a:blip>
          <a:stretch>
            <a:fillRect/>
          </a:stretch>
        </p:blipFill>
        <p:spPr>
          <a:xfrm>
            <a:off x="2562400" y="445025"/>
            <a:ext cx="4384500" cy="4384500"/>
          </a:xfrm>
          <a:prstGeom prst="rect">
            <a:avLst/>
          </a:prstGeom>
          <a:noFill/>
          <a:ln>
            <a:noFill/>
          </a:ln>
        </p:spPr>
      </p:pic>
      <p:sp>
        <p:nvSpPr>
          <p:cNvPr id="361" name="Google Shape;361;p49"/>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62" name="Google Shape;362;p49"/>
          <p:cNvSpPr/>
          <p:nvPr/>
        </p:nvSpPr>
        <p:spPr>
          <a:xfrm>
            <a:off x="19939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6 (AC)</a:t>
            </a:r>
            <a:endParaRPr/>
          </a:p>
        </p:txBody>
      </p:sp>
      <p:sp>
        <p:nvSpPr>
          <p:cNvPr id="363" name="Google Shape;363;p49"/>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64" name="Google Shape;364;p49"/>
          <p:cNvPicPr preferRelativeResize="0"/>
          <p:nvPr/>
        </p:nvPicPr>
        <p:blipFill rotWithShape="1">
          <a:blip r:embed="rId4">
            <a:alphaModFix/>
          </a:blip>
          <a:srcRect b="42458" l="85446" r="0" t="40012"/>
          <a:stretch/>
        </p:blipFill>
        <p:spPr>
          <a:xfrm>
            <a:off x="6311900" y="1864700"/>
            <a:ext cx="1184225" cy="1414100"/>
          </a:xfrm>
          <a:prstGeom prst="rect">
            <a:avLst/>
          </a:prstGeom>
          <a:noFill/>
          <a:ln>
            <a:noFill/>
          </a:ln>
        </p:spPr>
      </p:pic>
      <p:sp>
        <p:nvSpPr>
          <p:cNvPr id="365" name="Google Shape;365;p49"/>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50"/>
          <p:cNvPicPr preferRelativeResize="0"/>
          <p:nvPr/>
        </p:nvPicPr>
        <p:blipFill>
          <a:blip r:embed="rId3">
            <a:alphaModFix/>
          </a:blip>
          <a:stretch>
            <a:fillRect/>
          </a:stretch>
        </p:blipFill>
        <p:spPr>
          <a:xfrm>
            <a:off x="2546150" y="419100"/>
            <a:ext cx="4388050" cy="4444350"/>
          </a:xfrm>
          <a:prstGeom prst="rect">
            <a:avLst/>
          </a:prstGeom>
          <a:noFill/>
          <a:ln>
            <a:noFill/>
          </a:ln>
        </p:spPr>
      </p:pic>
      <p:sp>
        <p:nvSpPr>
          <p:cNvPr id="371" name="Google Shape;371;p50"/>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72" name="Google Shape;372;p50"/>
          <p:cNvSpPr/>
          <p:nvPr/>
        </p:nvSpPr>
        <p:spPr>
          <a:xfrm>
            <a:off x="19939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7 (BC)</a:t>
            </a:r>
            <a:endParaRPr/>
          </a:p>
        </p:txBody>
      </p:sp>
      <p:sp>
        <p:nvSpPr>
          <p:cNvPr id="373" name="Google Shape;373;p50"/>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74" name="Google Shape;374;p50"/>
          <p:cNvPicPr preferRelativeResize="0"/>
          <p:nvPr/>
        </p:nvPicPr>
        <p:blipFill rotWithShape="1">
          <a:blip r:embed="rId4">
            <a:alphaModFix/>
          </a:blip>
          <a:srcRect b="42458" l="85446" r="0" t="40012"/>
          <a:stretch/>
        </p:blipFill>
        <p:spPr>
          <a:xfrm>
            <a:off x="6311900" y="1864700"/>
            <a:ext cx="1184225" cy="1414100"/>
          </a:xfrm>
          <a:prstGeom prst="rect">
            <a:avLst/>
          </a:prstGeom>
          <a:noFill/>
          <a:ln>
            <a:noFill/>
          </a:ln>
        </p:spPr>
      </p:pic>
      <p:sp>
        <p:nvSpPr>
          <p:cNvPr id="375" name="Google Shape;375;p50"/>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51"/>
          <p:cNvPicPr preferRelativeResize="0"/>
          <p:nvPr/>
        </p:nvPicPr>
        <p:blipFill>
          <a:blip r:embed="rId3">
            <a:alphaModFix/>
          </a:blip>
          <a:stretch>
            <a:fillRect/>
          </a:stretch>
        </p:blipFill>
        <p:spPr>
          <a:xfrm>
            <a:off x="2546150" y="431800"/>
            <a:ext cx="4366176" cy="4394199"/>
          </a:xfrm>
          <a:prstGeom prst="rect">
            <a:avLst/>
          </a:prstGeom>
          <a:noFill/>
          <a:ln>
            <a:noFill/>
          </a:ln>
        </p:spPr>
      </p:pic>
      <p:sp>
        <p:nvSpPr>
          <p:cNvPr id="381" name="Google Shape;381;p51"/>
          <p:cNvSpPr/>
          <p:nvPr/>
        </p:nvSpPr>
        <p:spPr>
          <a:xfrm>
            <a:off x="3162300" y="47118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Highest Probability Rootstate</a:t>
            </a:r>
            <a:endParaRPr/>
          </a:p>
        </p:txBody>
      </p:sp>
      <p:sp>
        <p:nvSpPr>
          <p:cNvPr id="382" name="Google Shape;382;p51"/>
          <p:cNvSpPr/>
          <p:nvPr/>
        </p:nvSpPr>
        <p:spPr>
          <a:xfrm>
            <a:off x="2057400" y="330300"/>
            <a:ext cx="2971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Start State 8 (ABC)</a:t>
            </a:r>
            <a:endParaRPr/>
          </a:p>
        </p:txBody>
      </p:sp>
      <p:sp>
        <p:nvSpPr>
          <p:cNvPr id="383" name="Google Shape;383;p51"/>
          <p:cNvSpPr/>
          <p:nvPr/>
        </p:nvSpPr>
        <p:spPr>
          <a:xfrm rot="-5400000">
            <a:off x="1937300" y="2498000"/>
            <a:ext cx="1186800" cy="24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Count</a:t>
            </a:r>
            <a:endParaRPr/>
          </a:p>
        </p:txBody>
      </p:sp>
      <p:pic>
        <p:nvPicPr>
          <p:cNvPr id="384" name="Google Shape;384;p51"/>
          <p:cNvPicPr preferRelativeResize="0"/>
          <p:nvPr/>
        </p:nvPicPr>
        <p:blipFill rotWithShape="1">
          <a:blip r:embed="rId4">
            <a:alphaModFix/>
          </a:blip>
          <a:srcRect b="42458" l="85446" r="0" t="40012"/>
          <a:stretch/>
        </p:blipFill>
        <p:spPr>
          <a:xfrm>
            <a:off x="6311900" y="1864700"/>
            <a:ext cx="1184225" cy="1414100"/>
          </a:xfrm>
          <a:prstGeom prst="rect">
            <a:avLst/>
          </a:prstGeom>
          <a:noFill/>
          <a:ln>
            <a:noFill/>
          </a:ln>
        </p:spPr>
      </p:pic>
      <p:sp>
        <p:nvSpPr>
          <p:cNvPr id="385" name="Google Shape;385;p51"/>
          <p:cNvSpPr txBox="1"/>
          <p:nvPr>
            <p:ph type="title"/>
          </p:nvPr>
        </p:nvSpPr>
        <p:spPr>
          <a:xfrm>
            <a:off x="311700" y="445025"/>
            <a:ext cx="19236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2:</a:t>
            </a:r>
            <a:endParaRPr/>
          </a:p>
          <a:p>
            <a:pPr indent="0" lvl="0" marL="0" rtl="0" algn="l">
              <a:spcBef>
                <a:spcPts val="0"/>
              </a:spcBef>
              <a:spcAft>
                <a:spcPts val="0"/>
              </a:spcAft>
              <a:buNone/>
            </a:pPr>
            <a:r>
              <a:rPr lang="en"/>
              <a:t>Inference</a:t>
            </a:r>
            <a:endParaRPr/>
          </a:p>
          <a:p>
            <a:pPr indent="0" lvl="0" marL="0" rtl="0" algn="l">
              <a:spcBef>
                <a:spcPts val="0"/>
              </a:spcBef>
              <a:spcAft>
                <a:spcPts val="0"/>
              </a:spcAft>
              <a:buNone/>
            </a:pPr>
            <a:r>
              <a:rPr lang="en"/>
              <a:t>Correlated</a:t>
            </a:r>
            <a:endParaRPr/>
          </a:p>
          <a:p>
            <a:pPr indent="0" lvl="0" marL="0" rtl="0" algn="l">
              <a:spcBef>
                <a:spcPts val="0"/>
              </a:spcBef>
              <a:spcAft>
                <a:spcPts val="0"/>
              </a:spcAft>
              <a:buNone/>
            </a:pPr>
            <a:r>
              <a:rPr lang="en"/>
              <a:t>with True</a:t>
            </a:r>
            <a:endParaRPr/>
          </a:p>
          <a:p>
            <a:pPr indent="0" lvl="0" marL="0" rtl="0" algn="l">
              <a:spcBef>
                <a:spcPts val="0"/>
              </a:spcBef>
              <a:spcAft>
                <a:spcPts val="0"/>
              </a:spcAft>
              <a:buNone/>
            </a:pPr>
            <a:r>
              <a:rPr lang="en"/>
              <a:t>Root State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52"/>
          <p:cNvPicPr preferRelativeResize="0"/>
          <p:nvPr/>
        </p:nvPicPr>
        <p:blipFill>
          <a:blip r:embed="rId3">
            <a:alphaModFix/>
          </a:blip>
          <a:stretch>
            <a:fillRect/>
          </a:stretch>
        </p:blipFill>
        <p:spPr>
          <a:xfrm>
            <a:off x="4000500" y="0"/>
            <a:ext cx="5143500" cy="5143500"/>
          </a:xfrm>
          <a:prstGeom prst="rect">
            <a:avLst/>
          </a:prstGeom>
          <a:noFill/>
          <a:ln>
            <a:noFill/>
          </a:ln>
        </p:spPr>
      </p:pic>
      <p:sp>
        <p:nvSpPr>
          <p:cNvPr id="391" name="Google Shape;391;p52"/>
          <p:cNvSpPr txBox="1"/>
          <p:nvPr>
            <p:ph type="title"/>
          </p:nvPr>
        </p:nvSpPr>
        <p:spPr>
          <a:xfrm>
            <a:off x="311700" y="445025"/>
            <a:ext cx="69528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3: Average</a:t>
            </a:r>
            <a:endParaRPr/>
          </a:p>
          <a:p>
            <a:pPr indent="0" lvl="0" marL="0" rtl="0" algn="l">
              <a:spcBef>
                <a:spcPts val="0"/>
              </a:spcBef>
              <a:spcAft>
                <a:spcPts val="0"/>
              </a:spcAft>
              <a:buNone/>
            </a:pPr>
            <a:r>
              <a:rPr lang="en"/>
              <a:t>Accuracy of all 3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Control Model</a:t>
            </a:r>
            <a:endParaRPr/>
          </a:p>
        </p:txBody>
      </p:sp>
      <p:sp>
        <p:nvSpPr>
          <p:cNvPr id="392" name="Google Shape;392;p52"/>
          <p:cNvSpPr txBox="1"/>
          <p:nvPr/>
        </p:nvSpPr>
        <p:spPr>
          <a:xfrm>
            <a:off x="215900" y="3695700"/>
            <a:ext cx="3543300" cy="13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Accuracy declines, but not at equal rates</a:t>
            </a:r>
            <a:endParaRPr sz="1800">
              <a:solidFill>
                <a:schemeClr val="dk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53"/>
          <p:cNvPicPr preferRelativeResize="0"/>
          <p:nvPr/>
        </p:nvPicPr>
        <p:blipFill>
          <a:blip r:embed="rId3">
            <a:alphaModFix/>
          </a:blip>
          <a:stretch>
            <a:fillRect/>
          </a:stretch>
        </p:blipFill>
        <p:spPr>
          <a:xfrm>
            <a:off x="4000500" y="0"/>
            <a:ext cx="5143500" cy="5143500"/>
          </a:xfrm>
          <a:prstGeom prst="rect">
            <a:avLst/>
          </a:prstGeom>
          <a:noFill/>
          <a:ln>
            <a:noFill/>
          </a:ln>
        </p:spPr>
      </p:pic>
      <p:sp>
        <p:nvSpPr>
          <p:cNvPr id="398" name="Google Shape;398;p53"/>
          <p:cNvSpPr txBox="1"/>
          <p:nvPr>
            <p:ph type="title"/>
          </p:nvPr>
        </p:nvSpPr>
        <p:spPr>
          <a:xfrm>
            <a:off x="311700" y="445025"/>
            <a:ext cx="6952800" cy="205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3: Average</a:t>
            </a:r>
            <a:endParaRPr/>
          </a:p>
          <a:p>
            <a:pPr indent="0" lvl="0" marL="0" rtl="0" algn="l">
              <a:spcBef>
                <a:spcPts val="0"/>
              </a:spcBef>
              <a:spcAft>
                <a:spcPts val="0"/>
              </a:spcAft>
              <a:buNone/>
            </a:pPr>
            <a:r>
              <a:rPr lang="en"/>
              <a:t>Accuracy of all 3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Control Model</a:t>
            </a:r>
            <a:endParaRPr/>
          </a:p>
        </p:txBody>
      </p:sp>
      <p:sp>
        <p:nvSpPr>
          <p:cNvPr id="399" name="Google Shape;399;p53"/>
          <p:cNvSpPr txBox="1"/>
          <p:nvPr/>
        </p:nvSpPr>
        <p:spPr>
          <a:xfrm>
            <a:off x="311700" y="3695700"/>
            <a:ext cx="3289200" cy="11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True Start State - ABC</a:t>
            </a:r>
            <a:endParaRPr sz="1800">
              <a:solidFill>
                <a:schemeClr val="dk2"/>
              </a:solidFill>
            </a:endParaRPr>
          </a:p>
          <a:p>
            <a:pPr indent="0" lvl="0" marL="0" rtl="0" algn="l">
              <a:spcBef>
                <a:spcPts val="0"/>
              </a:spcBef>
              <a:spcAft>
                <a:spcPts val="0"/>
              </a:spcAft>
              <a:buNone/>
            </a:pPr>
            <a:r>
              <a:rPr lang="en" sz="1800">
                <a:solidFill>
                  <a:schemeClr val="dk2"/>
                </a:solidFill>
              </a:rPr>
              <a:t>s</a:t>
            </a:r>
            <a:r>
              <a:rPr lang="en" sz="1800">
                <a:solidFill>
                  <a:schemeClr val="dk2"/>
                </a:solidFill>
              </a:rPr>
              <a:t>howed a different pattern.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Why?</a:t>
            </a:r>
            <a:endParaRPr sz="18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Overall Conclusions</a:t>
            </a:r>
            <a:endParaRPr/>
          </a:p>
        </p:txBody>
      </p:sp>
      <p:sp>
        <p:nvSpPr>
          <p:cNvPr id="405" name="Google Shape;405;p54"/>
          <p:cNvSpPr txBox="1"/>
          <p:nvPr>
            <p:ph idx="1" type="body"/>
          </p:nvPr>
        </p:nvSpPr>
        <p:spPr>
          <a:xfrm>
            <a:off x="311700" y="1101675"/>
            <a:ext cx="8520600" cy="423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Gplates:</a:t>
            </a:r>
            <a:endParaRPr b="1"/>
          </a:p>
          <a:p>
            <a:pPr indent="0" lvl="0" marL="0" rtl="0" algn="l">
              <a:spcBef>
                <a:spcPts val="1200"/>
              </a:spcBef>
              <a:spcAft>
                <a:spcPts val="0"/>
              </a:spcAft>
              <a:buNone/>
            </a:pPr>
            <a:r>
              <a:rPr lang="en"/>
              <a:t>	pyGPlates printer allows extraction of palaeodistances a desired timepoints</a:t>
            </a:r>
            <a:endParaRPr/>
          </a:p>
          <a:p>
            <a:pPr indent="0" lvl="0" marL="0" rtl="0" algn="l">
              <a:spcBef>
                <a:spcPts val="1200"/>
              </a:spcBef>
              <a:spcAft>
                <a:spcPts val="0"/>
              </a:spcAft>
              <a:buNone/>
            </a:pPr>
            <a:r>
              <a:rPr b="1" lang="en"/>
              <a:t>Julia vs R:</a:t>
            </a:r>
            <a:endParaRPr b="1"/>
          </a:p>
          <a:p>
            <a:pPr indent="0" lvl="0" marL="457200" rtl="0" algn="l">
              <a:spcBef>
                <a:spcPts val="1200"/>
              </a:spcBef>
              <a:spcAft>
                <a:spcPts val="0"/>
              </a:spcAft>
              <a:buNone/>
            </a:pPr>
            <a:r>
              <a:rPr lang="en"/>
              <a:t>We see a large improvement in speed after running our models in Julia instead of R for problems with many states</a:t>
            </a:r>
            <a:endParaRPr/>
          </a:p>
          <a:p>
            <a:pPr indent="0" lvl="0" marL="0" rtl="0" algn="l">
              <a:spcBef>
                <a:spcPts val="1200"/>
              </a:spcBef>
              <a:spcAft>
                <a:spcPts val="0"/>
              </a:spcAft>
              <a:buNone/>
            </a:pPr>
            <a:r>
              <a:rPr lang="en"/>
              <a:t>Simulation-Inference Tests of Distance Based SSE:</a:t>
            </a:r>
            <a:endParaRPr/>
          </a:p>
          <a:p>
            <a:pPr indent="-342900" lvl="0" marL="457200" rtl="0" algn="l">
              <a:spcBef>
                <a:spcPts val="1200"/>
              </a:spcBef>
              <a:spcAft>
                <a:spcPts val="0"/>
              </a:spcAft>
              <a:buSzPts val="1800"/>
              <a:buAutoNum type="arabicPeriod"/>
            </a:pPr>
            <a:r>
              <a:rPr lang="en"/>
              <a:t>Lnls suggest an overall improvement from the control</a:t>
            </a:r>
            <a:endParaRPr/>
          </a:p>
          <a:p>
            <a:pPr indent="-342900" lvl="0" marL="457200" rtl="0" algn="l">
              <a:spcBef>
                <a:spcPts val="0"/>
              </a:spcBef>
              <a:spcAft>
                <a:spcPts val="0"/>
              </a:spcAft>
              <a:buSzPts val="1800"/>
              <a:buAutoNum type="arabicPeriod"/>
            </a:pPr>
            <a:r>
              <a:rPr lang="en"/>
              <a:t>Root state was correlated with True state across all models</a:t>
            </a:r>
            <a:endParaRPr/>
          </a:p>
          <a:p>
            <a:pPr indent="-342900" lvl="0" marL="457200" rtl="0" algn="l">
              <a:spcBef>
                <a:spcPts val="0"/>
              </a:spcBef>
              <a:spcAft>
                <a:spcPts val="0"/>
              </a:spcAft>
              <a:buSzPts val="1800"/>
              <a:buAutoNum type="arabicPeriod"/>
            </a:pPr>
            <a:r>
              <a:rPr lang="en"/>
              <a:t>Decline in accuracy the further back in time, as expected</a:t>
            </a:r>
            <a:endParaRPr/>
          </a:p>
          <a:p>
            <a:pPr indent="-342900" lvl="0" marL="457200" rtl="0" algn="l">
              <a:spcBef>
                <a:spcPts val="0"/>
              </a:spcBef>
              <a:spcAft>
                <a:spcPts val="0"/>
              </a:spcAft>
              <a:buSzPts val="1800"/>
              <a:buAutoNum type="arabicPeriod"/>
            </a:pPr>
            <a:r>
              <a:rPr lang="en"/>
              <a:t>High Rate of ABC assumed by control model across all startstates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411" name="Google Shape;41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t/>
            </a:r>
            <a:endParaRPr/>
          </a:p>
          <a:p>
            <a:pPr indent="-342900" lvl="0" marL="457200" rtl="0" algn="l">
              <a:spcBef>
                <a:spcPts val="1200"/>
              </a:spcBef>
              <a:spcAft>
                <a:spcPts val="0"/>
              </a:spcAft>
              <a:buSzPts val="1800"/>
              <a:buChar char="●"/>
            </a:pPr>
            <a:r>
              <a:rPr lang="en"/>
              <a:t>Using changing area size to explain changes in extinction rates</a:t>
            </a:r>
            <a:endParaRPr/>
          </a:p>
          <a:p>
            <a:pPr indent="-342900" lvl="0" marL="457200" rtl="0" algn="l">
              <a:spcBef>
                <a:spcPts val="0"/>
              </a:spcBef>
              <a:spcAft>
                <a:spcPts val="0"/>
              </a:spcAft>
              <a:buSzPts val="1800"/>
              <a:buChar char="●"/>
            </a:pPr>
            <a:r>
              <a:rPr lang="en"/>
              <a:t>Different forms of distance</a:t>
            </a:r>
            <a:endParaRPr/>
          </a:p>
          <a:p>
            <a:pPr indent="-317500" lvl="1" marL="914400" rtl="0" algn="l">
              <a:spcBef>
                <a:spcPts val="0"/>
              </a:spcBef>
              <a:spcAft>
                <a:spcPts val="0"/>
              </a:spcAft>
              <a:buSzPts val="1400"/>
              <a:buChar char="○"/>
            </a:pPr>
            <a:r>
              <a:rPr lang="en"/>
              <a:t>How might elevation or climates interact with </a:t>
            </a:r>
            <a:r>
              <a:rPr lang="en"/>
              <a:t>distance</a:t>
            </a:r>
            <a:r>
              <a:rPr lang="en"/>
              <a:t>, as opposed to </a:t>
            </a:r>
            <a:r>
              <a:rPr lang="en"/>
              <a:t>tectonic</a:t>
            </a:r>
            <a:r>
              <a:rPr lang="en"/>
              <a:t> movement? </a:t>
            </a:r>
            <a:endParaRPr/>
          </a:p>
          <a:p>
            <a:pPr indent="-342900" lvl="0" marL="457200" rtl="0" algn="l">
              <a:spcBef>
                <a:spcPts val="0"/>
              </a:spcBef>
              <a:spcAft>
                <a:spcPts val="0"/>
              </a:spcAft>
              <a:buSzPts val="1800"/>
              <a:buChar char="●"/>
            </a:pPr>
            <a:r>
              <a:rPr lang="en"/>
              <a:t>Different rotational models or GMT maps/models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17" name="Google Shape;417;p56"/>
          <p:cNvSpPr txBox="1"/>
          <p:nvPr>
            <p:ph idx="1" type="body"/>
          </p:nvPr>
        </p:nvSpPr>
        <p:spPr>
          <a:xfrm>
            <a:off x="311700" y="1152475"/>
            <a:ext cx="8520600" cy="473100"/>
          </a:xfrm>
          <a:prstGeom prst="rect">
            <a:avLst/>
          </a:prstGeom>
        </p:spPr>
        <p:txBody>
          <a:bodyPr anchorCtr="0" anchor="t" bIns="91425" lIns="91425" spcFirstLastPara="1" rIns="91425" wrap="square" tIns="91425">
            <a:normAutofit/>
          </a:bodyPr>
          <a:lstStyle/>
          <a:p>
            <a:pPr indent="-316985" lvl="0" marL="457200" rtl="0" algn="l">
              <a:lnSpc>
                <a:spcPct val="100000"/>
              </a:lnSpc>
              <a:spcBef>
                <a:spcPts val="1000"/>
              </a:spcBef>
              <a:spcAft>
                <a:spcPts val="1000"/>
              </a:spcAft>
              <a:buSzPts val="1392"/>
              <a:buChar char="●"/>
            </a:pPr>
            <a:r>
              <a:rPr lang="en" sz="1391"/>
              <a:t>You have a lot of supplemental analyses in the thesis, what are these for?</a:t>
            </a:r>
            <a:endParaRPr/>
          </a:p>
        </p:txBody>
      </p:sp>
      <p:sp>
        <p:nvSpPr>
          <p:cNvPr id="418" name="Google Shape;418;p56"/>
          <p:cNvSpPr txBox="1"/>
          <p:nvPr/>
        </p:nvSpPr>
        <p:spPr>
          <a:xfrm>
            <a:off x="1384300" y="2349500"/>
            <a:ext cx="5969100" cy="11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Mostly just answering questions I came across while I ran these tests.</a:t>
            </a:r>
            <a:endParaRPr sz="18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24" name="Google Shape;424;p57"/>
          <p:cNvSpPr txBox="1"/>
          <p:nvPr>
            <p:ph idx="1" type="body"/>
          </p:nvPr>
        </p:nvSpPr>
        <p:spPr>
          <a:xfrm>
            <a:off x="311700" y="1152475"/>
            <a:ext cx="8520600" cy="739800"/>
          </a:xfrm>
          <a:prstGeom prst="rect">
            <a:avLst/>
          </a:prstGeom>
        </p:spPr>
        <p:txBody>
          <a:bodyPr anchorCtr="0" anchor="t" bIns="91425" lIns="91425" spcFirstLastPara="1" rIns="91425" wrap="square" tIns="91425">
            <a:normAutofit/>
          </a:bodyPr>
          <a:lstStyle/>
          <a:p>
            <a:pPr indent="-316985" lvl="0" marL="457200" rtl="0" algn="l">
              <a:lnSpc>
                <a:spcPct val="100000"/>
              </a:lnSpc>
              <a:spcBef>
                <a:spcPts val="1000"/>
              </a:spcBef>
              <a:spcAft>
                <a:spcPts val="1000"/>
              </a:spcAft>
              <a:buSzPts val="1392"/>
              <a:buChar char="●"/>
            </a:pPr>
            <a:r>
              <a:rPr lang="en" sz="1350"/>
              <a:t>For researchers not familiar with Julia, what methods are available to integrate your Julia-based models with existing tools using R, Python, and other languages? </a:t>
            </a:r>
            <a:endParaRPr/>
          </a:p>
        </p:txBody>
      </p:sp>
      <p:sp>
        <p:nvSpPr>
          <p:cNvPr id="425" name="Google Shape;425;p57"/>
          <p:cNvSpPr txBox="1"/>
          <p:nvPr/>
        </p:nvSpPr>
        <p:spPr>
          <a:xfrm>
            <a:off x="1168400" y="2311400"/>
            <a:ext cx="6642000" cy="196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rPr>
              <a:t>If you want to run Julia from R there are already existing packages!</a:t>
            </a:r>
            <a:endParaRPr sz="1800">
              <a:solidFill>
                <a:schemeClr val="dk1"/>
              </a:solidFill>
            </a:endParaRPr>
          </a:p>
          <a:p>
            <a:pPr indent="0" lvl="0" marL="0" rtl="0" algn="ctr">
              <a:spcBef>
                <a:spcPts val="0"/>
              </a:spcBef>
              <a:spcAft>
                <a:spcPts val="0"/>
              </a:spcAft>
              <a:buClr>
                <a:schemeClr val="dk1"/>
              </a:buClr>
              <a:buSzPts val="1100"/>
              <a:buFont typeface="Arial"/>
              <a:buNone/>
            </a:pPr>
            <a:r>
              <a:t/>
            </a:r>
            <a:endParaRPr sz="1800">
              <a:solidFill>
                <a:schemeClr val="dk1"/>
              </a:solidFill>
            </a:endParaRPr>
          </a:p>
          <a:p>
            <a:pPr indent="0" lvl="0" marL="0" rtl="0" algn="ctr">
              <a:spcBef>
                <a:spcPts val="0"/>
              </a:spcBef>
              <a:spcAft>
                <a:spcPts val="0"/>
              </a:spcAft>
              <a:buClr>
                <a:schemeClr val="dk1"/>
              </a:buClr>
              <a:buSzPts val="1100"/>
              <a:buFont typeface="Arial"/>
              <a:buNone/>
            </a:pPr>
            <a:r>
              <a:rPr lang="en" sz="1800">
                <a:solidFill>
                  <a:schemeClr val="dk1"/>
                </a:solidFill>
              </a:rPr>
              <a:t>Otherwise these are example codes, and the code included only requires minimal understanding of Julia to run.</a:t>
            </a:r>
            <a:endParaRPr sz="18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31" name="Google Shape;431;p58"/>
          <p:cNvSpPr txBox="1"/>
          <p:nvPr>
            <p:ph idx="1" type="body"/>
          </p:nvPr>
        </p:nvSpPr>
        <p:spPr>
          <a:xfrm>
            <a:off x="311700" y="1152475"/>
            <a:ext cx="8520600" cy="6510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SzPts val="1350"/>
              <a:buChar char="●"/>
            </a:pPr>
            <a:r>
              <a:rPr lang="en" sz="1350"/>
              <a:t>How might the inclusion of additional ecological or environmental factors impact the performance and accuracy of your models? </a:t>
            </a:r>
            <a:endParaRPr/>
          </a:p>
        </p:txBody>
      </p:sp>
      <p:sp>
        <p:nvSpPr>
          <p:cNvPr id="432" name="Google Shape;432;p58"/>
          <p:cNvSpPr txBox="1"/>
          <p:nvPr/>
        </p:nvSpPr>
        <p:spPr>
          <a:xfrm>
            <a:off x="800100" y="1938225"/>
            <a:ext cx="7175400" cy="22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600">
                <a:solidFill>
                  <a:schemeClr val="dk1"/>
                </a:solidFill>
              </a:rPr>
              <a:t>You can include other types of distance within the model (ecological distance, trait based distance) and it’s just another variable to be added. We just didn’t explore it in the bounds of this thesis.</a:t>
            </a:r>
            <a:endParaRPr sz="1600">
              <a:solidFill>
                <a:schemeClr val="dk1"/>
              </a:solidFill>
            </a:endParaRPr>
          </a:p>
          <a:p>
            <a:pPr indent="0" lvl="0" marL="0" rtl="0" algn="ctr">
              <a:spcBef>
                <a:spcPts val="0"/>
              </a:spcBef>
              <a:spcAft>
                <a:spcPts val="0"/>
              </a:spcAft>
              <a:buClr>
                <a:schemeClr val="dk1"/>
              </a:buClr>
              <a:buSzPts val="1100"/>
              <a:buFont typeface="Arial"/>
              <a:buNone/>
            </a:pPr>
            <a:r>
              <a:t/>
            </a:r>
            <a:endParaRPr sz="1600">
              <a:solidFill>
                <a:schemeClr val="dk1"/>
              </a:solidFill>
            </a:endParaRPr>
          </a:p>
          <a:p>
            <a:pPr indent="0" lvl="0" marL="0" rtl="0" algn="ctr">
              <a:spcBef>
                <a:spcPts val="0"/>
              </a:spcBef>
              <a:spcAft>
                <a:spcPts val="0"/>
              </a:spcAft>
              <a:buClr>
                <a:schemeClr val="dk1"/>
              </a:buClr>
              <a:buSzPts val="1100"/>
              <a:buFont typeface="Arial"/>
              <a:buNone/>
            </a:pPr>
            <a:r>
              <a:rPr lang="en" sz="1600">
                <a:solidFill>
                  <a:schemeClr val="dk1"/>
                </a:solidFill>
              </a:rPr>
              <a:t>Temperature</a:t>
            </a:r>
            <a:endParaRPr sz="1600">
              <a:solidFill>
                <a:schemeClr val="dk1"/>
              </a:solidFill>
            </a:endParaRPr>
          </a:p>
          <a:p>
            <a:pPr indent="0" lvl="0" marL="0" rtl="0" algn="ctr">
              <a:spcBef>
                <a:spcPts val="0"/>
              </a:spcBef>
              <a:spcAft>
                <a:spcPts val="0"/>
              </a:spcAft>
              <a:buClr>
                <a:schemeClr val="dk1"/>
              </a:buClr>
              <a:buSzPts val="1100"/>
              <a:buFont typeface="Arial"/>
              <a:buNone/>
            </a:pPr>
            <a:r>
              <a:rPr lang="en" sz="1600">
                <a:solidFill>
                  <a:schemeClr val="dk1"/>
                </a:solidFill>
              </a:rPr>
              <a:t>Climate</a:t>
            </a:r>
            <a:endParaRPr sz="1600">
              <a:solidFill>
                <a:schemeClr val="dk1"/>
              </a:solidFill>
            </a:endParaRPr>
          </a:p>
          <a:p>
            <a:pPr indent="0" lvl="0" marL="0" rtl="0" algn="ctr">
              <a:spcBef>
                <a:spcPts val="0"/>
              </a:spcBef>
              <a:spcAft>
                <a:spcPts val="0"/>
              </a:spcAft>
              <a:buClr>
                <a:schemeClr val="dk1"/>
              </a:buClr>
              <a:buSzPts val="1100"/>
              <a:buFont typeface="Arial"/>
              <a:buNone/>
            </a:pPr>
            <a:r>
              <a:rPr lang="en" sz="1600">
                <a:solidFill>
                  <a:schemeClr val="dk1"/>
                </a:solidFill>
              </a:rPr>
              <a:t>Altitude</a:t>
            </a:r>
            <a:endParaRPr sz="1600">
              <a:solidFill>
                <a:schemeClr val="dk1"/>
              </a:solidFill>
            </a:endParaRPr>
          </a:p>
          <a:p>
            <a:pPr indent="0" lvl="0" marL="0" rtl="0" algn="ctr">
              <a:spcBef>
                <a:spcPts val="0"/>
              </a:spcBef>
              <a:spcAft>
                <a:spcPts val="0"/>
              </a:spcAft>
              <a:buClr>
                <a:schemeClr val="dk1"/>
              </a:buClr>
              <a:buSzPts val="1100"/>
              <a:buFont typeface="Arial"/>
              <a:buNone/>
            </a:pPr>
            <a:r>
              <a:rPr lang="en" sz="1600">
                <a:solidFill>
                  <a:schemeClr val="dk1"/>
                </a:solidFill>
              </a:rPr>
              <a:t>Connectivity</a:t>
            </a:r>
            <a:endParaRPr sz="1600">
              <a:solidFill>
                <a:schemeClr val="dk1"/>
              </a:solidFill>
            </a:endParaRPr>
          </a:p>
          <a:p>
            <a:pPr indent="0" lvl="0" marL="0" rtl="0" algn="ctr">
              <a:spcBef>
                <a:spcPts val="0"/>
              </a:spcBef>
              <a:spcAft>
                <a:spcPts val="0"/>
              </a:spcAft>
              <a:buNone/>
            </a:pPr>
            <a:r>
              <a:rPr lang="en" sz="1600">
                <a:solidFill>
                  <a:schemeClr val="dk1"/>
                </a:solidFill>
              </a:rPr>
              <a:t>(you can define what the areas are and can have several matrices at once)</a:t>
            </a:r>
            <a:endParaRPr sz="1600">
              <a:solidFill>
                <a:schemeClr val="dk1"/>
              </a:solidFill>
            </a:endParaRPr>
          </a:p>
          <a:p>
            <a:pPr indent="0" lvl="0" marL="0" rtl="0" algn="ctr">
              <a:spcBef>
                <a:spcPts val="0"/>
              </a:spcBef>
              <a:spcAft>
                <a:spcPts val="0"/>
              </a:spcAft>
              <a:buClr>
                <a:schemeClr val="dk1"/>
              </a:buClr>
              <a:buSzPts val="1100"/>
              <a:buFont typeface="Arial"/>
              <a:buNone/>
            </a:pPr>
            <a:r>
              <a:t/>
            </a:r>
            <a:endParaRPr sz="1600">
              <a:solidFill>
                <a:schemeClr val="dk1"/>
              </a:solidFill>
            </a:endParaRPr>
          </a:p>
          <a:p>
            <a:pPr indent="0" lvl="0" marL="0" rtl="0" algn="ctr">
              <a:spcBef>
                <a:spcPts val="0"/>
              </a:spcBef>
              <a:spcAft>
                <a:spcPts val="0"/>
              </a:spcAft>
              <a:buClr>
                <a:schemeClr val="dk1"/>
              </a:buClr>
              <a:buSzPts val="1100"/>
              <a:buFont typeface="Arial"/>
              <a:buNone/>
            </a:pPr>
            <a:r>
              <a:rPr lang="en" sz="1600">
                <a:solidFill>
                  <a:schemeClr val="dk1"/>
                </a:solidFill>
              </a:rPr>
              <a:t>You can define what distance is, which means you can change it</a:t>
            </a:r>
            <a:endParaRPr sz="16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38" name="Google Shape;43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SzPts val="1350"/>
              <a:buChar char="●"/>
            </a:pPr>
            <a:r>
              <a:rPr lang="en" sz="1350"/>
              <a:t>Could you elaborate on how your models account for the uncertainty inherent in paleogeographic reconstructions?</a:t>
            </a:r>
            <a:endParaRPr sz="1391"/>
          </a:p>
          <a:p>
            <a:pPr indent="0" lvl="0" marL="0" rtl="0" algn="l">
              <a:spcBef>
                <a:spcPts val="0"/>
              </a:spcBef>
              <a:spcAft>
                <a:spcPts val="1200"/>
              </a:spcAft>
              <a:buNone/>
            </a:pPr>
            <a:r>
              <a:t/>
            </a:r>
            <a:endParaRPr/>
          </a:p>
        </p:txBody>
      </p:sp>
      <p:sp>
        <p:nvSpPr>
          <p:cNvPr id="439" name="Google Shape;439;p59"/>
          <p:cNvSpPr txBox="1"/>
          <p:nvPr/>
        </p:nvSpPr>
        <p:spPr>
          <a:xfrm>
            <a:off x="800100" y="2204925"/>
            <a:ext cx="7175400" cy="22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The change in geographic isolation threshold / connectivity was an attempt to explore this</a:t>
            </a:r>
            <a:endParaRPr sz="1600">
              <a:solidFill>
                <a:schemeClr val="dk1"/>
              </a:solidFill>
            </a:endParaRPr>
          </a:p>
          <a:p>
            <a:pPr indent="0" lvl="0" marL="0" rtl="0" algn="ctr">
              <a:spcBef>
                <a:spcPts val="0"/>
              </a:spcBef>
              <a:spcAft>
                <a:spcPts val="0"/>
              </a:spcAft>
              <a:buNone/>
            </a:pPr>
            <a:r>
              <a:t/>
            </a:r>
            <a:endParaRPr sz="1600">
              <a:solidFill>
                <a:schemeClr val="dk1"/>
              </a:solidFill>
            </a:endParaRPr>
          </a:p>
          <a:p>
            <a:pPr indent="0" lvl="0" marL="0" rtl="0" algn="ctr">
              <a:spcBef>
                <a:spcPts val="0"/>
              </a:spcBef>
              <a:spcAft>
                <a:spcPts val="0"/>
              </a:spcAft>
              <a:buNone/>
            </a:pPr>
            <a:r>
              <a:rPr lang="en" sz="1600">
                <a:solidFill>
                  <a:schemeClr val="dk1"/>
                </a:solidFill>
              </a:rPr>
              <a:t>Otherwise:</a:t>
            </a:r>
            <a:endParaRPr sz="1600">
              <a:solidFill>
                <a:schemeClr val="dk1"/>
              </a:solidFill>
            </a:endParaRPr>
          </a:p>
          <a:p>
            <a:pPr indent="0" lvl="0" marL="0" rtl="0" algn="ctr">
              <a:spcBef>
                <a:spcPts val="0"/>
              </a:spcBef>
              <a:spcAft>
                <a:spcPts val="0"/>
              </a:spcAft>
              <a:buNone/>
            </a:pPr>
            <a:r>
              <a:rPr lang="en" sz="1600">
                <a:solidFill>
                  <a:schemeClr val="dk1"/>
                </a:solidFill>
              </a:rPr>
              <a:t>Inference can be run multiple times using multiple trees!</a:t>
            </a:r>
            <a:endParaRPr sz="1600">
              <a:solidFill>
                <a:schemeClr val="dk1"/>
              </a:solidFill>
            </a:endParaRPr>
          </a:p>
          <a:p>
            <a:pPr indent="0" lvl="0" marL="0" rtl="0" algn="ctr">
              <a:spcBef>
                <a:spcPts val="0"/>
              </a:spcBef>
              <a:spcAft>
                <a:spcPts val="0"/>
              </a:spcAft>
              <a:buNone/>
            </a:pPr>
            <a:r>
              <a:rPr lang="en" sz="1600">
                <a:solidFill>
                  <a:schemeClr val="dk1"/>
                </a:solidFill>
              </a:rPr>
              <a:t>We can use different rotational models to look at different paleogeographic reconstructions</a:t>
            </a:r>
            <a:endParaRPr sz="160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45" name="Google Shape;445;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6985" lvl="0" marL="457200" rtl="0" algn="l">
              <a:lnSpc>
                <a:spcPct val="100000"/>
              </a:lnSpc>
              <a:spcBef>
                <a:spcPts val="1000"/>
              </a:spcBef>
              <a:spcAft>
                <a:spcPts val="0"/>
              </a:spcAft>
              <a:buSzPts val="1392"/>
              <a:buChar char="●"/>
            </a:pPr>
            <a:r>
              <a:rPr lang="en" sz="1391"/>
              <a:t>If a biologist wanted to use GPlates data, roughly what steps would they need to do? (I ask this because, IIRC, the hard step is the coding-of-plates-by-modern-areas. It would be fine to mention this if it comes up.)</a:t>
            </a:r>
            <a:endParaRPr sz="1391"/>
          </a:p>
          <a:p>
            <a:pPr indent="0" lvl="0" marL="0" rtl="0" algn="l">
              <a:spcBef>
                <a:spcPts val="1000"/>
              </a:spcBef>
              <a:spcAft>
                <a:spcPts val="120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51" name="Google Shape;451;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6985" lvl="0" marL="457200" rtl="0" algn="l">
              <a:lnSpc>
                <a:spcPct val="100000"/>
              </a:lnSpc>
              <a:spcBef>
                <a:spcPts val="0"/>
              </a:spcBef>
              <a:spcAft>
                <a:spcPts val="0"/>
              </a:spcAft>
              <a:buSzPts val="1392"/>
              <a:buChar char="●"/>
            </a:pPr>
            <a:r>
              <a:rPr lang="en" sz="1391"/>
              <a:t>If a biologist wanted to use PhyBEARS, or incorporate it into other software (one of your reviewers was the RASP guy, he likes to do this this kind of thing), roughly what would they need to do? (roughly: it’s all open source on GitHub, many test scripts are available, once they get those working users are free to modify as they like) </a:t>
            </a:r>
            <a:endParaRPr sz="1391"/>
          </a:p>
          <a:p>
            <a:pPr indent="0" lvl="0" marL="0" rtl="0" algn="l">
              <a:spcBef>
                <a:spcPts val="1000"/>
              </a:spcBef>
              <a:spcAft>
                <a:spcPts val="120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Questions</a:t>
            </a:r>
            <a:endParaRPr/>
          </a:p>
        </p:txBody>
      </p:sp>
      <p:sp>
        <p:nvSpPr>
          <p:cNvPr id="457" name="Google Shape;457;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6985" lvl="0" marL="457200" rtl="0" algn="l">
              <a:lnSpc>
                <a:spcPct val="100000"/>
              </a:lnSpc>
              <a:spcBef>
                <a:spcPts val="0"/>
              </a:spcBef>
              <a:spcAft>
                <a:spcPts val="0"/>
              </a:spcAft>
              <a:buSzPts val="1392"/>
              <a:buChar char="●"/>
            </a:pPr>
            <a:r>
              <a:rPr lang="en" sz="1391"/>
              <a:t>Could I use this on my study clade X? (answer is always yes, then inquire about the geographic region &amp; time, and what might be appropriate in terms of # of areas, etc.)</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for Reviewers</a:t>
            </a:r>
            <a:endParaRPr/>
          </a:p>
        </p:txBody>
      </p:sp>
      <p:sp>
        <p:nvSpPr>
          <p:cNvPr id="463" name="Google Shape;463;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14325" lvl="0" marL="457200" rtl="0" algn="l">
              <a:spcBef>
                <a:spcPts val="0"/>
              </a:spcBef>
              <a:spcAft>
                <a:spcPts val="0"/>
              </a:spcAft>
              <a:buClr>
                <a:schemeClr val="dk1"/>
              </a:buClr>
              <a:buSzPts val="1350"/>
              <a:buChar char="●"/>
            </a:pPr>
            <a:r>
              <a:rPr lang="en" sz="1350">
                <a:solidFill>
                  <a:schemeClr val="dk1"/>
                </a:solidFill>
              </a:rPr>
              <a:t>The author may want to mention the work by M. Landis. </a:t>
            </a:r>
            <a:endParaRPr sz="1350">
              <a:solidFill>
                <a:schemeClr val="dk1"/>
              </a:solidFill>
            </a:endParaRPr>
          </a:p>
          <a:p>
            <a:pPr indent="-314325" lvl="0" marL="457200" rtl="0" algn="l">
              <a:spcBef>
                <a:spcPts val="0"/>
              </a:spcBef>
              <a:spcAft>
                <a:spcPts val="0"/>
              </a:spcAft>
              <a:buClr>
                <a:schemeClr val="dk1"/>
              </a:buClr>
              <a:buSzPts val="1350"/>
              <a:buChar char="●"/>
            </a:pPr>
            <a:r>
              <a:rPr lang="en" sz="1350">
                <a:solidFill>
                  <a:schemeClr val="dk1"/>
                </a:solidFill>
              </a:rPr>
              <a:t>In chapter 3 (spread model alone), why do you think the true rootstate of A and B were the hardest for the models to infer correctly?</a:t>
            </a:r>
            <a:endParaRPr sz="1350">
              <a:solidFill>
                <a:schemeClr val="dk1"/>
              </a:solidFill>
            </a:endParaRPr>
          </a:p>
          <a:p>
            <a:pPr indent="-314325" lvl="0" marL="457200" rtl="0" algn="l">
              <a:spcBef>
                <a:spcPts val="0"/>
              </a:spcBef>
              <a:spcAft>
                <a:spcPts val="0"/>
              </a:spcAft>
              <a:buClr>
                <a:schemeClr val="dk1"/>
              </a:buClr>
              <a:buSzPts val="1350"/>
              <a:buChar char="●"/>
            </a:pPr>
            <a:r>
              <a:rPr b="1" lang="en" sz="1350">
                <a:solidFill>
                  <a:schemeClr val="dk1"/>
                </a:solidFill>
              </a:rPr>
              <a:t>It would be beneficial to include a comparison of memory consumption alongside the speed tests, as this can be a critical factor in computational efficiency, especially for large-scale simulations.</a:t>
            </a:r>
            <a:endParaRPr b="1" sz="1350">
              <a:solidFill>
                <a:schemeClr val="dk1"/>
              </a:solidFill>
            </a:endParaRPr>
          </a:p>
          <a:p>
            <a:pPr indent="-314325" lvl="0" marL="457200" rtl="0" algn="l">
              <a:spcBef>
                <a:spcPts val="0"/>
              </a:spcBef>
              <a:spcAft>
                <a:spcPts val="0"/>
              </a:spcAft>
              <a:buClr>
                <a:schemeClr val="dk1"/>
              </a:buClr>
              <a:buSzPts val="1350"/>
              <a:buChar char="●"/>
            </a:pPr>
            <a:r>
              <a:rPr lang="en" sz="1350">
                <a:solidFill>
                  <a:schemeClr val="dk1"/>
                </a:solidFill>
              </a:rPr>
              <a:t>The potential application of these models and tools in conservation biology or epidemiology could be explored, as this could broaden the impact of the research.</a:t>
            </a:r>
            <a:endParaRPr sz="1350">
              <a:solidFill>
                <a:schemeClr val="dk1"/>
              </a:solidFill>
            </a:endParaRPr>
          </a:p>
          <a:p>
            <a:pPr indent="-314325" lvl="0" marL="457200" rtl="0" algn="l">
              <a:spcBef>
                <a:spcPts val="0"/>
              </a:spcBef>
              <a:spcAft>
                <a:spcPts val="0"/>
              </a:spcAft>
              <a:buClr>
                <a:schemeClr val="dk1"/>
              </a:buClr>
              <a:buSzPts val="1350"/>
              <a:buChar char="●"/>
            </a:pPr>
            <a:r>
              <a:rPr lang="en" sz="1350">
                <a:solidFill>
                  <a:schemeClr val="dk1"/>
                </a:solidFill>
              </a:rPr>
              <a:t>For researchers not familiar with Julia, what methods are available to integrate your Julia-based models with existing tools using R, Python, and other languages? </a:t>
            </a:r>
            <a:endParaRPr sz="1350">
              <a:solidFill>
                <a:schemeClr val="dk1"/>
              </a:solidFill>
            </a:endParaRPr>
          </a:p>
          <a:p>
            <a:pPr indent="-314325" lvl="0" marL="457200" rtl="0" algn="l">
              <a:spcBef>
                <a:spcPts val="0"/>
              </a:spcBef>
              <a:spcAft>
                <a:spcPts val="0"/>
              </a:spcAft>
              <a:buClr>
                <a:schemeClr val="dk1"/>
              </a:buClr>
              <a:buSzPts val="1350"/>
              <a:buChar char="●"/>
            </a:pPr>
            <a:r>
              <a:rPr lang="en" sz="1350">
                <a:solidFill>
                  <a:schemeClr val="dk1"/>
                </a:solidFill>
              </a:rPr>
              <a:t>How might the inclusion of additional ecological or environmental factors impact the performance and accuracy of your models? </a:t>
            </a:r>
            <a:endParaRPr sz="1350">
              <a:solidFill>
                <a:schemeClr val="dk1"/>
              </a:solidFill>
            </a:endParaRPr>
          </a:p>
          <a:p>
            <a:pPr indent="-314325" lvl="0" marL="457200" rtl="0" algn="l">
              <a:spcBef>
                <a:spcPts val="0"/>
              </a:spcBef>
              <a:spcAft>
                <a:spcPts val="0"/>
              </a:spcAft>
              <a:buClr>
                <a:schemeClr val="dk1"/>
              </a:buClr>
              <a:buSzPts val="1350"/>
              <a:buChar char="●"/>
            </a:pPr>
            <a:r>
              <a:rPr lang="en" sz="1350">
                <a:solidFill>
                  <a:schemeClr val="dk1"/>
                </a:solidFill>
              </a:rPr>
              <a:t>Could you elaborate on how your models account for the uncertainty inherent in paleogeographic reconstructions?</a:t>
            </a:r>
            <a:endParaRPr sz="1350">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 Questions</a:t>
            </a:r>
            <a:endParaRPr/>
          </a:p>
        </p:txBody>
      </p:sp>
      <p:sp>
        <p:nvSpPr>
          <p:cNvPr id="469" name="Google Shape;469;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0675" lvl="0" marL="457200" rtl="0" algn="l">
              <a:spcBef>
                <a:spcPts val="0"/>
              </a:spcBef>
              <a:spcAft>
                <a:spcPts val="0"/>
              </a:spcAft>
              <a:buSzPts val="1450"/>
              <a:buChar char="●"/>
            </a:pPr>
            <a:r>
              <a:rPr lang="en" sz="1450"/>
              <a:t>What direction do you think this kind of research could go in the future? (e.g. new models, overcoming limitations of current work, making tools easier to use)</a:t>
            </a:r>
            <a:endParaRPr sz="1450"/>
          </a:p>
          <a:p>
            <a:pPr indent="-320675" lvl="0" marL="457200" rtl="0" algn="l">
              <a:spcBef>
                <a:spcPts val="1000"/>
              </a:spcBef>
              <a:spcAft>
                <a:spcPts val="0"/>
              </a:spcAft>
              <a:buSzPts val="1450"/>
              <a:buChar char="●"/>
            </a:pPr>
            <a:r>
              <a:rPr lang="en" sz="1450"/>
              <a:t>What do you wish you had learned earlier in doing this research project?</a:t>
            </a:r>
            <a:endParaRPr sz="1450"/>
          </a:p>
          <a:p>
            <a:pPr indent="-320675" lvl="0" marL="457200" rtl="0" algn="l">
              <a:spcBef>
                <a:spcPts val="1000"/>
              </a:spcBef>
              <a:spcAft>
                <a:spcPts val="0"/>
              </a:spcAft>
              <a:buSzPts val="1450"/>
              <a:buChar char="●"/>
            </a:pPr>
            <a:r>
              <a:rPr lang="en" sz="1450"/>
              <a:t>What publication plans do you have? (let’s talk about this one – minimally, you are a coauthor on PhyBEARS and any publications that come from that)</a:t>
            </a:r>
            <a:endParaRPr sz="1450"/>
          </a:p>
          <a:p>
            <a:pPr indent="-320675" lvl="0" marL="457200" rtl="0" algn="l">
              <a:spcBef>
                <a:spcPts val="1000"/>
              </a:spcBef>
              <a:spcAft>
                <a:spcPts val="0"/>
              </a:spcAft>
              <a:buSzPts val="1450"/>
              <a:buChar char="●"/>
            </a:pPr>
            <a:r>
              <a:rPr lang="en" sz="1450"/>
              <a:t>What are your next steps, and what have you gained from your PhD experience? (even if you are going in another direction, you’ve learned some things, eg new programming languages, model-based inference, data visualization etc.)</a:t>
            </a:r>
            <a:endParaRPr sz="1450"/>
          </a:p>
          <a:p>
            <a:pPr indent="0" lvl="0" marL="0" rtl="0" algn="l">
              <a:spcBef>
                <a:spcPts val="10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 slides</a:t>
            </a:r>
            <a:endParaRPr/>
          </a:p>
        </p:txBody>
      </p:sp>
      <p:sp>
        <p:nvSpPr>
          <p:cNvPr id="475" name="Google Shape;475;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