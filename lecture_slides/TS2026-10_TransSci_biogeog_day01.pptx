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6"/>
  </p:notesMasterIdLst>
  <p:sldIdLst>
    <p:sldId id="270" r:id="rId2"/>
    <p:sldId id="336" r:id="rId3"/>
    <p:sldId id="333" r:id="rId4"/>
    <p:sldId id="257" r:id="rId5"/>
    <p:sldId id="261" r:id="rId6"/>
    <p:sldId id="262" r:id="rId7"/>
    <p:sldId id="263" r:id="rId8"/>
    <p:sldId id="264" r:id="rId9"/>
    <p:sldId id="265" r:id="rId10"/>
    <p:sldId id="266" r:id="rId11"/>
    <p:sldId id="409" r:id="rId12"/>
    <p:sldId id="267" r:id="rId13"/>
    <p:sldId id="268" r:id="rId14"/>
    <p:sldId id="269" r:id="rId15"/>
    <p:sldId id="410" r:id="rId16"/>
    <p:sldId id="271" r:id="rId17"/>
    <p:sldId id="272" r:id="rId18"/>
    <p:sldId id="273" r:id="rId19"/>
    <p:sldId id="274" r:id="rId20"/>
    <p:sldId id="275" r:id="rId21"/>
    <p:sldId id="337" r:id="rId22"/>
    <p:sldId id="338" r:id="rId23"/>
    <p:sldId id="339" r:id="rId24"/>
    <p:sldId id="340" r:id="rId25"/>
    <p:sldId id="322" r:id="rId26"/>
    <p:sldId id="323" r:id="rId27"/>
    <p:sldId id="349" r:id="rId28"/>
    <p:sldId id="324" r:id="rId29"/>
    <p:sldId id="411" r:id="rId30"/>
    <p:sldId id="412" r:id="rId31"/>
    <p:sldId id="413" r:id="rId32"/>
    <p:sldId id="414" r:id="rId33"/>
    <p:sldId id="415" r:id="rId34"/>
    <p:sldId id="416" r:id="rId35"/>
    <p:sldId id="417" r:id="rId36"/>
    <p:sldId id="418" r:id="rId37"/>
    <p:sldId id="419" r:id="rId38"/>
    <p:sldId id="420" r:id="rId39"/>
    <p:sldId id="421" r:id="rId40"/>
    <p:sldId id="422" r:id="rId41"/>
    <p:sldId id="423" r:id="rId42"/>
    <p:sldId id="424" r:id="rId43"/>
    <p:sldId id="425" r:id="rId44"/>
    <p:sldId id="426" r:id="rId45"/>
    <p:sldId id="427" r:id="rId46"/>
    <p:sldId id="428" r:id="rId47"/>
    <p:sldId id="429" r:id="rId48"/>
    <p:sldId id="430" r:id="rId49"/>
    <p:sldId id="431" r:id="rId50"/>
    <p:sldId id="432" r:id="rId51"/>
    <p:sldId id="433" r:id="rId52"/>
    <p:sldId id="434" r:id="rId53"/>
    <p:sldId id="435" r:id="rId54"/>
    <p:sldId id="436" r:id="rId55"/>
    <p:sldId id="437" r:id="rId56"/>
    <p:sldId id="438" r:id="rId57"/>
    <p:sldId id="439" r:id="rId58"/>
    <p:sldId id="440" r:id="rId59"/>
    <p:sldId id="441" r:id="rId60"/>
    <p:sldId id="442" r:id="rId61"/>
    <p:sldId id="443" r:id="rId62"/>
    <p:sldId id="444" r:id="rId63"/>
    <p:sldId id="445" r:id="rId64"/>
    <p:sldId id="446" r:id="rId65"/>
    <p:sldId id="447" r:id="rId66"/>
    <p:sldId id="448" r:id="rId67"/>
    <p:sldId id="449" r:id="rId68"/>
    <p:sldId id="450" r:id="rId69"/>
    <p:sldId id="451" r:id="rId70"/>
    <p:sldId id="452" r:id="rId71"/>
    <p:sldId id="453" r:id="rId72"/>
    <p:sldId id="454" r:id="rId73"/>
    <p:sldId id="455" r:id="rId74"/>
    <p:sldId id="456" r:id="rId75"/>
    <p:sldId id="457" r:id="rId76"/>
    <p:sldId id="458" r:id="rId77"/>
    <p:sldId id="459" r:id="rId78"/>
    <p:sldId id="460" r:id="rId79"/>
    <p:sldId id="461" r:id="rId80"/>
    <p:sldId id="462" r:id="rId81"/>
    <p:sldId id="278" r:id="rId82"/>
    <p:sldId id="279" r:id="rId83"/>
    <p:sldId id="280" r:id="rId84"/>
    <p:sldId id="281" r:id="rId85"/>
    <p:sldId id="282" r:id="rId86"/>
    <p:sldId id="283" r:id="rId87"/>
    <p:sldId id="284" r:id="rId88"/>
    <p:sldId id="285" r:id="rId89"/>
    <p:sldId id="286" r:id="rId90"/>
    <p:sldId id="287" r:id="rId91"/>
    <p:sldId id="288" r:id="rId92"/>
    <p:sldId id="289" r:id="rId93"/>
    <p:sldId id="290" r:id="rId94"/>
    <p:sldId id="291" r:id="rId95"/>
    <p:sldId id="463" r:id="rId96"/>
    <p:sldId id="464" r:id="rId97"/>
    <p:sldId id="465" r:id="rId98"/>
    <p:sldId id="295" r:id="rId99"/>
    <p:sldId id="296" r:id="rId100"/>
    <p:sldId id="297" r:id="rId101"/>
    <p:sldId id="298" r:id="rId102"/>
    <p:sldId id="299" r:id="rId103"/>
    <p:sldId id="466" r:id="rId104"/>
    <p:sldId id="301" r:id="rId10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715B"/>
    <a:srgbClr val="000B91"/>
    <a:srgbClr val="0000FF"/>
    <a:srgbClr val="00A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217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152279-B0B6-1045-B0B6-D29719D6866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95C1D5-3944-394F-9494-7A37F387D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49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95C1D5-3944-394F-9494-7A37F387DAD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72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5C1D5-3944-394F-9494-7A37F387DA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16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5C1D5-3944-394F-9494-7A37F387DA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07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38018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84308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42530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05174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66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881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14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0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805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6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31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33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35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37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31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12" b="1" i="0">
                <a:solidFill>
                  <a:schemeClr val="tx1"/>
                </a:solidFill>
                <a:latin typeface="Helvetica"/>
                <a:cs typeface="Helvetic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830961" y="1261090"/>
            <a:ext cx="4056311" cy="3894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31" b="0" i="0">
                <a:solidFill>
                  <a:schemeClr val="tx1"/>
                </a:solidFill>
                <a:latin typeface="Gill Sans"/>
                <a:cs typeface="Gill San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2423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xfrm>
            <a:off x="892970" y="1151930"/>
            <a:ext cx="7358063" cy="2321719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5906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92970" y="3536156"/>
            <a:ext cx="7358063" cy="79474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spcBef>
                <a:spcPts val="0"/>
              </a:spcBef>
              <a:buSzTx/>
              <a:buNone/>
              <a:defRPr sz="2531">
                <a:latin typeface="Gill Sans"/>
                <a:ea typeface="Gill Sans"/>
                <a:cs typeface="Gill Sans"/>
                <a:sym typeface="Gill Sans"/>
              </a:defRPr>
            </a:lvl1pPr>
            <a:lvl2pPr marL="0" indent="0" algn="ctr">
              <a:spcBef>
                <a:spcPts val="0"/>
              </a:spcBef>
              <a:buSzTx/>
              <a:buNone/>
              <a:defRPr sz="2531">
                <a:latin typeface="Gill Sans"/>
                <a:ea typeface="Gill Sans"/>
                <a:cs typeface="Gill Sans"/>
                <a:sym typeface="Gill Sans"/>
              </a:defRPr>
            </a:lvl2pPr>
            <a:lvl3pPr marL="0" indent="0" algn="ctr">
              <a:spcBef>
                <a:spcPts val="0"/>
              </a:spcBef>
              <a:buSzTx/>
              <a:buNone/>
              <a:defRPr sz="2531">
                <a:latin typeface="Gill Sans"/>
                <a:ea typeface="Gill Sans"/>
                <a:cs typeface="Gill Sans"/>
                <a:sym typeface="Gill Sans"/>
              </a:defRPr>
            </a:lvl3pPr>
            <a:lvl4pPr marL="0" indent="0" algn="ctr">
              <a:spcBef>
                <a:spcPts val="0"/>
              </a:spcBef>
              <a:buSzTx/>
              <a:buNone/>
              <a:defRPr sz="2531">
                <a:latin typeface="Gill Sans"/>
                <a:ea typeface="Gill Sans"/>
                <a:cs typeface="Gill Sans"/>
                <a:sym typeface="Gill Sans"/>
              </a:defRPr>
            </a:lvl4pPr>
            <a:lvl5pPr marL="0" indent="0" algn="ctr">
              <a:spcBef>
                <a:spcPts val="0"/>
              </a:spcBef>
              <a:buSzTx/>
              <a:buNone/>
              <a:defRPr sz="253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46984" y="6509743"/>
            <a:ext cx="241102" cy="194765"/>
          </a:xfrm>
          <a:prstGeom prst="rect">
            <a:avLst/>
          </a:prstGeom>
        </p:spPr>
        <p:txBody>
          <a:bodyPr/>
          <a:lstStyle>
            <a:lvl1pPr>
              <a:defRPr sz="1266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95573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65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iff"/><Relationship Id="rId13" Type="http://schemas.openxmlformats.org/officeDocument/2006/relationships/image" Target="../media/image12.tiff"/><Relationship Id="rId18" Type="http://schemas.openxmlformats.org/officeDocument/2006/relationships/image" Target="../media/image17.tiff"/><Relationship Id="rId3" Type="http://schemas.openxmlformats.org/officeDocument/2006/relationships/image" Target="../media/image2.emf"/><Relationship Id="rId7" Type="http://schemas.openxmlformats.org/officeDocument/2006/relationships/image" Target="../media/image6.tiff"/><Relationship Id="rId12" Type="http://schemas.openxmlformats.org/officeDocument/2006/relationships/image" Target="../media/image11.tiff"/><Relationship Id="rId17" Type="http://schemas.openxmlformats.org/officeDocument/2006/relationships/image" Target="../media/image16.tif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tiff"/><Relationship Id="rId20" Type="http://schemas.openxmlformats.org/officeDocument/2006/relationships/image" Target="../media/image19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iff"/><Relationship Id="rId11" Type="http://schemas.openxmlformats.org/officeDocument/2006/relationships/image" Target="../media/image10.tiff"/><Relationship Id="rId5" Type="http://schemas.openxmlformats.org/officeDocument/2006/relationships/image" Target="../media/image4.tiff"/><Relationship Id="rId15" Type="http://schemas.openxmlformats.org/officeDocument/2006/relationships/image" Target="../media/image14.tiff"/><Relationship Id="rId10" Type="http://schemas.openxmlformats.org/officeDocument/2006/relationships/image" Target="../media/image9.tiff"/><Relationship Id="rId19" Type="http://schemas.openxmlformats.org/officeDocument/2006/relationships/image" Target="../media/image18.tiff"/><Relationship Id="rId4" Type="http://schemas.openxmlformats.org/officeDocument/2006/relationships/image" Target="../media/image3.tiff"/><Relationship Id="rId9" Type="http://schemas.openxmlformats.org/officeDocument/2006/relationships/image" Target="../media/image8.png"/><Relationship Id="rId14" Type="http://schemas.openxmlformats.org/officeDocument/2006/relationships/image" Target="../media/image13.tif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tiff"/><Relationship Id="rId3" Type="http://schemas.openxmlformats.org/officeDocument/2006/relationships/image" Target="../media/image20.tiff"/><Relationship Id="rId7" Type="http://schemas.openxmlformats.org/officeDocument/2006/relationships/image" Target="../media/image24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tif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g"/><Relationship Id="rId13" Type="http://schemas.openxmlformats.org/officeDocument/2006/relationships/image" Target="../media/image36.gif"/><Relationship Id="rId3" Type="http://schemas.openxmlformats.org/officeDocument/2006/relationships/image" Target="../media/image26.png"/><Relationship Id="rId7" Type="http://schemas.openxmlformats.org/officeDocument/2006/relationships/image" Target="../media/image30.jpg"/><Relationship Id="rId12" Type="http://schemas.openxmlformats.org/officeDocument/2006/relationships/image" Target="../media/image3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jpg"/><Relationship Id="rId5" Type="http://schemas.openxmlformats.org/officeDocument/2006/relationships/image" Target="../media/image28.jpg"/><Relationship Id="rId10" Type="http://schemas.openxmlformats.org/officeDocument/2006/relationships/image" Target="../media/image33.jpg"/><Relationship Id="rId4" Type="http://schemas.openxmlformats.org/officeDocument/2006/relationships/image" Target="../media/image27.jpg"/><Relationship Id="rId9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farm8.static.flickr.com/7446/9252634315_0ecf0ba853_m.jpg" TargetMode="External"/><Relationship Id="rId4" Type="http://schemas.openxmlformats.org/officeDocument/2006/relationships/image" Target="../media/image3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arm8.static.flickr.com/7446/9252634315_0ecf0ba853_m.jpg" TargetMode="External"/><Relationship Id="rId5" Type="http://schemas.openxmlformats.org/officeDocument/2006/relationships/image" Target="../media/image37.jpg"/><Relationship Id="rId4" Type="http://schemas.openxmlformats.org/officeDocument/2006/relationships/image" Target="../media/image3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arm8.static.flickr.com/7446/9252634315_0ecf0ba853_m.jpg" TargetMode="External"/><Relationship Id="rId5" Type="http://schemas.openxmlformats.org/officeDocument/2006/relationships/image" Target="../media/image37.jp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jpg"/><Relationship Id="rId4" Type="http://schemas.openxmlformats.org/officeDocument/2006/relationships/image" Target="../media/image56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jpg"/><Relationship Id="rId5" Type="http://schemas.openxmlformats.org/officeDocument/2006/relationships/image" Target="../media/image61.jpg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s.stackexchange.com/questions/181035/how-to-derive-the-likelihood-function-for-binomial-distribution-for-parameter-es" TargetMode="Externa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jp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jp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jpg"/><Relationship Id="rId4" Type="http://schemas.openxmlformats.org/officeDocument/2006/relationships/hyperlink" Target="http://solcap.msu.edu/img/germplasm2.jpg" TargetMode="Externa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4953073" y="3042931"/>
            <a:ext cx="3989365" cy="2064773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Nicholas J. Matzke</a:t>
            </a:r>
            <a:br>
              <a:rPr lang="en-US" sz="2400" dirty="0"/>
            </a:br>
            <a:r>
              <a:rPr lang="en-US" sz="2400" dirty="0"/>
              <a:t>Senior Lecturer,</a:t>
            </a:r>
            <a:br>
              <a:rPr lang="en-US" sz="2400" dirty="0"/>
            </a:br>
            <a:r>
              <a:rPr lang="en-US" sz="2400" dirty="0"/>
              <a:t>Rutherford Discovery Fellow</a:t>
            </a:r>
            <a:br>
              <a:rPr lang="en-US" sz="2400" dirty="0"/>
            </a:br>
            <a:r>
              <a:rPr lang="en-US" sz="2400" dirty="0"/>
              <a:t>School of Biological Sciences</a:t>
            </a:r>
            <a:br>
              <a:rPr lang="en-US" sz="2400" dirty="0"/>
            </a:br>
            <a:r>
              <a:rPr lang="en-US" sz="2400" dirty="0"/>
              <a:t>University of Auckland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47"/>
            <a:ext cx="9144000" cy="1480301"/>
          </a:xfrm>
          <a:prstGeom prst="rect">
            <a:avLst/>
          </a:prstGeom>
          <a:solidFill>
            <a:srgbClr val="000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Model-based statistical inference in evolutionary biogeography</a:t>
            </a:r>
          </a:p>
          <a:p>
            <a:pPr algn="ctr"/>
            <a:r>
              <a:rPr lang="en-US" sz="2800" i="1" dirty="0"/>
              <a:t>Transmitting Science workshop, Oct. </a:t>
            </a:r>
            <a:r>
              <a:rPr lang="en-US" sz="2800" i="1"/>
              <a:t>12, 2026</a:t>
            </a:r>
            <a:endParaRPr lang="en-US" sz="2800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1687B4-0771-CE4C-8157-ECD111F87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72" y="2253888"/>
            <a:ext cx="4254091" cy="319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290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920231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Cambria"/>
              </a:rPr>
              <a:t>Historical biogeography with new models</a:t>
            </a:r>
            <a:endParaRPr lang="en-US" sz="32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83A5906-0FF5-1E45-BEE9-90A801AB1D97}"/>
              </a:ext>
            </a:extLst>
          </p:cNvPr>
          <p:cNvGrpSpPr/>
          <p:nvPr/>
        </p:nvGrpSpPr>
        <p:grpSpPr>
          <a:xfrm>
            <a:off x="116726" y="1311596"/>
            <a:ext cx="4161527" cy="2589905"/>
            <a:chOff x="147427" y="1042643"/>
            <a:chExt cx="4161527" cy="2589905"/>
          </a:xfrm>
        </p:grpSpPr>
        <p:sp>
          <p:nvSpPr>
            <p:cNvPr id="115" name="Rounded Rectangle 114">
              <a:extLst>
                <a:ext uri="{FF2B5EF4-FFF2-40B4-BE49-F238E27FC236}">
                  <a16:creationId xmlns:a16="http://schemas.microsoft.com/office/drawing/2014/main" id="{287A30D8-2F90-AE49-93C1-4A68F111B867}"/>
                </a:ext>
              </a:extLst>
            </p:cNvPr>
            <p:cNvSpPr/>
            <p:nvPr/>
          </p:nvSpPr>
          <p:spPr>
            <a:xfrm>
              <a:off x="147427" y="1042643"/>
              <a:ext cx="4161527" cy="2589905"/>
            </a:xfrm>
            <a:prstGeom prst="roundRect">
              <a:avLst>
                <a:gd name="adj" fmla="val 4045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7D77C5A1-E5B4-A34D-9ACB-136B5F7D2535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0234" y="1478071"/>
              <a:ext cx="2617992" cy="2092196"/>
            </a:xfrm>
            <a:prstGeom prst="rect">
              <a:avLst/>
            </a:prstGeom>
          </p:spPr>
        </p:pic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B23CCD05-9404-9842-B294-E5047B4157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48060" b="24012"/>
            <a:stretch/>
          </p:blipFill>
          <p:spPr>
            <a:xfrm>
              <a:off x="185005" y="1247225"/>
              <a:ext cx="4069247" cy="230845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FA6C608A-EBC0-F349-AB85-309D8DF143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9189" t="85015" r="29553" b="3114"/>
            <a:stretch/>
          </p:blipFill>
          <p:spPr>
            <a:xfrm>
              <a:off x="250817" y="1092410"/>
              <a:ext cx="2113851" cy="123537"/>
            </a:xfrm>
            <a:prstGeom prst="rect">
              <a:avLst/>
            </a:prstGeom>
          </p:spPr>
        </p:pic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09B8DE41-7E98-8448-B885-0C3836268592}"/>
                </a:ext>
              </a:extLst>
            </p:cNvPr>
            <p:cNvSpPr/>
            <p:nvPr/>
          </p:nvSpPr>
          <p:spPr>
            <a:xfrm>
              <a:off x="299395" y="1869949"/>
              <a:ext cx="1516879" cy="81688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accent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2020: Fleshy cones have 2x dispersal rate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450829F-B6D2-C045-8650-5A8395B56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7697" y="2863446"/>
              <a:ext cx="716308" cy="725610"/>
            </a:xfrm>
            <a:prstGeom prst="rect">
              <a:avLst/>
            </a:prstGeom>
          </p:spPr>
        </p:pic>
      </p:grpSp>
      <p:grpSp>
        <p:nvGrpSpPr>
          <p:cNvPr id="3" name="Group 2"/>
          <p:cNvGrpSpPr/>
          <p:nvPr/>
        </p:nvGrpSpPr>
        <p:grpSpPr>
          <a:xfrm>
            <a:off x="116726" y="4286287"/>
            <a:ext cx="3228457" cy="1969455"/>
            <a:chOff x="185005" y="3932580"/>
            <a:chExt cx="3228457" cy="196945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44FCE0F-5B99-C341-968F-C02FD28389D3}"/>
                </a:ext>
              </a:extLst>
            </p:cNvPr>
            <p:cNvGrpSpPr/>
            <p:nvPr/>
          </p:nvGrpSpPr>
          <p:grpSpPr>
            <a:xfrm>
              <a:off x="187395" y="4261676"/>
              <a:ext cx="3213541" cy="1640359"/>
              <a:chOff x="187395" y="4261676"/>
              <a:chExt cx="3213541" cy="1640359"/>
            </a:xfrm>
          </p:grpSpPr>
          <p:sp>
            <p:nvSpPr>
              <p:cNvPr id="117" name="Rounded Rectangle 116">
                <a:extLst>
                  <a:ext uri="{FF2B5EF4-FFF2-40B4-BE49-F238E27FC236}">
                    <a16:creationId xmlns:a16="http://schemas.microsoft.com/office/drawing/2014/main" id="{68034730-B8F4-A14A-80CF-D94D7166BAB5}"/>
                  </a:ext>
                </a:extLst>
              </p:cNvPr>
              <p:cNvSpPr/>
              <p:nvPr/>
            </p:nvSpPr>
            <p:spPr>
              <a:xfrm>
                <a:off x="187395" y="4261676"/>
                <a:ext cx="3213541" cy="1640359"/>
              </a:xfrm>
              <a:prstGeom prst="roundRect">
                <a:avLst>
                  <a:gd name="adj" fmla="val 4045"/>
                </a:avLst>
              </a:prstGeom>
              <a:solidFill>
                <a:schemeClr val="bg1"/>
              </a:solidFill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4B09365B-4FE2-0547-9489-B02E6D1F21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b="76816"/>
              <a:stretch/>
            </p:blipFill>
            <p:spPr>
              <a:xfrm>
                <a:off x="212447" y="4321333"/>
                <a:ext cx="3063228" cy="18632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815B9C39-F972-7547-9F5B-5701173EDE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4627" t="23494" r="5318" b="44074"/>
              <a:stretch/>
            </p:blipFill>
            <p:spPr>
              <a:xfrm>
                <a:off x="223051" y="4785795"/>
                <a:ext cx="3155964" cy="1081681"/>
              </a:xfrm>
              <a:prstGeom prst="rect">
                <a:avLst/>
              </a:prstGeom>
            </p:spPr>
          </p:pic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1187DEE6-FB4B-1D4B-B8BC-F4AFF936558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t="37110" r="6262" b="29852"/>
              <a:stretch/>
            </p:blipFill>
            <p:spPr>
              <a:xfrm>
                <a:off x="212447" y="4496116"/>
                <a:ext cx="3132736" cy="289679"/>
              </a:xfrm>
              <a:prstGeom prst="rect">
                <a:avLst/>
              </a:prstGeom>
            </p:spPr>
          </p:pic>
          <p:pic>
            <p:nvPicPr>
              <p:cNvPr id="119" name="Picture 118">
                <a:extLst>
                  <a:ext uri="{FF2B5EF4-FFF2-40B4-BE49-F238E27FC236}">
                    <a16:creationId xmlns:a16="http://schemas.microsoft.com/office/drawing/2014/main" id="{6F2DE908-9352-8840-BAAD-E18B800904A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-1" t="82620" r="44757" b="102"/>
              <a:stretch/>
            </p:blipFill>
            <p:spPr>
              <a:xfrm>
                <a:off x="1532773" y="4640955"/>
                <a:ext cx="1846242" cy="151497"/>
              </a:xfrm>
              <a:prstGeom prst="rect">
                <a:avLst/>
              </a:prstGeom>
            </p:spPr>
          </p:pic>
          <p:pic>
            <p:nvPicPr>
              <p:cNvPr id="120" name="Picture 119">
                <a:extLst>
                  <a:ext uri="{FF2B5EF4-FFF2-40B4-BE49-F238E27FC236}">
                    <a16:creationId xmlns:a16="http://schemas.microsoft.com/office/drawing/2014/main" id="{09E94812-3F84-2946-A483-9556D5E9E41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62360" t="1684" r="10856" b="85720"/>
              <a:stretch/>
            </p:blipFill>
            <p:spPr>
              <a:xfrm>
                <a:off x="1298441" y="4280465"/>
                <a:ext cx="1669540" cy="205983"/>
              </a:xfrm>
              <a:prstGeom prst="rect">
                <a:avLst/>
              </a:prstGeom>
            </p:spPr>
          </p:pic>
        </p:grpSp>
        <p:sp>
          <p:nvSpPr>
            <p:cNvPr id="128" name="Rounded Rectangle 127">
              <a:extLst>
                <a:ext uri="{FF2B5EF4-FFF2-40B4-BE49-F238E27FC236}">
                  <a16:creationId xmlns:a16="http://schemas.microsoft.com/office/drawing/2014/main" id="{20D024DB-F88C-8D48-BAA3-99DC0A14EA58}"/>
                </a:ext>
              </a:extLst>
            </p:cNvPr>
            <p:cNvSpPr/>
            <p:nvPr/>
          </p:nvSpPr>
          <p:spPr>
            <a:xfrm>
              <a:off x="185005" y="3932580"/>
              <a:ext cx="3228457" cy="276472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accent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2019: Dispersal syndrome in crocs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350461" y="953619"/>
            <a:ext cx="2764802" cy="2458375"/>
            <a:chOff x="4350461" y="953619"/>
            <a:chExt cx="2764802" cy="2458375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F49DFA2-2889-B44F-A552-6EA6B98B520D}"/>
                </a:ext>
              </a:extLst>
            </p:cNvPr>
            <p:cNvGrpSpPr/>
            <p:nvPr/>
          </p:nvGrpSpPr>
          <p:grpSpPr>
            <a:xfrm>
              <a:off x="4686750" y="1513396"/>
              <a:ext cx="1954865" cy="1898598"/>
              <a:chOff x="6829880" y="1478070"/>
              <a:chExt cx="1954865" cy="1898598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BE4EFA9A-CF9E-4B4C-8E80-BC2EDF2CDD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55717" y="1924182"/>
                <a:ext cx="1865613" cy="146103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DF14FAC-F0D9-3A41-8951-5B320E914C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55717" y="2060635"/>
                <a:ext cx="1910239" cy="1153090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8C63740A-A377-FC40-8A6E-7AB48B8071F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/>
              <a:srcRect l="71206" t="54784" b="16908"/>
              <a:stretch/>
            </p:blipFill>
            <p:spPr>
              <a:xfrm>
                <a:off x="7685576" y="3215076"/>
                <a:ext cx="491206" cy="161592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343982C0-21A2-724B-BF6E-2379EF1C32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47203" y="1521696"/>
                <a:ext cx="1108273" cy="401048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C2A53854-F313-0D41-9ECB-FDD8FF7B26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836143" y="1658022"/>
                <a:ext cx="1722329" cy="264722"/>
              </a:xfrm>
              <a:prstGeom prst="rect">
                <a:avLst/>
              </a:prstGeom>
            </p:spPr>
          </p:pic>
          <p:pic>
            <p:nvPicPr>
              <p:cNvPr id="130" name="Picture 129">
                <a:extLst>
                  <a:ext uri="{FF2B5EF4-FFF2-40B4-BE49-F238E27FC236}">
                    <a16:creationId xmlns:a16="http://schemas.microsoft.com/office/drawing/2014/main" id="{CF146848-D207-3C4E-8D5F-C6370A61A04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/>
              <a:srcRect l="3175" t="80958" r="60234" b="-1594"/>
              <a:stretch/>
            </p:blipFill>
            <p:spPr>
              <a:xfrm>
                <a:off x="8123129" y="3212200"/>
                <a:ext cx="624226" cy="117804"/>
              </a:xfrm>
              <a:prstGeom prst="rect">
                <a:avLst/>
              </a:prstGeom>
            </p:spPr>
          </p:pic>
          <p:sp>
            <p:nvSpPr>
              <p:cNvPr id="131" name="Rounded Rectangle 130">
                <a:extLst>
                  <a:ext uri="{FF2B5EF4-FFF2-40B4-BE49-F238E27FC236}">
                    <a16:creationId xmlns:a16="http://schemas.microsoft.com/office/drawing/2014/main" id="{1997D509-6A9A-DC4A-9839-C7F085456D43}"/>
                  </a:ext>
                </a:extLst>
              </p:cNvPr>
              <p:cNvSpPr/>
              <p:nvPr/>
            </p:nvSpPr>
            <p:spPr>
              <a:xfrm>
                <a:off x="6829880" y="1478070"/>
                <a:ext cx="1954865" cy="1851934"/>
              </a:xfrm>
              <a:prstGeom prst="roundRect">
                <a:avLst>
                  <a:gd name="adj" fmla="val 4045"/>
                </a:avLst>
              </a:prstGeom>
              <a:noFill/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2" name="Rounded Rectangle 131">
              <a:extLst>
                <a:ext uri="{FF2B5EF4-FFF2-40B4-BE49-F238E27FC236}">
                  <a16:creationId xmlns:a16="http://schemas.microsoft.com/office/drawing/2014/main" id="{CDEA6E9A-ADC4-204C-B37E-28CD0FBCFB3F}"/>
                </a:ext>
              </a:extLst>
            </p:cNvPr>
            <p:cNvSpPr/>
            <p:nvPr/>
          </p:nvSpPr>
          <p:spPr>
            <a:xfrm>
              <a:off x="4350461" y="953619"/>
              <a:ext cx="2764802" cy="52165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accent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2019: </a:t>
              </a:r>
              <a:r>
                <a:rPr lang="en-US" sz="1600" i="1" dirty="0">
                  <a:solidFill>
                    <a:schemeClr val="tx1"/>
                  </a:solidFill>
                </a:rPr>
                <a:t>Cryptoblepharus</a:t>
              </a:r>
              <a:r>
                <a:rPr lang="en-US" sz="1600" dirty="0">
                  <a:solidFill>
                    <a:schemeClr val="tx1"/>
                  </a:solidFill>
                </a:rPr>
                <a:t> lizards, littoral ~13x more dispersal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422005" y="3699896"/>
            <a:ext cx="5691859" cy="3121991"/>
            <a:chOff x="440795" y="3416659"/>
            <a:chExt cx="5691859" cy="312199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DDB590D-D600-EA4E-A9EF-F36B7802355A}"/>
                </a:ext>
              </a:extLst>
            </p:cNvPr>
            <p:cNvGrpSpPr/>
            <p:nvPr/>
          </p:nvGrpSpPr>
          <p:grpSpPr>
            <a:xfrm>
              <a:off x="3602762" y="3416659"/>
              <a:ext cx="2529892" cy="3121991"/>
              <a:chOff x="3602762" y="3416659"/>
              <a:chExt cx="2529892" cy="3121991"/>
            </a:xfrm>
          </p:grpSpPr>
          <p:sp>
            <p:nvSpPr>
              <p:cNvPr id="121" name="Rounded Rectangle 120">
                <a:extLst>
                  <a:ext uri="{FF2B5EF4-FFF2-40B4-BE49-F238E27FC236}">
                    <a16:creationId xmlns:a16="http://schemas.microsoft.com/office/drawing/2014/main" id="{5301A62A-C9EE-3947-8CA3-3091572E0E8D}"/>
                  </a:ext>
                </a:extLst>
              </p:cNvPr>
              <p:cNvSpPr/>
              <p:nvPr/>
            </p:nvSpPr>
            <p:spPr>
              <a:xfrm>
                <a:off x="3602762" y="3416659"/>
                <a:ext cx="2529892" cy="3121991"/>
              </a:xfrm>
              <a:prstGeom prst="roundRect">
                <a:avLst>
                  <a:gd name="adj" fmla="val 4045"/>
                </a:avLst>
              </a:prstGeom>
              <a:solidFill>
                <a:schemeClr val="bg1"/>
              </a:solidFill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22" name="Picture 121">
                <a:extLst>
                  <a:ext uri="{FF2B5EF4-FFF2-40B4-BE49-F238E27FC236}">
                    <a16:creationId xmlns:a16="http://schemas.microsoft.com/office/drawing/2014/main" id="{D335A465-9A79-4849-AE75-ADB6D95A2B5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r="37809" b="79659"/>
              <a:stretch/>
            </p:blipFill>
            <p:spPr>
              <a:xfrm>
                <a:off x="3656978" y="3454782"/>
                <a:ext cx="1905067" cy="163482"/>
              </a:xfrm>
              <a:prstGeom prst="rect">
                <a:avLst/>
              </a:prstGeom>
            </p:spPr>
          </p:pic>
          <p:pic>
            <p:nvPicPr>
              <p:cNvPr id="126" name="Picture 125">
                <a:extLst>
                  <a:ext uri="{FF2B5EF4-FFF2-40B4-BE49-F238E27FC236}">
                    <a16:creationId xmlns:a16="http://schemas.microsoft.com/office/drawing/2014/main" id="{BAC7E05D-33E4-A847-9891-F288A453F8E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62360" t="1684" r="10856" b="85720"/>
              <a:stretch/>
            </p:blipFill>
            <p:spPr>
              <a:xfrm>
                <a:off x="4334778" y="3426396"/>
                <a:ext cx="1669540" cy="205983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F1B1050-708C-2946-A743-EE752026F3D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/>
              <a:srcRect t="822" b="21635"/>
              <a:stretch/>
            </p:blipFill>
            <p:spPr>
              <a:xfrm>
                <a:off x="3804259" y="4075806"/>
                <a:ext cx="2126898" cy="207347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0F9F12B9-D758-0849-B3E0-BEFA59E60B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638189" y="3637746"/>
                <a:ext cx="2475675" cy="331141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34EFD7DB-9EE7-3949-9F66-C213F5DB78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09336" y="3864403"/>
                <a:ext cx="1503123" cy="201735"/>
              </a:xfrm>
              <a:prstGeom prst="rect">
                <a:avLst/>
              </a:prstGeom>
            </p:spPr>
          </p:pic>
          <p:pic>
            <p:nvPicPr>
              <p:cNvPr id="127" name="Picture 126">
                <a:extLst>
                  <a:ext uri="{FF2B5EF4-FFF2-40B4-BE49-F238E27FC236}">
                    <a16:creationId xmlns:a16="http://schemas.microsoft.com/office/drawing/2014/main" id="{B710C782-F75B-B64D-8B19-06426E35196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/>
              <a:srcRect t="88006"/>
              <a:stretch/>
            </p:blipFill>
            <p:spPr>
              <a:xfrm>
                <a:off x="3831366" y="6145917"/>
                <a:ext cx="2126898" cy="320712"/>
              </a:xfrm>
              <a:prstGeom prst="rect">
                <a:avLst/>
              </a:prstGeom>
            </p:spPr>
          </p:pic>
        </p:grpSp>
        <p:sp>
          <p:nvSpPr>
            <p:cNvPr id="129" name="Rounded Rectangle 128">
              <a:extLst>
                <a:ext uri="{FF2B5EF4-FFF2-40B4-BE49-F238E27FC236}">
                  <a16:creationId xmlns:a16="http://schemas.microsoft.com/office/drawing/2014/main" id="{3A1CE6B3-A8C3-F247-83CB-1BE341EC5A68}"/>
                </a:ext>
              </a:extLst>
            </p:cNvPr>
            <p:cNvSpPr/>
            <p:nvPr/>
          </p:nvSpPr>
          <p:spPr>
            <a:xfrm>
              <a:off x="440795" y="6163075"/>
              <a:ext cx="3325807" cy="276472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accent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2019: Red fruits ~20x more dispersal</a:t>
              </a:r>
            </a:p>
          </p:txBody>
        </p:sp>
      </p:grpSp>
      <p:sp>
        <p:nvSpPr>
          <p:cNvPr id="55" name="Title 6"/>
          <p:cNvSpPr>
            <a:spLocks noGrp="1"/>
          </p:cNvSpPr>
          <p:nvPr>
            <p:ph type="ctrTitle"/>
          </p:nvPr>
        </p:nvSpPr>
        <p:spPr>
          <a:xfrm>
            <a:off x="-105546" y="728149"/>
            <a:ext cx="2433276" cy="673775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Example papers: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65F0213-F616-A640-9C70-13B7F32DC415}"/>
              </a:ext>
            </a:extLst>
          </p:cNvPr>
          <p:cNvGrpSpPr/>
          <p:nvPr/>
        </p:nvGrpSpPr>
        <p:grpSpPr>
          <a:xfrm>
            <a:off x="6507150" y="957949"/>
            <a:ext cx="2593465" cy="5871786"/>
            <a:chOff x="6507150" y="957949"/>
            <a:chExt cx="2593465" cy="5871786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B65BF538-B34A-A34A-9DC4-782D05CA5D1F}"/>
                </a:ext>
              </a:extLst>
            </p:cNvPr>
            <p:cNvSpPr/>
            <p:nvPr/>
          </p:nvSpPr>
          <p:spPr>
            <a:xfrm>
              <a:off x="6507150" y="3939624"/>
              <a:ext cx="2529892" cy="2890111"/>
            </a:xfrm>
            <a:prstGeom prst="roundRect">
              <a:avLst>
                <a:gd name="adj" fmla="val 4045"/>
              </a:avLst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B30076C-4D27-C845-92D2-0525AD8CF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568572" y="4032841"/>
              <a:ext cx="2368419" cy="161462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BB8414F-BAC8-8A49-BFC0-EBD2D0605C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/>
            <a:srcRect r="51657"/>
            <a:stretch/>
          </p:blipFill>
          <p:spPr>
            <a:xfrm>
              <a:off x="7732025" y="5055821"/>
              <a:ext cx="1251379" cy="1748303"/>
            </a:xfrm>
            <a:prstGeom prst="rect">
              <a:avLst/>
            </a:prstGeom>
          </p:spPr>
        </p:pic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E1E65C7A-E1AE-724E-A6DD-705E66BAFED5}"/>
                </a:ext>
              </a:extLst>
            </p:cNvPr>
            <p:cNvSpPr/>
            <p:nvPr/>
          </p:nvSpPr>
          <p:spPr>
            <a:xfrm>
              <a:off x="7206828" y="957949"/>
              <a:ext cx="1893787" cy="105390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accent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2021: Polyploidy in NZ plants; flightlessness in Pacific rails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EB889015-9A3B-CC49-83B3-E706582DFAE5}"/>
                </a:ext>
              </a:extLst>
            </p:cNvPr>
            <p:cNvSpPr/>
            <p:nvPr/>
          </p:nvSpPr>
          <p:spPr>
            <a:xfrm>
              <a:off x="6753303" y="2049567"/>
              <a:ext cx="2283739" cy="1851934"/>
            </a:xfrm>
            <a:prstGeom prst="roundRect">
              <a:avLst>
                <a:gd name="adj" fmla="val 4045"/>
              </a:avLst>
            </a:prstGeom>
            <a:noFill/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8767ADD-A809-1D40-A018-EF70143D6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786696" y="2119289"/>
              <a:ext cx="2186877" cy="6928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C50BFA6-587C-4647-9502-C5537CDC4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797464" y="2825527"/>
              <a:ext cx="986251" cy="1032482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31A2FE8-92EF-524A-8CF5-7C75D867F7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/>
            <a:srcRect l="-6108" t="47831" r="12084" b="-108"/>
            <a:stretch/>
          </p:blipFill>
          <p:spPr>
            <a:xfrm>
              <a:off x="7699810" y="2659801"/>
              <a:ext cx="1237181" cy="11818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840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920231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Cambria"/>
              </a:rPr>
              <a:t>Matzke key product: Biogeographical software</a:t>
            </a:r>
            <a:endParaRPr lang="en-US" sz="32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5574FE4-365F-AE48-8E57-A91A01945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26" y="1718248"/>
            <a:ext cx="2135004" cy="9567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B297741B-1193-B74F-8CBF-FD9DAAFD868B}"/>
              </a:ext>
            </a:extLst>
          </p:cNvPr>
          <p:cNvSpPr/>
          <p:nvPr/>
        </p:nvSpPr>
        <p:spPr>
          <a:xfrm>
            <a:off x="806720" y="1082159"/>
            <a:ext cx="2040390" cy="31454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2019: 450+ usages</a:t>
            </a:r>
          </a:p>
        </p:txBody>
      </p:sp>
      <p:sp>
        <p:nvSpPr>
          <p:cNvPr id="158" name="Right Arrow 157">
            <a:extLst>
              <a:ext uri="{FF2B5EF4-FFF2-40B4-BE49-F238E27FC236}">
                <a16:creationId xmlns:a16="http://schemas.microsoft.com/office/drawing/2014/main" id="{B66F3642-65C6-E24F-88D5-DE70DDA027A6}"/>
              </a:ext>
            </a:extLst>
          </p:cNvPr>
          <p:cNvSpPr/>
          <p:nvPr/>
        </p:nvSpPr>
        <p:spPr>
          <a:xfrm rot="6538478">
            <a:off x="2312917" y="1463264"/>
            <a:ext cx="281143" cy="295774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806719" y="2817291"/>
            <a:ext cx="2332096" cy="2537621"/>
            <a:chOff x="6795537" y="2733394"/>
            <a:chExt cx="2332096" cy="253762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9C569A6-0242-304E-8DC0-C57E6A61B063}"/>
                </a:ext>
              </a:extLst>
            </p:cNvPr>
            <p:cNvGrpSpPr/>
            <p:nvPr/>
          </p:nvGrpSpPr>
          <p:grpSpPr>
            <a:xfrm>
              <a:off x="6795537" y="2733394"/>
              <a:ext cx="2332096" cy="2537621"/>
              <a:chOff x="6761016" y="1557021"/>
              <a:chExt cx="2332096" cy="2537621"/>
            </a:xfrm>
          </p:grpSpPr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4C331FFF-D3A0-7B41-A8BF-D025D8E70BB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b="69121"/>
              <a:stretch/>
            </p:blipFill>
            <p:spPr>
              <a:xfrm>
                <a:off x="6864092" y="2132922"/>
                <a:ext cx="2089872" cy="679760"/>
              </a:xfrm>
              <a:prstGeom prst="rect">
                <a:avLst/>
              </a:prstGeom>
            </p:spPr>
          </p:pic>
          <p:pic>
            <p:nvPicPr>
              <p:cNvPr id="133" name="Picture 132">
                <a:extLst>
                  <a:ext uri="{FF2B5EF4-FFF2-40B4-BE49-F238E27FC236}">
                    <a16:creationId xmlns:a16="http://schemas.microsoft.com/office/drawing/2014/main" id="{16E770AB-98EA-4145-B4AD-1E053EAA309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2845" r="52531" b="78035"/>
              <a:stretch/>
            </p:blipFill>
            <p:spPr>
              <a:xfrm>
                <a:off x="6783462" y="1557021"/>
                <a:ext cx="2309650" cy="573052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34" name="Picture 133">
                <a:extLst>
                  <a:ext uri="{FF2B5EF4-FFF2-40B4-BE49-F238E27FC236}">
                    <a16:creationId xmlns:a16="http://schemas.microsoft.com/office/drawing/2014/main" id="{F4AC8344-8079-FB41-B483-A6C43313DFC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3125" t="5225" r="7778" b="-1"/>
              <a:stretch/>
            </p:blipFill>
            <p:spPr>
              <a:xfrm>
                <a:off x="6808514" y="2137342"/>
                <a:ext cx="1066000" cy="275289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36" name="Picture 135">
                <a:extLst>
                  <a:ext uri="{FF2B5EF4-FFF2-40B4-BE49-F238E27FC236}">
                    <a16:creationId xmlns:a16="http://schemas.microsoft.com/office/drawing/2014/main" id="{0A561833-30BF-1340-A246-3DE9BC88F30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40798"/>
              <a:stretch/>
            </p:blipFill>
            <p:spPr>
              <a:xfrm>
                <a:off x="6872733" y="2791408"/>
                <a:ext cx="2089872" cy="1303234"/>
              </a:xfrm>
              <a:prstGeom prst="rect">
                <a:avLst/>
              </a:prstGeom>
            </p:spPr>
          </p:pic>
          <p:sp>
            <p:nvSpPr>
              <p:cNvPr id="135" name="Rounded Rectangle 134">
                <a:extLst>
                  <a:ext uri="{FF2B5EF4-FFF2-40B4-BE49-F238E27FC236}">
                    <a16:creationId xmlns:a16="http://schemas.microsoft.com/office/drawing/2014/main" id="{4C070788-5429-6D4D-82A4-CE8F9FF4B770}"/>
                  </a:ext>
                </a:extLst>
              </p:cNvPr>
              <p:cNvSpPr/>
              <p:nvPr/>
            </p:nvSpPr>
            <p:spPr>
              <a:xfrm>
                <a:off x="6761016" y="1557022"/>
                <a:ext cx="2313307" cy="2537620"/>
              </a:xfrm>
              <a:prstGeom prst="roundRect">
                <a:avLst>
                  <a:gd name="adj" fmla="val 4045"/>
                </a:avLst>
              </a:prstGeom>
              <a:noFill/>
              <a:ln w="12700">
                <a:solidFill>
                  <a:schemeClr val="accent1">
                    <a:lumMod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0A561833-30BF-1340-A246-3DE9BC88F3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1" t="85853" r="82747" b="5970"/>
            <a:stretch/>
          </p:blipFill>
          <p:spPr>
            <a:xfrm>
              <a:off x="7795492" y="4862802"/>
              <a:ext cx="360000" cy="1800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B7737B5-4BAC-BB4A-831A-D17647423842}"/>
              </a:ext>
            </a:extLst>
          </p:cNvPr>
          <p:cNvGrpSpPr/>
          <p:nvPr/>
        </p:nvGrpSpPr>
        <p:grpSpPr>
          <a:xfrm>
            <a:off x="4536130" y="1082159"/>
            <a:ext cx="3213691" cy="3707533"/>
            <a:chOff x="3498608" y="1082158"/>
            <a:chExt cx="3213691" cy="3707533"/>
          </a:xfrm>
        </p:grpSpPr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7984A928-9BB4-2248-902F-B27015E51C12}"/>
                </a:ext>
              </a:extLst>
            </p:cNvPr>
            <p:cNvSpPr/>
            <p:nvPr/>
          </p:nvSpPr>
          <p:spPr>
            <a:xfrm>
              <a:off x="3498608" y="1082158"/>
              <a:ext cx="2040390" cy="31454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2023: ~1800 usages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E923C24-F6A8-6F43-9E3D-55AC98F19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04231" y="1539817"/>
              <a:ext cx="3024052" cy="3249874"/>
            </a:xfrm>
            <a:prstGeom prst="rect">
              <a:avLst/>
            </a:prstGeom>
          </p:spPr>
        </p:pic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260EDB6A-2815-DA40-8D01-B0EEAECBECB7}"/>
                </a:ext>
              </a:extLst>
            </p:cNvPr>
            <p:cNvSpPr/>
            <p:nvPr/>
          </p:nvSpPr>
          <p:spPr>
            <a:xfrm>
              <a:off x="3581715" y="1505977"/>
              <a:ext cx="3130584" cy="3283714"/>
            </a:xfrm>
            <a:prstGeom prst="roundRect">
              <a:avLst>
                <a:gd name="adj" fmla="val 4045"/>
              </a:avLst>
            </a:prstGeom>
            <a:noFill/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B4B195D-361A-E949-AE7F-8013F20FEFE8}"/>
              </a:ext>
            </a:extLst>
          </p:cNvPr>
          <p:cNvGrpSpPr/>
          <p:nvPr/>
        </p:nvGrpSpPr>
        <p:grpSpPr>
          <a:xfrm>
            <a:off x="4809110" y="5060895"/>
            <a:ext cx="3679310" cy="1667894"/>
            <a:chOff x="3771588" y="5060894"/>
            <a:chExt cx="3679310" cy="166789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6391704-17E2-0142-9967-9A71AD6247E4}"/>
                </a:ext>
              </a:extLst>
            </p:cNvPr>
            <p:cNvGrpSpPr/>
            <p:nvPr/>
          </p:nvGrpSpPr>
          <p:grpSpPr>
            <a:xfrm>
              <a:off x="4304731" y="5487675"/>
              <a:ext cx="3146167" cy="1241113"/>
              <a:chOff x="4304731" y="5487675"/>
              <a:chExt cx="3146167" cy="1241113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4304731" y="5487675"/>
                <a:ext cx="3146167" cy="1241113"/>
                <a:chOff x="6205465" y="5405560"/>
                <a:chExt cx="3146167" cy="1241113"/>
              </a:xfrm>
            </p:grpSpPr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E09C7BC9-1CA3-FC40-BBD5-5A822C884DE6}"/>
                    </a:ext>
                  </a:extLst>
                </p:cNvPr>
                <p:cNvSpPr/>
                <p:nvPr/>
              </p:nvSpPr>
              <p:spPr>
                <a:xfrm>
                  <a:off x="8311514" y="5501661"/>
                  <a:ext cx="923787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800" dirty="0">
                      <a:solidFill>
                        <a:srgbClr val="0000FF"/>
                      </a:solidFill>
                    </a:rPr>
                    <a:t>International symposia</a:t>
                  </a:r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FF749448-5409-C24E-80DC-94D6E8D57779}"/>
                    </a:ext>
                  </a:extLst>
                </p:cNvPr>
                <p:cNvSpPr/>
                <p:nvPr/>
              </p:nvSpPr>
              <p:spPr>
                <a:xfrm>
                  <a:off x="8195182" y="5759754"/>
                  <a:ext cx="1156450" cy="21544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72000" indent="-100800">
                    <a:buFont typeface="Arial"/>
                    <a:buChar char="•"/>
                  </a:pPr>
                  <a:r>
                    <a:rPr lang="en-US" sz="800" dirty="0">
                      <a:solidFill>
                        <a:srgbClr val="FF6600"/>
                      </a:solidFill>
                    </a:rPr>
                    <a:t>Non-U.S. talks</a:t>
                  </a:r>
                </a:p>
              </p:txBody>
            </p:sp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B44565F7-C1FF-2944-805D-A2D4D4147124}"/>
                    </a:ext>
                  </a:extLst>
                </p:cNvPr>
                <p:cNvGrpSpPr/>
                <p:nvPr/>
              </p:nvGrpSpPr>
              <p:grpSpPr>
                <a:xfrm>
                  <a:off x="6205465" y="5405560"/>
                  <a:ext cx="2975850" cy="1241113"/>
                  <a:chOff x="6205465" y="5405560"/>
                  <a:chExt cx="2975850" cy="1241113"/>
                </a:xfrm>
              </p:grpSpPr>
              <p:pic>
                <p:nvPicPr>
                  <p:cNvPr id="33" name="Picture 32">
                    <a:extLst>
                      <a:ext uri="{FF2B5EF4-FFF2-40B4-BE49-F238E27FC236}">
                        <a16:creationId xmlns:a16="http://schemas.microsoft.com/office/drawing/2014/main" id="{0237383A-A2E2-864F-A1E5-30813BC19B7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6205465" y="5405560"/>
                    <a:ext cx="2032943" cy="1241113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  <p:sp>
                <p:nvSpPr>
                  <p:cNvPr id="139" name="5-Point Star 138">
                    <a:extLst>
                      <a:ext uri="{FF2B5EF4-FFF2-40B4-BE49-F238E27FC236}">
                        <a16:creationId xmlns:a16="http://schemas.microsoft.com/office/drawing/2014/main" id="{6D6F12FB-4453-D84E-A752-22FA57D34519}"/>
                      </a:ext>
                    </a:extLst>
                  </p:cNvPr>
                  <p:cNvSpPr/>
                  <p:nvPr/>
                </p:nvSpPr>
                <p:spPr>
                  <a:xfrm>
                    <a:off x="8244451" y="5549141"/>
                    <a:ext cx="142266" cy="128942"/>
                  </a:xfrm>
                  <a:prstGeom prst="star5">
                    <a:avLst/>
                  </a:prstGeom>
                  <a:solidFill>
                    <a:srgbClr val="0000FF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1" name="5-Point Star 140">
                    <a:extLst>
                      <a:ext uri="{FF2B5EF4-FFF2-40B4-BE49-F238E27FC236}">
                        <a16:creationId xmlns:a16="http://schemas.microsoft.com/office/drawing/2014/main" id="{306CCD26-1F5B-6744-AE52-DBDA5AB0D239}"/>
                      </a:ext>
                    </a:extLst>
                  </p:cNvPr>
                  <p:cNvSpPr/>
                  <p:nvPr/>
                </p:nvSpPr>
                <p:spPr>
                  <a:xfrm>
                    <a:off x="8233836" y="5788292"/>
                    <a:ext cx="142266" cy="128942"/>
                  </a:xfrm>
                  <a:prstGeom prst="star5">
                    <a:avLst/>
                  </a:prstGeom>
                  <a:solidFill>
                    <a:srgbClr val="FF6600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2" name="Rectangle 141">
                    <a:extLst>
                      <a:ext uri="{FF2B5EF4-FFF2-40B4-BE49-F238E27FC236}">
                        <a16:creationId xmlns:a16="http://schemas.microsoft.com/office/drawing/2014/main" id="{D92A9A2B-1069-FA4F-A3DA-07686E5DD35C}"/>
                      </a:ext>
                    </a:extLst>
                  </p:cNvPr>
                  <p:cNvSpPr/>
                  <p:nvPr/>
                </p:nvSpPr>
                <p:spPr>
                  <a:xfrm>
                    <a:off x="8185530" y="5978650"/>
                    <a:ext cx="995785" cy="58477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800" dirty="0"/>
                      <a:t>* 46 peer-reviewed</a:t>
                    </a:r>
                    <a:br>
                      <a:rPr lang="en-US" sz="800" dirty="0"/>
                    </a:br>
                    <a:r>
                      <a:rPr lang="en-US" sz="800" dirty="0"/>
                      <a:t>    articles</a:t>
                    </a:r>
                  </a:p>
                  <a:p>
                    <a:r>
                      <a:rPr lang="en-US" sz="800" dirty="0"/>
                      <a:t>* AE, </a:t>
                    </a:r>
                    <a:r>
                      <a:rPr lang="en-US" sz="800" i="1" dirty="0"/>
                      <a:t>Systematic</a:t>
                    </a:r>
                    <a:br>
                      <a:rPr lang="en-US" sz="800" i="1" dirty="0"/>
                    </a:br>
                    <a:r>
                      <a:rPr lang="en-US" sz="800" i="1" dirty="0"/>
                      <a:t>             Biology</a:t>
                    </a:r>
                  </a:p>
                </p:txBody>
              </p:sp>
            </p:grpSp>
          </p:grp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AF21ECB-C5FE-7A45-84D1-7463315E5901}"/>
                  </a:ext>
                </a:extLst>
              </p:cNvPr>
              <p:cNvSpPr/>
              <p:nvPr/>
            </p:nvSpPr>
            <p:spPr>
              <a:xfrm>
                <a:off x="4518803" y="5496526"/>
                <a:ext cx="102592" cy="12311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 b="1" dirty="0"/>
                  <a:t>24</a:t>
                </a:r>
              </a:p>
            </p:txBody>
          </p:sp>
        </p:grpSp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D0FA3E70-FBD4-4742-ADB7-EAFBF266A40F}"/>
                </a:ext>
              </a:extLst>
            </p:cNvPr>
            <p:cNvSpPr/>
            <p:nvPr/>
          </p:nvSpPr>
          <p:spPr>
            <a:xfrm>
              <a:off x="3771588" y="5060894"/>
              <a:ext cx="2714395" cy="31454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Biogeography Workshops: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8853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animBg="1"/>
      <p:bldP spid="15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9024" y="209848"/>
            <a:ext cx="8088957" cy="7570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0773" marR="3572" indent="-651844">
              <a:lnSpc>
                <a:spcPct val="105400"/>
              </a:lnSpc>
            </a:pPr>
            <a:r>
              <a:rPr sz="2391" b="1" spc="-123" dirty="0">
                <a:latin typeface="Calibri"/>
                <a:cs typeface="Calibri"/>
              </a:rPr>
              <a:t>T</a:t>
            </a:r>
            <a:r>
              <a:rPr sz="2391" b="1" spc="-53" dirty="0">
                <a:latin typeface="Calibri"/>
                <a:cs typeface="Calibri"/>
              </a:rPr>
              <a:t>r</a:t>
            </a:r>
            <a:r>
              <a:rPr sz="2391" b="1" spc="-11" dirty="0">
                <a:latin typeface="Calibri"/>
                <a:cs typeface="Calibri"/>
              </a:rPr>
              <a:t>ai</a:t>
            </a:r>
            <a:r>
              <a:rPr sz="2391" b="1" spc="-70" dirty="0">
                <a:latin typeface="Calibri"/>
                <a:cs typeface="Calibri"/>
              </a:rPr>
              <a:t>t</a:t>
            </a:r>
            <a:r>
              <a:rPr sz="2391" b="1" spc="-4" dirty="0">
                <a:latin typeface="Calibri"/>
                <a:cs typeface="Calibri"/>
              </a:rPr>
              <a:t>-</a:t>
            </a:r>
            <a:r>
              <a:rPr sz="2391" b="1" spc="-14" dirty="0">
                <a:latin typeface="Calibri"/>
                <a:cs typeface="Calibri"/>
              </a:rPr>
              <a:t>d</a:t>
            </a:r>
            <a:r>
              <a:rPr sz="2391" b="1" dirty="0">
                <a:latin typeface="Calibri"/>
                <a:cs typeface="Calibri"/>
              </a:rPr>
              <a:t>e</a:t>
            </a:r>
            <a:r>
              <a:rPr sz="2391" b="1" spc="-14" dirty="0">
                <a:latin typeface="Calibri"/>
                <a:cs typeface="Calibri"/>
              </a:rPr>
              <a:t>p</a:t>
            </a:r>
            <a:r>
              <a:rPr sz="2391" b="1" dirty="0">
                <a:latin typeface="Calibri"/>
                <a:cs typeface="Calibri"/>
              </a:rPr>
              <a:t>e</a:t>
            </a:r>
            <a:r>
              <a:rPr sz="2391" b="1" spc="-14" dirty="0">
                <a:latin typeface="Calibri"/>
                <a:cs typeface="Calibri"/>
              </a:rPr>
              <a:t>nd</a:t>
            </a:r>
            <a:r>
              <a:rPr sz="2391" b="1" dirty="0">
                <a:latin typeface="Calibri"/>
                <a:cs typeface="Calibri"/>
              </a:rPr>
              <a:t>e</a:t>
            </a:r>
            <a:r>
              <a:rPr sz="2391" b="1" spc="-35" dirty="0">
                <a:latin typeface="Calibri"/>
                <a:cs typeface="Calibri"/>
              </a:rPr>
              <a:t>n</a:t>
            </a:r>
            <a:r>
              <a:rPr sz="2391" b="1" spc="-11" dirty="0">
                <a:latin typeface="Calibri"/>
                <a:cs typeface="Calibri"/>
              </a:rPr>
              <a:t>t</a:t>
            </a:r>
            <a:r>
              <a:rPr sz="2391" b="1" spc="-4" dirty="0">
                <a:latin typeface="Calibri"/>
                <a:cs typeface="Calibri"/>
              </a:rPr>
              <a:t> </a:t>
            </a:r>
            <a:r>
              <a:rPr sz="2391" b="1" spc="-11" dirty="0">
                <a:latin typeface="Calibri"/>
                <a:cs typeface="Calibri"/>
              </a:rPr>
              <a:t>di</a:t>
            </a:r>
            <a:r>
              <a:rPr sz="2391" b="1" spc="-14" dirty="0">
                <a:latin typeface="Calibri"/>
                <a:cs typeface="Calibri"/>
              </a:rPr>
              <a:t>sp</a:t>
            </a:r>
            <a:r>
              <a:rPr sz="2391" b="1" dirty="0">
                <a:latin typeface="Calibri"/>
                <a:cs typeface="Calibri"/>
              </a:rPr>
              <a:t>e</a:t>
            </a:r>
            <a:r>
              <a:rPr sz="2391" b="1" spc="-28" dirty="0">
                <a:latin typeface="Calibri"/>
                <a:cs typeface="Calibri"/>
              </a:rPr>
              <a:t>r</a:t>
            </a:r>
            <a:r>
              <a:rPr sz="2391" b="1" spc="-14" dirty="0">
                <a:latin typeface="Calibri"/>
                <a:cs typeface="Calibri"/>
              </a:rPr>
              <a:t>s</a:t>
            </a:r>
            <a:r>
              <a:rPr sz="2391" b="1" spc="-11" dirty="0">
                <a:latin typeface="Calibri"/>
                <a:cs typeface="Calibri"/>
              </a:rPr>
              <a:t>al</a:t>
            </a:r>
            <a:r>
              <a:rPr sz="2391" b="1" dirty="0">
                <a:latin typeface="Calibri"/>
                <a:cs typeface="Calibri"/>
              </a:rPr>
              <a:t> m</a:t>
            </a:r>
            <a:r>
              <a:rPr sz="2391" b="1" spc="-14" dirty="0">
                <a:latin typeface="Calibri"/>
                <a:cs typeface="Calibri"/>
              </a:rPr>
              <a:t>od</a:t>
            </a:r>
            <a:r>
              <a:rPr sz="2391" b="1" dirty="0">
                <a:latin typeface="Calibri"/>
                <a:cs typeface="Calibri"/>
              </a:rPr>
              <a:t>e</a:t>
            </a:r>
            <a:r>
              <a:rPr sz="2391" b="1" spc="-11" dirty="0">
                <a:latin typeface="Calibri"/>
                <a:cs typeface="Calibri"/>
              </a:rPr>
              <a:t>ls</a:t>
            </a:r>
            <a:r>
              <a:rPr sz="2391" b="1" spc="-4" dirty="0">
                <a:latin typeface="Calibri"/>
                <a:cs typeface="Calibri"/>
              </a:rPr>
              <a:t> </a:t>
            </a:r>
            <a:r>
              <a:rPr sz="2391" b="1" spc="-11" dirty="0">
                <a:latin typeface="Calibri"/>
                <a:cs typeface="Calibri"/>
              </a:rPr>
              <a:t>in</a:t>
            </a:r>
            <a:r>
              <a:rPr sz="2391" b="1" dirty="0">
                <a:latin typeface="Calibri"/>
                <a:cs typeface="Calibri"/>
              </a:rPr>
              <a:t> </a:t>
            </a:r>
            <a:r>
              <a:rPr sz="2391" b="1" spc="-14" dirty="0">
                <a:latin typeface="Calibri"/>
                <a:cs typeface="Calibri"/>
              </a:rPr>
              <a:t>p</a:t>
            </a:r>
            <a:r>
              <a:rPr sz="2391" b="1" spc="-60" dirty="0">
                <a:latin typeface="Calibri"/>
                <a:cs typeface="Calibri"/>
              </a:rPr>
              <a:t>h</a:t>
            </a:r>
            <a:r>
              <a:rPr sz="2391" b="1" spc="-11" dirty="0">
                <a:latin typeface="Calibri"/>
                <a:cs typeface="Calibri"/>
              </a:rPr>
              <a:t>ylo</a:t>
            </a:r>
            <a:r>
              <a:rPr sz="2391" b="1" spc="-25" dirty="0">
                <a:latin typeface="Calibri"/>
                <a:cs typeface="Calibri"/>
              </a:rPr>
              <a:t>g</a:t>
            </a:r>
            <a:r>
              <a:rPr sz="2391" b="1" dirty="0">
                <a:latin typeface="Calibri"/>
                <a:cs typeface="Calibri"/>
              </a:rPr>
              <a:t>e</a:t>
            </a:r>
            <a:r>
              <a:rPr sz="2391" b="1" spc="-14" dirty="0">
                <a:latin typeface="Calibri"/>
                <a:cs typeface="Calibri"/>
              </a:rPr>
              <a:t>n</a:t>
            </a:r>
            <a:r>
              <a:rPr sz="2391" b="1" spc="-18" dirty="0">
                <a:latin typeface="Calibri"/>
                <a:cs typeface="Calibri"/>
              </a:rPr>
              <a:t>e</a:t>
            </a:r>
            <a:r>
              <a:rPr lang="en-US" sz="2391" b="1" spc="179" dirty="0">
                <a:latin typeface="Calibri"/>
                <a:cs typeface="Calibri"/>
              </a:rPr>
              <a:t>ti</a:t>
            </a:r>
            <a:r>
              <a:rPr sz="2391" b="1" dirty="0">
                <a:latin typeface="Calibri"/>
                <a:cs typeface="Calibri"/>
              </a:rPr>
              <a:t>c </a:t>
            </a:r>
            <a:r>
              <a:rPr sz="2391" b="1" spc="-11" dirty="0">
                <a:latin typeface="Calibri"/>
                <a:cs typeface="Calibri"/>
              </a:rPr>
              <a:t>bio</a:t>
            </a:r>
            <a:r>
              <a:rPr sz="2391" b="1" spc="-25" dirty="0">
                <a:latin typeface="Calibri"/>
                <a:cs typeface="Calibri"/>
              </a:rPr>
              <a:t>g</a:t>
            </a:r>
            <a:r>
              <a:rPr sz="2391" b="1" dirty="0">
                <a:latin typeface="Calibri"/>
                <a:cs typeface="Calibri"/>
              </a:rPr>
              <a:t>e</a:t>
            </a:r>
            <a:r>
              <a:rPr sz="2391" b="1" spc="-14" dirty="0">
                <a:latin typeface="Calibri"/>
                <a:cs typeface="Calibri"/>
              </a:rPr>
              <a:t>o</a:t>
            </a:r>
            <a:r>
              <a:rPr sz="2391" b="1" spc="-4" dirty="0">
                <a:latin typeface="Calibri"/>
                <a:cs typeface="Calibri"/>
              </a:rPr>
              <a:t>g</a:t>
            </a:r>
            <a:r>
              <a:rPr sz="2391" b="1" spc="-53" dirty="0">
                <a:latin typeface="Calibri"/>
                <a:cs typeface="Calibri"/>
              </a:rPr>
              <a:t>r</a:t>
            </a:r>
            <a:r>
              <a:rPr sz="2391" b="1" spc="-14" dirty="0">
                <a:latin typeface="Calibri"/>
                <a:cs typeface="Calibri"/>
              </a:rPr>
              <a:t>ap</a:t>
            </a:r>
            <a:r>
              <a:rPr sz="2391" b="1" spc="-60" dirty="0">
                <a:latin typeface="Calibri"/>
                <a:cs typeface="Calibri"/>
              </a:rPr>
              <a:t>h</a:t>
            </a:r>
            <a:r>
              <a:rPr sz="2391" b="1" spc="-11" dirty="0">
                <a:latin typeface="Calibri"/>
                <a:cs typeface="Calibri"/>
              </a:rPr>
              <a:t>y: the</a:t>
            </a:r>
            <a:r>
              <a:rPr sz="2391" b="1" dirty="0">
                <a:latin typeface="Calibri"/>
                <a:cs typeface="Calibri"/>
              </a:rPr>
              <a:t>o</a:t>
            </a:r>
            <a:r>
              <a:rPr sz="2391" b="1" spc="7" dirty="0">
                <a:latin typeface="Calibri"/>
                <a:cs typeface="Calibri"/>
              </a:rPr>
              <a:t>r</a:t>
            </a:r>
            <a:r>
              <a:rPr sz="2391" b="1" spc="-14" dirty="0">
                <a:latin typeface="Calibri"/>
                <a:cs typeface="Calibri"/>
              </a:rPr>
              <a:t>y</a:t>
            </a:r>
            <a:r>
              <a:rPr sz="2391" b="1" spc="-4" dirty="0">
                <a:latin typeface="Calibri"/>
                <a:cs typeface="Calibri"/>
              </a:rPr>
              <a:t> </a:t>
            </a:r>
            <a:r>
              <a:rPr sz="2391" b="1" spc="-14" dirty="0">
                <a:latin typeface="Calibri"/>
                <a:cs typeface="Calibri"/>
              </a:rPr>
              <a:t>and</a:t>
            </a:r>
            <a:r>
              <a:rPr sz="2391" b="1" spc="-4" dirty="0">
                <a:latin typeface="Calibri"/>
                <a:cs typeface="Calibri"/>
              </a:rPr>
              <a:t> </a:t>
            </a:r>
            <a:r>
              <a:rPr sz="2391" b="1" spc="-11" dirty="0">
                <a:latin typeface="Calibri"/>
                <a:cs typeface="Calibri"/>
              </a:rPr>
              <a:t>appli</a:t>
            </a:r>
            <a:r>
              <a:rPr sz="2391" b="1" spc="-25" dirty="0">
                <a:latin typeface="Calibri"/>
                <a:cs typeface="Calibri"/>
              </a:rPr>
              <a:t>c</a:t>
            </a:r>
            <a:r>
              <a:rPr sz="2391" b="1" spc="-39" dirty="0">
                <a:latin typeface="Calibri"/>
                <a:cs typeface="Calibri"/>
              </a:rPr>
              <a:t>a</a:t>
            </a:r>
            <a:r>
              <a:rPr lang="en-US" sz="2391" b="1" spc="179" dirty="0">
                <a:latin typeface="Calibri"/>
                <a:cs typeface="Calibri"/>
              </a:rPr>
              <a:t>ti</a:t>
            </a:r>
            <a:r>
              <a:rPr sz="2391" b="1" spc="-14" dirty="0">
                <a:latin typeface="Calibri"/>
                <a:cs typeface="Calibri"/>
              </a:rPr>
              <a:t>on</a:t>
            </a:r>
            <a:r>
              <a:rPr sz="2391" b="1" spc="-4" dirty="0">
                <a:latin typeface="Calibri"/>
                <a:cs typeface="Calibri"/>
              </a:rPr>
              <a:t> </a:t>
            </a:r>
            <a:r>
              <a:rPr sz="2391" b="1" spc="-11" dirty="0">
                <a:latin typeface="Calibri"/>
                <a:cs typeface="Calibri"/>
              </a:rPr>
              <a:t>in</a:t>
            </a:r>
            <a:r>
              <a:rPr sz="2391" b="1" spc="-4" dirty="0">
                <a:latin typeface="Calibri"/>
                <a:cs typeface="Calibri"/>
              </a:rPr>
              <a:t> </a:t>
            </a:r>
            <a:r>
              <a:rPr sz="2391" b="1" spc="-14" dirty="0">
                <a:latin typeface="Calibri"/>
                <a:cs typeface="Calibri"/>
              </a:rPr>
              <a:t>a</a:t>
            </a:r>
            <a:r>
              <a:rPr sz="2391" b="1" spc="-39" dirty="0">
                <a:latin typeface="Calibri"/>
                <a:cs typeface="Calibri"/>
              </a:rPr>
              <a:t>n</a:t>
            </a:r>
            <a:r>
              <a:rPr sz="2391" b="1" spc="-11" dirty="0">
                <a:latin typeface="Calibri"/>
                <a:cs typeface="Calibri"/>
              </a:rPr>
              <a:t>ts,</a:t>
            </a:r>
            <a:r>
              <a:rPr sz="2391" b="1" spc="-4" dirty="0">
                <a:latin typeface="Calibri"/>
                <a:cs typeface="Calibri"/>
              </a:rPr>
              <a:t> </a:t>
            </a:r>
            <a:r>
              <a:rPr sz="2391" b="1" dirty="0">
                <a:latin typeface="Calibri"/>
                <a:cs typeface="Calibri"/>
              </a:rPr>
              <a:t>c</a:t>
            </a:r>
            <a:r>
              <a:rPr sz="2391" b="1" spc="-28" dirty="0">
                <a:latin typeface="Calibri"/>
                <a:cs typeface="Calibri"/>
              </a:rPr>
              <a:t>r</a:t>
            </a:r>
            <a:r>
              <a:rPr sz="2391" b="1" dirty="0">
                <a:latin typeface="Calibri"/>
                <a:cs typeface="Calibri"/>
              </a:rPr>
              <a:t>oc</a:t>
            </a:r>
            <a:r>
              <a:rPr sz="2391" b="1" spc="-14" dirty="0">
                <a:latin typeface="Calibri"/>
                <a:cs typeface="Calibri"/>
              </a:rPr>
              <a:t>s</a:t>
            </a:r>
            <a:r>
              <a:rPr sz="2391" b="1" spc="-7" dirty="0">
                <a:latin typeface="Calibri"/>
                <a:cs typeface="Calibri"/>
              </a:rPr>
              <a:t>,</a:t>
            </a:r>
            <a:r>
              <a:rPr sz="2391" b="1" spc="-4" dirty="0">
                <a:latin typeface="Calibri"/>
                <a:cs typeface="Calibri"/>
              </a:rPr>
              <a:t> </a:t>
            </a:r>
            <a:r>
              <a:rPr sz="2391" b="1" spc="-7" dirty="0">
                <a:latin typeface="Calibri"/>
                <a:cs typeface="Calibri"/>
              </a:rPr>
              <a:t>li</a:t>
            </a:r>
            <a:r>
              <a:rPr sz="2391" b="1" spc="-42" dirty="0">
                <a:latin typeface="Calibri"/>
                <a:cs typeface="Calibri"/>
              </a:rPr>
              <a:t>z</a:t>
            </a:r>
            <a:r>
              <a:rPr sz="2391" b="1" dirty="0">
                <a:latin typeface="Calibri"/>
                <a:cs typeface="Calibri"/>
              </a:rPr>
              <a:t>a</a:t>
            </a:r>
            <a:r>
              <a:rPr sz="2391" b="1" spc="-28" dirty="0">
                <a:latin typeface="Calibri"/>
                <a:cs typeface="Calibri"/>
              </a:rPr>
              <a:t>r</a:t>
            </a:r>
            <a:r>
              <a:rPr sz="2391" b="1" spc="-14" dirty="0">
                <a:latin typeface="Calibri"/>
                <a:cs typeface="Calibri"/>
              </a:rPr>
              <a:t>ds</a:t>
            </a:r>
            <a:r>
              <a:rPr sz="2391" b="1" spc="-4" dirty="0">
                <a:latin typeface="Calibri"/>
                <a:cs typeface="Calibri"/>
              </a:rPr>
              <a:t> </a:t>
            </a:r>
            <a:r>
              <a:rPr sz="2391" b="1" spc="-14" dirty="0">
                <a:latin typeface="Calibri"/>
                <a:cs typeface="Calibri"/>
              </a:rPr>
              <a:t>and</a:t>
            </a:r>
            <a:r>
              <a:rPr sz="2391" b="1" spc="-4" dirty="0">
                <a:latin typeface="Calibri"/>
                <a:cs typeface="Calibri"/>
              </a:rPr>
              <a:t> </a:t>
            </a:r>
            <a:r>
              <a:rPr sz="2391" b="1" spc="-46" dirty="0">
                <a:latin typeface="Calibri"/>
                <a:cs typeface="Calibri"/>
              </a:rPr>
              <a:t>k</a:t>
            </a:r>
            <a:r>
              <a:rPr sz="2391" b="1" spc="-11" dirty="0">
                <a:latin typeface="Calibri"/>
                <a:cs typeface="Calibri"/>
              </a:rPr>
              <a:t>auri</a:t>
            </a:r>
            <a:endParaRPr sz="2391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78970" y="6201548"/>
            <a:ext cx="679190" cy="6564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5117627" y="6517836"/>
            <a:ext cx="1295571" cy="3195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5117627" y="6517836"/>
            <a:ext cx="1295698" cy="319682"/>
          </a:xfrm>
          <a:custGeom>
            <a:avLst/>
            <a:gdLst/>
            <a:ahLst/>
            <a:cxnLst/>
            <a:rect l="l" t="t" r="r" b="b"/>
            <a:pathLst>
              <a:path w="1842770" h="454659">
                <a:moveTo>
                  <a:pt x="0" y="0"/>
                </a:moveTo>
                <a:lnTo>
                  <a:pt x="1842590" y="0"/>
                </a:lnTo>
                <a:lnTo>
                  <a:pt x="1842590" y="454416"/>
                </a:lnTo>
                <a:lnTo>
                  <a:pt x="0" y="45441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2861807" y="6264322"/>
            <a:ext cx="2197631" cy="5535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0" y="6224078"/>
            <a:ext cx="2853035" cy="634008"/>
          </a:xfrm>
          <a:custGeom>
            <a:avLst/>
            <a:gdLst/>
            <a:ahLst/>
            <a:cxnLst/>
            <a:rect l="l" t="t" r="r" b="b"/>
            <a:pathLst>
              <a:path w="4057650" h="901700">
                <a:moveTo>
                  <a:pt x="0" y="901577"/>
                </a:moveTo>
                <a:lnTo>
                  <a:pt x="4057609" y="901577"/>
                </a:lnTo>
                <a:lnTo>
                  <a:pt x="4057609" y="0"/>
                </a:lnTo>
                <a:lnTo>
                  <a:pt x="0" y="0"/>
                </a:lnTo>
                <a:lnTo>
                  <a:pt x="0" y="9015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/>
          <p:nvPr/>
        </p:nvSpPr>
        <p:spPr>
          <a:xfrm>
            <a:off x="1800922" y="6365396"/>
            <a:ext cx="1049756" cy="39376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9" name="object 9"/>
          <p:cNvSpPr/>
          <p:nvPr/>
        </p:nvSpPr>
        <p:spPr>
          <a:xfrm>
            <a:off x="0" y="6226905"/>
            <a:ext cx="1017943" cy="62783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6977559" y="1518047"/>
            <a:ext cx="1785938" cy="23752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/>
          <p:nvPr/>
        </p:nvSpPr>
        <p:spPr>
          <a:xfrm>
            <a:off x="6471476" y="6224078"/>
            <a:ext cx="1725662" cy="634008"/>
          </a:xfrm>
          <a:custGeom>
            <a:avLst/>
            <a:gdLst/>
            <a:ahLst/>
            <a:cxnLst/>
            <a:rect l="l" t="t" r="r" b="b"/>
            <a:pathLst>
              <a:path w="2454275" h="901700">
                <a:moveTo>
                  <a:pt x="0" y="0"/>
                </a:moveTo>
                <a:lnTo>
                  <a:pt x="2453779" y="0"/>
                </a:lnTo>
                <a:lnTo>
                  <a:pt x="2453779" y="901577"/>
                </a:lnTo>
                <a:lnTo>
                  <a:pt x="0" y="901577"/>
                </a:lnTo>
                <a:lnTo>
                  <a:pt x="0" y="0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2" name="object 12"/>
          <p:cNvSpPr/>
          <p:nvPr/>
        </p:nvSpPr>
        <p:spPr>
          <a:xfrm>
            <a:off x="6483553" y="6246462"/>
            <a:ext cx="1678776" cy="59316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3" name="object 13"/>
          <p:cNvSpPr txBox="1"/>
          <p:nvPr/>
        </p:nvSpPr>
        <p:spPr>
          <a:xfrm>
            <a:off x="6429375" y="3973711"/>
            <a:ext cx="2689175" cy="968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7197" marR="607197" indent="1786" algn="ctr"/>
            <a:r>
              <a:rPr sz="1406" b="1" spc="-7" dirty="0">
                <a:latin typeface="Calibri"/>
                <a:cs typeface="Calibri"/>
              </a:rPr>
              <a:t>Nicholas </a:t>
            </a:r>
            <a:r>
              <a:rPr sz="1406" b="1" spc="-11" dirty="0">
                <a:latin typeface="Calibri"/>
                <a:cs typeface="Calibri"/>
              </a:rPr>
              <a:t>J</a:t>
            </a:r>
            <a:r>
              <a:rPr sz="1406" b="1" dirty="0">
                <a:latin typeface="Calibri"/>
                <a:cs typeface="Calibri"/>
              </a:rPr>
              <a:t>. </a:t>
            </a:r>
            <a:r>
              <a:rPr sz="1406" b="1" spc="-14" dirty="0">
                <a:latin typeface="Calibri"/>
                <a:cs typeface="Calibri"/>
              </a:rPr>
              <a:t>M</a:t>
            </a:r>
            <a:r>
              <a:rPr sz="1406" b="1" spc="-21" dirty="0">
                <a:latin typeface="Calibri"/>
                <a:cs typeface="Calibri"/>
              </a:rPr>
              <a:t>a</a:t>
            </a:r>
            <a:r>
              <a:rPr sz="1406" b="1" spc="-7" dirty="0">
                <a:latin typeface="Calibri"/>
                <a:cs typeface="Calibri"/>
              </a:rPr>
              <a:t>t</a:t>
            </a:r>
            <a:r>
              <a:rPr sz="1406" b="1" dirty="0">
                <a:latin typeface="Calibri"/>
                <a:cs typeface="Calibri"/>
              </a:rPr>
              <a:t>z</a:t>
            </a:r>
            <a:r>
              <a:rPr sz="1406" b="1" spc="-46" dirty="0">
                <a:latin typeface="Calibri"/>
                <a:cs typeface="Calibri"/>
              </a:rPr>
              <a:t>k</a:t>
            </a:r>
            <a:r>
              <a:rPr sz="1406" b="1" dirty="0">
                <a:latin typeface="Calibri"/>
                <a:cs typeface="Calibri"/>
              </a:rPr>
              <a:t>e Se</a:t>
            </a:r>
            <a:r>
              <a:rPr sz="1406" b="1" spc="-7" dirty="0">
                <a:latin typeface="Calibri"/>
                <a:cs typeface="Calibri"/>
              </a:rPr>
              <a:t>nior</a:t>
            </a:r>
            <a:r>
              <a:rPr sz="1406" b="1" dirty="0">
                <a:latin typeface="Calibri"/>
                <a:cs typeface="Calibri"/>
              </a:rPr>
              <a:t> </a:t>
            </a:r>
            <a:r>
              <a:rPr sz="1406" b="1" spc="-4" dirty="0">
                <a:latin typeface="Calibri"/>
                <a:cs typeface="Calibri"/>
              </a:rPr>
              <a:t>L</a:t>
            </a:r>
            <a:r>
              <a:rPr sz="1406" b="1" dirty="0">
                <a:latin typeface="Calibri"/>
                <a:cs typeface="Calibri"/>
              </a:rPr>
              <a:t>ec</a:t>
            </a:r>
            <a:r>
              <a:rPr sz="1406" b="1" spc="-7" dirty="0">
                <a:latin typeface="Calibri"/>
                <a:cs typeface="Calibri"/>
              </a:rPr>
              <a:t>tu</a:t>
            </a:r>
            <a:r>
              <a:rPr sz="1406" b="1" spc="-25" dirty="0">
                <a:latin typeface="Calibri"/>
                <a:cs typeface="Calibri"/>
              </a:rPr>
              <a:t>r</a:t>
            </a:r>
            <a:r>
              <a:rPr sz="1406" b="1" dirty="0">
                <a:latin typeface="Calibri"/>
                <a:cs typeface="Calibri"/>
              </a:rPr>
              <a:t>e</a:t>
            </a:r>
            <a:r>
              <a:rPr sz="1406" b="1" spc="-105" dirty="0">
                <a:latin typeface="Calibri"/>
                <a:cs typeface="Calibri"/>
              </a:rPr>
              <a:t>r</a:t>
            </a:r>
            <a:r>
              <a:rPr sz="1406" b="1" spc="-7" dirty="0">
                <a:latin typeface="Calibri"/>
                <a:cs typeface="Calibri"/>
              </a:rPr>
              <a:t>,</a:t>
            </a:r>
            <a:r>
              <a:rPr sz="1406" b="1" spc="-4" dirty="0">
                <a:latin typeface="Calibri"/>
                <a:cs typeface="Calibri"/>
              </a:rPr>
              <a:t> </a:t>
            </a:r>
            <a:r>
              <a:rPr sz="1406" b="1" spc="-7" dirty="0">
                <a:latin typeface="Calibri"/>
                <a:cs typeface="Calibri"/>
              </a:rPr>
              <a:t>SBS</a:t>
            </a:r>
            <a:endParaRPr sz="1406" dirty="0">
              <a:latin typeface="Calibri"/>
              <a:cs typeface="Calibri"/>
            </a:endParaRPr>
          </a:p>
          <a:p>
            <a:pPr algn="ctr">
              <a:spcBef>
                <a:spcPts val="211"/>
              </a:spcBef>
            </a:pPr>
            <a:r>
              <a:rPr sz="984" dirty="0">
                <a:latin typeface="Calibri"/>
                <a:cs typeface="Calibri"/>
              </a:rPr>
              <a:t>S</a:t>
            </a:r>
            <a:r>
              <a:rPr sz="984" spc="-7" dirty="0">
                <a:latin typeface="Calibri"/>
                <a:cs typeface="Calibri"/>
              </a:rPr>
              <a:t>chool of Biologi</a:t>
            </a:r>
            <a:r>
              <a:rPr sz="984" spc="-18" dirty="0">
                <a:latin typeface="Calibri"/>
                <a:cs typeface="Calibri"/>
              </a:rPr>
              <a:t>c</a:t>
            </a:r>
            <a:r>
              <a:rPr sz="984" dirty="0">
                <a:latin typeface="Calibri"/>
                <a:cs typeface="Calibri"/>
              </a:rPr>
              <a:t>al S</a:t>
            </a:r>
            <a:r>
              <a:rPr sz="984" spc="-7" dirty="0">
                <a:latin typeface="Calibri"/>
                <a:cs typeface="Calibri"/>
              </a:rPr>
              <a:t>c</a:t>
            </a:r>
            <a:r>
              <a:rPr sz="984" dirty="0">
                <a:latin typeface="Calibri"/>
                <a:cs typeface="Calibri"/>
              </a:rPr>
              <a:t>i</a:t>
            </a:r>
            <a:r>
              <a:rPr sz="984" spc="-7" dirty="0">
                <a:latin typeface="Calibri"/>
                <a:cs typeface="Calibri"/>
              </a:rPr>
              <a:t>e</a:t>
            </a:r>
            <a:r>
              <a:rPr sz="984" dirty="0">
                <a:latin typeface="Calibri"/>
                <a:cs typeface="Calibri"/>
              </a:rPr>
              <a:t>n</a:t>
            </a:r>
            <a:r>
              <a:rPr sz="984" spc="-7" dirty="0">
                <a:latin typeface="Calibri"/>
                <a:cs typeface="Calibri"/>
              </a:rPr>
              <a:t>ce</a:t>
            </a:r>
            <a:r>
              <a:rPr sz="984" dirty="0">
                <a:latin typeface="Calibri"/>
                <a:cs typeface="Calibri"/>
              </a:rPr>
              <a:t>s</a:t>
            </a:r>
            <a:r>
              <a:rPr sz="984" spc="-4" dirty="0">
                <a:latin typeface="Calibri"/>
                <a:cs typeface="Calibri"/>
              </a:rPr>
              <a:t>,</a:t>
            </a:r>
            <a:endParaRPr sz="984" dirty="0">
              <a:latin typeface="Calibri"/>
              <a:cs typeface="Calibri"/>
            </a:endParaRPr>
          </a:p>
          <a:p>
            <a:pPr marL="2232" algn="ctr">
              <a:lnSpc>
                <a:spcPts val="1118"/>
              </a:lnSpc>
              <a:spcBef>
                <a:spcPts val="84"/>
              </a:spcBef>
            </a:pPr>
            <a:r>
              <a:rPr sz="984" spc="-7" dirty="0">
                <a:latin typeface="Calibri"/>
                <a:cs typeface="Calibri"/>
              </a:rPr>
              <a:t>Uni</a:t>
            </a:r>
            <a:r>
              <a:rPr sz="984" spc="-18" dirty="0">
                <a:latin typeface="Calibri"/>
                <a:cs typeface="Calibri"/>
              </a:rPr>
              <a:t>v</a:t>
            </a:r>
            <a:r>
              <a:rPr sz="984" spc="-7" dirty="0">
                <a:latin typeface="Calibri"/>
                <a:cs typeface="Calibri"/>
              </a:rPr>
              <a:t>e</a:t>
            </a:r>
            <a:r>
              <a:rPr sz="984" spc="-21" dirty="0">
                <a:latin typeface="Calibri"/>
                <a:cs typeface="Calibri"/>
              </a:rPr>
              <a:t>r</a:t>
            </a:r>
            <a:r>
              <a:rPr sz="984" dirty="0">
                <a:latin typeface="Calibri"/>
                <a:cs typeface="Calibri"/>
              </a:rPr>
              <a:t>si</a:t>
            </a:r>
            <a:r>
              <a:rPr sz="984" spc="-7" dirty="0">
                <a:latin typeface="Calibri"/>
                <a:cs typeface="Calibri"/>
              </a:rPr>
              <a:t>ty</a:t>
            </a:r>
            <a:r>
              <a:rPr sz="984" dirty="0">
                <a:latin typeface="Calibri"/>
                <a:cs typeface="Calibri"/>
              </a:rPr>
              <a:t> of </a:t>
            </a:r>
            <a:r>
              <a:rPr sz="984" spc="-7" dirty="0">
                <a:latin typeface="Calibri"/>
                <a:cs typeface="Calibri"/>
              </a:rPr>
              <a:t>A</a:t>
            </a:r>
            <a:r>
              <a:rPr sz="984" dirty="0">
                <a:latin typeface="Calibri"/>
                <a:cs typeface="Calibri"/>
              </a:rPr>
              <a:t>u</a:t>
            </a:r>
            <a:r>
              <a:rPr sz="984" spc="-7" dirty="0">
                <a:latin typeface="Calibri"/>
                <a:cs typeface="Calibri"/>
              </a:rPr>
              <a:t>ck</a:t>
            </a:r>
            <a:r>
              <a:rPr sz="984" dirty="0">
                <a:latin typeface="Calibri"/>
                <a:cs typeface="Calibri"/>
              </a:rPr>
              <a:t>land</a:t>
            </a:r>
          </a:p>
          <a:p>
            <a:pPr algn="ctr">
              <a:lnSpc>
                <a:spcPts val="1624"/>
              </a:lnSpc>
            </a:pPr>
            <a:r>
              <a:rPr sz="1406" u="heavy" dirty="0">
                <a:latin typeface="Calibri"/>
                <a:cs typeface="Calibri"/>
              </a:rPr>
              <a:t>p</a:t>
            </a:r>
            <a:r>
              <a:rPr sz="1406" u="heavy" spc="-28" dirty="0">
                <a:latin typeface="Calibri"/>
                <a:cs typeface="Calibri"/>
              </a:rPr>
              <a:t>h</a:t>
            </a:r>
            <a:r>
              <a:rPr sz="1406" u="heavy" spc="-7" dirty="0">
                <a:latin typeface="Calibri"/>
                <a:cs typeface="Calibri"/>
              </a:rPr>
              <a:t>y</a:t>
            </a:r>
            <a:r>
              <a:rPr sz="1406" u="heavy" dirty="0">
                <a:latin typeface="Calibri"/>
                <a:cs typeface="Calibri"/>
              </a:rPr>
              <a:t>lo</a:t>
            </a:r>
            <a:r>
              <a:rPr sz="1406" u="heavy" spc="-49" dirty="0">
                <a:latin typeface="Calibri"/>
                <a:cs typeface="Calibri"/>
              </a:rPr>
              <a:t>.</a:t>
            </a:r>
            <a:r>
              <a:rPr sz="1406" u="heavy" spc="-11" dirty="0">
                <a:latin typeface="Calibri"/>
                <a:cs typeface="Calibri"/>
              </a:rPr>
              <a:t>w</a:t>
            </a:r>
            <a:r>
              <a:rPr sz="1406" u="heavy" dirty="0">
                <a:latin typeface="Calibri"/>
                <a:cs typeface="Calibri"/>
              </a:rPr>
              <a:t>i</a:t>
            </a:r>
            <a:r>
              <a:rPr sz="1406" u="heavy" spc="-7" dirty="0">
                <a:latin typeface="Calibri"/>
                <a:cs typeface="Calibri"/>
              </a:rPr>
              <a:t>k</a:t>
            </a:r>
            <a:r>
              <a:rPr sz="1406" u="heavy" dirty="0">
                <a:latin typeface="Calibri"/>
                <a:cs typeface="Calibri"/>
              </a:rPr>
              <a:t>idot.</a:t>
            </a:r>
            <a:r>
              <a:rPr sz="1406" u="heavy" spc="-21" dirty="0">
                <a:latin typeface="Calibri"/>
                <a:cs typeface="Calibri"/>
              </a:rPr>
              <a:t>c</a:t>
            </a:r>
            <a:r>
              <a:rPr sz="1406" u="heavy" dirty="0">
                <a:latin typeface="Calibri"/>
                <a:cs typeface="Calibri"/>
              </a:rPr>
              <a:t>o</a:t>
            </a:r>
            <a:r>
              <a:rPr sz="1406" u="heavy" spc="-14" dirty="0">
                <a:latin typeface="Calibri"/>
                <a:cs typeface="Calibri"/>
              </a:rPr>
              <a:t>m</a:t>
            </a:r>
            <a:r>
              <a:rPr sz="1406" u="heavy" dirty="0">
                <a:latin typeface="Calibri"/>
                <a:cs typeface="Calibri"/>
              </a:rPr>
              <a:t>/ni</a:t>
            </a:r>
            <a:r>
              <a:rPr sz="1406" u="heavy" spc="-7" dirty="0">
                <a:latin typeface="Calibri"/>
                <a:cs typeface="Calibri"/>
              </a:rPr>
              <a:t>c</a:t>
            </a:r>
            <a:r>
              <a:rPr sz="1406" u="heavy" dirty="0">
                <a:latin typeface="Calibri"/>
                <a:cs typeface="Calibri"/>
              </a:rPr>
              <a:t>holas-j-</a:t>
            </a:r>
            <a:r>
              <a:rPr sz="1406" u="heavy" spc="-14" dirty="0">
                <a:latin typeface="Calibri"/>
                <a:cs typeface="Calibri"/>
              </a:rPr>
              <a:t>ma</a:t>
            </a:r>
            <a:r>
              <a:rPr sz="1406" u="heavy" spc="-7" dirty="0">
                <a:latin typeface="Calibri"/>
                <a:cs typeface="Calibri"/>
              </a:rPr>
              <a:t>tz</a:t>
            </a:r>
            <a:r>
              <a:rPr sz="1406" u="heavy" spc="-53" dirty="0">
                <a:latin typeface="Calibri"/>
                <a:cs typeface="Calibri"/>
              </a:rPr>
              <a:t>k</a:t>
            </a:r>
            <a:r>
              <a:rPr sz="1406" u="heavy" spc="-7" dirty="0">
                <a:latin typeface="Calibri"/>
                <a:cs typeface="Calibri"/>
              </a:rPr>
              <a:t>e</a:t>
            </a:r>
            <a:endParaRPr sz="1406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719" y="6043166"/>
            <a:ext cx="1371154" cy="1623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055" dirty="0">
                <a:latin typeface="Calibri"/>
                <a:cs typeface="Calibri"/>
              </a:rPr>
              <a:t>Than</a:t>
            </a:r>
            <a:r>
              <a:rPr sz="1055" spc="-18" dirty="0">
                <a:latin typeface="Calibri"/>
                <a:cs typeface="Calibri"/>
              </a:rPr>
              <a:t>k</a:t>
            </a:r>
            <a:r>
              <a:rPr sz="1055" dirty="0">
                <a:latin typeface="Calibri"/>
                <a:cs typeface="Calibri"/>
              </a:rPr>
              <a:t>s </a:t>
            </a:r>
            <a:r>
              <a:rPr sz="1055" spc="-25" dirty="0">
                <a:latin typeface="Calibri"/>
                <a:cs typeface="Calibri"/>
              </a:rPr>
              <a:t>f</a:t>
            </a:r>
            <a:r>
              <a:rPr sz="1055" dirty="0">
                <a:latin typeface="Calibri"/>
                <a:cs typeface="Calibri"/>
              </a:rPr>
              <a:t>o</a:t>
            </a:r>
            <a:r>
              <a:rPr sz="1055" spc="-7" dirty="0">
                <a:latin typeface="Calibri"/>
                <a:cs typeface="Calibri"/>
              </a:rPr>
              <a:t>r</a:t>
            </a:r>
            <a:r>
              <a:rPr sz="1055" dirty="0">
                <a:latin typeface="Calibri"/>
                <a:cs typeface="Calibri"/>
              </a:rPr>
              <a:t> suppo</a:t>
            </a:r>
            <a:r>
              <a:rPr sz="1055" spc="-7" dirty="0">
                <a:latin typeface="Calibri"/>
                <a:cs typeface="Calibri"/>
              </a:rPr>
              <a:t>rt</a:t>
            </a:r>
            <a:r>
              <a:rPr sz="1055" dirty="0">
                <a:latin typeface="Calibri"/>
                <a:cs typeface="Calibri"/>
              </a:rPr>
              <a:t> f</a:t>
            </a:r>
            <a:r>
              <a:rPr sz="1055" spc="-25" dirty="0">
                <a:latin typeface="Calibri"/>
                <a:cs typeface="Calibri"/>
              </a:rPr>
              <a:t>r</a:t>
            </a:r>
            <a:r>
              <a:rPr sz="1055" dirty="0">
                <a:latin typeface="Calibri"/>
                <a:cs typeface="Calibri"/>
              </a:rPr>
              <a:t>o</a:t>
            </a:r>
            <a:r>
              <a:rPr sz="1055" spc="-7" dirty="0">
                <a:latin typeface="Calibri"/>
                <a:cs typeface="Calibri"/>
              </a:rPr>
              <a:t>m:</a:t>
            </a:r>
            <a:endParaRPr sz="1055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67258" y="4738525"/>
            <a:ext cx="1900909" cy="13751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7" name="object 17"/>
          <p:cNvSpPr txBox="1"/>
          <p:nvPr/>
        </p:nvSpPr>
        <p:spPr>
          <a:xfrm>
            <a:off x="2467257" y="4738524"/>
            <a:ext cx="1901130" cy="53322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2515" marR="1106795" indent="7143" algn="ctr">
              <a:lnSpc>
                <a:spcPct val="104200"/>
              </a:lnSpc>
            </a:pPr>
            <a:r>
              <a:rPr sz="1125" b="1" spc="-7" dirty="0">
                <a:latin typeface="Calibri"/>
                <a:cs typeface="Calibri"/>
              </a:rPr>
              <a:t>H</a:t>
            </a:r>
            <a:r>
              <a:rPr sz="1125" b="1" spc="-18" dirty="0">
                <a:latin typeface="Calibri"/>
                <a:cs typeface="Calibri"/>
              </a:rPr>
              <a:t>a</a:t>
            </a:r>
            <a:r>
              <a:rPr sz="1125" b="1" spc="-14" dirty="0">
                <a:latin typeface="Calibri"/>
                <a:cs typeface="Calibri"/>
              </a:rPr>
              <a:t>w</a:t>
            </a:r>
            <a:r>
              <a:rPr sz="1125" b="1" spc="-7" dirty="0">
                <a:latin typeface="Calibri"/>
                <a:cs typeface="Calibri"/>
              </a:rPr>
              <a:t>aiian</a:t>
            </a:r>
            <a:r>
              <a:rPr sz="1125" b="1" spc="-4" dirty="0">
                <a:latin typeface="Calibri"/>
                <a:cs typeface="Calibri"/>
              </a:rPr>
              <a:t> </a:t>
            </a:r>
            <a:r>
              <a:rPr sz="1125" b="1" i="1" dirty="0">
                <a:latin typeface="Calibri"/>
                <a:cs typeface="Calibri"/>
              </a:rPr>
              <a:t>P</a:t>
            </a:r>
            <a:r>
              <a:rPr sz="1125" b="1" i="1" spc="-18" dirty="0">
                <a:latin typeface="Calibri"/>
                <a:cs typeface="Calibri"/>
              </a:rPr>
              <a:t>s</a:t>
            </a:r>
            <a:r>
              <a:rPr sz="1125" b="1" i="1" spc="-7" dirty="0">
                <a:latin typeface="Calibri"/>
                <a:cs typeface="Calibri"/>
              </a:rPr>
              <a:t>y</a:t>
            </a:r>
            <a:r>
              <a:rPr sz="1125" b="1" i="1" spc="-11" dirty="0">
                <a:latin typeface="Calibri"/>
                <a:cs typeface="Calibri"/>
              </a:rPr>
              <a:t>c</a:t>
            </a:r>
            <a:r>
              <a:rPr sz="1125" b="1" i="1" spc="-4" dirty="0">
                <a:latin typeface="Calibri"/>
                <a:cs typeface="Calibri"/>
              </a:rPr>
              <a:t>hot</a:t>
            </a:r>
            <a:r>
              <a:rPr sz="1125" b="1" i="1" spc="-7" dirty="0">
                <a:latin typeface="Calibri"/>
                <a:cs typeface="Calibri"/>
              </a:rPr>
              <a:t>ria</a:t>
            </a:r>
            <a:r>
              <a:rPr sz="1125" b="1" i="1" spc="-4" dirty="0">
                <a:latin typeface="Calibri"/>
                <a:cs typeface="Calibri"/>
              </a:rPr>
              <a:t> </a:t>
            </a:r>
            <a:r>
              <a:rPr sz="1125" b="1" dirty="0">
                <a:latin typeface="Calibri"/>
                <a:cs typeface="Calibri"/>
              </a:rPr>
              <a:t>shr</a:t>
            </a:r>
            <a:r>
              <a:rPr sz="1125" b="1" spc="-7" dirty="0">
                <a:latin typeface="Calibri"/>
                <a:cs typeface="Calibri"/>
              </a:rPr>
              <a:t>u</a:t>
            </a:r>
            <a:r>
              <a:rPr sz="1125" b="1" spc="-14" dirty="0">
                <a:latin typeface="Calibri"/>
                <a:cs typeface="Calibri"/>
              </a:rPr>
              <a:t>b</a:t>
            </a:r>
            <a:r>
              <a:rPr sz="1125" b="1" spc="-7" dirty="0">
                <a:latin typeface="Calibri"/>
                <a:cs typeface="Calibri"/>
              </a:rPr>
              <a:t>s</a:t>
            </a:r>
            <a:endParaRPr sz="1125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43438" y="4580930"/>
            <a:ext cx="1080492" cy="649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-8036" algn="ctr"/>
            <a:r>
              <a:rPr sz="1406" b="1" spc="-7" dirty="0">
                <a:latin typeface="Calibri"/>
                <a:cs typeface="Calibri"/>
              </a:rPr>
              <a:t>possible hi</a:t>
            </a:r>
            <a:r>
              <a:rPr sz="1406" b="1" spc="-25" dirty="0">
                <a:latin typeface="Calibri"/>
                <a:cs typeface="Calibri"/>
              </a:rPr>
              <a:t>st</a:t>
            </a:r>
            <a:r>
              <a:rPr sz="1406" b="1" dirty="0">
                <a:latin typeface="Calibri"/>
                <a:cs typeface="Calibri"/>
              </a:rPr>
              <a:t>orie</a:t>
            </a:r>
            <a:r>
              <a:rPr sz="1406" b="1" spc="-7" dirty="0">
                <a:latin typeface="Calibri"/>
                <a:cs typeface="Calibri"/>
              </a:rPr>
              <a:t>s (</a:t>
            </a:r>
            <a:r>
              <a:rPr sz="1406" b="1" dirty="0">
                <a:latin typeface="Calibri"/>
                <a:cs typeface="Calibri"/>
              </a:rPr>
              <a:t>D</a:t>
            </a:r>
            <a:r>
              <a:rPr sz="1406" b="1" spc="-28" dirty="0">
                <a:latin typeface="Calibri"/>
                <a:cs typeface="Calibri"/>
              </a:rPr>
              <a:t>E</a:t>
            </a:r>
            <a:r>
              <a:rPr sz="1406" b="1" dirty="0">
                <a:latin typeface="Calibri"/>
                <a:cs typeface="Calibri"/>
              </a:rPr>
              <a:t>C+J m</a:t>
            </a:r>
            <a:r>
              <a:rPr sz="1406" b="1" spc="-11" dirty="0">
                <a:latin typeface="Calibri"/>
                <a:cs typeface="Calibri"/>
              </a:rPr>
              <a:t>od</a:t>
            </a:r>
            <a:r>
              <a:rPr sz="1406" b="1" dirty="0">
                <a:latin typeface="Calibri"/>
                <a:cs typeface="Calibri"/>
              </a:rPr>
              <a:t>e</a:t>
            </a:r>
            <a:r>
              <a:rPr sz="1406" b="1" spc="-7" dirty="0">
                <a:latin typeface="Calibri"/>
                <a:cs typeface="Calibri"/>
              </a:rPr>
              <a:t>l)</a:t>
            </a:r>
            <a:endParaRPr sz="1406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41227" y="4634508"/>
            <a:ext cx="932259" cy="649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-3125" algn="ctr"/>
            <a:r>
              <a:rPr sz="1406" b="1" spc="-7" dirty="0">
                <a:latin typeface="Calibri"/>
                <a:cs typeface="Calibri"/>
              </a:rPr>
              <a:t>possible hi</a:t>
            </a:r>
            <a:r>
              <a:rPr sz="1406" b="1" spc="-25" dirty="0">
                <a:latin typeface="Calibri"/>
                <a:cs typeface="Calibri"/>
              </a:rPr>
              <a:t>st</a:t>
            </a:r>
            <a:r>
              <a:rPr sz="1406" b="1" dirty="0">
                <a:latin typeface="Calibri"/>
                <a:cs typeface="Calibri"/>
              </a:rPr>
              <a:t>orie</a:t>
            </a:r>
            <a:r>
              <a:rPr sz="1406" b="1" spc="-7" dirty="0">
                <a:latin typeface="Calibri"/>
                <a:cs typeface="Calibri"/>
              </a:rPr>
              <a:t>s (D</a:t>
            </a:r>
            <a:r>
              <a:rPr sz="1406" b="1" spc="-28" dirty="0">
                <a:latin typeface="Calibri"/>
                <a:cs typeface="Calibri"/>
              </a:rPr>
              <a:t>E</a:t>
            </a:r>
            <a:r>
              <a:rPr sz="1406" b="1" dirty="0">
                <a:latin typeface="Calibri"/>
                <a:cs typeface="Calibri"/>
              </a:rPr>
              <a:t>C m</a:t>
            </a:r>
            <a:r>
              <a:rPr sz="1406" b="1" spc="-14" dirty="0">
                <a:latin typeface="Calibri"/>
                <a:cs typeface="Calibri"/>
              </a:rPr>
              <a:t>od</a:t>
            </a:r>
            <a:r>
              <a:rPr sz="1406" b="1" spc="-7" dirty="0">
                <a:latin typeface="Calibri"/>
                <a:cs typeface="Calibri"/>
              </a:rPr>
              <a:t>e</a:t>
            </a:r>
            <a:r>
              <a:rPr sz="1406" b="1" spc="-11" dirty="0">
                <a:latin typeface="Calibri"/>
                <a:cs typeface="Calibri"/>
              </a:rPr>
              <a:t>l)</a:t>
            </a:r>
            <a:endParaRPr sz="1406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966634" y="6228543"/>
            <a:ext cx="1597556" cy="31951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1" name="object 21"/>
          <p:cNvSpPr/>
          <p:nvPr/>
        </p:nvSpPr>
        <p:spPr>
          <a:xfrm>
            <a:off x="4966634" y="6228543"/>
            <a:ext cx="1597968" cy="319682"/>
          </a:xfrm>
          <a:custGeom>
            <a:avLst/>
            <a:gdLst/>
            <a:ahLst/>
            <a:cxnLst/>
            <a:rect l="l" t="t" r="r" b="b"/>
            <a:pathLst>
              <a:path w="2272665" h="454659">
                <a:moveTo>
                  <a:pt x="0" y="0"/>
                </a:moveTo>
                <a:lnTo>
                  <a:pt x="2272080" y="0"/>
                </a:lnTo>
                <a:lnTo>
                  <a:pt x="2272080" y="454416"/>
                </a:lnTo>
                <a:lnTo>
                  <a:pt x="0" y="45441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2" name="object 22"/>
          <p:cNvSpPr/>
          <p:nvPr/>
        </p:nvSpPr>
        <p:spPr>
          <a:xfrm>
            <a:off x="8250605" y="6117095"/>
            <a:ext cx="848093" cy="7409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pic>
        <p:nvPicPr>
          <p:cNvPr id="23" name="Picture 22" descr="stochastic_maps_DEC_vs_DECj_M0_v1_WORKED_ARCHIVE_100dpi.gif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7036594" cy="35182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891" y="310197"/>
            <a:ext cx="7255371" cy="519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375" b="1" spc="-32" dirty="0">
                <a:latin typeface="Gill Sans"/>
                <a:cs typeface="Gill Sans"/>
              </a:rPr>
              <a:t>Hi</a:t>
            </a:r>
            <a:r>
              <a:rPr sz="3375" b="1" spc="-18" dirty="0">
                <a:latin typeface="Gill Sans"/>
                <a:cs typeface="Gill Sans"/>
              </a:rPr>
              <a:t>s</a:t>
            </a:r>
            <a:r>
              <a:rPr sz="3375" b="1" spc="-4" dirty="0">
                <a:latin typeface="Gill Sans"/>
                <a:cs typeface="Gill Sans"/>
              </a:rPr>
              <a:t>to</a:t>
            </a:r>
            <a:r>
              <a:rPr sz="3375" b="1" spc="-148" dirty="0">
                <a:latin typeface="Gill Sans"/>
                <a:cs typeface="Gill Sans"/>
              </a:rPr>
              <a:t>r</a:t>
            </a:r>
            <a:r>
              <a:rPr sz="3375" b="1" dirty="0">
                <a:latin typeface="Gill Sans"/>
                <a:cs typeface="Gill Sans"/>
              </a:rPr>
              <a:t>i</a:t>
            </a:r>
            <a:r>
              <a:rPr sz="3375" b="1" spc="-4" dirty="0">
                <a:latin typeface="Gill Sans"/>
                <a:cs typeface="Gill Sans"/>
              </a:rPr>
              <a:t>c</a:t>
            </a:r>
            <a:r>
              <a:rPr sz="3375" b="1" spc="-21" dirty="0">
                <a:latin typeface="Gill Sans"/>
                <a:cs typeface="Gill Sans"/>
              </a:rPr>
              <a:t>a</a:t>
            </a:r>
            <a:r>
              <a:rPr sz="3375" b="1" dirty="0">
                <a:latin typeface="Gill Sans"/>
                <a:cs typeface="Gill Sans"/>
              </a:rPr>
              <a:t>l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dirty="0">
                <a:latin typeface="Gill Sans"/>
                <a:cs typeface="Gill Sans"/>
              </a:rPr>
              <a:t>bi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dirty="0">
                <a:latin typeface="Gill Sans"/>
                <a:cs typeface="Gill Sans"/>
              </a:rPr>
              <a:t>ge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spc="123" dirty="0">
                <a:latin typeface="Gill Sans"/>
                <a:cs typeface="Gill Sans"/>
              </a:rPr>
              <a:t>g</a:t>
            </a:r>
            <a:r>
              <a:rPr sz="3375" b="1" spc="-49" dirty="0">
                <a:latin typeface="Gill Sans"/>
                <a:cs typeface="Gill Sans"/>
              </a:rPr>
              <a:t>r</a:t>
            </a:r>
            <a:r>
              <a:rPr sz="3375" b="1" spc="21" dirty="0">
                <a:latin typeface="Gill Sans"/>
                <a:cs typeface="Gill Sans"/>
              </a:rPr>
              <a:t>a</a:t>
            </a:r>
            <a:r>
              <a:rPr sz="3375" b="1" dirty="0">
                <a:latin typeface="Gill Sans"/>
                <a:cs typeface="Gill Sans"/>
              </a:rPr>
              <a:t>p</a:t>
            </a:r>
            <a:r>
              <a:rPr sz="3375" b="1" spc="-4" dirty="0">
                <a:latin typeface="Gill Sans"/>
                <a:cs typeface="Gill Sans"/>
              </a:rPr>
              <a:t>h</a:t>
            </a:r>
            <a:r>
              <a:rPr sz="3375" b="1" dirty="0">
                <a:latin typeface="Gill Sans"/>
                <a:cs typeface="Gill Sans"/>
              </a:rPr>
              <a:t>y</a:t>
            </a:r>
            <a:r>
              <a:rPr sz="3375" b="1" spc="-4" dirty="0">
                <a:latin typeface="Gill Sans"/>
                <a:cs typeface="Gill Sans"/>
              </a:rPr>
              <a:t> m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4" dirty="0">
                <a:latin typeface="Gill Sans"/>
                <a:cs typeface="Gill Sans"/>
              </a:rPr>
              <a:t>tho</a:t>
            </a:r>
            <a:r>
              <a:rPr sz="3375" b="1" dirty="0">
                <a:latin typeface="Gill Sans"/>
                <a:cs typeface="Gill Sans"/>
              </a:rPr>
              <a:t>d</a:t>
            </a:r>
            <a:r>
              <a:rPr sz="3375" b="1" spc="-18" dirty="0">
                <a:latin typeface="Gill Sans"/>
                <a:cs typeface="Gill Sans"/>
              </a:rPr>
              <a:t>s</a:t>
            </a:r>
            <a:endParaRPr sz="3375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891" y="497719"/>
            <a:ext cx="7255371" cy="1531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375" b="1" spc="-32" dirty="0">
                <a:latin typeface="Gill Sans"/>
                <a:cs typeface="Gill Sans"/>
              </a:rPr>
              <a:t>Hi</a:t>
            </a:r>
            <a:r>
              <a:rPr sz="3375" b="1" spc="-18" dirty="0">
                <a:latin typeface="Gill Sans"/>
                <a:cs typeface="Gill Sans"/>
              </a:rPr>
              <a:t>s</a:t>
            </a:r>
            <a:r>
              <a:rPr sz="3375" b="1" spc="-4" dirty="0">
                <a:latin typeface="Gill Sans"/>
                <a:cs typeface="Gill Sans"/>
              </a:rPr>
              <a:t>to</a:t>
            </a:r>
            <a:r>
              <a:rPr sz="3375" b="1" spc="-148" dirty="0">
                <a:latin typeface="Gill Sans"/>
                <a:cs typeface="Gill Sans"/>
              </a:rPr>
              <a:t>r</a:t>
            </a:r>
            <a:r>
              <a:rPr sz="3375" b="1" dirty="0">
                <a:latin typeface="Gill Sans"/>
                <a:cs typeface="Gill Sans"/>
              </a:rPr>
              <a:t>i</a:t>
            </a:r>
            <a:r>
              <a:rPr sz="3375" b="1" spc="-4" dirty="0">
                <a:latin typeface="Gill Sans"/>
                <a:cs typeface="Gill Sans"/>
              </a:rPr>
              <a:t>c</a:t>
            </a:r>
            <a:r>
              <a:rPr sz="3375" b="1" spc="-21" dirty="0">
                <a:latin typeface="Gill Sans"/>
                <a:cs typeface="Gill Sans"/>
              </a:rPr>
              <a:t>a</a:t>
            </a:r>
            <a:r>
              <a:rPr sz="3375" b="1" dirty="0">
                <a:latin typeface="Gill Sans"/>
                <a:cs typeface="Gill Sans"/>
              </a:rPr>
              <a:t>l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dirty="0">
                <a:latin typeface="Gill Sans"/>
                <a:cs typeface="Gill Sans"/>
              </a:rPr>
              <a:t>bi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dirty="0">
                <a:latin typeface="Gill Sans"/>
                <a:cs typeface="Gill Sans"/>
              </a:rPr>
              <a:t>ge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spc="123" dirty="0">
                <a:latin typeface="Gill Sans"/>
                <a:cs typeface="Gill Sans"/>
              </a:rPr>
              <a:t>g</a:t>
            </a:r>
            <a:r>
              <a:rPr sz="3375" b="1" spc="-49" dirty="0">
                <a:latin typeface="Gill Sans"/>
                <a:cs typeface="Gill Sans"/>
              </a:rPr>
              <a:t>r</a:t>
            </a:r>
            <a:r>
              <a:rPr sz="3375" b="1" spc="21" dirty="0">
                <a:latin typeface="Gill Sans"/>
                <a:cs typeface="Gill Sans"/>
              </a:rPr>
              <a:t>a</a:t>
            </a:r>
            <a:r>
              <a:rPr sz="3375" b="1" dirty="0">
                <a:latin typeface="Gill Sans"/>
                <a:cs typeface="Gill Sans"/>
              </a:rPr>
              <a:t>p</a:t>
            </a:r>
            <a:r>
              <a:rPr sz="3375" b="1" spc="-4" dirty="0">
                <a:latin typeface="Gill Sans"/>
                <a:cs typeface="Gill Sans"/>
              </a:rPr>
              <a:t>h</a:t>
            </a:r>
            <a:r>
              <a:rPr sz="3375" b="1" dirty="0">
                <a:latin typeface="Gill Sans"/>
                <a:cs typeface="Gill Sans"/>
              </a:rPr>
              <a:t>y</a:t>
            </a:r>
            <a:r>
              <a:rPr sz="3375" b="1" spc="-4" dirty="0">
                <a:latin typeface="Gill Sans"/>
                <a:cs typeface="Gill Sans"/>
              </a:rPr>
              <a:t> m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4" dirty="0">
                <a:latin typeface="Gill Sans"/>
                <a:cs typeface="Gill Sans"/>
              </a:rPr>
              <a:t>tho</a:t>
            </a:r>
            <a:r>
              <a:rPr sz="3375" b="1" dirty="0">
                <a:latin typeface="Gill Sans"/>
                <a:cs typeface="Gill Sans"/>
              </a:rPr>
              <a:t>d</a:t>
            </a:r>
            <a:r>
              <a:rPr sz="3375" b="1" spc="-18" dirty="0">
                <a:latin typeface="Gill Sans"/>
                <a:cs typeface="Gill Sans"/>
              </a:rPr>
              <a:t>s</a:t>
            </a:r>
            <a:endParaRPr sz="3375">
              <a:latin typeface="Gill Sans"/>
              <a:cs typeface="Gill Sans"/>
            </a:endParaRPr>
          </a:p>
          <a:p>
            <a:pPr>
              <a:spcBef>
                <a:spcPts val="5"/>
              </a:spcBef>
            </a:pPr>
            <a:endParaRPr sz="3199">
              <a:latin typeface="Times New Roman"/>
              <a:cs typeface="Times New Roman"/>
            </a:endParaRPr>
          </a:p>
          <a:p>
            <a:pPr marL="8929"/>
            <a:r>
              <a:rPr sz="3375" dirty="0">
                <a:latin typeface="Gill Sans"/>
                <a:cs typeface="Gill Sans"/>
              </a:rPr>
              <a:t>1.</a:t>
            </a:r>
            <a:r>
              <a:rPr sz="3375" spc="-340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Es</a:t>
            </a:r>
            <a:r>
              <a:rPr sz="3375" dirty="0">
                <a:latin typeface="Gill Sans"/>
                <a:cs typeface="Gill Sans"/>
              </a:rPr>
              <a:t>t</a:t>
            </a:r>
            <a:r>
              <a:rPr sz="3375" spc="-4" dirty="0">
                <a:latin typeface="Gill Sans"/>
                <a:cs typeface="Gill Sans"/>
              </a:rPr>
              <a:t>i</a:t>
            </a:r>
            <a:r>
              <a:rPr sz="3375" spc="-21" dirty="0">
                <a:latin typeface="Gill Sans"/>
                <a:cs typeface="Gill Sans"/>
              </a:rPr>
              <a:t>ma</a:t>
            </a:r>
            <a:r>
              <a:rPr sz="3375" dirty="0">
                <a:latin typeface="Gill Sans"/>
                <a:cs typeface="Gill Sans"/>
              </a:rPr>
              <a:t>te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a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u="heavy" spc="-18" dirty="0">
                <a:latin typeface="Gill Sans"/>
                <a:cs typeface="Gill Sans"/>
              </a:rPr>
              <a:t>dated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p</a:t>
            </a:r>
            <a:r>
              <a:rPr sz="3375" spc="-120" dirty="0">
                <a:latin typeface="Gill Sans"/>
                <a:cs typeface="Gill Sans"/>
              </a:rPr>
              <a:t>h</a:t>
            </a:r>
            <a:r>
              <a:rPr sz="3375" dirty="0">
                <a:latin typeface="Gill Sans"/>
                <a:cs typeface="Gill Sans"/>
              </a:rPr>
              <a:t>y</a:t>
            </a:r>
            <a:r>
              <a:rPr sz="3375" spc="-4" dirty="0">
                <a:latin typeface="Gill Sans"/>
                <a:cs typeface="Gill Sans"/>
              </a:rPr>
              <a:t>l</a:t>
            </a:r>
            <a:r>
              <a:rPr sz="3375" spc="-18" dirty="0">
                <a:latin typeface="Gill Sans"/>
                <a:cs typeface="Gill Sans"/>
              </a:rPr>
              <a:t>og</a:t>
            </a:r>
            <a:r>
              <a:rPr sz="3375" dirty="0">
                <a:latin typeface="Gill Sans"/>
                <a:cs typeface="Gill Sans"/>
              </a:rPr>
              <a:t>e</a:t>
            </a:r>
            <a:r>
              <a:rPr sz="3375" spc="-70" dirty="0">
                <a:latin typeface="Gill Sans"/>
                <a:cs typeface="Gill Sans"/>
              </a:rPr>
              <a:t>n</a:t>
            </a:r>
            <a:r>
              <a:rPr sz="3375" spc="-18" dirty="0">
                <a:latin typeface="Gill Sans"/>
                <a:cs typeface="Gill Sans"/>
              </a:rPr>
              <a:t>y</a:t>
            </a:r>
            <a:endParaRPr sz="3375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891" y="497720"/>
            <a:ext cx="7255371" cy="2542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375" b="1" spc="-32" dirty="0">
                <a:latin typeface="Gill Sans"/>
                <a:cs typeface="Gill Sans"/>
              </a:rPr>
              <a:t>Hi</a:t>
            </a:r>
            <a:r>
              <a:rPr sz="3375" b="1" spc="-18" dirty="0">
                <a:latin typeface="Gill Sans"/>
                <a:cs typeface="Gill Sans"/>
              </a:rPr>
              <a:t>s</a:t>
            </a:r>
            <a:r>
              <a:rPr sz="3375" b="1" spc="-4" dirty="0">
                <a:latin typeface="Gill Sans"/>
                <a:cs typeface="Gill Sans"/>
              </a:rPr>
              <a:t>to</a:t>
            </a:r>
            <a:r>
              <a:rPr sz="3375" b="1" spc="-148" dirty="0">
                <a:latin typeface="Gill Sans"/>
                <a:cs typeface="Gill Sans"/>
              </a:rPr>
              <a:t>r</a:t>
            </a:r>
            <a:r>
              <a:rPr sz="3375" b="1" dirty="0">
                <a:latin typeface="Gill Sans"/>
                <a:cs typeface="Gill Sans"/>
              </a:rPr>
              <a:t>i</a:t>
            </a:r>
            <a:r>
              <a:rPr sz="3375" b="1" spc="-4" dirty="0">
                <a:latin typeface="Gill Sans"/>
                <a:cs typeface="Gill Sans"/>
              </a:rPr>
              <a:t>c</a:t>
            </a:r>
            <a:r>
              <a:rPr sz="3375" b="1" spc="-21" dirty="0">
                <a:latin typeface="Gill Sans"/>
                <a:cs typeface="Gill Sans"/>
              </a:rPr>
              <a:t>a</a:t>
            </a:r>
            <a:r>
              <a:rPr sz="3375" b="1" dirty="0">
                <a:latin typeface="Gill Sans"/>
                <a:cs typeface="Gill Sans"/>
              </a:rPr>
              <a:t>l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dirty="0">
                <a:latin typeface="Gill Sans"/>
                <a:cs typeface="Gill Sans"/>
              </a:rPr>
              <a:t>bi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dirty="0">
                <a:latin typeface="Gill Sans"/>
                <a:cs typeface="Gill Sans"/>
              </a:rPr>
              <a:t>ge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spc="123" dirty="0">
                <a:latin typeface="Gill Sans"/>
                <a:cs typeface="Gill Sans"/>
              </a:rPr>
              <a:t>g</a:t>
            </a:r>
            <a:r>
              <a:rPr sz="3375" b="1" spc="-49" dirty="0">
                <a:latin typeface="Gill Sans"/>
                <a:cs typeface="Gill Sans"/>
              </a:rPr>
              <a:t>r</a:t>
            </a:r>
            <a:r>
              <a:rPr sz="3375" b="1" spc="21" dirty="0">
                <a:latin typeface="Gill Sans"/>
                <a:cs typeface="Gill Sans"/>
              </a:rPr>
              <a:t>a</a:t>
            </a:r>
            <a:r>
              <a:rPr sz="3375" b="1" dirty="0">
                <a:latin typeface="Gill Sans"/>
                <a:cs typeface="Gill Sans"/>
              </a:rPr>
              <a:t>p</a:t>
            </a:r>
            <a:r>
              <a:rPr sz="3375" b="1" spc="-4" dirty="0">
                <a:latin typeface="Gill Sans"/>
                <a:cs typeface="Gill Sans"/>
              </a:rPr>
              <a:t>h</a:t>
            </a:r>
            <a:r>
              <a:rPr sz="3375" b="1" dirty="0">
                <a:latin typeface="Gill Sans"/>
                <a:cs typeface="Gill Sans"/>
              </a:rPr>
              <a:t>y</a:t>
            </a:r>
            <a:r>
              <a:rPr sz="3375" b="1" spc="-4" dirty="0">
                <a:latin typeface="Gill Sans"/>
                <a:cs typeface="Gill Sans"/>
              </a:rPr>
              <a:t> m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4" dirty="0">
                <a:latin typeface="Gill Sans"/>
                <a:cs typeface="Gill Sans"/>
              </a:rPr>
              <a:t>tho</a:t>
            </a:r>
            <a:r>
              <a:rPr sz="3375" b="1" dirty="0">
                <a:latin typeface="Gill Sans"/>
                <a:cs typeface="Gill Sans"/>
              </a:rPr>
              <a:t>d</a:t>
            </a:r>
            <a:r>
              <a:rPr sz="3375" b="1" spc="-18" dirty="0">
                <a:latin typeface="Gill Sans"/>
                <a:cs typeface="Gill Sans"/>
              </a:rPr>
              <a:t>s</a:t>
            </a:r>
            <a:endParaRPr sz="3375">
              <a:latin typeface="Gill Sans"/>
              <a:cs typeface="Gill Sans"/>
            </a:endParaRPr>
          </a:p>
          <a:p>
            <a:pPr>
              <a:spcBef>
                <a:spcPts val="5"/>
              </a:spcBef>
            </a:pPr>
            <a:endParaRPr sz="3199">
              <a:latin typeface="Times New Roman"/>
              <a:cs typeface="Times New Roman"/>
            </a:endParaRPr>
          </a:p>
          <a:p>
            <a:pPr marL="393339" indent="-384409">
              <a:buFont typeface="Gill Sans"/>
              <a:buAutoNum type="arabicPeriod"/>
              <a:tabLst>
                <a:tab pos="393785" algn="l"/>
              </a:tabLst>
            </a:pPr>
            <a:r>
              <a:rPr sz="3375" spc="-18" dirty="0">
                <a:latin typeface="Gill Sans"/>
                <a:cs typeface="Gill Sans"/>
              </a:rPr>
              <a:t>Es</a:t>
            </a:r>
            <a:r>
              <a:rPr sz="3375" dirty="0">
                <a:latin typeface="Gill Sans"/>
                <a:cs typeface="Gill Sans"/>
              </a:rPr>
              <a:t>t</a:t>
            </a:r>
            <a:r>
              <a:rPr sz="3375" spc="-4" dirty="0">
                <a:latin typeface="Gill Sans"/>
                <a:cs typeface="Gill Sans"/>
              </a:rPr>
              <a:t>i</a:t>
            </a:r>
            <a:r>
              <a:rPr sz="3375" spc="-21" dirty="0">
                <a:latin typeface="Gill Sans"/>
                <a:cs typeface="Gill Sans"/>
              </a:rPr>
              <a:t>ma</a:t>
            </a:r>
            <a:r>
              <a:rPr sz="3375" dirty="0">
                <a:latin typeface="Gill Sans"/>
                <a:cs typeface="Gill Sans"/>
              </a:rPr>
              <a:t>te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a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u="heavy" spc="-18" dirty="0">
                <a:latin typeface="Gill Sans"/>
                <a:cs typeface="Gill Sans"/>
              </a:rPr>
              <a:t>dated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p</a:t>
            </a:r>
            <a:r>
              <a:rPr sz="3375" spc="-120" dirty="0">
                <a:latin typeface="Gill Sans"/>
                <a:cs typeface="Gill Sans"/>
              </a:rPr>
              <a:t>h</a:t>
            </a:r>
            <a:r>
              <a:rPr sz="3375" dirty="0">
                <a:latin typeface="Gill Sans"/>
                <a:cs typeface="Gill Sans"/>
              </a:rPr>
              <a:t>y</a:t>
            </a:r>
            <a:r>
              <a:rPr sz="3375" spc="-4" dirty="0">
                <a:latin typeface="Gill Sans"/>
                <a:cs typeface="Gill Sans"/>
              </a:rPr>
              <a:t>l</a:t>
            </a:r>
            <a:r>
              <a:rPr sz="3375" spc="-18" dirty="0">
                <a:latin typeface="Gill Sans"/>
                <a:cs typeface="Gill Sans"/>
              </a:rPr>
              <a:t>og</a:t>
            </a:r>
            <a:r>
              <a:rPr sz="3375" dirty="0">
                <a:latin typeface="Gill Sans"/>
                <a:cs typeface="Gill Sans"/>
              </a:rPr>
              <a:t>e</a:t>
            </a:r>
            <a:r>
              <a:rPr sz="3375" spc="-70" dirty="0">
                <a:latin typeface="Gill Sans"/>
                <a:cs typeface="Gill Sans"/>
              </a:rPr>
              <a:t>n</a:t>
            </a:r>
            <a:r>
              <a:rPr sz="3375" spc="-18" dirty="0">
                <a:latin typeface="Gill Sans"/>
                <a:cs typeface="Gill Sans"/>
              </a:rPr>
              <a:t>y</a:t>
            </a:r>
            <a:endParaRPr sz="3375">
              <a:latin typeface="Gill Sans"/>
              <a:cs typeface="Gill Sans"/>
            </a:endParaRPr>
          </a:p>
          <a:p>
            <a:pPr>
              <a:spcBef>
                <a:spcPts val="5"/>
              </a:spcBef>
              <a:buFont typeface="Gill Sans"/>
              <a:buAutoNum type="arabicPeriod"/>
            </a:pPr>
            <a:endParaRPr sz="3199">
              <a:latin typeface="Times New Roman"/>
              <a:cs typeface="Times New Roman"/>
            </a:endParaRPr>
          </a:p>
          <a:p>
            <a:pPr marL="393339" indent="-384409">
              <a:buFont typeface="Gill Sans"/>
              <a:buAutoNum type="arabicPeriod"/>
              <a:tabLst>
                <a:tab pos="393785" algn="l"/>
              </a:tabLst>
            </a:pPr>
            <a:r>
              <a:rPr sz="3375" spc="-18" dirty="0">
                <a:latin typeface="Gill Sans"/>
                <a:cs typeface="Gill Sans"/>
              </a:rPr>
              <a:t>P</a:t>
            </a:r>
            <a:r>
              <a:rPr sz="3375" dirty="0">
                <a:latin typeface="Gill Sans"/>
                <a:cs typeface="Gill Sans"/>
              </a:rPr>
              <a:t>ut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the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geogr</a:t>
            </a:r>
            <a:r>
              <a:rPr sz="3375" spc="-53" dirty="0">
                <a:latin typeface="Gill Sans"/>
                <a:cs typeface="Gill Sans"/>
              </a:rPr>
              <a:t>a</a:t>
            </a:r>
            <a:r>
              <a:rPr sz="3375" dirty="0">
                <a:latin typeface="Gill Sans"/>
                <a:cs typeface="Gill Sans"/>
              </a:rPr>
              <a:t>ph</a:t>
            </a:r>
            <a:r>
              <a:rPr sz="3375" spc="-4" dirty="0">
                <a:latin typeface="Gill Sans"/>
                <a:cs typeface="Gill Sans"/>
              </a:rPr>
              <a:t>i</a:t>
            </a:r>
            <a:r>
              <a:rPr sz="3375" spc="-18" dirty="0">
                <a:latin typeface="Gill Sans"/>
                <a:cs typeface="Gill Sans"/>
              </a:rPr>
              <a:t>c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ranges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a</a:t>
            </a:r>
            <a:r>
              <a:rPr sz="3375" dirty="0">
                <a:latin typeface="Gill Sans"/>
                <a:cs typeface="Gill Sans"/>
              </a:rPr>
              <a:t>t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the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t</a:t>
            </a:r>
            <a:r>
              <a:rPr sz="3375" spc="-4" dirty="0">
                <a:latin typeface="Gill Sans"/>
                <a:cs typeface="Gill Sans"/>
              </a:rPr>
              <a:t>i</a:t>
            </a:r>
            <a:r>
              <a:rPr sz="3375" spc="-18" dirty="0">
                <a:latin typeface="Gill Sans"/>
                <a:cs typeface="Gill Sans"/>
              </a:rPr>
              <a:t>ps</a:t>
            </a:r>
            <a:endParaRPr sz="3375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891" y="497720"/>
            <a:ext cx="7255371" cy="3554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375" b="1" spc="-32" dirty="0">
                <a:latin typeface="Gill Sans"/>
                <a:cs typeface="Gill Sans"/>
              </a:rPr>
              <a:t>Hi</a:t>
            </a:r>
            <a:r>
              <a:rPr sz="3375" b="1" spc="-18" dirty="0">
                <a:latin typeface="Gill Sans"/>
                <a:cs typeface="Gill Sans"/>
              </a:rPr>
              <a:t>s</a:t>
            </a:r>
            <a:r>
              <a:rPr sz="3375" b="1" spc="-4" dirty="0">
                <a:latin typeface="Gill Sans"/>
                <a:cs typeface="Gill Sans"/>
              </a:rPr>
              <a:t>to</a:t>
            </a:r>
            <a:r>
              <a:rPr sz="3375" b="1" spc="-148" dirty="0">
                <a:latin typeface="Gill Sans"/>
                <a:cs typeface="Gill Sans"/>
              </a:rPr>
              <a:t>r</a:t>
            </a:r>
            <a:r>
              <a:rPr sz="3375" b="1" dirty="0">
                <a:latin typeface="Gill Sans"/>
                <a:cs typeface="Gill Sans"/>
              </a:rPr>
              <a:t>i</a:t>
            </a:r>
            <a:r>
              <a:rPr sz="3375" b="1" spc="-4" dirty="0">
                <a:latin typeface="Gill Sans"/>
                <a:cs typeface="Gill Sans"/>
              </a:rPr>
              <a:t>c</a:t>
            </a:r>
            <a:r>
              <a:rPr sz="3375" b="1" spc="-21" dirty="0">
                <a:latin typeface="Gill Sans"/>
                <a:cs typeface="Gill Sans"/>
              </a:rPr>
              <a:t>a</a:t>
            </a:r>
            <a:r>
              <a:rPr sz="3375" b="1" dirty="0">
                <a:latin typeface="Gill Sans"/>
                <a:cs typeface="Gill Sans"/>
              </a:rPr>
              <a:t>l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dirty="0">
                <a:latin typeface="Gill Sans"/>
                <a:cs typeface="Gill Sans"/>
              </a:rPr>
              <a:t>bi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dirty="0">
                <a:latin typeface="Gill Sans"/>
                <a:cs typeface="Gill Sans"/>
              </a:rPr>
              <a:t>ge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spc="123" dirty="0">
                <a:latin typeface="Gill Sans"/>
                <a:cs typeface="Gill Sans"/>
              </a:rPr>
              <a:t>g</a:t>
            </a:r>
            <a:r>
              <a:rPr sz="3375" b="1" spc="-49" dirty="0">
                <a:latin typeface="Gill Sans"/>
                <a:cs typeface="Gill Sans"/>
              </a:rPr>
              <a:t>r</a:t>
            </a:r>
            <a:r>
              <a:rPr sz="3375" b="1" spc="21" dirty="0">
                <a:latin typeface="Gill Sans"/>
                <a:cs typeface="Gill Sans"/>
              </a:rPr>
              <a:t>a</a:t>
            </a:r>
            <a:r>
              <a:rPr sz="3375" b="1" dirty="0">
                <a:latin typeface="Gill Sans"/>
                <a:cs typeface="Gill Sans"/>
              </a:rPr>
              <a:t>p</a:t>
            </a:r>
            <a:r>
              <a:rPr sz="3375" b="1" spc="-4" dirty="0">
                <a:latin typeface="Gill Sans"/>
                <a:cs typeface="Gill Sans"/>
              </a:rPr>
              <a:t>h</a:t>
            </a:r>
            <a:r>
              <a:rPr sz="3375" b="1" dirty="0">
                <a:latin typeface="Gill Sans"/>
                <a:cs typeface="Gill Sans"/>
              </a:rPr>
              <a:t>y</a:t>
            </a:r>
            <a:r>
              <a:rPr sz="3375" b="1" spc="-4" dirty="0">
                <a:latin typeface="Gill Sans"/>
                <a:cs typeface="Gill Sans"/>
              </a:rPr>
              <a:t> m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4" dirty="0">
                <a:latin typeface="Gill Sans"/>
                <a:cs typeface="Gill Sans"/>
              </a:rPr>
              <a:t>tho</a:t>
            </a:r>
            <a:r>
              <a:rPr sz="3375" b="1" dirty="0">
                <a:latin typeface="Gill Sans"/>
                <a:cs typeface="Gill Sans"/>
              </a:rPr>
              <a:t>d</a:t>
            </a:r>
            <a:r>
              <a:rPr sz="3375" b="1" spc="-18" dirty="0">
                <a:latin typeface="Gill Sans"/>
                <a:cs typeface="Gill Sans"/>
              </a:rPr>
              <a:t>s</a:t>
            </a:r>
            <a:endParaRPr sz="3375">
              <a:latin typeface="Gill Sans"/>
              <a:cs typeface="Gill Sans"/>
            </a:endParaRPr>
          </a:p>
          <a:p>
            <a:pPr>
              <a:spcBef>
                <a:spcPts val="5"/>
              </a:spcBef>
            </a:pPr>
            <a:endParaRPr sz="3199">
              <a:latin typeface="Times New Roman"/>
              <a:cs typeface="Times New Roman"/>
            </a:endParaRPr>
          </a:p>
          <a:p>
            <a:pPr marL="393339" indent="-384409">
              <a:buFont typeface="Gill Sans"/>
              <a:buAutoNum type="arabicPeriod"/>
              <a:tabLst>
                <a:tab pos="393785" algn="l"/>
              </a:tabLst>
            </a:pPr>
            <a:r>
              <a:rPr sz="3375" spc="-18" dirty="0">
                <a:latin typeface="Gill Sans"/>
                <a:cs typeface="Gill Sans"/>
              </a:rPr>
              <a:t>Es</a:t>
            </a:r>
            <a:r>
              <a:rPr sz="3375" dirty="0">
                <a:latin typeface="Gill Sans"/>
                <a:cs typeface="Gill Sans"/>
              </a:rPr>
              <a:t>t</a:t>
            </a:r>
            <a:r>
              <a:rPr sz="3375" spc="-4" dirty="0">
                <a:latin typeface="Gill Sans"/>
                <a:cs typeface="Gill Sans"/>
              </a:rPr>
              <a:t>i</a:t>
            </a:r>
            <a:r>
              <a:rPr sz="3375" spc="-21" dirty="0">
                <a:latin typeface="Gill Sans"/>
                <a:cs typeface="Gill Sans"/>
              </a:rPr>
              <a:t>ma</a:t>
            </a:r>
            <a:r>
              <a:rPr sz="3375" dirty="0">
                <a:latin typeface="Gill Sans"/>
                <a:cs typeface="Gill Sans"/>
              </a:rPr>
              <a:t>te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a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u="heavy" spc="-18" dirty="0">
                <a:latin typeface="Gill Sans"/>
                <a:cs typeface="Gill Sans"/>
              </a:rPr>
              <a:t>dated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p</a:t>
            </a:r>
            <a:r>
              <a:rPr sz="3375" spc="-120" dirty="0">
                <a:latin typeface="Gill Sans"/>
                <a:cs typeface="Gill Sans"/>
              </a:rPr>
              <a:t>h</a:t>
            </a:r>
            <a:r>
              <a:rPr sz="3375" dirty="0">
                <a:latin typeface="Gill Sans"/>
                <a:cs typeface="Gill Sans"/>
              </a:rPr>
              <a:t>y</a:t>
            </a:r>
            <a:r>
              <a:rPr sz="3375" spc="-4" dirty="0">
                <a:latin typeface="Gill Sans"/>
                <a:cs typeface="Gill Sans"/>
              </a:rPr>
              <a:t>l</a:t>
            </a:r>
            <a:r>
              <a:rPr sz="3375" spc="-18" dirty="0">
                <a:latin typeface="Gill Sans"/>
                <a:cs typeface="Gill Sans"/>
              </a:rPr>
              <a:t>og</a:t>
            </a:r>
            <a:r>
              <a:rPr sz="3375" dirty="0">
                <a:latin typeface="Gill Sans"/>
                <a:cs typeface="Gill Sans"/>
              </a:rPr>
              <a:t>e</a:t>
            </a:r>
            <a:r>
              <a:rPr sz="3375" spc="-70" dirty="0">
                <a:latin typeface="Gill Sans"/>
                <a:cs typeface="Gill Sans"/>
              </a:rPr>
              <a:t>n</a:t>
            </a:r>
            <a:r>
              <a:rPr sz="3375" spc="-18" dirty="0">
                <a:latin typeface="Gill Sans"/>
                <a:cs typeface="Gill Sans"/>
              </a:rPr>
              <a:t>y</a:t>
            </a:r>
            <a:endParaRPr sz="3375">
              <a:latin typeface="Gill Sans"/>
              <a:cs typeface="Gill Sans"/>
            </a:endParaRPr>
          </a:p>
          <a:p>
            <a:pPr>
              <a:spcBef>
                <a:spcPts val="5"/>
              </a:spcBef>
              <a:buFont typeface="Gill Sans"/>
              <a:buAutoNum type="arabicPeriod"/>
            </a:pPr>
            <a:endParaRPr sz="3199">
              <a:latin typeface="Times New Roman"/>
              <a:cs typeface="Times New Roman"/>
            </a:endParaRPr>
          </a:p>
          <a:p>
            <a:pPr marL="393339" indent="-384409">
              <a:buFont typeface="Gill Sans"/>
              <a:buAutoNum type="arabicPeriod"/>
              <a:tabLst>
                <a:tab pos="393785" algn="l"/>
              </a:tabLst>
            </a:pPr>
            <a:r>
              <a:rPr sz="3375" spc="-18" dirty="0">
                <a:latin typeface="Gill Sans"/>
                <a:cs typeface="Gill Sans"/>
              </a:rPr>
              <a:t>P</a:t>
            </a:r>
            <a:r>
              <a:rPr sz="3375" dirty="0">
                <a:latin typeface="Gill Sans"/>
                <a:cs typeface="Gill Sans"/>
              </a:rPr>
              <a:t>ut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the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geogr</a:t>
            </a:r>
            <a:r>
              <a:rPr sz="3375" spc="-53" dirty="0">
                <a:latin typeface="Gill Sans"/>
                <a:cs typeface="Gill Sans"/>
              </a:rPr>
              <a:t>a</a:t>
            </a:r>
            <a:r>
              <a:rPr sz="3375" dirty="0">
                <a:latin typeface="Gill Sans"/>
                <a:cs typeface="Gill Sans"/>
              </a:rPr>
              <a:t>ph</a:t>
            </a:r>
            <a:r>
              <a:rPr sz="3375" spc="-4" dirty="0">
                <a:latin typeface="Gill Sans"/>
                <a:cs typeface="Gill Sans"/>
              </a:rPr>
              <a:t>i</a:t>
            </a:r>
            <a:r>
              <a:rPr sz="3375" spc="-18" dirty="0">
                <a:latin typeface="Gill Sans"/>
                <a:cs typeface="Gill Sans"/>
              </a:rPr>
              <a:t>c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ranges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a</a:t>
            </a:r>
            <a:r>
              <a:rPr sz="3375" dirty="0">
                <a:latin typeface="Gill Sans"/>
                <a:cs typeface="Gill Sans"/>
              </a:rPr>
              <a:t>t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the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t</a:t>
            </a:r>
            <a:r>
              <a:rPr sz="3375" spc="-4" dirty="0">
                <a:latin typeface="Gill Sans"/>
                <a:cs typeface="Gill Sans"/>
              </a:rPr>
              <a:t>i</a:t>
            </a:r>
            <a:r>
              <a:rPr sz="3375" spc="-18" dirty="0">
                <a:latin typeface="Gill Sans"/>
                <a:cs typeface="Gill Sans"/>
              </a:rPr>
              <a:t>ps</a:t>
            </a:r>
            <a:endParaRPr sz="3375">
              <a:latin typeface="Gill Sans"/>
              <a:cs typeface="Gill Sans"/>
            </a:endParaRPr>
          </a:p>
          <a:p>
            <a:pPr>
              <a:spcBef>
                <a:spcPts val="5"/>
              </a:spcBef>
              <a:buFont typeface="Gill Sans"/>
              <a:buAutoNum type="arabicPeriod"/>
            </a:pPr>
            <a:endParaRPr sz="3199">
              <a:latin typeface="Times New Roman"/>
              <a:cs typeface="Times New Roman"/>
            </a:endParaRPr>
          </a:p>
          <a:p>
            <a:pPr marL="350031" indent="-341102">
              <a:buFont typeface="Gill Sans"/>
              <a:buAutoNum type="arabicPeriod"/>
              <a:tabLst>
                <a:tab pos="350478" algn="l"/>
              </a:tabLst>
            </a:pPr>
            <a:r>
              <a:rPr sz="3375" spc="-18" dirty="0">
                <a:latin typeface="Gill Sans"/>
                <a:cs typeface="Gill Sans"/>
              </a:rPr>
              <a:t>Ass</a:t>
            </a:r>
            <a:r>
              <a:rPr sz="3375" dirty="0">
                <a:latin typeface="Gill Sans"/>
                <a:cs typeface="Gill Sans"/>
              </a:rPr>
              <a:t>ume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so</a:t>
            </a:r>
            <a:r>
              <a:rPr sz="3375" dirty="0">
                <a:latin typeface="Gill Sans"/>
                <a:cs typeface="Gill Sans"/>
              </a:rPr>
              <a:t>me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p</a:t>
            </a:r>
            <a:r>
              <a:rPr sz="3375" spc="-98" dirty="0">
                <a:latin typeface="Gill Sans"/>
                <a:cs typeface="Gill Sans"/>
              </a:rPr>
              <a:t>r</a:t>
            </a:r>
            <a:r>
              <a:rPr sz="3375" spc="-18" dirty="0">
                <a:latin typeface="Gill Sans"/>
                <a:cs typeface="Gill Sans"/>
              </a:rPr>
              <a:t>ocess</a:t>
            </a:r>
            <a:r>
              <a:rPr sz="3375" spc="-4" dirty="0">
                <a:latin typeface="Gill Sans"/>
                <a:cs typeface="Gill Sans"/>
              </a:rPr>
              <a:t>(</a:t>
            </a:r>
            <a:r>
              <a:rPr sz="3375" spc="-18" dirty="0">
                <a:latin typeface="Gill Sans"/>
                <a:cs typeface="Gill Sans"/>
              </a:rPr>
              <a:t>es</a:t>
            </a:r>
            <a:r>
              <a:rPr sz="3375" dirty="0">
                <a:latin typeface="Gill Sans"/>
                <a:cs typeface="Gill Sans"/>
              </a:rPr>
              <a:t>)</a:t>
            </a:r>
            <a:endParaRPr sz="3375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891" y="497719"/>
            <a:ext cx="7255371" cy="45661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375" b="1" spc="-32" dirty="0">
                <a:latin typeface="Gill Sans"/>
                <a:cs typeface="Gill Sans"/>
              </a:rPr>
              <a:t>Hi</a:t>
            </a:r>
            <a:r>
              <a:rPr sz="3375" b="1" spc="-18" dirty="0">
                <a:latin typeface="Gill Sans"/>
                <a:cs typeface="Gill Sans"/>
              </a:rPr>
              <a:t>s</a:t>
            </a:r>
            <a:r>
              <a:rPr sz="3375" b="1" spc="-4" dirty="0">
                <a:latin typeface="Gill Sans"/>
                <a:cs typeface="Gill Sans"/>
              </a:rPr>
              <a:t>to</a:t>
            </a:r>
            <a:r>
              <a:rPr sz="3375" b="1" spc="-148" dirty="0">
                <a:latin typeface="Gill Sans"/>
                <a:cs typeface="Gill Sans"/>
              </a:rPr>
              <a:t>r</a:t>
            </a:r>
            <a:r>
              <a:rPr sz="3375" b="1" dirty="0">
                <a:latin typeface="Gill Sans"/>
                <a:cs typeface="Gill Sans"/>
              </a:rPr>
              <a:t>i</a:t>
            </a:r>
            <a:r>
              <a:rPr sz="3375" b="1" spc="-4" dirty="0">
                <a:latin typeface="Gill Sans"/>
                <a:cs typeface="Gill Sans"/>
              </a:rPr>
              <a:t>c</a:t>
            </a:r>
            <a:r>
              <a:rPr sz="3375" b="1" spc="-21" dirty="0">
                <a:latin typeface="Gill Sans"/>
                <a:cs typeface="Gill Sans"/>
              </a:rPr>
              <a:t>a</a:t>
            </a:r>
            <a:r>
              <a:rPr sz="3375" b="1" dirty="0">
                <a:latin typeface="Gill Sans"/>
                <a:cs typeface="Gill Sans"/>
              </a:rPr>
              <a:t>l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dirty="0">
                <a:latin typeface="Gill Sans"/>
                <a:cs typeface="Gill Sans"/>
              </a:rPr>
              <a:t>bi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dirty="0">
                <a:latin typeface="Gill Sans"/>
                <a:cs typeface="Gill Sans"/>
              </a:rPr>
              <a:t>ge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spc="123" dirty="0">
                <a:latin typeface="Gill Sans"/>
                <a:cs typeface="Gill Sans"/>
              </a:rPr>
              <a:t>g</a:t>
            </a:r>
            <a:r>
              <a:rPr sz="3375" b="1" spc="-49" dirty="0">
                <a:latin typeface="Gill Sans"/>
                <a:cs typeface="Gill Sans"/>
              </a:rPr>
              <a:t>r</a:t>
            </a:r>
            <a:r>
              <a:rPr sz="3375" b="1" spc="21" dirty="0">
                <a:latin typeface="Gill Sans"/>
                <a:cs typeface="Gill Sans"/>
              </a:rPr>
              <a:t>a</a:t>
            </a:r>
            <a:r>
              <a:rPr sz="3375" b="1" dirty="0">
                <a:latin typeface="Gill Sans"/>
                <a:cs typeface="Gill Sans"/>
              </a:rPr>
              <a:t>p</a:t>
            </a:r>
            <a:r>
              <a:rPr sz="3375" b="1" spc="-4" dirty="0">
                <a:latin typeface="Gill Sans"/>
                <a:cs typeface="Gill Sans"/>
              </a:rPr>
              <a:t>h</a:t>
            </a:r>
            <a:r>
              <a:rPr sz="3375" b="1" dirty="0">
                <a:latin typeface="Gill Sans"/>
                <a:cs typeface="Gill Sans"/>
              </a:rPr>
              <a:t>y</a:t>
            </a:r>
            <a:r>
              <a:rPr sz="3375" b="1" spc="-4" dirty="0">
                <a:latin typeface="Gill Sans"/>
                <a:cs typeface="Gill Sans"/>
              </a:rPr>
              <a:t> m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4" dirty="0">
                <a:latin typeface="Gill Sans"/>
                <a:cs typeface="Gill Sans"/>
              </a:rPr>
              <a:t>tho</a:t>
            </a:r>
            <a:r>
              <a:rPr sz="3375" b="1" dirty="0">
                <a:latin typeface="Gill Sans"/>
                <a:cs typeface="Gill Sans"/>
              </a:rPr>
              <a:t>d</a:t>
            </a:r>
            <a:r>
              <a:rPr sz="3375" b="1" spc="-18" dirty="0">
                <a:latin typeface="Gill Sans"/>
                <a:cs typeface="Gill Sans"/>
              </a:rPr>
              <a:t>s</a:t>
            </a:r>
            <a:endParaRPr sz="3375">
              <a:latin typeface="Gill Sans"/>
              <a:cs typeface="Gill Sans"/>
            </a:endParaRPr>
          </a:p>
          <a:p>
            <a:pPr>
              <a:spcBef>
                <a:spcPts val="5"/>
              </a:spcBef>
            </a:pPr>
            <a:endParaRPr sz="3199">
              <a:latin typeface="Times New Roman"/>
              <a:cs typeface="Times New Roman"/>
            </a:endParaRPr>
          </a:p>
          <a:p>
            <a:pPr marL="393339" indent="-384409">
              <a:buFont typeface="Gill Sans"/>
              <a:buAutoNum type="arabicPeriod"/>
              <a:tabLst>
                <a:tab pos="393785" algn="l"/>
              </a:tabLst>
            </a:pPr>
            <a:r>
              <a:rPr sz="3375" spc="-18" dirty="0">
                <a:latin typeface="Gill Sans"/>
                <a:cs typeface="Gill Sans"/>
              </a:rPr>
              <a:t>Es</a:t>
            </a:r>
            <a:r>
              <a:rPr sz="3375" dirty="0">
                <a:latin typeface="Gill Sans"/>
                <a:cs typeface="Gill Sans"/>
              </a:rPr>
              <a:t>t</a:t>
            </a:r>
            <a:r>
              <a:rPr sz="3375" spc="-4" dirty="0">
                <a:latin typeface="Gill Sans"/>
                <a:cs typeface="Gill Sans"/>
              </a:rPr>
              <a:t>i</a:t>
            </a:r>
            <a:r>
              <a:rPr sz="3375" spc="-21" dirty="0">
                <a:latin typeface="Gill Sans"/>
                <a:cs typeface="Gill Sans"/>
              </a:rPr>
              <a:t>ma</a:t>
            </a:r>
            <a:r>
              <a:rPr sz="3375" dirty="0">
                <a:latin typeface="Gill Sans"/>
                <a:cs typeface="Gill Sans"/>
              </a:rPr>
              <a:t>te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a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u="heavy" spc="-18" dirty="0">
                <a:latin typeface="Gill Sans"/>
                <a:cs typeface="Gill Sans"/>
              </a:rPr>
              <a:t>dated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p</a:t>
            </a:r>
            <a:r>
              <a:rPr sz="3375" spc="-120" dirty="0">
                <a:latin typeface="Gill Sans"/>
                <a:cs typeface="Gill Sans"/>
              </a:rPr>
              <a:t>h</a:t>
            </a:r>
            <a:r>
              <a:rPr sz="3375" dirty="0">
                <a:latin typeface="Gill Sans"/>
                <a:cs typeface="Gill Sans"/>
              </a:rPr>
              <a:t>y</a:t>
            </a:r>
            <a:r>
              <a:rPr sz="3375" spc="-4" dirty="0">
                <a:latin typeface="Gill Sans"/>
                <a:cs typeface="Gill Sans"/>
              </a:rPr>
              <a:t>l</a:t>
            </a:r>
            <a:r>
              <a:rPr sz="3375" spc="-18" dirty="0">
                <a:latin typeface="Gill Sans"/>
                <a:cs typeface="Gill Sans"/>
              </a:rPr>
              <a:t>og</a:t>
            </a:r>
            <a:r>
              <a:rPr sz="3375" dirty="0">
                <a:latin typeface="Gill Sans"/>
                <a:cs typeface="Gill Sans"/>
              </a:rPr>
              <a:t>e</a:t>
            </a:r>
            <a:r>
              <a:rPr sz="3375" spc="-70" dirty="0">
                <a:latin typeface="Gill Sans"/>
                <a:cs typeface="Gill Sans"/>
              </a:rPr>
              <a:t>n</a:t>
            </a:r>
            <a:r>
              <a:rPr sz="3375" spc="-18" dirty="0">
                <a:latin typeface="Gill Sans"/>
                <a:cs typeface="Gill Sans"/>
              </a:rPr>
              <a:t>y</a:t>
            </a:r>
            <a:endParaRPr sz="3375">
              <a:latin typeface="Gill Sans"/>
              <a:cs typeface="Gill Sans"/>
            </a:endParaRPr>
          </a:p>
          <a:p>
            <a:pPr>
              <a:spcBef>
                <a:spcPts val="5"/>
              </a:spcBef>
              <a:buFont typeface="Gill Sans"/>
              <a:buAutoNum type="arabicPeriod"/>
            </a:pPr>
            <a:endParaRPr sz="3199">
              <a:latin typeface="Times New Roman"/>
              <a:cs typeface="Times New Roman"/>
            </a:endParaRPr>
          </a:p>
          <a:p>
            <a:pPr marL="393339" indent="-384409">
              <a:buFont typeface="Gill Sans"/>
              <a:buAutoNum type="arabicPeriod"/>
              <a:tabLst>
                <a:tab pos="393785" algn="l"/>
              </a:tabLst>
            </a:pPr>
            <a:r>
              <a:rPr sz="3375" spc="-18" dirty="0">
                <a:latin typeface="Gill Sans"/>
                <a:cs typeface="Gill Sans"/>
              </a:rPr>
              <a:t>P</a:t>
            </a:r>
            <a:r>
              <a:rPr sz="3375" dirty="0">
                <a:latin typeface="Gill Sans"/>
                <a:cs typeface="Gill Sans"/>
              </a:rPr>
              <a:t>ut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the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geogr</a:t>
            </a:r>
            <a:r>
              <a:rPr sz="3375" spc="-53" dirty="0">
                <a:latin typeface="Gill Sans"/>
                <a:cs typeface="Gill Sans"/>
              </a:rPr>
              <a:t>a</a:t>
            </a:r>
            <a:r>
              <a:rPr sz="3375" dirty="0">
                <a:latin typeface="Gill Sans"/>
                <a:cs typeface="Gill Sans"/>
              </a:rPr>
              <a:t>ph</a:t>
            </a:r>
            <a:r>
              <a:rPr sz="3375" spc="-4" dirty="0">
                <a:latin typeface="Gill Sans"/>
                <a:cs typeface="Gill Sans"/>
              </a:rPr>
              <a:t>i</a:t>
            </a:r>
            <a:r>
              <a:rPr sz="3375" spc="-18" dirty="0">
                <a:latin typeface="Gill Sans"/>
                <a:cs typeface="Gill Sans"/>
              </a:rPr>
              <a:t>c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ranges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a</a:t>
            </a:r>
            <a:r>
              <a:rPr sz="3375" dirty="0">
                <a:latin typeface="Gill Sans"/>
                <a:cs typeface="Gill Sans"/>
              </a:rPr>
              <a:t>t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the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t</a:t>
            </a:r>
            <a:r>
              <a:rPr sz="3375" spc="-4" dirty="0">
                <a:latin typeface="Gill Sans"/>
                <a:cs typeface="Gill Sans"/>
              </a:rPr>
              <a:t>i</a:t>
            </a:r>
            <a:r>
              <a:rPr sz="3375" spc="-18" dirty="0">
                <a:latin typeface="Gill Sans"/>
                <a:cs typeface="Gill Sans"/>
              </a:rPr>
              <a:t>ps</a:t>
            </a:r>
            <a:endParaRPr sz="3375">
              <a:latin typeface="Gill Sans"/>
              <a:cs typeface="Gill Sans"/>
            </a:endParaRPr>
          </a:p>
          <a:p>
            <a:pPr>
              <a:spcBef>
                <a:spcPts val="5"/>
              </a:spcBef>
              <a:buFont typeface="Gill Sans"/>
              <a:buAutoNum type="arabicPeriod"/>
            </a:pPr>
            <a:endParaRPr sz="3199">
              <a:latin typeface="Times New Roman"/>
              <a:cs typeface="Times New Roman"/>
            </a:endParaRPr>
          </a:p>
          <a:p>
            <a:pPr marL="350031" indent="-341102">
              <a:buFont typeface="Gill Sans"/>
              <a:buAutoNum type="arabicPeriod"/>
              <a:tabLst>
                <a:tab pos="350478" algn="l"/>
              </a:tabLst>
            </a:pPr>
            <a:r>
              <a:rPr sz="3375" spc="-18" dirty="0">
                <a:latin typeface="Gill Sans"/>
                <a:cs typeface="Gill Sans"/>
              </a:rPr>
              <a:t>Ass</a:t>
            </a:r>
            <a:r>
              <a:rPr sz="3375" dirty="0">
                <a:latin typeface="Gill Sans"/>
                <a:cs typeface="Gill Sans"/>
              </a:rPr>
              <a:t>ume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so</a:t>
            </a:r>
            <a:r>
              <a:rPr sz="3375" dirty="0">
                <a:latin typeface="Gill Sans"/>
                <a:cs typeface="Gill Sans"/>
              </a:rPr>
              <a:t>me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p</a:t>
            </a:r>
            <a:r>
              <a:rPr sz="3375" spc="-98" dirty="0">
                <a:latin typeface="Gill Sans"/>
                <a:cs typeface="Gill Sans"/>
              </a:rPr>
              <a:t>r</a:t>
            </a:r>
            <a:r>
              <a:rPr sz="3375" spc="-18" dirty="0">
                <a:latin typeface="Gill Sans"/>
                <a:cs typeface="Gill Sans"/>
              </a:rPr>
              <a:t>ocess</a:t>
            </a:r>
            <a:r>
              <a:rPr sz="3375" spc="-4" dirty="0">
                <a:latin typeface="Gill Sans"/>
                <a:cs typeface="Gill Sans"/>
              </a:rPr>
              <a:t>(</a:t>
            </a:r>
            <a:r>
              <a:rPr sz="3375" spc="-18" dirty="0">
                <a:latin typeface="Gill Sans"/>
                <a:cs typeface="Gill Sans"/>
              </a:rPr>
              <a:t>es</a:t>
            </a:r>
            <a:r>
              <a:rPr sz="3375" dirty="0">
                <a:latin typeface="Gill Sans"/>
                <a:cs typeface="Gill Sans"/>
              </a:rPr>
              <a:t>)</a:t>
            </a:r>
            <a:endParaRPr sz="3375">
              <a:latin typeface="Gill Sans"/>
              <a:cs typeface="Gill Sans"/>
            </a:endParaRPr>
          </a:p>
          <a:p>
            <a:pPr>
              <a:spcBef>
                <a:spcPts val="5"/>
              </a:spcBef>
              <a:buFont typeface="Gill Sans"/>
              <a:buAutoNum type="arabicPeriod"/>
            </a:pPr>
            <a:endParaRPr sz="3199">
              <a:latin typeface="Times New Roman"/>
              <a:cs typeface="Times New Roman"/>
            </a:endParaRPr>
          </a:p>
          <a:p>
            <a:pPr marL="393339" indent="-384409">
              <a:buFont typeface="Gill Sans"/>
              <a:buAutoNum type="arabicPeriod"/>
              <a:tabLst>
                <a:tab pos="393785" algn="l"/>
              </a:tabLst>
            </a:pPr>
            <a:r>
              <a:rPr sz="3375" spc="-18" dirty="0">
                <a:latin typeface="Gill Sans"/>
                <a:cs typeface="Gill Sans"/>
              </a:rPr>
              <a:t>Conduct</a:t>
            </a:r>
            <a:r>
              <a:rPr sz="3375" spc="-4" dirty="0">
                <a:latin typeface="Gill Sans"/>
                <a:cs typeface="Gill Sans"/>
              </a:rPr>
              <a:t> i</a:t>
            </a:r>
            <a:r>
              <a:rPr sz="3375" dirty="0">
                <a:latin typeface="Gill Sans"/>
                <a:cs typeface="Gill Sans"/>
              </a:rPr>
              <a:t>n</a:t>
            </a:r>
            <a:r>
              <a:rPr sz="3375" spc="-35" dirty="0">
                <a:latin typeface="Gill Sans"/>
                <a:cs typeface="Gill Sans"/>
              </a:rPr>
              <a:t>f</a:t>
            </a:r>
            <a:r>
              <a:rPr sz="3375" dirty="0">
                <a:latin typeface="Gill Sans"/>
                <a:cs typeface="Gill Sans"/>
              </a:rPr>
              <a:t>e</a:t>
            </a:r>
            <a:r>
              <a:rPr sz="3375" spc="-70" dirty="0">
                <a:latin typeface="Gill Sans"/>
                <a:cs typeface="Gill Sans"/>
              </a:rPr>
              <a:t>r</a:t>
            </a:r>
            <a:r>
              <a:rPr sz="3375" spc="-18" dirty="0">
                <a:latin typeface="Gill Sans"/>
                <a:cs typeface="Gill Sans"/>
              </a:rPr>
              <a:t>ence</a:t>
            </a:r>
            <a:endParaRPr sz="3375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891" y="497719"/>
            <a:ext cx="7255371" cy="45661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375" b="1" spc="-32" dirty="0">
                <a:latin typeface="Gill Sans"/>
                <a:cs typeface="Gill Sans"/>
              </a:rPr>
              <a:t>Hi</a:t>
            </a:r>
            <a:r>
              <a:rPr sz="3375" b="1" spc="-18" dirty="0">
                <a:latin typeface="Gill Sans"/>
                <a:cs typeface="Gill Sans"/>
              </a:rPr>
              <a:t>s</a:t>
            </a:r>
            <a:r>
              <a:rPr sz="3375" b="1" spc="-4" dirty="0">
                <a:latin typeface="Gill Sans"/>
                <a:cs typeface="Gill Sans"/>
              </a:rPr>
              <a:t>to</a:t>
            </a:r>
            <a:r>
              <a:rPr sz="3375" b="1" spc="-148" dirty="0">
                <a:latin typeface="Gill Sans"/>
                <a:cs typeface="Gill Sans"/>
              </a:rPr>
              <a:t>r</a:t>
            </a:r>
            <a:r>
              <a:rPr sz="3375" b="1" dirty="0">
                <a:latin typeface="Gill Sans"/>
                <a:cs typeface="Gill Sans"/>
              </a:rPr>
              <a:t>i</a:t>
            </a:r>
            <a:r>
              <a:rPr sz="3375" b="1" spc="-4" dirty="0">
                <a:latin typeface="Gill Sans"/>
                <a:cs typeface="Gill Sans"/>
              </a:rPr>
              <a:t>c</a:t>
            </a:r>
            <a:r>
              <a:rPr sz="3375" b="1" spc="-21" dirty="0">
                <a:latin typeface="Gill Sans"/>
                <a:cs typeface="Gill Sans"/>
              </a:rPr>
              <a:t>a</a:t>
            </a:r>
            <a:r>
              <a:rPr sz="3375" b="1" dirty="0">
                <a:latin typeface="Gill Sans"/>
                <a:cs typeface="Gill Sans"/>
              </a:rPr>
              <a:t>l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dirty="0">
                <a:latin typeface="Gill Sans"/>
                <a:cs typeface="Gill Sans"/>
              </a:rPr>
              <a:t>bi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dirty="0">
                <a:latin typeface="Gill Sans"/>
                <a:cs typeface="Gill Sans"/>
              </a:rPr>
              <a:t>ge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spc="123" dirty="0">
                <a:latin typeface="Gill Sans"/>
                <a:cs typeface="Gill Sans"/>
              </a:rPr>
              <a:t>g</a:t>
            </a:r>
            <a:r>
              <a:rPr sz="3375" b="1" spc="-49" dirty="0">
                <a:latin typeface="Gill Sans"/>
                <a:cs typeface="Gill Sans"/>
              </a:rPr>
              <a:t>r</a:t>
            </a:r>
            <a:r>
              <a:rPr sz="3375" b="1" spc="21" dirty="0">
                <a:latin typeface="Gill Sans"/>
                <a:cs typeface="Gill Sans"/>
              </a:rPr>
              <a:t>a</a:t>
            </a:r>
            <a:r>
              <a:rPr sz="3375" b="1" dirty="0">
                <a:latin typeface="Gill Sans"/>
                <a:cs typeface="Gill Sans"/>
              </a:rPr>
              <a:t>p</a:t>
            </a:r>
            <a:r>
              <a:rPr sz="3375" b="1" spc="-4" dirty="0">
                <a:latin typeface="Gill Sans"/>
                <a:cs typeface="Gill Sans"/>
              </a:rPr>
              <a:t>h</a:t>
            </a:r>
            <a:r>
              <a:rPr sz="3375" b="1" dirty="0">
                <a:latin typeface="Gill Sans"/>
                <a:cs typeface="Gill Sans"/>
              </a:rPr>
              <a:t>y</a:t>
            </a:r>
            <a:r>
              <a:rPr sz="3375" b="1" spc="-4" dirty="0">
                <a:latin typeface="Gill Sans"/>
                <a:cs typeface="Gill Sans"/>
              </a:rPr>
              <a:t> m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4" dirty="0">
                <a:latin typeface="Gill Sans"/>
                <a:cs typeface="Gill Sans"/>
              </a:rPr>
              <a:t>tho</a:t>
            </a:r>
            <a:r>
              <a:rPr sz="3375" b="1" dirty="0">
                <a:latin typeface="Gill Sans"/>
                <a:cs typeface="Gill Sans"/>
              </a:rPr>
              <a:t>d</a:t>
            </a:r>
            <a:r>
              <a:rPr sz="3375" b="1" spc="-18" dirty="0">
                <a:latin typeface="Gill Sans"/>
                <a:cs typeface="Gill Sans"/>
              </a:rPr>
              <a:t>s</a:t>
            </a:r>
            <a:endParaRPr sz="3375" dirty="0">
              <a:latin typeface="Gill Sans"/>
              <a:cs typeface="Gill Sans"/>
            </a:endParaRPr>
          </a:p>
          <a:p>
            <a:pPr>
              <a:spcBef>
                <a:spcPts val="5"/>
              </a:spcBef>
            </a:pPr>
            <a:endParaRPr sz="3199" dirty="0">
              <a:latin typeface="Times New Roman"/>
              <a:cs typeface="Times New Roman"/>
            </a:endParaRPr>
          </a:p>
          <a:p>
            <a:pPr marL="393339" indent="-384409">
              <a:buFont typeface="Gill Sans"/>
              <a:buAutoNum type="arabicPeriod"/>
              <a:tabLst>
                <a:tab pos="393785" algn="l"/>
              </a:tabLst>
            </a:pPr>
            <a:r>
              <a:rPr sz="3375" spc="-18" dirty="0">
                <a:latin typeface="Gill Sans"/>
                <a:cs typeface="Gill Sans"/>
              </a:rPr>
              <a:t>Es</a:t>
            </a:r>
            <a:r>
              <a:rPr sz="3375" dirty="0">
                <a:latin typeface="Gill Sans"/>
                <a:cs typeface="Gill Sans"/>
              </a:rPr>
              <a:t>t</a:t>
            </a:r>
            <a:r>
              <a:rPr sz="3375" spc="-4" dirty="0">
                <a:latin typeface="Gill Sans"/>
                <a:cs typeface="Gill Sans"/>
              </a:rPr>
              <a:t>i</a:t>
            </a:r>
            <a:r>
              <a:rPr sz="3375" spc="-21" dirty="0">
                <a:latin typeface="Gill Sans"/>
                <a:cs typeface="Gill Sans"/>
              </a:rPr>
              <a:t>ma</a:t>
            </a:r>
            <a:r>
              <a:rPr sz="3375" dirty="0">
                <a:latin typeface="Gill Sans"/>
                <a:cs typeface="Gill Sans"/>
              </a:rPr>
              <a:t>te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a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u="heavy" spc="-18" dirty="0">
                <a:latin typeface="Gill Sans"/>
                <a:cs typeface="Gill Sans"/>
              </a:rPr>
              <a:t>dated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p</a:t>
            </a:r>
            <a:r>
              <a:rPr sz="3375" spc="-120" dirty="0">
                <a:latin typeface="Gill Sans"/>
                <a:cs typeface="Gill Sans"/>
              </a:rPr>
              <a:t>h</a:t>
            </a:r>
            <a:r>
              <a:rPr sz="3375" dirty="0">
                <a:latin typeface="Gill Sans"/>
                <a:cs typeface="Gill Sans"/>
              </a:rPr>
              <a:t>y</a:t>
            </a:r>
            <a:r>
              <a:rPr sz="3375" spc="-4" dirty="0">
                <a:latin typeface="Gill Sans"/>
                <a:cs typeface="Gill Sans"/>
              </a:rPr>
              <a:t>l</a:t>
            </a:r>
            <a:r>
              <a:rPr sz="3375" spc="-18" dirty="0">
                <a:latin typeface="Gill Sans"/>
                <a:cs typeface="Gill Sans"/>
              </a:rPr>
              <a:t>og</a:t>
            </a:r>
            <a:r>
              <a:rPr sz="3375" dirty="0">
                <a:latin typeface="Gill Sans"/>
                <a:cs typeface="Gill Sans"/>
              </a:rPr>
              <a:t>e</a:t>
            </a:r>
            <a:r>
              <a:rPr sz="3375" spc="-70" dirty="0">
                <a:latin typeface="Gill Sans"/>
                <a:cs typeface="Gill Sans"/>
              </a:rPr>
              <a:t>n</a:t>
            </a:r>
            <a:r>
              <a:rPr sz="3375" spc="-18" dirty="0">
                <a:latin typeface="Gill Sans"/>
                <a:cs typeface="Gill Sans"/>
              </a:rPr>
              <a:t>y</a:t>
            </a:r>
            <a:endParaRPr sz="3375" dirty="0">
              <a:latin typeface="Gill Sans"/>
              <a:cs typeface="Gill Sans"/>
            </a:endParaRPr>
          </a:p>
          <a:p>
            <a:pPr>
              <a:spcBef>
                <a:spcPts val="5"/>
              </a:spcBef>
              <a:buFont typeface="Gill Sans"/>
              <a:buAutoNum type="arabicPeriod"/>
            </a:pPr>
            <a:endParaRPr sz="3199" dirty="0">
              <a:latin typeface="Times New Roman"/>
              <a:cs typeface="Times New Roman"/>
            </a:endParaRPr>
          </a:p>
          <a:p>
            <a:pPr marL="393339" indent="-384409">
              <a:buFont typeface="Gill Sans"/>
              <a:buAutoNum type="arabicPeriod"/>
              <a:tabLst>
                <a:tab pos="393785" algn="l"/>
              </a:tabLst>
            </a:pPr>
            <a:r>
              <a:rPr sz="3375" spc="-18" dirty="0">
                <a:latin typeface="Gill Sans"/>
                <a:cs typeface="Gill Sans"/>
              </a:rPr>
              <a:t>P</a:t>
            </a:r>
            <a:r>
              <a:rPr sz="3375" dirty="0">
                <a:latin typeface="Gill Sans"/>
                <a:cs typeface="Gill Sans"/>
              </a:rPr>
              <a:t>ut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the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geogr</a:t>
            </a:r>
            <a:r>
              <a:rPr sz="3375" spc="-53" dirty="0">
                <a:latin typeface="Gill Sans"/>
                <a:cs typeface="Gill Sans"/>
              </a:rPr>
              <a:t>a</a:t>
            </a:r>
            <a:r>
              <a:rPr sz="3375" dirty="0">
                <a:latin typeface="Gill Sans"/>
                <a:cs typeface="Gill Sans"/>
              </a:rPr>
              <a:t>ph</a:t>
            </a:r>
            <a:r>
              <a:rPr sz="3375" spc="-4" dirty="0">
                <a:latin typeface="Gill Sans"/>
                <a:cs typeface="Gill Sans"/>
              </a:rPr>
              <a:t>i</a:t>
            </a:r>
            <a:r>
              <a:rPr sz="3375" spc="-18" dirty="0">
                <a:latin typeface="Gill Sans"/>
                <a:cs typeface="Gill Sans"/>
              </a:rPr>
              <a:t>c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ranges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a</a:t>
            </a:r>
            <a:r>
              <a:rPr sz="3375" dirty="0">
                <a:latin typeface="Gill Sans"/>
                <a:cs typeface="Gill Sans"/>
              </a:rPr>
              <a:t>t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the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t</a:t>
            </a:r>
            <a:r>
              <a:rPr sz="3375" spc="-4" dirty="0">
                <a:latin typeface="Gill Sans"/>
                <a:cs typeface="Gill Sans"/>
              </a:rPr>
              <a:t>i</a:t>
            </a:r>
            <a:r>
              <a:rPr sz="3375" spc="-18" dirty="0">
                <a:latin typeface="Gill Sans"/>
                <a:cs typeface="Gill Sans"/>
              </a:rPr>
              <a:t>ps</a:t>
            </a:r>
            <a:endParaRPr sz="3375" dirty="0">
              <a:latin typeface="Gill Sans"/>
              <a:cs typeface="Gill Sans"/>
            </a:endParaRPr>
          </a:p>
          <a:p>
            <a:pPr>
              <a:spcBef>
                <a:spcPts val="5"/>
              </a:spcBef>
            </a:pPr>
            <a:endParaRPr sz="3199" dirty="0">
              <a:latin typeface="Times New Roman"/>
              <a:cs typeface="Times New Roman"/>
            </a:endParaRPr>
          </a:p>
          <a:p>
            <a:pPr marL="8929"/>
            <a:r>
              <a:rPr sz="3375" b="1" spc="-4" dirty="0">
                <a:latin typeface="Gill Sans"/>
                <a:cs typeface="Gill Sans"/>
              </a:rPr>
              <a:t>3</a:t>
            </a:r>
            <a:r>
              <a:rPr sz="3375" b="1" spc="-11" dirty="0">
                <a:latin typeface="Gill Sans"/>
                <a:cs typeface="Gill Sans"/>
              </a:rPr>
              <a:t>.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spc="-21" dirty="0">
                <a:latin typeface="Gill Sans"/>
                <a:cs typeface="Gill Sans"/>
              </a:rPr>
              <a:t>Ass</a:t>
            </a:r>
            <a:r>
              <a:rPr sz="3375" b="1" spc="-4" dirty="0">
                <a:latin typeface="Gill Sans"/>
                <a:cs typeface="Gill Sans"/>
              </a:rPr>
              <a:t>um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spc="-18" dirty="0">
                <a:latin typeface="Gill Sans"/>
                <a:cs typeface="Gill Sans"/>
              </a:rPr>
              <a:t>s</a:t>
            </a:r>
            <a:r>
              <a:rPr sz="3375" b="1" spc="-4" dirty="0">
                <a:latin typeface="Gill Sans"/>
                <a:cs typeface="Gill Sans"/>
              </a:rPr>
              <a:t>om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dirty="0">
                <a:latin typeface="Gill Sans"/>
                <a:cs typeface="Gill Sans"/>
              </a:rPr>
              <a:t>p</a:t>
            </a:r>
            <a:r>
              <a:rPr sz="3375" b="1" spc="-148" dirty="0">
                <a:latin typeface="Gill Sans"/>
                <a:cs typeface="Gill Sans"/>
              </a:rPr>
              <a:t>r</a:t>
            </a:r>
            <a:r>
              <a:rPr sz="3375" b="1" spc="-4" dirty="0">
                <a:latin typeface="Gill Sans"/>
                <a:cs typeface="Gill Sans"/>
              </a:rPr>
              <a:t>oc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18" dirty="0">
                <a:latin typeface="Gill Sans"/>
                <a:cs typeface="Gill Sans"/>
              </a:rPr>
              <a:t>ss(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18" dirty="0">
                <a:latin typeface="Gill Sans"/>
                <a:cs typeface="Gill Sans"/>
              </a:rPr>
              <a:t>s)</a:t>
            </a:r>
            <a:endParaRPr sz="3375" dirty="0">
              <a:latin typeface="Gill Sans"/>
              <a:cs typeface="Gill Sans"/>
            </a:endParaRPr>
          </a:p>
          <a:p>
            <a:pPr>
              <a:spcBef>
                <a:spcPts val="5"/>
              </a:spcBef>
            </a:pPr>
            <a:endParaRPr sz="3199" dirty="0">
              <a:latin typeface="Times New Roman"/>
              <a:cs typeface="Times New Roman"/>
            </a:endParaRPr>
          </a:p>
          <a:p>
            <a:pPr marL="8929"/>
            <a:r>
              <a:rPr sz="3375" dirty="0">
                <a:latin typeface="Gill Sans"/>
                <a:cs typeface="Gill Sans"/>
              </a:rPr>
              <a:t>4.</a:t>
            </a:r>
            <a:r>
              <a:rPr sz="3375" spc="-340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Conduct</a:t>
            </a:r>
            <a:r>
              <a:rPr sz="3375" spc="-4" dirty="0">
                <a:latin typeface="Gill Sans"/>
                <a:cs typeface="Gill Sans"/>
              </a:rPr>
              <a:t> i</a:t>
            </a:r>
            <a:r>
              <a:rPr sz="3375" dirty="0">
                <a:latin typeface="Gill Sans"/>
                <a:cs typeface="Gill Sans"/>
              </a:rPr>
              <a:t>n</a:t>
            </a:r>
            <a:r>
              <a:rPr sz="3375" spc="-35" dirty="0">
                <a:latin typeface="Gill Sans"/>
                <a:cs typeface="Gill Sans"/>
              </a:rPr>
              <a:t>f</a:t>
            </a:r>
            <a:r>
              <a:rPr sz="3375" dirty="0">
                <a:latin typeface="Gill Sans"/>
                <a:cs typeface="Gill Sans"/>
              </a:rPr>
              <a:t>e</a:t>
            </a:r>
            <a:r>
              <a:rPr sz="3375" spc="-70" dirty="0">
                <a:latin typeface="Gill Sans"/>
                <a:cs typeface="Gill Sans"/>
              </a:rPr>
              <a:t>r</a:t>
            </a:r>
            <a:r>
              <a:rPr sz="3375" spc="-18" dirty="0">
                <a:latin typeface="Gill Sans"/>
                <a:cs typeface="Gill Sans"/>
              </a:rPr>
              <a:t>ence</a:t>
            </a:r>
            <a:endParaRPr sz="3375" dirty="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890" y="497720"/>
            <a:ext cx="8697516" cy="538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n-US" sz="3375" b="1" spc="-32" dirty="0">
                <a:latin typeface="Gill Sans"/>
                <a:cs typeface="Gill Sans"/>
              </a:rPr>
              <a:t>Summary of previous lectures:</a:t>
            </a:r>
            <a:endParaRPr sz="3375" dirty="0">
              <a:latin typeface="Gill Sans"/>
              <a:cs typeface="Gill Sans"/>
            </a:endParaRPr>
          </a:p>
          <a:p>
            <a:pPr>
              <a:spcBef>
                <a:spcPts val="5"/>
              </a:spcBef>
            </a:pPr>
            <a:endParaRPr lang="en-US" sz="3375" dirty="0">
              <a:latin typeface="Gill Sans"/>
              <a:cs typeface="Gill Sans"/>
            </a:endParaRPr>
          </a:p>
          <a:p>
            <a:pPr>
              <a:spcBef>
                <a:spcPts val="5"/>
              </a:spcBef>
            </a:pPr>
            <a:r>
              <a:rPr lang="en-US" sz="3375" dirty="0">
                <a:latin typeface="Gill Sans"/>
                <a:cs typeface="Gill Sans"/>
              </a:rPr>
              <a:t>Different authorities have different assumptions about what processes matter!</a:t>
            </a:r>
          </a:p>
          <a:p>
            <a:pPr>
              <a:spcBef>
                <a:spcPts val="5"/>
              </a:spcBef>
            </a:pPr>
            <a:endParaRPr lang="en-US" sz="3375" dirty="0">
              <a:latin typeface="Gill Sans"/>
              <a:cs typeface="Gill Sans"/>
            </a:endParaRPr>
          </a:p>
          <a:p>
            <a:pPr>
              <a:spcBef>
                <a:spcPts val="5"/>
              </a:spcBef>
            </a:pPr>
            <a:r>
              <a:rPr lang="en-US" sz="3375" dirty="0">
                <a:latin typeface="Gill Sans"/>
                <a:cs typeface="Gill Sans"/>
              </a:rPr>
              <a:t>Your inferences will depend on your assumptions</a:t>
            </a:r>
          </a:p>
          <a:p>
            <a:pPr>
              <a:spcBef>
                <a:spcPts val="5"/>
              </a:spcBef>
            </a:pPr>
            <a:endParaRPr lang="en-US" sz="2109" dirty="0">
              <a:latin typeface="Gill Sans"/>
              <a:cs typeface="Gill Sans"/>
            </a:endParaRPr>
          </a:p>
          <a:p>
            <a:pPr>
              <a:spcBef>
                <a:spcPts val="5"/>
              </a:spcBef>
            </a:pPr>
            <a:r>
              <a:rPr lang="en-US" sz="2109" dirty="0">
                <a:latin typeface="Gill Sans"/>
                <a:cs typeface="Gill Sans"/>
              </a:rPr>
              <a:t>Vicariance: deterministic vision where geology determines ranges</a:t>
            </a:r>
          </a:p>
          <a:p>
            <a:pPr>
              <a:spcBef>
                <a:spcPts val="5"/>
              </a:spcBef>
            </a:pPr>
            <a:endParaRPr lang="en-US" sz="2109" dirty="0">
              <a:latin typeface="Gill Sans"/>
              <a:cs typeface="Gill Sans"/>
            </a:endParaRPr>
          </a:p>
          <a:p>
            <a:pPr>
              <a:spcBef>
                <a:spcPts val="5"/>
              </a:spcBef>
            </a:pPr>
            <a:r>
              <a:rPr lang="en-US" sz="2109" dirty="0">
                <a:latin typeface="Gill Sans"/>
                <a:cs typeface="Gill Sans"/>
              </a:rPr>
              <a:t>Dispersal: “unpredictable” “chance events”</a:t>
            </a:r>
          </a:p>
          <a:p>
            <a:pPr>
              <a:spcBef>
                <a:spcPts val="5"/>
              </a:spcBef>
            </a:pPr>
            <a:endParaRPr lang="en-US" sz="2109" dirty="0">
              <a:latin typeface="Gill Sans"/>
              <a:cs typeface="Gill Sans"/>
            </a:endParaRPr>
          </a:p>
          <a:p>
            <a:pPr>
              <a:spcBef>
                <a:spcPts val="5"/>
              </a:spcBef>
            </a:pPr>
            <a:r>
              <a:rPr lang="en-US" sz="2109" dirty="0">
                <a:latin typeface="Gill Sans"/>
                <a:cs typeface="Gill Sans"/>
              </a:rPr>
              <a:t>Me: “Unpredictable” doesn’t mean intractable </a:t>
            </a:r>
            <a:r>
              <a:rPr lang="mr-IN" sz="2109" dirty="0">
                <a:latin typeface="Gill Sans"/>
                <a:cs typeface="Gill Sans"/>
              </a:rPr>
              <a:t>–</a:t>
            </a:r>
            <a:r>
              <a:rPr lang="en-US" sz="2109" dirty="0">
                <a:latin typeface="Gill Sans"/>
                <a:cs typeface="Gill Sans"/>
              </a:rPr>
              <a:t> we can address using probabilistic models</a:t>
            </a:r>
            <a:endParaRPr sz="2109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04086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9758" y="265548"/>
            <a:ext cx="7307163" cy="15004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4372" marR="3572" indent="-955443">
              <a:lnSpc>
                <a:spcPts val="3867"/>
              </a:lnSpc>
            </a:pPr>
            <a:r>
              <a:rPr sz="3375" b="1" spc="-49" dirty="0">
                <a:latin typeface="Gill Sans"/>
                <a:cs typeface="Gill Sans"/>
              </a:rPr>
              <a:t>R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18" dirty="0">
                <a:latin typeface="Gill Sans"/>
                <a:cs typeface="Gill Sans"/>
              </a:rPr>
              <a:t>s</a:t>
            </a:r>
            <a:r>
              <a:rPr sz="3375" b="1" spc="-4" dirty="0">
                <a:latin typeface="Gill Sans"/>
                <a:cs typeface="Gill Sans"/>
              </a:rPr>
              <a:t>u</a:t>
            </a:r>
            <a:r>
              <a:rPr sz="3375" b="1" dirty="0">
                <a:latin typeface="Gill Sans"/>
                <a:cs typeface="Gill Sans"/>
              </a:rPr>
              <a:t>l</a:t>
            </a:r>
            <a:r>
              <a:rPr sz="3375" b="1" spc="-4" dirty="0">
                <a:latin typeface="Gill Sans"/>
                <a:cs typeface="Gill Sans"/>
              </a:rPr>
              <a:t>t</a:t>
            </a:r>
            <a:r>
              <a:rPr sz="3375" b="1" spc="-18" dirty="0">
                <a:latin typeface="Gill Sans"/>
                <a:cs typeface="Gill Sans"/>
              </a:rPr>
              <a:t>s</a:t>
            </a:r>
            <a:r>
              <a:rPr sz="3375" b="1" spc="-4" dirty="0">
                <a:latin typeface="Gill Sans"/>
                <a:cs typeface="Gill Sans"/>
              </a:rPr>
              <a:t> o</a:t>
            </a:r>
            <a:r>
              <a:rPr sz="3375" b="1" dirty="0">
                <a:latin typeface="Gill Sans"/>
                <a:cs typeface="Gill Sans"/>
              </a:rPr>
              <a:t>f</a:t>
            </a:r>
            <a:r>
              <a:rPr sz="3375" b="1" spc="95" dirty="0">
                <a:latin typeface="Gill Sans"/>
                <a:cs typeface="Gill Sans"/>
              </a:rPr>
              <a:t> </a:t>
            </a:r>
            <a:r>
              <a:rPr sz="3375" b="1" dirty="0">
                <a:latin typeface="Gill Sans"/>
                <a:cs typeface="Gill Sans"/>
              </a:rPr>
              <a:t>di</a:t>
            </a:r>
            <a:r>
              <a:rPr sz="3375" b="1" spc="95" dirty="0">
                <a:latin typeface="Gill Sans"/>
                <a:cs typeface="Gill Sans"/>
              </a:rPr>
              <a:t>f</a:t>
            </a:r>
            <a:r>
              <a:rPr sz="3375" b="1" spc="-4" dirty="0">
                <a:latin typeface="Gill Sans"/>
                <a:cs typeface="Gill Sans"/>
              </a:rPr>
              <a:t>f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148" dirty="0">
                <a:latin typeface="Gill Sans"/>
                <a:cs typeface="Gill Sans"/>
              </a:rPr>
              <a:t>r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4" dirty="0">
                <a:latin typeface="Gill Sans"/>
                <a:cs typeface="Gill Sans"/>
              </a:rPr>
              <a:t>n</a:t>
            </a:r>
            <a:r>
              <a:rPr sz="3375" b="1" dirty="0">
                <a:latin typeface="Gill Sans"/>
                <a:cs typeface="Gill Sans"/>
              </a:rPr>
              <a:t>t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dirty="0">
                <a:latin typeface="Gill Sans"/>
                <a:cs typeface="Gill Sans"/>
              </a:rPr>
              <a:t>bi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dirty="0">
                <a:latin typeface="Gill Sans"/>
                <a:cs typeface="Gill Sans"/>
              </a:rPr>
              <a:t>ge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spc="123" dirty="0">
                <a:latin typeface="Gill Sans"/>
                <a:cs typeface="Gill Sans"/>
              </a:rPr>
              <a:t>g</a:t>
            </a:r>
            <a:r>
              <a:rPr sz="3375" b="1" spc="-49" dirty="0">
                <a:latin typeface="Gill Sans"/>
                <a:cs typeface="Gill Sans"/>
              </a:rPr>
              <a:t>r</a:t>
            </a:r>
            <a:r>
              <a:rPr sz="3375" b="1" spc="21" dirty="0">
                <a:latin typeface="Gill Sans"/>
                <a:cs typeface="Gill Sans"/>
              </a:rPr>
              <a:t>a</a:t>
            </a:r>
            <a:r>
              <a:rPr sz="3375" b="1" dirty="0">
                <a:latin typeface="Gill Sans"/>
                <a:cs typeface="Gill Sans"/>
              </a:rPr>
              <a:t>p</a:t>
            </a:r>
            <a:r>
              <a:rPr sz="3375" b="1" spc="-4" dirty="0">
                <a:latin typeface="Gill Sans"/>
                <a:cs typeface="Gill Sans"/>
              </a:rPr>
              <a:t>h</a:t>
            </a:r>
            <a:r>
              <a:rPr sz="3375" b="1" dirty="0">
                <a:latin typeface="Gill Sans"/>
                <a:cs typeface="Gill Sans"/>
              </a:rPr>
              <a:t>y </a:t>
            </a:r>
            <a:r>
              <a:rPr sz="3375" b="1" spc="-4" dirty="0">
                <a:latin typeface="Gill Sans"/>
                <a:cs typeface="Gill Sans"/>
              </a:rPr>
              <a:t>model</a:t>
            </a:r>
            <a:r>
              <a:rPr sz="3375" b="1" dirty="0">
                <a:latin typeface="Gill Sans"/>
                <a:cs typeface="Gill Sans"/>
              </a:rPr>
              <a:t>s</a:t>
            </a:r>
            <a:r>
              <a:rPr sz="3375" b="1" spc="4" dirty="0">
                <a:latin typeface="Gill Sans"/>
                <a:cs typeface="Gill Sans"/>
              </a:rPr>
              <a:t> 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dirty="0">
                <a:latin typeface="Gill Sans"/>
                <a:cs typeface="Gill Sans"/>
              </a:rPr>
              <a:t>n </a:t>
            </a:r>
            <a:r>
              <a:rPr sz="3375" b="1" spc="-18" dirty="0">
                <a:latin typeface="Gill Sans"/>
                <a:cs typeface="Gill Sans"/>
              </a:rPr>
              <a:t>s</a:t>
            </a:r>
            <a:r>
              <a:rPr sz="3375" b="1" spc="21" dirty="0">
                <a:latin typeface="Gill Sans"/>
                <a:cs typeface="Gill Sans"/>
              </a:rPr>
              <a:t>a</a:t>
            </a:r>
            <a:r>
              <a:rPr sz="3375" b="1" spc="-4" dirty="0">
                <a:latin typeface="Gill Sans"/>
                <a:cs typeface="Gill Sans"/>
              </a:rPr>
              <a:t>m</a:t>
            </a:r>
            <a:r>
              <a:rPr sz="3375" b="1" dirty="0">
                <a:latin typeface="Gill Sans"/>
                <a:cs typeface="Gill Sans"/>
              </a:rPr>
              <a:t>e dataset:</a:t>
            </a:r>
            <a:endParaRPr sz="3375">
              <a:latin typeface="Gill Sans"/>
              <a:cs typeface="Gill San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59765" y="1667488"/>
            <a:ext cx="5824468" cy="42135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659766" y="1667487"/>
            <a:ext cx="5824834" cy="4213920"/>
          </a:xfrm>
          <a:custGeom>
            <a:avLst/>
            <a:gdLst/>
            <a:ahLst/>
            <a:cxnLst/>
            <a:rect l="l" t="t" r="r" b="b"/>
            <a:pathLst>
              <a:path w="8284209" h="5993130">
                <a:moveTo>
                  <a:pt x="0" y="0"/>
                </a:moveTo>
                <a:lnTo>
                  <a:pt x="8283688" y="0"/>
                </a:lnTo>
                <a:lnTo>
                  <a:pt x="8283688" y="5992656"/>
                </a:lnTo>
                <a:lnTo>
                  <a:pt x="0" y="599265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3220247" y="4301132"/>
            <a:ext cx="2143124" cy="13930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 txBox="1"/>
          <p:nvPr/>
        </p:nvSpPr>
        <p:spPr>
          <a:xfrm>
            <a:off x="3170040" y="5697201"/>
            <a:ext cx="2401639" cy="108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703" u="sng" dirty="0">
                <a:latin typeface="Gill Sans"/>
                <a:cs typeface="Gill Sans"/>
                <a:hlinkClick r:id="rId5"/>
              </a:rPr>
              <a:t>http:</a:t>
            </a:r>
            <a:r>
              <a:rPr sz="703" u="sng" spc="-4" dirty="0">
                <a:latin typeface="Gill Sans"/>
                <a:cs typeface="Gill Sans"/>
                <a:hlinkClick r:id="rId5"/>
              </a:rPr>
              <a:t>//farm8.stati</a:t>
            </a:r>
            <a:r>
              <a:rPr sz="703" u="sng" spc="7" dirty="0">
                <a:latin typeface="Gill Sans"/>
                <a:cs typeface="Gill Sans"/>
                <a:hlinkClick r:id="rId5"/>
              </a:rPr>
              <a:t>c</a:t>
            </a:r>
            <a:r>
              <a:rPr sz="703" u="sng" dirty="0">
                <a:latin typeface="Gill Sans"/>
                <a:cs typeface="Gill Sans"/>
                <a:hlinkClick r:id="rId5"/>
              </a:rPr>
              <a:t>.</a:t>
            </a:r>
            <a:r>
              <a:rPr sz="703" u="sng" spc="4" dirty="0">
                <a:latin typeface="Gill Sans"/>
                <a:cs typeface="Gill Sans"/>
                <a:hlinkClick r:id="rId5"/>
              </a:rPr>
              <a:t>fli</a:t>
            </a:r>
            <a:r>
              <a:rPr sz="703" u="sng" spc="-4" dirty="0">
                <a:latin typeface="Gill Sans"/>
                <a:cs typeface="Gill Sans"/>
                <a:hlinkClick r:id="rId5"/>
              </a:rPr>
              <a:t>ck</a:t>
            </a:r>
            <a:r>
              <a:rPr sz="703" u="sng" spc="-77" dirty="0">
                <a:latin typeface="Gill Sans"/>
                <a:cs typeface="Gill Sans"/>
                <a:hlinkClick r:id="rId5"/>
              </a:rPr>
              <a:t>r</a:t>
            </a:r>
            <a:r>
              <a:rPr sz="703" u="sng" dirty="0">
                <a:latin typeface="Gill Sans"/>
                <a:cs typeface="Gill Sans"/>
                <a:hlinkClick r:id="rId5"/>
              </a:rPr>
              <a:t>.</a:t>
            </a:r>
            <a:r>
              <a:rPr sz="703" u="sng" spc="-4" dirty="0">
                <a:latin typeface="Gill Sans"/>
                <a:cs typeface="Gill Sans"/>
                <a:hlinkClick r:id="rId5"/>
              </a:rPr>
              <a:t>com/7446/9252634315_0ecf0ba853_</a:t>
            </a:r>
            <a:r>
              <a:rPr sz="703" u="sng" dirty="0">
                <a:latin typeface="Gill Sans"/>
                <a:cs typeface="Gill Sans"/>
                <a:hlinkClick r:id="rId5"/>
              </a:rPr>
              <a:t>m.j</a:t>
            </a:r>
            <a:r>
              <a:rPr sz="703" u="sng" spc="-4" dirty="0">
                <a:latin typeface="Gill Sans"/>
                <a:cs typeface="Gill Sans"/>
                <a:hlinkClick r:id="rId5"/>
              </a:rPr>
              <a:t>pg</a:t>
            </a:r>
            <a:endParaRPr sz="703" dirty="0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32547" y="4134446"/>
            <a:ext cx="922883" cy="129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844" b="1" i="1" dirty="0">
                <a:latin typeface="Calibri"/>
                <a:cs typeface="Calibri"/>
              </a:rPr>
              <a:t>P</a:t>
            </a:r>
            <a:r>
              <a:rPr sz="844" b="1" i="1" spc="-14" dirty="0">
                <a:latin typeface="Calibri"/>
                <a:cs typeface="Calibri"/>
              </a:rPr>
              <a:t>s</a:t>
            </a:r>
            <a:r>
              <a:rPr sz="844" b="1" i="1" spc="-7" dirty="0">
                <a:latin typeface="Calibri"/>
                <a:cs typeface="Calibri"/>
              </a:rPr>
              <a:t>yc</a:t>
            </a:r>
            <a:r>
              <a:rPr sz="844" b="1" i="1" spc="-4" dirty="0">
                <a:latin typeface="Calibri"/>
                <a:cs typeface="Calibri"/>
              </a:rPr>
              <a:t>hotr</a:t>
            </a:r>
            <a:r>
              <a:rPr sz="844" b="1" i="1" spc="-7" dirty="0">
                <a:latin typeface="Calibri"/>
                <a:cs typeface="Calibri"/>
              </a:rPr>
              <a:t>ia</a:t>
            </a:r>
            <a:r>
              <a:rPr sz="844" b="1" i="1" dirty="0">
                <a:latin typeface="Calibri"/>
                <a:cs typeface="Calibri"/>
              </a:rPr>
              <a:t> </a:t>
            </a:r>
            <a:r>
              <a:rPr sz="844" b="1" i="1" spc="-4" dirty="0">
                <a:latin typeface="Calibri"/>
                <a:cs typeface="Calibri"/>
              </a:rPr>
              <a:t>h</a:t>
            </a:r>
            <a:r>
              <a:rPr sz="844" b="1" i="1" spc="-21" dirty="0">
                <a:latin typeface="Calibri"/>
                <a:cs typeface="Calibri"/>
              </a:rPr>
              <a:t>e</a:t>
            </a:r>
            <a:r>
              <a:rPr sz="844" b="1" i="1" spc="-18" dirty="0">
                <a:latin typeface="Calibri"/>
                <a:cs typeface="Calibri"/>
              </a:rPr>
              <a:t>x</a:t>
            </a:r>
            <a:r>
              <a:rPr sz="844" b="1" i="1" spc="-7" dirty="0">
                <a:latin typeface="Calibri"/>
                <a:cs typeface="Calibri"/>
              </a:rPr>
              <a:t>andra</a:t>
            </a:r>
            <a:endParaRPr sz="844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862935" y="4260949"/>
          <a:ext cx="1231564" cy="13260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631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1700" b="1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700" b="1" spc="-35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1700" b="1" dirty="0">
                          <a:latin typeface="Calibri"/>
                          <a:cs typeface="Calibri"/>
                        </a:rPr>
                        <a:t>auai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0061FF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631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700" b="1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700" b="1" dirty="0">
                          <a:latin typeface="Calibri"/>
                          <a:cs typeface="Calibri"/>
                        </a:rPr>
                        <a:t>Oahu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53D5FD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398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Calibri"/>
                          <a:cs typeface="Calibri"/>
                        </a:rPr>
                        <a:t>M=Maui-Nui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C41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398">
                <a:tc gridSpan="2"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700" b="1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700" b="1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700" b="1" spc="-2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700" b="1" spc="-3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7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700" b="1" spc="2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700" b="1" spc="5" dirty="0">
                          <a:latin typeface="Calibri"/>
                          <a:cs typeface="Calibri"/>
                        </a:rPr>
                        <a:t>’</a:t>
                      </a:r>
                      <a:r>
                        <a:rPr sz="1700" b="1" dirty="0">
                          <a:latin typeface="Calibri"/>
                          <a:cs typeface="Calibri"/>
                        </a:rPr>
                        <a:t>i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401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9732"/>
            <a:ext cx="5572837" cy="58982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 txBox="1"/>
          <p:nvPr/>
        </p:nvSpPr>
        <p:spPr>
          <a:xfrm>
            <a:off x="848321" y="15517"/>
            <a:ext cx="7451378" cy="1538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958"/>
              </a:lnSpc>
            </a:pP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4" dirty="0">
                <a:latin typeface="Gill Sans"/>
                <a:cs typeface="Gill Sans"/>
              </a:rPr>
              <a:t>x</a:t>
            </a:r>
            <a:r>
              <a:rPr sz="3375" b="1" spc="21" dirty="0">
                <a:latin typeface="Gill Sans"/>
                <a:cs typeface="Gill Sans"/>
              </a:rPr>
              <a:t>a</a:t>
            </a:r>
            <a:r>
              <a:rPr sz="3375" b="1" spc="-4" dirty="0">
                <a:latin typeface="Gill Sans"/>
                <a:cs typeface="Gill Sans"/>
              </a:rPr>
              <a:t>m</a:t>
            </a:r>
            <a:r>
              <a:rPr sz="3375" b="1" dirty="0">
                <a:latin typeface="Gill Sans"/>
                <a:cs typeface="Gill Sans"/>
              </a:rPr>
              <a:t>ple</a:t>
            </a:r>
            <a:r>
              <a:rPr sz="3375" b="1" spc="-4" dirty="0">
                <a:latin typeface="Gill Sans"/>
                <a:cs typeface="Gill Sans"/>
              </a:rPr>
              <a:t> o</a:t>
            </a:r>
            <a:r>
              <a:rPr sz="3375" b="1" dirty="0">
                <a:latin typeface="Gill Sans"/>
                <a:cs typeface="Gill Sans"/>
              </a:rPr>
              <a:t>f</a:t>
            </a:r>
            <a:r>
              <a:rPr sz="3375" b="1" spc="95" dirty="0">
                <a:latin typeface="Gill Sans"/>
                <a:cs typeface="Gill Sans"/>
              </a:rPr>
              <a:t> </a:t>
            </a:r>
            <a:r>
              <a:rPr sz="3375" b="1" dirty="0">
                <a:latin typeface="Gill Sans"/>
                <a:cs typeface="Gill Sans"/>
              </a:rPr>
              <a:t>bi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dirty="0">
                <a:latin typeface="Gill Sans"/>
                <a:cs typeface="Gill Sans"/>
              </a:rPr>
              <a:t>ge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spc="123" dirty="0">
                <a:latin typeface="Gill Sans"/>
                <a:cs typeface="Gill Sans"/>
              </a:rPr>
              <a:t>g</a:t>
            </a:r>
            <a:r>
              <a:rPr sz="3375" b="1" spc="-49" dirty="0">
                <a:latin typeface="Gill Sans"/>
                <a:cs typeface="Gill Sans"/>
              </a:rPr>
              <a:t>r</a:t>
            </a:r>
            <a:r>
              <a:rPr sz="3375" b="1" spc="21" dirty="0">
                <a:latin typeface="Gill Sans"/>
                <a:cs typeface="Gill Sans"/>
              </a:rPr>
              <a:t>a</a:t>
            </a:r>
            <a:r>
              <a:rPr sz="3375" b="1" dirty="0">
                <a:latin typeface="Gill Sans"/>
                <a:cs typeface="Gill Sans"/>
              </a:rPr>
              <a:t>p</a:t>
            </a:r>
            <a:r>
              <a:rPr sz="3375" b="1" spc="-4" dirty="0">
                <a:latin typeface="Gill Sans"/>
                <a:cs typeface="Gill Sans"/>
              </a:rPr>
              <a:t>h</a:t>
            </a:r>
            <a:r>
              <a:rPr sz="3375" b="1" dirty="0">
                <a:latin typeface="Gill Sans"/>
                <a:cs typeface="Gill Sans"/>
              </a:rPr>
              <a:t>ic</a:t>
            </a:r>
            <a:r>
              <a:rPr sz="3375" b="1" spc="-4" dirty="0">
                <a:latin typeface="Gill Sans"/>
                <a:cs typeface="Gill Sans"/>
              </a:rPr>
              <a:t> h</a:t>
            </a:r>
            <a:r>
              <a:rPr sz="3375" b="1" dirty="0">
                <a:latin typeface="Gill Sans"/>
                <a:cs typeface="Gill Sans"/>
              </a:rPr>
              <a:t>i</a:t>
            </a:r>
            <a:r>
              <a:rPr sz="3375" b="1" spc="-18" dirty="0">
                <a:latin typeface="Gill Sans"/>
                <a:cs typeface="Gill Sans"/>
              </a:rPr>
              <a:t>s</a:t>
            </a:r>
            <a:r>
              <a:rPr sz="3375" b="1" spc="-4" dirty="0">
                <a:latin typeface="Gill Sans"/>
                <a:cs typeface="Gill Sans"/>
              </a:rPr>
              <a:t>to</a:t>
            </a:r>
            <a:r>
              <a:rPr sz="3375" b="1" dirty="0">
                <a:latin typeface="Gill Sans"/>
                <a:cs typeface="Gill Sans"/>
              </a:rPr>
              <a:t>r</a:t>
            </a:r>
            <a:r>
              <a:rPr sz="3375" b="1" spc="-18" dirty="0">
                <a:latin typeface="Gill Sans"/>
                <a:cs typeface="Gill Sans"/>
              </a:rPr>
              <a:t>y:</a:t>
            </a:r>
            <a:endParaRPr sz="3375">
              <a:latin typeface="Gill Sans"/>
              <a:cs typeface="Gill Sans"/>
            </a:endParaRPr>
          </a:p>
          <a:p>
            <a:pPr algn="ctr">
              <a:lnSpc>
                <a:spcPts val="3958"/>
              </a:lnSpc>
            </a:pPr>
            <a:r>
              <a:rPr sz="3375" b="1" i="1" dirty="0">
                <a:latin typeface="Gill Sans"/>
                <a:cs typeface="Gill Sans"/>
              </a:rPr>
              <a:t>Ps</a:t>
            </a:r>
            <a:r>
              <a:rPr sz="3375" b="1" i="1" spc="46" dirty="0">
                <a:latin typeface="Gill Sans"/>
                <a:cs typeface="Gill Sans"/>
              </a:rPr>
              <a:t>y</a:t>
            </a:r>
            <a:r>
              <a:rPr sz="3375" b="1" i="1" spc="28" dirty="0">
                <a:latin typeface="Gill Sans"/>
                <a:cs typeface="Gill Sans"/>
              </a:rPr>
              <a:t>c</a:t>
            </a:r>
            <a:r>
              <a:rPr sz="3375" b="1" i="1" dirty="0">
                <a:latin typeface="Gill Sans"/>
                <a:cs typeface="Gill Sans"/>
              </a:rPr>
              <a:t>hotr</a:t>
            </a:r>
            <a:r>
              <a:rPr sz="3375" b="1" i="1" spc="-21" dirty="0">
                <a:latin typeface="Gill Sans"/>
                <a:cs typeface="Gill Sans"/>
              </a:rPr>
              <a:t>ia</a:t>
            </a:r>
            <a:endParaRPr sz="3375">
              <a:latin typeface="Gill Sans"/>
              <a:cs typeface="Gill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48422" y="3183699"/>
            <a:ext cx="2369597" cy="17142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6148422" y="3183697"/>
            <a:ext cx="2369938" cy="1714500"/>
          </a:xfrm>
          <a:custGeom>
            <a:avLst/>
            <a:gdLst/>
            <a:ahLst/>
            <a:cxnLst/>
            <a:rect l="l" t="t" r="r" b="b"/>
            <a:pathLst>
              <a:path w="3370579" h="2438400">
                <a:moveTo>
                  <a:pt x="0" y="0"/>
                </a:moveTo>
                <a:lnTo>
                  <a:pt x="3370094" y="0"/>
                </a:lnTo>
                <a:lnTo>
                  <a:pt x="3370094" y="2438022"/>
                </a:lnTo>
                <a:lnTo>
                  <a:pt x="0" y="243802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6684966" y="5277445"/>
            <a:ext cx="2143125" cy="13930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 txBox="1"/>
          <p:nvPr/>
        </p:nvSpPr>
        <p:spPr>
          <a:xfrm>
            <a:off x="6634758" y="6670537"/>
            <a:ext cx="2401639" cy="108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703" u="sng" dirty="0">
                <a:latin typeface="Gill Sans"/>
                <a:cs typeface="Gill Sans"/>
                <a:hlinkClick r:id="rId6"/>
              </a:rPr>
              <a:t>http:</a:t>
            </a:r>
            <a:r>
              <a:rPr sz="703" u="sng" spc="-4" dirty="0">
                <a:latin typeface="Gill Sans"/>
                <a:cs typeface="Gill Sans"/>
                <a:hlinkClick r:id="rId6"/>
              </a:rPr>
              <a:t>//farm8.stati</a:t>
            </a:r>
            <a:r>
              <a:rPr sz="703" u="sng" spc="7" dirty="0">
                <a:latin typeface="Gill Sans"/>
                <a:cs typeface="Gill Sans"/>
                <a:hlinkClick r:id="rId6"/>
              </a:rPr>
              <a:t>c</a:t>
            </a:r>
            <a:r>
              <a:rPr sz="703" u="sng" dirty="0">
                <a:latin typeface="Gill Sans"/>
                <a:cs typeface="Gill Sans"/>
                <a:hlinkClick r:id="rId6"/>
              </a:rPr>
              <a:t>.</a:t>
            </a:r>
            <a:r>
              <a:rPr sz="703" u="sng" spc="4" dirty="0">
                <a:latin typeface="Gill Sans"/>
                <a:cs typeface="Gill Sans"/>
                <a:hlinkClick r:id="rId6"/>
              </a:rPr>
              <a:t>fli</a:t>
            </a:r>
            <a:r>
              <a:rPr sz="703" u="sng" spc="-4" dirty="0">
                <a:latin typeface="Gill Sans"/>
                <a:cs typeface="Gill Sans"/>
                <a:hlinkClick r:id="rId6"/>
              </a:rPr>
              <a:t>ck</a:t>
            </a:r>
            <a:r>
              <a:rPr sz="703" u="sng" spc="-77" dirty="0">
                <a:latin typeface="Gill Sans"/>
                <a:cs typeface="Gill Sans"/>
                <a:hlinkClick r:id="rId6"/>
              </a:rPr>
              <a:t>r</a:t>
            </a:r>
            <a:r>
              <a:rPr sz="703" u="sng" dirty="0">
                <a:latin typeface="Gill Sans"/>
                <a:cs typeface="Gill Sans"/>
                <a:hlinkClick r:id="rId6"/>
              </a:rPr>
              <a:t>.</a:t>
            </a:r>
            <a:r>
              <a:rPr sz="703" u="sng" spc="-4" dirty="0">
                <a:latin typeface="Gill Sans"/>
                <a:cs typeface="Gill Sans"/>
                <a:hlinkClick r:id="rId6"/>
              </a:rPr>
              <a:t>com/7446/9252634315_0ecf0ba853_</a:t>
            </a:r>
            <a:r>
              <a:rPr sz="703" u="sng" dirty="0">
                <a:latin typeface="Gill Sans"/>
                <a:cs typeface="Gill Sans"/>
                <a:hlinkClick r:id="rId6"/>
              </a:rPr>
              <a:t>m.j</a:t>
            </a:r>
            <a:r>
              <a:rPr sz="703" u="sng" spc="-4" dirty="0">
                <a:latin typeface="Gill Sans"/>
                <a:cs typeface="Gill Sans"/>
                <a:hlinkClick r:id="rId6"/>
              </a:rPr>
              <a:t>pg</a:t>
            </a:r>
            <a:endParaRPr sz="703" dirty="0">
              <a:latin typeface="Gill Sans"/>
              <a:cs typeface="Gill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97266" y="5107782"/>
            <a:ext cx="922883" cy="129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844" b="1" i="1" dirty="0">
                <a:latin typeface="Calibri"/>
                <a:cs typeface="Calibri"/>
              </a:rPr>
              <a:t>P</a:t>
            </a:r>
            <a:r>
              <a:rPr sz="844" b="1" i="1" spc="-14" dirty="0">
                <a:latin typeface="Calibri"/>
                <a:cs typeface="Calibri"/>
              </a:rPr>
              <a:t>s</a:t>
            </a:r>
            <a:r>
              <a:rPr sz="844" b="1" i="1" spc="-7" dirty="0">
                <a:latin typeface="Calibri"/>
                <a:cs typeface="Calibri"/>
              </a:rPr>
              <a:t>yc</a:t>
            </a:r>
            <a:r>
              <a:rPr sz="844" b="1" i="1" spc="-4" dirty="0">
                <a:latin typeface="Calibri"/>
                <a:cs typeface="Calibri"/>
              </a:rPr>
              <a:t>hotr</a:t>
            </a:r>
            <a:r>
              <a:rPr sz="844" b="1" i="1" spc="-7" dirty="0">
                <a:latin typeface="Calibri"/>
                <a:cs typeface="Calibri"/>
              </a:rPr>
              <a:t>ia</a:t>
            </a:r>
            <a:r>
              <a:rPr sz="844" b="1" i="1" dirty="0">
                <a:latin typeface="Calibri"/>
                <a:cs typeface="Calibri"/>
              </a:rPr>
              <a:t> </a:t>
            </a:r>
            <a:r>
              <a:rPr sz="844" b="1" i="1" spc="-4" dirty="0">
                <a:latin typeface="Calibri"/>
                <a:cs typeface="Calibri"/>
              </a:rPr>
              <a:t>h</a:t>
            </a:r>
            <a:r>
              <a:rPr sz="844" b="1" i="1" spc="-21" dirty="0">
                <a:latin typeface="Calibri"/>
                <a:cs typeface="Calibri"/>
              </a:rPr>
              <a:t>e</a:t>
            </a:r>
            <a:r>
              <a:rPr sz="844" b="1" i="1" spc="-18" dirty="0">
                <a:latin typeface="Calibri"/>
                <a:cs typeface="Calibri"/>
              </a:rPr>
              <a:t>x</a:t>
            </a:r>
            <a:r>
              <a:rPr sz="844" b="1" i="1" spc="-7" dirty="0">
                <a:latin typeface="Calibri"/>
                <a:cs typeface="Calibri"/>
              </a:rPr>
              <a:t>andra</a:t>
            </a:r>
            <a:endParaRPr sz="844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6550" y="1114072"/>
            <a:ext cx="5594449" cy="475506"/>
          </a:xfrm>
          <a:custGeom>
            <a:avLst/>
            <a:gdLst/>
            <a:ahLst/>
            <a:cxnLst/>
            <a:rect l="l" t="t" r="r" b="b"/>
            <a:pathLst>
              <a:path w="7956550" h="676275">
                <a:moveTo>
                  <a:pt x="0" y="0"/>
                </a:moveTo>
                <a:lnTo>
                  <a:pt x="7956483" y="0"/>
                </a:lnTo>
                <a:lnTo>
                  <a:pt x="7956483" y="676142"/>
                </a:lnTo>
                <a:lnTo>
                  <a:pt x="0" y="67614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 txBox="1"/>
          <p:nvPr/>
        </p:nvSpPr>
        <p:spPr>
          <a:xfrm>
            <a:off x="1009055" y="1149587"/>
            <a:ext cx="2558802" cy="519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375" b="1" dirty="0">
                <a:latin typeface="Gill Sans"/>
                <a:cs typeface="Gill Sans"/>
              </a:rPr>
              <a:t>M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dirty="0">
                <a:latin typeface="Gill Sans"/>
                <a:cs typeface="Gill Sans"/>
              </a:rPr>
              <a:t>del</a:t>
            </a:r>
            <a:r>
              <a:rPr sz="3375" b="1" spc="-11" dirty="0">
                <a:latin typeface="Gill Sans"/>
                <a:cs typeface="Gill Sans"/>
              </a:rPr>
              <a:t>: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spc="-28" dirty="0">
                <a:latin typeface="Gill Sans"/>
                <a:cs typeface="Gill Sans"/>
              </a:rPr>
              <a:t>D</a:t>
            </a:r>
            <a:r>
              <a:rPr sz="3375" b="1" dirty="0">
                <a:latin typeface="Gill Sans"/>
                <a:cs typeface="Gill Sans"/>
              </a:rPr>
              <a:t>EC</a:t>
            </a:r>
            <a:endParaRPr sz="3375">
              <a:latin typeface="Gill Sans"/>
              <a:cs typeface="Gill Sans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327653" y="5237262"/>
          <a:ext cx="1231564" cy="13260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631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1700" b="1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700" b="1" spc="-35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1700" b="1" dirty="0">
                          <a:latin typeface="Calibri"/>
                          <a:cs typeface="Calibri"/>
                        </a:rPr>
                        <a:t>auai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0061FF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631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700" b="1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700" b="1" dirty="0">
                          <a:latin typeface="Calibri"/>
                          <a:cs typeface="Calibri"/>
                        </a:rPr>
                        <a:t>Oahu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53D5FD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398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Calibri"/>
                          <a:cs typeface="Calibri"/>
                        </a:rPr>
                        <a:t>M=Maui-Nui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C41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398">
                <a:tc gridSpan="2"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700" b="1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700" b="1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700" b="1" spc="-2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700" b="1" spc="-3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7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700" b="1" spc="2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700" b="1" spc="5" dirty="0">
                          <a:latin typeface="Calibri"/>
                          <a:cs typeface="Calibri"/>
                        </a:rPr>
                        <a:t>’</a:t>
                      </a:r>
                      <a:r>
                        <a:rPr sz="1700" b="1" dirty="0">
                          <a:latin typeface="Calibri"/>
                          <a:cs typeface="Calibri"/>
                        </a:rPr>
                        <a:t>i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401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50372" y="1215948"/>
            <a:ext cx="2924270" cy="36700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" y="1145186"/>
            <a:ext cx="2857932" cy="40034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1469" y="224625"/>
            <a:ext cx="5786438" cy="740633"/>
          </a:xfrm>
          <a:prstGeom prst="rect">
            <a:avLst/>
          </a:prstGeom>
        </p:spPr>
        <p:txBody>
          <a:bodyPr vert="horz" wrap="square" lIns="0" tIns="219120" rIns="0" bIns="0" rtlCol="0" anchor="ctr">
            <a:spAutoFit/>
          </a:bodyPr>
          <a:lstStyle/>
          <a:p>
            <a:pPr marL="1185374"/>
            <a:r>
              <a:rPr sz="3375" dirty="0">
                <a:latin typeface="Gill Sans"/>
                <a:cs typeface="Gill Sans"/>
              </a:rPr>
              <a:t>Comp</a:t>
            </a:r>
            <a:r>
              <a:rPr sz="3375" spc="46" dirty="0">
                <a:latin typeface="Gill Sans"/>
                <a:cs typeface="Gill Sans"/>
              </a:rPr>
              <a:t>a</a:t>
            </a:r>
            <a:r>
              <a:rPr sz="3375" spc="-148" dirty="0">
                <a:latin typeface="Gill Sans"/>
                <a:cs typeface="Gill Sans"/>
              </a:rPr>
              <a:t>r</a:t>
            </a:r>
            <a:r>
              <a:rPr sz="3375" spc="-4" dirty="0">
                <a:latin typeface="Gill Sans"/>
                <a:cs typeface="Gill Sans"/>
              </a:rPr>
              <a:t>ison</a:t>
            </a:r>
            <a:r>
              <a:rPr sz="3375" dirty="0">
                <a:latin typeface="Gill Sans"/>
                <a:cs typeface="Gill Sans"/>
              </a:rPr>
              <a:t>:</a:t>
            </a:r>
            <a:r>
              <a:rPr sz="3375" spc="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3 </a:t>
            </a:r>
            <a:r>
              <a:rPr sz="3375" spc="-4" dirty="0">
                <a:latin typeface="Gill Sans"/>
                <a:cs typeface="Gill Sans"/>
              </a:rPr>
              <a:t>models</a:t>
            </a:r>
            <a:endParaRPr sz="3375" dirty="0">
              <a:latin typeface="Gill Sans"/>
              <a:cs typeface="Gill San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84966" y="5277445"/>
            <a:ext cx="2143125" cy="13930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 txBox="1"/>
          <p:nvPr/>
        </p:nvSpPr>
        <p:spPr>
          <a:xfrm>
            <a:off x="6634758" y="6670537"/>
            <a:ext cx="2401639" cy="108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703" u="sng" dirty="0">
                <a:latin typeface="Gill Sans"/>
                <a:cs typeface="Gill Sans"/>
                <a:hlinkClick r:id="rId6"/>
              </a:rPr>
              <a:t>http:</a:t>
            </a:r>
            <a:r>
              <a:rPr sz="703" u="sng" spc="-4" dirty="0">
                <a:latin typeface="Gill Sans"/>
                <a:cs typeface="Gill Sans"/>
                <a:hlinkClick r:id="rId6"/>
              </a:rPr>
              <a:t>//farm8.stati</a:t>
            </a:r>
            <a:r>
              <a:rPr sz="703" u="sng" spc="7" dirty="0">
                <a:latin typeface="Gill Sans"/>
                <a:cs typeface="Gill Sans"/>
                <a:hlinkClick r:id="rId6"/>
              </a:rPr>
              <a:t>c</a:t>
            </a:r>
            <a:r>
              <a:rPr sz="703" u="sng" dirty="0">
                <a:latin typeface="Gill Sans"/>
                <a:cs typeface="Gill Sans"/>
                <a:hlinkClick r:id="rId6"/>
              </a:rPr>
              <a:t>.</a:t>
            </a:r>
            <a:r>
              <a:rPr sz="703" u="sng" spc="4" dirty="0">
                <a:latin typeface="Gill Sans"/>
                <a:cs typeface="Gill Sans"/>
                <a:hlinkClick r:id="rId6"/>
              </a:rPr>
              <a:t>fli</a:t>
            </a:r>
            <a:r>
              <a:rPr sz="703" u="sng" spc="-4" dirty="0">
                <a:latin typeface="Gill Sans"/>
                <a:cs typeface="Gill Sans"/>
                <a:hlinkClick r:id="rId6"/>
              </a:rPr>
              <a:t>ck</a:t>
            </a:r>
            <a:r>
              <a:rPr sz="703" u="sng" spc="-77" dirty="0">
                <a:latin typeface="Gill Sans"/>
                <a:cs typeface="Gill Sans"/>
                <a:hlinkClick r:id="rId6"/>
              </a:rPr>
              <a:t>r</a:t>
            </a:r>
            <a:r>
              <a:rPr sz="703" u="sng" dirty="0">
                <a:latin typeface="Gill Sans"/>
                <a:cs typeface="Gill Sans"/>
                <a:hlinkClick r:id="rId6"/>
              </a:rPr>
              <a:t>.</a:t>
            </a:r>
            <a:r>
              <a:rPr sz="703" u="sng" spc="-4" dirty="0">
                <a:latin typeface="Gill Sans"/>
                <a:cs typeface="Gill Sans"/>
                <a:hlinkClick r:id="rId6"/>
              </a:rPr>
              <a:t>com/7446/9252634315_0ecf0ba853_</a:t>
            </a:r>
            <a:r>
              <a:rPr sz="703" u="sng" dirty="0">
                <a:latin typeface="Gill Sans"/>
                <a:cs typeface="Gill Sans"/>
                <a:hlinkClick r:id="rId6"/>
              </a:rPr>
              <a:t>m.j</a:t>
            </a:r>
            <a:r>
              <a:rPr sz="703" u="sng" spc="-4" dirty="0">
                <a:latin typeface="Gill Sans"/>
                <a:cs typeface="Gill Sans"/>
                <a:hlinkClick r:id="rId6"/>
              </a:rPr>
              <a:t>pg</a:t>
            </a:r>
            <a:endParaRPr sz="703" dirty="0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97266" y="5107782"/>
            <a:ext cx="922883" cy="129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844" b="1" i="1" dirty="0">
                <a:latin typeface="Calibri"/>
                <a:cs typeface="Calibri"/>
              </a:rPr>
              <a:t>P</a:t>
            </a:r>
            <a:r>
              <a:rPr sz="844" b="1" i="1" spc="-14" dirty="0">
                <a:latin typeface="Calibri"/>
                <a:cs typeface="Calibri"/>
              </a:rPr>
              <a:t>s</a:t>
            </a:r>
            <a:r>
              <a:rPr sz="844" b="1" i="1" spc="-7" dirty="0">
                <a:latin typeface="Calibri"/>
                <a:cs typeface="Calibri"/>
              </a:rPr>
              <a:t>yc</a:t>
            </a:r>
            <a:r>
              <a:rPr sz="844" b="1" i="1" spc="-4" dirty="0">
                <a:latin typeface="Calibri"/>
                <a:cs typeface="Calibri"/>
              </a:rPr>
              <a:t>hotr</a:t>
            </a:r>
            <a:r>
              <a:rPr sz="844" b="1" i="1" spc="-7" dirty="0">
                <a:latin typeface="Calibri"/>
                <a:cs typeface="Calibri"/>
              </a:rPr>
              <a:t>ia</a:t>
            </a:r>
            <a:r>
              <a:rPr sz="844" b="1" i="1" dirty="0">
                <a:latin typeface="Calibri"/>
                <a:cs typeface="Calibri"/>
              </a:rPr>
              <a:t> </a:t>
            </a:r>
            <a:r>
              <a:rPr sz="844" b="1" i="1" spc="-4" dirty="0">
                <a:latin typeface="Calibri"/>
                <a:cs typeface="Calibri"/>
              </a:rPr>
              <a:t>h</a:t>
            </a:r>
            <a:r>
              <a:rPr sz="844" b="1" i="1" spc="-21" dirty="0">
                <a:latin typeface="Calibri"/>
                <a:cs typeface="Calibri"/>
              </a:rPr>
              <a:t>e</a:t>
            </a:r>
            <a:r>
              <a:rPr sz="844" b="1" i="1" spc="-18" dirty="0">
                <a:latin typeface="Calibri"/>
                <a:cs typeface="Calibri"/>
              </a:rPr>
              <a:t>x</a:t>
            </a:r>
            <a:r>
              <a:rPr sz="844" b="1" i="1" spc="-7" dirty="0">
                <a:latin typeface="Calibri"/>
                <a:cs typeface="Calibri"/>
              </a:rPr>
              <a:t>andra</a:t>
            </a:r>
            <a:endParaRPr sz="844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9023" y="954306"/>
            <a:ext cx="1288554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b="1" dirty="0">
                <a:latin typeface="Gill Sans"/>
                <a:cs typeface="Gill Sans"/>
              </a:rPr>
              <a:t>Model</a:t>
            </a:r>
            <a:r>
              <a:rPr sz="1687" b="1" spc="-7" dirty="0">
                <a:latin typeface="Gill Sans"/>
                <a:cs typeface="Gill Sans"/>
              </a:rPr>
              <a:t>: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spc="-14" dirty="0">
                <a:latin typeface="Gill Sans"/>
                <a:cs typeface="Gill Sans"/>
              </a:rPr>
              <a:t>D</a:t>
            </a:r>
            <a:r>
              <a:rPr sz="1687" b="1" dirty="0">
                <a:latin typeface="Gill Sans"/>
                <a:cs typeface="Gill Sans"/>
              </a:rPr>
              <a:t>EC</a:t>
            </a:r>
            <a:endParaRPr sz="1687">
              <a:latin typeface="Gill Sans"/>
              <a:cs typeface="Gill San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53210" y="1222944"/>
            <a:ext cx="2905526" cy="36364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 txBox="1"/>
          <p:nvPr/>
        </p:nvSpPr>
        <p:spPr>
          <a:xfrm>
            <a:off x="3723680" y="963235"/>
            <a:ext cx="4506367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tabLst>
                <a:tab pos="2767658" algn="l"/>
              </a:tabLst>
            </a:pPr>
            <a:r>
              <a:rPr sz="1687" b="1" dirty="0">
                <a:latin typeface="Gill Sans"/>
                <a:cs typeface="Gill Sans"/>
              </a:rPr>
              <a:t>Model</a:t>
            </a:r>
            <a:r>
              <a:rPr sz="1687" b="1" spc="-7" dirty="0">
                <a:latin typeface="Gill Sans"/>
                <a:cs typeface="Gill Sans"/>
              </a:rPr>
              <a:t>: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spc="-11" dirty="0">
                <a:latin typeface="Gill Sans"/>
                <a:cs typeface="Gill Sans"/>
              </a:rPr>
              <a:t>DI</a:t>
            </a:r>
            <a:r>
              <a:rPr sz="1687" b="1" spc="-137" dirty="0">
                <a:latin typeface="Gill Sans"/>
                <a:cs typeface="Gill Sans"/>
              </a:rPr>
              <a:t>V</a:t>
            </a:r>
            <a:r>
              <a:rPr sz="1687" b="1" dirty="0">
                <a:latin typeface="Gill Sans"/>
                <a:cs typeface="Gill Sans"/>
              </a:rPr>
              <a:t>A	Model</a:t>
            </a:r>
            <a:r>
              <a:rPr sz="1687" b="1" spc="-7" dirty="0">
                <a:latin typeface="Gill Sans"/>
                <a:cs typeface="Gill Sans"/>
              </a:rPr>
              <a:t>: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spc="-14" dirty="0">
                <a:latin typeface="Gill Sans"/>
                <a:cs typeface="Gill Sans"/>
              </a:rPr>
              <a:t>Ba</a:t>
            </a:r>
            <a:r>
              <a:rPr sz="1687" b="1" dirty="0">
                <a:latin typeface="Gill Sans"/>
                <a:cs typeface="Gill Sans"/>
              </a:rPr>
              <a:t>yA</a:t>
            </a:r>
            <a:r>
              <a:rPr sz="1687" b="1" spc="-74" dirty="0">
                <a:latin typeface="Gill Sans"/>
                <a:cs typeface="Gill Sans"/>
              </a:rPr>
              <a:t>r</a:t>
            </a:r>
            <a:r>
              <a:rPr sz="1687" b="1" dirty="0">
                <a:latin typeface="Gill Sans"/>
                <a:cs typeface="Gill Sans"/>
              </a:rPr>
              <a:t>e</a:t>
            </a:r>
            <a:r>
              <a:rPr sz="1687" b="1" spc="-11" dirty="0">
                <a:latin typeface="Gill Sans"/>
                <a:cs typeface="Gill Sans"/>
              </a:rPr>
              <a:t>a</a:t>
            </a:r>
            <a:endParaRPr sz="1687">
              <a:latin typeface="Gill Sans"/>
              <a:cs typeface="Gill San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327653" y="5237262"/>
          <a:ext cx="1231564" cy="13260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631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1700" b="1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700" b="1" spc="-35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1700" b="1" dirty="0">
                          <a:latin typeface="Calibri"/>
                          <a:cs typeface="Calibri"/>
                        </a:rPr>
                        <a:t>auai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0061FF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631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700" b="1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700" b="1" dirty="0">
                          <a:latin typeface="Calibri"/>
                          <a:cs typeface="Calibri"/>
                        </a:rPr>
                        <a:t>Oahu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53D5FD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398"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Calibri"/>
                          <a:cs typeface="Calibri"/>
                        </a:rPr>
                        <a:t>M=Maui-Nui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C41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398">
                <a:tc gridSpan="2"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700" b="1" spc="-5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700" b="1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700" b="1" spc="-2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700" b="1" spc="-3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7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700" b="1" spc="2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700" b="1" spc="5" dirty="0">
                          <a:latin typeface="Calibri"/>
                          <a:cs typeface="Calibri"/>
                        </a:rPr>
                        <a:t>’</a:t>
                      </a:r>
                      <a:r>
                        <a:rPr sz="1700" b="1" dirty="0">
                          <a:latin typeface="Calibri"/>
                          <a:cs typeface="Calibri"/>
                        </a:rPr>
                        <a:t>i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401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0430" y="2640845"/>
            <a:ext cx="7087046" cy="356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375" b="1" dirty="0">
                <a:latin typeface="Gill Sans"/>
                <a:cs typeface="Gill Sans"/>
              </a:rPr>
              <a:t>Comp</a:t>
            </a:r>
            <a:r>
              <a:rPr sz="3375" b="1" spc="46" dirty="0">
                <a:latin typeface="Gill Sans"/>
                <a:cs typeface="Gill Sans"/>
              </a:rPr>
              <a:t>a</a:t>
            </a:r>
            <a:r>
              <a:rPr sz="3375" b="1" spc="-148" dirty="0">
                <a:latin typeface="Gill Sans"/>
                <a:cs typeface="Gill Sans"/>
              </a:rPr>
              <a:t>r</a:t>
            </a:r>
            <a:r>
              <a:rPr sz="3375" b="1" spc="-4" dirty="0">
                <a:latin typeface="Gill Sans"/>
                <a:cs typeface="Gill Sans"/>
              </a:rPr>
              <a:t>iso</a:t>
            </a:r>
            <a:r>
              <a:rPr sz="3375" b="1" dirty="0">
                <a:latin typeface="Gill Sans"/>
                <a:cs typeface="Gill Sans"/>
              </a:rPr>
              <a:t>n of</a:t>
            </a:r>
            <a:r>
              <a:rPr sz="3375" b="1" spc="98" dirty="0">
                <a:latin typeface="Gill Sans"/>
                <a:cs typeface="Gill Sans"/>
              </a:rPr>
              <a:t> </a:t>
            </a:r>
            <a:r>
              <a:rPr sz="3375" b="1" spc="-4" dirty="0">
                <a:latin typeface="Gill Sans"/>
                <a:cs typeface="Gill Sans"/>
              </a:rPr>
              <a:t>t</a:t>
            </a:r>
            <a:r>
              <a:rPr sz="3375" b="1" spc="-49" dirty="0">
                <a:latin typeface="Gill Sans"/>
                <a:cs typeface="Gill Sans"/>
              </a:rPr>
              <a:t>w</a:t>
            </a:r>
            <a:r>
              <a:rPr sz="3375" b="1" dirty="0">
                <a:latin typeface="Gill Sans"/>
                <a:cs typeface="Gill Sans"/>
              </a:rPr>
              <a:t>o </a:t>
            </a:r>
            <a:r>
              <a:rPr sz="3375" b="1" spc="-4" dirty="0">
                <a:latin typeface="Gill Sans"/>
                <a:cs typeface="Gill Sans"/>
              </a:rPr>
              <a:t>models:</a:t>
            </a:r>
            <a:endParaRPr sz="3375">
              <a:latin typeface="Gill Sans"/>
              <a:cs typeface="Gill Sans"/>
            </a:endParaRPr>
          </a:p>
          <a:p>
            <a:pPr>
              <a:spcBef>
                <a:spcPts val="4"/>
              </a:spcBef>
            </a:pPr>
            <a:endParaRPr sz="3445">
              <a:latin typeface="Times New Roman"/>
              <a:cs typeface="Times New Roman"/>
            </a:endParaRPr>
          </a:p>
          <a:p>
            <a:pPr marL="607197" marR="3572" indent="-598268">
              <a:lnSpc>
                <a:spcPts val="3867"/>
              </a:lnSpc>
              <a:buFont typeface="Gill Sans"/>
              <a:buAutoNum type="arabicPeriod"/>
              <a:tabLst>
                <a:tab pos="607197" algn="l"/>
              </a:tabLst>
            </a:pPr>
            <a:r>
              <a:rPr sz="3375" b="1" spc="-4" dirty="0">
                <a:latin typeface="Gill Sans"/>
                <a:cs typeface="Gill Sans"/>
              </a:rPr>
              <a:t>mo</a:t>
            </a:r>
            <a:r>
              <a:rPr sz="3375" b="1" dirty="0">
                <a:latin typeface="Gill Sans"/>
                <a:cs typeface="Gill Sans"/>
              </a:rPr>
              <a:t>del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dirty="0">
                <a:latin typeface="Gill Sans"/>
                <a:cs typeface="Gill Sans"/>
              </a:rPr>
              <a:t>wi</a:t>
            </a:r>
            <a:r>
              <a:rPr sz="3375" b="1" spc="-4" dirty="0">
                <a:latin typeface="Gill Sans"/>
                <a:cs typeface="Gill Sans"/>
              </a:rPr>
              <a:t>thou</a:t>
            </a:r>
            <a:r>
              <a:rPr sz="3375" b="1" dirty="0">
                <a:latin typeface="Gill Sans"/>
                <a:cs typeface="Gill Sans"/>
              </a:rPr>
              <a:t>t</a:t>
            </a:r>
            <a:r>
              <a:rPr sz="3375" b="1" spc="-4" dirty="0">
                <a:latin typeface="Gill Sans"/>
                <a:cs typeface="Gill Sans"/>
              </a:rPr>
              <a:t> foun</a:t>
            </a:r>
            <a:r>
              <a:rPr sz="3375" b="1" dirty="0">
                <a:latin typeface="Gill Sans"/>
                <a:cs typeface="Gill Sans"/>
              </a:rPr>
              <a:t>de</a:t>
            </a:r>
            <a:r>
              <a:rPr sz="3375" b="1" spc="-148" dirty="0">
                <a:latin typeface="Gill Sans"/>
                <a:cs typeface="Gill Sans"/>
              </a:rPr>
              <a:t>r</a:t>
            </a:r>
            <a:r>
              <a:rPr sz="3375" b="1" spc="-4" dirty="0">
                <a:latin typeface="Gill Sans"/>
                <a:cs typeface="Gill Sans"/>
              </a:rPr>
              <a:t>-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49" dirty="0">
                <a:latin typeface="Gill Sans"/>
                <a:cs typeface="Gill Sans"/>
              </a:rPr>
              <a:t>v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4" dirty="0">
                <a:latin typeface="Gill Sans"/>
                <a:cs typeface="Gill Sans"/>
              </a:rPr>
              <a:t>n</a:t>
            </a:r>
            <a:r>
              <a:rPr sz="3375" b="1" dirty="0">
                <a:latin typeface="Gill Sans"/>
                <a:cs typeface="Gill Sans"/>
              </a:rPr>
              <a:t>t speciation</a:t>
            </a:r>
            <a:endParaRPr sz="3375">
              <a:latin typeface="Gill Sans"/>
              <a:cs typeface="Gill Sans"/>
            </a:endParaRPr>
          </a:p>
          <a:p>
            <a:pPr>
              <a:spcBef>
                <a:spcPts val="26"/>
              </a:spcBef>
              <a:buFont typeface="Gill Sans"/>
              <a:buAutoNum type="arabicPeriod"/>
            </a:pPr>
            <a:endParaRPr sz="3340">
              <a:latin typeface="Times New Roman"/>
              <a:cs typeface="Times New Roman"/>
            </a:endParaRPr>
          </a:p>
          <a:p>
            <a:pPr marL="607197" marR="751406" indent="-598268">
              <a:lnSpc>
                <a:spcPts val="3867"/>
              </a:lnSpc>
              <a:buFont typeface="Gill Sans"/>
              <a:buAutoNum type="arabicPeriod"/>
              <a:tabLst>
                <a:tab pos="607197" algn="l"/>
              </a:tabLst>
            </a:pPr>
            <a:r>
              <a:rPr sz="3375" b="1" spc="-4" dirty="0">
                <a:latin typeface="Gill Sans"/>
                <a:cs typeface="Gill Sans"/>
              </a:rPr>
              <a:t>mo</a:t>
            </a:r>
            <a:r>
              <a:rPr sz="3375" b="1" dirty="0">
                <a:latin typeface="Gill Sans"/>
                <a:cs typeface="Gill Sans"/>
              </a:rPr>
              <a:t>del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dirty="0">
                <a:latin typeface="Gill Sans"/>
                <a:cs typeface="Gill Sans"/>
              </a:rPr>
              <a:t>wi</a:t>
            </a:r>
            <a:r>
              <a:rPr sz="3375" b="1" spc="-4" dirty="0">
                <a:latin typeface="Gill Sans"/>
                <a:cs typeface="Gill Sans"/>
              </a:rPr>
              <a:t>t</a:t>
            </a:r>
            <a:r>
              <a:rPr sz="3375" b="1" dirty="0">
                <a:latin typeface="Gill Sans"/>
                <a:cs typeface="Gill Sans"/>
              </a:rPr>
              <a:t>h</a:t>
            </a:r>
            <a:r>
              <a:rPr sz="3375" b="1" spc="-4" dirty="0">
                <a:latin typeface="Gill Sans"/>
                <a:cs typeface="Gill Sans"/>
              </a:rPr>
              <a:t> foun</a:t>
            </a:r>
            <a:r>
              <a:rPr sz="3375" b="1" dirty="0">
                <a:latin typeface="Gill Sans"/>
                <a:cs typeface="Gill Sans"/>
              </a:rPr>
              <a:t>de</a:t>
            </a:r>
            <a:r>
              <a:rPr sz="3375" b="1" spc="-148" dirty="0">
                <a:latin typeface="Gill Sans"/>
                <a:cs typeface="Gill Sans"/>
              </a:rPr>
              <a:t>r</a:t>
            </a:r>
            <a:r>
              <a:rPr sz="3375" b="1" spc="-4" dirty="0">
                <a:latin typeface="Gill Sans"/>
                <a:cs typeface="Gill Sans"/>
              </a:rPr>
              <a:t>-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49" dirty="0">
                <a:latin typeface="Gill Sans"/>
                <a:cs typeface="Gill Sans"/>
              </a:rPr>
              <a:t>v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4" dirty="0">
                <a:latin typeface="Gill Sans"/>
                <a:cs typeface="Gill Sans"/>
              </a:rPr>
              <a:t>n</a:t>
            </a:r>
            <a:r>
              <a:rPr sz="3375" b="1" dirty="0">
                <a:latin typeface="Gill Sans"/>
                <a:cs typeface="Gill Sans"/>
              </a:rPr>
              <a:t>t speciation</a:t>
            </a:r>
            <a:endParaRPr sz="3375">
              <a:latin typeface="Gill Sans"/>
              <a:cs typeface="Gill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80555" y="271110"/>
            <a:ext cx="5972175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11162" algn="ctr">
              <a:lnSpc>
                <a:spcPts val="4570"/>
              </a:lnSpc>
            </a:pPr>
            <a:r>
              <a:rPr sz="3937" b="1" spc="-18" dirty="0">
                <a:latin typeface="Gill Sans"/>
                <a:cs typeface="Gill Sans"/>
              </a:rPr>
              <a:t>I</a:t>
            </a:r>
            <a:r>
              <a:rPr sz="3937" b="1" spc="-4" dirty="0">
                <a:latin typeface="Gill Sans"/>
                <a:cs typeface="Gill Sans"/>
              </a:rPr>
              <a:t> th</a:t>
            </a:r>
            <a:r>
              <a:rPr sz="3937" b="1" dirty="0">
                <a:latin typeface="Gill Sans"/>
                <a:cs typeface="Gill Sans"/>
              </a:rPr>
              <a:t>i</a:t>
            </a:r>
            <a:r>
              <a:rPr sz="3937" b="1" spc="-4" dirty="0">
                <a:latin typeface="Gill Sans"/>
                <a:cs typeface="Gill Sans"/>
              </a:rPr>
              <a:t>n</a:t>
            </a:r>
            <a:r>
              <a:rPr sz="3937" b="1" spc="-28" dirty="0">
                <a:latin typeface="Gill Sans"/>
                <a:cs typeface="Gill Sans"/>
              </a:rPr>
              <a:t>k</a:t>
            </a:r>
            <a:r>
              <a:rPr sz="3937" b="1" spc="-4" dirty="0">
                <a:latin typeface="Gill Sans"/>
                <a:cs typeface="Gill Sans"/>
              </a:rPr>
              <a:t> </a:t>
            </a:r>
            <a:r>
              <a:rPr sz="3937" b="1" spc="-56" dirty="0">
                <a:latin typeface="Gill Sans"/>
                <a:cs typeface="Gill Sans"/>
              </a:rPr>
              <a:t>w</a:t>
            </a:r>
            <a:r>
              <a:rPr sz="3937" b="1" dirty="0">
                <a:latin typeface="Gill Sans"/>
                <a:cs typeface="Gill Sans"/>
              </a:rPr>
              <a:t>e</a:t>
            </a:r>
            <a:r>
              <a:rPr sz="3937" b="1" spc="-4" dirty="0">
                <a:latin typeface="Gill Sans"/>
                <a:cs typeface="Gill Sans"/>
              </a:rPr>
              <a:t> </a:t>
            </a:r>
            <a:r>
              <a:rPr sz="3937" b="1" spc="-21" dirty="0">
                <a:latin typeface="Gill Sans"/>
                <a:cs typeface="Gill Sans"/>
              </a:rPr>
              <a:t>s</a:t>
            </a:r>
            <a:r>
              <a:rPr sz="3937" b="1" spc="-4" dirty="0">
                <a:latin typeface="Gill Sans"/>
                <a:cs typeface="Gill Sans"/>
              </a:rPr>
              <a:t>hou</a:t>
            </a:r>
            <a:r>
              <a:rPr sz="3937" b="1" dirty="0">
                <a:latin typeface="Gill Sans"/>
                <a:cs typeface="Gill Sans"/>
              </a:rPr>
              <a:t>ld</a:t>
            </a:r>
            <a:r>
              <a:rPr sz="3937" b="1" spc="-4" dirty="0">
                <a:latin typeface="Gill Sans"/>
                <a:cs typeface="Gill Sans"/>
              </a:rPr>
              <a:t> u</a:t>
            </a:r>
            <a:r>
              <a:rPr sz="3937" b="1" spc="-21" dirty="0">
                <a:latin typeface="Gill Sans"/>
                <a:cs typeface="Gill Sans"/>
              </a:rPr>
              <a:t>s</a:t>
            </a:r>
            <a:r>
              <a:rPr sz="3937" b="1" dirty="0">
                <a:latin typeface="Gill Sans"/>
                <a:cs typeface="Gill Sans"/>
              </a:rPr>
              <a:t>e </a:t>
            </a:r>
            <a:r>
              <a:rPr sz="3937" b="1" u="heavy" dirty="0">
                <a:latin typeface="Gill Sans"/>
                <a:cs typeface="Gill Sans"/>
              </a:rPr>
              <a:t>statistical</a:t>
            </a:r>
            <a:r>
              <a:rPr sz="3937" b="1" u="heavy" spc="-28" dirty="0">
                <a:latin typeface="Gill Sans"/>
                <a:cs typeface="Gill Sans"/>
              </a:rPr>
              <a:t> </a:t>
            </a:r>
            <a:r>
              <a:rPr sz="3937" b="1" u="heavy" spc="-4" dirty="0">
                <a:latin typeface="Gill Sans"/>
                <a:cs typeface="Gill Sans"/>
              </a:rPr>
              <a:t>model</a:t>
            </a:r>
            <a:r>
              <a:rPr sz="3937" b="1" u="heavy" spc="-11" dirty="0">
                <a:latin typeface="Gill Sans"/>
                <a:cs typeface="Gill Sans"/>
              </a:rPr>
              <a:t> </a:t>
            </a:r>
            <a:r>
              <a:rPr sz="3937" b="1" u="heavy" spc="-4" dirty="0">
                <a:latin typeface="Gill Sans"/>
                <a:cs typeface="Gill Sans"/>
              </a:rPr>
              <a:t>choice</a:t>
            </a:r>
            <a:r>
              <a:rPr sz="3937" b="1" spc="-4" dirty="0">
                <a:latin typeface="Gill Sans"/>
                <a:cs typeface="Gill Sans"/>
              </a:rPr>
              <a:t> </a:t>
            </a:r>
            <a:r>
              <a:rPr sz="3937" b="1" dirty="0">
                <a:latin typeface="Gill Sans"/>
                <a:cs typeface="Gill Sans"/>
              </a:rPr>
              <a:t>in</a:t>
            </a:r>
            <a:r>
              <a:rPr sz="3937" b="1" spc="-4" dirty="0">
                <a:latin typeface="Gill Sans"/>
                <a:cs typeface="Gill Sans"/>
              </a:rPr>
              <a:t> </a:t>
            </a:r>
            <a:r>
              <a:rPr sz="3937" b="1" dirty="0">
                <a:latin typeface="Gill Sans"/>
                <a:cs typeface="Gill Sans"/>
              </a:rPr>
              <a:t>bi</a:t>
            </a:r>
            <a:r>
              <a:rPr sz="3937" b="1" spc="-4" dirty="0">
                <a:latin typeface="Gill Sans"/>
                <a:cs typeface="Gill Sans"/>
              </a:rPr>
              <a:t>o</a:t>
            </a:r>
            <a:r>
              <a:rPr sz="3937" b="1" dirty="0">
                <a:latin typeface="Gill Sans"/>
                <a:cs typeface="Gill Sans"/>
              </a:rPr>
              <a:t>ge</a:t>
            </a:r>
            <a:r>
              <a:rPr sz="3937" b="1" spc="-4" dirty="0">
                <a:latin typeface="Gill Sans"/>
                <a:cs typeface="Gill Sans"/>
              </a:rPr>
              <a:t>o</a:t>
            </a:r>
            <a:r>
              <a:rPr sz="3937" b="1" spc="141" dirty="0">
                <a:latin typeface="Gill Sans"/>
                <a:cs typeface="Gill Sans"/>
              </a:rPr>
              <a:t>g</a:t>
            </a:r>
            <a:r>
              <a:rPr sz="3937" b="1" spc="-56" dirty="0">
                <a:latin typeface="Gill Sans"/>
                <a:cs typeface="Gill Sans"/>
              </a:rPr>
              <a:t>r</a:t>
            </a:r>
            <a:r>
              <a:rPr sz="3937" b="1" spc="28" dirty="0">
                <a:latin typeface="Gill Sans"/>
                <a:cs typeface="Gill Sans"/>
              </a:rPr>
              <a:t>a</a:t>
            </a:r>
            <a:r>
              <a:rPr sz="3937" b="1" dirty="0">
                <a:latin typeface="Gill Sans"/>
                <a:cs typeface="Gill Sans"/>
              </a:rPr>
              <a:t>p</a:t>
            </a:r>
            <a:r>
              <a:rPr sz="3937" b="1" spc="-4" dirty="0">
                <a:latin typeface="Gill Sans"/>
                <a:cs typeface="Gill Sans"/>
              </a:rPr>
              <a:t>h</a:t>
            </a:r>
            <a:r>
              <a:rPr sz="3937" b="1" dirty="0">
                <a:latin typeface="Gill Sans"/>
                <a:cs typeface="Gill Sans"/>
              </a:rPr>
              <a:t>y</a:t>
            </a:r>
            <a:endParaRPr sz="3937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0031" y="80367"/>
            <a:ext cx="7992070" cy="65454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 txBox="1"/>
          <p:nvPr/>
        </p:nvSpPr>
        <p:spPr>
          <a:xfrm>
            <a:off x="5197079" y="6613436"/>
            <a:ext cx="3010644" cy="19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266" dirty="0">
                <a:latin typeface="Gill Sans"/>
                <a:cs typeface="Gill Sans"/>
              </a:rPr>
              <a:t>Fi</a:t>
            </a:r>
            <a:r>
              <a:rPr sz="1266" spc="-7" dirty="0">
                <a:latin typeface="Gill Sans"/>
                <a:cs typeface="Gill Sans"/>
              </a:rPr>
              <a:t>gu</a:t>
            </a:r>
            <a:r>
              <a:rPr sz="1266" spc="-35" dirty="0">
                <a:latin typeface="Gill Sans"/>
                <a:cs typeface="Gill Sans"/>
              </a:rPr>
              <a:t>r</a:t>
            </a:r>
            <a:r>
              <a:rPr sz="1266" dirty="0">
                <a:latin typeface="Gill Sans"/>
                <a:cs typeface="Gill Sans"/>
              </a:rPr>
              <a:t>e</a:t>
            </a:r>
            <a:r>
              <a:rPr sz="1266" spc="-4" dirty="0">
                <a:latin typeface="Gill Sans"/>
                <a:cs typeface="Gill Sans"/>
              </a:rPr>
              <a:t> </a:t>
            </a:r>
            <a:r>
              <a:rPr sz="1266" dirty="0">
                <a:latin typeface="Gill Sans"/>
                <a:cs typeface="Gill Sans"/>
              </a:rPr>
              <a:t>1,</a:t>
            </a:r>
            <a:r>
              <a:rPr sz="1266" spc="-130" dirty="0">
                <a:latin typeface="Gill Sans"/>
                <a:cs typeface="Gill Sans"/>
              </a:rPr>
              <a:t> </a:t>
            </a:r>
            <a:r>
              <a:rPr sz="1266" spc="-11" dirty="0">
                <a:latin typeface="Gill Sans"/>
                <a:cs typeface="Gill Sans"/>
              </a:rPr>
              <a:t>Ma</a:t>
            </a:r>
            <a:r>
              <a:rPr sz="1266" dirty="0">
                <a:latin typeface="Gill Sans"/>
                <a:cs typeface="Gill Sans"/>
              </a:rPr>
              <a:t>tz</a:t>
            </a:r>
            <a:r>
              <a:rPr sz="1266" spc="-39" dirty="0">
                <a:latin typeface="Gill Sans"/>
                <a:cs typeface="Gill Sans"/>
              </a:rPr>
              <a:t>k</a:t>
            </a:r>
            <a:r>
              <a:rPr sz="1266" dirty="0">
                <a:latin typeface="Gill Sans"/>
                <a:cs typeface="Gill Sans"/>
              </a:rPr>
              <a:t>e</a:t>
            </a:r>
            <a:r>
              <a:rPr sz="1266" spc="-4" dirty="0">
                <a:latin typeface="Gill Sans"/>
                <a:cs typeface="Gill Sans"/>
              </a:rPr>
              <a:t> </a:t>
            </a:r>
            <a:r>
              <a:rPr sz="1266" dirty="0">
                <a:latin typeface="Gill Sans"/>
                <a:cs typeface="Gill Sans"/>
              </a:rPr>
              <a:t>2013,</a:t>
            </a:r>
            <a:r>
              <a:rPr sz="1266" spc="-130" dirty="0">
                <a:latin typeface="Gill Sans"/>
                <a:cs typeface="Gill Sans"/>
              </a:rPr>
              <a:t> </a:t>
            </a:r>
            <a:r>
              <a:rPr sz="1266" i="1" spc="-28" dirty="0">
                <a:latin typeface="Gill Sans"/>
                <a:cs typeface="Gill Sans"/>
              </a:rPr>
              <a:t>F</a:t>
            </a:r>
            <a:r>
              <a:rPr sz="1266" i="1" spc="-35" dirty="0">
                <a:latin typeface="Gill Sans"/>
                <a:cs typeface="Gill Sans"/>
              </a:rPr>
              <a:t>r</a:t>
            </a:r>
            <a:r>
              <a:rPr sz="1266" i="1" dirty="0">
                <a:latin typeface="Gill Sans"/>
                <a:cs typeface="Gill Sans"/>
              </a:rPr>
              <a:t>on</a:t>
            </a:r>
            <a:r>
              <a:rPr sz="1266" i="1" spc="-7" dirty="0">
                <a:latin typeface="Gill Sans"/>
                <a:cs typeface="Gill Sans"/>
              </a:rPr>
              <a:t>tie</a:t>
            </a:r>
            <a:r>
              <a:rPr sz="1266" i="1" spc="18" dirty="0">
                <a:latin typeface="Gill Sans"/>
                <a:cs typeface="Gill Sans"/>
              </a:rPr>
              <a:t>r</a:t>
            </a:r>
            <a:r>
              <a:rPr sz="1266" i="1" dirty="0">
                <a:latin typeface="Gill Sans"/>
                <a:cs typeface="Gill Sans"/>
              </a:rPr>
              <a:t>s</a:t>
            </a:r>
            <a:r>
              <a:rPr sz="1266" i="1" spc="-4" dirty="0">
                <a:latin typeface="Gill Sans"/>
                <a:cs typeface="Gill Sans"/>
              </a:rPr>
              <a:t> </a:t>
            </a:r>
            <a:r>
              <a:rPr sz="1266" i="1" dirty="0">
                <a:latin typeface="Gill Sans"/>
                <a:cs typeface="Gill Sans"/>
              </a:rPr>
              <a:t>o</a:t>
            </a:r>
            <a:r>
              <a:rPr sz="1266" i="1" spc="-4" dirty="0">
                <a:latin typeface="Gill Sans"/>
                <a:cs typeface="Gill Sans"/>
              </a:rPr>
              <a:t>f </a:t>
            </a:r>
            <a:r>
              <a:rPr sz="1266" i="1" spc="-7" dirty="0">
                <a:latin typeface="Gill Sans"/>
                <a:cs typeface="Gill Sans"/>
              </a:rPr>
              <a:t>B</a:t>
            </a:r>
            <a:r>
              <a:rPr sz="1266" i="1" dirty="0">
                <a:latin typeface="Gill Sans"/>
                <a:cs typeface="Gill Sans"/>
              </a:rPr>
              <a:t>i</a:t>
            </a:r>
            <a:r>
              <a:rPr sz="1266" i="1" spc="-14" dirty="0">
                <a:latin typeface="Gill Sans"/>
                <a:cs typeface="Gill Sans"/>
              </a:rPr>
              <a:t>o</a:t>
            </a:r>
            <a:r>
              <a:rPr sz="1266" i="1" spc="-28" dirty="0">
                <a:latin typeface="Gill Sans"/>
                <a:cs typeface="Gill Sans"/>
              </a:rPr>
              <a:t>g</a:t>
            </a:r>
            <a:r>
              <a:rPr sz="1266" i="1" dirty="0">
                <a:latin typeface="Gill Sans"/>
                <a:cs typeface="Gill Sans"/>
              </a:rPr>
              <a:t>e</a:t>
            </a:r>
            <a:r>
              <a:rPr sz="1266" i="1" spc="-14" dirty="0">
                <a:latin typeface="Gill Sans"/>
                <a:cs typeface="Gill Sans"/>
              </a:rPr>
              <a:t>o</a:t>
            </a:r>
            <a:r>
              <a:rPr sz="1266" i="1" spc="-7" dirty="0">
                <a:latin typeface="Gill Sans"/>
                <a:cs typeface="Gill Sans"/>
              </a:rPr>
              <a:t>g</a:t>
            </a:r>
            <a:r>
              <a:rPr sz="1266" i="1" spc="-35" dirty="0">
                <a:latin typeface="Gill Sans"/>
                <a:cs typeface="Gill Sans"/>
              </a:rPr>
              <a:t>r</a:t>
            </a:r>
            <a:r>
              <a:rPr sz="1266" i="1" dirty="0">
                <a:latin typeface="Gill Sans"/>
                <a:cs typeface="Gill Sans"/>
              </a:rPr>
              <a:t>ap</a:t>
            </a:r>
            <a:r>
              <a:rPr sz="1266" i="1" spc="-21" dirty="0">
                <a:latin typeface="Gill Sans"/>
                <a:cs typeface="Gill Sans"/>
              </a:rPr>
              <a:t>h</a:t>
            </a:r>
            <a:r>
              <a:rPr sz="1266" i="1" dirty="0">
                <a:latin typeface="Gill Sans"/>
                <a:cs typeface="Gill Sans"/>
              </a:rPr>
              <a:t>y</a:t>
            </a:r>
            <a:endParaRPr sz="1266" dirty="0">
              <a:latin typeface="Gill Sans"/>
              <a:cs typeface="Gill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43750" y="8930"/>
            <a:ext cx="1196578" cy="6590109"/>
          </a:xfrm>
          <a:custGeom>
            <a:avLst/>
            <a:gdLst/>
            <a:ahLst/>
            <a:cxnLst/>
            <a:rect l="l" t="t" r="r" b="b"/>
            <a:pathLst>
              <a:path w="1701800" h="9372600">
                <a:moveTo>
                  <a:pt x="0" y="0"/>
                </a:moveTo>
                <a:lnTo>
                  <a:pt x="1701800" y="0"/>
                </a:lnTo>
                <a:lnTo>
                  <a:pt x="1701800" y="9372600"/>
                </a:lnTo>
                <a:lnTo>
                  <a:pt x="0" y="9372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7143750" y="8930"/>
            <a:ext cx="1196578" cy="6590109"/>
          </a:xfrm>
          <a:custGeom>
            <a:avLst/>
            <a:gdLst/>
            <a:ahLst/>
            <a:cxnLst/>
            <a:rect l="l" t="t" r="r" b="b"/>
            <a:pathLst>
              <a:path w="1701800" h="9372600">
                <a:moveTo>
                  <a:pt x="0" y="0"/>
                </a:moveTo>
                <a:lnTo>
                  <a:pt x="1701800" y="0"/>
                </a:lnTo>
                <a:lnTo>
                  <a:pt x="1701800" y="9372600"/>
                </a:lnTo>
                <a:lnTo>
                  <a:pt x="0" y="93726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5446552" y="205383"/>
            <a:ext cx="947886" cy="357188"/>
          </a:xfrm>
          <a:custGeom>
            <a:avLst/>
            <a:gdLst/>
            <a:ahLst/>
            <a:cxnLst/>
            <a:rect l="l" t="t" r="r" b="b"/>
            <a:pathLst>
              <a:path w="1348104" h="508000">
                <a:moveTo>
                  <a:pt x="0" y="0"/>
                </a:moveTo>
                <a:lnTo>
                  <a:pt x="1347787" y="0"/>
                </a:lnTo>
                <a:lnTo>
                  <a:pt x="1347787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 txBox="1"/>
          <p:nvPr/>
        </p:nvSpPr>
        <p:spPr>
          <a:xfrm>
            <a:off x="5473899" y="248604"/>
            <a:ext cx="885379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303599">
              <a:lnSpc>
                <a:spcPts val="1125"/>
              </a:lnSpc>
            </a:pPr>
            <a:r>
              <a:rPr sz="984" b="1" spc="-11" dirty="0">
                <a:latin typeface="Gill Sans"/>
                <a:cs typeface="Gill Sans"/>
              </a:rPr>
              <a:t>DEC </a:t>
            </a:r>
            <a:r>
              <a:rPr sz="984" b="1" spc="-7" dirty="0">
                <a:latin typeface="Gill Sans"/>
                <a:cs typeface="Gill Sans"/>
              </a:rPr>
              <a:t>(</a:t>
            </a:r>
            <a:r>
              <a:rPr sz="984" b="1" spc="-21" dirty="0">
                <a:latin typeface="Gill Sans"/>
                <a:cs typeface="Gill Sans"/>
              </a:rPr>
              <a:t>L</a:t>
            </a:r>
            <a:r>
              <a:rPr sz="984" b="1" spc="-14" dirty="0">
                <a:latin typeface="Gill Sans"/>
                <a:cs typeface="Gill Sans"/>
              </a:rPr>
              <a:t>A</a:t>
            </a:r>
            <a:r>
              <a:rPr sz="984" b="1" spc="-11" dirty="0">
                <a:latin typeface="Gill Sans"/>
                <a:cs typeface="Gill Sans"/>
              </a:rPr>
              <a:t>GRANGE)</a:t>
            </a:r>
            <a:endParaRPr sz="984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95555" y="922465"/>
            <a:ext cx="1648420" cy="1487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-4465" algn="ctr">
              <a:lnSpc>
                <a:spcPts val="2883"/>
              </a:lnSpc>
            </a:pPr>
            <a:r>
              <a:rPr sz="2531" b="1" dirty="0">
                <a:latin typeface="Gill Sans"/>
                <a:cs typeface="Gill Sans"/>
              </a:rPr>
              <a:t>Which </a:t>
            </a:r>
            <a:r>
              <a:rPr sz="2531" b="1" spc="-4" dirty="0">
                <a:latin typeface="Gill Sans"/>
                <a:cs typeface="Gill Sans"/>
              </a:rPr>
              <a:t>model </a:t>
            </a:r>
            <a:r>
              <a:rPr sz="2531" b="1" dirty="0">
                <a:latin typeface="Gill Sans"/>
                <a:cs typeface="Gill Sans"/>
              </a:rPr>
              <a:t>should</a:t>
            </a:r>
            <a:r>
              <a:rPr sz="2531" b="1" spc="-7" dirty="0">
                <a:latin typeface="Gill Sans"/>
                <a:cs typeface="Gill Sans"/>
              </a:rPr>
              <a:t> </a:t>
            </a:r>
            <a:r>
              <a:rPr sz="2531" b="1" spc="-39" dirty="0">
                <a:latin typeface="Gill Sans"/>
                <a:cs typeface="Gill Sans"/>
              </a:rPr>
              <a:t>w</a:t>
            </a:r>
            <a:r>
              <a:rPr sz="2531" b="1" dirty="0">
                <a:latin typeface="Gill Sans"/>
                <a:cs typeface="Gill Sans"/>
              </a:rPr>
              <a:t>e </a:t>
            </a:r>
            <a:r>
              <a:rPr sz="2531" b="1" spc="-4" dirty="0">
                <a:latin typeface="Gill Sans"/>
                <a:cs typeface="Gill Sans"/>
              </a:rPr>
              <a:t>use?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16961" y="4226450"/>
            <a:ext cx="1988195" cy="1487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algn="ctr">
              <a:lnSpc>
                <a:spcPts val="2883"/>
              </a:lnSpc>
            </a:pPr>
            <a:r>
              <a:rPr sz="2531" b="1" dirty="0">
                <a:latin typeface="Gill Sans"/>
                <a:cs typeface="Gill Sans"/>
              </a:rPr>
              <a:t>What</a:t>
            </a:r>
            <a:r>
              <a:rPr sz="2531" b="1" spc="-4" dirty="0">
                <a:latin typeface="Gill Sans"/>
                <a:cs typeface="Gill Sans"/>
              </a:rPr>
              <a:t> </a:t>
            </a:r>
            <a:r>
              <a:rPr sz="2531" b="1" spc="18" dirty="0">
                <a:latin typeface="Gill Sans"/>
                <a:cs typeface="Gill Sans"/>
              </a:rPr>
              <a:t>a</a:t>
            </a:r>
            <a:r>
              <a:rPr sz="2531" b="1" spc="-4" dirty="0">
                <a:latin typeface="Gill Sans"/>
                <a:cs typeface="Gill Sans"/>
              </a:rPr>
              <a:t>bout founde</a:t>
            </a:r>
            <a:r>
              <a:rPr sz="2531" b="1" spc="-109" dirty="0">
                <a:latin typeface="Gill Sans"/>
                <a:cs typeface="Gill Sans"/>
              </a:rPr>
              <a:t>r</a:t>
            </a:r>
            <a:r>
              <a:rPr sz="2531" b="1" dirty="0">
                <a:latin typeface="Gill Sans"/>
                <a:cs typeface="Gill Sans"/>
              </a:rPr>
              <a:t>- e</a:t>
            </a:r>
            <a:r>
              <a:rPr sz="2531" b="1" spc="-35" dirty="0">
                <a:latin typeface="Gill Sans"/>
                <a:cs typeface="Gill Sans"/>
              </a:rPr>
              <a:t>v</a:t>
            </a:r>
            <a:r>
              <a:rPr sz="2531" b="1" spc="-4" dirty="0">
                <a:latin typeface="Gill Sans"/>
                <a:cs typeface="Gill Sans"/>
              </a:rPr>
              <a:t>ent </a:t>
            </a:r>
            <a:r>
              <a:rPr sz="2531" b="1" dirty="0">
                <a:latin typeface="Gill Sans"/>
                <a:cs typeface="Gill Sans"/>
              </a:rPr>
              <a:t>speciation?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83303" y="5742551"/>
            <a:ext cx="1018290" cy="8066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/>
          <p:nvPr/>
        </p:nvSpPr>
        <p:spPr>
          <a:xfrm>
            <a:off x="7300551" y="5758358"/>
            <a:ext cx="961727" cy="748308"/>
          </a:xfrm>
          <a:custGeom>
            <a:avLst/>
            <a:gdLst/>
            <a:ahLst/>
            <a:cxnLst/>
            <a:rect l="l" t="t" r="r" b="b"/>
            <a:pathLst>
              <a:path w="1367790" h="1064259">
                <a:moveTo>
                  <a:pt x="608778" y="0"/>
                </a:moveTo>
                <a:lnTo>
                  <a:pt x="0" y="534982"/>
                </a:lnTo>
                <a:lnTo>
                  <a:pt x="613926" y="1064049"/>
                </a:lnTo>
                <a:lnTo>
                  <a:pt x="612404" y="749443"/>
                </a:lnTo>
                <a:lnTo>
                  <a:pt x="1367570" y="745788"/>
                </a:lnTo>
                <a:lnTo>
                  <a:pt x="1365483" y="314605"/>
                </a:lnTo>
                <a:lnTo>
                  <a:pt x="610299" y="314605"/>
                </a:lnTo>
                <a:lnTo>
                  <a:pt x="608778" y="0"/>
                </a:lnTo>
                <a:close/>
              </a:path>
              <a:path w="1367790" h="1064259">
                <a:moveTo>
                  <a:pt x="1365465" y="310951"/>
                </a:moveTo>
                <a:lnTo>
                  <a:pt x="610299" y="314605"/>
                </a:lnTo>
                <a:lnTo>
                  <a:pt x="1365483" y="314605"/>
                </a:lnTo>
                <a:lnTo>
                  <a:pt x="1365465" y="3109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2" name="object 12"/>
          <p:cNvSpPr/>
          <p:nvPr/>
        </p:nvSpPr>
        <p:spPr>
          <a:xfrm>
            <a:off x="7965529" y="5633106"/>
            <a:ext cx="340654" cy="6760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3" name="object 13"/>
          <p:cNvSpPr/>
          <p:nvPr/>
        </p:nvSpPr>
        <p:spPr>
          <a:xfrm>
            <a:off x="7980838" y="5646213"/>
            <a:ext cx="287089" cy="622846"/>
          </a:xfrm>
          <a:custGeom>
            <a:avLst/>
            <a:gdLst/>
            <a:ahLst/>
            <a:cxnLst/>
            <a:rect l="l" t="t" r="r" b="b"/>
            <a:pathLst>
              <a:path w="408304" h="885825">
                <a:moveTo>
                  <a:pt x="0" y="0"/>
                </a:moveTo>
                <a:lnTo>
                  <a:pt x="408284" y="0"/>
                </a:lnTo>
                <a:lnTo>
                  <a:pt x="408284" y="885229"/>
                </a:lnTo>
                <a:lnTo>
                  <a:pt x="0" y="8852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9328" y="401836"/>
            <a:ext cx="5625703" cy="519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375" b="1" spc="-60" dirty="0">
                <a:latin typeface="Calibri"/>
                <a:cs typeface="Calibri"/>
              </a:rPr>
              <a:t>F</a:t>
            </a:r>
            <a:r>
              <a:rPr sz="3375" b="1" spc="-21" dirty="0">
                <a:latin typeface="Calibri"/>
                <a:cs typeface="Calibri"/>
              </a:rPr>
              <a:t>ound</a:t>
            </a:r>
            <a:r>
              <a:rPr sz="3375" b="1" dirty="0">
                <a:latin typeface="Calibri"/>
                <a:cs typeface="Calibri"/>
              </a:rPr>
              <a:t>e</a:t>
            </a:r>
            <a:r>
              <a:rPr sz="3375" b="1" spc="-67" dirty="0">
                <a:latin typeface="Calibri"/>
                <a:cs typeface="Calibri"/>
              </a:rPr>
              <a:t>r</a:t>
            </a:r>
            <a:r>
              <a:rPr sz="3375" b="1" spc="-4" dirty="0">
                <a:latin typeface="Calibri"/>
                <a:cs typeface="Calibri"/>
              </a:rPr>
              <a:t>-</a:t>
            </a:r>
            <a:r>
              <a:rPr sz="3375" b="1" spc="-18" dirty="0">
                <a:latin typeface="Calibri"/>
                <a:cs typeface="Calibri"/>
              </a:rPr>
              <a:t>e</a:t>
            </a:r>
            <a:r>
              <a:rPr sz="3375" b="1" spc="-32" dirty="0">
                <a:latin typeface="Calibri"/>
                <a:cs typeface="Calibri"/>
              </a:rPr>
              <a:t>v</a:t>
            </a:r>
            <a:r>
              <a:rPr sz="3375" b="1" dirty="0">
                <a:latin typeface="Calibri"/>
                <a:cs typeface="Calibri"/>
              </a:rPr>
              <a:t>e</a:t>
            </a:r>
            <a:r>
              <a:rPr sz="3375" b="1" spc="-53" dirty="0">
                <a:latin typeface="Calibri"/>
                <a:cs typeface="Calibri"/>
              </a:rPr>
              <a:t>n</a:t>
            </a:r>
            <a:r>
              <a:rPr sz="3375" b="1" spc="-14" dirty="0">
                <a:latin typeface="Calibri"/>
                <a:cs typeface="Calibri"/>
              </a:rPr>
              <a:t>t</a:t>
            </a:r>
            <a:r>
              <a:rPr sz="3375" b="1" spc="-4" dirty="0">
                <a:latin typeface="Calibri"/>
                <a:cs typeface="Calibri"/>
              </a:rPr>
              <a:t> </a:t>
            </a:r>
            <a:r>
              <a:rPr sz="3375" b="1" spc="-18" dirty="0">
                <a:latin typeface="Calibri"/>
                <a:cs typeface="Calibri"/>
              </a:rPr>
              <a:t>s</a:t>
            </a:r>
            <a:r>
              <a:rPr sz="3375" b="1" spc="-21" dirty="0">
                <a:latin typeface="Calibri"/>
                <a:cs typeface="Calibri"/>
              </a:rPr>
              <a:t>p</a:t>
            </a:r>
            <a:r>
              <a:rPr sz="3375" b="1" dirty="0">
                <a:latin typeface="Calibri"/>
                <a:cs typeface="Calibri"/>
              </a:rPr>
              <a:t>ec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49" dirty="0">
                <a:latin typeface="Calibri"/>
                <a:cs typeface="Calibri"/>
              </a:rPr>
              <a:t>a</a:t>
            </a:r>
            <a:r>
              <a:rPr lang="en-US" sz="3375" b="1" spc="257" dirty="0">
                <a:latin typeface="Calibri"/>
                <a:cs typeface="Calibri"/>
              </a:rPr>
              <a:t>ti</a:t>
            </a:r>
            <a:r>
              <a:rPr sz="3375" b="1" spc="-21" dirty="0">
                <a:latin typeface="Calibri"/>
                <a:cs typeface="Calibri"/>
              </a:rPr>
              <a:t>on</a:t>
            </a:r>
            <a:endParaRPr sz="3375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xfrm>
            <a:off x="5611706" y="401836"/>
            <a:ext cx="2852094" cy="63863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76793">
              <a:lnSpc>
                <a:spcPts val="2883"/>
              </a:lnSpc>
            </a:pPr>
            <a:r>
              <a:rPr sz="2400" dirty="0"/>
              <a:t>In</a:t>
            </a:r>
            <a:r>
              <a:rPr sz="2400" spc="-4" dirty="0"/>
              <a:t> </a:t>
            </a:r>
            <a:r>
              <a:rPr sz="2400" spc="-28" dirty="0"/>
              <a:t>f</a:t>
            </a:r>
            <a:r>
              <a:rPr sz="2400" spc="-14" dirty="0"/>
              <a:t>ound</a:t>
            </a:r>
            <a:r>
              <a:rPr sz="2400" dirty="0"/>
              <a:t>e</a:t>
            </a:r>
            <a:r>
              <a:rPr sz="2400" spc="-214" dirty="0"/>
              <a:t>r</a:t>
            </a:r>
            <a:r>
              <a:rPr sz="2400" spc="-4" dirty="0"/>
              <a:t>-</a:t>
            </a:r>
            <a:r>
              <a:rPr sz="2400" spc="-39" dirty="0"/>
              <a:t>e</a:t>
            </a:r>
            <a:r>
              <a:rPr sz="2400" spc="-67" dirty="0"/>
              <a:t>v</a:t>
            </a:r>
            <a:r>
              <a:rPr sz="2400" dirty="0"/>
              <a:t>ent</a:t>
            </a:r>
            <a:r>
              <a:rPr sz="2400" spc="-4" dirty="0"/>
              <a:t> </a:t>
            </a:r>
            <a:r>
              <a:rPr sz="2400" spc="-11" dirty="0"/>
              <a:t>s</a:t>
            </a:r>
            <a:r>
              <a:rPr sz="2400" dirty="0"/>
              <a:t>pec</a:t>
            </a:r>
            <a:r>
              <a:rPr sz="2400" spc="-4" dirty="0"/>
              <a:t>i</a:t>
            </a:r>
            <a:r>
              <a:rPr sz="2400" spc="-14" dirty="0"/>
              <a:t>a</a:t>
            </a:r>
            <a:r>
              <a:rPr sz="2400" dirty="0"/>
              <a:t>t</a:t>
            </a:r>
            <a:r>
              <a:rPr sz="2400" spc="-4" dirty="0"/>
              <a:t>i</a:t>
            </a:r>
            <a:r>
              <a:rPr sz="2400" spc="-14" dirty="0"/>
              <a:t>o</a:t>
            </a:r>
            <a:r>
              <a:rPr sz="2400" dirty="0"/>
              <a:t>n,</a:t>
            </a:r>
            <a:r>
              <a:rPr sz="2400" spc="-257" dirty="0"/>
              <a:t> </a:t>
            </a:r>
            <a:r>
              <a:rPr sz="2400" spc="-14" dirty="0"/>
              <a:t>a</a:t>
            </a:r>
            <a:r>
              <a:rPr sz="2400" spc="-11" dirty="0"/>
              <a:t> ra</a:t>
            </a:r>
            <a:r>
              <a:rPr sz="2400" spc="-63" dirty="0"/>
              <a:t>r</a:t>
            </a:r>
            <a:r>
              <a:rPr sz="2400" dirty="0"/>
              <a:t>e</a:t>
            </a:r>
            <a:r>
              <a:rPr sz="2400" spc="-4" dirty="0"/>
              <a:t> </a:t>
            </a:r>
            <a:r>
              <a:rPr sz="2400" spc="-14" dirty="0"/>
              <a:t>d</a:t>
            </a:r>
            <a:r>
              <a:rPr sz="2400" spc="-4" dirty="0"/>
              <a:t>i</a:t>
            </a:r>
            <a:r>
              <a:rPr sz="2400" spc="-14" dirty="0"/>
              <a:t>spersa</a:t>
            </a:r>
            <a:r>
              <a:rPr sz="2400" dirty="0"/>
              <a:t>l</a:t>
            </a:r>
            <a:r>
              <a:rPr sz="2400" spc="-4" dirty="0"/>
              <a:t> </a:t>
            </a:r>
            <a:r>
              <a:rPr sz="2400" spc="-39" dirty="0"/>
              <a:t>e</a:t>
            </a:r>
            <a:r>
              <a:rPr sz="2400" spc="-67" dirty="0"/>
              <a:t>v</a:t>
            </a:r>
            <a:r>
              <a:rPr sz="2400" dirty="0"/>
              <a:t>ent </a:t>
            </a:r>
            <a:r>
              <a:rPr sz="2400" spc="-14" dirty="0"/>
              <a:t>“</a:t>
            </a:r>
            <a:r>
              <a:rPr sz="2400" spc="-4" dirty="0"/>
              <a:t>i</a:t>
            </a:r>
            <a:r>
              <a:rPr sz="2400" spc="-14" dirty="0"/>
              <a:t>nstantaneous</a:t>
            </a:r>
            <a:r>
              <a:rPr sz="2400" spc="-25" dirty="0"/>
              <a:t>l</a:t>
            </a:r>
            <a:r>
              <a:rPr sz="2400" spc="-14" dirty="0"/>
              <a:t>y”</a:t>
            </a:r>
            <a:r>
              <a:rPr sz="2400" spc="-4" dirty="0"/>
              <a:t> </a:t>
            </a:r>
            <a:r>
              <a:rPr sz="2400" spc="-11" dirty="0"/>
              <a:t>esta</a:t>
            </a:r>
            <a:r>
              <a:rPr sz="2400" dirty="0"/>
              <a:t>b</a:t>
            </a:r>
            <a:r>
              <a:rPr sz="2400" spc="-4" dirty="0"/>
              <a:t>li</a:t>
            </a:r>
            <a:r>
              <a:rPr sz="2400" spc="-14" dirty="0"/>
              <a:t>shes</a:t>
            </a:r>
            <a:r>
              <a:rPr sz="2400" spc="-4" dirty="0"/>
              <a:t> </a:t>
            </a:r>
            <a:r>
              <a:rPr sz="2400" spc="-14" dirty="0"/>
              <a:t>a geogr</a:t>
            </a:r>
            <a:r>
              <a:rPr sz="2400" spc="-42" dirty="0"/>
              <a:t>a</a:t>
            </a:r>
            <a:r>
              <a:rPr sz="2400" dirty="0"/>
              <a:t>ph</a:t>
            </a:r>
            <a:r>
              <a:rPr sz="2400" spc="-4" dirty="0"/>
              <a:t>i</a:t>
            </a:r>
            <a:r>
              <a:rPr sz="2400" spc="-14" dirty="0"/>
              <a:t>ca</a:t>
            </a:r>
            <a:r>
              <a:rPr sz="2400" spc="-4" dirty="0"/>
              <a:t>l</a:t>
            </a:r>
            <a:r>
              <a:rPr sz="2400" spc="-25" dirty="0"/>
              <a:t>l</a:t>
            </a:r>
            <a:r>
              <a:rPr sz="2400" spc="-14" dirty="0"/>
              <a:t>y</a:t>
            </a:r>
            <a:r>
              <a:rPr sz="2400" spc="-4" dirty="0"/>
              <a:t> i</a:t>
            </a:r>
            <a:r>
              <a:rPr sz="2400" spc="-14" dirty="0"/>
              <a:t>so</a:t>
            </a:r>
            <a:r>
              <a:rPr sz="2400" spc="-4" dirty="0"/>
              <a:t>l</a:t>
            </a:r>
            <a:r>
              <a:rPr sz="2400" spc="-14" dirty="0"/>
              <a:t>ated</a:t>
            </a:r>
            <a:r>
              <a:rPr sz="2400" spc="-4" dirty="0"/>
              <a:t> </a:t>
            </a:r>
            <a:r>
              <a:rPr sz="2400" dirty="0"/>
              <a:t>n</a:t>
            </a:r>
            <a:r>
              <a:rPr sz="2400" spc="-39" dirty="0"/>
              <a:t>e</a:t>
            </a:r>
            <a:r>
              <a:rPr sz="2400" dirty="0"/>
              <a:t>w </a:t>
            </a:r>
            <a:r>
              <a:rPr sz="2400" spc="-4" dirty="0"/>
              <a:t>li</a:t>
            </a:r>
            <a:r>
              <a:rPr sz="2400" spc="-14" dirty="0"/>
              <a:t>neag</a:t>
            </a:r>
            <a:r>
              <a:rPr sz="2400" dirty="0"/>
              <a:t>e</a:t>
            </a:r>
            <a:r>
              <a:rPr sz="2400" spc="-4" dirty="0"/>
              <a:t> wi</a:t>
            </a:r>
            <a:r>
              <a:rPr sz="2400" dirty="0"/>
              <a:t>th</a:t>
            </a:r>
            <a:r>
              <a:rPr sz="2400" spc="-4" dirty="0"/>
              <a:t> </a:t>
            </a:r>
            <a:r>
              <a:rPr sz="2400" spc="-14" dirty="0"/>
              <a:t>o</a:t>
            </a:r>
            <a:r>
              <a:rPr sz="2400" dirty="0"/>
              <a:t>ne</a:t>
            </a:r>
            <a:r>
              <a:rPr sz="2400" spc="-4" dirty="0"/>
              <a:t> </a:t>
            </a:r>
            <a:r>
              <a:rPr sz="2400" spc="-14" dirty="0"/>
              <a:t>or</a:t>
            </a:r>
            <a:r>
              <a:rPr sz="2400" spc="-4" dirty="0"/>
              <a:t> </a:t>
            </a:r>
            <a:r>
              <a:rPr sz="2400" spc="-14" dirty="0"/>
              <a:t>a</a:t>
            </a:r>
            <a:r>
              <a:rPr sz="2400" spc="-4" dirty="0"/>
              <a:t> </a:t>
            </a:r>
            <a:r>
              <a:rPr sz="2400" spc="-28" dirty="0"/>
              <a:t>f</a:t>
            </a:r>
            <a:r>
              <a:rPr sz="2400" spc="-39" dirty="0"/>
              <a:t>e</a:t>
            </a:r>
            <a:r>
              <a:rPr sz="2400" dirty="0"/>
              <a:t>w </a:t>
            </a:r>
            <a:r>
              <a:rPr sz="2400" spc="-4" dirty="0"/>
              <a:t>i</a:t>
            </a:r>
            <a:r>
              <a:rPr sz="2400" spc="-14" dirty="0"/>
              <a:t>nd</a:t>
            </a:r>
            <a:r>
              <a:rPr sz="2400" spc="-4" dirty="0"/>
              <a:t>i</a:t>
            </a:r>
            <a:r>
              <a:rPr sz="2400" dirty="0"/>
              <a:t>v</a:t>
            </a:r>
            <a:r>
              <a:rPr sz="2400" spc="-4" dirty="0"/>
              <a:t>i</a:t>
            </a:r>
            <a:r>
              <a:rPr sz="2400" spc="-14" dirty="0"/>
              <a:t>dua</a:t>
            </a:r>
            <a:r>
              <a:rPr sz="2400" spc="-4" dirty="0"/>
              <a:t>l</a:t>
            </a:r>
            <a:r>
              <a:rPr sz="2400" spc="-11" dirty="0"/>
              <a:t>s</a:t>
            </a:r>
          </a:p>
          <a:p>
            <a:pPr marL="8929" marR="3572">
              <a:lnSpc>
                <a:spcPts val="2883"/>
              </a:lnSpc>
              <a:spcBef>
                <a:spcPts val="1687"/>
              </a:spcBef>
            </a:pPr>
            <a:r>
              <a:rPr sz="2400" dirty="0"/>
              <a:t>W</a:t>
            </a:r>
            <a:r>
              <a:rPr sz="2400" spc="-4" dirty="0"/>
              <a:t>i</a:t>
            </a:r>
            <a:r>
              <a:rPr sz="2400" spc="-14" dirty="0"/>
              <a:t>d</a:t>
            </a:r>
            <a:r>
              <a:rPr sz="2400" dirty="0"/>
              <a:t>e</a:t>
            </a:r>
            <a:r>
              <a:rPr sz="2400" spc="-25" dirty="0"/>
              <a:t>l</a:t>
            </a:r>
            <a:r>
              <a:rPr sz="2400" spc="-14" dirty="0"/>
              <a:t>y</a:t>
            </a:r>
            <a:r>
              <a:rPr sz="2400" spc="-4" dirty="0"/>
              <a:t> </a:t>
            </a:r>
            <a:r>
              <a:rPr sz="2400" spc="-14" dirty="0"/>
              <a:t>d</a:t>
            </a:r>
            <a:r>
              <a:rPr sz="2400" spc="-4" dirty="0"/>
              <a:t>i</a:t>
            </a:r>
            <a:r>
              <a:rPr sz="2400" spc="-14" dirty="0"/>
              <a:t>scussed</a:t>
            </a:r>
            <a:r>
              <a:rPr sz="2400" spc="-4" dirty="0"/>
              <a:t> i</a:t>
            </a:r>
            <a:r>
              <a:rPr sz="2400" dirty="0"/>
              <a:t>n</a:t>
            </a:r>
            <a:r>
              <a:rPr sz="2400" spc="-4" dirty="0"/>
              <a:t> </a:t>
            </a:r>
            <a:r>
              <a:rPr sz="2400" spc="-14" dirty="0"/>
              <a:t>po</a:t>
            </a:r>
            <a:r>
              <a:rPr sz="2400" dirty="0"/>
              <a:t>pu</a:t>
            </a:r>
            <a:r>
              <a:rPr sz="2400" spc="-4" dirty="0"/>
              <a:t>l</a:t>
            </a:r>
            <a:r>
              <a:rPr sz="2400" spc="-14" dirty="0"/>
              <a:t>a</a:t>
            </a:r>
            <a:r>
              <a:rPr sz="2400" dirty="0"/>
              <a:t>t</a:t>
            </a:r>
            <a:r>
              <a:rPr sz="2400" spc="-4" dirty="0"/>
              <a:t>i</a:t>
            </a:r>
            <a:r>
              <a:rPr sz="2400" spc="-14" dirty="0"/>
              <a:t>o</a:t>
            </a:r>
            <a:r>
              <a:rPr sz="2400" dirty="0"/>
              <a:t>n </a:t>
            </a:r>
            <a:r>
              <a:rPr sz="2400" spc="-14" dirty="0"/>
              <a:t>g</a:t>
            </a:r>
            <a:r>
              <a:rPr sz="2400" dirty="0"/>
              <a:t>enet</a:t>
            </a:r>
            <a:r>
              <a:rPr sz="2400" spc="-4" dirty="0"/>
              <a:t>i</a:t>
            </a:r>
            <a:r>
              <a:rPr sz="2400" spc="-11" dirty="0"/>
              <a:t>cs</a:t>
            </a:r>
            <a:r>
              <a:rPr sz="2400" dirty="0"/>
              <a:t>,</a:t>
            </a:r>
            <a:r>
              <a:rPr sz="2400" spc="-257" dirty="0"/>
              <a:t> </a:t>
            </a:r>
            <a:r>
              <a:rPr sz="2400" spc="-11" dirty="0"/>
              <a:t>s</a:t>
            </a:r>
            <a:r>
              <a:rPr sz="2400" dirty="0"/>
              <a:t>pec</a:t>
            </a:r>
            <a:r>
              <a:rPr sz="2400" spc="-4" dirty="0"/>
              <a:t>i</a:t>
            </a:r>
            <a:r>
              <a:rPr sz="2400" spc="-14" dirty="0"/>
              <a:t>a</a:t>
            </a:r>
            <a:r>
              <a:rPr sz="2400" dirty="0"/>
              <a:t>t</a:t>
            </a:r>
            <a:r>
              <a:rPr sz="2400" spc="-4" dirty="0"/>
              <a:t>i</a:t>
            </a:r>
            <a:r>
              <a:rPr sz="2400" spc="-14" dirty="0"/>
              <a:t>o</a:t>
            </a:r>
            <a:r>
              <a:rPr sz="2400" dirty="0"/>
              <a:t>n</a:t>
            </a:r>
            <a:r>
              <a:rPr sz="2400" spc="-4" dirty="0"/>
              <a:t> li</a:t>
            </a:r>
            <a:r>
              <a:rPr sz="2400" spc="-11" dirty="0"/>
              <a:t>tera</a:t>
            </a:r>
            <a:r>
              <a:rPr sz="2400" dirty="0"/>
              <a:t>tu</a:t>
            </a:r>
            <a:r>
              <a:rPr sz="2400" spc="-53" dirty="0"/>
              <a:t>r</a:t>
            </a:r>
            <a:r>
              <a:rPr sz="2400" spc="49" dirty="0"/>
              <a:t>e</a:t>
            </a:r>
            <a:r>
              <a:rPr sz="2400" dirty="0"/>
              <a:t>, </a:t>
            </a:r>
            <a:r>
              <a:rPr sz="2400" spc="-4" dirty="0"/>
              <a:t>i</a:t>
            </a:r>
            <a:r>
              <a:rPr sz="2400" spc="-11" dirty="0"/>
              <a:t>s</a:t>
            </a:r>
            <a:r>
              <a:rPr sz="2400" spc="-4" dirty="0"/>
              <a:t>l</a:t>
            </a:r>
            <a:r>
              <a:rPr sz="2400" spc="-14" dirty="0"/>
              <a:t>and</a:t>
            </a:r>
            <a:r>
              <a:rPr sz="2400" spc="-4" dirty="0"/>
              <a:t> </a:t>
            </a:r>
            <a:r>
              <a:rPr sz="2400" dirty="0"/>
              <a:t>b</a:t>
            </a:r>
            <a:r>
              <a:rPr sz="2400" spc="-4" dirty="0"/>
              <a:t>i</a:t>
            </a:r>
            <a:r>
              <a:rPr sz="2400" spc="-14" dirty="0"/>
              <a:t>ogeogr</a:t>
            </a:r>
            <a:r>
              <a:rPr sz="2400" spc="-42" dirty="0"/>
              <a:t>a</a:t>
            </a:r>
            <a:r>
              <a:rPr sz="2400" dirty="0"/>
              <a:t>p</a:t>
            </a:r>
            <a:r>
              <a:rPr sz="2400" spc="-91" dirty="0"/>
              <a:t>h</a:t>
            </a:r>
            <a:r>
              <a:rPr sz="2400" spc="-14" dirty="0"/>
              <a:t>y</a:t>
            </a:r>
          </a:p>
          <a:p>
            <a:pPr marL="8929" marR="24556">
              <a:lnSpc>
                <a:spcPts val="2883"/>
              </a:lnSpc>
              <a:spcBef>
                <a:spcPts val="1687"/>
              </a:spcBef>
            </a:pPr>
            <a:r>
              <a:rPr sz="2400" spc="-21" dirty="0"/>
              <a:t>H</a:t>
            </a:r>
            <a:r>
              <a:rPr sz="2400" spc="-42" dirty="0"/>
              <a:t>o</a:t>
            </a:r>
            <a:r>
              <a:rPr sz="2400" spc="-53" dirty="0"/>
              <a:t>w</a:t>
            </a:r>
            <a:r>
              <a:rPr sz="2400" spc="-39" dirty="0"/>
              <a:t>e</a:t>
            </a:r>
            <a:r>
              <a:rPr sz="2400" spc="-67" dirty="0"/>
              <a:t>v</a:t>
            </a:r>
            <a:r>
              <a:rPr sz="2400" dirty="0"/>
              <a:t>e</a:t>
            </a:r>
            <a:r>
              <a:rPr sz="2400" spc="-267" dirty="0"/>
              <a:t>r</a:t>
            </a:r>
            <a:r>
              <a:rPr sz="2400" dirty="0"/>
              <a:t>,</a:t>
            </a:r>
            <a:r>
              <a:rPr sz="2400" spc="-257" dirty="0"/>
              <a:t> </a:t>
            </a:r>
            <a:r>
              <a:rPr sz="2400" spc="-4" dirty="0"/>
              <a:t>i</a:t>
            </a:r>
            <a:r>
              <a:rPr sz="2400" spc="-14" dirty="0"/>
              <a:t>gno</a:t>
            </a:r>
            <a:r>
              <a:rPr sz="2400" spc="-63" dirty="0"/>
              <a:t>r</a:t>
            </a:r>
            <a:r>
              <a:rPr sz="2400" spc="-14" dirty="0"/>
              <a:t>ed</a:t>
            </a:r>
            <a:r>
              <a:rPr sz="2400" spc="-4" dirty="0"/>
              <a:t> i</a:t>
            </a:r>
            <a:r>
              <a:rPr sz="2400" dirty="0"/>
              <a:t>n</a:t>
            </a:r>
            <a:r>
              <a:rPr sz="2400" spc="-4" dirty="0"/>
              <a:t> </a:t>
            </a:r>
            <a:r>
              <a:rPr sz="2400" spc="-11" dirty="0"/>
              <a:t>trad</a:t>
            </a:r>
            <a:r>
              <a:rPr sz="2400" spc="-4" dirty="0"/>
              <a:t>i</a:t>
            </a:r>
            <a:r>
              <a:rPr sz="2400" dirty="0"/>
              <a:t>t</a:t>
            </a:r>
            <a:r>
              <a:rPr sz="2400" spc="-4" dirty="0"/>
              <a:t>i</a:t>
            </a:r>
            <a:r>
              <a:rPr sz="2400" spc="-14" dirty="0"/>
              <a:t>ona</a:t>
            </a:r>
            <a:r>
              <a:rPr sz="2400" dirty="0"/>
              <a:t>l h</a:t>
            </a:r>
            <a:r>
              <a:rPr sz="2400" spc="-4" dirty="0"/>
              <a:t>i</a:t>
            </a:r>
            <a:r>
              <a:rPr sz="2400" spc="-14" dirty="0"/>
              <a:t>sto</a:t>
            </a:r>
            <a:r>
              <a:rPr sz="2400" dirty="0"/>
              <a:t>r</a:t>
            </a:r>
            <a:r>
              <a:rPr sz="2400" spc="-4" dirty="0"/>
              <a:t>i</a:t>
            </a:r>
            <a:r>
              <a:rPr sz="2400" spc="-14" dirty="0"/>
              <a:t>ca</a:t>
            </a:r>
            <a:r>
              <a:rPr sz="2400" dirty="0"/>
              <a:t>l</a:t>
            </a:r>
            <a:r>
              <a:rPr sz="2400" spc="-4" dirty="0"/>
              <a:t> </a:t>
            </a:r>
            <a:r>
              <a:rPr sz="2400" dirty="0"/>
              <a:t>b</a:t>
            </a:r>
            <a:r>
              <a:rPr sz="2400" spc="-4" dirty="0"/>
              <a:t>i</a:t>
            </a:r>
            <a:r>
              <a:rPr sz="2400" spc="-14" dirty="0"/>
              <a:t>ogeogr</a:t>
            </a:r>
            <a:r>
              <a:rPr sz="2400" spc="-42" dirty="0"/>
              <a:t>a</a:t>
            </a:r>
            <a:r>
              <a:rPr sz="2400" dirty="0"/>
              <a:t>p</a:t>
            </a:r>
            <a:r>
              <a:rPr sz="2400" spc="-91" dirty="0"/>
              <a:t>h</a:t>
            </a:r>
            <a:r>
              <a:rPr sz="2400" spc="-14" dirty="0"/>
              <a:t>y co</a:t>
            </a:r>
            <a:r>
              <a:rPr sz="2400" dirty="0"/>
              <a:t>mputer</a:t>
            </a:r>
            <a:r>
              <a:rPr sz="2400" spc="-4" dirty="0"/>
              <a:t> </a:t>
            </a:r>
            <a:r>
              <a:rPr sz="2400" spc="-18" dirty="0"/>
              <a:t>mod</a:t>
            </a:r>
            <a:r>
              <a:rPr sz="2400" dirty="0"/>
              <a:t>e</a:t>
            </a:r>
            <a:r>
              <a:rPr sz="2400" spc="-4" dirty="0"/>
              <a:t>l</a:t>
            </a:r>
            <a:r>
              <a:rPr sz="2400" spc="-11" dirty="0"/>
              <a:t>s</a:t>
            </a:r>
          </a:p>
        </p:txBody>
      </p:sp>
      <p:sp>
        <p:nvSpPr>
          <p:cNvPr id="7" name="object 7"/>
          <p:cNvSpPr/>
          <p:nvPr/>
        </p:nvSpPr>
        <p:spPr>
          <a:xfrm>
            <a:off x="361758" y="2094650"/>
            <a:ext cx="2734800" cy="32611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/>
          <p:nvPr/>
        </p:nvSpPr>
        <p:spPr>
          <a:xfrm>
            <a:off x="397476" y="2112510"/>
            <a:ext cx="2663726" cy="3190131"/>
          </a:xfrm>
          <a:custGeom>
            <a:avLst/>
            <a:gdLst/>
            <a:ahLst/>
            <a:cxnLst/>
            <a:rect l="l" t="t" r="r" b="b"/>
            <a:pathLst>
              <a:path w="3788410" h="4537075">
                <a:moveTo>
                  <a:pt x="0" y="0"/>
                </a:moveTo>
                <a:lnTo>
                  <a:pt x="3787892" y="0"/>
                </a:lnTo>
                <a:lnTo>
                  <a:pt x="3787892" y="4536460"/>
                </a:lnTo>
                <a:lnTo>
                  <a:pt x="0" y="4536460"/>
                </a:lnTo>
                <a:lnTo>
                  <a:pt x="0" y="0"/>
                </a:lnTo>
                <a:close/>
              </a:path>
            </a:pathLst>
          </a:custGeom>
          <a:solidFill>
            <a:srgbClr val="F5D328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9" name="object 9"/>
          <p:cNvSpPr/>
          <p:nvPr/>
        </p:nvSpPr>
        <p:spPr>
          <a:xfrm>
            <a:off x="397476" y="2112510"/>
            <a:ext cx="2663726" cy="3190131"/>
          </a:xfrm>
          <a:custGeom>
            <a:avLst/>
            <a:gdLst/>
            <a:ahLst/>
            <a:cxnLst/>
            <a:rect l="l" t="t" r="r" b="b"/>
            <a:pathLst>
              <a:path w="3788410" h="4537075">
                <a:moveTo>
                  <a:pt x="0" y="0"/>
                </a:moveTo>
                <a:lnTo>
                  <a:pt x="3787893" y="0"/>
                </a:lnTo>
                <a:lnTo>
                  <a:pt x="3787893" y="4536460"/>
                </a:lnTo>
                <a:lnTo>
                  <a:pt x="0" y="4536460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A6AAA9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3155370" y="2089739"/>
            <a:ext cx="1092859" cy="32709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/>
          <p:nvPr/>
        </p:nvSpPr>
        <p:spPr>
          <a:xfrm>
            <a:off x="3191089" y="2107599"/>
            <a:ext cx="1021556" cy="3199954"/>
          </a:xfrm>
          <a:custGeom>
            <a:avLst/>
            <a:gdLst/>
            <a:ahLst/>
            <a:cxnLst/>
            <a:rect l="l" t="t" r="r" b="b"/>
            <a:pathLst>
              <a:path w="1452879" h="4551045">
                <a:moveTo>
                  <a:pt x="0" y="0"/>
                </a:moveTo>
                <a:lnTo>
                  <a:pt x="1452688" y="0"/>
                </a:lnTo>
                <a:lnTo>
                  <a:pt x="1452688" y="4550426"/>
                </a:lnTo>
                <a:lnTo>
                  <a:pt x="0" y="4550426"/>
                </a:lnTo>
                <a:lnTo>
                  <a:pt x="0" y="0"/>
                </a:lnTo>
                <a:close/>
              </a:path>
            </a:pathLst>
          </a:custGeom>
          <a:solidFill>
            <a:srgbClr val="EC5D57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2" name="object 12"/>
          <p:cNvSpPr/>
          <p:nvPr/>
        </p:nvSpPr>
        <p:spPr>
          <a:xfrm>
            <a:off x="3191089" y="2107599"/>
            <a:ext cx="1021556" cy="3199954"/>
          </a:xfrm>
          <a:custGeom>
            <a:avLst/>
            <a:gdLst/>
            <a:ahLst/>
            <a:cxnLst/>
            <a:rect l="l" t="t" r="r" b="b"/>
            <a:pathLst>
              <a:path w="1452879" h="4551045">
                <a:moveTo>
                  <a:pt x="0" y="0"/>
                </a:moveTo>
                <a:lnTo>
                  <a:pt x="1452688" y="0"/>
                </a:lnTo>
                <a:lnTo>
                  <a:pt x="1452688" y="4550426"/>
                </a:lnTo>
                <a:lnTo>
                  <a:pt x="0" y="4550426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A6AAA9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3" name="object 13"/>
          <p:cNvSpPr/>
          <p:nvPr/>
        </p:nvSpPr>
        <p:spPr>
          <a:xfrm>
            <a:off x="399639" y="2099433"/>
            <a:ext cx="3505387" cy="32515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4" name="object 14"/>
          <p:cNvSpPr/>
          <p:nvPr/>
        </p:nvSpPr>
        <p:spPr>
          <a:xfrm>
            <a:off x="438762" y="2121846"/>
            <a:ext cx="3426231" cy="317111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5" name="object 15"/>
          <p:cNvSpPr/>
          <p:nvPr/>
        </p:nvSpPr>
        <p:spPr>
          <a:xfrm>
            <a:off x="438762" y="2121757"/>
            <a:ext cx="3426321" cy="3171379"/>
          </a:xfrm>
          <a:custGeom>
            <a:avLst/>
            <a:gdLst/>
            <a:ahLst/>
            <a:cxnLst/>
            <a:rect l="l" t="t" r="r" b="b"/>
            <a:pathLst>
              <a:path w="4872990" h="4510405">
                <a:moveTo>
                  <a:pt x="1830868" y="4505787"/>
                </a:moveTo>
                <a:lnTo>
                  <a:pt x="1830999" y="4389224"/>
                </a:lnTo>
                <a:lnTo>
                  <a:pt x="1831130" y="4272661"/>
                </a:lnTo>
                <a:lnTo>
                  <a:pt x="1831261" y="4156098"/>
                </a:lnTo>
                <a:lnTo>
                  <a:pt x="1831392" y="4039535"/>
                </a:lnTo>
                <a:lnTo>
                  <a:pt x="1831523" y="3922972"/>
                </a:lnTo>
                <a:lnTo>
                  <a:pt x="1831654" y="3806409"/>
                </a:lnTo>
                <a:lnTo>
                  <a:pt x="1831785" y="3689845"/>
                </a:lnTo>
                <a:lnTo>
                  <a:pt x="1831916" y="3573282"/>
                </a:lnTo>
                <a:lnTo>
                  <a:pt x="1832047" y="3456719"/>
                </a:lnTo>
                <a:lnTo>
                  <a:pt x="1832178" y="3340156"/>
                </a:lnTo>
                <a:lnTo>
                  <a:pt x="1832308" y="3223593"/>
                </a:lnTo>
                <a:lnTo>
                  <a:pt x="1832439" y="3107029"/>
                </a:lnTo>
                <a:lnTo>
                  <a:pt x="1832570" y="2990466"/>
                </a:lnTo>
                <a:lnTo>
                  <a:pt x="1832701" y="2873903"/>
                </a:lnTo>
                <a:lnTo>
                  <a:pt x="1832832" y="2757340"/>
                </a:lnTo>
                <a:lnTo>
                  <a:pt x="1832963" y="2640777"/>
                </a:lnTo>
                <a:lnTo>
                  <a:pt x="1833094" y="2524213"/>
                </a:lnTo>
                <a:lnTo>
                  <a:pt x="1833224" y="2407650"/>
                </a:lnTo>
                <a:lnTo>
                  <a:pt x="1833355" y="2291087"/>
                </a:lnTo>
                <a:lnTo>
                  <a:pt x="1833486" y="2174524"/>
                </a:lnTo>
                <a:lnTo>
                  <a:pt x="0" y="13520"/>
                </a:lnTo>
                <a:lnTo>
                  <a:pt x="1353287" y="13520"/>
                </a:lnTo>
                <a:lnTo>
                  <a:pt x="3075000" y="2007701"/>
                </a:lnTo>
                <a:lnTo>
                  <a:pt x="3122627" y="2050560"/>
                </a:lnTo>
                <a:lnTo>
                  <a:pt x="3169483" y="2081891"/>
                </a:lnTo>
                <a:lnTo>
                  <a:pt x="3215667" y="2103468"/>
                </a:lnTo>
                <a:lnTo>
                  <a:pt x="3261275" y="2117066"/>
                </a:lnTo>
                <a:lnTo>
                  <a:pt x="3306406" y="2124459"/>
                </a:lnTo>
                <a:lnTo>
                  <a:pt x="3351159" y="2127423"/>
                </a:lnTo>
                <a:lnTo>
                  <a:pt x="3373424" y="2127798"/>
                </a:lnTo>
                <a:lnTo>
                  <a:pt x="3395632" y="2127731"/>
                </a:lnTo>
                <a:lnTo>
                  <a:pt x="3417794" y="2127444"/>
                </a:lnTo>
                <a:lnTo>
                  <a:pt x="3439922" y="2127158"/>
                </a:lnTo>
                <a:lnTo>
                  <a:pt x="3462030" y="2127097"/>
                </a:lnTo>
                <a:lnTo>
                  <a:pt x="3484129" y="2127480"/>
                </a:lnTo>
                <a:lnTo>
                  <a:pt x="3506232" y="2128531"/>
                </a:lnTo>
                <a:lnTo>
                  <a:pt x="3528350" y="2130470"/>
                </a:lnTo>
                <a:lnTo>
                  <a:pt x="3551435" y="2129400"/>
                </a:lnTo>
                <a:lnTo>
                  <a:pt x="3574021" y="2128593"/>
                </a:lnTo>
                <a:lnTo>
                  <a:pt x="3596165" y="2128033"/>
                </a:lnTo>
                <a:lnTo>
                  <a:pt x="3617925" y="2127701"/>
                </a:lnTo>
                <a:lnTo>
                  <a:pt x="3639357" y="2127579"/>
                </a:lnTo>
                <a:lnTo>
                  <a:pt x="3660518" y="2127649"/>
                </a:lnTo>
                <a:lnTo>
                  <a:pt x="3702255" y="2128292"/>
                </a:lnTo>
                <a:lnTo>
                  <a:pt x="3743592" y="2129485"/>
                </a:lnTo>
                <a:lnTo>
                  <a:pt x="3784984" y="2131082"/>
                </a:lnTo>
                <a:lnTo>
                  <a:pt x="3826888" y="2132939"/>
                </a:lnTo>
                <a:lnTo>
                  <a:pt x="3848174" y="2133920"/>
                </a:lnTo>
                <a:lnTo>
                  <a:pt x="3869759" y="2134911"/>
                </a:lnTo>
                <a:lnTo>
                  <a:pt x="3891699" y="2135895"/>
                </a:lnTo>
                <a:lnTo>
                  <a:pt x="3914052" y="2136853"/>
                </a:lnTo>
                <a:lnTo>
                  <a:pt x="3936874" y="2137767"/>
                </a:lnTo>
                <a:lnTo>
                  <a:pt x="3960223" y="2138619"/>
                </a:lnTo>
                <a:lnTo>
                  <a:pt x="3986163" y="2138486"/>
                </a:lnTo>
                <a:lnTo>
                  <a:pt x="4011861" y="2138781"/>
                </a:lnTo>
                <a:lnTo>
                  <a:pt x="4037359" y="2139321"/>
                </a:lnTo>
                <a:lnTo>
                  <a:pt x="4062700" y="2139922"/>
                </a:lnTo>
                <a:lnTo>
                  <a:pt x="4087927" y="2140401"/>
                </a:lnTo>
                <a:lnTo>
                  <a:pt x="4138210" y="2140258"/>
                </a:lnTo>
                <a:lnTo>
                  <a:pt x="4188549" y="2137427"/>
                </a:lnTo>
                <a:lnTo>
                  <a:pt x="4239288" y="2130440"/>
                </a:lnTo>
                <a:lnTo>
                  <a:pt x="4290769" y="2117830"/>
                </a:lnTo>
                <a:lnTo>
                  <a:pt x="4343333" y="2098131"/>
                </a:lnTo>
                <a:lnTo>
                  <a:pt x="4397323" y="2069875"/>
                </a:lnTo>
                <a:lnTo>
                  <a:pt x="4453081" y="2031598"/>
                </a:lnTo>
                <a:lnTo>
                  <a:pt x="4496140" y="1965762"/>
                </a:lnTo>
                <a:lnTo>
                  <a:pt x="4508509" y="1913266"/>
                </a:lnTo>
                <a:lnTo>
                  <a:pt x="4518997" y="1851939"/>
                </a:lnTo>
                <a:lnTo>
                  <a:pt x="4527761" y="1782965"/>
                </a:lnTo>
                <a:lnTo>
                  <a:pt x="4534962" y="1707530"/>
                </a:lnTo>
                <a:lnTo>
                  <a:pt x="4540758" y="1626820"/>
                </a:lnTo>
                <a:lnTo>
                  <a:pt x="4545307" y="1542019"/>
                </a:lnTo>
                <a:lnTo>
                  <a:pt x="4548768" y="1454314"/>
                </a:lnTo>
                <a:lnTo>
                  <a:pt x="4551300" y="1364888"/>
                </a:lnTo>
                <a:lnTo>
                  <a:pt x="4553061" y="1274928"/>
                </a:lnTo>
                <a:lnTo>
                  <a:pt x="4554211" y="1185618"/>
                </a:lnTo>
                <a:lnTo>
                  <a:pt x="4554907" y="1098145"/>
                </a:lnTo>
                <a:lnTo>
                  <a:pt x="4555309" y="1013692"/>
                </a:lnTo>
                <a:lnTo>
                  <a:pt x="4555576" y="933447"/>
                </a:lnTo>
                <a:lnTo>
                  <a:pt x="4555866" y="858593"/>
                </a:lnTo>
                <a:lnTo>
                  <a:pt x="4556337" y="790316"/>
                </a:lnTo>
                <a:lnTo>
                  <a:pt x="4557149" y="729801"/>
                </a:lnTo>
                <a:lnTo>
                  <a:pt x="4558461" y="678234"/>
                </a:lnTo>
                <a:lnTo>
                  <a:pt x="4560430" y="636800"/>
                </a:lnTo>
                <a:lnTo>
                  <a:pt x="4563216" y="606684"/>
                </a:lnTo>
                <a:lnTo>
                  <a:pt x="4562238" y="576488"/>
                </a:lnTo>
                <a:lnTo>
                  <a:pt x="4555002" y="516095"/>
                </a:lnTo>
                <a:lnTo>
                  <a:pt x="4541704" y="455702"/>
                </a:lnTo>
                <a:lnTo>
                  <a:pt x="4523516" y="395309"/>
                </a:lnTo>
                <a:lnTo>
                  <a:pt x="4501613" y="334916"/>
                </a:lnTo>
                <a:lnTo>
                  <a:pt x="4477168" y="274524"/>
                </a:lnTo>
                <a:lnTo>
                  <a:pt x="4451353" y="214131"/>
                </a:lnTo>
                <a:lnTo>
                  <a:pt x="4438300" y="183934"/>
                </a:lnTo>
                <a:lnTo>
                  <a:pt x="4425344" y="153738"/>
                </a:lnTo>
                <a:lnTo>
                  <a:pt x="4400312" y="93345"/>
                </a:lnTo>
                <a:lnTo>
                  <a:pt x="4377431" y="32952"/>
                </a:lnTo>
                <a:lnTo>
                  <a:pt x="4367164" y="2756"/>
                </a:lnTo>
                <a:lnTo>
                  <a:pt x="4404060" y="2048"/>
                </a:lnTo>
                <a:lnTo>
                  <a:pt x="4465875" y="974"/>
                </a:lnTo>
                <a:lnTo>
                  <a:pt x="4514978" y="316"/>
                </a:lnTo>
                <a:lnTo>
                  <a:pt x="4555281" y="24"/>
                </a:lnTo>
                <a:lnTo>
                  <a:pt x="4573355" y="1"/>
                </a:lnTo>
                <a:lnTo>
                  <a:pt x="4590695" y="51"/>
                </a:lnTo>
                <a:lnTo>
                  <a:pt x="4643204" y="580"/>
                </a:lnTo>
                <a:lnTo>
                  <a:pt x="4683507" y="1187"/>
                </a:lnTo>
                <a:lnTo>
                  <a:pt x="4706714" y="1548"/>
                </a:lnTo>
                <a:lnTo>
                  <a:pt x="4732610" y="1940"/>
                </a:lnTo>
                <a:lnTo>
                  <a:pt x="4761684" y="2357"/>
                </a:lnTo>
                <a:lnTo>
                  <a:pt x="4794425" y="2791"/>
                </a:lnTo>
                <a:lnTo>
                  <a:pt x="4831321" y="3238"/>
                </a:lnTo>
                <a:lnTo>
                  <a:pt x="4872863" y="3691"/>
                </a:lnTo>
                <a:lnTo>
                  <a:pt x="4867405" y="20686"/>
                </a:lnTo>
                <a:lnTo>
                  <a:pt x="4851243" y="56697"/>
                </a:lnTo>
                <a:lnTo>
                  <a:pt x="4829609" y="96341"/>
                </a:lnTo>
                <a:lnTo>
                  <a:pt x="4817310" y="117877"/>
                </a:lnTo>
                <a:lnTo>
                  <a:pt x="4804329" y="140743"/>
                </a:lnTo>
                <a:lnTo>
                  <a:pt x="4777230" y="191027"/>
                </a:lnTo>
                <a:lnTo>
                  <a:pt x="4750139" y="248317"/>
                </a:lnTo>
                <a:lnTo>
                  <a:pt x="4724881" y="313739"/>
                </a:lnTo>
                <a:lnTo>
                  <a:pt x="4703285" y="388416"/>
                </a:lnTo>
                <a:lnTo>
                  <a:pt x="4694430" y="429577"/>
                </a:lnTo>
                <a:lnTo>
                  <a:pt x="4687175" y="473473"/>
                </a:lnTo>
                <a:lnTo>
                  <a:pt x="4681749" y="520246"/>
                </a:lnTo>
                <a:lnTo>
                  <a:pt x="4678380" y="570035"/>
                </a:lnTo>
                <a:lnTo>
                  <a:pt x="4677295" y="622982"/>
                </a:lnTo>
                <a:lnTo>
                  <a:pt x="4677656" y="666629"/>
                </a:lnTo>
                <a:lnTo>
                  <a:pt x="4676383" y="719466"/>
                </a:lnTo>
                <a:lnTo>
                  <a:pt x="4673604" y="780452"/>
                </a:lnTo>
                <a:lnTo>
                  <a:pt x="4669452" y="848550"/>
                </a:lnTo>
                <a:lnTo>
                  <a:pt x="4664055" y="922719"/>
                </a:lnTo>
                <a:lnTo>
                  <a:pt x="4657545" y="1001920"/>
                </a:lnTo>
                <a:lnTo>
                  <a:pt x="4650051" y="1085115"/>
                </a:lnTo>
                <a:lnTo>
                  <a:pt x="4641705" y="1171263"/>
                </a:lnTo>
                <a:lnTo>
                  <a:pt x="4632636" y="1259326"/>
                </a:lnTo>
                <a:lnTo>
                  <a:pt x="4622975" y="1348264"/>
                </a:lnTo>
                <a:lnTo>
                  <a:pt x="4612852" y="1437037"/>
                </a:lnTo>
                <a:lnTo>
                  <a:pt x="4602397" y="1524608"/>
                </a:lnTo>
                <a:lnTo>
                  <a:pt x="4591742" y="1609935"/>
                </a:lnTo>
                <a:lnTo>
                  <a:pt x="4581015" y="1691981"/>
                </a:lnTo>
                <a:lnTo>
                  <a:pt x="4570349" y="1769705"/>
                </a:lnTo>
                <a:lnTo>
                  <a:pt x="4559872" y="1842069"/>
                </a:lnTo>
                <a:lnTo>
                  <a:pt x="4549716" y="1908032"/>
                </a:lnTo>
                <a:lnTo>
                  <a:pt x="4540010" y="1966557"/>
                </a:lnTo>
                <a:lnTo>
                  <a:pt x="4530885" y="2016603"/>
                </a:lnTo>
                <a:lnTo>
                  <a:pt x="4522472" y="2057132"/>
                </a:lnTo>
                <a:lnTo>
                  <a:pt x="4482180" y="2082084"/>
                </a:lnTo>
                <a:lnTo>
                  <a:pt x="4447833" y="2103392"/>
                </a:lnTo>
                <a:lnTo>
                  <a:pt x="4394627" y="2136179"/>
                </a:lnTo>
                <a:lnTo>
                  <a:pt x="4358164" y="2157699"/>
                </a:lnTo>
                <a:lnTo>
                  <a:pt x="4316688" y="2175778"/>
                </a:lnTo>
                <a:lnTo>
                  <a:pt x="4302290" y="2176753"/>
                </a:lnTo>
                <a:lnTo>
                  <a:pt x="4294622" y="2176191"/>
                </a:lnTo>
                <a:lnTo>
                  <a:pt x="4285860" y="2175297"/>
                </a:lnTo>
                <a:lnTo>
                  <a:pt x="4275418" y="2174347"/>
                </a:lnTo>
                <a:lnTo>
                  <a:pt x="4262707" y="2173617"/>
                </a:lnTo>
                <a:lnTo>
                  <a:pt x="4247143" y="2173384"/>
                </a:lnTo>
                <a:lnTo>
                  <a:pt x="4228137" y="2173924"/>
                </a:lnTo>
                <a:lnTo>
                  <a:pt x="4205105" y="2175512"/>
                </a:lnTo>
                <a:lnTo>
                  <a:pt x="4177457" y="2178424"/>
                </a:lnTo>
                <a:lnTo>
                  <a:pt x="3455010" y="2163062"/>
                </a:lnTo>
                <a:lnTo>
                  <a:pt x="3143119" y="2174524"/>
                </a:lnTo>
                <a:lnTo>
                  <a:pt x="3164946" y="4510157"/>
                </a:lnTo>
                <a:lnTo>
                  <a:pt x="1830868" y="4505787"/>
                </a:lnTo>
                <a:close/>
              </a:path>
            </a:pathLst>
          </a:custGeom>
          <a:ln w="12700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6" name="object 16"/>
          <p:cNvSpPr txBox="1"/>
          <p:nvPr/>
        </p:nvSpPr>
        <p:spPr>
          <a:xfrm>
            <a:off x="419696" y="5036856"/>
            <a:ext cx="613023" cy="2163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406" b="1" spc="7" dirty="0">
                <a:latin typeface="Gill Sans"/>
                <a:cs typeface="Gill Sans"/>
              </a:rPr>
              <a:t>a</a:t>
            </a:r>
            <a:r>
              <a:rPr sz="1406" b="1" spc="-63" dirty="0">
                <a:latin typeface="Gill Sans"/>
                <a:cs typeface="Gill Sans"/>
              </a:rPr>
              <a:t>r</a:t>
            </a:r>
            <a:r>
              <a:rPr sz="1406" b="1" spc="-4" dirty="0">
                <a:latin typeface="Gill Sans"/>
                <a:cs typeface="Gill Sans"/>
              </a:rPr>
              <a:t>e</a:t>
            </a:r>
            <a:r>
              <a:rPr sz="1406" b="1" spc="-11" dirty="0">
                <a:latin typeface="Gill Sans"/>
                <a:cs typeface="Gill Sans"/>
              </a:rPr>
              <a:t>a</a:t>
            </a:r>
            <a:r>
              <a:rPr sz="1406" b="1" dirty="0">
                <a:latin typeface="Gill Sans"/>
                <a:cs typeface="Gill Sans"/>
              </a:rPr>
              <a:t> A</a:t>
            </a:r>
            <a:endParaRPr sz="1406">
              <a:latin typeface="Gill Sans"/>
              <a:cs typeface="Gill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14688" y="5036856"/>
            <a:ext cx="598289" cy="2163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406" b="1" spc="7" dirty="0">
                <a:latin typeface="Gill Sans"/>
                <a:cs typeface="Gill Sans"/>
              </a:rPr>
              <a:t>a</a:t>
            </a:r>
            <a:r>
              <a:rPr sz="1406" b="1" spc="-63" dirty="0">
                <a:latin typeface="Gill Sans"/>
                <a:cs typeface="Gill Sans"/>
              </a:rPr>
              <a:t>r</a:t>
            </a:r>
            <a:r>
              <a:rPr sz="1406" b="1" spc="-4" dirty="0">
                <a:latin typeface="Gill Sans"/>
                <a:cs typeface="Gill Sans"/>
              </a:rPr>
              <a:t>e</a:t>
            </a:r>
            <a:r>
              <a:rPr sz="1406" b="1" spc="-11" dirty="0">
                <a:latin typeface="Gill Sans"/>
                <a:cs typeface="Gill Sans"/>
              </a:rPr>
              <a:t>a</a:t>
            </a:r>
            <a:r>
              <a:rPr sz="1406" b="1" dirty="0">
                <a:latin typeface="Gill Sans"/>
                <a:cs typeface="Gill Sans"/>
              </a:rPr>
              <a:t> B</a:t>
            </a:r>
            <a:endParaRPr sz="1406">
              <a:latin typeface="Gill Sans"/>
              <a:cs typeface="Gill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62820" y="1338282"/>
            <a:ext cx="1487686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b="1" dirty="0">
                <a:latin typeface="Gill Sans"/>
                <a:cs typeface="Gill Sans"/>
              </a:rPr>
              <a:t>“jump”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dirty="0">
                <a:latin typeface="Gill Sans"/>
                <a:cs typeface="Gill Sans"/>
              </a:rPr>
              <a:t>e</a:t>
            </a:r>
            <a:r>
              <a:rPr sz="1687" b="1" spc="-25" dirty="0">
                <a:latin typeface="Gill Sans"/>
                <a:cs typeface="Gill Sans"/>
              </a:rPr>
              <a:t>v</a:t>
            </a:r>
            <a:r>
              <a:rPr sz="1687" b="1" dirty="0">
                <a:latin typeface="Gill Sans"/>
                <a:cs typeface="Gill Sans"/>
              </a:rPr>
              <a:t>ent</a:t>
            </a:r>
            <a:endParaRPr sz="1687">
              <a:latin typeface="Gill Sans"/>
              <a:cs typeface="Gill San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27728" y="1622221"/>
            <a:ext cx="579104" cy="4940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0" name="object 20"/>
          <p:cNvSpPr/>
          <p:nvPr/>
        </p:nvSpPr>
        <p:spPr>
          <a:xfrm>
            <a:off x="2854517" y="1631151"/>
            <a:ext cx="525959" cy="440680"/>
          </a:xfrm>
          <a:custGeom>
            <a:avLst/>
            <a:gdLst/>
            <a:ahLst/>
            <a:cxnLst/>
            <a:rect l="l" t="t" r="r" b="b"/>
            <a:pathLst>
              <a:path w="748029" h="626744">
                <a:moveTo>
                  <a:pt x="747415" y="244078"/>
                </a:moveTo>
                <a:lnTo>
                  <a:pt x="0" y="244078"/>
                </a:lnTo>
                <a:lnTo>
                  <a:pt x="373707" y="626516"/>
                </a:lnTo>
                <a:lnTo>
                  <a:pt x="747415" y="244078"/>
                </a:lnTo>
                <a:close/>
              </a:path>
              <a:path w="748029" h="626744">
                <a:moveTo>
                  <a:pt x="521627" y="0"/>
                </a:moveTo>
                <a:lnTo>
                  <a:pt x="225788" y="0"/>
                </a:lnTo>
                <a:lnTo>
                  <a:pt x="225788" y="244078"/>
                </a:lnTo>
                <a:lnTo>
                  <a:pt x="521627" y="244078"/>
                </a:lnTo>
                <a:lnTo>
                  <a:pt x="5216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08" y="243334"/>
            <a:ext cx="4938117" cy="4869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164" b="1" dirty="0">
                <a:latin typeface="Calibri"/>
                <a:cs typeface="Calibri"/>
              </a:rPr>
              <a:t>E</a:t>
            </a:r>
            <a:r>
              <a:rPr sz="3164" b="1" spc="-53" dirty="0">
                <a:latin typeface="Calibri"/>
                <a:cs typeface="Calibri"/>
              </a:rPr>
              <a:t>x</a:t>
            </a:r>
            <a:r>
              <a:rPr sz="3164" b="1" dirty="0">
                <a:latin typeface="Calibri"/>
                <a:cs typeface="Calibri"/>
              </a:rPr>
              <a:t>am</a:t>
            </a:r>
            <a:r>
              <a:rPr sz="3164" b="1" spc="-14" dirty="0">
                <a:latin typeface="Calibri"/>
                <a:cs typeface="Calibri"/>
              </a:rPr>
              <a:t>ple</a:t>
            </a:r>
            <a:r>
              <a:rPr sz="3164" b="1" dirty="0">
                <a:latin typeface="Calibri"/>
                <a:cs typeface="Calibri"/>
              </a:rPr>
              <a:t> </a:t>
            </a:r>
            <a:r>
              <a:rPr sz="3164" b="1" spc="-49" dirty="0">
                <a:latin typeface="Calibri"/>
                <a:cs typeface="Calibri"/>
              </a:rPr>
              <a:t>s</a:t>
            </a:r>
            <a:r>
              <a:rPr sz="3164" b="1" spc="-46" dirty="0">
                <a:latin typeface="Calibri"/>
                <a:cs typeface="Calibri"/>
              </a:rPr>
              <a:t>t</a:t>
            </a:r>
            <a:r>
              <a:rPr sz="3164" b="1" dirty="0">
                <a:latin typeface="Calibri"/>
                <a:cs typeface="Calibri"/>
              </a:rPr>
              <a:t>oc</a:t>
            </a:r>
            <a:r>
              <a:rPr sz="3164" b="1" spc="-18" dirty="0">
                <a:latin typeface="Calibri"/>
                <a:cs typeface="Calibri"/>
              </a:rPr>
              <a:t>ha</a:t>
            </a:r>
            <a:r>
              <a:rPr sz="3164" b="1" spc="-53" dirty="0">
                <a:latin typeface="Calibri"/>
                <a:cs typeface="Calibri"/>
              </a:rPr>
              <a:t>s</a:t>
            </a:r>
            <a:r>
              <a:rPr lang="en-US" sz="3164" b="1" spc="239" dirty="0">
                <a:latin typeface="Calibri"/>
                <a:cs typeface="Calibri"/>
              </a:rPr>
              <a:t>ti</a:t>
            </a:r>
            <a:r>
              <a:rPr sz="3164" b="1" dirty="0">
                <a:latin typeface="Calibri"/>
                <a:cs typeface="Calibri"/>
              </a:rPr>
              <a:t>c m</a:t>
            </a:r>
            <a:r>
              <a:rPr sz="3164" b="1" spc="-18" dirty="0">
                <a:latin typeface="Calibri"/>
                <a:cs typeface="Calibri"/>
              </a:rPr>
              <a:t>ap</a:t>
            </a:r>
            <a:endParaRPr sz="3164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2969" y="939850"/>
            <a:ext cx="2436465" cy="4869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164" b="1" spc="-32" dirty="0">
                <a:latin typeface="Calibri"/>
                <a:cs typeface="Calibri"/>
              </a:rPr>
              <a:t>M</a:t>
            </a:r>
            <a:r>
              <a:rPr sz="3164" b="1" spc="-14" dirty="0">
                <a:latin typeface="Calibri"/>
                <a:cs typeface="Calibri"/>
              </a:rPr>
              <a:t>L</a:t>
            </a:r>
            <a:r>
              <a:rPr sz="3164" b="1" dirty="0">
                <a:latin typeface="Calibri"/>
                <a:cs typeface="Calibri"/>
              </a:rPr>
              <a:t> D</a:t>
            </a:r>
            <a:r>
              <a:rPr sz="3164" b="1" spc="-67" dirty="0">
                <a:latin typeface="Calibri"/>
                <a:cs typeface="Calibri"/>
              </a:rPr>
              <a:t>E</a:t>
            </a:r>
            <a:r>
              <a:rPr sz="3164" b="1" dirty="0">
                <a:latin typeface="Calibri"/>
                <a:cs typeface="Calibri"/>
              </a:rPr>
              <a:t>C m</a:t>
            </a:r>
            <a:r>
              <a:rPr sz="3164" b="1" spc="-18" dirty="0">
                <a:latin typeface="Calibri"/>
                <a:cs typeface="Calibri"/>
              </a:rPr>
              <a:t>od</a:t>
            </a:r>
            <a:r>
              <a:rPr sz="3164" b="1" dirty="0">
                <a:latin typeface="Calibri"/>
                <a:cs typeface="Calibri"/>
              </a:rPr>
              <a:t>e</a:t>
            </a:r>
            <a:r>
              <a:rPr sz="3164" b="1" spc="-11" dirty="0">
                <a:latin typeface="Calibri"/>
                <a:cs typeface="Calibri"/>
              </a:rPr>
              <a:t>l</a:t>
            </a:r>
            <a:endParaRPr sz="3164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4266" y="930920"/>
            <a:ext cx="2769542" cy="4869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164" b="1" spc="-32" dirty="0">
                <a:latin typeface="Calibri"/>
                <a:cs typeface="Calibri"/>
              </a:rPr>
              <a:t>M</a:t>
            </a:r>
            <a:r>
              <a:rPr sz="3164" b="1" spc="-14" dirty="0">
                <a:latin typeface="Calibri"/>
                <a:cs typeface="Calibri"/>
              </a:rPr>
              <a:t>L</a:t>
            </a:r>
            <a:r>
              <a:rPr sz="3164" b="1" dirty="0">
                <a:latin typeface="Calibri"/>
                <a:cs typeface="Calibri"/>
              </a:rPr>
              <a:t> D</a:t>
            </a:r>
            <a:r>
              <a:rPr sz="3164" b="1" spc="-67" dirty="0">
                <a:latin typeface="Calibri"/>
                <a:cs typeface="Calibri"/>
              </a:rPr>
              <a:t>E</a:t>
            </a:r>
            <a:r>
              <a:rPr sz="3164" b="1" dirty="0">
                <a:latin typeface="Calibri"/>
                <a:cs typeface="Calibri"/>
              </a:rPr>
              <a:t>C</a:t>
            </a:r>
            <a:r>
              <a:rPr sz="3164" b="1" spc="-4" dirty="0">
                <a:latin typeface="Calibri"/>
                <a:cs typeface="Calibri"/>
              </a:rPr>
              <a:t>+</a:t>
            </a:r>
            <a:r>
              <a:rPr sz="3164" b="1" dirty="0">
                <a:latin typeface="Calibri"/>
                <a:cs typeface="Calibri"/>
              </a:rPr>
              <a:t>J m</a:t>
            </a:r>
            <a:r>
              <a:rPr sz="3164" b="1" spc="-18" dirty="0">
                <a:latin typeface="Calibri"/>
                <a:cs typeface="Calibri"/>
              </a:rPr>
              <a:t>od</a:t>
            </a:r>
            <a:r>
              <a:rPr sz="3164" b="1" dirty="0">
                <a:latin typeface="Calibri"/>
                <a:cs typeface="Calibri"/>
              </a:rPr>
              <a:t>e</a:t>
            </a:r>
            <a:r>
              <a:rPr sz="3164" b="1" spc="-11" dirty="0">
                <a:latin typeface="Calibri"/>
                <a:cs typeface="Calibri"/>
              </a:rPr>
              <a:t>l</a:t>
            </a:r>
            <a:endParaRPr sz="3164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73269" y="5119180"/>
            <a:ext cx="2218348" cy="16048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 txBox="1"/>
          <p:nvPr/>
        </p:nvSpPr>
        <p:spPr>
          <a:xfrm>
            <a:off x="6866929" y="5906988"/>
            <a:ext cx="2043113" cy="19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266" b="1" spc="-7" dirty="0">
                <a:latin typeface="Calibri"/>
                <a:cs typeface="Calibri"/>
              </a:rPr>
              <a:t>(under mode</a:t>
            </a:r>
            <a:r>
              <a:rPr sz="1266" b="1" spc="-4" dirty="0">
                <a:latin typeface="Calibri"/>
                <a:cs typeface="Calibri"/>
              </a:rPr>
              <a:t>l </a:t>
            </a:r>
            <a:r>
              <a:rPr sz="1266" b="1" spc="-7" dirty="0">
                <a:latin typeface="Calibri"/>
                <a:cs typeface="Calibri"/>
              </a:rPr>
              <a:t>M0: no </a:t>
            </a:r>
            <a:r>
              <a:rPr sz="1266" b="1" spc="-14" dirty="0">
                <a:latin typeface="Calibri"/>
                <a:cs typeface="Calibri"/>
              </a:rPr>
              <a:t>g</a:t>
            </a:r>
            <a:r>
              <a:rPr sz="1266" b="1" dirty="0">
                <a:latin typeface="Calibri"/>
                <a:cs typeface="Calibri"/>
              </a:rPr>
              <a:t>e</a:t>
            </a:r>
            <a:r>
              <a:rPr sz="1266" b="1" spc="-7" dirty="0">
                <a:latin typeface="Calibri"/>
                <a:cs typeface="Calibri"/>
              </a:rPr>
              <a:t>olo</a:t>
            </a:r>
            <a:r>
              <a:rPr sz="1266" b="1" dirty="0">
                <a:latin typeface="Calibri"/>
                <a:cs typeface="Calibri"/>
              </a:rPr>
              <a:t>g</a:t>
            </a:r>
            <a:r>
              <a:rPr sz="1266" b="1" spc="-7" dirty="0">
                <a:latin typeface="Calibri"/>
                <a:cs typeface="Calibri"/>
              </a:rPr>
              <a:t>y)</a:t>
            </a:r>
            <a:endParaRPr sz="1266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1339453"/>
            <a:ext cx="9144000" cy="4572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 txBox="1"/>
          <p:nvPr/>
        </p:nvSpPr>
        <p:spPr>
          <a:xfrm>
            <a:off x="6715125" y="6536532"/>
            <a:ext cx="2155180" cy="265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ct val="104200"/>
              </a:lnSpc>
            </a:pPr>
            <a:r>
              <a:rPr sz="844" spc="-7" dirty="0">
                <a:latin typeface="Calibri"/>
                <a:cs typeface="Calibri"/>
              </a:rPr>
              <a:t>Bio</a:t>
            </a:r>
            <a:r>
              <a:rPr sz="844" spc="-14" dirty="0">
                <a:latin typeface="Calibri"/>
                <a:cs typeface="Calibri"/>
              </a:rPr>
              <a:t>g</a:t>
            </a:r>
            <a:r>
              <a:rPr sz="844" spc="-7" dirty="0">
                <a:latin typeface="Calibri"/>
                <a:cs typeface="Calibri"/>
              </a:rPr>
              <a:t>e</a:t>
            </a:r>
            <a:r>
              <a:rPr sz="844" dirty="0">
                <a:latin typeface="Calibri"/>
                <a:cs typeface="Calibri"/>
              </a:rPr>
              <a:t>o</a:t>
            </a:r>
            <a:r>
              <a:rPr sz="844" spc="-7" dirty="0">
                <a:latin typeface="Calibri"/>
                <a:cs typeface="Calibri"/>
              </a:rPr>
              <a:t>g</a:t>
            </a:r>
            <a:r>
              <a:rPr sz="844" spc="-21" dirty="0">
                <a:latin typeface="Calibri"/>
                <a:cs typeface="Calibri"/>
              </a:rPr>
              <a:t>r</a:t>
            </a:r>
            <a:r>
              <a:rPr sz="844" dirty="0">
                <a:latin typeface="Calibri"/>
                <a:cs typeface="Calibri"/>
              </a:rPr>
              <a:t>aphi</a:t>
            </a:r>
            <a:r>
              <a:rPr sz="844" spc="-11" dirty="0">
                <a:latin typeface="Calibri"/>
                <a:cs typeface="Calibri"/>
              </a:rPr>
              <a:t>c</a:t>
            </a:r>
            <a:r>
              <a:rPr sz="844" dirty="0">
                <a:latin typeface="Calibri"/>
                <a:cs typeface="Calibri"/>
              </a:rPr>
              <a:t>al </a:t>
            </a:r>
            <a:r>
              <a:rPr sz="844" spc="-11" dirty="0">
                <a:latin typeface="Calibri"/>
                <a:cs typeface="Calibri"/>
              </a:rPr>
              <a:t>s</a:t>
            </a:r>
            <a:r>
              <a:rPr sz="844" spc="-14" dirty="0">
                <a:latin typeface="Calibri"/>
                <a:cs typeface="Calibri"/>
              </a:rPr>
              <a:t>t</a:t>
            </a:r>
            <a:r>
              <a:rPr sz="844" dirty="0">
                <a:latin typeface="Calibri"/>
                <a:cs typeface="Calibri"/>
              </a:rPr>
              <a:t>o</a:t>
            </a:r>
            <a:r>
              <a:rPr sz="844" spc="-4" dirty="0">
                <a:latin typeface="Calibri"/>
                <a:cs typeface="Calibri"/>
              </a:rPr>
              <a:t>c</a:t>
            </a:r>
            <a:r>
              <a:rPr sz="844" dirty="0">
                <a:latin typeface="Calibri"/>
                <a:cs typeface="Calibri"/>
              </a:rPr>
              <a:t>ha</a:t>
            </a:r>
            <a:r>
              <a:rPr sz="844" spc="-11" dirty="0">
                <a:latin typeface="Calibri"/>
                <a:cs typeface="Calibri"/>
              </a:rPr>
              <a:t>s</a:t>
            </a:r>
            <a:r>
              <a:rPr sz="844" spc="18" dirty="0">
                <a:latin typeface="Calibri"/>
                <a:cs typeface="Calibri"/>
              </a:rPr>
              <a:t>C</a:t>
            </a:r>
            <a:r>
              <a:rPr sz="844" spc="-4" dirty="0">
                <a:latin typeface="Calibri"/>
                <a:cs typeface="Calibri"/>
              </a:rPr>
              <a:t>c</a:t>
            </a:r>
            <a:r>
              <a:rPr sz="844" dirty="0">
                <a:latin typeface="Calibri"/>
                <a:cs typeface="Calibri"/>
              </a:rPr>
              <a:t> </a:t>
            </a:r>
            <a:r>
              <a:rPr sz="844" spc="-7" dirty="0">
                <a:latin typeface="Calibri"/>
                <a:cs typeface="Calibri"/>
              </a:rPr>
              <a:t>m</a:t>
            </a:r>
            <a:r>
              <a:rPr sz="844" dirty="0">
                <a:latin typeface="Calibri"/>
                <a:cs typeface="Calibri"/>
              </a:rPr>
              <a:t>appin</a:t>
            </a:r>
            <a:r>
              <a:rPr sz="844" spc="-7" dirty="0">
                <a:latin typeface="Calibri"/>
                <a:cs typeface="Calibri"/>
              </a:rPr>
              <a:t>g</a:t>
            </a:r>
            <a:r>
              <a:rPr sz="844" dirty="0">
                <a:latin typeface="Calibri"/>
                <a:cs typeface="Calibri"/>
              </a:rPr>
              <a:t> publish</a:t>
            </a:r>
            <a:r>
              <a:rPr sz="844" spc="-7" dirty="0">
                <a:latin typeface="Calibri"/>
                <a:cs typeface="Calibri"/>
              </a:rPr>
              <a:t>e</a:t>
            </a:r>
            <a:r>
              <a:rPr sz="844" dirty="0">
                <a:latin typeface="Calibri"/>
                <a:cs typeface="Calibri"/>
              </a:rPr>
              <a:t>d in</a:t>
            </a:r>
            <a:r>
              <a:rPr sz="844" spc="-4" dirty="0">
                <a:latin typeface="Calibri"/>
                <a:cs typeface="Calibri"/>
              </a:rPr>
              <a:t>: </a:t>
            </a:r>
            <a:r>
              <a:rPr sz="844" dirty="0">
                <a:latin typeface="Calibri"/>
                <a:cs typeface="Calibri"/>
              </a:rPr>
              <a:t>Dupin</a:t>
            </a:r>
            <a:r>
              <a:rPr sz="844" spc="-4" dirty="0">
                <a:latin typeface="Calibri"/>
                <a:cs typeface="Calibri"/>
              </a:rPr>
              <a:t>,</a:t>
            </a:r>
            <a:r>
              <a:rPr sz="844" dirty="0">
                <a:latin typeface="Calibri"/>
                <a:cs typeface="Calibri"/>
              </a:rPr>
              <a:t> </a:t>
            </a:r>
            <a:r>
              <a:rPr sz="844" spc="-11" dirty="0">
                <a:latin typeface="Calibri"/>
                <a:cs typeface="Calibri"/>
              </a:rPr>
              <a:t>M</a:t>
            </a:r>
            <a:r>
              <a:rPr sz="844" spc="-18" dirty="0">
                <a:latin typeface="Calibri"/>
                <a:cs typeface="Calibri"/>
              </a:rPr>
              <a:t>a</a:t>
            </a:r>
            <a:r>
              <a:rPr sz="844" spc="-4" dirty="0">
                <a:latin typeface="Calibri"/>
                <a:cs typeface="Calibri"/>
              </a:rPr>
              <a:t>tz</a:t>
            </a:r>
            <a:r>
              <a:rPr sz="844" spc="-35" dirty="0">
                <a:latin typeface="Calibri"/>
                <a:cs typeface="Calibri"/>
              </a:rPr>
              <a:t>k</a:t>
            </a:r>
            <a:r>
              <a:rPr sz="844" spc="-7" dirty="0">
                <a:latin typeface="Calibri"/>
                <a:cs typeface="Calibri"/>
              </a:rPr>
              <a:t>e</a:t>
            </a:r>
            <a:r>
              <a:rPr sz="844" dirty="0">
                <a:latin typeface="Calibri"/>
                <a:cs typeface="Calibri"/>
              </a:rPr>
              <a:t> </a:t>
            </a:r>
            <a:r>
              <a:rPr sz="844" spc="-14" dirty="0">
                <a:latin typeface="Calibri"/>
                <a:cs typeface="Calibri"/>
              </a:rPr>
              <a:t>e</a:t>
            </a:r>
            <a:r>
              <a:rPr sz="844" spc="-4" dirty="0">
                <a:latin typeface="Calibri"/>
                <a:cs typeface="Calibri"/>
              </a:rPr>
              <a:t>t</a:t>
            </a:r>
            <a:r>
              <a:rPr sz="844" dirty="0">
                <a:latin typeface="Calibri"/>
                <a:cs typeface="Calibri"/>
              </a:rPr>
              <a:t> al. (</a:t>
            </a:r>
            <a:r>
              <a:rPr sz="844" spc="-7" dirty="0">
                <a:latin typeface="Calibri"/>
                <a:cs typeface="Calibri"/>
              </a:rPr>
              <a:t>2016</a:t>
            </a:r>
            <a:r>
              <a:rPr sz="844" dirty="0">
                <a:latin typeface="Calibri"/>
                <a:cs typeface="Calibri"/>
              </a:rPr>
              <a:t>)</a:t>
            </a:r>
            <a:r>
              <a:rPr sz="844" spc="-4" dirty="0">
                <a:latin typeface="Calibri"/>
                <a:cs typeface="Calibri"/>
              </a:rPr>
              <a:t>,</a:t>
            </a:r>
            <a:r>
              <a:rPr sz="844" dirty="0">
                <a:latin typeface="Calibri"/>
                <a:cs typeface="Calibri"/>
              </a:rPr>
              <a:t> </a:t>
            </a:r>
            <a:r>
              <a:rPr sz="844" i="1" spc="-11" dirty="0">
                <a:latin typeface="Calibri"/>
                <a:cs typeface="Calibri"/>
              </a:rPr>
              <a:t>J</a:t>
            </a:r>
            <a:r>
              <a:rPr sz="844" i="1" dirty="0">
                <a:latin typeface="Calibri"/>
                <a:cs typeface="Calibri"/>
              </a:rPr>
              <a:t>.</a:t>
            </a:r>
            <a:r>
              <a:rPr sz="844" i="1" spc="-4" dirty="0">
                <a:latin typeface="Calibri"/>
                <a:cs typeface="Calibri"/>
              </a:rPr>
              <a:t> </a:t>
            </a:r>
            <a:r>
              <a:rPr sz="844" i="1" spc="-7" dirty="0">
                <a:latin typeface="Calibri"/>
                <a:cs typeface="Calibri"/>
              </a:rPr>
              <a:t>B</a:t>
            </a:r>
            <a:r>
              <a:rPr sz="844" i="1" spc="-4" dirty="0">
                <a:latin typeface="Calibri"/>
                <a:cs typeface="Calibri"/>
              </a:rPr>
              <a:t>io</a:t>
            </a:r>
            <a:r>
              <a:rPr sz="844" i="1" dirty="0">
                <a:latin typeface="Calibri"/>
                <a:cs typeface="Calibri"/>
              </a:rPr>
              <a:t>g</a:t>
            </a:r>
            <a:r>
              <a:rPr sz="844" i="1" spc="-11" dirty="0">
                <a:latin typeface="Calibri"/>
                <a:cs typeface="Calibri"/>
              </a:rPr>
              <a:t>e</a:t>
            </a:r>
            <a:r>
              <a:rPr sz="844" i="1" spc="-4" dirty="0">
                <a:latin typeface="Calibri"/>
                <a:cs typeface="Calibri"/>
              </a:rPr>
              <a:t>o</a:t>
            </a:r>
            <a:r>
              <a:rPr sz="844" i="1" dirty="0">
                <a:latin typeface="Calibri"/>
                <a:cs typeface="Calibri"/>
              </a:rPr>
              <a:t>g</a:t>
            </a:r>
            <a:r>
              <a:rPr sz="844" i="1" spc="-4" dirty="0">
                <a:latin typeface="Calibri"/>
                <a:cs typeface="Calibri"/>
              </a:rPr>
              <a:t>r</a:t>
            </a:r>
            <a:r>
              <a:rPr sz="844" i="1" dirty="0">
                <a:latin typeface="Calibri"/>
                <a:cs typeface="Calibri"/>
              </a:rPr>
              <a:t>ap</a:t>
            </a:r>
            <a:r>
              <a:rPr sz="844" i="1" spc="-18" dirty="0">
                <a:latin typeface="Calibri"/>
                <a:cs typeface="Calibri"/>
              </a:rPr>
              <a:t>h</a:t>
            </a:r>
            <a:r>
              <a:rPr sz="844" i="1" dirty="0">
                <a:latin typeface="Calibri"/>
                <a:cs typeface="Calibri"/>
              </a:rPr>
              <a:t>y</a:t>
            </a:r>
            <a:r>
              <a:rPr sz="844" dirty="0">
                <a:latin typeface="Calibri"/>
                <a:cs typeface="Calibri"/>
              </a:rPr>
              <a:t>.</a:t>
            </a:r>
            <a:endParaRPr sz="844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08" y="243334"/>
            <a:ext cx="5688211" cy="4869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164" b="1" dirty="0">
                <a:latin typeface="Calibri"/>
                <a:cs typeface="Calibri"/>
              </a:rPr>
              <a:t>E</a:t>
            </a:r>
            <a:r>
              <a:rPr sz="3164" b="1" spc="-53" dirty="0">
                <a:latin typeface="Calibri"/>
                <a:cs typeface="Calibri"/>
              </a:rPr>
              <a:t>x</a:t>
            </a:r>
            <a:r>
              <a:rPr sz="3164" b="1" dirty="0">
                <a:latin typeface="Calibri"/>
                <a:cs typeface="Calibri"/>
              </a:rPr>
              <a:t>am</a:t>
            </a:r>
            <a:r>
              <a:rPr sz="3164" b="1" spc="-14" dirty="0">
                <a:latin typeface="Calibri"/>
                <a:cs typeface="Calibri"/>
              </a:rPr>
              <a:t>ple</a:t>
            </a:r>
            <a:r>
              <a:rPr sz="3164" b="1" dirty="0">
                <a:latin typeface="Calibri"/>
                <a:cs typeface="Calibri"/>
              </a:rPr>
              <a:t> </a:t>
            </a:r>
            <a:r>
              <a:rPr sz="3164" b="1" spc="-49" dirty="0">
                <a:latin typeface="Calibri"/>
                <a:cs typeface="Calibri"/>
              </a:rPr>
              <a:t>s</a:t>
            </a:r>
            <a:r>
              <a:rPr sz="3164" b="1" spc="-46" dirty="0">
                <a:latin typeface="Calibri"/>
                <a:cs typeface="Calibri"/>
              </a:rPr>
              <a:t>t</a:t>
            </a:r>
            <a:r>
              <a:rPr sz="3164" b="1" dirty="0">
                <a:latin typeface="Calibri"/>
                <a:cs typeface="Calibri"/>
              </a:rPr>
              <a:t>oc</a:t>
            </a:r>
            <a:r>
              <a:rPr sz="3164" b="1" spc="-18" dirty="0">
                <a:latin typeface="Calibri"/>
                <a:cs typeface="Calibri"/>
              </a:rPr>
              <a:t>ha</a:t>
            </a:r>
            <a:r>
              <a:rPr sz="3164" b="1" spc="-53" dirty="0">
                <a:latin typeface="Calibri"/>
                <a:cs typeface="Calibri"/>
              </a:rPr>
              <a:t>s</a:t>
            </a:r>
            <a:r>
              <a:rPr lang="en-US" sz="3164" b="1" spc="239" dirty="0">
                <a:latin typeface="Calibri"/>
                <a:cs typeface="Calibri"/>
              </a:rPr>
              <a:t>ti</a:t>
            </a:r>
            <a:r>
              <a:rPr sz="3164" b="1" dirty="0">
                <a:latin typeface="Calibri"/>
                <a:cs typeface="Calibri"/>
              </a:rPr>
              <a:t>c m</a:t>
            </a:r>
            <a:r>
              <a:rPr sz="3164" b="1" spc="-18" dirty="0">
                <a:latin typeface="Calibri"/>
                <a:cs typeface="Calibri"/>
              </a:rPr>
              <a:t>ap</a:t>
            </a:r>
            <a:endParaRPr sz="3164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2969" y="939850"/>
            <a:ext cx="2436465" cy="4869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164" b="1" spc="-32" dirty="0">
                <a:latin typeface="Calibri"/>
                <a:cs typeface="Calibri"/>
              </a:rPr>
              <a:t>M</a:t>
            </a:r>
            <a:r>
              <a:rPr sz="3164" b="1" spc="-14" dirty="0">
                <a:latin typeface="Calibri"/>
                <a:cs typeface="Calibri"/>
              </a:rPr>
              <a:t>L</a:t>
            </a:r>
            <a:r>
              <a:rPr sz="3164" b="1" dirty="0">
                <a:latin typeface="Calibri"/>
                <a:cs typeface="Calibri"/>
              </a:rPr>
              <a:t> D</a:t>
            </a:r>
            <a:r>
              <a:rPr sz="3164" b="1" spc="-67" dirty="0">
                <a:latin typeface="Calibri"/>
                <a:cs typeface="Calibri"/>
              </a:rPr>
              <a:t>E</a:t>
            </a:r>
            <a:r>
              <a:rPr sz="3164" b="1" dirty="0">
                <a:latin typeface="Calibri"/>
                <a:cs typeface="Calibri"/>
              </a:rPr>
              <a:t>C m</a:t>
            </a:r>
            <a:r>
              <a:rPr sz="3164" b="1" spc="-18" dirty="0">
                <a:latin typeface="Calibri"/>
                <a:cs typeface="Calibri"/>
              </a:rPr>
              <a:t>od</a:t>
            </a:r>
            <a:r>
              <a:rPr sz="3164" b="1" dirty="0">
                <a:latin typeface="Calibri"/>
                <a:cs typeface="Calibri"/>
              </a:rPr>
              <a:t>e</a:t>
            </a:r>
            <a:r>
              <a:rPr sz="3164" b="1" spc="-11" dirty="0">
                <a:latin typeface="Calibri"/>
                <a:cs typeface="Calibri"/>
              </a:rPr>
              <a:t>l</a:t>
            </a:r>
            <a:endParaRPr sz="3164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4266" y="930920"/>
            <a:ext cx="2769542" cy="4869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164" b="1" spc="-32" dirty="0">
                <a:latin typeface="Calibri"/>
                <a:cs typeface="Calibri"/>
              </a:rPr>
              <a:t>M</a:t>
            </a:r>
            <a:r>
              <a:rPr sz="3164" b="1" spc="-14" dirty="0">
                <a:latin typeface="Calibri"/>
                <a:cs typeface="Calibri"/>
              </a:rPr>
              <a:t>L</a:t>
            </a:r>
            <a:r>
              <a:rPr sz="3164" b="1" dirty="0">
                <a:latin typeface="Calibri"/>
                <a:cs typeface="Calibri"/>
              </a:rPr>
              <a:t> D</a:t>
            </a:r>
            <a:r>
              <a:rPr sz="3164" b="1" spc="-67" dirty="0">
                <a:latin typeface="Calibri"/>
                <a:cs typeface="Calibri"/>
              </a:rPr>
              <a:t>E</a:t>
            </a:r>
            <a:r>
              <a:rPr sz="3164" b="1" dirty="0">
                <a:latin typeface="Calibri"/>
                <a:cs typeface="Calibri"/>
              </a:rPr>
              <a:t>C</a:t>
            </a:r>
            <a:r>
              <a:rPr sz="3164" b="1" spc="-4" dirty="0">
                <a:latin typeface="Calibri"/>
                <a:cs typeface="Calibri"/>
              </a:rPr>
              <a:t>+</a:t>
            </a:r>
            <a:r>
              <a:rPr sz="3164" b="1" dirty="0">
                <a:latin typeface="Calibri"/>
                <a:cs typeface="Calibri"/>
              </a:rPr>
              <a:t>J m</a:t>
            </a:r>
            <a:r>
              <a:rPr sz="3164" b="1" spc="-18" dirty="0">
                <a:latin typeface="Calibri"/>
                <a:cs typeface="Calibri"/>
              </a:rPr>
              <a:t>od</a:t>
            </a:r>
            <a:r>
              <a:rPr sz="3164" b="1" dirty="0">
                <a:latin typeface="Calibri"/>
                <a:cs typeface="Calibri"/>
              </a:rPr>
              <a:t>e</a:t>
            </a:r>
            <a:r>
              <a:rPr sz="3164" b="1" spc="-11" dirty="0">
                <a:latin typeface="Calibri"/>
                <a:cs typeface="Calibri"/>
              </a:rPr>
              <a:t>l</a:t>
            </a:r>
            <a:endParaRPr sz="3164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66929" y="5906988"/>
            <a:ext cx="2043113" cy="1947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266" b="1" spc="-7" dirty="0">
                <a:latin typeface="Calibri"/>
                <a:cs typeface="Calibri"/>
              </a:rPr>
              <a:t>(under mode</a:t>
            </a:r>
            <a:r>
              <a:rPr sz="1266" b="1" spc="-4" dirty="0">
                <a:latin typeface="Calibri"/>
                <a:cs typeface="Calibri"/>
              </a:rPr>
              <a:t>l </a:t>
            </a:r>
            <a:r>
              <a:rPr sz="1266" b="1" spc="-7" dirty="0">
                <a:latin typeface="Calibri"/>
                <a:cs typeface="Calibri"/>
              </a:rPr>
              <a:t>M0: no </a:t>
            </a:r>
            <a:r>
              <a:rPr sz="1266" b="1" spc="-14" dirty="0">
                <a:latin typeface="Calibri"/>
                <a:cs typeface="Calibri"/>
              </a:rPr>
              <a:t>g</a:t>
            </a:r>
            <a:r>
              <a:rPr sz="1266" b="1" dirty="0">
                <a:latin typeface="Calibri"/>
                <a:cs typeface="Calibri"/>
              </a:rPr>
              <a:t>e</a:t>
            </a:r>
            <a:r>
              <a:rPr sz="1266" b="1" spc="-7" dirty="0">
                <a:latin typeface="Calibri"/>
                <a:cs typeface="Calibri"/>
              </a:rPr>
              <a:t>olo</a:t>
            </a:r>
            <a:r>
              <a:rPr sz="1266" b="1" dirty="0">
                <a:latin typeface="Calibri"/>
                <a:cs typeface="Calibri"/>
              </a:rPr>
              <a:t>g</a:t>
            </a:r>
            <a:r>
              <a:rPr sz="1266" b="1" spc="-7" dirty="0">
                <a:latin typeface="Calibri"/>
                <a:cs typeface="Calibri"/>
              </a:rPr>
              <a:t>y)</a:t>
            </a:r>
            <a:endParaRPr sz="1266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15125" y="6536532"/>
            <a:ext cx="2155180" cy="265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ct val="104200"/>
              </a:lnSpc>
            </a:pPr>
            <a:r>
              <a:rPr sz="844" spc="-7" dirty="0">
                <a:latin typeface="Calibri"/>
                <a:cs typeface="Calibri"/>
              </a:rPr>
              <a:t>Bio</a:t>
            </a:r>
            <a:r>
              <a:rPr sz="844" spc="-14" dirty="0">
                <a:latin typeface="Calibri"/>
                <a:cs typeface="Calibri"/>
              </a:rPr>
              <a:t>g</a:t>
            </a:r>
            <a:r>
              <a:rPr sz="844" spc="-7" dirty="0">
                <a:latin typeface="Calibri"/>
                <a:cs typeface="Calibri"/>
              </a:rPr>
              <a:t>e</a:t>
            </a:r>
            <a:r>
              <a:rPr sz="844" dirty="0">
                <a:latin typeface="Calibri"/>
                <a:cs typeface="Calibri"/>
              </a:rPr>
              <a:t>o</a:t>
            </a:r>
            <a:r>
              <a:rPr sz="844" spc="-7" dirty="0">
                <a:latin typeface="Calibri"/>
                <a:cs typeface="Calibri"/>
              </a:rPr>
              <a:t>g</a:t>
            </a:r>
            <a:r>
              <a:rPr sz="844" spc="-21" dirty="0">
                <a:latin typeface="Calibri"/>
                <a:cs typeface="Calibri"/>
              </a:rPr>
              <a:t>r</a:t>
            </a:r>
            <a:r>
              <a:rPr sz="844" dirty="0">
                <a:latin typeface="Calibri"/>
                <a:cs typeface="Calibri"/>
              </a:rPr>
              <a:t>aphi</a:t>
            </a:r>
            <a:r>
              <a:rPr sz="844" spc="-11" dirty="0">
                <a:latin typeface="Calibri"/>
                <a:cs typeface="Calibri"/>
              </a:rPr>
              <a:t>c</a:t>
            </a:r>
            <a:r>
              <a:rPr sz="844" dirty="0">
                <a:latin typeface="Calibri"/>
                <a:cs typeface="Calibri"/>
              </a:rPr>
              <a:t>al </a:t>
            </a:r>
            <a:r>
              <a:rPr sz="844" spc="-11" dirty="0">
                <a:latin typeface="Calibri"/>
                <a:cs typeface="Calibri"/>
              </a:rPr>
              <a:t>s</a:t>
            </a:r>
            <a:r>
              <a:rPr sz="844" spc="-14" dirty="0">
                <a:latin typeface="Calibri"/>
                <a:cs typeface="Calibri"/>
              </a:rPr>
              <a:t>t</a:t>
            </a:r>
            <a:r>
              <a:rPr sz="844" dirty="0">
                <a:latin typeface="Calibri"/>
                <a:cs typeface="Calibri"/>
              </a:rPr>
              <a:t>o</a:t>
            </a:r>
            <a:r>
              <a:rPr sz="844" spc="-4" dirty="0">
                <a:latin typeface="Calibri"/>
                <a:cs typeface="Calibri"/>
              </a:rPr>
              <a:t>c</a:t>
            </a:r>
            <a:r>
              <a:rPr sz="844" dirty="0">
                <a:latin typeface="Calibri"/>
                <a:cs typeface="Calibri"/>
              </a:rPr>
              <a:t>ha</a:t>
            </a:r>
            <a:r>
              <a:rPr sz="844" spc="-11" dirty="0">
                <a:latin typeface="Calibri"/>
                <a:cs typeface="Calibri"/>
              </a:rPr>
              <a:t>s</a:t>
            </a:r>
            <a:r>
              <a:rPr sz="844" spc="18" dirty="0">
                <a:latin typeface="Calibri"/>
                <a:cs typeface="Calibri"/>
              </a:rPr>
              <a:t>C</a:t>
            </a:r>
            <a:r>
              <a:rPr sz="844" spc="-4" dirty="0">
                <a:latin typeface="Calibri"/>
                <a:cs typeface="Calibri"/>
              </a:rPr>
              <a:t>c</a:t>
            </a:r>
            <a:r>
              <a:rPr sz="844" dirty="0">
                <a:latin typeface="Calibri"/>
                <a:cs typeface="Calibri"/>
              </a:rPr>
              <a:t> </a:t>
            </a:r>
            <a:r>
              <a:rPr sz="844" spc="-7" dirty="0">
                <a:latin typeface="Calibri"/>
                <a:cs typeface="Calibri"/>
              </a:rPr>
              <a:t>m</a:t>
            </a:r>
            <a:r>
              <a:rPr sz="844" dirty="0">
                <a:latin typeface="Calibri"/>
                <a:cs typeface="Calibri"/>
              </a:rPr>
              <a:t>appin</a:t>
            </a:r>
            <a:r>
              <a:rPr sz="844" spc="-7" dirty="0">
                <a:latin typeface="Calibri"/>
                <a:cs typeface="Calibri"/>
              </a:rPr>
              <a:t>g</a:t>
            </a:r>
            <a:r>
              <a:rPr sz="844" dirty="0">
                <a:latin typeface="Calibri"/>
                <a:cs typeface="Calibri"/>
              </a:rPr>
              <a:t> publish</a:t>
            </a:r>
            <a:r>
              <a:rPr sz="844" spc="-7" dirty="0">
                <a:latin typeface="Calibri"/>
                <a:cs typeface="Calibri"/>
              </a:rPr>
              <a:t>e</a:t>
            </a:r>
            <a:r>
              <a:rPr sz="844" dirty="0">
                <a:latin typeface="Calibri"/>
                <a:cs typeface="Calibri"/>
              </a:rPr>
              <a:t>d in</a:t>
            </a:r>
            <a:r>
              <a:rPr sz="844" spc="-4" dirty="0">
                <a:latin typeface="Calibri"/>
                <a:cs typeface="Calibri"/>
              </a:rPr>
              <a:t>: </a:t>
            </a:r>
            <a:r>
              <a:rPr sz="844" dirty="0">
                <a:latin typeface="Calibri"/>
                <a:cs typeface="Calibri"/>
              </a:rPr>
              <a:t>Dupin</a:t>
            </a:r>
            <a:r>
              <a:rPr sz="844" spc="-4" dirty="0">
                <a:latin typeface="Calibri"/>
                <a:cs typeface="Calibri"/>
              </a:rPr>
              <a:t>,</a:t>
            </a:r>
            <a:r>
              <a:rPr sz="844" dirty="0">
                <a:latin typeface="Calibri"/>
                <a:cs typeface="Calibri"/>
              </a:rPr>
              <a:t> </a:t>
            </a:r>
            <a:r>
              <a:rPr sz="844" spc="-11" dirty="0">
                <a:latin typeface="Calibri"/>
                <a:cs typeface="Calibri"/>
              </a:rPr>
              <a:t>M</a:t>
            </a:r>
            <a:r>
              <a:rPr sz="844" spc="-18" dirty="0">
                <a:latin typeface="Calibri"/>
                <a:cs typeface="Calibri"/>
              </a:rPr>
              <a:t>a</a:t>
            </a:r>
            <a:r>
              <a:rPr sz="844" spc="-4" dirty="0">
                <a:latin typeface="Calibri"/>
                <a:cs typeface="Calibri"/>
              </a:rPr>
              <a:t>tz</a:t>
            </a:r>
            <a:r>
              <a:rPr sz="844" spc="-35" dirty="0">
                <a:latin typeface="Calibri"/>
                <a:cs typeface="Calibri"/>
              </a:rPr>
              <a:t>k</a:t>
            </a:r>
            <a:r>
              <a:rPr sz="844" spc="-7" dirty="0">
                <a:latin typeface="Calibri"/>
                <a:cs typeface="Calibri"/>
              </a:rPr>
              <a:t>e</a:t>
            </a:r>
            <a:r>
              <a:rPr sz="844" dirty="0">
                <a:latin typeface="Calibri"/>
                <a:cs typeface="Calibri"/>
              </a:rPr>
              <a:t> </a:t>
            </a:r>
            <a:r>
              <a:rPr sz="844" spc="-14" dirty="0">
                <a:latin typeface="Calibri"/>
                <a:cs typeface="Calibri"/>
              </a:rPr>
              <a:t>e</a:t>
            </a:r>
            <a:r>
              <a:rPr sz="844" spc="-4" dirty="0">
                <a:latin typeface="Calibri"/>
                <a:cs typeface="Calibri"/>
              </a:rPr>
              <a:t>t</a:t>
            </a:r>
            <a:r>
              <a:rPr sz="844" dirty="0">
                <a:latin typeface="Calibri"/>
                <a:cs typeface="Calibri"/>
              </a:rPr>
              <a:t> al. (</a:t>
            </a:r>
            <a:r>
              <a:rPr sz="844" spc="-7" dirty="0">
                <a:latin typeface="Calibri"/>
                <a:cs typeface="Calibri"/>
              </a:rPr>
              <a:t>2016</a:t>
            </a:r>
            <a:r>
              <a:rPr sz="844" dirty="0">
                <a:latin typeface="Calibri"/>
                <a:cs typeface="Calibri"/>
              </a:rPr>
              <a:t>)</a:t>
            </a:r>
            <a:r>
              <a:rPr sz="844" spc="-4" dirty="0">
                <a:latin typeface="Calibri"/>
                <a:cs typeface="Calibri"/>
              </a:rPr>
              <a:t>,</a:t>
            </a:r>
            <a:r>
              <a:rPr sz="844" dirty="0">
                <a:latin typeface="Calibri"/>
                <a:cs typeface="Calibri"/>
              </a:rPr>
              <a:t> </a:t>
            </a:r>
            <a:r>
              <a:rPr sz="844" i="1" spc="-11" dirty="0">
                <a:latin typeface="Calibri"/>
                <a:cs typeface="Calibri"/>
              </a:rPr>
              <a:t>J</a:t>
            </a:r>
            <a:r>
              <a:rPr sz="844" i="1" dirty="0">
                <a:latin typeface="Calibri"/>
                <a:cs typeface="Calibri"/>
              </a:rPr>
              <a:t>.</a:t>
            </a:r>
            <a:r>
              <a:rPr sz="844" i="1" spc="-4" dirty="0">
                <a:latin typeface="Calibri"/>
                <a:cs typeface="Calibri"/>
              </a:rPr>
              <a:t> </a:t>
            </a:r>
            <a:r>
              <a:rPr sz="844" i="1" spc="-7" dirty="0">
                <a:latin typeface="Calibri"/>
                <a:cs typeface="Calibri"/>
              </a:rPr>
              <a:t>B</a:t>
            </a:r>
            <a:r>
              <a:rPr sz="844" i="1" spc="-4" dirty="0">
                <a:latin typeface="Calibri"/>
                <a:cs typeface="Calibri"/>
              </a:rPr>
              <a:t>io</a:t>
            </a:r>
            <a:r>
              <a:rPr sz="844" i="1" dirty="0">
                <a:latin typeface="Calibri"/>
                <a:cs typeface="Calibri"/>
              </a:rPr>
              <a:t>g</a:t>
            </a:r>
            <a:r>
              <a:rPr sz="844" i="1" spc="-11" dirty="0">
                <a:latin typeface="Calibri"/>
                <a:cs typeface="Calibri"/>
              </a:rPr>
              <a:t>e</a:t>
            </a:r>
            <a:r>
              <a:rPr sz="844" i="1" spc="-4" dirty="0">
                <a:latin typeface="Calibri"/>
                <a:cs typeface="Calibri"/>
              </a:rPr>
              <a:t>o</a:t>
            </a:r>
            <a:r>
              <a:rPr sz="844" i="1" dirty="0">
                <a:latin typeface="Calibri"/>
                <a:cs typeface="Calibri"/>
              </a:rPr>
              <a:t>g</a:t>
            </a:r>
            <a:r>
              <a:rPr sz="844" i="1" spc="-4" dirty="0">
                <a:latin typeface="Calibri"/>
                <a:cs typeface="Calibri"/>
              </a:rPr>
              <a:t>r</a:t>
            </a:r>
            <a:r>
              <a:rPr sz="844" i="1" dirty="0">
                <a:latin typeface="Calibri"/>
                <a:cs typeface="Calibri"/>
              </a:rPr>
              <a:t>ap</a:t>
            </a:r>
            <a:r>
              <a:rPr sz="844" i="1" spc="-18" dirty="0">
                <a:latin typeface="Calibri"/>
                <a:cs typeface="Calibri"/>
              </a:rPr>
              <a:t>h</a:t>
            </a:r>
            <a:r>
              <a:rPr sz="844" i="1" dirty="0">
                <a:latin typeface="Calibri"/>
                <a:cs typeface="Calibri"/>
              </a:rPr>
              <a:t>y</a:t>
            </a:r>
            <a:r>
              <a:rPr sz="844" dirty="0">
                <a:latin typeface="Calibri"/>
                <a:cs typeface="Calibri"/>
              </a:rPr>
              <a:t>.</a:t>
            </a:r>
            <a:endParaRPr sz="844">
              <a:latin typeface="Calibri"/>
              <a:cs typeface="Calibri"/>
            </a:endParaRPr>
          </a:p>
        </p:txBody>
      </p:sp>
      <p:pic>
        <p:nvPicPr>
          <p:cNvPr id="9" name="Picture 8" descr="stochastic_maps_DEC_vs_DECj_M0_v1_WORKED_ARCHIVE_100dpi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9453"/>
            <a:ext cx="9144000" cy="4572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673269" y="5119180"/>
            <a:ext cx="2218348" cy="16048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891" y="497720"/>
            <a:ext cx="7255371" cy="519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375" b="1" spc="-32" dirty="0">
                <a:latin typeface="Gill Sans"/>
                <a:cs typeface="Gill Sans"/>
              </a:rPr>
              <a:t>Hi</a:t>
            </a:r>
            <a:r>
              <a:rPr sz="3375" b="1" spc="-18" dirty="0">
                <a:latin typeface="Gill Sans"/>
                <a:cs typeface="Gill Sans"/>
              </a:rPr>
              <a:t>s</a:t>
            </a:r>
            <a:r>
              <a:rPr sz="3375" b="1" spc="-4" dirty="0">
                <a:latin typeface="Gill Sans"/>
                <a:cs typeface="Gill Sans"/>
              </a:rPr>
              <a:t>to</a:t>
            </a:r>
            <a:r>
              <a:rPr sz="3375" b="1" spc="-148" dirty="0">
                <a:latin typeface="Gill Sans"/>
                <a:cs typeface="Gill Sans"/>
              </a:rPr>
              <a:t>r</a:t>
            </a:r>
            <a:r>
              <a:rPr sz="3375" b="1" dirty="0">
                <a:latin typeface="Gill Sans"/>
                <a:cs typeface="Gill Sans"/>
              </a:rPr>
              <a:t>i</a:t>
            </a:r>
            <a:r>
              <a:rPr sz="3375" b="1" spc="-4" dirty="0">
                <a:latin typeface="Gill Sans"/>
                <a:cs typeface="Gill Sans"/>
              </a:rPr>
              <a:t>c</a:t>
            </a:r>
            <a:r>
              <a:rPr sz="3375" b="1" spc="-21" dirty="0">
                <a:latin typeface="Gill Sans"/>
                <a:cs typeface="Gill Sans"/>
              </a:rPr>
              <a:t>a</a:t>
            </a:r>
            <a:r>
              <a:rPr sz="3375" b="1" dirty="0">
                <a:latin typeface="Gill Sans"/>
                <a:cs typeface="Gill Sans"/>
              </a:rPr>
              <a:t>l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dirty="0">
                <a:latin typeface="Gill Sans"/>
                <a:cs typeface="Gill Sans"/>
              </a:rPr>
              <a:t>bi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dirty="0">
                <a:latin typeface="Gill Sans"/>
                <a:cs typeface="Gill Sans"/>
              </a:rPr>
              <a:t>ge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spc="123" dirty="0">
                <a:latin typeface="Gill Sans"/>
                <a:cs typeface="Gill Sans"/>
              </a:rPr>
              <a:t>g</a:t>
            </a:r>
            <a:r>
              <a:rPr sz="3375" b="1" spc="-49" dirty="0">
                <a:latin typeface="Gill Sans"/>
                <a:cs typeface="Gill Sans"/>
              </a:rPr>
              <a:t>r</a:t>
            </a:r>
            <a:r>
              <a:rPr sz="3375" b="1" spc="21" dirty="0">
                <a:latin typeface="Gill Sans"/>
                <a:cs typeface="Gill Sans"/>
              </a:rPr>
              <a:t>a</a:t>
            </a:r>
            <a:r>
              <a:rPr sz="3375" b="1" dirty="0">
                <a:latin typeface="Gill Sans"/>
                <a:cs typeface="Gill Sans"/>
              </a:rPr>
              <a:t>p</a:t>
            </a:r>
            <a:r>
              <a:rPr sz="3375" b="1" spc="-4" dirty="0">
                <a:latin typeface="Gill Sans"/>
                <a:cs typeface="Gill Sans"/>
              </a:rPr>
              <a:t>h</a:t>
            </a:r>
            <a:r>
              <a:rPr sz="3375" b="1" dirty="0">
                <a:latin typeface="Gill Sans"/>
                <a:cs typeface="Gill Sans"/>
              </a:rPr>
              <a:t>y</a:t>
            </a:r>
            <a:r>
              <a:rPr sz="3375" b="1" spc="-4" dirty="0">
                <a:latin typeface="Gill Sans"/>
                <a:cs typeface="Gill Sans"/>
              </a:rPr>
              <a:t> m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4" dirty="0">
                <a:latin typeface="Gill Sans"/>
                <a:cs typeface="Gill Sans"/>
              </a:rPr>
              <a:t>tho</a:t>
            </a:r>
            <a:r>
              <a:rPr sz="3375" b="1" dirty="0">
                <a:latin typeface="Gill Sans"/>
                <a:cs typeface="Gill Sans"/>
              </a:rPr>
              <a:t>d</a:t>
            </a:r>
            <a:r>
              <a:rPr sz="3375" b="1" spc="-18" dirty="0">
                <a:latin typeface="Gill Sans"/>
                <a:cs typeface="Gill Sans"/>
              </a:rPr>
              <a:t>s</a:t>
            </a:r>
            <a:endParaRPr sz="3375">
              <a:latin typeface="Gill Sans"/>
              <a:cs typeface="Gill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891" y="1479048"/>
            <a:ext cx="6745486" cy="2542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339" indent="-384409">
              <a:buFont typeface="Gill Sans"/>
              <a:buAutoNum type="arabicPeriod"/>
              <a:tabLst>
                <a:tab pos="393785" algn="l"/>
              </a:tabLst>
            </a:pPr>
            <a:r>
              <a:rPr sz="3375" spc="-18" dirty="0">
                <a:latin typeface="Gill Sans"/>
                <a:cs typeface="Gill Sans"/>
              </a:rPr>
              <a:t>Es</a:t>
            </a:r>
            <a:r>
              <a:rPr sz="3375" dirty="0">
                <a:latin typeface="Gill Sans"/>
                <a:cs typeface="Gill Sans"/>
              </a:rPr>
              <a:t>t</a:t>
            </a:r>
            <a:r>
              <a:rPr sz="3375" spc="-4" dirty="0">
                <a:latin typeface="Gill Sans"/>
                <a:cs typeface="Gill Sans"/>
              </a:rPr>
              <a:t>i</a:t>
            </a:r>
            <a:r>
              <a:rPr sz="3375" spc="-21" dirty="0">
                <a:latin typeface="Gill Sans"/>
                <a:cs typeface="Gill Sans"/>
              </a:rPr>
              <a:t>ma</a:t>
            </a:r>
            <a:r>
              <a:rPr sz="3375" dirty="0">
                <a:latin typeface="Gill Sans"/>
                <a:cs typeface="Gill Sans"/>
              </a:rPr>
              <a:t>te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a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u="heavy" spc="-18" dirty="0">
                <a:latin typeface="Gill Sans"/>
                <a:cs typeface="Gill Sans"/>
              </a:rPr>
              <a:t>dated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p</a:t>
            </a:r>
            <a:r>
              <a:rPr sz="3375" spc="-120" dirty="0">
                <a:latin typeface="Gill Sans"/>
                <a:cs typeface="Gill Sans"/>
              </a:rPr>
              <a:t>h</a:t>
            </a:r>
            <a:r>
              <a:rPr sz="3375" dirty="0">
                <a:latin typeface="Gill Sans"/>
                <a:cs typeface="Gill Sans"/>
              </a:rPr>
              <a:t>y</a:t>
            </a:r>
            <a:r>
              <a:rPr sz="3375" spc="-4" dirty="0">
                <a:latin typeface="Gill Sans"/>
                <a:cs typeface="Gill Sans"/>
              </a:rPr>
              <a:t>l</a:t>
            </a:r>
            <a:r>
              <a:rPr sz="3375" spc="-18" dirty="0">
                <a:latin typeface="Gill Sans"/>
                <a:cs typeface="Gill Sans"/>
              </a:rPr>
              <a:t>og</a:t>
            </a:r>
            <a:r>
              <a:rPr sz="3375" dirty="0">
                <a:latin typeface="Gill Sans"/>
                <a:cs typeface="Gill Sans"/>
              </a:rPr>
              <a:t>e</a:t>
            </a:r>
            <a:r>
              <a:rPr sz="3375" spc="-70" dirty="0">
                <a:latin typeface="Gill Sans"/>
                <a:cs typeface="Gill Sans"/>
              </a:rPr>
              <a:t>n</a:t>
            </a:r>
            <a:r>
              <a:rPr sz="3375" spc="-18" dirty="0">
                <a:latin typeface="Gill Sans"/>
                <a:cs typeface="Gill Sans"/>
              </a:rPr>
              <a:t>y</a:t>
            </a:r>
            <a:endParaRPr sz="3375" dirty="0">
              <a:latin typeface="Gill Sans"/>
              <a:cs typeface="Gill Sans"/>
            </a:endParaRPr>
          </a:p>
          <a:p>
            <a:pPr>
              <a:spcBef>
                <a:spcPts val="5"/>
              </a:spcBef>
              <a:buFont typeface="Gill Sans"/>
              <a:buAutoNum type="arabicPeriod"/>
            </a:pPr>
            <a:endParaRPr sz="3199" dirty="0">
              <a:latin typeface="Times New Roman"/>
              <a:cs typeface="Times New Roman"/>
            </a:endParaRPr>
          </a:p>
          <a:p>
            <a:pPr marL="393339" indent="-384409">
              <a:buFont typeface="Gill Sans"/>
              <a:buAutoNum type="arabicPeriod"/>
              <a:tabLst>
                <a:tab pos="393785" algn="l"/>
              </a:tabLst>
            </a:pPr>
            <a:r>
              <a:rPr sz="3375" spc="-18" dirty="0">
                <a:latin typeface="Gill Sans"/>
                <a:cs typeface="Gill Sans"/>
              </a:rPr>
              <a:t>P</a:t>
            </a:r>
            <a:r>
              <a:rPr sz="3375" dirty="0">
                <a:latin typeface="Gill Sans"/>
                <a:cs typeface="Gill Sans"/>
              </a:rPr>
              <a:t>ut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the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geogr</a:t>
            </a:r>
            <a:r>
              <a:rPr sz="3375" spc="-53" dirty="0">
                <a:latin typeface="Gill Sans"/>
                <a:cs typeface="Gill Sans"/>
              </a:rPr>
              <a:t>a</a:t>
            </a:r>
            <a:r>
              <a:rPr sz="3375" dirty="0">
                <a:latin typeface="Gill Sans"/>
                <a:cs typeface="Gill Sans"/>
              </a:rPr>
              <a:t>ph</a:t>
            </a:r>
            <a:r>
              <a:rPr sz="3375" spc="-4" dirty="0">
                <a:latin typeface="Gill Sans"/>
                <a:cs typeface="Gill Sans"/>
              </a:rPr>
              <a:t>i</a:t>
            </a:r>
            <a:r>
              <a:rPr sz="3375" spc="-18" dirty="0">
                <a:latin typeface="Gill Sans"/>
                <a:cs typeface="Gill Sans"/>
              </a:rPr>
              <a:t>c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ranges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a</a:t>
            </a:r>
            <a:r>
              <a:rPr sz="3375" dirty="0">
                <a:latin typeface="Gill Sans"/>
                <a:cs typeface="Gill Sans"/>
              </a:rPr>
              <a:t>t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the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t</a:t>
            </a:r>
            <a:r>
              <a:rPr sz="3375" spc="-4" dirty="0">
                <a:latin typeface="Gill Sans"/>
                <a:cs typeface="Gill Sans"/>
              </a:rPr>
              <a:t>i</a:t>
            </a:r>
            <a:r>
              <a:rPr sz="3375" spc="-18" dirty="0">
                <a:latin typeface="Gill Sans"/>
                <a:cs typeface="Gill Sans"/>
              </a:rPr>
              <a:t>ps</a:t>
            </a:r>
            <a:endParaRPr sz="3375" dirty="0">
              <a:latin typeface="Gill Sans"/>
              <a:cs typeface="Gill Sans"/>
            </a:endParaRPr>
          </a:p>
          <a:p>
            <a:pPr>
              <a:spcBef>
                <a:spcPts val="5"/>
              </a:spcBef>
            </a:pPr>
            <a:endParaRPr sz="3199" dirty="0">
              <a:latin typeface="Times New Roman"/>
              <a:cs typeface="Times New Roman"/>
            </a:endParaRPr>
          </a:p>
          <a:p>
            <a:pPr marL="8929"/>
            <a:r>
              <a:rPr sz="3375" b="1" spc="-4" dirty="0">
                <a:latin typeface="Gill Sans"/>
                <a:cs typeface="Gill Sans"/>
              </a:rPr>
              <a:t>3</a:t>
            </a:r>
            <a:r>
              <a:rPr sz="3375" b="1" spc="-11" dirty="0">
                <a:latin typeface="Gill Sans"/>
                <a:cs typeface="Gill Sans"/>
              </a:rPr>
              <a:t>.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spc="-21" dirty="0">
                <a:latin typeface="Gill Sans"/>
                <a:cs typeface="Gill Sans"/>
              </a:rPr>
              <a:t>Ass</a:t>
            </a:r>
            <a:r>
              <a:rPr sz="3375" b="1" spc="-4" dirty="0">
                <a:latin typeface="Gill Sans"/>
                <a:cs typeface="Gill Sans"/>
              </a:rPr>
              <a:t>um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spc="-18" dirty="0">
                <a:latin typeface="Gill Sans"/>
                <a:cs typeface="Gill Sans"/>
              </a:rPr>
              <a:t>s</a:t>
            </a:r>
            <a:r>
              <a:rPr sz="3375" b="1" spc="-4" dirty="0">
                <a:latin typeface="Gill Sans"/>
                <a:cs typeface="Gill Sans"/>
              </a:rPr>
              <a:t>om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dirty="0">
                <a:latin typeface="Gill Sans"/>
                <a:cs typeface="Gill Sans"/>
              </a:rPr>
              <a:t>p</a:t>
            </a:r>
            <a:r>
              <a:rPr sz="3375" b="1" spc="-148" dirty="0">
                <a:latin typeface="Gill Sans"/>
                <a:cs typeface="Gill Sans"/>
              </a:rPr>
              <a:t>r</a:t>
            </a:r>
            <a:r>
              <a:rPr sz="3375" b="1" spc="-4" dirty="0">
                <a:latin typeface="Gill Sans"/>
                <a:cs typeface="Gill Sans"/>
              </a:rPr>
              <a:t>oc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18" dirty="0">
                <a:latin typeface="Gill Sans"/>
                <a:cs typeface="Gill Sans"/>
              </a:rPr>
              <a:t>ss(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18" dirty="0">
                <a:latin typeface="Gill Sans"/>
                <a:cs typeface="Gill Sans"/>
              </a:rPr>
              <a:t>s)</a:t>
            </a:r>
            <a:endParaRPr sz="3375" dirty="0">
              <a:latin typeface="Gill Sans"/>
              <a:cs typeface="Gill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891" y="4425845"/>
            <a:ext cx="3629471" cy="519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375" dirty="0">
                <a:latin typeface="Gill Sans"/>
                <a:cs typeface="Gill Sans"/>
              </a:rPr>
              <a:t>4.</a:t>
            </a:r>
            <a:r>
              <a:rPr sz="3375" spc="-340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Conduct</a:t>
            </a:r>
            <a:r>
              <a:rPr sz="3375" spc="-4" dirty="0">
                <a:latin typeface="Gill Sans"/>
                <a:cs typeface="Gill Sans"/>
              </a:rPr>
              <a:t> i</a:t>
            </a:r>
            <a:r>
              <a:rPr sz="3375" dirty="0">
                <a:latin typeface="Gill Sans"/>
                <a:cs typeface="Gill Sans"/>
              </a:rPr>
              <a:t>n</a:t>
            </a:r>
            <a:r>
              <a:rPr sz="3375" spc="-35" dirty="0">
                <a:latin typeface="Gill Sans"/>
                <a:cs typeface="Gill Sans"/>
              </a:rPr>
              <a:t>f</a:t>
            </a:r>
            <a:r>
              <a:rPr sz="3375" dirty="0">
                <a:latin typeface="Gill Sans"/>
                <a:cs typeface="Gill Sans"/>
              </a:rPr>
              <a:t>e</a:t>
            </a:r>
            <a:r>
              <a:rPr sz="3375" spc="-70" dirty="0">
                <a:latin typeface="Gill Sans"/>
                <a:cs typeface="Gill Sans"/>
              </a:rPr>
              <a:t>r</a:t>
            </a:r>
            <a:r>
              <a:rPr sz="3375" spc="-18" dirty="0">
                <a:latin typeface="Gill Sans"/>
                <a:cs typeface="Gill Sans"/>
              </a:rPr>
              <a:t>ence</a:t>
            </a:r>
            <a:endParaRPr sz="3375">
              <a:latin typeface="Gill Sans"/>
              <a:cs typeface="Gill Sa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61651" y="4799220"/>
            <a:ext cx="1437306" cy="18038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4338924" y="4764439"/>
            <a:ext cx="1428140" cy="19677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 txBox="1"/>
          <p:nvPr/>
        </p:nvSpPr>
        <p:spPr>
          <a:xfrm>
            <a:off x="4723805" y="4490462"/>
            <a:ext cx="492026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b="1" spc="-14" dirty="0">
                <a:latin typeface="Gill Sans"/>
                <a:cs typeface="Gill Sans"/>
              </a:rPr>
              <a:t>DEC</a:t>
            </a:r>
            <a:endParaRPr sz="1687">
              <a:latin typeface="Gill Sans"/>
              <a:cs typeface="Gill San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37572" y="4802659"/>
            <a:ext cx="1428094" cy="1787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9" name="object 9"/>
          <p:cNvSpPr txBox="1"/>
          <p:nvPr/>
        </p:nvSpPr>
        <p:spPr>
          <a:xfrm>
            <a:off x="6277570" y="4490462"/>
            <a:ext cx="599629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b="1" spc="-11" dirty="0">
                <a:latin typeface="Gill Sans"/>
                <a:cs typeface="Gill Sans"/>
              </a:rPr>
              <a:t>DI</a:t>
            </a:r>
            <a:r>
              <a:rPr sz="1687" b="1" spc="-137" dirty="0">
                <a:latin typeface="Gill Sans"/>
                <a:cs typeface="Gill Sans"/>
              </a:rPr>
              <a:t>V</a:t>
            </a:r>
            <a:r>
              <a:rPr sz="1687" b="1" dirty="0">
                <a:latin typeface="Gill Sans"/>
                <a:cs typeface="Gill Sans"/>
              </a:rPr>
              <a:t>A</a:t>
            </a:r>
            <a:endParaRPr sz="1687">
              <a:latin typeface="Gill Sans"/>
              <a:cs typeface="Gill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25953" y="4499392"/>
            <a:ext cx="951012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b="1" spc="-14" dirty="0">
                <a:latin typeface="Gill Sans"/>
                <a:cs typeface="Gill Sans"/>
              </a:rPr>
              <a:t>BayA</a:t>
            </a:r>
            <a:r>
              <a:rPr sz="1687" b="1" spc="-74" dirty="0">
                <a:latin typeface="Gill Sans"/>
                <a:cs typeface="Gill Sans"/>
              </a:rPr>
              <a:t>r</a:t>
            </a:r>
            <a:r>
              <a:rPr sz="1687" b="1" dirty="0">
                <a:latin typeface="Gill Sans"/>
                <a:cs typeface="Gill Sans"/>
              </a:rPr>
              <a:t>e</a:t>
            </a:r>
            <a:r>
              <a:rPr sz="1687" b="1" spc="-11" dirty="0">
                <a:latin typeface="Gill Sans"/>
                <a:cs typeface="Gill Sans"/>
              </a:rPr>
              <a:t>a</a:t>
            </a:r>
            <a:endParaRPr sz="1687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8859" y="1323101"/>
            <a:ext cx="5036344" cy="50363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 txBox="1"/>
          <p:nvPr/>
        </p:nvSpPr>
        <p:spPr>
          <a:xfrm>
            <a:off x="17860" y="4839056"/>
            <a:ext cx="8830121" cy="1998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4774" marR="3572">
              <a:lnSpc>
                <a:spcPts val="1617"/>
              </a:lnSpc>
            </a:pPr>
            <a:r>
              <a:rPr sz="1406" b="1" spc="-7" dirty="0">
                <a:latin typeface="Times New Roman"/>
                <a:cs typeface="Times New Roman"/>
              </a:rPr>
              <a:t>Figu</a:t>
            </a:r>
            <a:r>
              <a:rPr sz="1406" b="1" spc="-35" dirty="0">
                <a:latin typeface="Times New Roman"/>
                <a:cs typeface="Times New Roman"/>
              </a:rPr>
              <a:t>r</a:t>
            </a:r>
            <a:r>
              <a:rPr sz="1406" b="1" spc="-7" dirty="0">
                <a:latin typeface="Times New Roman"/>
                <a:cs typeface="Times New Roman"/>
              </a:rPr>
              <a:t>e</a:t>
            </a:r>
            <a:r>
              <a:rPr sz="1406" b="1" dirty="0">
                <a:latin typeface="Times New Roman"/>
                <a:cs typeface="Times New Roman"/>
              </a:rPr>
              <a:t> 1. </a:t>
            </a:r>
            <a:r>
              <a:rPr sz="1406" dirty="0">
                <a:latin typeface="Times New Roman"/>
                <a:cs typeface="Times New Roman"/>
              </a:rPr>
              <a:t>S</a:t>
            </a:r>
            <a:r>
              <a:rPr sz="1406" spc="-7" dirty="0">
                <a:latin typeface="Times New Roman"/>
                <a:cs typeface="Times New Roman"/>
              </a:rPr>
              <a:t>ee</a:t>
            </a:r>
            <a:r>
              <a:rPr sz="1406" dirty="0">
                <a:latin typeface="Times New Roman"/>
                <a:cs typeface="Times New Roman"/>
              </a:rPr>
              <a:t>d </a:t>
            </a:r>
            <a:r>
              <a:rPr sz="1406" spc="-7" dirty="0">
                <a:latin typeface="Times New Roman"/>
                <a:cs typeface="Times New Roman"/>
              </a:rPr>
              <a:t>cone</a:t>
            </a:r>
            <a:r>
              <a:rPr sz="1406" dirty="0">
                <a:latin typeface="Times New Roman"/>
                <a:cs typeface="Times New Roman"/>
              </a:rPr>
              <a:t> </a:t>
            </a:r>
            <a:r>
              <a:rPr sz="1406" spc="-7" dirty="0">
                <a:latin typeface="Times New Roman"/>
                <a:cs typeface="Times New Roman"/>
              </a:rPr>
              <a:t>variabilit</a:t>
            </a:r>
            <a:r>
              <a:rPr sz="1406" dirty="0">
                <a:latin typeface="Times New Roman"/>
                <a:cs typeface="Times New Roman"/>
              </a:rPr>
              <a:t>y </a:t>
            </a:r>
            <a:r>
              <a:rPr sz="1406" spc="-7" dirty="0">
                <a:latin typeface="Times New Roman"/>
                <a:cs typeface="Times New Roman"/>
              </a:rPr>
              <a:t>i</a:t>
            </a:r>
            <a:r>
              <a:rPr sz="1406" dirty="0">
                <a:latin typeface="Times New Roman"/>
                <a:cs typeface="Times New Roman"/>
              </a:rPr>
              <a:t>n </a:t>
            </a:r>
            <a:r>
              <a:rPr sz="1406" spc="-7" dirty="0">
                <a:latin typeface="Times New Roman"/>
                <a:cs typeface="Times New Roman"/>
              </a:rPr>
              <a:t>the</a:t>
            </a:r>
            <a:r>
              <a:rPr sz="1406" spc="-4" dirty="0">
                <a:latin typeface="Times New Roman"/>
                <a:cs typeface="Times New Roman"/>
              </a:rPr>
              <a:t> </a:t>
            </a:r>
            <a:r>
              <a:rPr sz="1406" dirty="0">
                <a:latin typeface="Times New Roman"/>
                <a:cs typeface="Times New Roman"/>
              </a:rPr>
              <a:t>P</a:t>
            </a:r>
            <a:r>
              <a:rPr sz="1406" spc="-7" dirty="0">
                <a:latin typeface="Times New Roman"/>
                <a:cs typeface="Times New Roman"/>
              </a:rPr>
              <a:t>odocarpaceae</a:t>
            </a:r>
            <a:r>
              <a:rPr sz="1406" dirty="0">
                <a:latin typeface="Times New Roman"/>
                <a:cs typeface="Times New Roman"/>
              </a:rPr>
              <a:t>. </a:t>
            </a:r>
            <a:r>
              <a:rPr sz="1406" b="1" dirty="0">
                <a:latin typeface="Times New Roman"/>
                <a:cs typeface="Times New Roman"/>
              </a:rPr>
              <a:t>a </a:t>
            </a:r>
            <a:r>
              <a:rPr sz="1406" i="1" spc="-11" dirty="0">
                <a:latin typeface="Times New Roman"/>
                <a:cs typeface="Times New Roman"/>
              </a:rPr>
              <a:t>Podoc</a:t>
            </a:r>
            <a:r>
              <a:rPr sz="1406" i="1" dirty="0">
                <a:latin typeface="Times New Roman"/>
                <a:cs typeface="Times New Roman"/>
              </a:rPr>
              <a:t>arpus m</a:t>
            </a:r>
            <a:r>
              <a:rPr sz="1406" i="1" spc="-7" dirty="0">
                <a:latin typeface="Times New Roman"/>
                <a:cs typeface="Times New Roman"/>
              </a:rPr>
              <a:t>ac</a:t>
            </a:r>
            <a:r>
              <a:rPr sz="1406" i="1" spc="-53" dirty="0">
                <a:latin typeface="Times New Roman"/>
                <a:cs typeface="Times New Roman"/>
              </a:rPr>
              <a:t>r</a:t>
            </a:r>
            <a:r>
              <a:rPr sz="1406" i="1" spc="-7" dirty="0">
                <a:latin typeface="Times New Roman"/>
                <a:cs typeface="Times New Roman"/>
              </a:rPr>
              <a:t>ophyll</a:t>
            </a:r>
            <a:r>
              <a:rPr sz="1406" i="1" dirty="0">
                <a:latin typeface="Times New Roman"/>
                <a:cs typeface="Times New Roman"/>
              </a:rPr>
              <a:t>us</a:t>
            </a:r>
            <a:r>
              <a:rPr sz="1406" dirty="0">
                <a:latin typeface="Times New Roman"/>
                <a:cs typeface="Times New Roman"/>
              </a:rPr>
              <a:t>, </a:t>
            </a:r>
            <a:r>
              <a:rPr sz="1406" b="1" dirty="0">
                <a:latin typeface="Times New Roman"/>
                <a:cs typeface="Times New Roman"/>
              </a:rPr>
              <a:t>b </a:t>
            </a:r>
            <a:r>
              <a:rPr sz="1406" i="1" spc="-11" dirty="0">
                <a:latin typeface="Times New Roman"/>
                <a:cs typeface="Times New Roman"/>
              </a:rPr>
              <a:t>Podoc</a:t>
            </a:r>
            <a:r>
              <a:rPr sz="1406" i="1" dirty="0">
                <a:latin typeface="Times New Roman"/>
                <a:cs typeface="Times New Roman"/>
              </a:rPr>
              <a:t>arpus </a:t>
            </a:r>
            <a:r>
              <a:rPr sz="1406" i="1" spc="-7" dirty="0">
                <a:latin typeface="Times New Roman"/>
                <a:cs typeface="Times New Roman"/>
              </a:rPr>
              <a:t>nivali</a:t>
            </a:r>
            <a:r>
              <a:rPr sz="1406" i="1" dirty="0">
                <a:latin typeface="Times New Roman"/>
                <a:cs typeface="Times New Roman"/>
              </a:rPr>
              <a:t>s</a:t>
            </a:r>
            <a:r>
              <a:rPr sz="1406" dirty="0">
                <a:latin typeface="Times New Roman"/>
                <a:cs typeface="Times New Roman"/>
              </a:rPr>
              <a:t>, </a:t>
            </a:r>
            <a:r>
              <a:rPr sz="1406" b="1" spc="-7" dirty="0">
                <a:latin typeface="Times New Roman"/>
                <a:cs typeface="Times New Roman"/>
              </a:rPr>
              <a:t>c</a:t>
            </a:r>
            <a:r>
              <a:rPr sz="1406" b="1" dirty="0">
                <a:latin typeface="Times New Roman"/>
                <a:cs typeface="Times New Roman"/>
              </a:rPr>
              <a:t> </a:t>
            </a:r>
            <a:r>
              <a:rPr sz="1406" i="1" spc="-7" dirty="0">
                <a:latin typeface="Times New Roman"/>
                <a:cs typeface="Times New Roman"/>
              </a:rPr>
              <a:t>Phyllocl</a:t>
            </a:r>
            <a:r>
              <a:rPr sz="1406" i="1" dirty="0">
                <a:latin typeface="Times New Roman"/>
                <a:cs typeface="Times New Roman"/>
              </a:rPr>
              <a:t>adus as</a:t>
            </a:r>
            <a:r>
              <a:rPr sz="1406" i="1" spc="-7" dirty="0">
                <a:latin typeface="Times New Roman"/>
                <a:cs typeface="Times New Roman"/>
              </a:rPr>
              <a:t>plenifoli</a:t>
            </a:r>
            <a:r>
              <a:rPr sz="1406" i="1" dirty="0">
                <a:latin typeface="Times New Roman"/>
                <a:cs typeface="Times New Roman"/>
              </a:rPr>
              <a:t>us</a:t>
            </a:r>
            <a:r>
              <a:rPr sz="1406" dirty="0">
                <a:latin typeface="Times New Roman"/>
                <a:cs typeface="Times New Roman"/>
              </a:rPr>
              <a:t>, </a:t>
            </a:r>
            <a:r>
              <a:rPr sz="1406" b="1" dirty="0">
                <a:latin typeface="Times New Roman"/>
                <a:cs typeface="Times New Roman"/>
              </a:rPr>
              <a:t>d </a:t>
            </a:r>
            <a:r>
              <a:rPr sz="1406" i="1" spc="-11" dirty="0">
                <a:latin typeface="Times New Roman"/>
                <a:cs typeface="Times New Roman"/>
              </a:rPr>
              <a:t>Mic</a:t>
            </a:r>
            <a:r>
              <a:rPr sz="1406" i="1" spc="-53" dirty="0">
                <a:latin typeface="Times New Roman"/>
                <a:cs typeface="Times New Roman"/>
              </a:rPr>
              <a:t>r</a:t>
            </a:r>
            <a:r>
              <a:rPr sz="1406" i="1" spc="-7" dirty="0">
                <a:latin typeface="Times New Roman"/>
                <a:cs typeface="Times New Roman"/>
              </a:rPr>
              <a:t>ocachy</a:t>
            </a:r>
            <a:r>
              <a:rPr sz="1406" i="1" dirty="0">
                <a:latin typeface="Times New Roman"/>
                <a:cs typeface="Times New Roman"/>
              </a:rPr>
              <a:t>s </a:t>
            </a:r>
            <a:r>
              <a:rPr sz="1406" i="1" spc="-7" dirty="0">
                <a:latin typeface="Times New Roman"/>
                <a:cs typeface="Times New Roman"/>
              </a:rPr>
              <a:t>tet</a:t>
            </a:r>
            <a:r>
              <a:rPr sz="1406" i="1" dirty="0">
                <a:latin typeface="Times New Roman"/>
                <a:cs typeface="Times New Roman"/>
              </a:rPr>
              <a:t>ragona</a:t>
            </a:r>
            <a:r>
              <a:rPr sz="1406" dirty="0">
                <a:latin typeface="Times New Roman"/>
                <a:cs typeface="Times New Roman"/>
              </a:rPr>
              <a:t>, </a:t>
            </a:r>
            <a:r>
              <a:rPr sz="1406" b="1" spc="-7" dirty="0">
                <a:latin typeface="Times New Roman"/>
                <a:cs typeface="Times New Roman"/>
              </a:rPr>
              <a:t>e </a:t>
            </a:r>
            <a:r>
              <a:rPr sz="1406" i="1" dirty="0">
                <a:latin typeface="Times New Roman"/>
                <a:cs typeface="Times New Roman"/>
              </a:rPr>
              <a:t>D</a:t>
            </a:r>
            <a:r>
              <a:rPr sz="1406" i="1" spc="-7" dirty="0">
                <a:latin typeface="Times New Roman"/>
                <a:cs typeface="Times New Roman"/>
              </a:rPr>
              <a:t>ac</a:t>
            </a:r>
            <a:r>
              <a:rPr sz="1406" i="1" dirty="0">
                <a:latin typeface="Times New Roman"/>
                <a:cs typeface="Times New Roman"/>
              </a:rPr>
              <a:t>r</a:t>
            </a:r>
            <a:r>
              <a:rPr sz="1406" i="1" spc="-7" dirty="0">
                <a:latin typeface="Times New Roman"/>
                <a:cs typeface="Times New Roman"/>
              </a:rPr>
              <a:t>yc</a:t>
            </a:r>
            <a:r>
              <a:rPr sz="1406" i="1" dirty="0">
                <a:latin typeface="Times New Roman"/>
                <a:cs typeface="Times New Roman"/>
              </a:rPr>
              <a:t>arpus </a:t>
            </a:r>
            <a:r>
              <a:rPr sz="1406" i="1" spc="-7" dirty="0">
                <a:latin typeface="Times New Roman"/>
                <a:cs typeface="Times New Roman"/>
              </a:rPr>
              <a:t>dac</a:t>
            </a:r>
            <a:r>
              <a:rPr sz="1406" i="1" dirty="0">
                <a:latin typeface="Times New Roman"/>
                <a:cs typeface="Times New Roman"/>
              </a:rPr>
              <a:t>r</a:t>
            </a:r>
            <a:r>
              <a:rPr sz="1406" i="1" spc="-7" dirty="0">
                <a:latin typeface="Times New Roman"/>
                <a:cs typeface="Times New Roman"/>
              </a:rPr>
              <a:t>ydioide</a:t>
            </a:r>
            <a:r>
              <a:rPr sz="1406" i="1" dirty="0">
                <a:latin typeface="Times New Roman"/>
                <a:cs typeface="Times New Roman"/>
              </a:rPr>
              <a:t>s </a:t>
            </a:r>
            <a:r>
              <a:rPr sz="1406" b="1" dirty="0">
                <a:latin typeface="Times New Roman"/>
                <a:cs typeface="Times New Roman"/>
              </a:rPr>
              <a:t>f </a:t>
            </a:r>
            <a:r>
              <a:rPr sz="1406" i="1" spc="-11" dirty="0">
                <a:latin typeface="Times New Roman"/>
                <a:cs typeface="Times New Roman"/>
              </a:rPr>
              <a:t>Podoc</a:t>
            </a:r>
            <a:r>
              <a:rPr sz="1406" i="1" dirty="0">
                <a:latin typeface="Times New Roman"/>
                <a:cs typeface="Times New Roman"/>
              </a:rPr>
              <a:t>arpus </a:t>
            </a:r>
            <a:r>
              <a:rPr sz="1406" i="1" spc="-7" dirty="0">
                <a:latin typeface="Times New Roman"/>
                <a:cs typeface="Times New Roman"/>
              </a:rPr>
              <a:t>elat</a:t>
            </a:r>
            <a:r>
              <a:rPr sz="1406" i="1" dirty="0">
                <a:latin typeface="Times New Roman"/>
                <a:cs typeface="Times New Roman"/>
              </a:rPr>
              <a:t>us</a:t>
            </a:r>
            <a:r>
              <a:rPr sz="1406" dirty="0">
                <a:latin typeface="Times New Roman"/>
                <a:cs typeface="Times New Roman"/>
              </a:rPr>
              <a:t>, </a:t>
            </a:r>
            <a:r>
              <a:rPr sz="1406" b="1" dirty="0">
                <a:latin typeface="Times New Roman"/>
                <a:cs typeface="Times New Roman"/>
              </a:rPr>
              <a:t>g </a:t>
            </a:r>
            <a:r>
              <a:rPr sz="1406" i="1" spc="-7" dirty="0">
                <a:latin typeface="Times New Roman"/>
                <a:cs typeface="Times New Roman"/>
              </a:rPr>
              <a:t>Af</a:t>
            </a:r>
            <a:r>
              <a:rPr sz="1406" i="1" spc="-53" dirty="0">
                <a:latin typeface="Times New Roman"/>
                <a:cs typeface="Times New Roman"/>
              </a:rPr>
              <a:t>r</a:t>
            </a:r>
            <a:r>
              <a:rPr sz="1406" i="1" spc="-7" dirty="0">
                <a:latin typeface="Times New Roman"/>
                <a:cs typeface="Times New Roman"/>
              </a:rPr>
              <a:t>oc</a:t>
            </a:r>
            <a:r>
              <a:rPr sz="1406" i="1" dirty="0">
                <a:latin typeface="Times New Roman"/>
                <a:cs typeface="Times New Roman"/>
              </a:rPr>
              <a:t>arpus </a:t>
            </a:r>
            <a:r>
              <a:rPr sz="1406" i="1" spc="-7" dirty="0">
                <a:latin typeface="Times New Roman"/>
                <a:cs typeface="Times New Roman"/>
              </a:rPr>
              <a:t>falcat</a:t>
            </a:r>
            <a:r>
              <a:rPr sz="1406" i="1" dirty="0">
                <a:latin typeface="Times New Roman"/>
                <a:cs typeface="Times New Roman"/>
              </a:rPr>
              <a:t>us</a:t>
            </a:r>
            <a:r>
              <a:rPr sz="1406" dirty="0">
                <a:latin typeface="Times New Roman"/>
                <a:cs typeface="Times New Roman"/>
              </a:rPr>
              <a:t>, </a:t>
            </a:r>
            <a:r>
              <a:rPr sz="1406" b="1" dirty="0">
                <a:latin typeface="Times New Roman"/>
                <a:cs typeface="Times New Roman"/>
              </a:rPr>
              <a:t>h </a:t>
            </a:r>
            <a:r>
              <a:rPr sz="1406" i="1" spc="-7" dirty="0">
                <a:latin typeface="Times New Roman"/>
                <a:cs typeface="Times New Roman"/>
              </a:rPr>
              <a:t>Saxegothae</a:t>
            </a:r>
            <a:r>
              <a:rPr sz="1406" i="1" dirty="0">
                <a:latin typeface="Times New Roman"/>
                <a:cs typeface="Times New Roman"/>
              </a:rPr>
              <a:t>a </a:t>
            </a:r>
            <a:r>
              <a:rPr sz="1406" i="1" spc="-7" dirty="0">
                <a:latin typeface="Times New Roman"/>
                <a:cs typeface="Times New Roman"/>
              </a:rPr>
              <a:t>c</a:t>
            </a:r>
            <a:r>
              <a:rPr sz="1406" i="1" dirty="0">
                <a:latin typeface="Times New Roman"/>
                <a:cs typeface="Times New Roman"/>
              </a:rPr>
              <a:t>ons</a:t>
            </a:r>
            <a:r>
              <a:rPr sz="1406" i="1" spc="-7" dirty="0">
                <a:latin typeface="Times New Roman"/>
                <a:cs typeface="Times New Roman"/>
              </a:rPr>
              <a:t>pic</a:t>
            </a:r>
            <a:r>
              <a:rPr sz="1406" i="1" dirty="0">
                <a:latin typeface="Times New Roman"/>
                <a:cs typeface="Times New Roman"/>
              </a:rPr>
              <a:t>ua</a:t>
            </a:r>
            <a:r>
              <a:rPr sz="1406" dirty="0">
                <a:latin typeface="Times New Roman"/>
                <a:cs typeface="Times New Roman"/>
              </a:rPr>
              <a:t>, </a:t>
            </a:r>
            <a:r>
              <a:rPr sz="1406" b="1" spc="-7" dirty="0">
                <a:latin typeface="Times New Roman"/>
                <a:cs typeface="Times New Roman"/>
              </a:rPr>
              <a:t>i</a:t>
            </a:r>
            <a:r>
              <a:rPr sz="1406" b="1" dirty="0">
                <a:latin typeface="Times New Roman"/>
                <a:cs typeface="Times New Roman"/>
              </a:rPr>
              <a:t> </a:t>
            </a:r>
            <a:r>
              <a:rPr sz="1406" i="1" spc="-11" dirty="0">
                <a:latin typeface="Times New Roman"/>
                <a:cs typeface="Times New Roman"/>
              </a:rPr>
              <a:t>P</a:t>
            </a:r>
            <a:r>
              <a:rPr sz="1406" i="1" dirty="0">
                <a:latin typeface="Times New Roman"/>
                <a:cs typeface="Times New Roman"/>
              </a:rPr>
              <a:t>rum</a:t>
            </a:r>
            <a:r>
              <a:rPr sz="1406" i="1" spc="-7" dirty="0">
                <a:latin typeface="Times New Roman"/>
                <a:cs typeface="Times New Roman"/>
              </a:rPr>
              <a:t>nopity</a:t>
            </a:r>
            <a:r>
              <a:rPr sz="1406" i="1" dirty="0">
                <a:latin typeface="Times New Roman"/>
                <a:cs typeface="Times New Roman"/>
              </a:rPr>
              <a:t>s amara</a:t>
            </a:r>
            <a:r>
              <a:rPr sz="1406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</a:pPr>
            <a:endParaRPr sz="1406" dirty="0">
              <a:latin typeface="Times New Roman"/>
              <a:cs typeface="Times New Roman"/>
            </a:endParaRPr>
          </a:p>
          <a:p>
            <a:endParaRPr sz="1125" dirty="0">
              <a:latin typeface="Times New Roman"/>
              <a:cs typeface="Times New Roman"/>
            </a:endParaRPr>
          </a:p>
          <a:p>
            <a:pPr marL="8929"/>
            <a:r>
              <a:rPr lang="en-US" sz="1125" spc="-25" dirty="0">
                <a:latin typeface="Calibri"/>
                <a:cs typeface="Calibri"/>
              </a:rPr>
              <a:t>Kristina </a:t>
            </a:r>
            <a:r>
              <a:rPr sz="1125" spc="-7" dirty="0">
                <a:latin typeface="Calibri"/>
                <a:cs typeface="Calibri"/>
              </a:rPr>
              <a:t>K</a:t>
            </a:r>
            <a:r>
              <a:rPr sz="1125" dirty="0">
                <a:latin typeface="Calibri"/>
                <a:cs typeface="Calibri"/>
              </a:rPr>
              <a:t>laus</a:t>
            </a:r>
            <a:r>
              <a:rPr sz="1125" spc="-4" dirty="0">
                <a:latin typeface="Calibri"/>
                <a:cs typeface="Calibri"/>
              </a:rPr>
              <a:t>,</a:t>
            </a:r>
            <a:r>
              <a:rPr sz="1125" dirty="0">
                <a:latin typeface="Calibri"/>
                <a:cs typeface="Calibri"/>
              </a:rPr>
              <a:t> </a:t>
            </a:r>
            <a:r>
              <a:rPr sz="1125" spc="-11" dirty="0">
                <a:latin typeface="Calibri"/>
                <a:cs typeface="Calibri"/>
              </a:rPr>
              <a:t>N</a:t>
            </a:r>
            <a:r>
              <a:rPr sz="1125" dirty="0">
                <a:latin typeface="Calibri"/>
                <a:cs typeface="Calibri"/>
              </a:rPr>
              <a:t>i</a:t>
            </a:r>
            <a:r>
              <a:rPr sz="1125" spc="-7" dirty="0">
                <a:latin typeface="Calibri"/>
                <a:cs typeface="Calibri"/>
              </a:rPr>
              <a:t>ck</a:t>
            </a:r>
            <a:r>
              <a:rPr sz="1125" dirty="0">
                <a:latin typeface="Calibri"/>
                <a:cs typeface="Calibri"/>
              </a:rPr>
              <a:t> </a:t>
            </a:r>
            <a:r>
              <a:rPr sz="1125" spc="-11" dirty="0">
                <a:latin typeface="Calibri"/>
                <a:cs typeface="Calibri"/>
              </a:rPr>
              <a:t>M</a:t>
            </a:r>
            <a:r>
              <a:rPr sz="1125" spc="-18" dirty="0">
                <a:latin typeface="Calibri"/>
                <a:cs typeface="Calibri"/>
              </a:rPr>
              <a:t>a</a:t>
            </a:r>
            <a:r>
              <a:rPr sz="1125" spc="-7" dirty="0">
                <a:latin typeface="Calibri"/>
                <a:cs typeface="Calibri"/>
              </a:rPr>
              <a:t>tz</a:t>
            </a:r>
            <a:r>
              <a:rPr sz="1125" spc="-46" dirty="0">
                <a:latin typeface="Calibri"/>
                <a:cs typeface="Calibri"/>
              </a:rPr>
              <a:t>k</a:t>
            </a:r>
            <a:r>
              <a:rPr sz="1125" spc="-7" dirty="0">
                <a:latin typeface="Calibri"/>
                <a:cs typeface="Calibri"/>
              </a:rPr>
              <a:t>e</a:t>
            </a:r>
            <a:r>
              <a:rPr lang="en-US" sz="1125" spc="-7" dirty="0">
                <a:latin typeface="Calibri"/>
                <a:cs typeface="Calibri"/>
              </a:rPr>
              <a:t>, </a:t>
            </a:r>
            <a:r>
              <a:rPr lang="en-US" sz="1125" i="1" spc="-7" dirty="0">
                <a:latin typeface="Calibri"/>
                <a:cs typeface="Calibri"/>
              </a:rPr>
              <a:t>Systematic Biology</a:t>
            </a:r>
            <a:r>
              <a:rPr lang="en-US" sz="1125" spc="-7" dirty="0">
                <a:latin typeface="Calibri"/>
                <a:cs typeface="Calibri"/>
              </a:rPr>
              <a:t>, 2020</a:t>
            </a:r>
            <a:endParaRPr sz="1125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-1386673" y="225608"/>
            <a:ext cx="11294348" cy="7386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301456" marR="593803" indent="7143"/>
            <a:r>
              <a:rPr sz="2400" b="1" spc="-172" dirty="0"/>
              <a:t>T</a:t>
            </a:r>
            <a:r>
              <a:rPr sz="2400" b="1" dirty="0"/>
              <a:t>ra</a:t>
            </a:r>
            <a:r>
              <a:rPr sz="2400" b="1" spc="-14" dirty="0"/>
              <a:t>i</a:t>
            </a:r>
            <a:r>
              <a:rPr sz="2400" b="1" spc="-11" dirty="0"/>
              <a:t>t-</a:t>
            </a:r>
            <a:r>
              <a:rPr sz="2400" b="1" spc="-21" dirty="0"/>
              <a:t>d</a:t>
            </a:r>
            <a:r>
              <a:rPr sz="2400" b="1" dirty="0"/>
              <a:t>e</a:t>
            </a:r>
            <a:r>
              <a:rPr sz="2400" b="1" spc="-21" dirty="0"/>
              <a:t>p</a:t>
            </a:r>
            <a:r>
              <a:rPr sz="2400" b="1" dirty="0"/>
              <a:t>e</a:t>
            </a:r>
            <a:r>
              <a:rPr sz="2400" b="1" spc="-21" dirty="0"/>
              <a:t>nd</a:t>
            </a:r>
            <a:r>
              <a:rPr sz="2400" b="1" dirty="0"/>
              <a:t>e</a:t>
            </a:r>
            <a:r>
              <a:rPr sz="2400" b="1" spc="-21" dirty="0"/>
              <a:t>n</a:t>
            </a:r>
            <a:r>
              <a:rPr sz="2400" b="1" dirty="0"/>
              <a:t>t</a:t>
            </a:r>
            <a:r>
              <a:rPr sz="2400" b="1" spc="-4" dirty="0"/>
              <a:t> </a:t>
            </a:r>
            <a:r>
              <a:rPr sz="2400" b="1" spc="-18" dirty="0"/>
              <a:t>di</a:t>
            </a:r>
            <a:r>
              <a:rPr sz="2400" b="1" dirty="0"/>
              <a:t>s</a:t>
            </a:r>
            <a:r>
              <a:rPr sz="2400" b="1" spc="-21" dirty="0"/>
              <a:t>p</a:t>
            </a:r>
            <a:r>
              <a:rPr sz="2400" b="1" dirty="0"/>
              <a:t>ersa</a:t>
            </a:r>
            <a:r>
              <a:rPr sz="2400" b="1" spc="-11" dirty="0"/>
              <a:t>l</a:t>
            </a:r>
            <a:r>
              <a:rPr sz="2400" b="1" spc="-4" dirty="0"/>
              <a:t> </a:t>
            </a:r>
            <a:r>
              <a:rPr sz="2400" b="1" spc="-14" dirty="0"/>
              <a:t>i</a:t>
            </a:r>
            <a:r>
              <a:rPr sz="2400" b="1" spc="-18" dirty="0"/>
              <a:t>n</a:t>
            </a:r>
            <a:r>
              <a:rPr lang="en-US" sz="2400" b="1" spc="-14" dirty="0"/>
              <a:t> </a:t>
            </a:r>
            <a:r>
              <a:rPr sz="2400" b="1" spc="-14" dirty="0" err="1"/>
              <a:t>P</a:t>
            </a:r>
            <a:r>
              <a:rPr sz="2400" b="1" spc="-21" dirty="0" err="1"/>
              <a:t>odo</a:t>
            </a:r>
            <a:r>
              <a:rPr sz="2400" b="1" dirty="0" err="1"/>
              <a:t>car</a:t>
            </a:r>
            <a:r>
              <a:rPr sz="2400" b="1" spc="-21" dirty="0" err="1"/>
              <a:t>p</a:t>
            </a:r>
            <a:r>
              <a:rPr sz="2400" b="1" dirty="0" err="1"/>
              <a:t>aceae+Ara</a:t>
            </a:r>
            <a:r>
              <a:rPr sz="2400" b="1" spc="-21" dirty="0" err="1"/>
              <a:t>u</a:t>
            </a:r>
            <a:r>
              <a:rPr sz="2400" b="1" dirty="0" err="1"/>
              <a:t>car</a:t>
            </a:r>
            <a:r>
              <a:rPr sz="2400" b="1" spc="-14" dirty="0" err="1"/>
              <a:t>i</a:t>
            </a:r>
            <a:r>
              <a:rPr sz="2400" b="1" dirty="0" err="1"/>
              <a:t>aceae</a:t>
            </a:r>
            <a:endParaRPr sz="2400" b="1" dirty="0"/>
          </a:p>
          <a:p>
            <a:pPr marL="712117"/>
            <a:r>
              <a:rPr sz="2400" b="1" spc="-11" dirty="0"/>
              <a:t>(</a:t>
            </a:r>
            <a:r>
              <a:rPr sz="2400" b="1" spc="-21" dirty="0"/>
              <a:t>wi</a:t>
            </a:r>
            <a:r>
              <a:rPr sz="2400" b="1" spc="-14" dirty="0"/>
              <a:t>th</a:t>
            </a:r>
            <a:r>
              <a:rPr sz="2400" b="1" spc="-4" dirty="0"/>
              <a:t> </a:t>
            </a:r>
            <a:r>
              <a:rPr sz="2400" b="1" dirty="0"/>
              <a:t>Kr</a:t>
            </a:r>
            <a:r>
              <a:rPr sz="2400" b="1" spc="-14" dirty="0"/>
              <a:t>i</a:t>
            </a:r>
            <a:r>
              <a:rPr sz="2400" b="1" dirty="0"/>
              <a:t>s</a:t>
            </a:r>
            <a:r>
              <a:rPr sz="2400" b="1" spc="-11" dirty="0"/>
              <a:t>t</a:t>
            </a:r>
            <a:r>
              <a:rPr sz="2400" b="1" spc="-18" dirty="0"/>
              <a:t>in</a:t>
            </a:r>
            <a:r>
              <a:rPr sz="2400" b="1" dirty="0"/>
              <a:t>a</a:t>
            </a:r>
            <a:r>
              <a:rPr sz="2400" b="1" spc="-4" dirty="0"/>
              <a:t> </a:t>
            </a:r>
            <a:r>
              <a:rPr sz="2400" b="1" dirty="0"/>
              <a:t>K</a:t>
            </a:r>
            <a:r>
              <a:rPr sz="2400" b="1" spc="-14" dirty="0"/>
              <a:t>l</a:t>
            </a:r>
            <a:r>
              <a:rPr sz="2400" b="1" dirty="0"/>
              <a:t>a</a:t>
            </a:r>
            <a:r>
              <a:rPr sz="2400" b="1" spc="-21" dirty="0"/>
              <a:t>u</a:t>
            </a:r>
            <a:r>
              <a:rPr sz="2400" b="1" dirty="0"/>
              <a:t>s</a:t>
            </a:r>
            <a:r>
              <a:rPr sz="2400" b="1" spc="-11" dirty="0"/>
              <a:t>,</a:t>
            </a:r>
            <a:r>
              <a:rPr sz="2400" b="1" spc="-4" dirty="0"/>
              <a:t> </a:t>
            </a:r>
            <a:r>
              <a:rPr sz="2400" b="1" dirty="0"/>
              <a:t>U</a:t>
            </a:r>
            <a:r>
              <a:rPr sz="2400" b="1" spc="-18" dirty="0"/>
              <a:t>ni</a:t>
            </a:r>
            <a:r>
              <a:rPr sz="2400" b="1" spc="-207" dirty="0"/>
              <a:t>v</a:t>
            </a:r>
            <a:r>
              <a:rPr sz="2400" b="1" spc="-11" dirty="0"/>
              <a:t>.</a:t>
            </a:r>
            <a:r>
              <a:rPr sz="2400" b="1" spc="-4" dirty="0"/>
              <a:t> </a:t>
            </a:r>
            <a:r>
              <a:rPr sz="2400" b="1" spc="-21" dirty="0"/>
              <a:t>o</a:t>
            </a:r>
            <a:r>
              <a:rPr sz="2400" b="1" dirty="0"/>
              <a:t>f</a:t>
            </a:r>
            <a:r>
              <a:rPr sz="2400" b="1" spc="-4" dirty="0"/>
              <a:t> </a:t>
            </a:r>
            <a:r>
              <a:rPr sz="2400" b="1" dirty="0"/>
              <a:t>B</a:t>
            </a:r>
            <a:r>
              <a:rPr sz="2400" b="1" spc="-21" dirty="0"/>
              <a:t>o</a:t>
            </a:r>
            <a:r>
              <a:rPr sz="2400" b="1" dirty="0"/>
              <a:t>c</a:t>
            </a:r>
            <a:r>
              <a:rPr sz="2400" b="1" spc="-21" dirty="0"/>
              <a:t>hu</a:t>
            </a:r>
            <a:r>
              <a:rPr sz="2400" b="1" dirty="0"/>
              <a:t>m)</a:t>
            </a:r>
          </a:p>
        </p:txBody>
      </p:sp>
    </p:spTree>
    <p:extLst>
      <p:ext uri="{BB962C8B-B14F-4D97-AF65-F5344CB8AC3E}">
        <p14:creationId xmlns:p14="http://schemas.microsoft.com/office/powerpoint/2010/main" val="2081457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41852" y="1707349"/>
            <a:ext cx="2201168" cy="218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algn="just"/>
            <a:r>
              <a:rPr sz="2812" b="1" u="heavy" dirty="0">
                <a:latin typeface="Helvetica"/>
                <a:cs typeface="Helvetica"/>
              </a:rPr>
              <a:t>Hy</a:t>
            </a:r>
            <a:r>
              <a:rPr sz="2812" b="1" u="heavy" spc="-21" dirty="0">
                <a:latin typeface="Helvetica"/>
                <a:cs typeface="Helvetica"/>
              </a:rPr>
              <a:t>po</a:t>
            </a:r>
            <a:r>
              <a:rPr sz="2812" b="1" u="heavy" spc="-11" dirty="0">
                <a:latin typeface="Helvetica"/>
                <a:cs typeface="Helvetica"/>
              </a:rPr>
              <a:t>t</a:t>
            </a:r>
            <a:r>
              <a:rPr sz="2812" b="1" u="heavy" spc="-21" dirty="0">
                <a:latin typeface="Helvetica"/>
                <a:cs typeface="Helvetica"/>
              </a:rPr>
              <a:t>h</a:t>
            </a:r>
            <a:r>
              <a:rPr sz="2812" b="1" u="heavy" dirty="0">
                <a:latin typeface="Helvetica"/>
                <a:cs typeface="Helvetica"/>
              </a:rPr>
              <a:t>es</a:t>
            </a:r>
            <a:r>
              <a:rPr sz="2812" b="1" u="heavy" spc="-14" dirty="0">
                <a:latin typeface="Helvetica"/>
                <a:cs typeface="Helvetica"/>
              </a:rPr>
              <a:t>i</a:t>
            </a:r>
            <a:r>
              <a:rPr sz="2812" b="1" u="heavy" dirty="0">
                <a:latin typeface="Helvetica"/>
                <a:cs typeface="Helvetica"/>
              </a:rPr>
              <a:t>s</a:t>
            </a:r>
            <a:r>
              <a:rPr sz="2812" b="1" dirty="0">
                <a:latin typeface="Helvetica"/>
                <a:cs typeface="Helvetica"/>
              </a:rPr>
              <a:t>:</a:t>
            </a:r>
            <a:endParaRPr sz="2812">
              <a:latin typeface="Helvetica"/>
              <a:cs typeface="Helvetica"/>
            </a:endParaRPr>
          </a:p>
          <a:p>
            <a:pPr>
              <a:spcBef>
                <a:spcPts val="19"/>
              </a:spcBef>
            </a:pPr>
            <a:endParaRPr sz="2918">
              <a:latin typeface="Times New Roman"/>
              <a:cs typeface="Times New Roman"/>
            </a:endParaRPr>
          </a:p>
          <a:p>
            <a:pPr marL="8929" marR="3572" algn="just"/>
            <a:r>
              <a:rPr sz="2812" b="1" dirty="0">
                <a:latin typeface="Helvetica"/>
                <a:cs typeface="Helvetica"/>
              </a:rPr>
              <a:t>fleshy</a:t>
            </a:r>
            <a:r>
              <a:rPr sz="2812" b="1" spc="-7" dirty="0">
                <a:latin typeface="Helvetica"/>
                <a:cs typeface="Helvetica"/>
              </a:rPr>
              <a:t> </a:t>
            </a:r>
            <a:r>
              <a:rPr sz="2812" b="1" spc="-4" dirty="0">
                <a:latin typeface="Helvetica"/>
                <a:cs typeface="Helvetica"/>
              </a:rPr>
              <a:t>cones </a:t>
            </a:r>
            <a:r>
              <a:rPr sz="2812" b="1" spc="-18" dirty="0">
                <a:latin typeface="Helvetica"/>
                <a:cs typeface="Helvetica"/>
              </a:rPr>
              <a:t>wil</a:t>
            </a:r>
            <a:r>
              <a:rPr sz="2812" b="1" spc="-11" dirty="0">
                <a:latin typeface="Helvetica"/>
                <a:cs typeface="Helvetica"/>
              </a:rPr>
              <a:t>l</a:t>
            </a:r>
            <a:r>
              <a:rPr sz="2812" b="1" spc="-4" dirty="0">
                <a:latin typeface="Helvetica"/>
                <a:cs typeface="Helvetica"/>
              </a:rPr>
              <a:t> </a:t>
            </a:r>
            <a:r>
              <a:rPr sz="2812" b="1" spc="-21" dirty="0">
                <a:latin typeface="Helvetica"/>
                <a:cs typeface="Helvetica"/>
              </a:rPr>
              <a:t>b</a:t>
            </a:r>
            <a:r>
              <a:rPr sz="2812" b="1" dirty="0">
                <a:latin typeface="Helvetica"/>
                <a:cs typeface="Helvetica"/>
              </a:rPr>
              <a:t>e</a:t>
            </a:r>
            <a:r>
              <a:rPr sz="2812" b="1" spc="-4" dirty="0">
                <a:latin typeface="Helvetica"/>
                <a:cs typeface="Helvetica"/>
              </a:rPr>
              <a:t> </a:t>
            </a:r>
            <a:r>
              <a:rPr sz="2812" b="1" spc="-21" dirty="0">
                <a:latin typeface="Helvetica"/>
                <a:cs typeface="Helvetica"/>
              </a:rPr>
              <a:t>b</a:t>
            </a:r>
            <a:r>
              <a:rPr sz="2812" b="1" dirty="0">
                <a:latin typeface="Helvetica"/>
                <a:cs typeface="Helvetica"/>
              </a:rPr>
              <a:t>etter </a:t>
            </a:r>
            <a:r>
              <a:rPr sz="2812" b="1" spc="-4" dirty="0">
                <a:latin typeface="Helvetica"/>
                <a:cs typeface="Helvetica"/>
              </a:rPr>
              <a:t>dispersers</a:t>
            </a:r>
            <a:endParaRPr sz="2812">
              <a:latin typeface="Helvetica"/>
              <a:cs typeface="Helvetic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8859" y="1323101"/>
            <a:ext cx="5036344" cy="50363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 txBox="1"/>
          <p:nvPr/>
        </p:nvSpPr>
        <p:spPr>
          <a:xfrm>
            <a:off x="17860" y="4839056"/>
            <a:ext cx="8830121" cy="1998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64774" marR="3572">
              <a:lnSpc>
                <a:spcPts val="1617"/>
              </a:lnSpc>
            </a:pPr>
            <a:r>
              <a:rPr sz="1406" b="1" spc="-7" dirty="0">
                <a:latin typeface="Times New Roman"/>
                <a:cs typeface="Times New Roman"/>
              </a:rPr>
              <a:t>Figu</a:t>
            </a:r>
            <a:r>
              <a:rPr sz="1406" b="1" spc="-35" dirty="0">
                <a:latin typeface="Times New Roman"/>
                <a:cs typeface="Times New Roman"/>
              </a:rPr>
              <a:t>r</a:t>
            </a:r>
            <a:r>
              <a:rPr sz="1406" b="1" spc="-7" dirty="0">
                <a:latin typeface="Times New Roman"/>
                <a:cs typeface="Times New Roman"/>
              </a:rPr>
              <a:t>e</a:t>
            </a:r>
            <a:r>
              <a:rPr sz="1406" b="1" dirty="0">
                <a:latin typeface="Times New Roman"/>
                <a:cs typeface="Times New Roman"/>
              </a:rPr>
              <a:t> 1. </a:t>
            </a:r>
            <a:r>
              <a:rPr sz="1406" dirty="0">
                <a:latin typeface="Times New Roman"/>
                <a:cs typeface="Times New Roman"/>
              </a:rPr>
              <a:t>S</a:t>
            </a:r>
            <a:r>
              <a:rPr sz="1406" spc="-7" dirty="0">
                <a:latin typeface="Times New Roman"/>
                <a:cs typeface="Times New Roman"/>
              </a:rPr>
              <a:t>ee</a:t>
            </a:r>
            <a:r>
              <a:rPr sz="1406" dirty="0">
                <a:latin typeface="Times New Roman"/>
                <a:cs typeface="Times New Roman"/>
              </a:rPr>
              <a:t>d </a:t>
            </a:r>
            <a:r>
              <a:rPr sz="1406" spc="-7" dirty="0">
                <a:latin typeface="Times New Roman"/>
                <a:cs typeface="Times New Roman"/>
              </a:rPr>
              <a:t>cone</a:t>
            </a:r>
            <a:r>
              <a:rPr sz="1406" dirty="0">
                <a:latin typeface="Times New Roman"/>
                <a:cs typeface="Times New Roman"/>
              </a:rPr>
              <a:t> </a:t>
            </a:r>
            <a:r>
              <a:rPr sz="1406" spc="-7" dirty="0">
                <a:latin typeface="Times New Roman"/>
                <a:cs typeface="Times New Roman"/>
              </a:rPr>
              <a:t>variabilit</a:t>
            </a:r>
            <a:r>
              <a:rPr sz="1406" dirty="0">
                <a:latin typeface="Times New Roman"/>
                <a:cs typeface="Times New Roman"/>
              </a:rPr>
              <a:t>y </a:t>
            </a:r>
            <a:r>
              <a:rPr sz="1406" spc="-7" dirty="0">
                <a:latin typeface="Times New Roman"/>
                <a:cs typeface="Times New Roman"/>
              </a:rPr>
              <a:t>i</a:t>
            </a:r>
            <a:r>
              <a:rPr sz="1406" dirty="0">
                <a:latin typeface="Times New Roman"/>
                <a:cs typeface="Times New Roman"/>
              </a:rPr>
              <a:t>n </a:t>
            </a:r>
            <a:r>
              <a:rPr sz="1406" spc="-7" dirty="0">
                <a:latin typeface="Times New Roman"/>
                <a:cs typeface="Times New Roman"/>
              </a:rPr>
              <a:t>the</a:t>
            </a:r>
            <a:r>
              <a:rPr sz="1406" spc="-4" dirty="0">
                <a:latin typeface="Times New Roman"/>
                <a:cs typeface="Times New Roman"/>
              </a:rPr>
              <a:t> </a:t>
            </a:r>
            <a:r>
              <a:rPr sz="1406" dirty="0">
                <a:latin typeface="Times New Roman"/>
                <a:cs typeface="Times New Roman"/>
              </a:rPr>
              <a:t>P</a:t>
            </a:r>
            <a:r>
              <a:rPr sz="1406" spc="-7" dirty="0">
                <a:latin typeface="Times New Roman"/>
                <a:cs typeface="Times New Roman"/>
              </a:rPr>
              <a:t>odocarpaceae</a:t>
            </a:r>
            <a:r>
              <a:rPr sz="1406" dirty="0">
                <a:latin typeface="Times New Roman"/>
                <a:cs typeface="Times New Roman"/>
              </a:rPr>
              <a:t>. </a:t>
            </a:r>
            <a:r>
              <a:rPr sz="1406" b="1" dirty="0">
                <a:latin typeface="Times New Roman"/>
                <a:cs typeface="Times New Roman"/>
              </a:rPr>
              <a:t>a </a:t>
            </a:r>
            <a:r>
              <a:rPr sz="1406" i="1" spc="-11" dirty="0">
                <a:latin typeface="Times New Roman"/>
                <a:cs typeface="Times New Roman"/>
              </a:rPr>
              <a:t>Podoc</a:t>
            </a:r>
            <a:r>
              <a:rPr sz="1406" i="1" dirty="0">
                <a:latin typeface="Times New Roman"/>
                <a:cs typeface="Times New Roman"/>
              </a:rPr>
              <a:t>arpus m</a:t>
            </a:r>
            <a:r>
              <a:rPr sz="1406" i="1" spc="-7" dirty="0">
                <a:latin typeface="Times New Roman"/>
                <a:cs typeface="Times New Roman"/>
              </a:rPr>
              <a:t>ac</a:t>
            </a:r>
            <a:r>
              <a:rPr sz="1406" i="1" spc="-53" dirty="0">
                <a:latin typeface="Times New Roman"/>
                <a:cs typeface="Times New Roman"/>
              </a:rPr>
              <a:t>r</a:t>
            </a:r>
            <a:r>
              <a:rPr sz="1406" i="1" spc="-7" dirty="0">
                <a:latin typeface="Times New Roman"/>
                <a:cs typeface="Times New Roman"/>
              </a:rPr>
              <a:t>ophyll</a:t>
            </a:r>
            <a:r>
              <a:rPr sz="1406" i="1" dirty="0">
                <a:latin typeface="Times New Roman"/>
                <a:cs typeface="Times New Roman"/>
              </a:rPr>
              <a:t>us</a:t>
            </a:r>
            <a:r>
              <a:rPr sz="1406" dirty="0">
                <a:latin typeface="Times New Roman"/>
                <a:cs typeface="Times New Roman"/>
              </a:rPr>
              <a:t>, </a:t>
            </a:r>
            <a:r>
              <a:rPr sz="1406" b="1" dirty="0">
                <a:latin typeface="Times New Roman"/>
                <a:cs typeface="Times New Roman"/>
              </a:rPr>
              <a:t>b </a:t>
            </a:r>
            <a:r>
              <a:rPr sz="1406" i="1" spc="-11" dirty="0">
                <a:latin typeface="Times New Roman"/>
                <a:cs typeface="Times New Roman"/>
              </a:rPr>
              <a:t>Podoc</a:t>
            </a:r>
            <a:r>
              <a:rPr sz="1406" i="1" dirty="0">
                <a:latin typeface="Times New Roman"/>
                <a:cs typeface="Times New Roman"/>
              </a:rPr>
              <a:t>arpus </a:t>
            </a:r>
            <a:r>
              <a:rPr sz="1406" i="1" spc="-7" dirty="0">
                <a:latin typeface="Times New Roman"/>
                <a:cs typeface="Times New Roman"/>
              </a:rPr>
              <a:t>nivali</a:t>
            </a:r>
            <a:r>
              <a:rPr sz="1406" i="1" dirty="0">
                <a:latin typeface="Times New Roman"/>
                <a:cs typeface="Times New Roman"/>
              </a:rPr>
              <a:t>s</a:t>
            </a:r>
            <a:r>
              <a:rPr sz="1406" dirty="0">
                <a:latin typeface="Times New Roman"/>
                <a:cs typeface="Times New Roman"/>
              </a:rPr>
              <a:t>, </a:t>
            </a:r>
            <a:r>
              <a:rPr sz="1406" b="1" spc="-7" dirty="0">
                <a:latin typeface="Times New Roman"/>
                <a:cs typeface="Times New Roman"/>
              </a:rPr>
              <a:t>c</a:t>
            </a:r>
            <a:r>
              <a:rPr sz="1406" b="1" dirty="0">
                <a:latin typeface="Times New Roman"/>
                <a:cs typeface="Times New Roman"/>
              </a:rPr>
              <a:t> </a:t>
            </a:r>
            <a:r>
              <a:rPr sz="1406" i="1" spc="-7" dirty="0">
                <a:latin typeface="Times New Roman"/>
                <a:cs typeface="Times New Roman"/>
              </a:rPr>
              <a:t>Phyllocl</a:t>
            </a:r>
            <a:r>
              <a:rPr sz="1406" i="1" dirty="0">
                <a:latin typeface="Times New Roman"/>
                <a:cs typeface="Times New Roman"/>
              </a:rPr>
              <a:t>adus as</a:t>
            </a:r>
            <a:r>
              <a:rPr sz="1406" i="1" spc="-7" dirty="0">
                <a:latin typeface="Times New Roman"/>
                <a:cs typeface="Times New Roman"/>
              </a:rPr>
              <a:t>plenifoli</a:t>
            </a:r>
            <a:r>
              <a:rPr sz="1406" i="1" dirty="0">
                <a:latin typeface="Times New Roman"/>
                <a:cs typeface="Times New Roman"/>
              </a:rPr>
              <a:t>us</a:t>
            </a:r>
            <a:r>
              <a:rPr sz="1406" dirty="0">
                <a:latin typeface="Times New Roman"/>
                <a:cs typeface="Times New Roman"/>
              </a:rPr>
              <a:t>, </a:t>
            </a:r>
            <a:r>
              <a:rPr sz="1406" b="1" dirty="0">
                <a:latin typeface="Times New Roman"/>
                <a:cs typeface="Times New Roman"/>
              </a:rPr>
              <a:t>d </a:t>
            </a:r>
            <a:r>
              <a:rPr sz="1406" i="1" spc="-11" dirty="0">
                <a:latin typeface="Times New Roman"/>
                <a:cs typeface="Times New Roman"/>
              </a:rPr>
              <a:t>Mic</a:t>
            </a:r>
            <a:r>
              <a:rPr sz="1406" i="1" spc="-53" dirty="0">
                <a:latin typeface="Times New Roman"/>
                <a:cs typeface="Times New Roman"/>
              </a:rPr>
              <a:t>r</a:t>
            </a:r>
            <a:r>
              <a:rPr sz="1406" i="1" spc="-7" dirty="0">
                <a:latin typeface="Times New Roman"/>
                <a:cs typeface="Times New Roman"/>
              </a:rPr>
              <a:t>ocachy</a:t>
            </a:r>
            <a:r>
              <a:rPr sz="1406" i="1" dirty="0">
                <a:latin typeface="Times New Roman"/>
                <a:cs typeface="Times New Roman"/>
              </a:rPr>
              <a:t>s </a:t>
            </a:r>
            <a:r>
              <a:rPr sz="1406" i="1" spc="-7" dirty="0">
                <a:latin typeface="Times New Roman"/>
                <a:cs typeface="Times New Roman"/>
              </a:rPr>
              <a:t>tet</a:t>
            </a:r>
            <a:r>
              <a:rPr sz="1406" i="1" dirty="0">
                <a:latin typeface="Times New Roman"/>
                <a:cs typeface="Times New Roman"/>
              </a:rPr>
              <a:t>ragona</a:t>
            </a:r>
            <a:r>
              <a:rPr sz="1406" dirty="0">
                <a:latin typeface="Times New Roman"/>
                <a:cs typeface="Times New Roman"/>
              </a:rPr>
              <a:t>, </a:t>
            </a:r>
            <a:r>
              <a:rPr sz="1406" b="1" spc="-7" dirty="0">
                <a:latin typeface="Times New Roman"/>
                <a:cs typeface="Times New Roman"/>
              </a:rPr>
              <a:t>e </a:t>
            </a:r>
            <a:r>
              <a:rPr sz="1406" i="1" dirty="0">
                <a:latin typeface="Times New Roman"/>
                <a:cs typeface="Times New Roman"/>
              </a:rPr>
              <a:t>D</a:t>
            </a:r>
            <a:r>
              <a:rPr sz="1406" i="1" spc="-7" dirty="0">
                <a:latin typeface="Times New Roman"/>
                <a:cs typeface="Times New Roman"/>
              </a:rPr>
              <a:t>ac</a:t>
            </a:r>
            <a:r>
              <a:rPr sz="1406" i="1" dirty="0">
                <a:latin typeface="Times New Roman"/>
                <a:cs typeface="Times New Roman"/>
              </a:rPr>
              <a:t>r</a:t>
            </a:r>
            <a:r>
              <a:rPr sz="1406" i="1" spc="-7" dirty="0">
                <a:latin typeface="Times New Roman"/>
                <a:cs typeface="Times New Roman"/>
              </a:rPr>
              <a:t>yc</a:t>
            </a:r>
            <a:r>
              <a:rPr sz="1406" i="1" dirty="0">
                <a:latin typeface="Times New Roman"/>
                <a:cs typeface="Times New Roman"/>
              </a:rPr>
              <a:t>arpus </a:t>
            </a:r>
            <a:r>
              <a:rPr sz="1406" i="1" spc="-7" dirty="0">
                <a:latin typeface="Times New Roman"/>
                <a:cs typeface="Times New Roman"/>
              </a:rPr>
              <a:t>dac</a:t>
            </a:r>
            <a:r>
              <a:rPr sz="1406" i="1" dirty="0">
                <a:latin typeface="Times New Roman"/>
                <a:cs typeface="Times New Roman"/>
              </a:rPr>
              <a:t>r</a:t>
            </a:r>
            <a:r>
              <a:rPr sz="1406" i="1" spc="-7" dirty="0">
                <a:latin typeface="Times New Roman"/>
                <a:cs typeface="Times New Roman"/>
              </a:rPr>
              <a:t>ydioide</a:t>
            </a:r>
            <a:r>
              <a:rPr sz="1406" i="1" dirty="0">
                <a:latin typeface="Times New Roman"/>
                <a:cs typeface="Times New Roman"/>
              </a:rPr>
              <a:t>s </a:t>
            </a:r>
            <a:r>
              <a:rPr sz="1406" b="1" dirty="0">
                <a:latin typeface="Times New Roman"/>
                <a:cs typeface="Times New Roman"/>
              </a:rPr>
              <a:t>f </a:t>
            </a:r>
            <a:r>
              <a:rPr sz="1406" i="1" spc="-11" dirty="0">
                <a:latin typeface="Times New Roman"/>
                <a:cs typeface="Times New Roman"/>
              </a:rPr>
              <a:t>Podoc</a:t>
            </a:r>
            <a:r>
              <a:rPr sz="1406" i="1" dirty="0">
                <a:latin typeface="Times New Roman"/>
                <a:cs typeface="Times New Roman"/>
              </a:rPr>
              <a:t>arpus </a:t>
            </a:r>
            <a:r>
              <a:rPr sz="1406" i="1" spc="-7" dirty="0">
                <a:latin typeface="Times New Roman"/>
                <a:cs typeface="Times New Roman"/>
              </a:rPr>
              <a:t>elat</a:t>
            </a:r>
            <a:r>
              <a:rPr sz="1406" i="1" dirty="0">
                <a:latin typeface="Times New Roman"/>
                <a:cs typeface="Times New Roman"/>
              </a:rPr>
              <a:t>us</a:t>
            </a:r>
            <a:r>
              <a:rPr sz="1406" dirty="0">
                <a:latin typeface="Times New Roman"/>
                <a:cs typeface="Times New Roman"/>
              </a:rPr>
              <a:t>, </a:t>
            </a:r>
            <a:r>
              <a:rPr sz="1406" b="1" dirty="0">
                <a:latin typeface="Times New Roman"/>
                <a:cs typeface="Times New Roman"/>
              </a:rPr>
              <a:t>g </a:t>
            </a:r>
            <a:r>
              <a:rPr sz="1406" i="1" spc="-7" dirty="0">
                <a:latin typeface="Times New Roman"/>
                <a:cs typeface="Times New Roman"/>
              </a:rPr>
              <a:t>Af</a:t>
            </a:r>
            <a:r>
              <a:rPr sz="1406" i="1" spc="-53" dirty="0">
                <a:latin typeface="Times New Roman"/>
                <a:cs typeface="Times New Roman"/>
              </a:rPr>
              <a:t>r</a:t>
            </a:r>
            <a:r>
              <a:rPr sz="1406" i="1" spc="-7" dirty="0">
                <a:latin typeface="Times New Roman"/>
                <a:cs typeface="Times New Roman"/>
              </a:rPr>
              <a:t>oc</a:t>
            </a:r>
            <a:r>
              <a:rPr sz="1406" i="1" dirty="0">
                <a:latin typeface="Times New Roman"/>
                <a:cs typeface="Times New Roman"/>
              </a:rPr>
              <a:t>arpus </a:t>
            </a:r>
            <a:r>
              <a:rPr sz="1406" i="1" spc="-7" dirty="0">
                <a:latin typeface="Times New Roman"/>
                <a:cs typeface="Times New Roman"/>
              </a:rPr>
              <a:t>falcat</a:t>
            </a:r>
            <a:r>
              <a:rPr sz="1406" i="1" dirty="0">
                <a:latin typeface="Times New Roman"/>
                <a:cs typeface="Times New Roman"/>
              </a:rPr>
              <a:t>us</a:t>
            </a:r>
            <a:r>
              <a:rPr sz="1406" dirty="0">
                <a:latin typeface="Times New Roman"/>
                <a:cs typeface="Times New Roman"/>
              </a:rPr>
              <a:t>, </a:t>
            </a:r>
            <a:r>
              <a:rPr sz="1406" b="1" dirty="0">
                <a:latin typeface="Times New Roman"/>
                <a:cs typeface="Times New Roman"/>
              </a:rPr>
              <a:t>h </a:t>
            </a:r>
            <a:r>
              <a:rPr sz="1406" i="1" spc="-7" dirty="0">
                <a:latin typeface="Times New Roman"/>
                <a:cs typeface="Times New Roman"/>
              </a:rPr>
              <a:t>Saxegothae</a:t>
            </a:r>
            <a:r>
              <a:rPr sz="1406" i="1" dirty="0">
                <a:latin typeface="Times New Roman"/>
                <a:cs typeface="Times New Roman"/>
              </a:rPr>
              <a:t>a </a:t>
            </a:r>
            <a:r>
              <a:rPr sz="1406" i="1" spc="-7" dirty="0">
                <a:latin typeface="Times New Roman"/>
                <a:cs typeface="Times New Roman"/>
              </a:rPr>
              <a:t>c</a:t>
            </a:r>
            <a:r>
              <a:rPr sz="1406" i="1" dirty="0">
                <a:latin typeface="Times New Roman"/>
                <a:cs typeface="Times New Roman"/>
              </a:rPr>
              <a:t>ons</a:t>
            </a:r>
            <a:r>
              <a:rPr sz="1406" i="1" spc="-7" dirty="0">
                <a:latin typeface="Times New Roman"/>
                <a:cs typeface="Times New Roman"/>
              </a:rPr>
              <a:t>pic</a:t>
            </a:r>
            <a:r>
              <a:rPr sz="1406" i="1" dirty="0">
                <a:latin typeface="Times New Roman"/>
                <a:cs typeface="Times New Roman"/>
              </a:rPr>
              <a:t>ua</a:t>
            </a:r>
            <a:r>
              <a:rPr sz="1406" dirty="0">
                <a:latin typeface="Times New Roman"/>
                <a:cs typeface="Times New Roman"/>
              </a:rPr>
              <a:t>, </a:t>
            </a:r>
            <a:r>
              <a:rPr sz="1406" b="1" spc="-7" dirty="0">
                <a:latin typeface="Times New Roman"/>
                <a:cs typeface="Times New Roman"/>
              </a:rPr>
              <a:t>i</a:t>
            </a:r>
            <a:r>
              <a:rPr sz="1406" b="1" dirty="0">
                <a:latin typeface="Times New Roman"/>
                <a:cs typeface="Times New Roman"/>
              </a:rPr>
              <a:t> </a:t>
            </a:r>
            <a:r>
              <a:rPr sz="1406" i="1" spc="-11" dirty="0">
                <a:latin typeface="Times New Roman"/>
                <a:cs typeface="Times New Roman"/>
              </a:rPr>
              <a:t>P</a:t>
            </a:r>
            <a:r>
              <a:rPr sz="1406" i="1" dirty="0">
                <a:latin typeface="Times New Roman"/>
                <a:cs typeface="Times New Roman"/>
              </a:rPr>
              <a:t>rum</a:t>
            </a:r>
            <a:r>
              <a:rPr sz="1406" i="1" spc="-7" dirty="0">
                <a:latin typeface="Times New Roman"/>
                <a:cs typeface="Times New Roman"/>
              </a:rPr>
              <a:t>nopity</a:t>
            </a:r>
            <a:r>
              <a:rPr sz="1406" i="1" dirty="0">
                <a:latin typeface="Times New Roman"/>
                <a:cs typeface="Times New Roman"/>
              </a:rPr>
              <a:t>s amara</a:t>
            </a:r>
            <a:r>
              <a:rPr sz="1406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</a:pPr>
            <a:endParaRPr sz="1406" dirty="0">
              <a:latin typeface="Times New Roman"/>
              <a:cs typeface="Times New Roman"/>
            </a:endParaRPr>
          </a:p>
          <a:p>
            <a:endParaRPr sz="1125" dirty="0">
              <a:latin typeface="Times New Roman"/>
              <a:cs typeface="Times New Roman"/>
            </a:endParaRPr>
          </a:p>
          <a:p>
            <a:pPr marL="8929"/>
            <a:r>
              <a:rPr lang="en-US" sz="1125" spc="-25" dirty="0">
                <a:cs typeface="Calibri"/>
              </a:rPr>
              <a:t>Kristina </a:t>
            </a:r>
            <a:r>
              <a:rPr lang="en-US" sz="1125" spc="-7" dirty="0">
                <a:cs typeface="Calibri"/>
              </a:rPr>
              <a:t>K</a:t>
            </a:r>
            <a:r>
              <a:rPr lang="en-US" sz="1125" dirty="0">
                <a:cs typeface="Calibri"/>
              </a:rPr>
              <a:t>laus</a:t>
            </a:r>
            <a:r>
              <a:rPr lang="en-US" sz="1125" spc="-4" dirty="0">
                <a:cs typeface="Calibri"/>
              </a:rPr>
              <a:t>,</a:t>
            </a:r>
            <a:r>
              <a:rPr lang="en-US" sz="1125" dirty="0">
                <a:cs typeface="Calibri"/>
              </a:rPr>
              <a:t> </a:t>
            </a:r>
            <a:r>
              <a:rPr lang="en-US" sz="1125" spc="-11" dirty="0">
                <a:cs typeface="Calibri"/>
              </a:rPr>
              <a:t>N</a:t>
            </a:r>
            <a:r>
              <a:rPr lang="en-US" sz="1125" dirty="0">
                <a:cs typeface="Calibri"/>
              </a:rPr>
              <a:t>i</a:t>
            </a:r>
            <a:r>
              <a:rPr lang="en-US" sz="1125" spc="-7" dirty="0">
                <a:cs typeface="Calibri"/>
              </a:rPr>
              <a:t>ck</a:t>
            </a:r>
            <a:r>
              <a:rPr lang="en-US" sz="1125" dirty="0">
                <a:cs typeface="Calibri"/>
              </a:rPr>
              <a:t> </a:t>
            </a:r>
            <a:r>
              <a:rPr lang="en-US" sz="1125" spc="-11" dirty="0">
                <a:cs typeface="Calibri"/>
              </a:rPr>
              <a:t>M</a:t>
            </a:r>
            <a:r>
              <a:rPr lang="en-US" sz="1125" spc="-18" dirty="0">
                <a:cs typeface="Calibri"/>
              </a:rPr>
              <a:t>a</a:t>
            </a:r>
            <a:r>
              <a:rPr lang="en-US" sz="1125" spc="-7" dirty="0">
                <a:cs typeface="Calibri"/>
              </a:rPr>
              <a:t>tz</a:t>
            </a:r>
            <a:r>
              <a:rPr lang="en-US" sz="1125" spc="-46" dirty="0">
                <a:cs typeface="Calibri"/>
              </a:rPr>
              <a:t>k</a:t>
            </a:r>
            <a:r>
              <a:rPr lang="en-US" sz="1125" spc="-7" dirty="0">
                <a:cs typeface="Calibri"/>
              </a:rPr>
              <a:t>e, </a:t>
            </a:r>
            <a:r>
              <a:rPr lang="en-US" sz="1125" i="1" spc="-7" dirty="0">
                <a:cs typeface="Calibri"/>
              </a:rPr>
              <a:t>Systematic Biology</a:t>
            </a:r>
            <a:r>
              <a:rPr lang="en-US" sz="1125" spc="-7" dirty="0">
                <a:cs typeface="Calibri"/>
              </a:rPr>
              <a:t>, 2020</a:t>
            </a:r>
            <a:endParaRPr lang="en-US" sz="1125" dirty="0">
              <a:cs typeface="Calibri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30FD7887-4305-BA48-B546-00650EDA90E4}"/>
              </a:ext>
            </a:extLst>
          </p:cNvPr>
          <p:cNvSpPr txBox="1">
            <a:spLocks/>
          </p:cNvSpPr>
          <p:nvPr/>
        </p:nvSpPr>
        <p:spPr>
          <a:xfrm>
            <a:off x="-1386673" y="225608"/>
            <a:ext cx="11294348" cy="7386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301456" marR="593803" indent="7143"/>
            <a:r>
              <a:rPr lang="en-NZ" sz="2400" b="1" spc="-172"/>
              <a:t>T</a:t>
            </a:r>
            <a:r>
              <a:rPr lang="en-NZ" sz="2400" b="1"/>
              <a:t>ra</a:t>
            </a:r>
            <a:r>
              <a:rPr lang="en-NZ" sz="2400" b="1" spc="-14"/>
              <a:t>i</a:t>
            </a:r>
            <a:r>
              <a:rPr lang="en-NZ" sz="2400" b="1" spc="-11"/>
              <a:t>t-</a:t>
            </a:r>
            <a:r>
              <a:rPr lang="en-NZ" sz="2400" b="1" spc="-21"/>
              <a:t>d</a:t>
            </a:r>
            <a:r>
              <a:rPr lang="en-NZ" sz="2400" b="1"/>
              <a:t>e</a:t>
            </a:r>
            <a:r>
              <a:rPr lang="en-NZ" sz="2400" b="1" spc="-21"/>
              <a:t>p</a:t>
            </a:r>
            <a:r>
              <a:rPr lang="en-NZ" sz="2400" b="1"/>
              <a:t>e</a:t>
            </a:r>
            <a:r>
              <a:rPr lang="en-NZ" sz="2400" b="1" spc="-21"/>
              <a:t>nd</a:t>
            </a:r>
            <a:r>
              <a:rPr lang="en-NZ" sz="2400" b="1"/>
              <a:t>e</a:t>
            </a:r>
            <a:r>
              <a:rPr lang="en-NZ" sz="2400" b="1" spc="-21"/>
              <a:t>n</a:t>
            </a:r>
            <a:r>
              <a:rPr lang="en-NZ" sz="2400" b="1"/>
              <a:t>t</a:t>
            </a:r>
            <a:r>
              <a:rPr lang="en-NZ" sz="2400" b="1" spc="-4"/>
              <a:t> </a:t>
            </a:r>
            <a:r>
              <a:rPr lang="en-NZ" sz="2400" b="1" spc="-18"/>
              <a:t>di</a:t>
            </a:r>
            <a:r>
              <a:rPr lang="en-NZ" sz="2400" b="1"/>
              <a:t>s</a:t>
            </a:r>
            <a:r>
              <a:rPr lang="en-NZ" sz="2400" b="1" spc="-21"/>
              <a:t>p</a:t>
            </a:r>
            <a:r>
              <a:rPr lang="en-NZ" sz="2400" b="1"/>
              <a:t>ersa</a:t>
            </a:r>
            <a:r>
              <a:rPr lang="en-NZ" sz="2400" b="1" spc="-11"/>
              <a:t>l</a:t>
            </a:r>
            <a:r>
              <a:rPr lang="en-NZ" sz="2400" b="1" spc="-4"/>
              <a:t> </a:t>
            </a:r>
            <a:r>
              <a:rPr lang="en-NZ" sz="2400" b="1" spc="-14"/>
              <a:t>i</a:t>
            </a:r>
            <a:r>
              <a:rPr lang="en-NZ" sz="2400" b="1" spc="-18"/>
              <a:t>n</a:t>
            </a:r>
            <a:r>
              <a:rPr lang="en-NZ" sz="2400" b="1" spc="-14"/>
              <a:t> P</a:t>
            </a:r>
            <a:r>
              <a:rPr lang="en-NZ" sz="2400" b="1" spc="-21"/>
              <a:t>odo</a:t>
            </a:r>
            <a:r>
              <a:rPr lang="en-NZ" sz="2400" b="1"/>
              <a:t>car</a:t>
            </a:r>
            <a:r>
              <a:rPr lang="en-NZ" sz="2400" b="1" spc="-21"/>
              <a:t>p</a:t>
            </a:r>
            <a:r>
              <a:rPr lang="en-NZ" sz="2400" b="1"/>
              <a:t>aceae+Ara</a:t>
            </a:r>
            <a:r>
              <a:rPr lang="en-NZ" sz="2400" b="1" spc="-21"/>
              <a:t>u</a:t>
            </a:r>
            <a:r>
              <a:rPr lang="en-NZ" sz="2400" b="1"/>
              <a:t>car</a:t>
            </a:r>
            <a:r>
              <a:rPr lang="en-NZ" sz="2400" b="1" spc="-14"/>
              <a:t>i</a:t>
            </a:r>
            <a:r>
              <a:rPr lang="en-NZ" sz="2400" b="1"/>
              <a:t>aceae</a:t>
            </a:r>
          </a:p>
          <a:p>
            <a:pPr marL="712117"/>
            <a:r>
              <a:rPr lang="en-NZ" sz="2400" b="1" spc="-11"/>
              <a:t>(</a:t>
            </a:r>
            <a:r>
              <a:rPr lang="en-NZ" sz="2400" b="1" spc="-21"/>
              <a:t>wi</a:t>
            </a:r>
            <a:r>
              <a:rPr lang="en-NZ" sz="2400" b="1" spc="-14"/>
              <a:t>th</a:t>
            </a:r>
            <a:r>
              <a:rPr lang="en-NZ" sz="2400" b="1" spc="-4"/>
              <a:t> </a:t>
            </a:r>
            <a:r>
              <a:rPr lang="en-NZ" sz="2400" b="1"/>
              <a:t>Kr</a:t>
            </a:r>
            <a:r>
              <a:rPr lang="en-NZ" sz="2400" b="1" spc="-14"/>
              <a:t>i</a:t>
            </a:r>
            <a:r>
              <a:rPr lang="en-NZ" sz="2400" b="1"/>
              <a:t>s</a:t>
            </a:r>
            <a:r>
              <a:rPr lang="en-NZ" sz="2400" b="1" spc="-11"/>
              <a:t>t</a:t>
            </a:r>
            <a:r>
              <a:rPr lang="en-NZ" sz="2400" b="1" spc="-18"/>
              <a:t>in</a:t>
            </a:r>
            <a:r>
              <a:rPr lang="en-NZ" sz="2400" b="1"/>
              <a:t>a</a:t>
            </a:r>
            <a:r>
              <a:rPr lang="en-NZ" sz="2400" b="1" spc="-4"/>
              <a:t> </a:t>
            </a:r>
            <a:r>
              <a:rPr lang="en-NZ" sz="2400" b="1"/>
              <a:t>K</a:t>
            </a:r>
            <a:r>
              <a:rPr lang="en-NZ" sz="2400" b="1" spc="-14"/>
              <a:t>l</a:t>
            </a:r>
            <a:r>
              <a:rPr lang="en-NZ" sz="2400" b="1"/>
              <a:t>a</a:t>
            </a:r>
            <a:r>
              <a:rPr lang="en-NZ" sz="2400" b="1" spc="-21"/>
              <a:t>u</a:t>
            </a:r>
            <a:r>
              <a:rPr lang="en-NZ" sz="2400" b="1"/>
              <a:t>s</a:t>
            </a:r>
            <a:r>
              <a:rPr lang="en-NZ" sz="2400" b="1" spc="-11"/>
              <a:t>,</a:t>
            </a:r>
            <a:r>
              <a:rPr lang="en-NZ" sz="2400" b="1" spc="-4"/>
              <a:t> </a:t>
            </a:r>
            <a:r>
              <a:rPr lang="en-NZ" sz="2400" b="1"/>
              <a:t>U</a:t>
            </a:r>
            <a:r>
              <a:rPr lang="en-NZ" sz="2400" b="1" spc="-18"/>
              <a:t>ni</a:t>
            </a:r>
            <a:r>
              <a:rPr lang="en-NZ" sz="2400" b="1" spc="-207"/>
              <a:t>v</a:t>
            </a:r>
            <a:r>
              <a:rPr lang="en-NZ" sz="2400" b="1" spc="-11"/>
              <a:t>.</a:t>
            </a:r>
            <a:r>
              <a:rPr lang="en-NZ" sz="2400" b="1" spc="-4"/>
              <a:t> </a:t>
            </a:r>
            <a:r>
              <a:rPr lang="en-NZ" sz="2400" b="1" spc="-21"/>
              <a:t>o</a:t>
            </a:r>
            <a:r>
              <a:rPr lang="en-NZ" sz="2400" b="1"/>
              <a:t>f</a:t>
            </a:r>
            <a:r>
              <a:rPr lang="en-NZ" sz="2400" b="1" spc="-4"/>
              <a:t> </a:t>
            </a:r>
            <a:r>
              <a:rPr lang="en-NZ" sz="2400" b="1"/>
              <a:t>B</a:t>
            </a:r>
            <a:r>
              <a:rPr lang="en-NZ" sz="2400" b="1" spc="-21"/>
              <a:t>o</a:t>
            </a:r>
            <a:r>
              <a:rPr lang="en-NZ" sz="2400" b="1"/>
              <a:t>c</a:t>
            </a:r>
            <a:r>
              <a:rPr lang="en-NZ" sz="2400" b="1" spc="-21"/>
              <a:t>hu</a:t>
            </a:r>
            <a:r>
              <a:rPr lang="en-NZ" sz="2400" b="1"/>
              <a:t>m)</a:t>
            </a:r>
            <a:endParaRPr lang="en-NZ" sz="2400" b="1" dirty="0"/>
          </a:p>
        </p:txBody>
      </p:sp>
    </p:spTree>
    <p:extLst>
      <p:ext uri="{BB962C8B-B14F-4D97-AF65-F5344CB8AC3E}">
        <p14:creationId xmlns:p14="http://schemas.microsoft.com/office/powerpoint/2010/main" val="28814833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23750" y="0"/>
            <a:ext cx="512025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0" y="2839357"/>
            <a:ext cx="6360483" cy="37964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5935265" y="2839641"/>
            <a:ext cx="452289" cy="930920"/>
          </a:xfrm>
          <a:custGeom>
            <a:avLst/>
            <a:gdLst/>
            <a:ahLst/>
            <a:cxnLst/>
            <a:rect l="l" t="t" r="r" b="b"/>
            <a:pathLst>
              <a:path w="643254" h="1323975">
                <a:moveTo>
                  <a:pt x="0" y="0"/>
                </a:moveTo>
                <a:lnTo>
                  <a:pt x="643003" y="0"/>
                </a:lnTo>
                <a:lnTo>
                  <a:pt x="643003" y="1323644"/>
                </a:lnTo>
                <a:lnTo>
                  <a:pt x="0" y="13236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6310312" y="4691063"/>
            <a:ext cx="927348" cy="1869430"/>
          </a:xfrm>
          <a:custGeom>
            <a:avLst/>
            <a:gdLst/>
            <a:ahLst/>
            <a:cxnLst/>
            <a:rect l="l" t="t" r="r" b="b"/>
            <a:pathLst>
              <a:path w="1318895" h="2658745">
                <a:moveTo>
                  <a:pt x="0" y="0"/>
                </a:moveTo>
                <a:lnTo>
                  <a:pt x="1318484" y="0"/>
                </a:lnTo>
                <a:lnTo>
                  <a:pt x="1318484" y="2658665"/>
                </a:lnTo>
                <a:lnTo>
                  <a:pt x="0" y="26586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6729329" y="5693559"/>
            <a:ext cx="927348" cy="747861"/>
          </a:xfrm>
          <a:custGeom>
            <a:avLst/>
            <a:gdLst/>
            <a:ahLst/>
            <a:cxnLst/>
            <a:rect l="l" t="t" r="r" b="b"/>
            <a:pathLst>
              <a:path w="1318895" h="1063625">
                <a:moveTo>
                  <a:pt x="0" y="0"/>
                </a:moveTo>
                <a:lnTo>
                  <a:pt x="1318484" y="0"/>
                </a:lnTo>
                <a:lnTo>
                  <a:pt x="1318484" y="1063559"/>
                </a:lnTo>
                <a:lnTo>
                  <a:pt x="0" y="10635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 txBox="1"/>
          <p:nvPr/>
        </p:nvSpPr>
        <p:spPr>
          <a:xfrm>
            <a:off x="294680" y="305389"/>
            <a:ext cx="3839319" cy="8654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589338"/>
            <a:r>
              <a:rPr sz="2812" b="1" spc="-21" dirty="0">
                <a:latin typeface="Helvetica"/>
                <a:cs typeface="Helvetica"/>
              </a:rPr>
              <a:t>Podo</a:t>
            </a:r>
            <a:r>
              <a:rPr sz="2812" b="1" dirty="0">
                <a:latin typeface="Helvetica"/>
                <a:cs typeface="Helvetica"/>
              </a:rPr>
              <a:t>car</a:t>
            </a:r>
            <a:r>
              <a:rPr sz="2812" b="1" spc="-21" dirty="0">
                <a:latin typeface="Helvetica"/>
                <a:cs typeface="Helvetica"/>
              </a:rPr>
              <a:t>p</a:t>
            </a:r>
            <a:r>
              <a:rPr sz="2812" b="1" dirty="0">
                <a:latin typeface="Helvetica"/>
                <a:cs typeface="Helvetica"/>
              </a:rPr>
              <a:t>aceae DEC</a:t>
            </a:r>
            <a:r>
              <a:rPr sz="2812" b="1" spc="-21" dirty="0">
                <a:latin typeface="Helvetica"/>
                <a:cs typeface="Helvetica"/>
              </a:rPr>
              <a:t>+</a:t>
            </a:r>
            <a:r>
              <a:rPr sz="2812" b="1" i="1" spc="-11" dirty="0">
                <a:latin typeface="Helvetica"/>
                <a:cs typeface="Helvetica"/>
              </a:rPr>
              <a:t>j</a:t>
            </a:r>
            <a:r>
              <a:rPr sz="2812" b="1" spc="-18" dirty="0">
                <a:latin typeface="Helvetica"/>
                <a:cs typeface="Helvetica"/>
              </a:rPr>
              <a:t>+</a:t>
            </a:r>
            <a:r>
              <a:rPr sz="2812" b="1" i="1" dirty="0">
                <a:latin typeface="Helvetica"/>
                <a:cs typeface="Helvetica"/>
              </a:rPr>
              <a:t>x</a:t>
            </a:r>
            <a:r>
              <a:rPr sz="2812" b="1" dirty="0">
                <a:latin typeface="Helvetica"/>
                <a:cs typeface="Helvetica"/>
              </a:rPr>
              <a:t>+tra</a:t>
            </a:r>
            <a:r>
              <a:rPr sz="2812" b="1" spc="-14" dirty="0">
                <a:latin typeface="Helvetica"/>
                <a:cs typeface="Helvetica"/>
              </a:rPr>
              <a:t>i</a:t>
            </a:r>
            <a:r>
              <a:rPr sz="2812" b="1" dirty="0">
                <a:latin typeface="Helvetica"/>
                <a:cs typeface="Helvetica"/>
              </a:rPr>
              <a:t>ts</a:t>
            </a:r>
            <a:r>
              <a:rPr sz="2812" b="1" spc="-4" dirty="0">
                <a:latin typeface="Helvetica"/>
                <a:cs typeface="Helvetica"/>
              </a:rPr>
              <a:t> </a:t>
            </a:r>
            <a:r>
              <a:rPr sz="2812" b="1" dirty="0">
                <a:latin typeface="Helvetica"/>
                <a:cs typeface="Helvetica"/>
              </a:rPr>
              <a:t>m</a:t>
            </a:r>
            <a:r>
              <a:rPr sz="2812" b="1" spc="-21" dirty="0">
                <a:latin typeface="Helvetica"/>
                <a:cs typeface="Helvetica"/>
              </a:rPr>
              <a:t>od</a:t>
            </a:r>
            <a:r>
              <a:rPr sz="2812" b="1" dirty="0">
                <a:latin typeface="Helvetica"/>
                <a:cs typeface="Helvetica"/>
              </a:rPr>
              <a:t>e</a:t>
            </a:r>
            <a:r>
              <a:rPr sz="2812" b="1" spc="-14" dirty="0">
                <a:latin typeface="Helvetica"/>
                <a:cs typeface="Helvetica"/>
              </a:rPr>
              <a:t>l</a:t>
            </a:r>
            <a:r>
              <a:rPr sz="2812" b="1" dirty="0">
                <a:latin typeface="Helvetica"/>
                <a:cs typeface="Helvetica"/>
              </a:rPr>
              <a:t>:</a:t>
            </a:r>
            <a:endParaRPr sz="2812" dirty="0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0125" y="1591264"/>
            <a:ext cx="2419499" cy="432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812" b="1" u="heavy" spc="-18" dirty="0">
                <a:latin typeface="Helvetica"/>
                <a:cs typeface="Helvetica"/>
              </a:rPr>
              <a:t>Biogeography</a:t>
            </a:r>
            <a:endParaRPr sz="2812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59" y="6661547"/>
            <a:ext cx="3696891" cy="173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n-US" sz="1125" spc="-25" dirty="0">
                <a:cs typeface="Calibri"/>
              </a:rPr>
              <a:t>Kristina </a:t>
            </a:r>
            <a:r>
              <a:rPr lang="en-US" sz="1125" spc="-7" dirty="0">
                <a:cs typeface="Calibri"/>
              </a:rPr>
              <a:t>K</a:t>
            </a:r>
            <a:r>
              <a:rPr lang="en-US" sz="1125" dirty="0">
                <a:cs typeface="Calibri"/>
              </a:rPr>
              <a:t>laus</a:t>
            </a:r>
            <a:r>
              <a:rPr lang="en-US" sz="1125" spc="-4" dirty="0">
                <a:cs typeface="Calibri"/>
              </a:rPr>
              <a:t>,</a:t>
            </a:r>
            <a:r>
              <a:rPr lang="en-US" sz="1125" dirty="0">
                <a:cs typeface="Calibri"/>
              </a:rPr>
              <a:t> </a:t>
            </a:r>
            <a:r>
              <a:rPr lang="en-US" sz="1125" spc="-11" dirty="0">
                <a:cs typeface="Calibri"/>
              </a:rPr>
              <a:t>N</a:t>
            </a:r>
            <a:r>
              <a:rPr lang="en-US" sz="1125" dirty="0">
                <a:cs typeface="Calibri"/>
              </a:rPr>
              <a:t>i</a:t>
            </a:r>
            <a:r>
              <a:rPr lang="en-US" sz="1125" spc="-7" dirty="0">
                <a:cs typeface="Calibri"/>
              </a:rPr>
              <a:t>ck</a:t>
            </a:r>
            <a:r>
              <a:rPr lang="en-US" sz="1125" dirty="0">
                <a:cs typeface="Calibri"/>
              </a:rPr>
              <a:t> </a:t>
            </a:r>
            <a:r>
              <a:rPr lang="en-US" sz="1125" spc="-11" dirty="0">
                <a:cs typeface="Calibri"/>
              </a:rPr>
              <a:t>M</a:t>
            </a:r>
            <a:r>
              <a:rPr lang="en-US" sz="1125" spc="-18" dirty="0">
                <a:cs typeface="Calibri"/>
              </a:rPr>
              <a:t>a</a:t>
            </a:r>
            <a:r>
              <a:rPr lang="en-US" sz="1125" spc="-7" dirty="0">
                <a:cs typeface="Calibri"/>
              </a:rPr>
              <a:t>tz</a:t>
            </a:r>
            <a:r>
              <a:rPr lang="en-US" sz="1125" spc="-46" dirty="0">
                <a:cs typeface="Calibri"/>
              </a:rPr>
              <a:t>k</a:t>
            </a:r>
            <a:r>
              <a:rPr lang="en-US" sz="1125" spc="-7" dirty="0">
                <a:cs typeface="Calibri"/>
              </a:rPr>
              <a:t>e, </a:t>
            </a:r>
            <a:r>
              <a:rPr lang="en-US" sz="1125" i="1" spc="-7" dirty="0">
                <a:cs typeface="Calibri"/>
              </a:rPr>
              <a:t>Systematic Biology</a:t>
            </a:r>
            <a:r>
              <a:rPr lang="en-US" sz="1125" spc="-7" dirty="0">
                <a:cs typeface="Calibri"/>
              </a:rPr>
              <a:t>, 2020</a:t>
            </a:r>
            <a:endParaRPr lang="en-US" sz="1125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81565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72388" y="0"/>
            <a:ext cx="4971612" cy="67804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 txBox="1"/>
          <p:nvPr/>
        </p:nvSpPr>
        <p:spPr>
          <a:xfrm>
            <a:off x="276821" y="314318"/>
            <a:ext cx="3839319" cy="8654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589338"/>
            <a:r>
              <a:rPr sz="2812" b="1" spc="-21" dirty="0">
                <a:latin typeface="Helvetica"/>
                <a:cs typeface="Helvetica"/>
              </a:rPr>
              <a:t>Podo</a:t>
            </a:r>
            <a:r>
              <a:rPr sz="2812" b="1" dirty="0">
                <a:latin typeface="Helvetica"/>
                <a:cs typeface="Helvetica"/>
              </a:rPr>
              <a:t>car</a:t>
            </a:r>
            <a:r>
              <a:rPr sz="2812" b="1" spc="-21" dirty="0">
                <a:latin typeface="Helvetica"/>
                <a:cs typeface="Helvetica"/>
              </a:rPr>
              <a:t>p</a:t>
            </a:r>
            <a:r>
              <a:rPr sz="2812" b="1" dirty="0">
                <a:latin typeface="Helvetica"/>
                <a:cs typeface="Helvetica"/>
              </a:rPr>
              <a:t>aceae DEC</a:t>
            </a:r>
            <a:r>
              <a:rPr sz="2812" b="1" spc="-21" dirty="0">
                <a:latin typeface="Helvetica"/>
                <a:cs typeface="Helvetica"/>
              </a:rPr>
              <a:t>+</a:t>
            </a:r>
            <a:r>
              <a:rPr sz="2812" b="1" i="1" spc="-11" dirty="0">
                <a:latin typeface="Helvetica"/>
                <a:cs typeface="Helvetica"/>
              </a:rPr>
              <a:t>j</a:t>
            </a:r>
            <a:r>
              <a:rPr sz="2812" b="1" spc="-18" dirty="0">
                <a:latin typeface="Helvetica"/>
                <a:cs typeface="Helvetica"/>
              </a:rPr>
              <a:t>+</a:t>
            </a:r>
            <a:r>
              <a:rPr sz="2812" b="1" i="1" dirty="0">
                <a:latin typeface="Helvetica"/>
                <a:cs typeface="Helvetica"/>
              </a:rPr>
              <a:t>x</a:t>
            </a:r>
            <a:r>
              <a:rPr sz="2812" b="1" dirty="0">
                <a:latin typeface="Helvetica"/>
                <a:cs typeface="Helvetica"/>
              </a:rPr>
              <a:t>+tra</a:t>
            </a:r>
            <a:r>
              <a:rPr sz="2812" b="1" spc="-14" dirty="0">
                <a:latin typeface="Helvetica"/>
                <a:cs typeface="Helvetica"/>
              </a:rPr>
              <a:t>i</a:t>
            </a:r>
            <a:r>
              <a:rPr sz="2812" b="1" dirty="0">
                <a:latin typeface="Helvetica"/>
                <a:cs typeface="Helvetica"/>
              </a:rPr>
              <a:t>ts</a:t>
            </a:r>
            <a:r>
              <a:rPr sz="2812" b="1" spc="-4" dirty="0">
                <a:latin typeface="Helvetica"/>
                <a:cs typeface="Helvetica"/>
              </a:rPr>
              <a:t> </a:t>
            </a:r>
            <a:r>
              <a:rPr sz="2812" b="1" dirty="0">
                <a:latin typeface="Helvetica"/>
                <a:cs typeface="Helvetica"/>
              </a:rPr>
              <a:t>m</a:t>
            </a:r>
            <a:r>
              <a:rPr sz="2812" b="1" spc="-21" dirty="0">
                <a:latin typeface="Helvetica"/>
                <a:cs typeface="Helvetica"/>
              </a:rPr>
              <a:t>od</a:t>
            </a:r>
            <a:r>
              <a:rPr sz="2812" b="1" dirty="0">
                <a:latin typeface="Helvetica"/>
                <a:cs typeface="Helvetica"/>
              </a:rPr>
              <a:t>e</a:t>
            </a:r>
            <a:r>
              <a:rPr sz="2812" b="1" spc="-14" dirty="0">
                <a:latin typeface="Helvetica"/>
                <a:cs typeface="Helvetica"/>
              </a:rPr>
              <a:t>l</a:t>
            </a:r>
            <a:r>
              <a:rPr sz="2812" b="1" dirty="0">
                <a:latin typeface="Helvetica"/>
                <a:cs typeface="Helvetica"/>
              </a:rPr>
              <a:t>:</a:t>
            </a:r>
            <a:endParaRPr sz="2812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4500" y="1600193"/>
            <a:ext cx="971104" cy="432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812" b="1" u="heavy" spc="-172" dirty="0">
                <a:latin typeface="Helvetica"/>
                <a:cs typeface="Helvetica"/>
              </a:rPr>
              <a:t>T</a:t>
            </a:r>
            <a:r>
              <a:rPr sz="2812" b="1" u="heavy" dirty="0">
                <a:latin typeface="Helvetica"/>
                <a:cs typeface="Helvetica"/>
              </a:rPr>
              <a:t>ra</a:t>
            </a:r>
            <a:r>
              <a:rPr sz="2812" b="1" u="heavy" spc="-14" dirty="0">
                <a:latin typeface="Helvetica"/>
                <a:cs typeface="Helvetica"/>
              </a:rPr>
              <a:t>i</a:t>
            </a:r>
            <a:r>
              <a:rPr sz="2812" b="1" u="heavy" dirty="0">
                <a:latin typeface="Helvetica"/>
                <a:cs typeface="Helvetica"/>
              </a:rPr>
              <a:t>ts</a:t>
            </a:r>
            <a:endParaRPr sz="2812">
              <a:latin typeface="Helvetica"/>
              <a:cs typeface="Helvetic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4072" y="4792615"/>
            <a:ext cx="333848" cy="3957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217886" y="3592908"/>
            <a:ext cx="286261" cy="3393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 txBox="1"/>
          <p:nvPr/>
        </p:nvSpPr>
        <p:spPr>
          <a:xfrm>
            <a:off x="678657" y="3493287"/>
            <a:ext cx="3843784" cy="20617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152"/>
            <a:r>
              <a:rPr sz="2812" b="1" spc="-18" dirty="0">
                <a:latin typeface="Helvetica"/>
                <a:cs typeface="Helvetica"/>
              </a:rPr>
              <a:t>Fleshy</a:t>
            </a:r>
            <a:r>
              <a:rPr sz="2812" b="1" spc="-7" dirty="0">
                <a:latin typeface="Helvetica"/>
                <a:cs typeface="Helvetica"/>
              </a:rPr>
              <a:t> </a:t>
            </a:r>
            <a:r>
              <a:rPr sz="2812" b="1" spc="-4" dirty="0">
                <a:latin typeface="Helvetica"/>
                <a:cs typeface="Helvetica"/>
              </a:rPr>
              <a:t>cones</a:t>
            </a:r>
            <a:endParaRPr sz="2812">
              <a:latin typeface="Helvetica"/>
              <a:cs typeface="Helvetica"/>
            </a:endParaRPr>
          </a:p>
          <a:p>
            <a:pPr marL="241093">
              <a:spcBef>
                <a:spcPts val="914"/>
              </a:spcBef>
            </a:pPr>
            <a:r>
              <a:rPr sz="1758" b="1" dirty="0">
                <a:latin typeface="Helvetica"/>
                <a:cs typeface="Helvetica"/>
              </a:rPr>
              <a:t>-</a:t>
            </a:r>
            <a:r>
              <a:rPr sz="1758" b="1" spc="-4" dirty="0">
                <a:latin typeface="Helvetica"/>
                <a:cs typeface="Helvetica"/>
              </a:rPr>
              <a:t> </a:t>
            </a:r>
            <a:r>
              <a:rPr sz="1758" b="1" dirty="0">
                <a:latin typeface="Helvetica"/>
                <a:cs typeface="Helvetica"/>
              </a:rPr>
              <a:t>D</a:t>
            </a:r>
            <a:r>
              <a:rPr sz="1758" b="1" spc="-7" dirty="0">
                <a:latin typeface="Helvetica"/>
                <a:cs typeface="Helvetica"/>
              </a:rPr>
              <a:t>i</a:t>
            </a:r>
            <a:r>
              <a:rPr sz="1758" b="1" dirty="0">
                <a:latin typeface="Helvetica"/>
                <a:cs typeface="Helvetica"/>
              </a:rPr>
              <a:t>s</a:t>
            </a:r>
            <a:r>
              <a:rPr sz="1758" b="1" spc="-14" dirty="0">
                <a:latin typeface="Helvetica"/>
                <a:cs typeface="Helvetica"/>
              </a:rPr>
              <a:t>p</a:t>
            </a:r>
            <a:r>
              <a:rPr sz="1758" b="1" dirty="0">
                <a:latin typeface="Helvetica"/>
                <a:cs typeface="Helvetica"/>
              </a:rPr>
              <a:t>ersa</a:t>
            </a:r>
            <a:r>
              <a:rPr sz="1758" b="1" spc="-7" dirty="0">
                <a:latin typeface="Helvetica"/>
                <a:cs typeface="Helvetica"/>
              </a:rPr>
              <a:t>l</a:t>
            </a:r>
            <a:r>
              <a:rPr sz="1758" b="1" spc="-4" dirty="0">
                <a:latin typeface="Helvetica"/>
                <a:cs typeface="Helvetica"/>
              </a:rPr>
              <a:t> </a:t>
            </a:r>
            <a:r>
              <a:rPr sz="1758" b="1" dirty="0">
                <a:latin typeface="Helvetica"/>
                <a:cs typeface="Helvetica"/>
              </a:rPr>
              <a:t>m</a:t>
            </a:r>
            <a:r>
              <a:rPr sz="1758" b="1" spc="-7" dirty="0">
                <a:latin typeface="Helvetica"/>
                <a:cs typeface="Helvetica"/>
              </a:rPr>
              <a:t>ultipli</a:t>
            </a:r>
            <a:r>
              <a:rPr sz="1758" b="1" dirty="0">
                <a:latin typeface="Helvetica"/>
                <a:cs typeface="Helvetica"/>
              </a:rPr>
              <a:t>er</a:t>
            </a:r>
            <a:r>
              <a:rPr sz="1758" b="1" spc="-4" dirty="0">
                <a:latin typeface="Helvetica"/>
                <a:cs typeface="Helvetica"/>
              </a:rPr>
              <a:t> </a:t>
            </a:r>
            <a:r>
              <a:rPr sz="1758" b="1" i="1" dirty="0">
                <a:latin typeface="Helvetica"/>
                <a:cs typeface="Helvetica"/>
              </a:rPr>
              <a:t>m</a:t>
            </a:r>
            <a:r>
              <a:rPr sz="1740" b="1" spc="5" baseline="-6734" dirty="0">
                <a:latin typeface="Helvetica"/>
                <a:cs typeface="Helvetica"/>
              </a:rPr>
              <a:t>1</a:t>
            </a:r>
            <a:r>
              <a:rPr sz="1740" b="1" baseline="-6734" dirty="0">
                <a:latin typeface="Helvetica"/>
                <a:cs typeface="Helvetica"/>
              </a:rPr>
              <a:t> </a:t>
            </a:r>
            <a:r>
              <a:rPr sz="1740" b="1" spc="-237" baseline="-6734" dirty="0">
                <a:latin typeface="Helvetica"/>
                <a:cs typeface="Helvetica"/>
              </a:rPr>
              <a:t> </a:t>
            </a:r>
            <a:r>
              <a:rPr sz="1758" b="1" spc="-7" dirty="0">
                <a:latin typeface="Helvetica"/>
                <a:cs typeface="Helvetica"/>
              </a:rPr>
              <a:t>fi</a:t>
            </a:r>
            <a:r>
              <a:rPr sz="1758" b="1" dirty="0">
                <a:latin typeface="Helvetica"/>
                <a:cs typeface="Helvetica"/>
              </a:rPr>
              <a:t>xe</a:t>
            </a:r>
            <a:r>
              <a:rPr sz="1758" b="1" spc="-14" dirty="0">
                <a:latin typeface="Helvetica"/>
                <a:cs typeface="Helvetica"/>
              </a:rPr>
              <a:t>d</a:t>
            </a:r>
            <a:r>
              <a:rPr sz="1758" b="1" spc="-4" dirty="0">
                <a:latin typeface="Helvetica"/>
                <a:cs typeface="Helvetica"/>
              </a:rPr>
              <a:t> </a:t>
            </a:r>
            <a:r>
              <a:rPr sz="1758" b="1" spc="-11" dirty="0">
                <a:latin typeface="Helvetica"/>
                <a:cs typeface="Helvetica"/>
              </a:rPr>
              <a:t>to</a:t>
            </a:r>
            <a:r>
              <a:rPr sz="1758" b="1" spc="-4" dirty="0">
                <a:latin typeface="Helvetica"/>
                <a:cs typeface="Helvetica"/>
              </a:rPr>
              <a:t> </a:t>
            </a:r>
            <a:r>
              <a:rPr sz="1758" b="1" dirty="0">
                <a:latin typeface="Helvetica"/>
                <a:cs typeface="Helvetica"/>
              </a:rPr>
              <a:t>1</a:t>
            </a:r>
            <a:endParaRPr sz="1758">
              <a:latin typeface="Helvetica"/>
              <a:cs typeface="Helvetica"/>
            </a:endParaRPr>
          </a:p>
          <a:p>
            <a:pPr>
              <a:lnSpc>
                <a:spcPct val="100000"/>
              </a:lnSpc>
            </a:pPr>
            <a:endParaRPr sz="1758">
              <a:latin typeface="Times New Roman"/>
              <a:cs typeface="Times New Roman"/>
            </a:endParaRPr>
          </a:p>
          <a:p>
            <a:pPr marL="8929">
              <a:spcBef>
                <a:spcPts val="1494"/>
              </a:spcBef>
            </a:pPr>
            <a:r>
              <a:rPr sz="2812" b="1" dirty="0">
                <a:latin typeface="Helvetica"/>
                <a:cs typeface="Helvetica"/>
              </a:rPr>
              <a:t>N</a:t>
            </a:r>
            <a:r>
              <a:rPr sz="2812" b="1" spc="-21" dirty="0">
                <a:latin typeface="Helvetica"/>
                <a:cs typeface="Helvetica"/>
              </a:rPr>
              <a:t>on</a:t>
            </a:r>
            <a:r>
              <a:rPr sz="2812" b="1" spc="-11" dirty="0">
                <a:latin typeface="Helvetica"/>
                <a:cs typeface="Helvetica"/>
              </a:rPr>
              <a:t>-f</a:t>
            </a:r>
            <a:r>
              <a:rPr sz="2812" b="1" spc="-14" dirty="0">
                <a:latin typeface="Helvetica"/>
                <a:cs typeface="Helvetica"/>
              </a:rPr>
              <a:t>l</a:t>
            </a:r>
            <a:r>
              <a:rPr sz="2812" b="1" dirty="0">
                <a:latin typeface="Helvetica"/>
                <a:cs typeface="Helvetica"/>
              </a:rPr>
              <a:t>es</a:t>
            </a:r>
            <a:r>
              <a:rPr sz="2812" b="1" spc="-21" dirty="0">
                <a:latin typeface="Helvetica"/>
                <a:cs typeface="Helvetica"/>
              </a:rPr>
              <a:t>h</a:t>
            </a:r>
            <a:r>
              <a:rPr sz="2812" b="1" dirty="0">
                <a:latin typeface="Helvetica"/>
                <a:cs typeface="Helvetica"/>
              </a:rPr>
              <a:t>y</a:t>
            </a:r>
            <a:r>
              <a:rPr sz="2812" b="1" spc="-4" dirty="0">
                <a:latin typeface="Helvetica"/>
                <a:cs typeface="Helvetica"/>
              </a:rPr>
              <a:t> </a:t>
            </a:r>
            <a:r>
              <a:rPr sz="2812" b="1" dirty="0">
                <a:latin typeface="Helvetica"/>
                <a:cs typeface="Helvetica"/>
              </a:rPr>
              <a:t>c</a:t>
            </a:r>
            <a:r>
              <a:rPr sz="2812" b="1" spc="-21" dirty="0">
                <a:latin typeface="Helvetica"/>
                <a:cs typeface="Helvetica"/>
              </a:rPr>
              <a:t>on</a:t>
            </a:r>
            <a:r>
              <a:rPr sz="2812" b="1" dirty="0">
                <a:latin typeface="Helvetica"/>
                <a:cs typeface="Helvetica"/>
              </a:rPr>
              <a:t>es</a:t>
            </a:r>
            <a:endParaRPr sz="2812">
              <a:latin typeface="Helvetica"/>
              <a:cs typeface="Helvetica"/>
            </a:endParaRPr>
          </a:p>
          <a:p>
            <a:pPr marL="160729">
              <a:spcBef>
                <a:spcPts val="562"/>
              </a:spcBef>
            </a:pPr>
            <a:r>
              <a:rPr sz="1758" b="1" dirty="0">
                <a:latin typeface="Helvetica"/>
                <a:cs typeface="Helvetica"/>
              </a:rPr>
              <a:t>-</a:t>
            </a:r>
            <a:r>
              <a:rPr sz="1758" b="1" spc="-4" dirty="0">
                <a:latin typeface="Helvetica"/>
                <a:cs typeface="Helvetica"/>
              </a:rPr>
              <a:t> </a:t>
            </a:r>
            <a:r>
              <a:rPr sz="1758" b="1" dirty="0">
                <a:latin typeface="Helvetica"/>
                <a:cs typeface="Helvetica"/>
              </a:rPr>
              <a:t>D</a:t>
            </a:r>
            <a:r>
              <a:rPr sz="1758" b="1" spc="-7" dirty="0">
                <a:latin typeface="Helvetica"/>
                <a:cs typeface="Helvetica"/>
              </a:rPr>
              <a:t>i</a:t>
            </a:r>
            <a:r>
              <a:rPr sz="1758" b="1" dirty="0">
                <a:latin typeface="Helvetica"/>
                <a:cs typeface="Helvetica"/>
              </a:rPr>
              <a:t>s</a:t>
            </a:r>
            <a:r>
              <a:rPr sz="1758" b="1" spc="-14" dirty="0">
                <a:latin typeface="Helvetica"/>
                <a:cs typeface="Helvetica"/>
              </a:rPr>
              <a:t>p</a:t>
            </a:r>
            <a:r>
              <a:rPr sz="1758" b="1" dirty="0">
                <a:latin typeface="Helvetica"/>
                <a:cs typeface="Helvetica"/>
              </a:rPr>
              <a:t>ersa</a:t>
            </a:r>
            <a:r>
              <a:rPr sz="1758" b="1" spc="-7" dirty="0">
                <a:latin typeface="Helvetica"/>
                <a:cs typeface="Helvetica"/>
              </a:rPr>
              <a:t>l</a:t>
            </a:r>
            <a:r>
              <a:rPr sz="1758" b="1" spc="-4" dirty="0">
                <a:latin typeface="Helvetica"/>
                <a:cs typeface="Helvetica"/>
              </a:rPr>
              <a:t> </a:t>
            </a:r>
            <a:r>
              <a:rPr sz="1758" b="1" dirty="0">
                <a:latin typeface="Helvetica"/>
                <a:cs typeface="Helvetica"/>
              </a:rPr>
              <a:t>m</a:t>
            </a:r>
            <a:r>
              <a:rPr sz="1758" b="1" spc="-7" dirty="0">
                <a:latin typeface="Helvetica"/>
                <a:cs typeface="Helvetica"/>
              </a:rPr>
              <a:t>ultipli</a:t>
            </a:r>
            <a:r>
              <a:rPr sz="1758" b="1" dirty="0">
                <a:latin typeface="Helvetica"/>
                <a:cs typeface="Helvetica"/>
              </a:rPr>
              <a:t>er</a:t>
            </a:r>
            <a:r>
              <a:rPr sz="1758" b="1" spc="-4" dirty="0">
                <a:latin typeface="Helvetica"/>
                <a:cs typeface="Helvetica"/>
              </a:rPr>
              <a:t> </a:t>
            </a:r>
            <a:r>
              <a:rPr sz="1758" b="1" i="1" dirty="0">
                <a:latin typeface="Helvetica"/>
                <a:cs typeface="Helvetica"/>
              </a:rPr>
              <a:t>m</a:t>
            </a:r>
            <a:r>
              <a:rPr sz="1740" b="1" spc="5" baseline="-6734" dirty="0">
                <a:latin typeface="Helvetica"/>
                <a:cs typeface="Helvetica"/>
              </a:rPr>
              <a:t>2</a:t>
            </a:r>
            <a:r>
              <a:rPr sz="1740" b="1" baseline="-6734" dirty="0">
                <a:latin typeface="Helvetica"/>
                <a:cs typeface="Helvetica"/>
              </a:rPr>
              <a:t> </a:t>
            </a:r>
            <a:r>
              <a:rPr sz="1740" b="1" spc="-237" baseline="-6734" dirty="0">
                <a:latin typeface="Helvetica"/>
                <a:cs typeface="Helvetica"/>
              </a:rPr>
              <a:t> </a:t>
            </a:r>
            <a:r>
              <a:rPr sz="1758" b="1" spc="-11" dirty="0">
                <a:latin typeface="Helvetica"/>
                <a:cs typeface="Helvetica"/>
              </a:rPr>
              <a:t>=</a:t>
            </a:r>
            <a:r>
              <a:rPr sz="1758" b="1" spc="-4" dirty="0">
                <a:latin typeface="Helvetica"/>
                <a:cs typeface="Helvetica"/>
              </a:rPr>
              <a:t> </a:t>
            </a:r>
            <a:r>
              <a:rPr sz="1758" b="1" dirty="0">
                <a:latin typeface="Helvetica"/>
                <a:cs typeface="Helvetica"/>
              </a:rPr>
              <a:t>0</a:t>
            </a:r>
            <a:r>
              <a:rPr sz="1758" b="1" spc="-7" dirty="0">
                <a:latin typeface="Helvetica"/>
                <a:cs typeface="Helvetica"/>
              </a:rPr>
              <a:t>.</a:t>
            </a:r>
            <a:r>
              <a:rPr sz="1758" b="1" dirty="0">
                <a:latin typeface="Helvetica"/>
                <a:cs typeface="Helvetica"/>
              </a:rPr>
              <a:t>5</a:t>
            </a:r>
            <a:endParaRPr sz="1758">
              <a:latin typeface="Helvetica"/>
              <a:cs typeface="Helvetic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B4DC93F-B68F-7140-9FFA-588D26EEB960}"/>
              </a:ext>
            </a:extLst>
          </p:cNvPr>
          <p:cNvSpPr txBox="1"/>
          <p:nvPr/>
        </p:nvSpPr>
        <p:spPr>
          <a:xfrm>
            <a:off x="17859" y="6661547"/>
            <a:ext cx="3696891" cy="173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n-US" sz="1125" spc="-25" dirty="0">
                <a:cs typeface="Calibri"/>
              </a:rPr>
              <a:t>Kristina </a:t>
            </a:r>
            <a:r>
              <a:rPr lang="en-US" sz="1125" spc="-7" dirty="0">
                <a:cs typeface="Calibri"/>
              </a:rPr>
              <a:t>K</a:t>
            </a:r>
            <a:r>
              <a:rPr lang="en-US" sz="1125" dirty="0">
                <a:cs typeface="Calibri"/>
              </a:rPr>
              <a:t>laus</a:t>
            </a:r>
            <a:r>
              <a:rPr lang="en-US" sz="1125" spc="-4" dirty="0">
                <a:cs typeface="Calibri"/>
              </a:rPr>
              <a:t>,</a:t>
            </a:r>
            <a:r>
              <a:rPr lang="en-US" sz="1125" dirty="0">
                <a:cs typeface="Calibri"/>
              </a:rPr>
              <a:t> </a:t>
            </a:r>
            <a:r>
              <a:rPr lang="en-US" sz="1125" spc="-11" dirty="0">
                <a:cs typeface="Calibri"/>
              </a:rPr>
              <a:t>N</a:t>
            </a:r>
            <a:r>
              <a:rPr lang="en-US" sz="1125" dirty="0">
                <a:cs typeface="Calibri"/>
              </a:rPr>
              <a:t>i</a:t>
            </a:r>
            <a:r>
              <a:rPr lang="en-US" sz="1125" spc="-7" dirty="0">
                <a:cs typeface="Calibri"/>
              </a:rPr>
              <a:t>ck</a:t>
            </a:r>
            <a:r>
              <a:rPr lang="en-US" sz="1125" dirty="0">
                <a:cs typeface="Calibri"/>
              </a:rPr>
              <a:t> </a:t>
            </a:r>
            <a:r>
              <a:rPr lang="en-US" sz="1125" spc="-11" dirty="0">
                <a:cs typeface="Calibri"/>
              </a:rPr>
              <a:t>M</a:t>
            </a:r>
            <a:r>
              <a:rPr lang="en-US" sz="1125" spc="-18" dirty="0">
                <a:cs typeface="Calibri"/>
              </a:rPr>
              <a:t>a</a:t>
            </a:r>
            <a:r>
              <a:rPr lang="en-US" sz="1125" spc="-7" dirty="0">
                <a:cs typeface="Calibri"/>
              </a:rPr>
              <a:t>tz</a:t>
            </a:r>
            <a:r>
              <a:rPr lang="en-US" sz="1125" spc="-46" dirty="0">
                <a:cs typeface="Calibri"/>
              </a:rPr>
              <a:t>k</a:t>
            </a:r>
            <a:r>
              <a:rPr lang="en-US" sz="1125" spc="-7" dirty="0">
                <a:cs typeface="Calibri"/>
              </a:rPr>
              <a:t>e, </a:t>
            </a:r>
            <a:r>
              <a:rPr lang="en-US" sz="1125" i="1" spc="-7" dirty="0">
                <a:cs typeface="Calibri"/>
              </a:rPr>
              <a:t>Systematic Biology</a:t>
            </a:r>
            <a:r>
              <a:rPr lang="en-US" sz="1125" spc="-7" dirty="0">
                <a:cs typeface="Calibri"/>
              </a:rPr>
              <a:t>, 2020</a:t>
            </a:r>
            <a:endParaRPr lang="en-US" sz="1125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8698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67891" y="233951"/>
            <a:ext cx="6393656" cy="397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506" marR="3572" indent="-53576">
              <a:lnSpc>
                <a:spcPts val="3094"/>
              </a:lnSpc>
            </a:pPr>
            <a:r>
              <a:rPr sz="2812" b="1" spc="-172" dirty="0">
                <a:latin typeface="Helvetica"/>
                <a:cs typeface="Helvetica"/>
              </a:rPr>
              <a:t>T</a:t>
            </a:r>
            <a:r>
              <a:rPr sz="2812" b="1" dirty="0">
                <a:latin typeface="Helvetica"/>
                <a:cs typeface="Helvetica"/>
              </a:rPr>
              <a:t>ra</a:t>
            </a:r>
            <a:r>
              <a:rPr sz="2812" b="1" spc="-14" dirty="0">
                <a:latin typeface="Helvetica"/>
                <a:cs typeface="Helvetica"/>
              </a:rPr>
              <a:t>i</a:t>
            </a:r>
            <a:r>
              <a:rPr sz="2812" b="1" spc="-11" dirty="0">
                <a:latin typeface="Helvetica"/>
                <a:cs typeface="Helvetica"/>
              </a:rPr>
              <a:t>t-</a:t>
            </a:r>
            <a:r>
              <a:rPr sz="2812" b="1" spc="-21" dirty="0">
                <a:latin typeface="Helvetica"/>
                <a:cs typeface="Helvetica"/>
              </a:rPr>
              <a:t>d</a:t>
            </a:r>
            <a:r>
              <a:rPr sz="2812" b="1" dirty="0">
                <a:latin typeface="Helvetica"/>
                <a:cs typeface="Helvetica"/>
              </a:rPr>
              <a:t>e</a:t>
            </a:r>
            <a:r>
              <a:rPr sz="2812" b="1" spc="-21" dirty="0">
                <a:latin typeface="Helvetica"/>
                <a:cs typeface="Helvetica"/>
              </a:rPr>
              <a:t>p</a:t>
            </a:r>
            <a:r>
              <a:rPr sz="2812" b="1" dirty="0">
                <a:latin typeface="Helvetica"/>
                <a:cs typeface="Helvetica"/>
              </a:rPr>
              <a:t>e</a:t>
            </a:r>
            <a:r>
              <a:rPr sz="2812" b="1" spc="-21" dirty="0">
                <a:latin typeface="Helvetica"/>
                <a:cs typeface="Helvetica"/>
              </a:rPr>
              <a:t>nd</a:t>
            </a:r>
            <a:r>
              <a:rPr sz="2812" b="1" dirty="0">
                <a:latin typeface="Helvetica"/>
                <a:cs typeface="Helvetica"/>
              </a:rPr>
              <a:t>e</a:t>
            </a:r>
            <a:r>
              <a:rPr sz="2812" b="1" spc="-21" dirty="0">
                <a:latin typeface="Helvetica"/>
                <a:cs typeface="Helvetica"/>
              </a:rPr>
              <a:t>n</a:t>
            </a:r>
            <a:r>
              <a:rPr sz="2812" b="1" dirty="0">
                <a:latin typeface="Helvetica"/>
                <a:cs typeface="Helvetica"/>
              </a:rPr>
              <a:t>t </a:t>
            </a:r>
            <a:r>
              <a:rPr sz="2812" b="1" spc="-21" dirty="0">
                <a:latin typeface="Helvetica"/>
                <a:cs typeface="Helvetica"/>
              </a:rPr>
              <a:t>model</a:t>
            </a:r>
            <a:r>
              <a:rPr lang="en-US" sz="2812" b="1" spc="-21" dirty="0">
                <a:latin typeface="Helvetica"/>
                <a:cs typeface="Helvetica"/>
              </a:rPr>
              <a:t> results</a:t>
            </a:r>
            <a:endParaRPr sz="2812" dirty="0">
              <a:latin typeface="Helvetica"/>
              <a:cs typeface="Helvetic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60" y="6661547"/>
            <a:ext cx="2160538" cy="173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lang="en-US" sz="1125" spc="-25" dirty="0">
                <a:latin typeface="Calibri"/>
                <a:cs typeface="Calibri"/>
              </a:rPr>
              <a:t>Klaus &amp; Matzke 2020</a:t>
            </a:r>
            <a:endParaRPr sz="112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40" y="428625"/>
            <a:ext cx="7946348" cy="6253635"/>
          </a:xfrm>
          <a:prstGeom prst="rect">
            <a:avLst/>
          </a:prstGeom>
        </p:spPr>
      </p:pic>
      <p:sp>
        <p:nvSpPr>
          <p:cNvPr id="7" name="object 3"/>
          <p:cNvSpPr txBox="1"/>
          <p:nvPr/>
        </p:nvSpPr>
        <p:spPr>
          <a:xfrm>
            <a:off x="178594" y="1054"/>
            <a:ext cx="6393656" cy="397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506" marR="3572" indent="-53576">
              <a:lnSpc>
                <a:spcPts val="3094"/>
              </a:lnSpc>
            </a:pPr>
            <a:r>
              <a:rPr sz="2812" b="1" spc="-172" dirty="0">
                <a:latin typeface="Helvetica"/>
                <a:cs typeface="Helvetica"/>
              </a:rPr>
              <a:t>T</a:t>
            </a:r>
            <a:r>
              <a:rPr sz="2812" b="1" dirty="0">
                <a:latin typeface="Helvetica"/>
                <a:cs typeface="Helvetica"/>
              </a:rPr>
              <a:t>ra</a:t>
            </a:r>
            <a:r>
              <a:rPr sz="2812" b="1" spc="-14" dirty="0">
                <a:latin typeface="Helvetica"/>
                <a:cs typeface="Helvetica"/>
              </a:rPr>
              <a:t>i</a:t>
            </a:r>
            <a:r>
              <a:rPr sz="2812" b="1" spc="-11" dirty="0">
                <a:latin typeface="Helvetica"/>
                <a:cs typeface="Helvetica"/>
              </a:rPr>
              <a:t>t-</a:t>
            </a:r>
            <a:r>
              <a:rPr sz="2812" b="1" spc="-21" dirty="0">
                <a:latin typeface="Helvetica"/>
                <a:cs typeface="Helvetica"/>
              </a:rPr>
              <a:t>d</a:t>
            </a:r>
            <a:r>
              <a:rPr sz="2812" b="1" dirty="0">
                <a:latin typeface="Helvetica"/>
                <a:cs typeface="Helvetica"/>
              </a:rPr>
              <a:t>e</a:t>
            </a:r>
            <a:r>
              <a:rPr sz="2812" b="1" spc="-21" dirty="0">
                <a:latin typeface="Helvetica"/>
                <a:cs typeface="Helvetica"/>
              </a:rPr>
              <a:t>p</a:t>
            </a:r>
            <a:r>
              <a:rPr sz="2812" b="1" dirty="0">
                <a:latin typeface="Helvetica"/>
                <a:cs typeface="Helvetica"/>
              </a:rPr>
              <a:t>e</a:t>
            </a:r>
            <a:r>
              <a:rPr sz="2812" b="1" spc="-21" dirty="0">
                <a:latin typeface="Helvetica"/>
                <a:cs typeface="Helvetica"/>
              </a:rPr>
              <a:t>nd</a:t>
            </a:r>
            <a:r>
              <a:rPr sz="2812" b="1" dirty="0">
                <a:latin typeface="Helvetica"/>
                <a:cs typeface="Helvetica"/>
              </a:rPr>
              <a:t>e</a:t>
            </a:r>
            <a:r>
              <a:rPr sz="2812" b="1" spc="-21" dirty="0">
                <a:latin typeface="Helvetica"/>
                <a:cs typeface="Helvetica"/>
              </a:rPr>
              <a:t>n</a:t>
            </a:r>
            <a:r>
              <a:rPr sz="2812" b="1" dirty="0">
                <a:latin typeface="Helvetica"/>
                <a:cs typeface="Helvetica"/>
              </a:rPr>
              <a:t>t </a:t>
            </a:r>
            <a:r>
              <a:rPr sz="2812" b="1" spc="-21" dirty="0">
                <a:latin typeface="Helvetica"/>
                <a:cs typeface="Helvetica"/>
              </a:rPr>
              <a:t>model</a:t>
            </a:r>
            <a:r>
              <a:rPr lang="en-US" sz="2812" b="1" spc="-21" dirty="0">
                <a:latin typeface="Helvetica"/>
                <a:cs typeface="Helvetica"/>
              </a:rPr>
              <a:t> results</a:t>
            </a:r>
            <a:endParaRPr sz="2812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40" y="428625"/>
            <a:ext cx="7946348" cy="625363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6554391" y="750094"/>
            <a:ext cx="445145" cy="5786438"/>
          </a:xfrm>
          <a:custGeom>
            <a:avLst/>
            <a:gdLst/>
            <a:ahLst/>
            <a:cxnLst/>
            <a:rect l="l" t="t" r="r" b="b"/>
            <a:pathLst>
              <a:path w="633095" h="8046084">
                <a:moveTo>
                  <a:pt x="0" y="0"/>
                </a:moveTo>
                <a:lnTo>
                  <a:pt x="632924" y="0"/>
                </a:lnTo>
                <a:lnTo>
                  <a:pt x="632924" y="8045648"/>
                </a:lnTo>
                <a:lnTo>
                  <a:pt x="0" y="8045648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FF330B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3"/>
          <p:cNvSpPr txBox="1"/>
          <p:nvPr/>
        </p:nvSpPr>
        <p:spPr>
          <a:xfrm>
            <a:off x="178594" y="1054"/>
            <a:ext cx="6393656" cy="397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506" marR="3572" indent="-53576">
              <a:lnSpc>
                <a:spcPts val="3094"/>
              </a:lnSpc>
            </a:pPr>
            <a:r>
              <a:rPr sz="2812" b="1" spc="-172" dirty="0">
                <a:latin typeface="Helvetica"/>
                <a:cs typeface="Helvetica"/>
              </a:rPr>
              <a:t>T</a:t>
            </a:r>
            <a:r>
              <a:rPr sz="2812" b="1" dirty="0">
                <a:latin typeface="Helvetica"/>
                <a:cs typeface="Helvetica"/>
              </a:rPr>
              <a:t>ra</a:t>
            </a:r>
            <a:r>
              <a:rPr sz="2812" b="1" spc="-14" dirty="0">
                <a:latin typeface="Helvetica"/>
                <a:cs typeface="Helvetica"/>
              </a:rPr>
              <a:t>i</a:t>
            </a:r>
            <a:r>
              <a:rPr sz="2812" b="1" spc="-11" dirty="0">
                <a:latin typeface="Helvetica"/>
                <a:cs typeface="Helvetica"/>
              </a:rPr>
              <a:t>t-</a:t>
            </a:r>
            <a:r>
              <a:rPr sz="2812" b="1" spc="-21" dirty="0">
                <a:latin typeface="Helvetica"/>
                <a:cs typeface="Helvetica"/>
              </a:rPr>
              <a:t>d</a:t>
            </a:r>
            <a:r>
              <a:rPr sz="2812" b="1" dirty="0">
                <a:latin typeface="Helvetica"/>
                <a:cs typeface="Helvetica"/>
              </a:rPr>
              <a:t>e</a:t>
            </a:r>
            <a:r>
              <a:rPr sz="2812" b="1" spc="-21" dirty="0">
                <a:latin typeface="Helvetica"/>
                <a:cs typeface="Helvetica"/>
              </a:rPr>
              <a:t>p</a:t>
            </a:r>
            <a:r>
              <a:rPr sz="2812" b="1" dirty="0">
                <a:latin typeface="Helvetica"/>
                <a:cs typeface="Helvetica"/>
              </a:rPr>
              <a:t>e</a:t>
            </a:r>
            <a:r>
              <a:rPr sz="2812" b="1" spc="-21" dirty="0">
                <a:latin typeface="Helvetica"/>
                <a:cs typeface="Helvetica"/>
              </a:rPr>
              <a:t>nd</a:t>
            </a:r>
            <a:r>
              <a:rPr sz="2812" b="1" dirty="0">
                <a:latin typeface="Helvetica"/>
                <a:cs typeface="Helvetica"/>
              </a:rPr>
              <a:t>e</a:t>
            </a:r>
            <a:r>
              <a:rPr sz="2812" b="1" spc="-21" dirty="0">
                <a:latin typeface="Helvetica"/>
                <a:cs typeface="Helvetica"/>
              </a:rPr>
              <a:t>n</a:t>
            </a:r>
            <a:r>
              <a:rPr sz="2812" b="1" dirty="0">
                <a:latin typeface="Helvetica"/>
                <a:cs typeface="Helvetica"/>
              </a:rPr>
              <a:t>t </a:t>
            </a:r>
            <a:r>
              <a:rPr sz="2812" b="1" spc="-21" dirty="0">
                <a:latin typeface="Helvetica"/>
                <a:cs typeface="Helvetica"/>
              </a:rPr>
              <a:t>model</a:t>
            </a:r>
            <a:r>
              <a:rPr lang="en-US" sz="2812" b="1" spc="-21" dirty="0">
                <a:latin typeface="Helvetica"/>
                <a:cs typeface="Helvetica"/>
              </a:rPr>
              <a:t> results</a:t>
            </a:r>
            <a:endParaRPr sz="2812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856182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8388" y="681989"/>
            <a:ext cx="7745612" cy="57527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8693104" y="769998"/>
            <a:ext cx="445145" cy="5657403"/>
          </a:xfrm>
          <a:custGeom>
            <a:avLst/>
            <a:gdLst/>
            <a:ahLst/>
            <a:cxnLst/>
            <a:rect l="l" t="t" r="r" b="b"/>
            <a:pathLst>
              <a:path w="633095" h="8046084">
                <a:moveTo>
                  <a:pt x="0" y="0"/>
                </a:moveTo>
                <a:lnTo>
                  <a:pt x="632924" y="0"/>
                </a:lnTo>
                <a:lnTo>
                  <a:pt x="632924" y="8045648"/>
                </a:lnTo>
                <a:lnTo>
                  <a:pt x="0" y="8045648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FF330B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353855" y="493742"/>
            <a:ext cx="8436291" cy="61996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402967" y="524996"/>
            <a:ext cx="8338096" cy="6101655"/>
          </a:xfrm>
          <a:custGeom>
            <a:avLst/>
            <a:gdLst/>
            <a:ahLst/>
            <a:cxnLst/>
            <a:rect l="l" t="t" r="r" b="b"/>
            <a:pathLst>
              <a:path w="11858625" h="8677910">
                <a:moveTo>
                  <a:pt x="0" y="0"/>
                </a:moveTo>
                <a:lnTo>
                  <a:pt x="11858581" y="0"/>
                </a:lnTo>
                <a:lnTo>
                  <a:pt x="11858581" y="8677631"/>
                </a:lnTo>
                <a:lnTo>
                  <a:pt x="0" y="8677631"/>
                </a:lnTo>
                <a:lnTo>
                  <a:pt x="0" y="0"/>
                </a:lnTo>
                <a:close/>
              </a:path>
            </a:pathLst>
          </a:custGeom>
          <a:solidFill>
            <a:srgbClr val="51A7F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402967" y="524996"/>
            <a:ext cx="8338096" cy="6101655"/>
          </a:xfrm>
          <a:custGeom>
            <a:avLst/>
            <a:gdLst/>
            <a:ahLst/>
            <a:cxnLst/>
            <a:rect l="l" t="t" r="r" b="b"/>
            <a:pathLst>
              <a:path w="11858625" h="8677910">
                <a:moveTo>
                  <a:pt x="0" y="0"/>
                </a:moveTo>
                <a:lnTo>
                  <a:pt x="11858581" y="0"/>
                </a:lnTo>
                <a:lnTo>
                  <a:pt x="11858581" y="8677631"/>
                </a:lnTo>
                <a:lnTo>
                  <a:pt x="0" y="8677631"/>
                </a:lnTo>
                <a:lnTo>
                  <a:pt x="0" y="0"/>
                </a:lnTo>
                <a:close/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 txBox="1"/>
          <p:nvPr/>
        </p:nvSpPr>
        <p:spPr>
          <a:xfrm>
            <a:off x="500063" y="803672"/>
            <a:ext cx="8150572" cy="4224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4341" indent="-266095">
              <a:spcBef>
                <a:spcPts val="169"/>
              </a:spcBef>
              <a:buFont typeface="Calibri"/>
              <a:buChar char="*"/>
              <a:tabLst>
                <a:tab pos="633092" algn="l"/>
              </a:tabLst>
            </a:pPr>
            <a:r>
              <a:rPr sz="3094" b="1" spc="-21" dirty="0">
                <a:latin typeface="Calibri"/>
                <a:cs typeface="Calibri"/>
              </a:rPr>
              <a:t>87</a:t>
            </a:r>
            <a:r>
              <a:rPr sz="3094" b="1" dirty="0">
                <a:latin typeface="Calibri"/>
                <a:cs typeface="Calibri"/>
              </a:rPr>
              <a:t>.</a:t>
            </a:r>
            <a:r>
              <a:rPr sz="3094" b="1" spc="-21" dirty="0">
                <a:latin typeface="Calibri"/>
                <a:cs typeface="Calibri"/>
              </a:rPr>
              <a:t>5</a:t>
            </a:r>
            <a:r>
              <a:rPr sz="3094" b="1" dirty="0">
                <a:latin typeface="Calibri"/>
                <a:cs typeface="Calibri"/>
              </a:rPr>
              <a:t>% </a:t>
            </a:r>
            <a:r>
              <a:rPr sz="3094" b="1" spc="-14" dirty="0">
                <a:latin typeface="Calibri"/>
                <a:cs typeface="Calibri"/>
              </a:rPr>
              <a:t>AI</a:t>
            </a:r>
            <a:r>
              <a:rPr sz="3094" b="1" dirty="0">
                <a:latin typeface="Calibri"/>
                <a:cs typeface="Calibri"/>
              </a:rPr>
              <a:t>Cc </a:t>
            </a:r>
            <a:r>
              <a:rPr sz="3094" b="1" spc="-25" dirty="0">
                <a:latin typeface="Calibri"/>
                <a:cs typeface="Calibri"/>
              </a:rPr>
              <a:t>w</a:t>
            </a:r>
            <a:r>
              <a:rPr sz="3094" b="1" dirty="0">
                <a:latin typeface="Calibri"/>
                <a:cs typeface="Calibri"/>
              </a:rPr>
              <a:t>e</a:t>
            </a:r>
            <a:r>
              <a:rPr sz="3094" b="1" spc="-11" dirty="0">
                <a:latin typeface="Calibri"/>
                <a:cs typeface="Calibri"/>
              </a:rPr>
              <a:t>i</a:t>
            </a:r>
            <a:r>
              <a:rPr sz="3094" b="1" dirty="0">
                <a:latin typeface="Calibri"/>
                <a:cs typeface="Calibri"/>
              </a:rPr>
              <a:t>g</a:t>
            </a:r>
            <a:r>
              <a:rPr sz="3094" b="1" spc="-49" dirty="0">
                <a:latin typeface="Calibri"/>
                <a:cs typeface="Calibri"/>
              </a:rPr>
              <a:t>h</a:t>
            </a:r>
            <a:r>
              <a:rPr sz="3094" b="1" spc="-14" dirty="0">
                <a:latin typeface="Calibri"/>
                <a:cs typeface="Calibri"/>
              </a:rPr>
              <a:t>t</a:t>
            </a:r>
            <a:r>
              <a:rPr sz="3094" b="1" dirty="0">
                <a:latin typeface="Calibri"/>
                <a:cs typeface="Calibri"/>
              </a:rPr>
              <a:t> </a:t>
            </a:r>
            <a:r>
              <a:rPr sz="3094" b="1" spc="-49" dirty="0">
                <a:latin typeface="Calibri"/>
                <a:cs typeface="Calibri"/>
              </a:rPr>
              <a:t>f</a:t>
            </a:r>
            <a:r>
              <a:rPr sz="3094" b="1" spc="-18" dirty="0">
                <a:latin typeface="Calibri"/>
                <a:cs typeface="Calibri"/>
              </a:rPr>
              <a:t>o</a:t>
            </a:r>
            <a:r>
              <a:rPr sz="3094" b="1" dirty="0">
                <a:latin typeface="Calibri"/>
                <a:cs typeface="Calibri"/>
              </a:rPr>
              <a:t>r </a:t>
            </a:r>
            <a:r>
              <a:rPr sz="3094" b="1" spc="-14" dirty="0">
                <a:latin typeface="Calibri"/>
                <a:cs typeface="Calibri"/>
              </a:rPr>
              <a:t>t</a:t>
            </a:r>
            <a:r>
              <a:rPr sz="3094" b="1" spc="-70" dirty="0">
                <a:latin typeface="Calibri"/>
                <a:cs typeface="Calibri"/>
              </a:rPr>
              <a:t>r</a:t>
            </a:r>
            <a:r>
              <a:rPr sz="3094" b="1" spc="-14" dirty="0">
                <a:latin typeface="Calibri"/>
                <a:cs typeface="Calibri"/>
              </a:rPr>
              <a:t>ai</a:t>
            </a:r>
            <a:r>
              <a:rPr sz="3094" b="1" spc="-91" dirty="0">
                <a:latin typeface="Calibri"/>
                <a:cs typeface="Calibri"/>
              </a:rPr>
              <a:t>t</a:t>
            </a:r>
            <a:r>
              <a:rPr sz="3094" b="1" dirty="0">
                <a:latin typeface="Calibri"/>
                <a:cs typeface="Calibri"/>
              </a:rPr>
              <a:t>-</a:t>
            </a:r>
            <a:r>
              <a:rPr sz="3094" b="1" spc="-18" dirty="0">
                <a:latin typeface="Calibri"/>
                <a:cs typeface="Calibri"/>
              </a:rPr>
              <a:t>d</a:t>
            </a:r>
            <a:r>
              <a:rPr sz="3094" b="1" dirty="0">
                <a:latin typeface="Calibri"/>
                <a:cs typeface="Calibri"/>
              </a:rPr>
              <a:t>e</a:t>
            </a:r>
            <a:r>
              <a:rPr sz="3094" b="1" spc="-18" dirty="0">
                <a:latin typeface="Calibri"/>
                <a:cs typeface="Calibri"/>
              </a:rPr>
              <a:t>p</a:t>
            </a:r>
            <a:r>
              <a:rPr sz="3094" b="1" dirty="0">
                <a:latin typeface="Calibri"/>
                <a:cs typeface="Calibri"/>
              </a:rPr>
              <a:t>e</a:t>
            </a:r>
            <a:r>
              <a:rPr sz="3094" b="1" spc="-18" dirty="0">
                <a:latin typeface="Calibri"/>
                <a:cs typeface="Calibri"/>
              </a:rPr>
              <a:t>nd</a:t>
            </a:r>
            <a:r>
              <a:rPr sz="3094" b="1" dirty="0">
                <a:latin typeface="Calibri"/>
                <a:cs typeface="Calibri"/>
              </a:rPr>
              <a:t>e</a:t>
            </a:r>
            <a:r>
              <a:rPr sz="3094" b="1" spc="-49" dirty="0">
                <a:latin typeface="Calibri"/>
                <a:cs typeface="Calibri"/>
              </a:rPr>
              <a:t>n</a:t>
            </a:r>
            <a:r>
              <a:rPr sz="3094" b="1" spc="-14" dirty="0">
                <a:latin typeface="Calibri"/>
                <a:cs typeface="Calibri"/>
              </a:rPr>
              <a:t>t</a:t>
            </a:r>
            <a:r>
              <a:rPr sz="3094" b="1" dirty="0">
                <a:latin typeface="Calibri"/>
                <a:cs typeface="Calibri"/>
              </a:rPr>
              <a:t> m</a:t>
            </a:r>
            <a:r>
              <a:rPr sz="3094" b="1" spc="-18" dirty="0">
                <a:latin typeface="Calibri"/>
                <a:cs typeface="Calibri"/>
              </a:rPr>
              <a:t>od</a:t>
            </a:r>
            <a:r>
              <a:rPr sz="3094" b="1" dirty="0">
                <a:latin typeface="Calibri"/>
                <a:cs typeface="Calibri"/>
              </a:rPr>
              <a:t>e</a:t>
            </a:r>
            <a:r>
              <a:rPr sz="3094" b="1" spc="-11" dirty="0">
                <a:latin typeface="Calibri"/>
                <a:cs typeface="Calibri"/>
              </a:rPr>
              <a:t>ls</a:t>
            </a:r>
            <a:endParaRPr sz="3094" dirty="0">
              <a:latin typeface="Calibri"/>
              <a:cs typeface="Calibri"/>
            </a:endParaRPr>
          </a:p>
          <a:p>
            <a:pPr marL="614341" marR="984910" indent="-266095">
              <a:lnSpc>
                <a:spcPct val="102299"/>
              </a:lnSpc>
              <a:buFont typeface="Calibri"/>
              <a:buChar char="*"/>
              <a:tabLst>
                <a:tab pos="633092" algn="l"/>
              </a:tabLst>
            </a:pPr>
            <a:r>
              <a:rPr sz="3094" b="1" spc="-14" dirty="0">
                <a:latin typeface="Calibri"/>
                <a:cs typeface="Calibri"/>
              </a:rPr>
              <a:t>Line</a:t>
            </a:r>
            <a:r>
              <a:rPr sz="3094" b="1" spc="-18" dirty="0">
                <a:latin typeface="Calibri"/>
                <a:cs typeface="Calibri"/>
              </a:rPr>
              <a:t>a</a:t>
            </a:r>
            <a:r>
              <a:rPr sz="3094" b="1" spc="-35" dirty="0">
                <a:latin typeface="Calibri"/>
                <a:cs typeface="Calibri"/>
              </a:rPr>
              <a:t>g</a:t>
            </a:r>
            <a:r>
              <a:rPr sz="3094" b="1" dirty="0">
                <a:latin typeface="Calibri"/>
                <a:cs typeface="Calibri"/>
              </a:rPr>
              <a:t>e</a:t>
            </a:r>
            <a:r>
              <a:rPr sz="3094" b="1" spc="-14" dirty="0">
                <a:latin typeface="Calibri"/>
                <a:cs typeface="Calibri"/>
              </a:rPr>
              <a:t>s</a:t>
            </a:r>
            <a:r>
              <a:rPr sz="3094" b="1" dirty="0">
                <a:latin typeface="Calibri"/>
                <a:cs typeface="Calibri"/>
              </a:rPr>
              <a:t> w</a:t>
            </a:r>
            <a:r>
              <a:rPr sz="3094" b="1" spc="-14" dirty="0">
                <a:latin typeface="Calibri"/>
                <a:cs typeface="Calibri"/>
              </a:rPr>
              <a:t>ith</a:t>
            </a:r>
            <a:r>
              <a:rPr sz="3094" b="1" dirty="0">
                <a:latin typeface="Calibri"/>
                <a:cs typeface="Calibri"/>
              </a:rPr>
              <a:t> </a:t>
            </a:r>
            <a:r>
              <a:rPr sz="3094" b="1" spc="-18" dirty="0">
                <a:latin typeface="Calibri"/>
                <a:cs typeface="Calibri"/>
              </a:rPr>
              <a:t>no</a:t>
            </a:r>
            <a:r>
              <a:rPr sz="3094" b="1" spc="-35" dirty="0">
                <a:latin typeface="Calibri"/>
                <a:cs typeface="Calibri"/>
              </a:rPr>
              <a:t>n</a:t>
            </a:r>
            <a:r>
              <a:rPr sz="3094" b="1" dirty="0">
                <a:latin typeface="Calibri"/>
                <a:cs typeface="Calibri"/>
              </a:rPr>
              <a:t>ﬂe</a:t>
            </a:r>
            <a:r>
              <a:rPr sz="3094" b="1" spc="-18" dirty="0">
                <a:latin typeface="Calibri"/>
                <a:cs typeface="Calibri"/>
              </a:rPr>
              <a:t>s</a:t>
            </a:r>
            <a:r>
              <a:rPr sz="3094" b="1" spc="-74" dirty="0">
                <a:latin typeface="Calibri"/>
                <a:cs typeface="Calibri"/>
              </a:rPr>
              <a:t>h</a:t>
            </a:r>
            <a:r>
              <a:rPr sz="3094" b="1" spc="-18" dirty="0">
                <a:latin typeface="Calibri"/>
                <a:cs typeface="Calibri"/>
              </a:rPr>
              <a:t>y</a:t>
            </a:r>
            <a:r>
              <a:rPr sz="3094" b="1" dirty="0">
                <a:latin typeface="Calibri"/>
                <a:cs typeface="Calibri"/>
              </a:rPr>
              <a:t> </a:t>
            </a:r>
            <a:r>
              <a:rPr sz="3094" b="1" spc="-18" dirty="0">
                <a:latin typeface="Calibri"/>
                <a:cs typeface="Calibri"/>
              </a:rPr>
              <a:t>con</a:t>
            </a:r>
            <a:r>
              <a:rPr sz="3094" b="1" dirty="0">
                <a:latin typeface="Calibri"/>
                <a:cs typeface="Calibri"/>
              </a:rPr>
              <a:t>e</a:t>
            </a:r>
            <a:r>
              <a:rPr sz="3094" b="1" spc="-14" dirty="0">
                <a:latin typeface="Calibri"/>
                <a:cs typeface="Calibri"/>
              </a:rPr>
              <a:t>s</a:t>
            </a:r>
            <a:r>
              <a:rPr sz="3094" b="1" dirty="0">
                <a:latin typeface="Calibri"/>
                <a:cs typeface="Calibri"/>
              </a:rPr>
              <a:t> </a:t>
            </a:r>
            <a:r>
              <a:rPr sz="3094" b="1" spc="-18" dirty="0">
                <a:latin typeface="Calibri"/>
                <a:cs typeface="Calibri"/>
              </a:rPr>
              <a:t>h</a:t>
            </a:r>
            <a:r>
              <a:rPr sz="3094" b="1" spc="-63" dirty="0">
                <a:latin typeface="Calibri"/>
                <a:cs typeface="Calibri"/>
              </a:rPr>
              <a:t>a</a:t>
            </a:r>
            <a:r>
              <a:rPr sz="3094" b="1" spc="-32" dirty="0">
                <a:latin typeface="Calibri"/>
                <a:cs typeface="Calibri"/>
              </a:rPr>
              <a:t>v</a:t>
            </a:r>
            <a:r>
              <a:rPr sz="3094" b="1" dirty="0">
                <a:latin typeface="Calibri"/>
                <a:cs typeface="Calibri"/>
              </a:rPr>
              <a:t>e </a:t>
            </a:r>
            <a:r>
              <a:rPr sz="3094" b="1" spc="-18" dirty="0">
                <a:latin typeface="Calibri"/>
                <a:cs typeface="Calibri"/>
              </a:rPr>
              <a:t>a</a:t>
            </a:r>
            <a:r>
              <a:rPr sz="3094" b="1" spc="-7" dirty="0">
                <a:latin typeface="Calibri"/>
                <a:cs typeface="Calibri"/>
              </a:rPr>
              <a:t> </a:t>
            </a:r>
            <a:r>
              <a:rPr sz="3094" b="1" spc="-21" dirty="0">
                <a:latin typeface="Calibri"/>
                <a:cs typeface="Calibri"/>
              </a:rPr>
              <a:t>d</a:t>
            </a:r>
            <a:r>
              <a:rPr sz="3094" b="1" spc="-14" dirty="0">
                <a:latin typeface="Calibri"/>
                <a:cs typeface="Calibri"/>
              </a:rPr>
              <a:t>is</a:t>
            </a:r>
            <a:r>
              <a:rPr sz="3094" b="1" spc="-21" dirty="0">
                <a:latin typeface="Calibri"/>
                <a:cs typeface="Calibri"/>
              </a:rPr>
              <a:t>p</a:t>
            </a:r>
            <a:r>
              <a:rPr sz="3094" b="1" spc="-4" dirty="0">
                <a:latin typeface="Calibri"/>
                <a:cs typeface="Calibri"/>
              </a:rPr>
              <a:t>e</a:t>
            </a:r>
            <a:r>
              <a:rPr sz="3094" b="1" spc="-39" dirty="0">
                <a:latin typeface="Calibri"/>
                <a:cs typeface="Calibri"/>
              </a:rPr>
              <a:t>r</a:t>
            </a:r>
            <a:r>
              <a:rPr sz="3094" b="1" spc="-14" dirty="0">
                <a:latin typeface="Calibri"/>
                <a:cs typeface="Calibri"/>
              </a:rPr>
              <a:t>sal</a:t>
            </a:r>
            <a:r>
              <a:rPr sz="3094" b="1" spc="-4" dirty="0">
                <a:latin typeface="Calibri"/>
                <a:cs typeface="Calibri"/>
              </a:rPr>
              <a:t> </a:t>
            </a:r>
            <a:r>
              <a:rPr sz="3094" b="1" spc="-70" dirty="0">
                <a:latin typeface="Calibri"/>
                <a:cs typeface="Calibri"/>
              </a:rPr>
              <a:t>r</a:t>
            </a:r>
            <a:r>
              <a:rPr sz="3094" b="1" spc="-49" dirty="0">
                <a:latin typeface="Calibri"/>
                <a:cs typeface="Calibri"/>
              </a:rPr>
              <a:t>a</a:t>
            </a:r>
            <a:r>
              <a:rPr sz="3094" b="1" spc="-56" dirty="0">
                <a:latin typeface="Calibri"/>
                <a:cs typeface="Calibri"/>
              </a:rPr>
              <a:t>t</a:t>
            </a:r>
            <a:r>
              <a:rPr sz="3094" b="1" dirty="0">
                <a:latin typeface="Calibri"/>
                <a:cs typeface="Calibri"/>
              </a:rPr>
              <a:t>e</a:t>
            </a:r>
            <a:r>
              <a:rPr sz="3094" b="1" spc="-4" dirty="0">
                <a:latin typeface="Calibri"/>
                <a:cs typeface="Calibri"/>
              </a:rPr>
              <a:t> </a:t>
            </a:r>
            <a:r>
              <a:rPr sz="3094" b="1" spc="-18" dirty="0">
                <a:latin typeface="Calibri"/>
                <a:cs typeface="Calibri"/>
              </a:rPr>
              <a:t>a</a:t>
            </a:r>
            <a:r>
              <a:rPr sz="3094" b="1" spc="-21" dirty="0">
                <a:latin typeface="Calibri"/>
                <a:cs typeface="Calibri"/>
              </a:rPr>
              <a:t>bou</a:t>
            </a:r>
            <a:r>
              <a:rPr sz="3094" b="1" spc="-14" dirty="0">
                <a:latin typeface="Calibri"/>
                <a:cs typeface="Calibri"/>
              </a:rPr>
              <a:t>t</a:t>
            </a:r>
            <a:r>
              <a:rPr sz="3094" b="1" spc="11" dirty="0">
                <a:latin typeface="Calibri"/>
                <a:cs typeface="Calibri"/>
              </a:rPr>
              <a:t> </a:t>
            </a:r>
            <a:r>
              <a:rPr sz="3094" b="1" i="1" spc="-28" dirty="0">
                <a:latin typeface="Calibri"/>
                <a:cs typeface="Calibri"/>
              </a:rPr>
              <a:t>m</a:t>
            </a:r>
            <a:r>
              <a:rPr sz="3058" b="1" spc="11" baseline="-6704" dirty="0">
                <a:latin typeface="Calibri"/>
                <a:cs typeface="Calibri"/>
              </a:rPr>
              <a:t>2</a:t>
            </a:r>
            <a:r>
              <a:rPr sz="3094" b="1" spc="-21" dirty="0">
                <a:latin typeface="Calibri"/>
                <a:cs typeface="Calibri"/>
              </a:rPr>
              <a:t>=0</a:t>
            </a:r>
            <a:r>
              <a:rPr sz="3094" b="1" dirty="0">
                <a:latin typeface="Calibri"/>
                <a:cs typeface="Calibri"/>
              </a:rPr>
              <a:t>.</a:t>
            </a:r>
            <a:r>
              <a:rPr sz="3094" b="1" spc="-21" dirty="0">
                <a:latin typeface="Calibri"/>
                <a:cs typeface="Calibri"/>
              </a:rPr>
              <a:t>4</a:t>
            </a:r>
            <a:r>
              <a:rPr sz="3094" b="1" spc="-18" dirty="0">
                <a:latin typeface="Calibri"/>
                <a:cs typeface="Calibri"/>
              </a:rPr>
              <a:t>9</a:t>
            </a:r>
            <a:r>
              <a:rPr sz="3094" b="1" dirty="0">
                <a:latin typeface="Calibri"/>
                <a:cs typeface="Calibri"/>
              </a:rPr>
              <a:t> </a:t>
            </a:r>
            <a:r>
              <a:rPr sz="3094" b="1" spc="-11" dirty="0">
                <a:latin typeface="Calibri"/>
                <a:cs typeface="Calibri"/>
              </a:rPr>
              <a:t>l</a:t>
            </a:r>
            <a:r>
              <a:rPr sz="3094" b="1" spc="-25" dirty="0">
                <a:latin typeface="Calibri"/>
                <a:cs typeface="Calibri"/>
              </a:rPr>
              <a:t>ow</a:t>
            </a:r>
            <a:r>
              <a:rPr sz="3094" b="1" dirty="0">
                <a:latin typeface="Calibri"/>
                <a:cs typeface="Calibri"/>
              </a:rPr>
              <a:t>er </a:t>
            </a:r>
            <a:r>
              <a:rPr sz="3094" b="1" spc="-18" dirty="0">
                <a:latin typeface="Calibri"/>
                <a:cs typeface="Calibri"/>
              </a:rPr>
              <a:t>than</a:t>
            </a:r>
            <a:r>
              <a:rPr sz="3094" b="1" spc="-7" dirty="0">
                <a:latin typeface="Calibri"/>
                <a:cs typeface="Calibri"/>
              </a:rPr>
              <a:t> </a:t>
            </a:r>
            <a:r>
              <a:rPr sz="3094" b="1" spc="-4" dirty="0">
                <a:latin typeface="Calibri"/>
                <a:cs typeface="Calibri"/>
              </a:rPr>
              <a:t>ﬂes</a:t>
            </a:r>
            <a:r>
              <a:rPr sz="3094" b="1" spc="-60" dirty="0">
                <a:latin typeface="Calibri"/>
                <a:cs typeface="Calibri"/>
              </a:rPr>
              <a:t>h</a:t>
            </a:r>
            <a:r>
              <a:rPr sz="3094" b="1" spc="-18" dirty="0">
                <a:latin typeface="Calibri"/>
                <a:cs typeface="Calibri"/>
              </a:rPr>
              <a:t>y</a:t>
            </a:r>
            <a:r>
              <a:rPr sz="3094" b="1" spc="-4" dirty="0">
                <a:latin typeface="Calibri"/>
                <a:cs typeface="Calibri"/>
              </a:rPr>
              <a:t> </a:t>
            </a:r>
            <a:r>
              <a:rPr sz="3094" b="1" spc="-18" dirty="0">
                <a:latin typeface="Calibri"/>
                <a:cs typeface="Calibri"/>
              </a:rPr>
              <a:t>c</a:t>
            </a:r>
            <a:r>
              <a:rPr sz="3094" b="1" spc="-21" dirty="0">
                <a:latin typeface="Calibri"/>
                <a:cs typeface="Calibri"/>
              </a:rPr>
              <a:t>on</a:t>
            </a:r>
            <a:r>
              <a:rPr sz="3094" b="1" dirty="0">
                <a:latin typeface="Calibri"/>
                <a:cs typeface="Calibri"/>
              </a:rPr>
              <a:t>e</a:t>
            </a:r>
            <a:r>
              <a:rPr sz="3094" b="1" spc="-4" dirty="0">
                <a:latin typeface="Calibri"/>
                <a:cs typeface="Calibri"/>
              </a:rPr>
              <a:t> </a:t>
            </a:r>
            <a:r>
              <a:rPr sz="3094" b="1" spc="-14" dirty="0">
                <a:latin typeface="Calibri"/>
                <a:cs typeface="Calibri"/>
              </a:rPr>
              <a:t>li</a:t>
            </a:r>
            <a:r>
              <a:rPr sz="3094" b="1" spc="-21" dirty="0">
                <a:latin typeface="Calibri"/>
                <a:cs typeface="Calibri"/>
              </a:rPr>
              <a:t>n</a:t>
            </a:r>
            <a:r>
              <a:rPr sz="3094" b="1" spc="-4" dirty="0">
                <a:latin typeface="Calibri"/>
                <a:cs typeface="Calibri"/>
              </a:rPr>
              <a:t>ea</a:t>
            </a:r>
            <a:r>
              <a:rPr sz="3094" b="1" spc="-35" dirty="0">
                <a:latin typeface="Calibri"/>
                <a:cs typeface="Calibri"/>
              </a:rPr>
              <a:t>g</a:t>
            </a:r>
            <a:r>
              <a:rPr sz="3094" b="1" spc="-4" dirty="0">
                <a:latin typeface="Calibri"/>
                <a:cs typeface="Calibri"/>
              </a:rPr>
              <a:t>es</a:t>
            </a:r>
            <a:endParaRPr sz="3094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094" dirty="0">
              <a:latin typeface="Times New Roman"/>
              <a:cs typeface="Times New Roman"/>
            </a:endParaRPr>
          </a:p>
          <a:p>
            <a:pPr marL="830431" marR="5792036" algn="ctr">
              <a:lnSpc>
                <a:spcPct val="102400"/>
              </a:lnSpc>
              <a:spcBef>
                <a:spcPts val="1912"/>
              </a:spcBef>
            </a:pPr>
            <a:r>
              <a:rPr sz="3375" b="1" spc="-25" dirty="0">
                <a:latin typeface="Calibri"/>
                <a:cs typeface="Calibri"/>
              </a:rPr>
              <a:t>D</a:t>
            </a:r>
            <a:r>
              <a:rPr sz="3375" b="1" spc="-14" dirty="0">
                <a:latin typeface="Calibri"/>
                <a:cs typeface="Calibri"/>
              </a:rPr>
              <a:t>i</a:t>
            </a:r>
            <a:r>
              <a:rPr sz="3375" b="1" spc="-56" dirty="0">
                <a:latin typeface="Calibri"/>
                <a:cs typeface="Calibri"/>
              </a:rPr>
              <a:t>s</a:t>
            </a:r>
            <a:r>
              <a:rPr sz="3375" b="1" spc="-49" dirty="0">
                <a:latin typeface="Calibri"/>
                <a:cs typeface="Calibri"/>
              </a:rPr>
              <a:t>t</a:t>
            </a:r>
            <a:r>
              <a:rPr sz="3375" b="1" spc="-21" dirty="0">
                <a:latin typeface="Calibri"/>
                <a:cs typeface="Calibri"/>
              </a:rPr>
              <a:t>an</a:t>
            </a:r>
            <a:r>
              <a:rPr sz="3375" b="1" spc="-4" dirty="0">
                <a:latin typeface="Calibri"/>
                <a:cs typeface="Calibri"/>
              </a:rPr>
              <a:t>ce </a:t>
            </a:r>
            <a:r>
              <a:rPr sz="3375" b="1" spc="-28" dirty="0">
                <a:latin typeface="Calibri"/>
                <a:cs typeface="Calibri"/>
              </a:rPr>
              <a:t>e</a:t>
            </a:r>
            <a:r>
              <a:rPr sz="3375" b="1" spc="-60" dirty="0">
                <a:latin typeface="Calibri"/>
                <a:cs typeface="Calibri"/>
              </a:rPr>
              <a:t>ﬀ</a:t>
            </a:r>
            <a:r>
              <a:rPr sz="3375" b="1" spc="-4" dirty="0">
                <a:latin typeface="Calibri"/>
                <a:cs typeface="Calibri"/>
              </a:rPr>
              <a:t>ec</a:t>
            </a:r>
            <a:r>
              <a:rPr sz="3375" b="1" spc="-11" dirty="0">
                <a:latin typeface="Calibri"/>
                <a:cs typeface="Calibri"/>
              </a:rPr>
              <a:t>t: </a:t>
            </a:r>
            <a:r>
              <a:rPr sz="3375" b="1" i="1" dirty="0">
                <a:latin typeface="Calibri"/>
                <a:cs typeface="Calibri"/>
              </a:rPr>
              <a:t>x</a:t>
            </a:r>
            <a:r>
              <a:rPr sz="3375" b="1" spc="-4" dirty="0">
                <a:latin typeface="Calibri"/>
                <a:cs typeface="Calibri"/>
              </a:rPr>
              <a:t>=</a:t>
            </a:r>
            <a:r>
              <a:rPr sz="3375" b="1" dirty="0">
                <a:latin typeface="Calibri"/>
                <a:cs typeface="Calibri"/>
              </a:rPr>
              <a:t>-</a:t>
            </a:r>
            <a:r>
              <a:rPr sz="3375" b="1" spc="-21" dirty="0">
                <a:latin typeface="Calibri"/>
                <a:cs typeface="Calibri"/>
              </a:rPr>
              <a:t>0</a:t>
            </a:r>
            <a:r>
              <a:rPr sz="3375" b="1" dirty="0">
                <a:latin typeface="Calibri"/>
                <a:cs typeface="Calibri"/>
              </a:rPr>
              <a:t>.</a:t>
            </a:r>
            <a:r>
              <a:rPr sz="3375" b="1" spc="-21" dirty="0">
                <a:latin typeface="Calibri"/>
                <a:cs typeface="Calibri"/>
              </a:rPr>
              <a:t>8</a:t>
            </a:r>
            <a:r>
              <a:rPr sz="3375" b="1" spc="-18" dirty="0">
                <a:latin typeface="Calibri"/>
                <a:cs typeface="Calibri"/>
              </a:rPr>
              <a:t>6</a:t>
            </a:r>
            <a:endParaRPr sz="3375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17936" y="3676556"/>
            <a:ext cx="2508349" cy="2546300"/>
          </a:xfrm>
          <a:custGeom>
            <a:avLst/>
            <a:gdLst/>
            <a:ahLst/>
            <a:cxnLst/>
            <a:rect l="l" t="t" r="r" b="b"/>
            <a:pathLst>
              <a:path w="3567429" h="3621404">
                <a:moveTo>
                  <a:pt x="0" y="0"/>
                </a:moveTo>
                <a:lnTo>
                  <a:pt x="3567135" y="0"/>
                </a:lnTo>
                <a:lnTo>
                  <a:pt x="3567135" y="3621202"/>
                </a:lnTo>
                <a:lnTo>
                  <a:pt x="0" y="36212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6117937" y="3676556"/>
            <a:ext cx="2508142" cy="25461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/>
          <p:nvPr/>
        </p:nvSpPr>
        <p:spPr>
          <a:xfrm>
            <a:off x="3521659" y="3703609"/>
            <a:ext cx="2508349" cy="2525762"/>
          </a:xfrm>
          <a:custGeom>
            <a:avLst/>
            <a:gdLst/>
            <a:ahLst/>
            <a:cxnLst/>
            <a:rect l="l" t="t" r="r" b="b"/>
            <a:pathLst>
              <a:path w="3567429" h="3592195">
                <a:moveTo>
                  <a:pt x="0" y="0"/>
                </a:moveTo>
                <a:lnTo>
                  <a:pt x="3567047" y="0"/>
                </a:lnTo>
                <a:lnTo>
                  <a:pt x="3567047" y="3591792"/>
                </a:lnTo>
                <a:lnTo>
                  <a:pt x="0" y="35917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2" name="object 12"/>
          <p:cNvSpPr/>
          <p:nvPr/>
        </p:nvSpPr>
        <p:spPr>
          <a:xfrm>
            <a:off x="3521660" y="3703609"/>
            <a:ext cx="2508080" cy="25254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3" name="object 13"/>
          <p:cNvSpPr txBox="1"/>
          <p:nvPr/>
        </p:nvSpPr>
        <p:spPr>
          <a:xfrm>
            <a:off x="535781" y="6215063"/>
            <a:ext cx="3324523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b="1" spc="-130" dirty="0">
                <a:latin typeface="Calibri"/>
                <a:cs typeface="Calibri"/>
              </a:rPr>
              <a:t>T</a:t>
            </a:r>
            <a:r>
              <a:rPr sz="2531" b="1" spc="-56" dirty="0">
                <a:latin typeface="Calibri"/>
                <a:cs typeface="Calibri"/>
              </a:rPr>
              <a:t>r</a:t>
            </a:r>
            <a:r>
              <a:rPr sz="2531" b="1" spc="-11" dirty="0">
                <a:latin typeface="Calibri"/>
                <a:cs typeface="Calibri"/>
              </a:rPr>
              <a:t>ai</a:t>
            </a:r>
            <a:r>
              <a:rPr sz="2531" b="1" spc="-74" dirty="0">
                <a:latin typeface="Calibri"/>
                <a:cs typeface="Calibri"/>
              </a:rPr>
              <a:t>t</a:t>
            </a:r>
            <a:r>
              <a:rPr sz="2531" b="1" spc="-4" dirty="0">
                <a:latin typeface="Calibri"/>
                <a:cs typeface="Calibri"/>
              </a:rPr>
              <a:t>-</a:t>
            </a:r>
            <a:r>
              <a:rPr sz="2531" b="1" spc="-11" dirty="0">
                <a:latin typeface="Calibri"/>
                <a:cs typeface="Calibri"/>
              </a:rPr>
              <a:t>di</a:t>
            </a:r>
            <a:r>
              <a:rPr sz="2531" b="1" spc="-14" dirty="0">
                <a:latin typeface="Calibri"/>
                <a:cs typeface="Calibri"/>
              </a:rPr>
              <a:t>sp</a:t>
            </a:r>
            <a:r>
              <a:rPr sz="2531" b="1" dirty="0">
                <a:latin typeface="Calibri"/>
                <a:cs typeface="Calibri"/>
              </a:rPr>
              <a:t>e</a:t>
            </a:r>
            <a:r>
              <a:rPr sz="2531" b="1" spc="-32" dirty="0">
                <a:latin typeface="Calibri"/>
                <a:cs typeface="Calibri"/>
              </a:rPr>
              <a:t>r</a:t>
            </a:r>
            <a:r>
              <a:rPr sz="2531" b="1" spc="-14" dirty="0">
                <a:latin typeface="Calibri"/>
                <a:cs typeface="Calibri"/>
              </a:rPr>
              <a:t>s</a:t>
            </a:r>
            <a:r>
              <a:rPr sz="2531" b="1" spc="-11" dirty="0">
                <a:latin typeface="Calibri"/>
                <a:cs typeface="Calibri"/>
              </a:rPr>
              <a:t>al</a:t>
            </a:r>
            <a:r>
              <a:rPr sz="2531" b="1" dirty="0">
                <a:latin typeface="Calibri"/>
                <a:cs typeface="Calibri"/>
              </a:rPr>
              <a:t> m</a:t>
            </a:r>
            <a:r>
              <a:rPr sz="2531" b="1" spc="-14" dirty="0">
                <a:latin typeface="Calibri"/>
                <a:cs typeface="Calibri"/>
              </a:rPr>
              <a:t>odi</a:t>
            </a:r>
            <a:r>
              <a:rPr sz="2531" b="1" spc="-4" dirty="0">
                <a:latin typeface="Calibri"/>
                <a:cs typeface="Calibri"/>
              </a:rPr>
              <a:t>ﬁ</a:t>
            </a:r>
            <a:r>
              <a:rPr sz="2531" b="1" dirty="0">
                <a:latin typeface="Calibri"/>
                <a:cs typeface="Calibri"/>
              </a:rPr>
              <a:t>e</a:t>
            </a:r>
            <a:r>
              <a:rPr sz="2531" b="1" spc="-32" dirty="0">
                <a:latin typeface="Calibri"/>
                <a:cs typeface="Calibri"/>
              </a:rPr>
              <a:t>r</a:t>
            </a:r>
            <a:r>
              <a:rPr sz="2531" b="1" spc="-14" dirty="0">
                <a:latin typeface="Calibri"/>
                <a:cs typeface="Calibri"/>
              </a:rPr>
              <a:t>s</a:t>
            </a:r>
            <a:r>
              <a:rPr sz="2531" b="1" spc="-7" dirty="0">
                <a:latin typeface="Calibri"/>
                <a:cs typeface="Calibri"/>
              </a:rPr>
              <a:t>:</a:t>
            </a:r>
            <a:endParaRPr sz="2531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06195" y="6215063"/>
            <a:ext cx="1119783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b="1" i="1" spc="-21" dirty="0">
                <a:latin typeface="Calibri"/>
                <a:cs typeface="Calibri"/>
              </a:rPr>
              <a:t>m</a:t>
            </a:r>
            <a:r>
              <a:rPr sz="2531" b="1" spc="-15" baseline="-6944" dirty="0">
                <a:latin typeface="Calibri"/>
                <a:cs typeface="Calibri"/>
              </a:rPr>
              <a:t>2</a:t>
            </a:r>
            <a:r>
              <a:rPr sz="2531" b="1" spc="-18" dirty="0">
                <a:latin typeface="Calibri"/>
                <a:cs typeface="Calibri"/>
              </a:rPr>
              <a:t>=0</a:t>
            </a:r>
            <a:r>
              <a:rPr sz="2531" b="1" dirty="0">
                <a:latin typeface="Calibri"/>
                <a:cs typeface="Calibri"/>
              </a:rPr>
              <a:t>.</a:t>
            </a:r>
            <a:r>
              <a:rPr sz="2531" b="1" spc="-18" dirty="0">
                <a:latin typeface="Calibri"/>
                <a:cs typeface="Calibri"/>
              </a:rPr>
              <a:t>4</a:t>
            </a:r>
            <a:r>
              <a:rPr sz="2531" b="1" spc="-14" dirty="0">
                <a:latin typeface="Calibri"/>
                <a:cs typeface="Calibri"/>
              </a:rPr>
              <a:t>9</a:t>
            </a:r>
            <a:endParaRPr sz="2531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41602" y="6197203"/>
            <a:ext cx="956816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b="1" i="1" spc="-21" dirty="0">
                <a:latin typeface="Calibri"/>
                <a:cs typeface="Calibri"/>
              </a:rPr>
              <a:t>m</a:t>
            </a:r>
            <a:r>
              <a:rPr sz="2531" b="1" spc="-15" baseline="-6944" dirty="0">
                <a:latin typeface="Calibri"/>
                <a:cs typeface="Calibri"/>
              </a:rPr>
              <a:t>1</a:t>
            </a:r>
            <a:r>
              <a:rPr sz="2531" b="1" spc="-18" dirty="0">
                <a:latin typeface="Calibri"/>
                <a:cs typeface="Calibri"/>
              </a:rPr>
              <a:t>=1</a:t>
            </a:r>
            <a:r>
              <a:rPr sz="2531" b="1" dirty="0">
                <a:latin typeface="Calibri"/>
                <a:cs typeface="Calibri"/>
              </a:rPr>
              <a:t>.</a:t>
            </a:r>
            <a:r>
              <a:rPr sz="2531" b="1" spc="-14" dirty="0">
                <a:latin typeface="Calibri"/>
                <a:cs typeface="Calibri"/>
              </a:rPr>
              <a:t>0</a:t>
            </a:r>
            <a:endParaRPr sz="2531">
              <a:latin typeface="Calibri"/>
              <a:cs typeface="Calibri"/>
            </a:endParaRPr>
          </a:p>
        </p:txBody>
      </p:sp>
      <p:sp>
        <p:nvSpPr>
          <p:cNvPr id="18" name="object 3"/>
          <p:cNvSpPr txBox="1"/>
          <p:nvPr/>
        </p:nvSpPr>
        <p:spPr>
          <a:xfrm>
            <a:off x="285750" y="2107"/>
            <a:ext cx="6393656" cy="397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506" marR="3572" indent="-53576">
              <a:lnSpc>
                <a:spcPts val="3094"/>
              </a:lnSpc>
            </a:pPr>
            <a:r>
              <a:rPr sz="2812" b="1" spc="-172" dirty="0">
                <a:latin typeface="Helvetica"/>
                <a:cs typeface="Helvetica"/>
              </a:rPr>
              <a:t>T</a:t>
            </a:r>
            <a:r>
              <a:rPr sz="2812" b="1" dirty="0">
                <a:latin typeface="Helvetica"/>
                <a:cs typeface="Helvetica"/>
              </a:rPr>
              <a:t>ra</a:t>
            </a:r>
            <a:r>
              <a:rPr sz="2812" b="1" spc="-14" dirty="0">
                <a:latin typeface="Helvetica"/>
                <a:cs typeface="Helvetica"/>
              </a:rPr>
              <a:t>i</a:t>
            </a:r>
            <a:r>
              <a:rPr sz="2812" b="1" spc="-11" dirty="0">
                <a:latin typeface="Helvetica"/>
                <a:cs typeface="Helvetica"/>
              </a:rPr>
              <a:t>t-</a:t>
            </a:r>
            <a:r>
              <a:rPr sz="2812" b="1" spc="-21" dirty="0">
                <a:latin typeface="Helvetica"/>
                <a:cs typeface="Helvetica"/>
              </a:rPr>
              <a:t>d</a:t>
            </a:r>
            <a:r>
              <a:rPr sz="2812" b="1" dirty="0">
                <a:latin typeface="Helvetica"/>
                <a:cs typeface="Helvetica"/>
              </a:rPr>
              <a:t>e</a:t>
            </a:r>
            <a:r>
              <a:rPr sz="2812" b="1" spc="-21" dirty="0">
                <a:latin typeface="Helvetica"/>
                <a:cs typeface="Helvetica"/>
              </a:rPr>
              <a:t>p</a:t>
            </a:r>
            <a:r>
              <a:rPr sz="2812" b="1" dirty="0">
                <a:latin typeface="Helvetica"/>
                <a:cs typeface="Helvetica"/>
              </a:rPr>
              <a:t>e</a:t>
            </a:r>
            <a:r>
              <a:rPr sz="2812" b="1" spc="-21" dirty="0">
                <a:latin typeface="Helvetica"/>
                <a:cs typeface="Helvetica"/>
              </a:rPr>
              <a:t>nd</a:t>
            </a:r>
            <a:r>
              <a:rPr sz="2812" b="1" dirty="0">
                <a:latin typeface="Helvetica"/>
                <a:cs typeface="Helvetica"/>
              </a:rPr>
              <a:t>e</a:t>
            </a:r>
            <a:r>
              <a:rPr sz="2812" b="1" spc="-21" dirty="0">
                <a:latin typeface="Helvetica"/>
                <a:cs typeface="Helvetica"/>
              </a:rPr>
              <a:t>n</a:t>
            </a:r>
            <a:r>
              <a:rPr sz="2812" b="1" dirty="0">
                <a:latin typeface="Helvetica"/>
                <a:cs typeface="Helvetica"/>
              </a:rPr>
              <a:t>t </a:t>
            </a:r>
            <a:r>
              <a:rPr sz="2812" b="1" spc="-21" dirty="0">
                <a:latin typeface="Helvetica"/>
                <a:cs typeface="Helvetica"/>
              </a:rPr>
              <a:t>model</a:t>
            </a:r>
            <a:r>
              <a:rPr lang="en-US" sz="2812" b="1" spc="-21" dirty="0">
                <a:latin typeface="Helvetica"/>
                <a:cs typeface="Helvetica"/>
              </a:rPr>
              <a:t> results</a:t>
            </a:r>
            <a:endParaRPr sz="2812" dirty="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40718" y="369093"/>
            <a:ext cx="6858000" cy="64889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 txBox="1"/>
          <p:nvPr/>
        </p:nvSpPr>
        <p:spPr>
          <a:xfrm>
            <a:off x="196453" y="242881"/>
            <a:ext cx="5945386" cy="432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812" b="1" spc="-21" dirty="0">
                <a:latin typeface="Helvetica"/>
                <a:cs typeface="Helvetica"/>
              </a:rPr>
              <a:t>S</a:t>
            </a:r>
            <a:r>
              <a:rPr sz="2812" b="1" spc="-14" dirty="0">
                <a:latin typeface="Helvetica"/>
                <a:cs typeface="Helvetica"/>
              </a:rPr>
              <a:t>i</a:t>
            </a:r>
            <a:r>
              <a:rPr sz="2812" b="1" dirty="0">
                <a:latin typeface="Helvetica"/>
                <a:cs typeface="Helvetica"/>
              </a:rPr>
              <a:t>m</a:t>
            </a:r>
            <a:r>
              <a:rPr sz="2812" b="1" spc="-18" dirty="0">
                <a:latin typeface="Helvetica"/>
                <a:cs typeface="Helvetica"/>
              </a:rPr>
              <a:t>ul</a:t>
            </a:r>
            <a:r>
              <a:rPr sz="2812" b="1" dirty="0">
                <a:latin typeface="Helvetica"/>
                <a:cs typeface="Helvetica"/>
              </a:rPr>
              <a:t>a</a:t>
            </a:r>
            <a:r>
              <a:rPr sz="2812" b="1" spc="-11" dirty="0">
                <a:latin typeface="Helvetica"/>
                <a:cs typeface="Helvetica"/>
              </a:rPr>
              <a:t>t</a:t>
            </a:r>
            <a:r>
              <a:rPr sz="2812" b="1" spc="-18" dirty="0">
                <a:latin typeface="Helvetica"/>
                <a:cs typeface="Helvetica"/>
              </a:rPr>
              <a:t>ion</a:t>
            </a:r>
            <a:r>
              <a:rPr sz="2812" b="1" spc="-4" dirty="0">
                <a:latin typeface="Helvetica"/>
                <a:cs typeface="Helvetica"/>
              </a:rPr>
              <a:t> </a:t>
            </a:r>
            <a:r>
              <a:rPr sz="2812" b="1" dirty="0">
                <a:latin typeface="Helvetica"/>
                <a:cs typeface="Helvetica"/>
              </a:rPr>
              <a:t>test</a:t>
            </a:r>
            <a:r>
              <a:rPr sz="2812" b="1" spc="-4" dirty="0">
                <a:latin typeface="Helvetica"/>
                <a:cs typeface="Helvetica"/>
              </a:rPr>
              <a:t> </a:t>
            </a:r>
            <a:r>
              <a:rPr sz="2812" b="1" spc="-11" dirty="0">
                <a:latin typeface="Helvetica"/>
                <a:cs typeface="Helvetica"/>
              </a:rPr>
              <a:t>f</a:t>
            </a:r>
            <a:r>
              <a:rPr sz="2812" b="1" spc="-21" dirty="0">
                <a:latin typeface="Helvetica"/>
                <a:cs typeface="Helvetica"/>
              </a:rPr>
              <a:t>o</a:t>
            </a:r>
            <a:r>
              <a:rPr sz="2812" b="1" dirty="0">
                <a:latin typeface="Helvetica"/>
                <a:cs typeface="Helvetica"/>
              </a:rPr>
              <a:t>r</a:t>
            </a:r>
            <a:r>
              <a:rPr sz="2812" b="1" spc="-4" dirty="0">
                <a:latin typeface="Helvetica"/>
                <a:cs typeface="Helvetica"/>
              </a:rPr>
              <a:t> </a:t>
            </a:r>
            <a:r>
              <a:rPr sz="2812" b="1" spc="-18" dirty="0">
                <a:latin typeface="Helvetica"/>
                <a:cs typeface="Helvetica"/>
              </a:rPr>
              <a:t>in</a:t>
            </a:r>
            <a:r>
              <a:rPr sz="2812" b="1" dirty="0">
                <a:latin typeface="Helvetica"/>
                <a:cs typeface="Helvetica"/>
              </a:rPr>
              <a:t>fere</a:t>
            </a:r>
            <a:r>
              <a:rPr sz="2812" b="1" spc="-21" dirty="0">
                <a:latin typeface="Helvetica"/>
                <a:cs typeface="Helvetica"/>
              </a:rPr>
              <a:t>n</a:t>
            </a:r>
            <a:r>
              <a:rPr sz="2812" b="1" dirty="0">
                <a:latin typeface="Helvetica"/>
                <a:cs typeface="Helvetica"/>
              </a:rPr>
              <a:t>ce</a:t>
            </a:r>
            <a:r>
              <a:rPr sz="2812" b="1" spc="-4" dirty="0">
                <a:latin typeface="Helvetica"/>
                <a:cs typeface="Helvetica"/>
              </a:rPr>
              <a:t> </a:t>
            </a:r>
            <a:r>
              <a:rPr sz="2812" b="1" spc="-21" dirty="0">
                <a:latin typeface="Helvetica"/>
                <a:cs typeface="Helvetica"/>
              </a:rPr>
              <a:t>o</a:t>
            </a:r>
            <a:r>
              <a:rPr sz="2812" b="1" dirty="0">
                <a:latin typeface="Helvetica"/>
                <a:cs typeface="Helvetica"/>
              </a:rPr>
              <a:t>f</a:t>
            </a:r>
            <a:r>
              <a:rPr sz="2812" b="1" spc="-4" dirty="0">
                <a:latin typeface="Helvetica"/>
                <a:cs typeface="Helvetica"/>
              </a:rPr>
              <a:t> </a:t>
            </a:r>
            <a:r>
              <a:rPr sz="2812" b="1" i="1" dirty="0">
                <a:latin typeface="Helvetica"/>
                <a:cs typeface="Helvetica"/>
              </a:rPr>
              <a:t>m</a:t>
            </a:r>
            <a:r>
              <a:rPr sz="2795" b="1" baseline="-6289" dirty="0">
                <a:latin typeface="Helvetica"/>
                <a:cs typeface="Helvetica"/>
              </a:rPr>
              <a:t>2</a:t>
            </a:r>
            <a:r>
              <a:rPr sz="2812" b="1" dirty="0">
                <a:latin typeface="Helvetica"/>
                <a:cs typeface="Helvetica"/>
              </a:rPr>
              <a:t>:</a:t>
            </a:r>
            <a:endParaRPr sz="2812">
              <a:latin typeface="Helvetica"/>
              <a:cs typeface="Helvetic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6453" y="655077"/>
            <a:ext cx="3337024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3052" indent="-174123">
              <a:lnSpc>
                <a:spcPts val="2686"/>
              </a:lnSpc>
              <a:buFont typeface="Helvetica"/>
              <a:buChar char="-"/>
              <a:tabLst>
                <a:tab pos="183499" algn="l"/>
              </a:tabLst>
            </a:pPr>
            <a:r>
              <a:rPr sz="2250" b="1" dirty="0">
                <a:latin typeface="Helvetica"/>
                <a:cs typeface="Helvetica"/>
              </a:rPr>
              <a:t>str</a:t>
            </a:r>
            <a:r>
              <a:rPr sz="2250" b="1" spc="-18" dirty="0">
                <a:latin typeface="Helvetica"/>
                <a:cs typeface="Helvetica"/>
              </a:rPr>
              <a:t>on</a:t>
            </a:r>
            <a:r>
              <a:rPr sz="2250" b="1" spc="-14" dirty="0">
                <a:latin typeface="Helvetica"/>
                <a:cs typeface="Helvetica"/>
              </a:rPr>
              <a:t>g</a:t>
            </a:r>
            <a:r>
              <a:rPr sz="2250" b="1" spc="-4" dirty="0">
                <a:latin typeface="Helvetica"/>
                <a:cs typeface="Helvetica"/>
              </a:rPr>
              <a:t> </a:t>
            </a:r>
            <a:r>
              <a:rPr sz="2250" b="1" dirty="0">
                <a:latin typeface="Helvetica"/>
                <a:cs typeface="Helvetica"/>
              </a:rPr>
              <a:t>vs</a:t>
            </a:r>
            <a:r>
              <a:rPr sz="2250" b="1" spc="-7" dirty="0">
                <a:latin typeface="Helvetica"/>
                <a:cs typeface="Helvetica"/>
              </a:rPr>
              <a:t>.</a:t>
            </a:r>
            <a:r>
              <a:rPr sz="2250" b="1" spc="-4" dirty="0">
                <a:latin typeface="Helvetica"/>
                <a:cs typeface="Helvetica"/>
              </a:rPr>
              <a:t> </a:t>
            </a:r>
            <a:r>
              <a:rPr sz="2250" b="1" spc="-21" dirty="0">
                <a:latin typeface="Helvetica"/>
                <a:cs typeface="Helvetica"/>
              </a:rPr>
              <a:t>w</a:t>
            </a:r>
            <a:r>
              <a:rPr sz="2250" b="1" dirty="0">
                <a:latin typeface="Helvetica"/>
                <a:cs typeface="Helvetica"/>
              </a:rPr>
              <a:t>eak</a:t>
            </a:r>
            <a:r>
              <a:rPr sz="2250" b="1" spc="-4" dirty="0">
                <a:latin typeface="Helvetica"/>
                <a:cs typeface="Helvetica"/>
              </a:rPr>
              <a:t> </a:t>
            </a:r>
            <a:r>
              <a:rPr sz="2250" b="1" dirty="0">
                <a:latin typeface="Helvetica"/>
                <a:cs typeface="Helvetica"/>
              </a:rPr>
              <a:t>effects</a:t>
            </a:r>
            <a:endParaRPr sz="2250">
              <a:latin typeface="Helvetica"/>
              <a:cs typeface="Helvetica"/>
            </a:endParaRPr>
          </a:p>
          <a:p>
            <a:pPr marL="183052" indent="-174123">
              <a:lnSpc>
                <a:spcPts val="2686"/>
              </a:lnSpc>
              <a:buFont typeface="Helvetica"/>
              <a:buChar char="-"/>
              <a:tabLst>
                <a:tab pos="183499" algn="l"/>
              </a:tabLst>
            </a:pPr>
            <a:r>
              <a:rPr sz="2250" b="1" spc="-18" dirty="0">
                <a:latin typeface="Helvetica"/>
                <a:cs typeface="Helvetica"/>
              </a:rPr>
              <a:t>d</a:t>
            </a:r>
            <a:r>
              <a:rPr sz="2250" b="1" dirty="0">
                <a:latin typeface="Helvetica"/>
                <a:cs typeface="Helvetica"/>
              </a:rPr>
              <a:t>ataset</a:t>
            </a:r>
            <a:r>
              <a:rPr sz="2250" b="1" spc="-4" dirty="0">
                <a:latin typeface="Helvetica"/>
                <a:cs typeface="Helvetica"/>
              </a:rPr>
              <a:t> </a:t>
            </a:r>
            <a:r>
              <a:rPr sz="2250" b="1" dirty="0">
                <a:latin typeface="Helvetica"/>
                <a:cs typeface="Helvetica"/>
              </a:rPr>
              <a:t>s</a:t>
            </a:r>
            <a:r>
              <a:rPr sz="2250" b="1" spc="-11" dirty="0">
                <a:latin typeface="Helvetica"/>
                <a:cs typeface="Helvetica"/>
              </a:rPr>
              <a:t>i</a:t>
            </a:r>
            <a:r>
              <a:rPr sz="2250" b="1" dirty="0">
                <a:latin typeface="Helvetica"/>
                <a:cs typeface="Helvetica"/>
              </a:rPr>
              <a:t>ze</a:t>
            </a:r>
            <a:endParaRPr sz="2250">
              <a:latin typeface="Helvetica"/>
              <a:cs typeface="Helvetic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7891" y="497720"/>
            <a:ext cx="7255371" cy="519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375" b="1" spc="-32" dirty="0">
                <a:latin typeface="Gill Sans"/>
                <a:cs typeface="Gill Sans"/>
              </a:rPr>
              <a:t>Hi</a:t>
            </a:r>
            <a:r>
              <a:rPr sz="3375" b="1" spc="-18" dirty="0">
                <a:latin typeface="Gill Sans"/>
                <a:cs typeface="Gill Sans"/>
              </a:rPr>
              <a:t>s</a:t>
            </a:r>
            <a:r>
              <a:rPr sz="3375" b="1" spc="-4" dirty="0">
                <a:latin typeface="Gill Sans"/>
                <a:cs typeface="Gill Sans"/>
              </a:rPr>
              <a:t>to</a:t>
            </a:r>
            <a:r>
              <a:rPr sz="3375" b="1" spc="-148" dirty="0">
                <a:latin typeface="Gill Sans"/>
                <a:cs typeface="Gill Sans"/>
              </a:rPr>
              <a:t>r</a:t>
            </a:r>
            <a:r>
              <a:rPr sz="3375" b="1" dirty="0">
                <a:latin typeface="Gill Sans"/>
                <a:cs typeface="Gill Sans"/>
              </a:rPr>
              <a:t>i</a:t>
            </a:r>
            <a:r>
              <a:rPr sz="3375" b="1" spc="-4" dirty="0">
                <a:latin typeface="Gill Sans"/>
                <a:cs typeface="Gill Sans"/>
              </a:rPr>
              <a:t>c</a:t>
            </a:r>
            <a:r>
              <a:rPr sz="3375" b="1" spc="-21" dirty="0">
                <a:latin typeface="Gill Sans"/>
                <a:cs typeface="Gill Sans"/>
              </a:rPr>
              <a:t>a</a:t>
            </a:r>
            <a:r>
              <a:rPr sz="3375" b="1" dirty="0">
                <a:latin typeface="Gill Sans"/>
                <a:cs typeface="Gill Sans"/>
              </a:rPr>
              <a:t>l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dirty="0">
                <a:latin typeface="Gill Sans"/>
                <a:cs typeface="Gill Sans"/>
              </a:rPr>
              <a:t>bi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dirty="0">
                <a:latin typeface="Gill Sans"/>
                <a:cs typeface="Gill Sans"/>
              </a:rPr>
              <a:t>ge</a:t>
            </a:r>
            <a:r>
              <a:rPr sz="3375" b="1" spc="-4" dirty="0">
                <a:latin typeface="Gill Sans"/>
                <a:cs typeface="Gill Sans"/>
              </a:rPr>
              <a:t>o</a:t>
            </a:r>
            <a:r>
              <a:rPr sz="3375" b="1" spc="123" dirty="0">
                <a:latin typeface="Gill Sans"/>
                <a:cs typeface="Gill Sans"/>
              </a:rPr>
              <a:t>g</a:t>
            </a:r>
            <a:r>
              <a:rPr sz="3375" b="1" spc="-49" dirty="0">
                <a:latin typeface="Gill Sans"/>
                <a:cs typeface="Gill Sans"/>
              </a:rPr>
              <a:t>r</a:t>
            </a:r>
            <a:r>
              <a:rPr sz="3375" b="1" spc="21" dirty="0">
                <a:latin typeface="Gill Sans"/>
                <a:cs typeface="Gill Sans"/>
              </a:rPr>
              <a:t>a</a:t>
            </a:r>
            <a:r>
              <a:rPr sz="3375" b="1" dirty="0">
                <a:latin typeface="Gill Sans"/>
                <a:cs typeface="Gill Sans"/>
              </a:rPr>
              <a:t>p</a:t>
            </a:r>
            <a:r>
              <a:rPr sz="3375" b="1" spc="-4" dirty="0">
                <a:latin typeface="Gill Sans"/>
                <a:cs typeface="Gill Sans"/>
              </a:rPr>
              <a:t>h</a:t>
            </a:r>
            <a:r>
              <a:rPr sz="3375" b="1" dirty="0">
                <a:latin typeface="Gill Sans"/>
                <a:cs typeface="Gill Sans"/>
              </a:rPr>
              <a:t>y</a:t>
            </a:r>
            <a:r>
              <a:rPr sz="3375" b="1" spc="-4" dirty="0">
                <a:latin typeface="Gill Sans"/>
                <a:cs typeface="Gill Sans"/>
              </a:rPr>
              <a:t> m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4" dirty="0">
                <a:latin typeface="Gill Sans"/>
                <a:cs typeface="Gill Sans"/>
              </a:rPr>
              <a:t>tho</a:t>
            </a:r>
            <a:r>
              <a:rPr sz="3375" b="1" dirty="0">
                <a:latin typeface="Gill Sans"/>
                <a:cs typeface="Gill Sans"/>
              </a:rPr>
              <a:t>d</a:t>
            </a:r>
            <a:r>
              <a:rPr sz="3375" b="1" spc="-18" dirty="0">
                <a:latin typeface="Gill Sans"/>
                <a:cs typeface="Gill Sans"/>
              </a:rPr>
              <a:t>s</a:t>
            </a:r>
            <a:endParaRPr sz="3375">
              <a:latin typeface="Gill Sans"/>
              <a:cs typeface="Gill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891" y="1479048"/>
            <a:ext cx="6745486" cy="2542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339" indent="-384409">
              <a:buFont typeface="Gill Sans"/>
              <a:buAutoNum type="arabicPeriod"/>
              <a:tabLst>
                <a:tab pos="393785" algn="l"/>
              </a:tabLst>
            </a:pPr>
            <a:r>
              <a:rPr sz="3375" spc="-18" dirty="0">
                <a:latin typeface="Gill Sans"/>
                <a:cs typeface="Gill Sans"/>
              </a:rPr>
              <a:t>Es</a:t>
            </a:r>
            <a:r>
              <a:rPr sz="3375" dirty="0">
                <a:latin typeface="Gill Sans"/>
                <a:cs typeface="Gill Sans"/>
              </a:rPr>
              <a:t>t</a:t>
            </a:r>
            <a:r>
              <a:rPr sz="3375" spc="-4" dirty="0">
                <a:latin typeface="Gill Sans"/>
                <a:cs typeface="Gill Sans"/>
              </a:rPr>
              <a:t>i</a:t>
            </a:r>
            <a:r>
              <a:rPr sz="3375" spc="-21" dirty="0">
                <a:latin typeface="Gill Sans"/>
                <a:cs typeface="Gill Sans"/>
              </a:rPr>
              <a:t>ma</a:t>
            </a:r>
            <a:r>
              <a:rPr sz="3375" dirty="0">
                <a:latin typeface="Gill Sans"/>
                <a:cs typeface="Gill Sans"/>
              </a:rPr>
              <a:t>te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a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u="heavy" spc="-18" dirty="0">
                <a:latin typeface="Gill Sans"/>
                <a:cs typeface="Gill Sans"/>
              </a:rPr>
              <a:t>dated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p</a:t>
            </a:r>
            <a:r>
              <a:rPr sz="3375" spc="-120" dirty="0">
                <a:latin typeface="Gill Sans"/>
                <a:cs typeface="Gill Sans"/>
              </a:rPr>
              <a:t>h</a:t>
            </a:r>
            <a:r>
              <a:rPr sz="3375" dirty="0">
                <a:latin typeface="Gill Sans"/>
                <a:cs typeface="Gill Sans"/>
              </a:rPr>
              <a:t>y</a:t>
            </a:r>
            <a:r>
              <a:rPr sz="3375" spc="-4" dirty="0">
                <a:latin typeface="Gill Sans"/>
                <a:cs typeface="Gill Sans"/>
              </a:rPr>
              <a:t>l</a:t>
            </a:r>
            <a:r>
              <a:rPr sz="3375" spc="-18" dirty="0">
                <a:latin typeface="Gill Sans"/>
                <a:cs typeface="Gill Sans"/>
              </a:rPr>
              <a:t>og</a:t>
            </a:r>
            <a:r>
              <a:rPr sz="3375" dirty="0">
                <a:latin typeface="Gill Sans"/>
                <a:cs typeface="Gill Sans"/>
              </a:rPr>
              <a:t>e</a:t>
            </a:r>
            <a:r>
              <a:rPr sz="3375" spc="-70" dirty="0">
                <a:latin typeface="Gill Sans"/>
                <a:cs typeface="Gill Sans"/>
              </a:rPr>
              <a:t>n</a:t>
            </a:r>
            <a:r>
              <a:rPr sz="3375" spc="-18" dirty="0">
                <a:latin typeface="Gill Sans"/>
                <a:cs typeface="Gill Sans"/>
              </a:rPr>
              <a:t>y</a:t>
            </a:r>
            <a:endParaRPr sz="3375" dirty="0">
              <a:latin typeface="Gill Sans"/>
              <a:cs typeface="Gill Sans"/>
            </a:endParaRPr>
          </a:p>
          <a:p>
            <a:pPr>
              <a:spcBef>
                <a:spcPts val="5"/>
              </a:spcBef>
              <a:buFont typeface="Gill Sans"/>
              <a:buAutoNum type="arabicPeriod"/>
            </a:pPr>
            <a:endParaRPr sz="3199" dirty="0">
              <a:latin typeface="Times New Roman"/>
              <a:cs typeface="Times New Roman"/>
            </a:endParaRPr>
          </a:p>
          <a:p>
            <a:pPr marL="393339" indent="-384409">
              <a:buFont typeface="Gill Sans"/>
              <a:buAutoNum type="arabicPeriod"/>
              <a:tabLst>
                <a:tab pos="393785" algn="l"/>
              </a:tabLst>
            </a:pPr>
            <a:r>
              <a:rPr sz="3375" spc="-18" dirty="0">
                <a:latin typeface="Gill Sans"/>
                <a:cs typeface="Gill Sans"/>
              </a:rPr>
              <a:t>P</a:t>
            </a:r>
            <a:r>
              <a:rPr sz="3375" dirty="0">
                <a:latin typeface="Gill Sans"/>
                <a:cs typeface="Gill Sans"/>
              </a:rPr>
              <a:t>ut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the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geogr</a:t>
            </a:r>
            <a:r>
              <a:rPr sz="3375" spc="-53" dirty="0">
                <a:latin typeface="Gill Sans"/>
                <a:cs typeface="Gill Sans"/>
              </a:rPr>
              <a:t>a</a:t>
            </a:r>
            <a:r>
              <a:rPr sz="3375" dirty="0">
                <a:latin typeface="Gill Sans"/>
                <a:cs typeface="Gill Sans"/>
              </a:rPr>
              <a:t>ph</a:t>
            </a:r>
            <a:r>
              <a:rPr sz="3375" spc="-4" dirty="0">
                <a:latin typeface="Gill Sans"/>
                <a:cs typeface="Gill Sans"/>
              </a:rPr>
              <a:t>i</a:t>
            </a:r>
            <a:r>
              <a:rPr sz="3375" spc="-18" dirty="0">
                <a:latin typeface="Gill Sans"/>
                <a:cs typeface="Gill Sans"/>
              </a:rPr>
              <a:t>c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ranges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a</a:t>
            </a:r>
            <a:r>
              <a:rPr sz="3375" dirty="0">
                <a:latin typeface="Gill Sans"/>
                <a:cs typeface="Gill Sans"/>
              </a:rPr>
              <a:t>t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the</a:t>
            </a:r>
            <a:r>
              <a:rPr sz="3375" spc="-4" dirty="0">
                <a:latin typeface="Gill Sans"/>
                <a:cs typeface="Gill Sans"/>
              </a:rPr>
              <a:t> </a:t>
            </a:r>
            <a:r>
              <a:rPr sz="3375" dirty="0">
                <a:latin typeface="Gill Sans"/>
                <a:cs typeface="Gill Sans"/>
              </a:rPr>
              <a:t>t</a:t>
            </a:r>
            <a:r>
              <a:rPr sz="3375" spc="-4" dirty="0">
                <a:latin typeface="Gill Sans"/>
                <a:cs typeface="Gill Sans"/>
              </a:rPr>
              <a:t>i</a:t>
            </a:r>
            <a:r>
              <a:rPr sz="3375" spc="-18" dirty="0">
                <a:latin typeface="Gill Sans"/>
                <a:cs typeface="Gill Sans"/>
              </a:rPr>
              <a:t>ps</a:t>
            </a:r>
            <a:endParaRPr sz="3375" dirty="0">
              <a:latin typeface="Gill Sans"/>
              <a:cs typeface="Gill Sans"/>
            </a:endParaRPr>
          </a:p>
          <a:p>
            <a:pPr>
              <a:spcBef>
                <a:spcPts val="5"/>
              </a:spcBef>
            </a:pPr>
            <a:endParaRPr sz="3199" dirty="0">
              <a:latin typeface="Times New Roman"/>
              <a:cs typeface="Times New Roman"/>
            </a:endParaRPr>
          </a:p>
          <a:p>
            <a:pPr marL="8929"/>
            <a:r>
              <a:rPr sz="3375" b="1" spc="-4" dirty="0">
                <a:latin typeface="Gill Sans"/>
                <a:cs typeface="Gill Sans"/>
              </a:rPr>
              <a:t>3</a:t>
            </a:r>
            <a:r>
              <a:rPr sz="3375" b="1" spc="-11" dirty="0">
                <a:latin typeface="Gill Sans"/>
                <a:cs typeface="Gill Sans"/>
              </a:rPr>
              <a:t>.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spc="-21" dirty="0">
                <a:latin typeface="Gill Sans"/>
                <a:cs typeface="Gill Sans"/>
              </a:rPr>
              <a:t>Ass</a:t>
            </a:r>
            <a:r>
              <a:rPr sz="3375" b="1" spc="-4" dirty="0">
                <a:latin typeface="Gill Sans"/>
                <a:cs typeface="Gill Sans"/>
              </a:rPr>
              <a:t>um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spc="-18" dirty="0">
                <a:latin typeface="Gill Sans"/>
                <a:cs typeface="Gill Sans"/>
              </a:rPr>
              <a:t>s</a:t>
            </a:r>
            <a:r>
              <a:rPr sz="3375" b="1" spc="-4" dirty="0">
                <a:latin typeface="Gill Sans"/>
                <a:cs typeface="Gill Sans"/>
              </a:rPr>
              <a:t>om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4" dirty="0">
                <a:latin typeface="Gill Sans"/>
                <a:cs typeface="Gill Sans"/>
              </a:rPr>
              <a:t> </a:t>
            </a:r>
            <a:r>
              <a:rPr sz="3375" b="1" dirty="0">
                <a:latin typeface="Gill Sans"/>
                <a:cs typeface="Gill Sans"/>
              </a:rPr>
              <a:t>p</a:t>
            </a:r>
            <a:r>
              <a:rPr sz="3375" b="1" spc="-148" dirty="0">
                <a:latin typeface="Gill Sans"/>
                <a:cs typeface="Gill Sans"/>
              </a:rPr>
              <a:t>r</a:t>
            </a:r>
            <a:r>
              <a:rPr sz="3375" b="1" spc="-4" dirty="0">
                <a:latin typeface="Gill Sans"/>
                <a:cs typeface="Gill Sans"/>
              </a:rPr>
              <a:t>oc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18" dirty="0">
                <a:latin typeface="Gill Sans"/>
                <a:cs typeface="Gill Sans"/>
              </a:rPr>
              <a:t>ss(</a:t>
            </a:r>
            <a:r>
              <a:rPr sz="3375" b="1" dirty="0">
                <a:latin typeface="Gill Sans"/>
                <a:cs typeface="Gill Sans"/>
              </a:rPr>
              <a:t>e</a:t>
            </a:r>
            <a:r>
              <a:rPr sz="3375" b="1" spc="-18" dirty="0">
                <a:latin typeface="Gill Sans"/>
                <a:cs typeface="Gill Sans"/>
              </a:rPr>
              <a:t>s)</a:t>
            </a:r>
            <a:endParaRPr sz="3375" dirty="0">
              <a:latin typeface="Gill Sans"/>
              <a:cs typeface="Gill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891" y="4425845"/>
            <a:ext cx="3629471" cy="519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375" dirty="0">
                <a:latin typeface="Gill Sans"/>
                <a:cs typeface="Gill Sans"/>
              </a:rPr>
              <a:t>4.</a:t>
            </a:r>
            <a:r>
              <a:rPr sz="3375" spc="-340" dirty="0">
                <a:latin typeface="Gill Sans"/>
                <a:cs typeface="Gill Sans"/>
              </a:rPr>
              <a:t> </a:t>
            </a:r>
            <a:r>
              <a:rPr sz="3375" spc="-18" dirty="0">
                <a:latin typeface="Gill Sans"/>
                <a:cs typeface="Gill Sans"/>
              </a:rPr>
              <a:t>Conduct</a:t>
            </a:r>
            <a:r>
              <a:rPr sz="3375" spc="-4" dirty="0">
                <a:latin typeface="Gill Sans"/>
                <a:cs typeface="Gill Sans"/>
              </a:rPr>
              <a:t> i</a:t>
            </a:r>
            <a:r>
              <a:rPr sz="3375" dirty="0">
                <a:latin typeface="Gill Sans"/>
                <a:cs typeface="Gill Sans"/>
              </a:rPr>
              <a:t>n</a:t>
            </a:r>
            <a:r>
              <a:rPr sz="3375" spc="-35" dirty="0">
                <a:latin typeface="Gill Sans"/>
                <a:cs typeface="Gill Sans"/>
              </a:rPr>
              <a:t>f</a:t>
            </a:r>
            <a:r>
              <a:rPr sz="3375" dirty="0">
                <a:latin typeface="Gill Sans"/>
                <a:cs typeface="Gill Sans"/>
              </a:rPr>
              <a:t>e</a:t>
            </a:r>
            <a:r>
              <a:rPr sz="3375" spc="-70" dirty="0">
                <a:latin typeface="Gill Sans"/>
                <a:cs typeface="Gill Sans"/>
              </a:rPr>
              <a:t>r</a:t>
            </a:r>
            <a:r>
              <a:rPr sz="3375" spc="-18" dirty="0">
                <a:latin typeface="Gill Sans"/>
                <a:cs typeface="Gill Sans"/>
              </a:rPr>
              <a:t>ence</a:t>
            </a:r>
            <a:endParaRPr sz="3375">
              <a:latin typeface="Gill Sans"/>
              <a:cs typeface="Gill Sa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61651" y="4799220"/>
            <a:ext cx="1437306" cy="18038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4338924" y="4764439"/>
            <a:ext cx="1428140" cy="19677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 txBox="1"/>
          <p:nvPr/>
        </p:nvSpPr>
        <p:spPr>
          <a:xfrm>
            <a:off x="4723805" y="4490462"/>
            <a:ext cx="492026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b="1" spc="-14" dirty="0">
                <a:latin typeface="Gill Sans"/>
                <a:cs typeface="Gill Sans"/>
              </a:rPr>
              <a:t>DEC</a:t>
            </a:r>
            <a:endParaRPr sz="1687">
              <a:latin typeface="Gill Sans"/>
              <a:cs typeface="Gill San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37572" y="4802659"/>
            <a:ext cx="1428094" cy="17873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9" name="object 9"/>
          <p:cNvSpPr txBox="1"/>
          <p:nvPr/>
        </p:nvSpPr>
        <p:spPr>
          <a:xfrm>
            <a:off x="6277570" y="4490462"/>
            <a:ext cx="599629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b="1" spc="-11" dirty="0">
                <a:latin typeface="Gill Sans"/>
                <a:cs typeface="Gill Sans"/>
              </a:rPr>
              <a:t>DI</a:t>
            </a:r>
            <a:r>
              <a:rPr sz="1687" b="1" spc="-137" dirty="0">
                <a:latin typeface="Gill Sans"/>
                <a:cs typeface="Gill Sans"/>
              </a:rPr>
              <a:t>V</a:t>
            </a:r>
            <a:r>
              <a:rPr sz="1687" b="1" dirty="0">
                <a:latin typeface="Gill Sans"/>
                <a:cs typeface="Gill Sans"/>
              </a:rPr>
              <a:t>A</a:t>
            </a:r>
            <a:endParaRPr sz="1687">
              <a:latin typeface="Gill Sans"/>
              <a:cs typeface="Gill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25953" y="4499392"/>
            <a:ext cx="951012" cy="259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687" b="1" spc="-14" dirty="0">
                <a:latin typeface="Gill Sans"/>
                <a:cs typeface="Gill Sans"/>
              </a:rPr>
              <a:t>BayA</a:t>
            </a:r>
            <a:r>
              <a:rPr sz="1687" b="1" spc="-74" dirty="0">
                <a:latin typeface="Gill Sans"/>
                <a:cs typeface="Gill Sans"/>
              </a:rPr>
              <a:t>r</a:t>
            </a:r>
            <a:r>
              <a:rPr sz="1687" b="1" dirty="0">
                <a:latin typeface="Gill Sans"/>
                <a:cs typeface="Gill Sans"/>
              </a:rPr>
              <a:t>e</a:t>
            </a:r>
            <a:r>
              <a:rPr sz="1687" b="1" spc="-11" dirty="0">
                <a:latin typeface="Gill Sans"/>
                <a:cs typeface="Gill Sans"/>
              </a:rPr>
              <a:t>a</a:t>
            </a:r>
            <a:endParaRPr sz="1687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3DCAB766-9EDF-CA4C-BD81-A6563F19C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048" y="4843172"/>
            <a:ext cx="1800200" cy="89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NZ" sz="3234" b="1" dirty="0">
                <a:solidFill>
                  <a:srgbClr val="0070C0"/>
                </a:solidFill>
                <a:latin typeface="+mj-lt"/>
              </a:rPr>
              <a:t>Data</a:t>
            </a:r>
          </a:p>
          <a:p>
            <a:pPr algn="ctr"/>
            <a:r>
              <a:rPr lang="en-NZ" sz="1969" b="1" dirty="0">
                <a:solidFill>
                  <a:srgbClr val="0070C0"/>
                </a:solidFill>
                <a:latin typeface="+mj-lt"/>
              </a:rPr>
              <a:t>(observations)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8FC1ED-F9A8-6D4C-A825-387BB7DE0101}"/>
              </a:ext>
            </a:extLst>
          </p:cNvPr>
          <p:cNvSpPr/>
          <p:nvPr/>
        </p:nvSpPr>
        <p:spPr>
          <a:xfrm>
            <a:off x="3414870" y="3332458"/>
            <a:ext cx="2592288" cy="121978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r>
              <a:rPr lang="en-US" sz="2391" dirty="0"/>
              <a:t>Probabilistic model</a:t>
            </a: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E6F4EA43-D174-DE45-B2A1-E7561B6759B7}"/>
              </a:ext>
            </a:extLst>
          </p:cNvPr>
          <p:cNvSpPr/>
          <p:nvPr/>
        </p:nvSpPr>
        <p:spPr>
          <a:xfrm rot="13457578" flipV="1">
            <a:off x="3464958" y="4563791"/>
            <a:ext cx="2492115" cy="2525917"/>
          </a:xfrm>
          <a:prstGeom prst="arc">
            <a:avLst/>
          </a:prstGeom>
          <a:ln w="41275">
            <a:solidFill>
              <a:srgbClr val="0070C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215D978F-710D-C640-A8F1-EEE3A8C10AA7}"/>
              </a:ext>
            </a:extLst>
          </p:cNvPr>
          <p:cNvSpPr/>
          <p:nvPr/>
        </p:nvSpPr>
        <p:spPr>
          <a:xfrm rot="13457578" flipH="1">
            <a:off x="3413633" y="823935"/>
            <a:ext cx="2492115" cy="2525917"/>
          </a:xfrm>
          <a:prstGeom prst="arc">
            <a:avLst/>
          </a:prstGeom>
          <a:ln w="412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EF274A63-51CC-6E4D-8965-4155078E0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599" y="4843172"/>
            <a:ext cx="3612644" cy="89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NZ" sz="3234" b="1" dirty="0">
                <a:solidFill>
                  <a:srgbClr val="0070C0"/>
                </a:solidFill>
                <a:latin typeface="+mj-lt"/>
              </a:rPr>
              <a:t>Parameters</a:t>
            </a:r>
            <a:br>
              <a:rPr lang="en-NZ" sz="1969" b="1" dirty="0">
                <a:solidFill>
                  <a:srgbClr val="0070C0"/>
                </a:solidFill>
                <a:latin typeface="+mj-lt"/>
              </a:rPr>
            </a:br>
            <a:r>
              <a:rPr lang="en-NZ" sz="1969" b="1" dirty="0">
                <a:solidFill>
                  <a:srgbClr val="0070C0"/>
                </a:solidFill>
                <a:latin typeface="+mj-lt"/>
              </a:rPr>
              <a:t>(mean, standard deviation, etc.)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BF4F2A73-F14D-FD47-831E-17BC9934F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599" y="2526777"/>
            <a:ext cx="3612644" cy="590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NZ" sz="3234" b="1" dirty="0">
                <a:solidFill>
                  <a:srgbClr val="FF0000"/>
                </a:solidFill>
                <a:latin typeface="+mj-lt"/>
              </a:rPr>
              <a:t>Parameters</a:t>
            </a:r>
            <a:endParaRPr lang="en-NZ" sz="1969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B84F4950-787F-B346-B1BC-7DBF30536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9045" y="4709604"/>
            <a:ext cx="2088232" cy="341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NZ" sz="1617" b="1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“Inference”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4414218A-C32E-244D-B26C-2112BDA86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1386" y="2357875"/>
            <a:ext cx="3457078" cy="1087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NZ" sz="3234" b="1" dirty="0">
                <a:solidFill>
                  <a:srgbClr val="FF0000"/>
                </a:solidFill>
                <a:latin typeface="+mj-lt"/>
              </a:rPr>
              <a:t>Simulated/</a:t>
            </a:r>
            <a:br>
              <a:rPr lang="en-NZ" sz="3234" b="1" dirty="0">
                <a:solidFill>
                  <a:srgbClr val="FF0000"/>
                </a:solidFill>
                <a:latin typeface="+mj-lt"/>
              </a:rPr>
            </a:br>
            <a:r>
              <a:rPr lang="en-NZ" sz="3234" b="1" dirty="0">
                <a:solidFill>
                  <a:srgbClr val="FF0000"/>
                </a:solidFill>
                <a:latin typeface="+mj-lt"/>
              </a:rPr>
              <a:t>Predicted Data</a:t>
            </a:r>
            <a:endParaRPr lang="en-NZ" sz="1969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BDFBC864-A9CF-344B-B96A-AAD70CD0F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6898" y="2656045"/>
            <a:ext cx="2088232" cy="590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NZ" sz="1617" b="1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“Simulation” or Prediction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336AB0C-4352-914C-A8E7-48CFC6D3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69" y="232693"/>
            <a:ext cx="8759626" cy="56422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Review: Models, parameters, and data</a:t>
            </a:r>
          </a:p>
        </p:txBody>
      </p:sp>
    </p:spTree>
    <p:extLst>
      <p:ext uri="{BB962C8B-B14F-4D97-AF65-F5344CB8AC3E}">
        <p14:creationId xmlns:p14="http://schemas.microsoft.com/office/powerpoint/2010/main" val="24999314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3DCAB766-9EDF-CA4C-BD81-A6563F19C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048" y="4843172"/>
            <a:ext cx="1800200" cy="89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NZ" sz="3234" b="1" dirty="0">
                <a:solidFill>
                  <a:srgbClr val="0070C0"/>
                </a:solidFill>
                <a:latin typeface="+mj-lt"/>
              </a:rPr>
              <a:t>Data</a:t>
            </a:r>
          </a:p>
          <a:p>
            <a:pPr algn="ctr"/>
            <a:r>
              <a:rPr lang="en-NZ" sz="1969" b="1" dirty="0">
                <a:solidFill>
                  <a:srgbClr val="0070C0"/>
                </a:solidFill>
                <a:latin typeface="+mj-lt"/>
              </a:rPr>
              <a:t>(observations)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8FC1ED-F9A8-6D4C-A825-387BB7DE0101}"/>
              </a:ext>
            </a:extLst>
          </p:cNvPr>
          <p:cNvSpPr/>
          <p:nvPr/>
        </p:nvSpPr>
        <p:spPr>
          <a:xfrm>
            <a:off x="3414870" y="3332458"/>
            <a:ext cx="2592288" cy="121978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r>
              <a:rPr lang="en-US" sz="2391" dirty="0"/>
              <a:t>Probabilistic model</a:t>
            </a: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E6F4EA43-D174-DE45-B2A1-E7561B6759B7}"/>
              </a:ext>
            </a:extLst>
          </p:cNvPr>
          <p:cNvSpPr/>
          <p:nvPr/>
        </p:nvSpPr>
        <p:spPr>
          <a:xfrm rot="13457578" flipV="1">
            <a:off x="3464958" y="4563791"/>
            <a:ext cx="2492115" cy="2525917"/>
          </a:xfrm>
          <a:prstGeom prst="arc">
            <a:avLst/>
          </a:prstGeom>
          <a:ln w="41275">
            <a:solidFill>
              <a:srgbClr val="0070C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215D978F-710D-C640-A8F1-EEE3A8C10AA7}"/>
              </a:ext>
            </a:extLst>
          </p:cNvPr>
          <p:cNvSpPr/>
          <p:nvPr/>
        </p:nvSpPr>
        <p:spPr>
          <a:xfrm rot="13457578" flipH="1">
            <a:off x="3413633" y="823935"/>
            <a:ext cx="2492115" cy="2525917"/>
          </a:xfrm>
          <a:prstGeom prst="arc">
            <a:avLst/>
          </a:prstGeom>
          <a:ln w="412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EF274A63-51CC-6E4D-8965-4155078E0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599" y="4843172"/>
            <a:ext cx="3612644" cy="89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NZ" sz="3234" b="1" dirty="0">
                <a:solidFill>
                  <a:srgbClr val="0070C0"/>
                </a:solidFill>
                <a:latin typeface="+mj-lt"/>
              </a:rPr>
              <a:t>Parameters</a:t>
            </a:r>
            <a:br>
              <a:rPr lang="en-NZ" sz="1969" b="1" dirty="0">
                <a:solidFill>
                  <a:srgbClr val="0070C0"/>
                </a:solidFill>
                <a:latin typeface="+mj-lt"/>
              </a:rPr>
            </a:br>
            <a:r>
              <a:rPr lang="en-NZ" sz="1969" b="1" dirty="0">
                <a:solidFill>
                  <a:srgbClr val="0070C0"/>
                </a:solidFill>
                <a:latin typeface="+mj-lt"/>
              </a:rPr>
              <a:t>(mean, standard deviation, etc.)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BF4F2A73-F14D-FD47-831E-17BC9934F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599" y="2526777"/>
            <a:ext cx="3612644" cy="590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NZ" sz="3234" b="1" dirty="0">
                <a:solidFill>
                  <a:srgbClr val="FF0000"/>
                </a:solidFill>
                <a:latin typeface="+mj-lt"/>
              </a:rPr>
              <a:t>Parameters</a:t>
            </a:r>
            <a:endParaRPr lang="en-NZ" sz="1969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B84F4950-787F-B346-B1BC-7DBF30536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9045" y="4709604"/>
            <a:ext cx="2088232" cy="341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NZ" sz="1617" b="1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“Inference”</a:t>
            </a: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4414218A-C32E-244D-B26C-2112BDA86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1386" y="2357875"/>
            <a:ext cx="3457078" cy="1087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NZ" sz="3234" b="1" dirty="0">
                <a:solidFill>
                  <a:srgbClr val="FF0000"/>
                </a:solidFill>
                <a:latin typeface="+mj-lt"/>
              </a:rPr>
              <a:t>Simulated/</a:t>
            </a:r>
            <a:br>
              <a:rPr lang="en-NZ" sz="3234" b="1" dirty="0">
                <a:solidFill>
                  <a:srgbClr val="FF0000"/>
                </a:solidFill>
                <a:latin typeface="+mj-lt"/>
              </a:rPr>
            </a:br>
            <a:r>
              <a:rPr lang="en-NZ" sz="3234" b="1" dirty="0">
                <a:solidFill>
                  <a:srgbClr val="FF0000"/>
                </a:solidFill>
                <a:latin typeface="+mj-lt"/>
              </a:rPr>
              <a:t>Predicted Data</a:t>
            </a:r>
            <a:endParaRPr lang="en-NZ" sz="1969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BDFBC864-A9CF-344B-B96A-AAD70CD0F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6898" y="2656045"/>
            <a:ext cx="2088232" cy="590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NZ" sz="1617" b="1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“Simulation” or Prediction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336AB0C-4352-914C-A8E7-48CFC6D3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69" y="232693"/>
            <a:ext cx="8759626" cy="56422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Review: Models, parameters, and data</a:t>
            </a:r>
          </a:p>
        </p:txBody>
      </p:sp>
      <p:sp>
        <p:nvSpPr>
          <p:cNvPr id="2" name="Rectangle 1"/>
          <p:cNvSpPr/>
          <p:nvPr/>
        </p:nvSpPr>
        <p:spPr>
          <a:xfrm>
            <a:off x="3227545" y="6254749"/>
            <a:ext cx="2621549" cy="287128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1266" dirty="0"/>
              <a:t>Major way to do inference: </a:t>
            </a:r>
            <a:r>
              <a:rPr lang="en-US" sz="1266" i="1" dirty="0"/>
              <a:t>likelihood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 flipV="1">
            <a:off x="4770439" y="5111751"/>
            <a:ext cx="119062" cy="11429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5761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452130"/>
            <a:ext cx="8014650" cy="145027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dirty="0"/>
              <a:t>Likelihood: the key concept</a:t>
            </a:r>
            <a:endParaRPr dirty="0"/>
          </a:p>
        </p:txBody>
      </p:sp>
      <p:sp>
        <p:nvSpPr>
          <p:cNvPr id="3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1213480" y="2436710"/>
            <a:ext cx="6946030" cy="2060910"/>
          </a:xfrm>
          <a:prstGeom prst="rect">
            <a:avLst/>
          </a:prstGeom>
        </p:spPr>
        <p:txBody>
          <a:bodyPr/>
          <a:lstStyle/>
          <a:p>
            <a:r>
              <a:rPr lang="en-US" sz="2601" dirty="0"/>
              <a:t>Likelihood = probability of the data, given a model</a:t>
            </a:r>
          </a:p>
          <a:p>
            <a:endParaRPr lang="en-US" sz="2601" dirty="0"/>
          </a:p>
          <a:p>
            <a:r>
              <a:rPr lang="en-US" sz="2601" dirty="0"/>
              <a:t>Likelihood = P(data | model)</a:t>
            </a:r>
          </a:p>
          <a:p>
            <a:endParaRPr lang="en-US" sz="2601" dirty="0"/>
          </a:p>
          <a:p>
            <a:r>
              <a:rPr lang="en-US" sz="2601" dirty="0"/>
              <a:t>L = P(D | M)</a:t>
            </a:r>
          </a:p>
          <a:p>
            <a:endParaRPr lang="en-US" sz="2601" dirty="0"/>
          </a:p>
          <a:p>
            <a:r>
              <a:rPr lang="en-US" sz="2601" dirty="0"/>
              <a:t>lnL = log(P(D|M))</a:t>
            </a:r>
          </a:p>
          <a:p>
            <a:endParaRPr lang="en-US" sz="2601" dirty="0"/>
          </a:p>
          <a:p>
            <a:r>
              <a:rPr lang="en-US" sz="2601" dirty="0"/>
              <a:t>lnL = natural logarithm of the likelihood</a:t>
            </a:r>
            <a:endParaRPr sz="2601" dirty="0"/>
          </a:p>
        </p:txBody>
      </p:sp>
    </p:spTree>
    <p:extLst>
      <p:ext uri="{BB962C8B-B14F-4D97-AF65-F5344CB8AC3E}">
        <p14:creationId xmlns:p14="http://schemas.microsoft.com/office/powerpoint/2010/main" val="1032064639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988D3-5259-B841-A4B5-4AEA363D9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328" y="589360"/>
            <a:ext cx="7192863" cy="43281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is likelihood?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9316C-A8C3-9A41-A968-DAA9D0C65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906" y="1393031"/>
            <a:ext cx="7852767" cy="4760918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Calibri"/>
                <a:cs typeface="Calibri"/>
              </a:rPr>
              <a:t>Likelihood = </a:t>
            </a:r>
            <a:r>
              <a:rPr lang="en-US" dirty="0" err="1">
                <a:latin typeface="Calibri"/>
                <a:cs typeface="Calibri"/>
              </a:rPr>
              <a:t>Prob</a:t>
            </a:r>
            <a:r>
              <a:rPr lang="en-US" dirty="0">
                <a:latin typeface="Calibri"/>
                <a:cs typeface="Calibri"/>
              </a:rPr>
              <a:t>(</a:t>
            </a:r>
            <a:r>
              <a:rPr lang="en-US" dirty="0" err="1">
                <a:latin typeface="Calibri"/>
                <a:cs typeface="Calibri"/>
              </a:rPr>
              <a:t>data|model</a:t>
            </a:r>
            <a:r>
              <a:rPr lang="en-US" dirty="0">
                <a:latin typeface="Calibri"/>
                <a:cs typeface="Calibri"/>
              </a:rPr>
              <a:t>)</a:t>
            </a:r>
          </a:p>
          <a:p>
            <a:pPr lvl="1"/>
            <a:r>
              <a:rPr lang="en-US" sz="2812" dirty="0">
                <a:latin typeface="Calibri"/>
                <a:cs typeface="Calibri"/>
              </a:rPr>
              <a:t>A conditional probability</a:t>
            </a:r>
          </a:p>
          <a:p>
            <a:pPr lvl="1"/>
            <a:endParaRPr lang="en-US" sz="2812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Likelihood is a fundamental concept in statistics and inference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The inference method of Maximum Likelihood is ubiquitous in parametric statistics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Statistics like the mean, or linear regression, can be justified through ML</a:t>
            </a:r>
          </a:p>
        </p:txBody>
      </p:sp>
    </p:spTree>
    <p:extLst>
      <p:ext uri="{BB962C8B-B14F-4D97-AF65-F5344CB8AC3E}">
        <p14:creationId xmlns:p14="http://schemas.microsoft.com/office/powerpoint/2010/main" val="36265538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988D3-5259-B841-A4B5-4AEA363D9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569" y="19638"/>
            <a:ext cx="7192863" cy="43281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9316C-A8C3-9A41-A968-DAA9D0C65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857250"/>
            <a:ext cx="8143875" cy="2616398"/>
          </a:xfrm>
        </p:spPr>
        <p:txBody>
          <a:bodyPr>
            <a:noAutofit/>
          </a:bodyPr>
          <a:lstStyle/>
          <a:p>
            <a:r>
              <a:rPr lang="en-US" sz="2461" b="1" dirty="0">
                <a:latin typeface="Calibri"/>
                <a:cs typeface="Calibri"/>
              </a:rPr>
              <a:t>Likelihood =</a:t>
            </a:r>
            <a:r>
              <a:rPr lang="en-US" sz="2461" dirty="0">
                <a:latin typeface="Calibri"/>
                <a:cs typeface="Calibri"/>
              </a:rPr>
              <a:t> </a:t>
            </a:r>
            <a:r>
              <a:rPr lang="en-US" sz="2461" dirty="0" err="1">
                <a:latin typeface="Calibri"/>
                <a:cs typeface="Calibri"/>
              </a:rPr>
              <a:t>Prob</a:t>
            </a:r>
            <a:r>
              <a:rPr lang="en-US" sz="2461" dirty="0">
                <a:latin typeface="Calibri"/>
                <a:cs typeface="Calibri"/>
              </a:rPr>
              <a:t>(</a:t>
            </a:r>
            <a:r>
              <a:rPr lang="en-US" sz="2461" dirty="0" err="1">
                <a:latin typeface="Calibri"/>
                <a:cs typeface="Calibri"/>
              </a:rPr>
              <a:t>data|model</a:t>
            </a:r>
            <a:r>
              <a:rPr lang="en-US" sz="2461" dirty="0">
                <a:latin typeface="Calibri"/>
                <a:cs typeface="Calibri"/>
              </a:rPr>
              <a:t>)</a:t>
            </a:r>
          </a:p>
          <a:p>
            <a:pPr lvl="1"/>
            <a:r>
              <a:rPr lang="en-US" sz="2461" dirty="0">
                <a:latin typeface="Calibri"/>
                <a:cs typeface="Calibri"/>
              </a:rPr>
              <a:t>A conditional probability</a:t>
            </a:r>
          </a:p>
          <a:p>
            <a:endParaRPr lang="en-US" sz="2461" b="1" dirty="0">
              <a:latin typeface="Calibri"/>
              <a:cs typeface="Calibri"/>
            </a:endParaRPr>
          </a:p>
          <a:p>
            <a:r>
              <a:rPr lang="en-US" sz="2461" b="1" dirty="0">
                <a:latin typeface="Calibri"/>
                <a:cs typeface="Calibri"/>
              </a:rPr>
              <a:t>Data:</a:t>
            </a:r>
            <a:r>
              <a:rPr lang="en-US" sz="2461" dirty="0">
                <a:latin typeface="Calibri"/>
                <a:cs typeface="Calibri"/>
              </a:rPr>
              <a:t> some observations (numbers) you have collected </a:t>
            </a:r>
            <a:r>
              <a:rPr lang="mr-IN" sz="2461" dirty="0">
                <a:latin typeface="Calibri"/>
                <a:cs typeface="Calibri"/>
              </a:rPr>
              <a:t>–</a:t>
            </a:r>
            <a:r>
              <a:rPr lang="en-US" sz="2461" dirty="0">
                <a:latin typeface="Calibri"/>
                <a:cs typeface="Calibri"/>
              </a:rPr>
              <a:t> considered unchanging for the purposes of your statistical analysis</a:t>
            </a:r>
          </a:p>
          <a:p>
            <a:endParaRPr lang="en-US" sz="2461" dirty="0">
              <a:latin typeface="Calibri"/>
              <a:cs typeface="Calibri"/>
            </a:endParaRPr>
          </a:p>
          <a:p>
            <a:r>
              <a:rPr lang="en-US" sz="2461" b="1" dirty="0">
                <a:latin typeface="Calibri"/>
                <a:cs typeface="Calibri"/>
              </a:rPr>
              <a:t>Model:</a:t>
            </a:r>
            <a:r>
              <a:rPr lang="en-US" sz="2461" dirty="0">
                <a:latin typeface="Calibri"/>
                <a:cs typeface="Calibri"/>
              </a:rPr>
              <a:t> some process that you postulate could have produced the data; it is an equation giving the </a:t>
            </a:r>
            <a:r>
              <a:rPr lang="en-US" sz="2461" b="1" dirty="0">
                <a:latin typeface="Calibri"/>
                <a:cs typeface="Calibri"/>
              </a:rPr>
              <a:t>likelihood</a:t>
            </a:r>
            <a:br>
              <a:rPr lang="en-US" sz="2461" b="1" dirty="0">
                <a:latin typeface="Calibri"/>
                <a:cs typeface="Calibri"/>
              </a:rPr>
            </a:br>
            <a:br>
              <a:rPr lang="en-US" sz="2461" b="1" dirty="0">
                <a:latin typeface="Calibri"/>
                <a:cs typeface="Calibri"/>
              </a:rPr>
            </a:br>
            <a:r>
              <a:rPr lang="en-US" sz="2461" b="1" dirty="0">
                <a:latin typeface="Calibri"/>
                <a:cs typeface="Calibri"/>
              </a:rPr>
              <a:t>“Models put probabilities on data.”</a:t>
            </a:r>
            <a:br>
              <a:rPr lang="en-US" sz="2461" b="1" dirty="0">
                <a:latin typeface="Calibri"/>
                <a:cs typeface="Calibri"/>
              </a:rPr>
            </a:br>
            <a:endParaRPr lang="en-US" sz="2461" b="1" dirty="0">
              <a:latin typeface="Calibri"/>
              <a:cs typeface="Calibri"/>
            </a:endParaRPr>
          </a:p>
          <a:p>
            <a:r>
              <a:rPr lang="en-US" sz="2461" b="1" dirty="0">
                <a:latin typeface="Calibri"/>
                <a:cs typeface="Calibri"/>
              </a:rPr>
              <a:t>Parameters:</a:t>
            </a:r>
            <a:r>
              <a:rPr lang="en-US" sz="2461" dirty="0">
                <a:latin typeface="Calibri"/>
                <a:cs typeface="Calibri"/>
              </a:rPr>
              <a:t> Numbers in the model that can be changed / learned (e.g., the probability of heads, the rate of change)</a:t>
            </a:r>
            <a:endParaRPr lang="en-US" sz="2461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1550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892970" y="383976"/>
            <a:ext cx="7358063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29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892970" y="1857376"/>
            <a:ext cx="7358063" cy="1812727"/>
          </a:xfrm>
          <a:prstGeom prst="rect">
            <a:avLst/>
          </a:prstGeom>
        </p:spPr>
        <p:txBody>
          <a:bodyPr/>
          <a:lstStyle/>
          <a:p>
            <a:r>
              <a:t>Likelihood = probability of the data, assuming a model</a:t>
            </a:r>
          </a:p>
          <a:p>
            <a:endParaRPr/>
          </a:p>
          <a:p>
            <a:r>
              <a:t>Maximum Likelihood (ML): find the parameter values that maximize the probability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2821112871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892970" y="383976"/>
            <a:ext cx="7358063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32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232172" y="1857376"/>
            <a:ext cx="8018861" cy="1812727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Calibri"/>
                <a:cs typeface="Calibri"/>
              </a:rPr>
              <a:t>Likelihood = probability of the data, assuming a model</a:t>
            </a:r>
          </a:p>
          <a:p>
            <a:endParaRPr dirty="0">
              <a:latin typeface="Calibri"/>
              <a:cs typeface="Calibri"/>
            </a:endParaRPr>
          </a:p>
          <a:p>
            <a:r>
              <a:rPr dirty="0">
                <a:latin typeface="Calibri"/>
                <a:cs typeface="Calibri"/>
              </a:rPr>
              <a:t>Maximum Likelihood (ML): find the parameter values that maximize the probability of the data</a:t>
            </a:r>
          </a:p>
        </p:txBody>
      </p:sp>
      <p:sp>
        <p:nvSpPr>
          <p:cNvPr id="133" name="For example: coin-flipping…"/>
          <p:cNvSpPr txBox="1"/>
          <p:nvPr/>
        </p:nvSpPr>
        <p:spPr>
          <a:xfrm>
            <a:off x="451088" y="3360655"/>
            <a:ext cx="6570389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/>
              <a:t>Data: HHHHHHHTTT -- 7 Heads, then 3 Tails</a:t>
            </a:r>
          </a:p>
        </p:txBody>
      </p:sp>
      <p:pic>
        <p:nvPicPr>
          <p:cNvPr id="134" name="droppedImage.png" descr="dropped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400" y="4192300"/>
            <a:ext cx="2554130" cy="190429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073991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892970" y="383976"/>
            <a:ext cx="7358063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33" name="For example: coin-flipping…"/>
          <p:cNvSpPr txBox="1"/>
          <p:nvPr/>
        </p:nvSpPr>
        <p:spPr>
          <a:xfrm>
            <a:off x="451088" y="3360655"/>
            <a:ext cx="6570389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/>
              <a:t>Data: HHHHHHHTTT -- 7 Heads, then 3 Tails</a:t>
            </a:r>
          </a:p>
        </p:txBody>
      </p:sp>
      <p:pic>
        <p:nvPicPr>
          <p:cNvPr id="134" name="droppedImage.png" descr="dropped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400" y="4192300"/>
            <a:ext cx="2554130" cy="1904296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Likelihood = probability of the data, assuming a model…"/>
          <p:cNvSpPr txBox="1">
            <a:spLocks/>
          </p:cNvSpPr>
          <p:nvPr/>
        </p:nvSpPr>
        <p:spPr>
          <a:xfrm>
            <a:off x="232172" y="1857376"/>
            <a:ext cx="8018861" cy="181272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buSzTx/>
              <a:buNone/>
              <a:defRPr sz="3600" b="1" i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31">
                <a:latin typeface="Calibri"/>
                <a:cs typeface="Calibri"/>
              </a:rPr>
              <a:t>Likelihood = probability of the data, assuming a model</a:t>
            </a:r>
          </a:p>
          <a:p>
            <a:endParaRPr lang="en-US" sz="2531">
              <a:latin typeface="Calibri"/>
              <a:cs typeface="Calibri"/>
            </a:endParaRPr>
          </a:p>
          <a:p>
            <a:r>
              <a:rPr lang="en-US" sz="2531">
                <a:latin typeface="Calibri"/>
                <a:cs typeface="Calibri"/>
              </a:rPr>
              <a:t>Maximum Likelihood (ML): find the parameter values that maximize the probability of the data</a:t>
            </a:r>
            <a:endParaRPr lang="en-US" sz="253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02629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892970" y="383976"/>
            <a:ext cx="7358063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39" name="For example: coin-flipping…"/>
          <p:cNvSpPr txBox="1"/>
          <p:nvPr/>
        </p:nvSpPr>
        <p:spPr>
          <a:xfrm>
            <a:off x="451088" y="3360655"/>
            <a:ext cx="6570389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/>
              <a:t>Data: HHHHHHHTTT -- 7 Heads, then 3 Tails</a:t>
            </a:r>
          </a:p>
        </p:txBody>
      </p:sp>
      <p:graphicFrame>
        <p:nvGraphicFramePr>
          <p:cNvPr id="140" name="Table"/>
          <p:cNvGraphicFramePr/>
          <p:nvPr/>
        </p:nvGraphicFramePr>
        <p:xfrm>
          <a:off x="383978" y="4232672"/>
          <a:ext cx="8286747" cy="2544960"/>
        </p:xfrm>
        <a:graphic>
          <a:graphicData uri="http://schemas.openxmlformats.org/drawingml/2006/table">
            <a:tbl>
              <a:tblPr/>
              <a:tblGrid>
                <a:gridCol w="1183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Model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Parameter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Calculation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Prob(data)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Ln(prob)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Prob. ratio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ML says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Fair coin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17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17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17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Biased coin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17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17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17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droppedImage.png" descr="droppedImage.png">
            <a:extLst>
              <a:ext uri="{FF2B5EF4-FFF2-40B4-BE49-F238E27FC236}">
                <a16:creationId xmlns:a16="http://schemas.microsoft.com/office/drawing/2014/main" id="{B5A5A9F6-0B8F-5E4D-B5D3-152796C3B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551" y="632349"/>
            <a:ext cx="1643063" cy="122502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kelihood = probability of the data, assuming a model…"/>
          <p:cNvSpPr txBox="1">
            <a:spLocks/>
          </p:cNvSpPr>
          <p:nvPr/>
        </p:nvSpPr>
        <p:spPr>
          <a:xfrm>
            <a:off x="232172" y="1857376"/>
            <a:ext cx="8018861" cy="181272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buSzTx/>
              <a:buNone/>
              <a:defRPr sz="3600" b="1" i="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2pPr>
            <a:lvl3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3pPr>
            <a:lvl4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4pPr>
            <a:lvl5pPr marL="0" indent="0" algn="ctr">
              <a:spcBef>
                <a:spcPts val="0"/>
              </a:spcBef>
              <a:buSzTx/>
              <a:buNone/>
              <a:defRPr sz="3600">
                <a:latin typeface="Gill Sans"/>
                <a:ea typeface="Gill Sans"/>
                <a:cs typeface="Gill Sans"/>
                <a:sym typeface="Gill San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31">
                <a:latin typeface="Calibri"/>
                <a:cs typeface="Calibri"/>
              </a:rPr>
              <a:t>Likelihood = probability of the data, assuming a model</a:t>
            </a:r>
          </a:p>
          <a:p>
            <a:endParaRPr lang="en-US" sz="2531">
              <a:latin typeface="Calibri"/>
              <a:cs typeface="Calibri"/>
            </a:endParaRPr>
          </a:p>
          <a:p>
            <a:r>
              <a:rPr lang="en-US" sz="2531">
                <a:latin typeface="Calibri"/>
                <a:cs typeface="Calibri"/>
              </a:rPr>
              <a:t>Maximum Likelihood (ML): find the parameter values that maximize the probability of the data</a:t>
            </a:r>
            <a:endParaRPr lang="en-US" sz="253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53817919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892970" y="383976"/>
            <a:ext cx="7358063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45" name="For example: coin-flipping…"/>
          <p:cNvSpPr txBox="1"/>
          <p:nvPr/>
        </p:nvSpPr>
        <p:spPr>
          <a:xfrm>
            <a:off x="451088" y="3360655"/>
            <a:ext cx="6570389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 dirty="0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 dirty="0"/>
              <a:t>Data: HHHHHHHTTT -- 7 Heads, then 3 Tails</a:t>
            </a:r>
          </a:p>
        </p:txBody>
      </p:sp>
      <p:graphicFrame>
        <p:nvGraphicFramePr>
          <p:cNvPr id="146" name="Table"/>
          <p:cNvGraphicFramePr/>
          <p:nvPr/>
        </p:nvGraphicFramePr>
        <p:xfrm>
          <a:off x="383978" y="4232672"/>
          <a:ext cx="8286749" cy="2544961"/>
        </p:xfrm>
        <a:graphic>
          <a:graphicData uri="http://schemas.openxmlformats.org/drawingml/2006/table">
            <a:tbl>
              <a:tblPr/>
              <a:tblGrid>
                <a:gridCol w="1183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Model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Parameter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Calculation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Prob(data)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Ln(prob)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Prob. ratio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ML says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Fair coin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prob(Heads)=0.5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17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17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Biased coin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17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17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17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droppedImage.png" descr="droppedImage.png">
            <a:extLst>
              <a:ext uri="{FF2B5EF4-FFF2-40B4-BE49-F238E27FC236}">
                <a16:creationId xmlns:a16="http://schemas.microsoft.com/office/drawing/2014/main" id="{76E43FE0-59A2-7849-AD4C-7044D74DD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551" y="632349"/>
            <a:ext cx="1643063" cy="122502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232172" y="1857376"/>
            <a:ext cx="8018861" cy="1812727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Calibri"/>
                <a:cs typeface="Calibri"/>
              </a:rPr>
              <a:t>Likelihood = probability of the data, assuming a model</a:t>
            </a:r>
          </a:p>
          <a:p>
            <a:endParaRPr dirty="0">
              <a:latin typeface="Calibri"/>
              <a:cs typeface="Calibri"/>
            </a:endParaRPr>
          </a:p>
          <a:p>
            <a:r>
              <a:rPr dirty="0">
                <a:latin typeface="Calibri"/>
                <a:cs typeface="Calibri"/>
              </a:rPr>
              <a:t>Maximum Likelihood (ML): find the parameter values that maximize the probability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618209204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892970" y="383976"/>
            <a:ext cx="7358063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51" name="For example: coin-flipping…"/>
          <p:cNvSpPr txBox="1"/>
          <p:nvPr/>
        </p:nvSpPr>
        <p:spPr>
          <a:xfrm>
            <a:off x="451088" y="3360655"/>
            <a:ext cx="6570389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 dirty="0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 dirty="0"/>
              <a:t>Data: HHHHHHHTTT -- 7 Heads, then 3 Tails</a:t>
            </a:r>
          </a:p>
        </p:txBody>
      </p:sp>
      <p:graphicFrame>
        <p:nvGraphicFramePr>
          <p:cNvPr id="152" name="Table"/>
          <p:cNvGraphicFramePr/>
          <p:nvPr/>
        </p:nvGraphicFramePr>
        <p:xfrm>
          <a:off x="383978" y="4232672"/>
          <a:ext cx="8286749" cy="2544961"/>
        </p:xfrm>
        <a:graphic>
          <a:graphicData uri="http://schemas.openxmlformats.org/drawingml/2006/table">
            <a:tbl>
              <a:tblPr/>
              <a:tblGrid>
                <a:gridCol w="1183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Model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Parameter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Calculation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Prob(data)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Ln(prob)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Prob. ratio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ML says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Fair coin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prob(Heads)=0.5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17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17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Biased coin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prob(Heads)=0.7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17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17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droppedImage.png" descr="droppedImage.png">
            <a:extLst>
              <a:ext uri="{FF2B5EF4-FFF2-40B4-BE49-F238E27FC236}">
                <a16:creationId xmlns:a16="http://schemas.microsoft.com/office/drawing/2014/main" id="{FE194AE2-05E1-DD4A-ADB0-11FACED8F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551" y="632349"/>
            <a:ext cx="1643063" cy="122502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232172" y="1857376"/>
            <a:ext cx="8018861" cy="1812727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Calibri"/>
                <a:cs typeface="Calibri"/>
              </a:rPr>
              <a:t>Likelihood = probability of the data, assuming a model</a:t>
            </a:r>
          </a:p>
          <a:p>
            <a:endParaRPr dirty="0">
              <a:latin typeface="Calibri"/>
              <a:cs typeface="Calibri"/>
            </a:endParaRPr>
          </a:p>
          <a:p>
            <a:r>
              <a:rPr dirty="0">
                <a:latin typeface="Calibri"/>
                <a:cs typeface="Calibri"/>
              </a:rPr>
              <a:t>Maximum Likelihood (ML): find the parameter values that maximize the probability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2967035596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892970" y="383976"/>
            <a:ext cx="7358063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57" name="For example: coin-flipping…"/>
          <p:cNvSpPr txBox="1"/>
          <p:nvPr/>
        </p:nvSpPr>
        <p:spPr>
          <a:xfrm>
            <a:off x="451088" y="3360655"/>
            <a:ext cx="6570389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/>
              <a:t>Data: HHHHHHHTTT -- 7 Heads, then 3 Tails</a:t>
            </a:r>
          </a:p>
        </p:txBody>
      </p:sp>
      <p:graphicFrame>
        <p:nvGraphicFramePr>
          <p:cNvPr id="158" name="Table"/>
          <p:cNvGraphicFramePr/>
          <p:nvPr/>
        </p:nvGraphicFramePr>
        <p:xfrm>
          <a:off x="383978" y="4232672"/>
          <a:ext cx="8286749" cy="2544961"/>
        </p:xfrm>
        <a:graphic>
          <a:graphicData uri="http://schemas.openxmlformats.org/drawingml/2006/table">
            <a:tbl>
              <a:tblPr/>
              <a:tblGrid>
                <a:gridCol w="1183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Model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Parameter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Calculation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Prob(data)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Ln(prob)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Prob. ratio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ML says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Fair coin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prob(Heads)=0.5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1700"/>
                        <a:t>0.5</a:t>
                      </a:r>
                      <a:r>
                        <a:rPr sz="1700" baseline="31999"/>
                        <a:t>7</a:t>
                      </a:r>
                      <a:r>
                        <a:rPr sz="1700"/>
                        <a:t>x0.5</a:t>
                      </a:r>
                      <a:r>
                        <a:rPr sz="1700" baseline="31999"/>
                        <a:t>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17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Biased coin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prob(Heads)=0.7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17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17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droppedImage.png" descr="droppedImage.png">
            <a:extLst>
              <a:ext uri="{FF2B5EF4-FFF2-40B4-BE49-F238E27FC236}">
                <a16:creationId xmlns:a16="http://schemas.microsoft.com/office/drawing/2014/main" id="{A830089A-EEC2-5048-AAE6-CC11EBD05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551" y="632349"/>
            <a:ext cx="1643063" cy="122502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232172" y="1857376"/>
            <a:ext cx="8018861" cy="1812727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Calibri"/>
                <a:cs typeface="Calibri"/>
              </a:rPr>
              <a:t>Likelihood = probability of the data, assuming a model</a:t>
            </a:r>
          </a:p>
          <a:p>
            <a:endParaRPr dirty="0">
              <a:latin typeface="Calibri"/>
              <a:cs typeface="Calibri"/>
            </a:endParaRPr>
          </a:p>
          <a:p>
            <a:r>
              <a:rPr dirty="0">
                <a:latin typeface="Calibri"/>
                <a:cs typeface="Calibri"/>
              </a:rPr>
              <a:t>Maximum Likelihood (ML): find the parameter values that maximize the probability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2751646325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892970" y="383976"/>
            <a:ext cx="7358063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63" name="For example: coin-flipping…"/>
          <p:cNvSpPr txBox="1"/>
          <p:nvPr/>
        </p:nvSpPr>
        <p:spPr>
          <a:xfrm>
            <a:off x="451088" y="3360655"/>
            <a:ext cx="6570389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/>
              <a:t>Data: HHHHHHHTTT -- 7 Heads, then 3 Tails</a:t>
            </a:r>
          </a:p>
        </p:txBody>
      </p:sp>
      <p:graphicFrame>
        <p:nvGraphicFramePr>
          <p:cNvPr id="164" name="Table"/>
          <p:cNvGraphicFramePr/>
          <p:nvPr/>
        </p:nvGraphicFramePr>
        <p:xfrm>
          <a:off x="383978" y="4232672"/>
          <a:ext cx="8286749" cy="2544961"/>
        </p:xfrm>
        <a:graphic>
          <a:graphicData uri="http://schemas.openxmlformats.org/drawingml/2006/table">
            <a:tbl>
              <a:tblPr/>
              <a:tblGrid>
                <a:gridCol w="1183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Model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Parameter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Calculation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Prob(data)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Ln(prob)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Prob. ratio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ML says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Fair coin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prob(Heads)=0.5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1700"/>
                        <a:t>0.5</a:t>
                      </a:r>
                      <a:r>
                        <a:rPr sz="1700" baseline="31999"/>
                        <a:t>7</a:t>
                      </a:r>
                      <a:r>
                        <a:rPr sz="1700"/>
                        <a:t>x0.5</a:t>
                      </a:r>
                      <a:r>
                        <a:rPr sz="1700" baseline="31999"/>
                        <a:t>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17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Biased coin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prob(Heads)=0.7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1700"/>
                        <a:t>0.7</a:t>
                      </a:r>
                      <a:r>
                        <a:rPr sz="1700" baseline="31999"/>
                        <a:t>7</a:t>
                      </a:r>
                      <a:r>
                        <a:rPr sz="1700"/>
                        <a:t>x0.3</a:t>
                      </a:r>
                      <a:r>
                        <a:rPr sz="1700" baseline="31999"/>
                        <a:t>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1700" dirty="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 dirty="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droppedImage.png" descr="droppedImage.png">
            <a:extLst>
              <a:ext uri="{FF2B5EF4-FFF2-40B4-BE49-F238E27FC236}">
                <a16:creationId xmlns:a16="http://schemas.microsoft.com/office/drawing/2014/main" id="{130FCF3E-B86C-DB42-A665-621D23BF5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551" y="632349"/>
            <a:ext cx="1643063" cy="122502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232172" y="1857376"/>
            <a:ext cx="8018861" cy="1812727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Calibri"/>
                <a:cs typeface="Calibri"/>
              </a:rPr>
              <a:t>Likelihood = probability of the data, assuming a model</a:t>
            </a:r>
          </a:p>
          <a:p>
            <a:endParaRPr dirty="0">
              <a:latin typeface="Calibri"/>
              <a:cs typeface="Calibri"/>
            </a:endParaRPr>
          </a:p>
          <a:p>
            <a:r>
              <a:rPr dirty="0">
                <a:latin typeface="Calibri"/>
                <a:cs typeface="Calibri"/>
              </a:rPr>
              <a:t>Maximum Likelihood (ML): find the parameter values that maximize the probability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3188321179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892970" y="383976"/>
            <a:ext cx="7358063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69" name="For example: coin-flipping…"/>
          <p:cNvSpPr txBox="1"/>
          <p:nvPr/>
        </p:nvSpPr>
        <p:spPr>
          <a:xfrm>
            <a:off x="451088" y="3360655"/>
            <a:ext cx="6570389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 dirty="0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 dirty="0"/>
              <a:t>Data: HHHHHHHTTT -- 7 Heads, then 3 Tails</a:t>
            </a:r>
          </a:p>
        </p:txBody>
      </p:sp>
      <p:graphicFrame>
        <p:nvGraphicFramePr>
          <p:cNvPr id="170" name="Table"/>
          <p:cNvGraphicFramePr/>
          <p:nvPr/>
        </p:nvGraphicFramePr>
        <p:xfrm>
          <a:off x="383978" y="4232672"/>
          <a:ext cx="8286749" cy="2544961"/>
        </p:xfrm>
        <a:graphic>
          <a:graphicData uri="http://schemas.openxmlformats.org/drawingml/2006/table">
            <a:tbl>
              <a:tblPr/>
              <a:tblGrid>
                <a:gridCol w="1183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Model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Parameter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Calculation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Prob(data)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Ln(prob)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Prob. ratio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ML says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Fair coin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prob(Heads)=0.5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1700"/>
                        <a:t>0.5</a:t>
                      </a:r>
                      <a:r>
                        <a:rPr sz="1700" baseline="31999"/>
                        <a:t>7</a:t>
                      </a:r>
                      <a:r>
                        <a:rPr sz="1700"/>
                        <a:t>x0.5</a:t>
                      </a:r>
                      <a:r>
                        <a:rPr sz="1700" baseline="31999"/>
                        <a:t>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0.000977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Biased coin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prob(Heads)=0.7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1700"/>
                        <a:t>0.7</a:t>
                      </a:r>
                      <a:r>
                        <a:rPr sz="1700" baseline="31999"/>
                        <a:t>7</a:t>
                      </a:r>
                      <a:r>
                        <a:rPr sz="1700"/>
                        <a:t>x0.3</a:t>
                      </a:r>
                      <a:r>
                        <a:rPr sz="1700" baseline="31999"/>
                        <a:t>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0.00222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droppedImage.png" descr="droppedImage.png">
            <a:extLst>
              <a:ext uri="{FF2B5EF4-FFF2-40B4-BE49-F238E27FC236}">
                <a16:creationId xmlns:a16="http://schemas.microsoft.com/office/drawing/2014/main" id="{CCA0208A-BA2C-3E47-B525-214C643EB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551" y="632349"/>
            <a:ext cx="1643063" cy="122502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232172" y="1857376"/>
            <a:ext cx="8018861" cy="1812727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Calibri"/>
                <a:cs typeface="Calibri"/>
              </a:rPr>
              <a:t>Likelihood = probability of the data, assuming a model</a:t>
            </a:r>
          </a:p>
          <a:p>
            <a:endParaRPr dirty="0">
              <a:latin typeface="Calibri"/>
              <a:cs typeface="Calibri"/>
            </a:endParaRPr>
          </a:p>
          <a:p>
            <a:r>
              <a:rPr dirty="0">
                <a:latin typeface="Calibri"/>
                <a:cs typeface="Calibri"/>
              </a:rPr>
              <a:t>Maximum Likelihood (ML): find the parameter values that maximize the probability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137828400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892970" y="383976"/>
            <a:ext cx="7358063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75" name="For example: coin-flipping…"/>
          <p:cNvSpPr txBox="1"/>
          <p:nvPr/>
        </p:nvSpPr>
        <p:spPr>
          <a:xfrm>
            <a:off x="451088" y="3360655"/>
            <a:ext cx="6570389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/>
              <a:t>Data: HHHHHHHTTT -- 7 Heads, then 3 Tails</a:t>
            </a:r>
          </a:p>
        </p:txBody>
      </p:sp>
      <p:graphicFrame>
        <p:nvGraphicFramePr>
          <p:cNvPr id="176" name="Table"/>
          <p:cNvGraphicFramePr/>
          <p:nvPr/>
        </p:nvGraphicFramePr>
        <p:xfrm>
          <a:off x="383978" y="4232672"/>
          <a:ext cx="8286749" cy="2544961"/>
        </p:xfrm>
        <a:graphic>
          <a:graphicData uri="http://schemas.openxmlformats.org/drawingml/2006/table">
            <a:tbl>
              <a:tblPr/>
              <a:tblGrid>
                <a:gridCol w="1183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Model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Parameter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Calculation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Prob(data)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Ln(prob)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Prob. ratio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ML says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Fair coin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prob(Heads)=0.5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1700"/>
                        <a:t>0.5</a:t>
                      </a:r>
                      <a:r>
                        <a:rPr sz="1700" baseline="31999"/>
                        <a:t>7</a:t>
                      </a:r>
                      <a:r>
                        <a:rPr sz="1700"/>
                        <a:t>x0.5</a:t>
                      </a:r>
                      <a:r>
                        <a:rPr sz="1700" baseline="31999"/>
                        <a:t>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0.000977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-6.93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Biased coin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prob(Heads)=0.7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1700"/>
                        <a:t>0.7</a:t>
                      </a:r>
                      <a:r>
                        <a:rPr sz="1700" baseline="31999"/>
                        <a:t>7</a:t>
                      </a:r>
                      <a:r>
                        <a:rPr sz="1700"/>
                        <a:t>x0.3</a:t>
                      </a:r>
                      <a:r>
                        <a:rPr sz="1700" baseline="31999"/>
                        <a:t>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 dirty="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0.00222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-6.11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 dirty="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droppedImage.png" descr="droppedImage.png">
            <a:extLst>
              <a:ext uri="{FF2B5EF4-FFF2-40B4-BE49-F238E27FC236}">
                <a16:creationId xmlns:a16="http://schemas.microsoft.com/office/drawing/2014/main" id="{FFB07A93-6150-9C4E-8E4B-C768B5E05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551" y="632349"/>
            <a:ext cx="1643063" cy="122502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232172" y="1857376"/>
            <a:ext cx="8018861" cy="1812727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Calibri"/>
                <a:cs typeface="Calibri"/>
              </a:rPr>
              <a:t>Likelihood = probability of the data, assuming a model</a:t>
            </a:r>
          </a:p>
          <a:p>
            <a:endParaRPr dirty="0">
              <a:latin typeface="Calibri"/>
              <a:cs typeface="Calibri"/>
            </a:endParaRPr>
          </a:p>
          <a:p>
            <a:r>
              <a:rPr dirty="0">
                <a:latin typeface="Calibri"/>
                <a:cs typeface="Calibri"/>
              </a:rPr>
              <a:t>Maximum Likelihood (ML): find the parameter values that maximize the probability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110448923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892970" y="383976"/>
            <a:ext cx="7358063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81" name="For example: coin-flipping…"/>
          <p:cNvSpPr txBox="1"/>
          <p:nvPr/>
        </p:nvSpPr>
        <p:spPr>
          <a:xfrm>
            <a:off x="451088" y="3360655"/>
            <a:ext cx="6570389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/>
              <a:t>Data: HHHHHHHTTT -- 7 Heads, then 3 Tails</a:t>
            </a:r>
          </a:p>
        </p:txBody>
      </p:sp>
      <p:graphicFrame>
        <p:nvGraphicFramePr>
          <p:cNvPr id="182" name="Table"/>
          <p:cNvGraphicFramePr/>
          <p:nvPr/>
        </p:nvGraphicFramePr>
        <p:xfrm>
          <a:off x="383978" y="4232672"/>
          <a:ext cx="8286749" cy="2544961"/>
        </p:xfrm>
        <a:graphic>
          <a:graphicData uri="http://schemas.openxmlformats.org/drawingml/2006/table">
            <a:tbl>
              <a:tblPr/>
              <a:tblGrid>
                <a:gridCol w="1183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Model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Parameter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Calculation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Prob(data)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Ln(prob)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Prob. ratio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ML says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Fair coin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prob(Heads)=0.5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1700"/>
                        <a:t>0.5</a:t>
                      </a:r>
                      <a:r>
                        <a:rPr sz="1700" baseline="31999"/>
                        <a:t>7</a:t>
                      </a:r>
                      <a:r>
                        <a:rPr sz="1700"/>
                        <a:t>x0.5</a:t>
                      </a:r>
                      <a:r>
                        <a:rPr sz="1700" baseline="31999"/>
                        <a:t>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0.000977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-6.93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Biased coin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prob(Heads)=0.7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1700"/>
                        <a:t>0.7</a:t>
                      </a:r>
                      <a:r>
                        <a:rPr sz="1700" baseline="31999"/>
                        <a:t>7</a:t>
                      </a:r>
                      <a:r>
                        <a:rPr sz="1700"/>
                        <a:t>x0.3</a:t>
                      </a:r>
                      <a:r>
                        <a:rPr sz="1700" baseline="31999"/>
                        <a:t>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 dirty="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0.00222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-6.11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2.28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 dirty="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droppedImage.png" descr="droppedImage.png">
            <a:extLst>
              <a:ext uri="{FF2B5EF4-FFF2-40B4-BE49-F238E27FC236}">
                <a16:creationId xmlns:a16="http://schemas.microsoft.com/office/drawing/2014/main" id="{B1D43974-3233-D146-89D7-76A0C14C9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551" y="632349"/>
            <a:ext cx="1643063" cy="122502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232172" y="1857376"/>
            <a:ext cx="8018861" cy="1812727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Calibri"/>
                <a:cs typeface="Calibri"/>
              </a:rPr>
              <a:t>Likelihood = probability of the data, assuming a model</a:t>
            </a:r>
          </a:p>
          <a:p>
            <a:endParaRPr dirty="0">
              <a:latin typeface="Calibri"/>
              <a:cs typeface="Calibri"/>
            </a:endParaRPr>
          </a:p>
          <a:p>
            <a:r>
              <a:rPr dirty="0">
                <a:latin typeface="Calibri"/>
                <a:cs typeface="Calibri"/>
              </a:rPr>
              <a:t>Maximum Likelihood (ML): find the parameter values that maximize the probability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2832329203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892970" y="383976"/>
            <a:ext cx="7358063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t>Maximum Likelihood</a:t>
            </a:r>
          </a:p>
          <a:p>
            <a:pPr>
              <a:defRPr sz="4800" b="1"/>
            </a:pPr>
            <a:r>
              <a:t>Inference</a:t>
            </a:r>
          </a:p>
        </p:txBody>
      </p:sp>
      <p:sp>
        <p:nvSpPr>
          <p:cNvPr id="187" name="For example: coin-flipping…"/>
          <p:cNvSpPr txBox="1"/>
          <p:nvPr/>
        </p:nvSpPr>
        <p:spPr>
          <a:xfrm>
            <a:off x="451088" y="3360655"/>
            <a:ext cx="6570389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/>
              <a:t>Data: HHHHHHHTTT -- 7 Heads, then 3 Tails</a:t>
            </a:r>
          </a:p>
        </p:txBody>
      </p:sp>
      <p:graphicFrame>
        <p:nvGraphicFramePr>
          <p:cNvPr id="188" name="Table"/>
          <p:cNvGraphicFramePr/>
          <p:nvPr/>
        </p:nvGraphicFramePr>
        <p:xfrm>
          <a:off x="383978" y="4232672"/>
          <a:ext cx="8286749" cy="2544961"/>
        </p:xfrm>
        <a:graphic>
          <a:graphicData uri="http://schemas.openxmlformats.org/drawingml/2006/table">
            <a:tbl>
              <a:tblPr/>
              <a:tblGrid>
                <a:gridCol w="1183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Model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Parameter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Calculation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Prob(data)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Ln(prob)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Prob. ratio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ML says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Fair coin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prob(Heads)=0.5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1700"/>
                        <a:t>0.5</a:t>
                      </a:r>
                      <a:r>
                        <a:rPr sz="1700" baseline="31999"/>
                        <a:t>7</a:t>
                      </a:r>
                      <a:r>
                        <a:rPr sz="1700"/>
                        <a:t>x0.5</a:t>
                      </a:r>
                      <a:r>
                        <a:rPr sz="1700" baseline="31999"/>
                        <a:t>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0.000977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-6.93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worse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Biased coin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prob(Heads)=0.7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1700"/>
                        <a:t>0.7</a:t>
                      </a:r>
                      <a:r>
                        <a:rPr sz="1700" baseline="31999"/>
                        <a:t>7</a:t>
                      </a:r>
                      <a:r>
                        <a:rPr sz="1700"/>
                        <a:t>x0.3</a:t>
                      </a:r>
                      <a:r>
                        <a:rPr sz="1700" baseline="31999"/>
                        <a:t>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 dirty="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0.00222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-6.11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2.28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36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endParaRPr sz="2500" dirty="0"/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droppedImage.png" descr="droppedImage.png">
            <a:extLst>
              <a:ext uri="{FF2B5EF4-FFF2-40B4-BE49-F238E27FC236}">
                <a16:creationId xmlns:a16="http://schemas.microsoft.com/office/drawing/2014/main" id="{B2B8BBE9-1721-D044-BB88-07B15E380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551" y="632349"/>
            <a:ext cx="1643063" cy="122502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232172" y="1857376"/>
            <a:ext cx="8018861" cy="1812727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Calibri"/>
                <a:cs typeface="Calibri"/>
              </a:rPr>
              <a:t>Likelihood = probability of the data, assuming a model</a:t>
            </a:r>
          </a:p>
          <a:p>
            <a:endParaRPr dirty="0">
              <a:latin typeface="Calibri"/>
              <a:cs typeface="Calibri"/>
            </a:endParaRPr>
          </a:p>
          <a:p>
            <a:r>
              <a:rPr dirty="0">
                <a:latin typeface="Calibri"/>
                <a:cs typeface="Calibri"/>
              </a:rPr>
              <a:t>Maximum Likelihood (ML): find the parameter values that maximize the probability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1265922876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892970" y="383976"/>
            <a:ext cx="7358063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dirty="0"/>
              <a:t>Maximum Likelihood</a:t>
            </a:r>
          </a:p>
          <a:p>
            <a:pPr>
              <a:defRPr sz="4800" b="1"/>
            </a:pPr>
            <a:r>
              <a:rPr dirty="0"/>
              <a:t>Inference</a:t>
            </a:r>
          </a:p>
        </p:txBody>
      </p:sp>
      <p:sp>
        <p:nvSpPr>
          <p:cNvPr id="193" name="For example: coin-flipping…"/>
          <p:cNvSpPr txBox="1"/>
          <p:nvPr/>
        </p:nvSpPr>
        <p:spPr>
          <a:xfrm>
            <a:off x="451088" y="3360655"/>
            <a:ext cx="6570389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/>
              <a:t>For example: coin-flipping</a:t>
            </a:r>
          </a:p>
          <a:p>
            <a:pPr lvl="1">
              <a:defRPr sz="3600" b="0">
                <a:latin typeface="Gill Sans"/>
                <a:ea typeface="Gill Sans"/>
                <a:cs typeface="Gill Sans"/>
                <a:sym typeface="Gill Sans"/>
              </a:defRPr>
            </a:pPr>
            <a:r>
              <a:rPr sz="2531"/>
              <a:t>Data: HHHHHHHTTT -- 7 Heads, then 3 Tails</a:t>
            </a:r>
          </a:p>
        </p:txBody>
      </p:sp>
      <p:graphicFrame>
        <p:nvGraphicFramePr>
          <p:cNvPr id="194" name="Table"/>
          <p:cNvGraphicFramePr/>
          <p:nvPr/>
        </p:nvGraphicFramePr>
        <p:xfrm>
          <a:off x="383978" y="4232672"/>
          <a:ext cx="8286749" cy="2544961"/>
        </p:xfrm>
        <a:graphic>
          <a:graphicData uri="http://schemas.openxmlformats.org/drawingml/2006/table">
            <a:tbl>
              <a:tblPr/>
              <a:tblGrid>
                <a:gridCol w="1183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38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Model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Parameter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Calculation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4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Prob(data)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Ln(prob)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Prob. ratio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300" b="1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ML says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Fair coin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prob(Heads)=0.5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1700"/>
                        <a:t>0.5</a:t>
                      </a:r>
                      <a:r>
                        <a:rPr sz="1700" baseline="31999"/>
                        <a:t>7</a:t>
                      </a:r>
                      <a:r>
                        <a:rPr sz="1700"/>
                        <a:t>x0.5</a:t>
                      </a:r>
                      <a:r>
                        <a:rPr sz="1700" baseline="31999"/>
                        <a:t>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0.000977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-6.93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worse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320"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Biased coin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prob(Heads)=0.7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2400">
                          <a:latin typeface="Gill Sans"/>
                          <a:ea typeface="Gill Sans"/>
                          <a:cs typeface="Gill Sans"/>
                          <a:sym typeface="Gill Sans"/>
                        </a:defRPr>
                      </a:pPr>
                      <a:r>
                        <a:rPr sz="1700"/>
                        <a:t>0.7</a:t>
                      </a:r>
                      <a:r>
                        <a:rPr sz="1700" baseline="31999"/>
                        <a:t>7</a:t>
                      </a:r>
                      <a:r>
                        <a:rPr sz="1700"/>
                        <a:t>x0.3</a:t>
                      </a:r>
                      <a:r>
                        <a:rPr sz="1700" baseline="31999"/>
                        <a:t>3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700" dirty="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0.00222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-6.11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2.28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500" dirty="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better</a:t>
                      </a:r>
                    </a:p>
                  </a:txBody>
                  <a:tcPr marL="35719" marR="35719" marT="35719" marB="35719" anchor="ctr" horzOverflow="overflow">
                    <a:lnL w="254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  <a:miter lim="400000"/>
                    </a:lnT>
                    <a:lnB w="254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droppedImage.png" descr="droppedImage.png">
            <a:extLst>
              <a:ext uri="{FF2B5EF4-FFF2-40B4-BE49-F238E27FC236}">
                <a16:creationId xmlns:a16="http://schemas.microsoft.com/office/drawing/2014/main" id="{B2B8BBE9-1721-D044-BB88-07B15E380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551" y="632349"/>
            <a:ext cx="1643063" cy="122502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ikelihood = probability of the data, assuming a model…"/>
          <p:cNvSpPr txBox="1">
            <a:spLocks noGrp="1"/>
          </p:cNvSpPr>
          <p:nvPr>
            <p:ph type="body" sz="half" idx="1"/>
          </p:nvPr>
        </p:nvSpPr>
        <p:spPr>
          <a:xfrm>
            <a:off x="232172" y="1857376"/>
            <a:ext cx="8018861" cy="1812727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Calibri"/>
                <a:cs typeface="Calibri"/>
              </a:rPr>
              <a:t>Likelihood = probability of the data, assuming a model</a:t>
            </a:r>
          </a:p>
          <a:p>
            <a:endParaRPr dirty="0">
              <a:latin typeface="Calibri"/>
              <a:cs typeface="Calibri"/>
            </a:endParaRPr>
          </a:p>
          <a:p>
            <a:r>
              <a:rPr dirty="0">
                <a:latin typeface="Calibri"/>
                <a:cs typeface="Calibri"/>
              </a:rPr>
              <a:t>Maximum Likelihood (ML): find the parameter values that maximize the probability of the data</a:t>
            </a:r>
          </a:p>
        </p:txBody>
      </p:sp>
    </p:spTree>
    <p:extLst>
      <p:ext uri="{BB962C8B-B14F-4D97-AF65-F5344CB8AC3E}">
        <p14:creationId xmlns:p14="http://schemas.microsoft.com/office/powerpoint/2010/main" val="3911609658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740310" y="146811"/>
            <a:ext cx="7953511" cy="74219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2391" dirty="0"/>
              <a:t>We can calculate likelihood or lnL for many different possible parameter values</a:t>
            </a:r>
            <a:endParaRPr sz="2391" dirty="0"/>
          </a:p>
        </p:txBody>
      </p:sp>
      <p:sp>
        <p:nvSpPr>
          <p:cNvPr id="4" name="Rectangle 3"/>
          <p:cNvSpPr/>
          <p:nvPr/>
        </p:nvSpPr>
        <p:spPr>
          <a:xfrm>
            <a:off x="1785938" y="1232297"/>
            <a:ext cx="5176167" cy="633376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758" dirty="0"/>
              <a:t>Data/observations are fixed: we observed </a:t>
            </a:r>
            <a:r>
              <a:rPr lang="en-US" sz="1758" u="sng" dirty="0"/>
              <a:t>7 Heads, 3 Tails</a:t>
            </a:r>
            <a:r>
              <a:rPr lang="en-US" sz="1758" dirty="0"/>
              <a:t>. Which parameter value is best? </a:t>
            </a:r>
          </a:p>
        </p:txBody>
      </p:sp>
    </p:spTree>
    <p:extLst>
      <p:ext uri="{BB962C8B-B14F-4D97-AF65-F5344CB8AC3E}">
        <p14:creationId xmlns:p14="http://schemas.microsoft.com/office/powerpoint/2010/main" val="3563526563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740310" y="146811"/>
            <a:ext cx="7953511" cy="74219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2391" dirty="0"/>
              <a:t>We can calculate likelihood or lnL for many different possible parameter values</a:t>
            </a:r>
            <a:endParaRPr sz="2391" dirty="0"/>
          </a:p>
        </p:txBody>
      </p:sp>
      <p:grpSp>
        <p:nvGrpSpPr>
          <p:cNvPr id="10" name="Group 9"/>
          <p:cNvGrpSpPr/>
          <p:nvPr/>
        </p:nvGrpSpPr>
        <p:grpSpPr>
          <a:xfrm>
            <a:off x="881981" y="2175210"/>
            <a:ext cx="8173120" cy="4432300"/>
            <a:chOff x="437480" y="2365710"/>
            <a:chExt cx="8173120" cy="44323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7480" y="2365710"/>
              <a:ext cx="8089900" cy="424180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t="11825" b="-11825"/>
            <a:stretch/>
          </p:blipFill>
          <p:spPr>
            <a:xfrm>
              <a:off x="558800" y="6188410"/>
              <a:ext cx="8051800" cy="609600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1785938" y="1232297"/>
            <a:ext cx="5176167" cy="633376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758" dirty="0"/>
              <a:t>Data/observations are fixed: we observed </a:t>
            </a:r>
            <a:r>
              <a:rPr lang="en-US" sz="1758" u="sng" dirty="0"/>
              <a:t>7 Heads, 3 Tails</a:t>
            </a:r>
            <a:r>
              <a:rPr lang="en-US" sz="1758" dirty="0"/>
              <a:t>. Which parameter value is best? </a:t>
            </a:r>
          </a:p>
        </p:txBody>
      </p:sp>
    </p:spTree>
    <p:extLst>
      <p:ext uri="{BB962C8B-B14F-4D97-AF65-F5344CB8AC3E}">
        <p14:creationId xmlns:p14="http://schemas.microsoft.com/office/powerpoint/2010/main" val="875631337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740310" y="146811"/>
            <a:ext cx="7953511" cy="74219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2391" dirty="0"/>
              <a:t>We can calculate likelihood or lnL for many different possible parameter values</a:t>
            </a:r>
            <a:endParaRPr sz="2391" dirty="0"/>
          </a:p>
        </p:txBody>
      </p:sp>
      <p:grpSp>
        <p:nvGrpSpPr>
          <p:cNvPr id="10" name="Group 9"/>
          <p:cNvGrpSpPr/>
          <p:nvPr/>
        </p:nvGrpSpPr>
        <p:grpSpPr>
          <a:xfrm>
            <a:off x="881981" y="2175210"/>
            <a:ext cx="8173120" cy="4432300"/>
            <a:chOff x="437480" y="2365710"/>
            <a:chExt cx="8173120" cy="44323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7480" y="2365710"/>
              <a:ext cx="8089900" cy="424180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t="11825" b="-11825"/>
            <a:stretch/>
          </p:blipFill>
          <p:spPr>
            <a:xfrm>
              <a:off x="558800" y="6188410"/>
              <a:ext cx="8051800" cy="609600"/>
            </a:xfrm>
            <a:prstGeom prst="rect">
              <a:avLst/>
            </a:prstGeom>
          </p:spPr>
        </p:pic>
      </p:grpSp>
      <p:sp>
        <p:nvSpPr>
          <p:cNvPr id="6" name="Rectangle 5"/>
          <p:cNvSpPr/>
          <p:nvPr/>
        </p:nvSpPr>
        <p:spPr>
          <a:xfrm>
            <a:off x="1" y="3941810"/>
            <a:ext cx="1266825" cy="481925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266" dirty="0">
                <a:solidFill>
                  <a:srgbClr val="3366FF"/>
                </a:solidFill>
              </a:rPr>
              <a:t>Parameter values to try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127126" y="3810001"/>
            <a:ext cx="365125" cy="500063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127126" y="4560096"/>
            <a:ext cx="365125" cy="623093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85938" y="1232297"/>
            <a:ext cx="5176167" cy="633376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758" dirty="0"/>
              <a:t>Data/observations are fixed: we observed </a:t>
            </a:r>
            <a:r>
              <a:rPr lang="en-US" sz="1758" u="sng" dirty="0"/>
              <a:t>7 Heads, 3 Tails</a:t>
            </a:r>
            <a:r>
              <a:rPr lang="en-US" sz="1758" dirty="0"/>
              <a:t>. Which parameter value is best? </a:t>
            </a:r>
          </a:p>
        </p:txBody>
      </p:sp>
    </p:spTree>
    <p:extLst>
      <p:ext uri="{BB962C8B-B14F-4D97-AF65-F5344CB8AC3E}">
        <p14:creationId xmlns:p14="http://schemas.microsoft.com/office/powerpoint/2010/main" val="1042747597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740310" y="146811"/>
            <a:ext cx="7953511" cy="74219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2391" dirty="0"/>
              <a:t>We can calculate likelihood or lnL for many different possible parameter values</a:t>
            </a:r>
            <a:endParaRPr sz="2391" dirty="0"/>
          </a:p>
        </p:txBody>
      </p:sp>
      <p:grpSp>
        <p:nvGrpSpPr>
          <p:cNvPr id="10" name="Group 9"/>
          <p:cNvGrpSpPr/>
          <p:nvPr/>
        </p:nvGrpSpPr>
        <p:grpSpPr>
          <a:xfrm>
            <a:off x="881981" y="2175210"/>
            <a:ext cx="8173120" cy="4432300"/>
            <a:chOff x="437480" y="2365710"/>
            <a:chExt cx="8173120" cy="44323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7480" y="2365710"/>
              <a:ext cx="8089900" cy="424180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t="11825" b="-11825"/>
            <a:stretch/>
          </p:blipFill>
          <p:spPr>
            <a:xfrm>
              <a:off x="558800" y="6188410"/>
              <a:ext cx="8051800" cy="609600"/>
            </a:xfrm>
            <a:prstGeom prst="rect">
              <a:avLst/>
            </a:prstGeom>
          </p:spPr>
        </p:pic>
      </p:grpSp>
      <p:sp>
        <p:nvSpPr>
          <p:cNvPr id="6" name="Rectangle 5"/>
          <p:cNvSpPr/>
          <p:nvPr/>
        </p:nvSpPr>
        <p:spPr>
          <a:xfrm>
            <a:off x="1" y="3941810"/>
            <a:ext cx="1266825" cy="481925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266" dirty="0">
                <a:solidFill>
                  <a:srgbClr val="3366FF"/>
                </a:solidFill>
              </a:rPr>
              <a:t>Parameter values to try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127126" y="3810001"/>
            <a:ext cx="365125" cy="500063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127126" y="4560096"/>
            <a:ext cx="365125" cy="623093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78594" y="1821656"/>
            <a:ext cx="1942851" cy="481925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r>
              <a:rPr lang="en-US" sz="1266" dirty="0">
                <a:solidFill>
                  <a:srgbClr val="3366FF"/>
                </a:solidFill>
              </a:rPr>
              <a:t>Name of free parameter is “</a:t>
            </a:r>
            <a:r>
              <a:rPr lang="en-US" sz="1266" i="1" dirty="0">
                <a:solidFill>
                  <a:srgbClr val="3366FF"/>
                </a:solidFill>
              </a:rPr>
              <a:t>ProbHeads</a:t>
            </a:r>
            <a:r>
              <a:rPr lang="en-US" sz="1266" dirty="0">
                <a:solidFill>
                  <a:srgbClr val="3366FF"/>
                </a:solidFill>
              </a:rPr>
              <a:t>” </a:t>
            </a:r>
            <a:endParaRPr lang="en-US" sz="1266" dirty="0"/>
          </a:p>
        </p:txBody>
      </p:sp>
      <p:sp>
        <p:nvSpPr>
          <p:cNvPr id="11" name="Rectangle 10"/>
          <p:cNvSpPr/>
          <p:nvPr/>
        </p:nvSpPr>
        <p:spPr>
          <a:xfrm>
            <a:off x="1785938" y="1232297"/>
            <a:ext cx="5176167" cy="633376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758" dirty="0"/>
              <a:t>Data/observations are fixed: we observed </a:t>
            </a:r>
            <a:r>
              <a:rPr lang="en-US" sz="1758" u="sng" dirty="0"/>
              <a:t>7 Heads, 3 Tails</a:t>
            </a:r>
            <a:r>
              <a:rPr lang="en-US" sz="1758" dirty="0"/>
              <a:t>. Which parameter value is best? </a:t>
            </a:r>
          </a:p>
        </p:txBody>
      </p:sp>
    </p:spTree>
    <p:extLst>
      <p:ext uri="{BB962C8B-B14F-4D97-AF65-F5344CB8AC3E}">
        <p14:creationId xmlns:p14="http://schemas.microsoft.com/office/powerpoint/2010/main" val="3127414872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740310" y="146811"/>
            <a:ext cx="7953511" cy="74219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2391" dirty="0"/>
              <a:t>We can calculate likelihood or lnL for many different possible parameter values</a:t>
            </a:r>
            <a:endParaRPr sz="2391" dirty="0"/>
          </a:p>
        </p:txBody>
      </p:sp>
      <p:grpSp>
        <p:nvGrpSpPr>
          <p:cNvPr id="10" name="Group 9"/>
          <p:cNvGrpSpPr/>
          <p:nvPr/>
        </p:nvGrpSpPr>
        <p:grpSpPr>
          <a:xfrm>
            <a:off x="881981" y="2175210"/>
            <a:ext cx="8173120" cy="4432300"/>
            <a:chOff x="437480" y="2365710"/>
            <a:chExt cx="8173120" cy="44323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7480" y="2365710"/>
              <a:ext cx="8089900" cy="424180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t="11825" b="-11825"/>
            <a:stretch/>
          </p:blipFill>
          <p:spPr>
            <a:xfrm>
              <a:off x="558800" y="6188410"/>
              <a:ext cx="8051800" cy="609600"/>
            </a:xfrm>
            <a:prstGeom prst="rect">
              <a:avLst/>
            </a:prstGeom>
          </p:spPr>
        </p:pic>
      </p:grpSp>
      <p:sp>
        <p:nvSpPr>
          <p:cNvPr id="6" name="Rectangle 5"/>
          <p:cNvSpPr/>
          <p:nvPr/>
        </p:nvSpPr>
        <p:spPr>
          <a:xfrm>
            <a:off x="1" y="3941810"/>
            <a:ext cx="1266825" cy="481925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266" dirty="0">
                <a:solidFill>
                  <a:srgbClr val="3366FF"/>
                </a:solidFill>
              </a:rPr>
              <a:t>Parameter values to try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127126" y="3810001"/>
            <a:ext cx="365125" cy="500063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127126" y="4560096"/>
            <a:ext cx="365125" cy="623093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0" y="1821656"/>
            <a:ext cx="1942851" cy="481925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r>
              <a:rPr lang="en-US" sz="1266" dirty="0">
                <a:solidFill>
                  <a:srgbClr val="3366FF"/>
                </a:solidFill>
              </a:rPr>
              <a:t>Name of free parameter is “</a:t>
            </a:r>
            <a:r>
              <a:rPr lang="en-US" sz="1266" i="1" dirty="0">
                <a:solidFill>
                  <a:srgbClr val="3366FF"/>
                </a:solidFill>
              </a:rPr>
              <a:t>ProbHeads</a:t>
            </a:r>
            <a:r>
              <a:rPr lang="en-US" sz="1266" dirty="0">
                <a:solidFill>
                  <a:srgbClr val="3366FF"/>
                </a:solidFill>
              </a:rPr>
              <a:t>” </a:t>
            </a:r>
            <a:endParaRPr lang="en-US" sz="1266" dirty="0"/>
          </a:p>
        </p:txBody>
      </p:sp>
      <p:sp>
        <p:nvSpPr>
          <p:cNvPr id="16" name="Rectangle 15"/>
          <p:cNvSpPr/>
          <p:nvPr/>
        </p:nvSpPr>
        <p:spPr>
          <a:xfrm>
            <a:off x="2857500" y="2035969"/>
            <a:ext cx="1406401" cy="287128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266" dirty="0">
                <a:solidFill>
                  <a:srgbClr val="3366FF"/>
                </a:solidFill>
              </a:rPr>
              <a:t>“raw likelihood”</a:t>
            </a:r>
            <a:endParaRPr lang="en-US" sz="1266" dirty="0"/>
          </a:p>
        </p:txBody>
      </p:sp>
      <p:sp>
        <p:nvSpPr>
          <p:cNvPr id="12" name="Rectangle 11"/>
          <p:cNvSpPr/>
          <p:nvPr/>
        </p:nvSpPr>
        <p:spPr>
          <a:xfrm>
            <a:off x="1785938" y="1232297"/>
            <a:ext cx="5176167" cy="633376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758" dirty="0"/>
              <a:t>Data/observations are fixed: we observed </a:t>
            </a:r>
            <a:r>
              <a:rPr lang="en-US" sz="1758" u="sng" dirty="0"/>
              <a:t>7 Heads, 3 Tails</a:t>
            </a:r>
            <a:r>
              <a:rPr lang="en-US" sz="1758" dirty="0"/>
              <a:t>. Which parameter value is best? </a:t>
            </a:r>
          </a:p>
        </p:txBody>
      </p:sp>
    </p:spTree>
    <p:extLst>
      <p:ext uri="{BB962C8B-B14F-4D97-AF65-F5344CB8AC3E}">
        <p14:creationId xmlns:p14="http://schemas.microsoft.com/office/powerpoint/2010/main" val="2012603462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740310" y="146811"/>
            <a:ext cx="7953511" cy="74219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2391" dirty="0"/>
              <a:t>We can calculate likelihood or lnL for many different possible parameter values</a:t>
            </a:r>
            <a:endParaRPr sz="2391" dirty="0"/>
          </a:p>
        </p:txBody>
      </p:sp>
      <p:grpSp>
        <p:nvGrpSpPr>
          <p:cNvPr id="10" name="Group 9"/>
          <p:cNvGrpSpPr/>
          <p:nvPr/>
        </p:nvGrpSpPr>
        <p:grpSpPr>
          <a:xfrm>
            <a:off x="881981" y="2175210"/>
            <a:ext cx="8173120" cy="4432300"/>
            <a:chOff x="437480" y="2365710"/>
            <a:chExt cx="8173120" cy="44323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7480" y="2365710"/>
              <a:ext cx="8089900" cy="424180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t="11825" b="-11825"/>
            <a:stretch/>
          </p:blipFill>
          <p:spPr>
            <a:xfrm>
              <a:off x="558800" y="6188410"/>
              <a:ext cx="8051800" cy="609600"/>
            </a:xfrm>
            <a:prstGeom prst="rect">
              <a:avLst/>
            </a:prstGeom>
          </p:spPr>
        </p:pic>
      </p:grpSp>
      <p:sp>
        <p:nvSpPr>
          <p:cNvPr id="6" name="Rectangle 5"/>
          <p:cNvSpPr/>
          <p:nvPr/>
        </p:nvSpPr>
        <p:spPr>
          <a:xfrm>
            <a:off x="1" y="3941810"/>
            <a:ext cx="1266825" cy="481925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266" dirty="0">
                <a:solidFill>
                  <a:srgbClr val="3366FF"/>
                </a:solidFill>
              </a:rPr>
              <a:t>Parameter values to try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127126" y="3810001"/>
            <a:ext cx="365125" cy="500063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127126" y="4560096"/>
            <a:ext cx="365125" cy="623093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25016" y="1875234"/>
            <a:ext cx="1942851" cy="481925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r>
              <a:rPr lang="en-US" sz="1266" dirty="0">
                <a:solidFill>
                  <a:srgbClr val="3366FF"/>
                </a:solidFill>
              </a:rPr>
              <a:t>Name of free parameter is “</a:t>
            </a:r>
            <a:r>
              <a:rPr lang="en-US" sz="1266" i="1" dirty="0">
                <a:solidFill>
                  <a:srgbClr val="3366FF"/>
                </a:solidFill>
              </a:rPr>
              <a:t>ProbHeads</a:t>
            </a:r>
            <a:r>
              <a:rPr lang="en-US" sz="1266" dirty="0">
                <a:solidFill>
                  <a:srgbClr val="3366FF"/>
                </a:solidFill>
              </a:rPr>
              <a:t>” </a:t>
            </a:r>
            <a:endParaRPr lang="en-US" sz="1266" dirty="0"/>
          </a:p>
        </p:txBody>
      </p:sp>
      <p:sp>
        <p:nvSpPr>
          <p:cNvPr id="16" name="Rectangle 15"/>
          <p:cNvSpPr/>
          <p:nvPr/>
        </p:nvSpPr>
        <p:spPr>
          <a:xfrm>
            <a:off x="2857500" y="2035969"/>
            <a:ext cx="1406401" cy="287128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266" dirty="0">
                <a:solidFill>
                  <a:srgbClr val="3366FF"/>
                </a:solidFill>
              </a:rPr>
              <a:t>“raw likelihood”</a:t>
            </a:r>
            <a:endParaRPr lang="en-US" sz="1266" dirty="0"/>
          </a:p>
        </p:txBody>
      </p:sp>
      <p:sp>
        <p:nvSpPr>
          <p:cNvPr id="17" name="Rectangle 16"/>
          <p:cNvSpPr/>
          <p:nvPr/>
        </p:nvSpPr>
        <p:spPr>
          <a:xfrm>
            <a:off x="7246939" y="1888612"/>
            <a:ext cx="1668463" cy="287128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266" dirty="0">
                <a:solidFill>
                  <a:srgbClr val="3366FF"/>
                </a:solidFill>
              </a:rPr>
              <a:t>log-likelihood</a:t>
            </a:r>
            <a:endParaRPr lang="en-US" sz="1266" dirty="0"/>
          </a:p>
        </p:txBody>
      </p:sp>
      <p:sp>
        <p:nvSpPr>
          <p:cNvPr id="14" name="Rectangle 13"/>
          <p:cNvSpPr/>
          <p:nvPr/>
        </p:nvSpPr>
        <p:spPr>
          <a:xfrm>
            <a:off x="1785938" y="1232297"/>
            <a:ext cx="5176167" cy="633376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758" dirty="0"/>
              <a:t>Data/observations are fixed: we observed </a:t>
            </a:r>
            <a:r>
              <a:rPr lang="en-US" sz="1758" u="sng" dirty="0"/>
              <a:t>7 Heads, 3 Tails</a:t>
            </a:r>
            <a:r>
              <a:rPr lang="en-US" sz="1758" dirty="0"/>
              <a:t>. Which parameter value is best? </a:t>
            </a:r>
          </a:p>
        </p:txBody>
      </p:sp>
    </p:spTree>
    <p:extLst>
      <p:ext uri="{BB962C8B-B14F-4D97-AF65-F5344CB8AC3E}">
        <p14:creationId xmlns:p14="http://schemas.microsoft.com/office/powerpoint/2010/main" val="2625872752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740310" y="146811"/>
            <a:ext cx="7953511" cy="74219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2391" dirty="0"/>
              <a:t>We can calculate likelihood or lnL for many different possible parameter values</a:t>
            </a:r>
            <a:endParaRPr sz="2391" dirty="0"/>
          </a:p>
        </p:txBody>
      </p:sp>
      <p:grpSp>
        <p:nvGrpSpPr>
          <p:cNvPr id="10" name="Group 9"/>
          <p:cNvGrpSpPr/>
          <p:nvPr/>
        </p:nvGrpSpPr>
        <p:grpSpPr>
          <a:xfrm>
            <a:off x="881981" y="2175210"/>
            <a:ext cx="8173120" cy="4432300"/>
            <a:chOff x="437480" y="2365710"/>
            <a:chExt cx="8173120" cy="443230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7480" y="2365710"/>
              <a:ext cx="8089900" cy="424180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t="11825" b="-11825"/>
            <a:stretch/>
          </p:blipFill>
          <p:spPr>
            <a:xfrm>
              <a:off x="558800" y="6188410"/>
              <a:ext cx="8051800" cy="609600"/>
            </a:xfrm>
            <a:prstGeom prst="rect">
              <a:avLst/>
            </a:prstGeom>
          </p:spPr>
        </p:pic>
      </p:grpSp>
      <p:sp>
        <p:nvSpPr>
          <p:cNvPr id="6" name="Rectangle 5"/>
          <p:cNvSpPr/>
          <p:nvPr/>
        </p:nvSpPr>
        <p:spPr>
          <a:xfrm>
            <a:off x="1" y="3941810"/>
            <a:ext cx="1266825" cy="481925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266" dirty="0">
                <a:solidFill>
                  <a:srgbClr val="3366FF"/>
                </a:solidFill>
              </a:rPr>
              <a:t>Parameter values to try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127126" y="3810001"/>
            <a:ext cx="365125" cy="500063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127126" y="4560096"/>
            <a:ext cx="365125" cy="623093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25016" y="1875234"/>
            <a:ext cx="1942851" cy="481925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r>
              <a:rPr lang="en-US" sz="1266" dirty="0">
                <a:solidFill>
                  <a:srgbClr val="3366FF"/>
                </a:solidFill>
              </a:rPr>
              <a:t>Name of free parameter is “</a:t>
            </a:r>
            <a:r>
              <a:rPr lang="en-US" sz="1266" i="1" dirty="0">
                <a:solidFill>
                  <a:srgbClr val="3366FF"/>
                </a:solidFill>
              </a:rPr>
              <a:t>ProbHeads</a:t>
            </a:r>
            <a:r>
              <a:rPr lang="en-US" sz="1266" dirty="0">
                <a:solidFill>
                  <a:srgbClr val="3366FF"/>
                </a:solidFill>
              </a:rPr>
              <a:t>” </a:t>
            </a:r>
            <a:endParaRPr lang="en-US" sz="1266" dirty="0"/>
          </a:p>
        </p:txBody>
      </p:sp>
      <p:sp>
        <p:nvSpPr>
          <p:cNvPr id="16" name="Rectangle 15"/>
          <p:cNvSpPr/>
          <p:nvPr/>
        </p:nvSpPr>
        <p:spPr>
          <a:xfrm>
            <a:off x="2857500" y="2089547"/>
            <a:ext cx="1406401" cy="287128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266" dirty="0">
                <a:solidFill>
                  <a:srgbClr val="3366FF"/>
                </a:solidFill>
              </a:rPr>
              <a:t>“raw likelihood”</a:t>
            </a:r>
            <a:endParaRPr lang="en-US" sz="1266" dirty="0"/>
          </a:p>
        </p:txBody>
      </p:sp>
      <p:sp>
        <p:nvSpPr>
          <p:cNvPr id="17" name="Rectangle 16"/>
          <p:cNvSpPr/>
          <p:nvPr/>
        </p:nvSpPr>
        <p:spPr>
          <a:xfrm>
            <a:off x="7246939" y="1888612"/>
            <a:ext cx="1668463" cy="287128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266" dirty="0">
                <a:solidFill>
                  <a:srgbClr val="3366FF"/>
                </a:solidFill>
              </a:rPr>
              <a:t>log-likelihood</a:t>
            </a:r>
            <a:endParaRPr lang="en-US" sz="1266" dirty="0"/>
          </a:p>
        </p:txBody>
      </p:sp>
      <p:sp>
        <p:nvSpPr>
          <p:cNvPr id="7" name="Rectangle 6"/>
          <p:cNvSpPr/>
          <p:nvPr/>
        </p:nvSpPr>
        <p:spPr>
          <a:xfrm>
            <a:off x="2714625" y="2367766"/>
            <a:ext cx="1841500" cy="4049244"/>
          </a:xfrm>
          <a:prstGeom prst="rect">
            <a:avLst/>
          </a:prstGeom>
          <a:noFill/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  <p:sp>
        <p:nvSpPr>
          <p:cNvPr id="14" name="Rectangle 13"/>
          <p:cNvSpPr/>
          <p:nvPr/>
        </p:nvSpPr>
        <p:spPr>
          <a:xfrm>
            <a:off x="7213600" y="2367766"/>
            <a:ext cx="1841500" cy="4049244"/>
          </a:xfrm>
          <a:prstGeom prst="rect">
            <a:avLst/>
          </a:prstGeom>
          <a:noFill/>
          <a:ln w="381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  <p:cxnSp>
        <p:nvCxnSpPr>
          <p:cNvPr id="18" name="Straight Arrow Connector 17"/>
          <p:cNvCxnSpPr/>
          <p:nvPr/>
        </p:nvCxnSpPr>
        <p:spPr>
          <a:xfrm rot="16200000" flipV="1">
            <a:off x="4279901" y="6166979"/>
            <a:ext cx="365125" cy="500063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16200000">
            <a:off x="6954839" y="6113402"/>
            <a:ext cx="365125" cy="623093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371577" y="6512938"/>
            <a:ext cx="2388793" cy="287128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1266" dirty="0">
                <a:solidFill>
                  <a:srgbClr val="3366FF"/>
                </a:solidFill>
              </a:rPr>
              <a:t>Plot a likelihood curve from these</a:t>
            </a:r>
            <a:endParaRPr lang="en-US" sz="1266" dirty="0"/>
          </a:p>
        </p:txBody>
      </p:sp>
      <p:sp>
        <p:nvSpPr>
          <p:cNvPr id="20" name="Rectangle 19"/>
          <p:cNvSpPr/>
          <p:nvPr/>
        </p:nvSpPr>
        <p:spPr>
          <a:xfrm>
            <a:off x="1785938" y="1232297"/>
            <a:ext cx="5176167" cy="633376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758" dirty="0"/>
              <a:t>Data/observations are fixed: we observed </a:t>
            </a:r>
            <a:r>
              <a:rPr lang="en-US" sz="1758" u="sng" dirty="0"/>
              <a:t>7 Heads, 3 Tails</a:t>
            </a:r>
            <a:r>
              <a:rPr lang="en-US" sz="1758" dirty="0"/>
              <a:t>. Which parameter value is best? </a:t>
            </a:r>
          </a:p>
        </p:txBody>
      </p:sp>
    </p:spTree>
    <p:extLst>
      <p:ext uri="{BB962C8B-B14F-4D97-AF65-F5344CB8AC3E}">
        <p14:creationId xmlns:p14="http://schemas.microsoft.com/office/powerpoint/2010/main" val="2031977968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4051"/>
            <a:ext cx="9144000" cy="4138693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7953511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dirty="0"/>
              <a:t>Likelihood profile curve</a:t>
            </a:r>
            <a:endParaRPr dirty="0"/>
          </a:p>
        </p:txBody>
      </p:sp>
      <p:sp>
        <p:nvSpPr>
          <p:cNvPr id="6" name="Oval 5"/>
          <p:cNvSpPr/>
          <p:nvPr/>
        </p:nvSpPr>
        <p:spPr>
          <a:xfrm>
            <a:off x="5393532" y="2620963"/>
            <a:ext cx="103187" cy="109538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</p:spTree>
    <p:extLst>
      <p:ext uri="{BB962C8B-B14F-4D97-AF65-F5344CB8AC3E}">
        <p14:creationId xmlns:p14="http://schemas.microsoft.com/office/powerpoint/2010/main" val="3137945784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5614"/>
            <a:ext cx="7953511" cy="586540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Log-likelihood (lnL)</a:t>
            </a:r>
            <a:endParaRPr sz="3586" dirty="0"/>
          </a:p>
        </p:txBody>
      </p:sp>
      <p:sp>
        <p:nvSpPr>
          <p:cNvPr id="2" name="Rectangle 1"/>
          <p:cNvSpPr/>
          <p:nvPr/>
        </p:nvSpPr>
        <p:spPr>
          <a:xfrm>
            <a:off x="755501" y="889757"/>
            <a:ext cx="5780619" cy="3403879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1266" dirty="0"/>
              <a:t>The log-likelihood (always the NATURAL log) is </a:t>
            </a:r>
            <a:br>
              <a:rPr lang="en-US" sz="1266" dirty="0"/>
            </a:br>
            <a:br>
              <a:rPr lang="en-US" sz="1266" dirty="0"/>
            </a:br>
            <a:r>
              <a:rPr lang="en-US" sz="1266" dirty="0"/>
              <a:t>1. An easy way to represent very small numbers</a:t>
            </a:r>
          </a:p>
          <a:p>
            <a:endParaRPr lang="en-US" sz="1266" dirty="0"/>
          </a:p>
          <a:p>
            <a:r>
              <a:rPr lang="en-US" sz="1266" dirty="0"/>
              <a:t>2. Helps the computers avoid numeric underflow problems</a:t>
            </a:r>
          </a:p>
          <a:p>
            <a:r>
              <a:rPr lang="en-US" sz="1266" dirty="0"/>
              <a:t>	- Multiplication in becomes addition in log-space</a:t>
            </a:r>
            <a:br>
              <a:rPr lang="en-US" sz="1266" dirty="0"/>
            </a:br>
            <a:r>
              <a:rPr lang="en-US" sz="1266" dirty="0"/>
              <a:t>          (also makes calculus easier)</a:t>
            </a:r>
            <a:br>
              <a:rPr lang="en-US" sz="1266" dirty="0"/>
            </a:br>
            <a:br>
              <a:rPr lang="en-US" sz="1266" dirty="0"/>
            </a:br>
            <a:r>
              <a:rPr lang="en-US" sz="1266" dirty="0"/>
              <a:t>	- E.g., in R, 0.1 times itself 300 times: 0.1^300 = 1e-300</a:t>
            </a:r>
          </a:p>
          <a:p>
            <a:r>
              <a:rPr lang="en-US" sz="1266" dirty="0"/>
              <a:t>           But (0.1^300)*(0.1^300) = 0.0 , which is wrong (underflow rounds down to 0.0)</a:t>
            </a:r>
            <a:br>
              <a:rPr lang="en-US" sz="1266" dirty="0"/>
            </a:br>
            <a:r>
              <a:rPr lang="en-US" sz="1266" dirty="0"/>
              <a:t>	- In log space: log(0.1^300) = 300*log(0.1) = 300*-2.3026 = -690.78</a:t>
            </a:r>
            <a:br>
              <a:rPr lang="en-US" sz="1266" dirty="0"/>
            </a:br>
            <a:r>
              <a:rPr lang="en-US" sz="1266" dirty="0"/>
              <a:t>           log((0.1^300)*(0.1^300) ) =  300*log(0.1)  + 300*log(0.1) = 600*log(0.1) = </a:t>
            </a:r>
            <a:br>
              <a:rPr lang="en-US" sz="1266" dirty="0"/>
            </a:br>
            <a:r>
              <a:rPr lang="en-US" sz="1266" dirty="0"/>
              <a:t>		= </a:t>
            </a:r>
            <a:r>
              <a:rPr lang="hr-HR" sz="1266" dirty="0"/>
              <a:t>1381.55 = 2 * </a:t>
            </a:r>
            <a:r>
              <a:rPr lang="en-US" sz="1266" dirty="0"/>
              <a:t>-690.78</a:t>
            </a:r>
          </a:p>
          <a:p>
            <a:endParaRPr lang="en-US" sz="1266" dirty="0"/>
          </a:p>
          <a:p>
            <a:r>
              <a:rPr lang="en-US" sz="1266" dirty="0"/>
              <a:t>3. Important in Information Theory</a:t>
            </a:r>
          </a:p>
          <a:p>
            <a:endParaRPr lang="en-US" sz="1266" dirty="0"/>
          </a:p>
          <a:p>
            <a:r>
              <a:rPr lang="en-US" sz="1266" dirty="0"/>
              <a:t>4. Maximizing the lnL finds the same parameters as maximizing the likelihood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6814" y="5902903"/>
            <a:ext cx="5846470" cy="460124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1195" dirty="0"/>
              <a:t>Note: reverse the log() operation with </a:t>
            </a:r>
            <a:r>
              <a:rPr lang="en-US" sz="1195" dirty="0" err="1"/>
              <a:t>exp</a:t>
            </a:r>
            <a:r>
              <a:rPr lang="en-US" sz="1195" dirty="0"/>
              <a:t>(): log(0.1) = -2.3026, </a:t>
            </a:r>
            <a:r>
              <a:rPr lang="en-US" sz="1195" dirty="0" err="1"/>
              <a:t>exp</a:t>
            </a:r>
            <a:r>
              <a:rPr lang="en-US" sz="1195" dirty="0"/>
              <a:t>(-2.3026) = 0.1</a:t>
            </a:r>
          </a:p>
          <a:p>
            <a:r>
              <a:rPr lang="en-US" sz="1195" dirty="0"/>
              <a:t>           </a:t>
            </a:r>
            <a:r>
              <a:rPr lang="en-US" sz="1195" dirty="0" err="1"/>
              <a:t>exp</a:t>
            </a:r>
            <a:r>
              <a:rPr lang="en-US" sz="1195" dirty="0"/>
              <a:t>(1) = </a:t>
            </a:r>
            <a:r>
              <a:rPr lang="is-IS" sz="1195" dirty="0"/>
              <a:t>2.718282..., which is known as Euler’s number, </a:t>
            </a:r>
            <a:r>
              <a:rPr lang="is-IS" sz="1195" i="1" dirty="0"/>
              <a:t>e</a:t>
            </a:r>
            <a:r>
              <a:rPr lang="is-IS" sz="1195" dirty="0"/>
              <a:t>, the base of the natural log</a:t>
            </a:r>
            <a:endParaRPr lang="en-US" sz="1195" dirty="0"/>
          </a:p>
        </p:txBody>
      </p:sp>
    </p:spTree>
    <p:extLst>
      <p:ext uri="{BB962C8B-B14F-4D97-AF65-F5344CB8AC3E}">
        <p14:creationId xmlns:p14="http://schemas.microsoft.com/office/powerpoint/2010/main" val="1229636497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8167310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2812" dirty="0"/>
              <a:t>The maximum likelihood and log-likelihood (lnL) give the same parameter estimate</a:t>
            </a:r>
            <a:endParaRPr sz="2812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40" y="1520751"/>
            <a:ext cx="7548870" cy="4879805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5726907" y="1827213"/>
            <a:ext cx="103187" cy="109538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  <p:sp>
        <p:nvSpPr>
          <p:cNvPr id="6" name="Oval 5"/>
          <p:cNvSpPr/>
          <p:nvPr/>
        </p:nvSpPr>
        <p:spPr>
          <a:xfrm>
            <a:off x="5726907" y="3432176"/>
            <a:ext cx="103187" cy="109538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</p:spTree>
    <p:extLst>
      <p:ext uri="{BB962C8B-B14F-4D97-AF65-F5344CB8AC3E}">
        <p14:creationId xmlns:p14="http://schemas.microsoft.com/office/powerpoint/2010/main" val="1178297773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8901"/>
            <a:ext cx="9144000" cy="4138693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7953511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What is our best estimate of the parameter?</a:t>
            </a:r>
            <a:endParaRPr sz="3586" dirty="0"/>
          </a:p>
        </p:txBody>
      </p:sp>
    </p:spTree>
    <p:extLst>
      <p:ext uri="{BB962C8B-B14F-4D97-AF65-F5344CB8AC3E}">
        <p14:creationId xmlns:p14="http://schemas.microsoft.com/office/powerpoint/2010/main" val="325573318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8901"/>
            <a:ext cx="9144000" cy="4138693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7953511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What is our best estimate of the parameter?</a:t>
            </a:r>
            <a:endParaRPr sz="3586" dirty="0"/>
          </a:p>
        </p:txBody>
      </p:sp>
      <p:sp>
        <p:nvSpPr>
          <p:cNvPr id="7" name="Oval 6"/>
          <p:cNvSpPr/>
          <p:nvPr/>
        </p:nvSpPr>
        <p:spPr>
          <a:xfrm>
            <a:off x="5393532" y="1708150"/>
            <a:ext cx="103187" cy="109538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</p:spTree>
    <p:extLst>
      <p:ext uri="{BB962C8B-B14F-4D97-AF65-F5344CB8AC3E}">
        <p14:creationId xmlns:p14="http://schemas.microsoft.com/office/powerpoint/2010/main" val="2519467308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8901"/>
            <a:ext cx="9144000" cy="4138693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7953511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What is our best estimate of the parameter?</a:t>
            </a:r>
            <a:endParaRPr sz="3586" dirty="0"/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4984751" y="1817688"/>
            <a:ext cx="460375" cy="3937000"/>
          </a:xfrm>
          <a:prstGeom prst="straightConnector1">
            <a:avLst/>
          </a:prstGeom>
          <a:ln w="41275"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393532" y="1708150"/>
            <a:ext cx="103187" cy="109538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</p:spTree>
    <p:extLst>
      <p:ext uri="{BB962C8B-B14F-4D97-AF65-F5344CB8AC3E}">
        <p14:creationId xmlns:p14="http://schemas.microsoft.com/office/powerpoint/2010/main" val="3318549643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8901"/>
            <a:ext cx="9144000" cy="4138693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7953511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What is our best estimate of the parameter?</a:t>
            </a:r>
            <a:endParaRPr sz="3586" dirty="0"/>
          </a:p>
        </p:txBody>
      </p:sp>
      <p:sp>
        <p:nvSpPr>
          <p:cNvPr id="6" name="Maximum Likelihood Inference"/>
          <p:cNvSpPr txBox="1">
            <a:spLocks/>
          </p:cNvSpPr>
          <p:nvPr/>
        </p:nvSpPr>
        <p:spPr>
          <a:xfrm>
            <a:off x="426758" y="5696710"/>
            <a:ext cx="7953511" cy="1062633"/>
          </a:xfrm>
          <a:prstGeom prst="rect">
            <a:avLst/>
          </a:prstGeom>
        </p:spPr>
        <p:txBody>
          <a:bodyPr vert="horz" lIns="91439" tIns="45719" rIns="91439" bIns="45719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5906" kern="1200">
                <a:solidFill>
                  <a:schemeClr val="tx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>
              <a:defRPr sz="4800" b="1"/>
            </a:pPr>
            <a:r>
              <a:rPr lang="en-US" sz="3586" b="1" dirty="0">
                <a:solidFill>
                  <a:srgbClr val="3366FF"/>
                </a:solidFill>
              </a:rPr>
              <a:t>The parameter value that Maximizes the Likelihood (ML)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4984751" y="1817688"/>
            <a:ext cx="460375" cy="3937000"/>
          </a:xfrm>
          <a:prstGeom prst="straightConnector1">
            <a:avLst/>
          </a:prstGeom>
          <a:ln w="41275"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393532" y="1708150"/>
            <a:ext cx="103187" cy="109538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</p:spTree>
    <p:extLst>
      <p:ext uri="{BB962C8B-B14F-4D97-AF65-F5344CB8AC3E}">
        <p14:creationId xmlns:p14="http://schemas.microsoft.com/office/powerpoint/2010/main" val="1219757754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813" y="3456960"/>
            <a:ext cx="7373937" cy="3337540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1423392" y="226510"/>
            <a:ext cx="6973356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How to find the maximum of the likelihood?</a:t>
            </a:r>
            <a:endParaRPr sz="3586" dirty="0"/>
          </a:p>
        </p:txBody>
      </p:sp>
      <p:sp>
        <p:nvSpPr>
          <p:cNvPr id="2" name="Rectangle 1"/>
          <p:cNvSpPr/>
          <p:nvPr/>
        </p:nvSpPr>
        <p:spPr>
          <a:xfrm>
            <a:off x="617356" y="1210342"/>
            <a:ext cx="3578991" cy="2169310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1687" dirty="0"/>
              <a:t>Several possible methods:</a:t>
            </a:r>
          </a:p>
          <a:p>
            <a:endParaRPr lang="en-US" sz="1687" dirty="0"/>
          </a:p>
          <a:p>
            <a:pPr marL="342882" indent="-342882">
              <a:buAutoNum type="arabicPeriod"/>
            </a:pPr>
            <a:r>
              <a:rPr lang="en-US" sz="1687" dirty="0"/>
              <a:t>Intuition</a:t>
            </a:r>
          </a:p>
          <a:p>
            <a:pPr marL="342882" indent="-342882">
              <a:buAutoNum type="arabicPeriod"/>
            </a:pPr>
            <a:r>
              <a:rPr lang="en-US" sz="1687" dirty="0"/>
              <a:t>Calculus to get an analytic solution</a:t>
            </a:r>
          </a:p>
          <a:p>
            <a:pPr marL="342882" indent="-342882">
              <a:buAutoNum type="arabicPeriod"/>
            </a:pPr>
            <a:r>
              <a:rPr lang="en-US" sz="1687" dirty="0"/>
              <a:t>Exhaustive search “grid search”</a:t>
            </a:r>
          </a:p>
          <a:p>
            <a:pPr marL="342882" indent="-342882">
              <a:buAutoNum type="arabicPeriod"/>
            </a:pPr>
            <a:r>
              <a:rPr lang="en-US" sz="1687" dirty="0"/>
              <a:t>Optimization / hill-climbing</a:t>
            </a:r>
          </a:p>
          <a:p>
            <a:pPr marL="342882" indent="-342882">
              <a:buAutoNum type="arabicPeriod"/>
            </a:pPr>
            <a:endParaRPr lang="en-US" sz="1687" dirty="0"/>
          </a:p>
          <a:p>
            <a:pPr marL="342882" indent="-342882">
              <a:buAutoNum type="arabicPeriod"/>
            </a:pPr>
            <a:endParaRPr lang="en-US" sz="1687" dirty="0"/>
          </a:p>
        </p:txBody>
      </p:sp>
      <p:sp>
        <p:nvSpPr>
          <p:cNvPr id="6" name="Oval 5"/>
          <p:cNvSpPr/>
          <p:nvPr/>
        </p:nvSpPr>
        <p:spPr>
          <a:xfrm>
            <a:off x="7941678" y="3714383"/>
            <a:ext cx="103187" cy="109538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</p:spTree>
    <p:extLst>
      <p:ext uri="{BB962C8B-B14F-4D97-AF65-F5344CB8AC3E}">
        <p14:creationId xmlns:p14="http://schemas.microsoft.com/office/powerpoint/2010/main" val="2324190026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" y="2690455"/>
            <a:ext cx="9144000" cy="4138693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7953511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How to find this maximum?</a:t>
            </a:r>
            <a:endParaRPr sz="3586" dirty="0"/>
          </a:p>
        </p:txBody>
      </p:sp>
      <p:sp>
        <p:nvSpPr>
          <p:cNvPr id="2" name="Rectangle 1"/>
          <p:cNvSpPr/>
          <p:nvPr/>
        </p:nvSpPr>
        <p:spPr>
          <a:xfrm>
            <a:off x="92581" y="1442578"/>
            <a:ext cx="1469503" cy="287128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1266" dirty="0"/>
              <a:t>Method 1: intuition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15086" y="1370975"/>
            <a:ext cx="5539915" cy="1066316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r>
              <a:rPr lang="en-US" sz="1266" dirty="0"/>
              <a:t>In very simple cases, like coin-flipping, you can guess that the average of your data provides the best estimate.</a:t>
            </a:r>
          </a:p>
          <a:p>
            <a:endParaRPr lang="en-US" sz="1266" dirty="0"/>
          </a:p>
          <a:p>
            <a:r>
              <a:rPr lang="en-US" sz="1266" dirty="0"/>
              <a:t>(But: your intuition can betray you, e.g. if you think about your prior experience that most coins are fair)</a:t>
            </a:r>
          </a:p>
        </p:txBody>
      </p:sp>
      <p:sp>
        <p:nvSpPr>
          <p:cNvPr id="7" name="Oval 6"/>
          <p:cNvSpPr/>
          <p:nvPr/>
        </p:nvSpPr>
        <p:spPr>
          <a:xfrm>
            <a:off x="5445125" y="3025776"/>
            <a:ext cx="103187" cy="109538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</p:spTree>
    <p:extLst>
      <p:ext uri="{BB962C8B-B14F-4D97-AF65-F5344CB8AC3E}">
        <p14:creationId xmlns:p14="http://schemas.microsoft.com/office/powerpoint/2010/main" val="4168467212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7953511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The parameter value that Maximizes the Likelihood (ML)</a:t>
            </a:r>
            <a:endParaRPr sz="3586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730" y="2519932"/>
            <a:ext cx="6022270" cy="41396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3364" y="1117785"/>
            <a:ext cx="8429137" cy="3598675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r>
              <a:rPr lang="en-US" sz="1266" dirty="0"/>
              <a:t>Method 2: calculus</a:t>
            </a:r>
          </a:p>
          <a:p>
            <a:r>
              <a:rPr lang="en-US" sz="1266" dirty="0"/>
              <a:t>Short-short version:</a:t>
            </a:r>
          </a:p>
          <a:p>
            <a:pPr marL="342882" indent="-342882">
              <a:buAutoNum type="arabicParenBoth"/>
            </a:pPr>
            <a:r>
              <a:rPr lang="en-US" sz="1266" dirty="0"/>
              <a:t>Taking the first derivative of a function provides an equation giving the slope at each point</a:t>
            </a:r>
          </a:p>
          <a:p>
            <a:pPr marL="342882" indent="-342882">
              <a:buAutoNum type="arabicParenBoth"/>
            </a:pPr>
            <a:r>
              <a:rPr lang="en-US" sz="1266" dirty="0"/>
              <a:t>The slope will be 0.0 at the maximum of the curve</a:t>
            </a:r>
          </a:p>
          <a:p>
            <a:pPr marL="342882" indent="-342882">
              <a:buAutoNum type="arabicParenBoth"/>
            </a:pPr>
            <a:r>
              <a:rPr lang="en-US" sz="1266" dirty="0"/>
              <a:t>Setting the derivative to 0.0 and</a:t>
            </a:r>
            <a:br>
              <a:rPr lang="en-US" sz="1266" dirty="0"/>
            </a:br>
            <a:r>
              <a:rPr lang="en-US" sz="1266" dirty="0"/>
              <a:t>solving gives a formula for the</a:t>
            </a:r>
            <a:br>
              <a:rPr lang="en-US" sz="1266" dirty="0"/>
            </a:br>
            <a:r>
              <a:rPr lang="en-US" sz="1266" dirty="0"/>
              <a:t>Maximum Likelihood.</a:t>
            </a:r>
            <a:br>
              <a:rPr lang="en-US" sz="1266" dirty="0"/>
            </a:br>
            <a:br>
              <a:rPr lang="en-US" sz="1266" dirty="0"/>
            </a:br>
            <a:r>
              <a:rPr lang="en-US" sz="1266" dirty="0"/>
              <a:t>This is known as an </a:t>
            </a:r>
            <a:br>
              <a:rPr lang="en-US" sz="1266" dirty="0"/>
            </a:br>
            <a:r>
              <a:rPr lang="en-US" sz="1266" dirty="0"/>
              <a:t>“analytic solution”.</a:t>
            </a:r>
            <a:br>
              <a:rPr lang="en-US" sz="1266" dirty="0"/>
            </a:br>
            <a:br>
              <a:rPr lang="en-US" sz="1266" dirty="0"/>
            </a:br>
            <a:r>
              <a:rPr lang="en-US" sz="1266" dirty="0"/>
              <a:t>Analytic solutions are very fast,</a:t>
            </a:r>
            <a:br>
              <a:rPr lang="en-US" sz="1266" dirty="0"/>
            </a:br>
            <a:r>
              <a:rPr lang="en-US" sz="1266" dirty="0"/>
              <a:t>and are the basics of a lot of the</a:t>
            </a:r>
            <a:br>
              <a:rPr lang="en-US" sz="1266" dirty="0"/>
            </a:br>
            <a:r>
              <a:rPr lang="en-US" sz="1266" dirty="0"/>
              <a:t>“cookbook” formulas that get</a:t>
            </a:r>
            <a:br>
              <a:rPr lang="en-US" sz="1266" dirty="0"/>
            </a:br>
            <a:r>
              <a:rPr lang="en-US" sz="1266" dirty="0"/>
              <a:t>taught.</a:t>
            </a:r>
            <a:br>
              <a:rPr lang="en-US" sz="1266" dirty="0"/>
            </a:br>
            <a:br>
              <a:rPr lang="en-US" sz="1266" dirty="0"/>
            </a:br>
            <a:r>
              <a:rPr lang="en-US" sz="1266" dirty="0"/>
              <a:t>But they often aren’t available for complex models.</a:t>
            </a:r>
          </a:p>
          <a:p>
            <a:pPr marL="342882" indent="-342882">
              <a:buAutoNum type="arabicParenBoth"/>
            </a:pPr>
            <a:endParaRPr lang="en-US" sz="1266" dirty="0"/>
          </a:p>
        </p:txBody>
      </p:sp>
    </p:spTree>
    <p:extLst>
      <p:ext uri="{BB962C8B-B14F-4D97-AF65-F5344CB8AC3E}">
        <p14:creationId xmlns:p14="http://schemas.microsoft.com/office/powerpoint/2010/main" val="1193330359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730" y="2519932"/>
            <a:ext cx="6022270" cy="4139632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7953511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The parameter value that Maximizes the Likelihood (ML)</a:t>
            </a:r>
            <a:endParaRPr sz="3586" dirty="0"/>
          </a:p>
        </p:txBody>
      </p:sp>
      <p:sp>
        <p:nvSpPr>
          <p:cNvPr id="6" name="Rectangle 5"/>
          <p:cNvSpPr/>
          <p:nvPr/>
        </p:nvSpPr>
        <p:spPr>
          <a:xfrm>
            <a:off x="-31258" y="1108445"/>
            <a:ext cx="3515825" cy="2429894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r>
              <a:rPr lang="en-US" sz="1266" dirty="0"/>
              <a:t>Method 2: calculus</a:t>
            </a:r>
          </a:p>
          <a:p>
            <a:endParaRPr lang="en-US" sz="1266" dirty="0"/>
          </a:p>
          <a:p>
            <a:r>
              <a:rPr lang="en-US" sz="1266" dirty="0"/>
              <a:t>E.g., here’s the proof (not examinable) showing that the likelihood is maximized at</a:t>
            </a:r>
            <a:br>
              <a:rPr lang="en-US" sz="1266" dirty="0"/>
            </a:br>
            <a:br>
              <a:rPr lang="en-US" sz="1266" dirty="0"/>
            </a:br>
            <a:r>
              <a:rPr lang="en-US" sz="1266" dirty="0"/>
              <a:t>(Number of Heads) / (Total number of </a:t>
            </a:r>
            <a:r>
              <a:rPr lang="en-US" sz="1266" dirty="0" err="1"/>
              <a:t>coinflips</a:t>
            </a:r>
            <a:r>
              <a:rPr lang="en-US" sz="1266" dirty="0"/>
              <a:t>)</a:t>
            </a:r>
            <a:br>
              <a:rPr lang="en-US" sz="1266" dirty="0"/>
            </a:br>
            <a:br>
              <a:rPr lang="en-US" sz="1266" dirty="0"/>
            </a:br>
            <a:r>
              <a:rPr lang="en-US" sz="1266" dirty="0">
                <a:hlinkClick r:id="rId3"/>
              </a:rPr>
              <a:t>https://stats.stackexchange.com/questions/181035/how-to-derive-the-likelihood-function-for-binomial-distribution-for-parameter-es</a:t>
            </a:r>
            <a:r>
              <a:rPr lang="en-US" sz="1266" dirty="0"/>
              <a:t> </a:t>
            </a:r>
          </a:p>
          <a:p>
            <a:endParaRPr lang="en-US" sz="1266" dirty="0"/>
          </a:p>
          <a:p>
            <a:r>
              <a:rPr lang="en-US" sz="1266" dirty="0"/>
              <a:t>(not examinable)</a:t>
            </a:r>
          </a:p>
        </p:txBody>
      </p:sp>
    </p:spTree>
    <p:extLst>
      <p:ext uri="{BB962C8B-B14F-4D97-AF65-F5344CB8AC3E}">
        <p14:creationId xmlns:p14="http://schemas.microsoft.com/office/powerpoint/2010/main" val="1499311519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" y="2690455"/>
            <a:ext cx="9144000" cy="4138693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7953511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How to find this maximum?</a:t>
            </a:r>
            <a:endParaRPr sz="3586" dirty="0"/>
          </a:p>
        </p:txBody>
      </p:sp>
      <p:sp>
        <p:nvSpPr>
          <p:cNvPr id="2" name="Rectangle 1"/>
          <p:cNvSpPr/>
          <p:nvPr/>
        </p:nvSpPr>
        <p:spPr>
          <a:xfrm>
            <a:off x="755501" y="1368091"/>
            <a:ext cx="4687307" cy="871519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1266" dirty="0"/>
              <a:t>Method 3: exhaustive search (or “gridded search”).</a:t>
            </a:r>
            <a:br>
              <a:rPr lang="en-US" sz="1266" dirty="0"/>
            </a:br>
            <a:br>
              <a:rPr lang="en-US" sz="1266" dirty="0"/>
            </a:br>
            <a:r>
              <a:rPr lang="en-US" sz="1266" dirty="0"/>
              <a:t>(1) pick a bunch of parameter values that cover the parameter space</a:t>
            </a:r>
          </a:p>
          <a:p>
            <a:r>
              <a:rPr lang="en-US" sz="1266" dirty="0"/>
              <a:t>(2) choose the parameter value that maximizes the likelihood</a:t>
            </a:r>
          </a:p>
        </p:txBody>
      </p:sp>
      <p:sp>
        <p:nvSpPr>
          <p:cNvPr id="3" name="Rectangle 2"/>
          <p:cNvSpPr/>
          <p:nvPr/>
        </p:nvSpPr>
        <p:spPr>
          <a:xfrm>
            <a:off x="161984" y="3101460"/>
            <a:ext cx="1949392" cy="1455909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r>
              <a:rPr lang="en-US" sz="1266" dirty="0"/>
              <a:t>Problem: can only be done easily for 1 or 2 parameters.</a:t>
            </a:r>
          </a:p>
          <a:p>
            <a:endParaRPr lang="en-US" sz="1266" dirty="0"/>
          </a:p>
          <a:p>
            <a:r>
              <a:rPr lang="en-US" sz="1266" dirty="0"/>
              <a:t>More parameters = more “dimensions” = explosion of number of calculations</a:t>
            </a:r>
          </a:p>
        </p:txBody>
      </p:sp>
    </p:spTree>
    <p:extLst>
      <p:ext uri="{BB962C8B-B14F-4D97-AF65-F5344CB8AC3E}">
        <p14:creationId xmlns:p14="http://schemas.microsoft.com/office/powerpoint/2010/main" val="1516406969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" y="2690455"/>
            <a:ext cx="9144000" cy="4138693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7953511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How to find this maximum?</a:t>
            </a:r>
            <a:endParaRPr sz="3586" dirty="0"/>
          </a:p>
        </p:txBody>
      </p:sp>
      <p:sp>
        <p:nvSpPr>
          <p:cNvPr id="2" name="Rectangle 1"/>
          <p:cNvSpPr/>
          <p:nvPr/>
        </p:nvSpPr>
        <p:spPr>
          <a:xfrm>
            <a:off x="755500" y="1368090"/>
            <a:ext cx="6013632" cy="1455909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1266" dirty="0"/>
              <a:t>Method 4: optimization, i.e. use the computer to iteratively search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Very flexible, works on very complex models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Involves some heuristic “hill-climbing” algorithm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We use the “optim()”, in R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Known as a “numerical solution” or “numerical optimization”, instead of an “analytic</a:t>
            </a:r>
            <a:br>
              <a:rPr lang="en-US" sz="1266" dirty="0">
                <a:sym typeface="Wingdings"/>
              </a:rPr>
            </a:br>
            <a:r>
              <a:rPr lang="en-US" sz="1266" dirty="0">
                <a:sym typeface="Wingdings"/>
              </a:rPr>
              <a:t>solution”</a:t>
            </a:r>
            <a:endParaRPr lang="en-US" sz="1266" dirty="0"/>
          </a:p>
          <a:p>
            <a:pPr marL="285736" indent="-285736">
              <a:buFont typeface="Wingdings" charset="0"/>
              <a:buChar char="à"/>
            </a:pPr>
            <a:endParaRPr lang="en-US" sz="1266" dirty="0"/>
          </a:p>
        </p:txBody>
      </p:sp>
    </p:spTree>
    <p:extLst>
      <p:ext uri="{BB962C8B-B14F-4D97-AF65-F5344CB8AC3E}">
        <p14:creationId xmlns:p14="http://schemas.microsoft.com/office/powerpoint/2010/main" val="1021076696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" y="2690455"/>
            <a:ext cx="9144000" cy="4138693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7953511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How to find this maximum?</a:t>
            </a:r>
            <a:endParaRPr sz="3586" dirty="0"/>
          </a:p>
        </p:txBody>
      </p:sp>
      <p:sp>
        <p:nvSpPr>
          <p:cNvPr id="2" name="Rectangle 1"/>
          <p:cNvSpPr/>
          <p:nvPr/>
        </p:nvSpPr>
        <p:spPr>
          <a:xfrm>
            <a:off x="755500" y="1368090"/>
            <a:ext cx="6013632" cy="1455909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1266" dirty="0"/>
              <a:t>Method 4: optimization, i.e. use the computer to iteratively search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Very flexible, works on very complex models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Involves some heuristic “hill-climbing” algorithm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We use the “optim()”, in R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Known as a “numerical solution” or “numerical optimization”, instead of an “analytic</a:t>
            </a:r>
            <a:br>
              <a:rPr lang="en-US" sz="1266" dirty="0">
                <a:sym typeface="Wingdings"/>
              </a:rPr>
            </a:br>
            <a:r>
              <a:rPr lang="en-US" sz="1266" dirty="0">
                <a:sym typeface="Wingdings"/>
              </a:rPr>
              <a:t>solution”</a:t>
            </a:r>
            <a:endParaRPr lang="en-US" sz="1266" dirty="0"/>
          </a:p>
          <a:p>
            <a:pPr marL="285736" indent="-285736">
              <a:buFont typeface="Wingdings" charset="0"/>
              <a:buChar char="à"/>
            </a:pPr>
            <a:endParaRPr lang="en-US" sz="1266" dirty="0"/>
          </a:p>
        </p:txBody>
      </p:sp>
      <p:sp>
        <p:nvSpPr>
          <p:cNvPr id="6" name="Oval 5"/>
          <p:cNvSpPr/>
          <p:nvPr/>
        </p:nvSpPr>
        <p:spPr>
          <a:xfrm>
            <a:off x="3508375" y="5010150"/>
            <a:ext cx="103187" cy="109538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611561" y="4216401"/>
            <a:ext cx="182564" cy="79375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051028" y="3601820"/>
            <a:ext cx="1830535" cy="481925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266" dirty="0">
                <a:solidFill>
                  <a:srgbClr val="3366FF"/>
                </a:solidFill>
                <a:sym typeface="Wingdings"/>
              </a:rPr>
              <a:t>Starting guess at parameter</a:t>
            </a:r>
            <a:endParaRPr lang="en-US" sz="1266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900438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" y="2690455"/>
            <a:ext cx="9144000" cy="4138693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7953511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How to find this maximum?</a:t>
            </a:r>
            <a:endParaRPr sz="3586" dirty="0"/>
          </a:p>
        </p:txBody>
      </p:sp>
      <p:sp>
        <p:nvSpPr>
          <p:cNvPr id="2" name="Rectangle 1"/>
          <p:cNvSpPr/>
          <p:nvPr/>
        </p:nvSpPr>
        <p:spPr>
          <a:xfrm>
            <a:off x="755500" y="1368090"/>
            <a:ext cx="6013632" cy="1455909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1266" dirty="0"/>
              <a:t>Method 4: optimization, i.e. use the computer to iteratively search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Very flexible, works on very complex models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Involves some heuristic “hill-climbing” algorithm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We use the “optim()”, in R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Known as a “numerical solution” or “numerical optimization”, instead of an “analytic</a:t>
            </a:r>
            <a:br>
              <a:rPr lang="en-US" sz="1266" dirty="0">
                <a:sym typeface="Wingdings"/>
              </a:rPr>
            </a:br>
            <a:r>
              <a:rPr lang="en-US" sz="1266" dirty="0">
                <a:sym typeface="Wingdings"/>
              </a:rPr>
              <a:t>solution”</a:t>
            </a:r>
            <a:endParaRPr lang="en-US" sz="1266" dirty="0"/>
          </a:p>
          <a:p>
            <a:pPr marL="285736" indent="-285736">
              <a:buFont typeface="Wingdings" charset="0"/>
              <a:buChar char="à"/>
            </a:pPr>
            <a:endParaRPr lang="en-US" sz="1266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595688" y="4929189"/>
            <a:ext cx="508000" cy="111125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508375" y="5010150"/>
            <a:ext cx="103187" cy="109538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</p:spTree>
    <p:extLst>
      <p:ext uri="{BB962C8B-B14F-4D97-AF65-F5344CB8AC3E}">
        <p14:creationId xmlns:p14="http://schemas.microsoft.com/office/powerpoint/2010/main" val="3278527170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" y="2690455"/>
            <a:ext cx="9144000" cy="4138693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7953511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How to find this maximum?</a:t>
            </a:r>
            <a:endParaRPr sz="3586" dirty="0"/>
          </a:p>
        </p:txBody>
      </p:sp>
      <p:sp>
        <p:nvSpPr>
          <p:cNvPr id="2" name="Rectangle 1"/>
          <p:cNvSpPr/>
          <p:nvPr/>
        </p:nvSpPr>
        <p:spPr>
          <a:xfrm>
            <a:off x="755500" y="1368090"/>
            <a:ext cx="6013632" cy="1455909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1266" dirty="0"/>
              <a:t>Method 4: optimization, i.e. use the computer to iteratively search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Very flexible, works on very complex models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Involves some heuristic “hill-climbing” algorithm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We use the “optim()”, in R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Known as a “numerical solution” or “numerical optimization”, instead of an “analytic</a:t>
            </a:r>
            <a:br>
              <a:rPr lang="en-US" sz="1266" dirty="0">
                <a:sym typeface="Wingdings"/>
              </a:rPr>
            </a:br>
            <a:r>
              <a:rPr lang="en-US" sz="1266" dirty="0">
                <a:sym typeface="Wingdings"/>
              </a:rPr>
              <a:t>solution”</a:t>
            </a:r>
            <a:endParaRPr lang="en-US" sz="1266" dirty="0"/>
          </a:p>
          <a:p>
            <a:pPr marL="285736" indent="-285736">
              <a:buFont typeface="Wingdings" charset="0"/>
              <a:buChar char="à"/>
            </a:pPr>
            <a:endParaRPr lang="en-US" sz="1266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595688" y="4929189"/>
            <a:ext cx="508000" cy="111125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119563" y="4595814"/>
            <a:ext cx="508000" cy="33337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508375" y="5010150"/>
            <a:ext cx="103187" cy="109538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</p:spTree>
    <p:extLst>
      <p:ext uri="{BB962C8B-B14F-4D97-AF65-F5344CB8AC3E}">
        <p14:creationId xmlns:p14="http://schemas.microsoft.com/office/powerpoint/2010/main" val="4006764951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" y="2690455"/>
            <a:ext cx="9144000" cy="4138693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7953511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How to find this maximum?</a:t>
            </a:r>
            <a:endParaRPr sz="3586" dirty="0"/>
          </a:p>
        </p:txBody>
      </p:sp>
      <p:sp>
        <p:nvSpPr>
          <p:cNvPr id="2" name="Rectangle 1"/>
          <p:cNvSpPr/>
          <p:nvPr/>
        </p:nvSpPr>
        <p:spPr>
          <a:xfrm>
            <a:off x="755500" y="1368090"/>
            <a:ext cx="6013632" cy="1455909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1266" dirty="0"/>
              <a:t>Method 4: optimization, i.e. use the computer to iteratively search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Very flexible, works on very complex models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Involves some heuristic “hill-climbing” algorithm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We use the “optim()”, in R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Known as a “numerical solution” or “numerical optimization”, instead of an “analytic</a:t>
            </a:r>
            <a:br>
              <a:rPr lang="en-US" sz="1266" dirty="0">
                <a:sym typeface="Wingdings"/>
              </a:rPr>
            </a:br>
            <a:r>
              <a:rPr lang="en-US" sz="1266" dirty="0">
                <a:sym typeface="Wingdings"/>
              </a:rPr>
              <a:t>solution”</a:t>
            </a:r>
            <a:endParaRPr lang="en-US" sz="1266" dirty="0"/>
          </a:p>
          <a:p>
            <a:pPr marL="285736" indent="-285736">
              <a:buFont typeface="Wingdings" charset="0"/>
              <a:buChar char="à"/>
            </a:pPr>
            <a:endParaRPr lang="en-US" sz="1266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595688" y="4929189"/>
            <a:ext cx="508000" cy="111125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119563" y="4595814"/>
            <a:ext cx="508000" cy="33337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910470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" y="2690455"/>
            <a:ext cx="9144000" cy="4138693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7953511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How to find this maximum?</a:t>
            </a:r>
            <a:endParaRPr sz="3586" dirty="0"/>
          </a:p>
        </p:txBody>
      </p:sp>
      <p:sp>
        <p:nvSpPr>
          <p:cNvPr id="2" name="Rectangle 1"/>
          <p:cNvSpPr/>
          <p:nvPr/>
        </p:nvSpPr>
        <p:spPr>
          <a:xfrm>
            <a:off x="755500" y="1368090"/>
            <a:ext cx="6013632" cy="1455909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1266" dirty="0"/>
              <a:t>Method 4: optimization, i.e. use the computer to iteratively search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Very flexible, works on very complex models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Involves some heuristic “hill-climbing” algorithm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We use the “optim()”, in R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Known as a “numerical solution” or “numerical optimization”, instead of an “analytic</a:t>
            </a:r>
            <a:br>
              <a:rPr lang="en-US" sz="1266" dirty="0">
                <a:sym typeface="Wingdings"/>
              </a:rPr>
            </a:br>
            <a:r>
              <a:rPr lang="en-US" sz="1266" dirty="0">
                <a:sym typeface="Wingdings"/>
              </a:rPr>
              <a:t>solution”</a:t>
            </a:r>
            <a:endParaRPr lang="en-US" sz="1266" dirty="0"/>
          </a:p>
          <a:p>
            <a:pPr marL="285736" indent="-285736">
              <a:buFont typeface="Wingdings" charset="0"/>
              <a:buChar char="à"/>
            </a:pPr>
            <a:endParaRPr lang="en-US" sz="1266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595688" y="4929189"/>
            <a:ext cx="508000" cy="111125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119563" y="4595814"/>
            <a:ext cx="508000" cy="33337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4627564" y="4357688"/>
            <a:ext cx="1539875" cy="238126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162923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" y="2690455"/>
            <a:ext cx="9144000" cy="4138693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7953511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How to find this maximum?</a:t>
            </a:r>
            <a:endParaRPr sz="3586" dirty="0"/>
          </a:p>
        </p:txBody>
      </p:sp>
      <p:sp>
        <p:nvSpPr>
          <p:cNvPr id="2" name="Rectangle 1"/>
          <p:cNvSpPr/>
          <p:nvPr/>
        </p:nvSpPr>
        <p:spPr>
          <a:xfrm>
            <a:off x="755500" y="1368090"/>
            <a:ext cx="6013632" cy="1455909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1266" dirty="0"/>
              <a:t>Method 4: optimization, i.e. use the computer to iteratively search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Very flexible, works on very complex models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Involves some heuristic “hill-climbing” algorithm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We use the “optim()”, in R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Known as a “numerical solution” or “numerical optimization”, instead of an “analytic</a:t>
            </a:r>
            <a:br>
              <a:rPr lang="en-US" sz="1266" dirty="0">
                <a:sym typeface="Wingdings"/>
              </a:rPr>
            </a:br>
            <a:r>
              <a:rPr lang="en-US" sz="1266" dirty="0">
                <a:sym typeface="Wingdings"/>
              </a:rPr>
              <a:t>solution”</a:t>
            </a:r>
            <a:endParaRPr lang="en-US" sz="1266" dirty="0"/>
          </a:p>
          <a:p>
            <a:pPr marL="285736" indent="-285736">
              <a:buFont typeface="Wingdings" charset="0"/>
              <a:buChar char="à"/>
            </a:pPr>
            <a:endParaRPr lang="en-US" sz="1266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595688" y="4929189"/>
            <a:ext cx="508000" cy="111125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119563" y="4595814"/>
            <a:ext cx="508000" cy="33337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4627564" y="4357688"/>
            <a:ext cx="1539875" cy="238126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5942013" y="3675063"/>
            <a:ext cx="136526" cy="549276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132258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" y="2690455"/>
            <a:ext cx="9144000" cy="4138693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7953511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How to find this maximum?</a:t>
            </a:r>
            <a:endParaRPr sz="3586" dirty="0"/>
          </a:p>
        </p:txBody>
      </p:sp>
      <p:sp>
        <p:nvSpPr>
          <p:cNvPr id="2" name="Rectangle 1"/>
          <p:cNvSpPr/>
          <p:nvPr/>
        </p:nvSpPr>
        <p:spPr>
          <a:xfrm>
            <a:off x="755500" y="1368090"/>
            <a:ext cx="6013632" cy="1455909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1266" dirty="0"/>
              <a:t>Method 4: optimization, i.e. use the computer to iteratively search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Very flexible, works on very complex models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Involves some heuristic “hill-climbing” algorithm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We use the “optim()”, in R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Known as a “numerical solution” or “numerical optimization”, instead of an “analytic</a:t>
            </a:r>
            <a:br>
              <a:rPr lang="en-US" sz="1266" dirty="0">
                <a:sym typeface="Wingdings"/>
              </a:rPr>
            </a:br>
            <a:r>
              <a:rPr lang="en-US" sz="1266" dirty="0">
                <a:sym typeface="Wingdings"/>
              </a:rPr>
              <a:t>solution”</a:t>
            </a:r>
            <a:endParaRPr lang="en-US" sz="1266" dirty="0"/>
          </a:p>
          <a:p>
            <a:pPr marL="285736" indent="-285736">
              <a:buFont typeface="Wingdings" charset="0"/>
              <a:buChar char="à"/>
            </a:pPr>
            <a:endParaRPr lang="en-US" sz="1266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595688" y="4929189"/>
            <a:ext cx="508000" cy="111125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119563" y="4595814"/>
            <a:ext cx="508000" cy="33337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4627564" y="4357688"/>
            <a:ext cx="1539875" cy="238126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5942013" y="3675063"/>
            <a:ext cx="136526" cy="549276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127626" y="3325813"/>
            <a:ext cx="781050" cy="254000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761952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" y="2690455"/>
            <a:ext cx="9144000" cy="4138693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7953511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How to find this maximum?</a:t>
            </a:r>
            <a:endParaRPr sz="3586" dirty="0"/>
          </a:p>
        </p:txBody>
      </p:sp>
      <p:sp>
        <p:nvSpPr>
          <p:cNvPr id="2" name="Rectangle 1"/>
          <p:cNvSpPr/>
          <p:nvPr/>
        </p:nvSpPr>
        <p:spPr>
          <a:xfrm>
            <a:off x="755500" y="1368090"/>
            <a:ext cx="6013632" cy="1455909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1266" dirty="0"/>
              <a:t>Method 4: optimization, i.e. use the computer to iteratively search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Very flexible, works on very complex models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Involves some heuristic “hill-climbing” algorithm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We use the “optim()”, in R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Known as a “numerical solution” or “numerical optimization”, instead of an “analytic</a:t>
            </a:r>
            <a:br>
              <a:rPr lang="en-US" sz="1266" dirty="0">
                <a:sym typeface="Wingdings"/>
              </a:rPr>
            </a:br>
            <a:r>
              <a:rPr lang="en-US" sz="1266" dirty="0">
                <a:sym typeface="Wingdings"/>
              </a:rPr>
              <a:t>solution”</a:t>
            </a:r>
            <a:endParaRPr lang="en-US" sz="1266" dirty="0"/>
          </a:p>
          <a:p>
            <a:pPr marL="285736" indent="-285736">
              <a:buFont typeface="Wingdings" charset="0"/>
              <a:buChar char="à"/>
            </a:pPr>
            <a:endParaRPr lang="en-US" sz="1266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595688" y="4929189"/>
            <a:ext cx="508000" cy="111125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119563" y="4595814"/>
            <a:ext cx="508000" cy="33337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4627564" y="4357688"/>
            <a:ext cx="1539875" cy="238126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5942013" y="3675063"/>
            <a:ext cx="136526" cy="549276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127626" y="3325813"/>
            <a:ext cx="781050" cy="254000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5118102" y="3001963"/>
            <a:ext cx="323849" cy="254000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422618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" y="2690455"/>
            <a:ext cx="9144000" cy="4138693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7953511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How to find this maximum?</a:t>
            </a:r>
            <a:endParaRPr sz="3586" dirty="0"/>
          </a:p>
        </p:txBody>
      </p:sp>
      <p:sp>
        <p:nvSpPr>
          <p:cNvPr id="2" name="Rectangle 1"/>
          <p:cNvSpPr/>
          <p:nvPr/>
        </p:nvSpPr>
        <p:spPr>
          <a:xfrm>
            <a:off x="755500" y="1368090"/>
            <a:ext cx="6013632" cy="1455909"/>
          </a:xfrm>
          <a:prstGeom prst="rect">
            <a:avLst/>
          </a:prstGeom>
        </p:spPr>
        <p:txBody>
          <a:bodyPr wrap="none" lIns="91439" tIns="45719" rIns="91439" bIns="45719">
            <a:spAutoFit/>
          </a:bodyPr>
          <a:lstStyle/>
          <a:p>
            <a:r>
              <a:rPr lang="en-US" sz="1266" dirty="0"/>
              <a:t>Method 4: optimization, i.e. use the computer to iteratively search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Very flexible, works on very complex models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Involves some heuristic “hill-climbing” algorithm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We use the “optim()”, in R</a:t>
            </a:r>
          </a:p>
          <a:p>
            <a:pPr marL="285736" indent="-285736">
              <a:buFont typeface="Wingdings" charset="0"/>
              <a:buChar char="à"/>
            </a:pPr>
            <a:r>
              <a:rPr lang="en-US" sz="1266" dirty="0">
                <a:sym typeface="Wingdings"/>
              </a:rPr>
              <a:t>Known as a “numerical solution” or “numerical optimization”, instead of an “analytic</a:t>
            </a:r>
            <a:br>
              <a:rPr lang="en-US" sz="1266" dirty="0">
                <a:sym typeface="Wingdings"/>
              </a:rPr>
            </a:br>
            <a:r>
              <a:rPr lang="en-US" sz="1266" dirty="0">
                <a:sym typeface="Wingdings"/>
              </a:rPr>
              <a:t>solution”</a:t>
            </a:r>
            <a:endParaRPr lang="en-US" sz="1266" dirty="0"/>
          </a:p>
          <a:p>
            <a:pPr marL="285736" indent="-285736">
              <a:buFont typeface="Wingdings" charset="0"/>
              <a:buChar char="à"/>
            </a:pPr>
            <a:endParaRPr lang="en-US" sz="1266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595688" y="4929189"/>
            <a:ext cx="508000" cy="111125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119563" y="4595814"/>
            <a:ext cx="508000" cy="33337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4627564" y="4357688"/>
            <a:ext cx="1539875" cy="238126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5942013" y="3675063"/>
            <a:ext cx="136526" cy="549276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127626" y="3325813"/>
            <a:ext cx="781050" cy="254000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5118102" y="3001963"/>
            <a:ext cx="323849" cy="254000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445125" y="3025776"/>
            <a:ext cx="103187" cy="109538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</p:spTree>
    <p:extLst>
      <p:ext uri="{BB962C8B-B14F-4D97-AF65-F5344CB8AC3E}">
        <p14:creationId xmlns:p14="http://schemas.microsoft.com/office/powerpoint/2010/main" val="2704898372"/>
      </p:ext>
    </p:extLst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" y="2690455"/>
            <a:ext cx="9144000" cy="4138693"/>
          </a:xfrm>
          <a:prstGeom prst="rect">
            <a:avLst/>
          </a:prstGeom>
        </p:spPr>
      </p:pic>
      <p:sp>
        <p:nvSpPr>
          <p:cNvPr id="5" name="Maximum Likelihood Inference"/>
          <p:cNvSpPr txBox="1">
            <a:spLocks noGrp="1"/>
          </p:cNvSpPr>
          <p:nvPr>
            <p:ph type="title"/>
          </p:nvPr>
        </p:nvSpPr>
        <p:spPr>
          <a:xfrm>
            <a:off x="679170" y="146810"/>
            <a:ext cx="7953511" cy="1062633"/>
          </a:xfrm>
          <a:prstGeom prst="rect">
            <a:avLst/>
          </a:prstGeom>
        </p:spPr>
        <p:txBody>
          <a:bodyPr/>
          <a:lstStyle/>
          <a:p>
            <a:pPr>
              <a:defRPr sz="4800" b="1"/>
            </a:pPr>
            <a:r>
              <a:rPr lang="en-US" sz="3586" dirty="0"/>
              <a:t>How to find this maximum?</a:t>
            </a:r>
            <a:endParaRPr sz="3586" dirty="0"/>
          </a:p>
        </p:txBody>
      </p:sp>
      <p:sp>
        <p:nvSpPr>
          <p:cNvPr id="2" name="Rectangle 1"/>
          <p:cNvSpPr/>
          <p:nvPr/>
        </p:nvSpPr>
        <p:spPr>
          <a:xfrm>
            <a:off x="755501" y="1368091"/>
            <a:ext cx="8309125" cy="1066316"/>
          </a:xfrm>
          <a:prstGeom prst="rect">
            <a:avLst/>
          </a:prstGeom>
        </p:spPr>
        <p:txBody>
          <a:bodyPr wrap="square" lIns="91439" tIns="45719" rIns="91439" bIns="45719">
            <a:spAutoFit/>
          </a:bodyPr>
          <a:lstStyle/>
          <a:p>
            <a:r>
              <a:rPr lang="en-US" sz="1266" dirty="0"/>
              <a:t>Advantage of optimization/hill-climbing: extremely flexible, can be used on all sorts of complex models</a:t>
            </a:r>
          </a:p>
          <a:p>
            <a:endParaRPr lang="en-US" sz="1266" dirty="0"/>
          </a:p>
          <a:p>
            <a:r>
              <a:rPr lang="en-US" sz="1266" dirty="0"/>
              <a:t>Disadvantages of optimization/hill-climbing: much slower than analytic solutions; no absolute guarantee the search will actually find the true peak </a:t>
            </a:r>
          </a:p>
          <a:p>
            <a:pPr marL="285736" indent="-285736">
              <a:buFont typeface="Wingdings" charset="0"/>
              <a:buChar char="à"/>
            </a:pPr>
            <a:endParaRPr lang="en-US" sz="1266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595688" y="4929189"/>
            <a:ext cx="508000" cy="111125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119563" y="4595814"/>
            <a:ext cx="508000" cy="333374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4627564" y="4357688"/>
            <a:ext cx="1539875" cy="238126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5942013" y="3675063"/>
            <a:ext cx="136526" cy="549276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127626" y="3325813"/>
            <a:ext cx="781050" cy="254000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5118102" y="3001963"/>
            <a:ext cx="323849" cy="254000"/>
          </a:xfrm>
          <a:prstGeom prst="straightConnector1">
            <a:avLst/>
          </a:prstGeom>
          <a:ln w="47625">
            <a:solidFill>
              <a:srgbClr val="3366FF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445125" y="3025776"/>
            <a:ext cx="103187" cy="109538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/>
            <a:endParaRPr lang="en-US" sz="1266"/>
          </a:p>
        </p:txBody>
      </p:sp>
    </p:spTree>
    <p:extLst>
      <p:ext uri="{BB962C8B-B14F-4D97-AF65-F5344CB8AC3E}">
        <p14:creationId xmlns:p14="http://schemas.microsoft.com/office/powerpoint/2010/main" val="489764704"/>
      </p:ext>
    </p:extLst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3735" y="242382"/>
            <a:ext cx="5799386" cy="157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4078"/>
              </a:lnSpc>
            </a:pPr>
            <a:r>
              <a:rPr sz="3516" b="1" spc="-28" dirty="0">
                <a:latin typeface="Gill Sans"/>
                <a:cs typeface="Gill Sans"/>
              </a:rPr>
              <a:t>C</a:t>
            </a:r>
            <a:r>
              <a:rPr sz="3516" b="1" spc="25" dirty="0">
                <a:latin typeface="Gill Sans"/>
                <a:cs typeface="Gill Sans"/>
              </a:rPr>
              <a:t>a</a:t>
            </a:r>
            <a:r>
              <a:rPr sz="3516" b="1" dirty="0">
                <a:latin typeface="Gill Sans"/>
                <a:cs typeface="Gill Sans"/>
              </a:rPr>
              <a:t>n </a:t>
            </a:r>
            <a:r>
              <a:rPr sz="3516" b="1" spc="-49" dirty="0">
                <a:latin typeface="Gill Sans"/>
                <a:cs typeface="Gill Sans"/>
              </a:rPr>
              <a:t>w</a:t>
            </a:r>
            <a:r>
              <a:rPr sz="3516" b="1" dirty="0">
                <a:latin typeface="Gill Sans"/>
                <a:cs typeface="Gill Sans"/>
              </a:rPr>
              <a:t>e </a:t>
            </a:r>
            <a:r>
              <a:rPr sz="3516" b="1" spc="-4" dirty="0">
                <a:latin typeface="Gill Sans"/>
                <a:cs typeface="Gill Sans"/>
              </a:rPr>
              <a:t>measu</a:t>
            </a:r>
            <a:r>
              <a:rPr sz="3516" b="1" spc="-148" dirty="0">
                <a:latin typeface="Gill Sans"/>
                <a:cs typeface="Gill Sans"/>
              </a:rPr>
              <a:t>r</a:t>
            </a:r>
            <a:r>
              <a:rPr sz="3516" b="1" dirty="0">
                <a:latin typeface="Gill Sans"/>
                <a:cs typeface="Gill Sans"/>
              </a:rPr>
              <a:t>e </a:t>
            </a:r>
            <a:r>
              <a:rPr sz="3516" b="1" spc="-4" dirty="0">
                <a:latin typeface="Gill Sans"/>
                <a:cs typeface="Gill Sans"/>
              </a:rPr>
              <a:t>the </a:t>
            </a:r>
            <a:r>
              <a:rPr sz="3516" b="1" dirty="0">
                <a:latin typeface="Gill Sans"/>
                <a:cs typeface="Gill Sans"/>
              </a:rPr>
              <a:t>impo</a:t>
            </a:r>
            <a:r>
              <a:rPr sz="3516" b="1" spc="-53" dirty="0">
                <a:latin typeface="Gill Sans"/>
                <a:cs typeface="Gill Sans"/>
              </a:rPr>
              <a:t>r</a:t>
            </a:r>
            <a:r>
              <a:rPr sz="3516" b="1" spc="-4" dirty="0">
                <a:latin typeface="Gill Sans"/>
                <a:cs typeface="Gill Sans"/>
              </a:rPr>
              <a:t>t</a:t>
            </a:r>
            <a:r>
              <a:rPr sz="3516" b="1" spc="49" dirty="0">
                <a:latin typeface="Gill Sans"/>
                <a:cs typeface="Gill Sans"/>
              </a:rPr>
              <a:t>a</a:t>
            </a:r>
            <a:r>
              <a:rPr sz="3516" b="1" spc="-4" dirty="0">
                <a:latin typeface="Gill Sans"/>
                <a:cs typeface="Gill Sans"/>
              </a:rPr>
              <a:t>nc</a:t>
            </a:r>
            <a:r>
              <a:rPr sz="3516" b="1" dirty="0">
                <a:latin typeface="Gill Sans"/>
                <a:cs typeface="Gill Sans"/>
              </a:rPr>
              <a:t>e of</a:t>
            </a:r>
            <a:r>
              <a:rPr sz="3516" b="1" spc="102" dirty="0">
                <a:latin typeface="Gill Sans"/>
                <a:cs typeface="Gill Sans"/>
              </a:rPr>
              <a:t> </a:t>
            </a:r>
            <a:r>
              <a:rPr sz="3516" b="1" dirty="0">
                <a:latin typeface="Gill Sans"/>
                <a:cs typeface="Gill Sans"/>
              </a:rPr>
              <a:t>dist</a:t>
            </a:r>
            <a:r>
              <a:rPr sz="3516" b="1" spc="49" dirty="0">
                <a:latin typeface="Gill Sans"/>
                <a:cs typeface="Gill Sans"/>
              </a:rPr>
              <a:t>a</a:t>
            </a:r>
            <a:r>
              <a:rPr sz="3516" b="1" spc="-4" dirty="0">
                <a:latin typeface="Gill Sans"/>
                <a:cs typeface="Gill Sans"/>
              </a:rPr>
              <a:t>nc</a:t>
            </a:r>
            <a:r>
              <a:rPr sz="3516" b="1" dirty="0">
                <a:latin typeface="Gill Sans"/>
                <a:cs typeface="Gill Sans"/>
              </a:rPr>
              <a:t>e </a:t>
            </a:r>
            <a:r>
              <a:rPr sz="3516" b="1" spc="-4" dirty="0">
                <a:latin typeface="Gill Sans"/>
                <a:cs typeface="Gill Sans"/>
              </a:rPr>
              <a:t>in </a:t>
            </a:r>
            <a:r>
              <a:rPr sz="3516" b="1" dirty="0">
                <a:latin typeface="Gill Sans"/>
                <a:cs typeface="Gill Sans"/>
              </a:rPr>
              <a:t>bi</a:t>
            </a:r>
            <a:r>
              <a:rPr sz="3516" b="1" spc="-4" dirty="0">
                <a:latin typeface="Gill Sans"/>
                <a:cs typeface="Gill Sans"/>
              </a:rPr>
              <a:t>o</a:t>
            </a:r>
            <a:r>
              <a:rPr sz="3516" b="1" dirty="0">
                <a:latin typeface="Gill Sans"/>
                <a:cs typeface="Gill Sans"/>
              </a:rPr>
              <a:t>ge</a:t>
            </a:r>
            <a:r>
              <a:rPr sz="3516" b="1" spc="-4" dirty="0">
                <a:latin typeface="Gill Sans"/>
                <a:cs typeface="Gill Sans"/>
              </a:rPr>
              <a:t>o</a:t>
            </a:r>
            <a:r>
              <a:rPr sz="3516" b="1" spc="127" dirty="0">
                <a:latin typeface="Gill Sans"/>
                <a:cs typeface="Gill Sans"/>
              </a:rPr>
              <a:t>g</a:t>
            </a:r>
            <a:r>
              <a:rPr sz="3516" b="1" spc="-53" dirty="0">
                <a:latin typeface="Gill Sans"/>
                <a:cs typeface="Gill Sans"/>
              </a:rPr>
              <a:t>r</a:t>
            </a:r>
            <a:r>
              <a:rPr sz="3516" b="1" spc="25" dirty="0">
                <a:latin typeface="Gill Sans"/>
                <a:cs typeface="Gill Sans"/>
              </a:rPr>
              <a:t>a</a:t>
            </a:r>
            <a:r>
              <a:rPr sz="3516" b="1" dirty="0">
                <a:latin typeface="Gill Sans"/>
                <a:cs typeface="Gill Sans"/>
              </a:rPr>
              <a:t>p</a:t>
            </a:r>
            <a:r>
              <a:rPr sz="3516" b="1" spc="-4" dirty="0">
                <a:latin typeface="Gill Sans"/>
                <a:cs typeface="Gill Sans"/>
              </a:rPr>
              <a:t>h</a:t>
            </a:r>
            <a:r>
              <a:rPr sz="3516" b="1" spc="-18" dirty="0">
                <a:latin typeface="Gill Sans"/>
                <a:cs typeface="Gill Sans"/>
              </a:rPr>
              <a:t>y?</a:t>
            </a:r>
            <a:endParaRPr sz="3516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513364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4313" y="126040"/>
            <a:ext cx="8191649" cy="432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812" b="1" spc="-28" dirty="0">
                <a:latin typeface="Gill Sans"/>
                <a:cs typeface="Gill Sans"/>
              </a:rPr>
              <a:t>Hi</a:t>
            </a:r>
            <a:r>
              <a:rPr sz="2812" b="1" spc="-14" dirty="0">
                <a:latin typeface="Gill Sans"/>
                <a:cs typeface="Gill Sans"/>
              </a:rPr>
              <a:t>s</a:t>
            </a:r>
            <a:r>
              <a:rPr sz="2812" b="1" spc="-4" dirty="0">
                <a:latin typeface="Gill Sans"/>
                <a:cs typeface="Gill Sans"/>
              </a:rPr>
              <a:t>to</a:t>
            </a:r>
            <a:r>
              <a:rPr sz="2812" b="1" spc="-123" dirty="0">
                <a:latin typeface="Gill Sans"/>
                <a:cs typeface="Gill Sans"/>
              </a:rPr>
              <a:t>r</a:t>
            </a:r>
            <a:r>
              <a:rPr sz="2812" b="1" dirty="0">
                <a:latin typeface="Gill Sans"/>
                <a:cs typeface="Gill Sans"/>
              </a:rPr>
              <a:t>i</a:t>
            </a:r>
            <a:r>
              <a:rPr sz="2812" b="1" spc="-4" dirty="0">
                <a:latin typeface="Gill Sans"/>
                <a:cs typeface="Gill Sans"/>
              </a:rPr>
              <a:t>c</a:t>
            </a:r>
            <a:r>
              <a:rPr sz="2812" b="1" spc="-18" dirty="0">
                <a:latin typeface="Gill Sans"/>
                <a:cs typeface="Gill Sans"/>
              </a:rPr>
              <a:t>a</a:t>
            </a:r>
            <a:r>
              <a:rPr sz="2812" b="1" dirty="0">
                <a:latin typeface="Gill Sans"/>
                <a:cs typeface="Gill Sans"/>
              </a:rPr>
              <a:t>l</a:t>
            </a:r>
            <a:r>
              <a:rPr sz="2812" b="1" spc="-4" dirty="0">
                <a:latin typeface="Gill Sans"/>
                <a:cs typeface="Gill Sans"/>
              </a:rPr>
              <a:t> </a:t>
            </a:r>
            <a:r>
              <a:rPr sz="2812" b="1" dirty="0">
                <a:latin typeface="Gill Sans"/>
                <a:cs typeface="Gill Sans"/>
              </a:rPr>
              <a:t>bi</a:t>
            </a:r>
            <a:r>
              <a:rPr sz="2812" b="1" spc="-4" dirty="0">
                <a:latin typeface="Gill Sans"/>
                <a:cs typeface="Gill Sans"/>
              </a:rPr>
              <a:t>o</a:t>
            </a:r>
            <a:r>
              <a:rPr sz="2812" b="1" dirty="0">
                <a:latin typeface="Gill Sans"/>
                <a:cs typeface="Gill Sans"/>
              </a:rPr>
              <a:t>ge</a:t>
            </a:r>
            <a:r>
              <a:rPr sz="2812" b="1" spc="-4" dirty="0">
                <a:latin typeface="Gill Sans"/>
                <a:cs typeface="Gill Sans"/>
              </a:rPr>
              <a:t>o</a:t>
            </a:r>
            <a:r>
              <a:rPr sz="2812" b="1" spc="102" dirty="0">
                <a:latin typeface="Gill Sans"/>
                <a:cs typeface="Gill Sans"/>
              </a:rPr>
              <a:t>g</a:t>
            </a:r>
            <a:r>
              <a:rPr sz="2812" b="1" spc="-42" dirty="0">
                <a:latin typeface="Gill Sans"/>
                <a:cs typeface="Gill Sans"/>
              </a:rPr>
              <a:t>r</a:t>
            </a:r>
            <a:r>
              <a:rPr sz="2812" b="1" spc="21" dirty="0">
                <a:latin typeface="Gill Sans"/>
                <a:cs typeface="Gill Sans"/>
              </a:rPr>
              <a:t>a</a:t>
            </a:r>
            <a:r>
              <a:rPr sz="2812" b="1" dirty="0">
                <a:latin typeface="Gill Sans"/>
                <a:cs typeface="Gill Sans"/>
              </a:rPr>
              <a:t>p</a:t>
            </a:r>
            <a:r>
              <a:rPr sz="2812" b="1" spc="-4" dirty="0">
                <a:latin typeface="Gill Sans"/>
                <a:cs typeface="Gill Sans"/>
              </a:rPr>
              <a:t>h</a:t>
            </a:r>
            <a:r>
              <a:rPr sz="2812" b="1" spc="-14" dirty="0">
                <a:latin typeface="Gill Sans"/>
                <a:cs typeface="Gill Sans"/>
              </a:rPr>
              <a:t>y:</a:t>
            </a:r>
            <a:r>
              <a:rPr sz="2812" b="1" spc="-4" dirty="0">
                <a:latin typeface="Gill Sans"/>
                <a:cs typeface="Gill Sans"/>
              </a:rPr>
              <a:t> </a:t>
            </a:r>
            <a:r>
              <a:rPr sz="2812" b="1" spc="-120" dirty="0">
                <a:latin typeface="Gill Sans"/>
                <a:cs typeface="Gill Sans"/>
              </a:rPr>
              <a:t>W</a:t>
            </a:r>
            <a:r>
              <a:rPr sz="2812" b="1" spc="-18" dirty="0">
                <a:latin typeface="Gill Sans"/>
                <a:cs typeface="Gill Sans"/>
              </a:rPr>
              <a:t>a</a:t>
            </a:r>
            <a:r>
              <a:rPr sz="2812" b="1" dirty="0">
                <a:latin typeface="Gill Sans"/>
                <a:cs typeface="Gill Sans"/>
              </a:rPr>
              <a:t>ll</a:t>
            </a:r>
            <a:r>
              <a:rPr sz="2812" b="1" spc="-18" dirty="0">
                <a:latin typeface="Gill Sans"/>
                <a:cs typeface="Gill Sans"/>
              </a:rPr>
              <a:t>a</a:t>
            </a:r>
            <a:r>
              <a:rPr sz="2812" b="1" spc="-4" dirty="0">
                <a:latin typeface="Gill Sans"/>
                <a:cs typeface="Gill Sans"/>
              </a:rPr>
              <a:t>c</a:t>
            </a:r>
            <a:r>
              <a:rPr sz="2812" b="1" dirty="0">
                <a:latin typeface="Gill Sans"/>
                <a:cs typeface="Gill Sans"/>
              </a:rPr>
              <a:t>e</a:t>
            </a:r>
            <a:r>
              <a:rPr sz="2812" b="1" spc="-4" dirty="0">
                <a:latin typeface="Gill Sans"/>
                <a:cs typeface="Gill Sans"/>
              </a:rPr>
              <a:t> </a:t>
            </a:r>
            <a:r>
              <a:rPr sz="2812" b="1" spc="21" dirty="0">
                <a:latin typeface="Gill Sans"/>
                <a:cs typeface="Gill Sans"/>
              </a:rPr>
              <a:t>a</a:t>
            </a:r>
            <a:r>
              <a:rPr sz="2812" b="1" spc="-4" dirty="0">
                <a:latin typeface="Gill Sans"/>
                <a:cs typeface="Gill Sans"/>
              </a:rPr>
              <a:t>n</a:t>
            </a:r>
            <a:r>
              <a:rPr sz="2812" b="1" dirty="0">
                <a:latin typeface="Gill Sans"/>
                <a:cs typeface="Gill Sans"/>
              </a:rPr>
              <a:t>d</a:t>
            </a:r>
            <a:r>
              <a:rPr sz="2812" b="1" spc="-4" dirty="0">
                <a:latin typeface="Gill Sans"/>
                <a:cs typeface="Gill Sans"/>
              </a:rPr>
              <a:t> </a:t>
            </a:r>
            <a:r>
              <a:rPr sz="2812" b="1" spc="-25" dirty="0">
                <a:latin typeface="Gill Sans"/>
                <a:cs typeface="Gill Sans"/>
              </a:rPr>
              <a:t>D</a:t>
            </a:r>
            <a:r>
              <a:rPr sz="2812" b="1" spc="21" dirty="0">
                <a:latin typeface="Gill Sans"/>
                <a:cs typeface="Gill Sans"/>
              </a:rPr>
              <a:t>a</a:t>
            </a:r>
            <a:r>
              <a:rPr sz="2812" b="1" dirty="0">
                <a:latin typeface="Gill Sans"/>
                <a:cs typeface="Gill Sans"/>
              </a:rPr>
              <a:t>rwin</a:t>
            </a:r>
            <a:endParaRPr sz="2812">
              <a:latin typeface="Gill Sans"/>
              <a:cs typeface="Gill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594" y="5508446"/>
            <a:ext cx="3966121" cy="10259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1969"/>
              </a:lnSpc>
            </a:pPr>
            <a:r>
              <a:rPr sz="1687" b="1" spc="-70" dirty="0">
                <a:latin typeface="Gill Sans"/>
                <a:cs typeface="Gill Sans"/>
              </a:rPr>
              <a:t>W</a:t>
            </a:r>
            <a:r>
              <a:rPr sz="1687" b="1" spc="-11" dirty="0">
                <a:latin typeface="Gill Sans"/>
                <a:cs typeface="Gill Sans"/>
              </a:rPr>
              <a:t>a</a:t>
            </a:r>
            <a:r>
              <a:rPr sz="1687" b="1" dirty="0">
                <a:latin typeface="Gill Sans"/>
                <a:cs typeface="Gill Sans"/>
              </a:rPr>
              <a:t>ll</a:t>
            </a:r>
            <a:r>
              <a:rPr sz="1687" b="1" spc="-11" dirty="0">
                <a:latin typeface="Gill Sans"/>
                <a:cs typeface="Gill Sans"/>
              </a:rPr>
              <a:t>a</a:t>
            </a:r>
            <a:r>
              <a:rPr sz="1687" b="1" dirty="0">
                <a:latin typeface="Gill Sans"/>
                <a:cs typeface="Gill Sans"/>
              </a:rPr>
              <a:t>ce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spc="-7" dirty="0">
                <a:latin typeface="Gill Sans"/>
                <a:cs typeface="Gill Sans"/>
              </a:rPr>
              <a:t>(</a:t>
            </a:r>
            <a:r>
              <a:rPr sz="1687" b="1" dirty="0">
                <a:latin typeface="Gill Sans"/>
                <a:cs typeface="Gill Sans"/>
              </a:rPr>
              <a:t>1855</a:t>
            </a:r>
            <a:r>
              <a:rPr sz="1687" b="1" spc="-7" dirty="0">
                <a:latin typeface="Gill Sans"/>
                <a:cs typeface="Gill Sans"/>
              </a:rPr>
              <a:t>):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spc="-11" dirty="0">
                <a:latin typeface="Gill Sans"/>
                <a:cs typeface="Gill Sans"/>
              </a:rPr>
              <a:t>“E</a:t>
            </a:r>
            <a:r>
              <a:rPr sz="1687" b="1" spc="-35" dirty="0">
                <a:latin typeface="Gill Sans"/>
                <a:cs typeface="Gill Sans"/>
              </a:rPr>
              <a:t>v</a:t>
            </a:r>
            <a:r>
              <a:rPr sz="1687" b="1" dirty="0">
                <a:latin typeface="Gill Sans"/>
                <a:cs typeface="Gill Sans"/>
              </a:rPr>
              <a:t>ery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spc="-11" dirty="0">
                <a:latin typeface="Gill Sans"/>
                <a:cs typeface="Gill Sans"/>
              </a:rPr>
              <a:t>s</a:t>
            </a:r>
            <a:r>
              <a:rPr sz="1687" b="1" dirty="0">
                <a:latin typeface="Gill Sans"/>
                <a:cs typeface="Gill Sans"/>
              </a:rPr>
              <a:t>pecie</a:t>
            </a:r>
            <a:r>
              <a:rPr sz="1687" b="1" spc="-11" dirty="0">
                <a:latin typeface="Gill Sans"/>
                <a:cs typeface="Gill Sans"/>
              </a:rPr>
              <a:t>s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dirty="0">
                <a:latin typeface="Gill Sans"/>
                <a:cs typeface="Gill Sans"/>
              </a:rPr>
              <a:t>h</a:t>
            </a:r>
            <a:r>
              <a:rPr sz="1687" b="1" spc="-11" dirty="0">
                <a:latin typeface="Gill Sans"/>
                <a:cs typeface="Gill Sans"/>
              </a:rPr>
              <a:t>as</a:t>
            </a:r>
            <a:r>
              <a:rPr sz="1687" b="1" spc="-7" dirty="0">
                <a:latin typeface="Gill Sans"/>
                <a:cs typeface="Gill Sans"/>
              </a:rPr>
              <a:t> </a:t>
            </a:r>
            <a:r>
              <a:rPr sz="1687" b="1" spc="-4" dirty="0">
                <a:latin typeface="Gill Sans"/>
                <a:cs typeface="Gill Sans"/>
              </a:rPr>
              <a:t>com</a:t>
            </a:r>
            <a:r>
              <a:rPr sz="1687" b="1" dirty="0">
                <a:latin typeface="Gill Sans"/>
                <a:cs typeface="Gill Sans"/>
              </a:rPr>
              <a:t>e </a:t>
            </a:r>
            <a:r>
              <a:rPr sz="1687" b="1" spc="-4" dirty="0">
                <a:latin typeface="Gill Sans"/>
                <a:cs typeface="Gill Sans"/>
              </a:rPr>
              <a:t>int</a:t>
            </a:r>
            <a:r>
              <a:rPr sz="1687" b="1" dirty="0">
                <a:latin typeface="Gill Sans"/>
                <a:cs typeface="Gill Sans"/>
              </a:rPr>
              <a:t>o </a:t>
            </a:r>
            <a:r>
              <a:rPr sz="1687" b="1" spc="-4" dirty="0">
                <a:latin typeface="Gill Sans"/>
                <a:cs typeface="Gill Sans"/>
              </a:rPr>
              <a:t>existenc</a:t>
            </a:r>
            <a:r>
              <a:rPr sz="1687" b="1" dirty="0">
                <a:latin typeface="Gill Sans"/>
                <a:cs typeface="Gill Sans"/>
              </a:rPr>
              <a:t>e </a:t>
            </a:r>
            <a:r>
              <a:rPr sz="1687" b="1" spc="-4" dirty="0">
                <a:latin typeface="Gill Sans"/>
                <a:cs typeface="Gill Sans"/>
              </a:rPr>
              <a:t>coinciden</a:t>
            </a:r>
            <a:r>
              <a:rPr sz="1687" b="1" dirty="0">
                <a:latin typeface="Gill Sans"/>
                <a:cs typeface="Gill Sans"/>
              </a:rPr>
              <a:t>t</a:t>
            </a:r>
            <a:r>
              <a:rPr sz="1687" b="1" spc="4" dirty="0">
                <a:latin typeface="Gill Sans"/>
                <a:cs typeface="Gill Sans"/>
              </a:rPr>
              <a:t> </a:t>
            </a:r>
            <a:r>
              <a:rPr sz="1687" b="1" spc="-4" dirty="0">
                <a:latin typeface="Gill Sans"/>
                <a:cs typeface="Gill Sans"/>
              </a:rPr>
              <a:t>both </a:t>
            </a:r>
            <a:r>
              <a:rPr sz="1687" b="1" dirty="0">
                <a:latin typeface="Gill Sans"/>
                <a:cs typeface="Gill Sans"/>
              </a:rPr>
              <a:t>in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spc="-11" dirty="0">
                <a:latin typeface="Gill Sans"/>
                <a:cs typeface="Gill Sans"/>
              </a:rPr>
              <a:t>s</a:t>
            </a:r>
            <a:r>
              <a:rPr sz="1687" b="1" dirty="0">
                <a:latin typeface="Gill Sans"/>
                <a:cs typeface="Gill Sans"/>
              </a:rPr>
              <a:t>p</a:t>
            </a:r>
            <a:r>
              <a:rPr sz="1687" b="1" spc="-11" dirty="0">
                <a:latin typeface="Gill Sans"/>
                <a:cs typeface="Gill Sans"/>
              </a:rPr>
              <a:t>a</a:t>
            </a:r>
            <a:r>
              <a:rPr sz="1687" b="1" dirty="0">
                <a:latin typeface="Gill Sans"/>
                <a:cs typeface="Gill Sans"/>
              </a:rPr>
              <a:t>ce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spc="11" dirty="0">
                <a:latin typeface="Gill Sans"/>
                <a:cs typeface="Gill Sans"/>
              </a:rPr>
              <a:t>a</a:t>
            </a:r>
            <a:r>
              <a:rPr sz="1687" b="1" dirty="0">
                <a:latin typeface="Gill Sans"/>
                <a:cs typeface="Gill Sans"/>
              </a:rPr>
              <a:t>nd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dirty="0">
                <a:latin typeface="Gill Sans"/>
                <a:cs typeface="Gill Sans"/>
              </a:rPr>
              <a:t>time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dirty="0">
                <a:latin typeface="Gill Sans"/>
                <a:cs typeface="Gill Sans"/>
              </a:rPr>
              <a:t>with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spc="-11" dirty="0">
                <a:latin typeface="Gill Sans"/>
                <a:cs typeface="Gill Sans"/>
              </a:rPr>
              <a:t>a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dirty="0">
                <a:latin typeface="Gill Sans"/>
                <a:cs typeface="Gill Sans"/>
              </a:rPr>
              <a:t>p</a:t>
            </a:r>
            <a:r>
              <a:rPr sz="1687" b="1" spc="-74" dirty="0">
                <a:latin typeface="Gill Sans"/>
                <a:cs typeface="Gill Sans"/>
              </a:rPr>
              <a:t>r</a:t>
            </a:r>
            <a:r>
              <a:rPr sz="1687" b="1" dirty="0">
                <a:latin typeface="Gill Sans"/>
                <a:cs typeface="Gill Sans"/>
              </a:rPr>
              <a:t>e- exi</a:t>
            </a:r>
            <a:r>
              <a:rPr sz="1687" b="1" spc="-11" dirty="0">
                <a:latin typeface="Gill Sans"/>
                <a:cs typeface="Gill Sans"/>
              </a:rPr>
              <a:t>s</a:t>
            </a:r>
            <a:r>
              <a:rPr sz="1687" b="1" dirty="0">
                <a:latin typeface="Gill Sans"/>
                <a:cs typeface="Gill Sans"/>
              </a:rPr>
              <a:t>tin</a:t>
            </a:r>
            <a:r>
              <a:rPr sz="1687" b="1" spc="-11" dirty="0">
                <a:latin typeface="Gill Sans"/>
                <a:cs typeface="Gill Sans"/>
              </a:rPr>
              <a:t>g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dirty="0">
                <a:latin typeface="Gill Sans"/>
                <a:cs typeface="Gill Sans"/>
              </a:rPr>
              <a:t>c</a:t>
            </a:r>
            <a:r>
              <a:rPr sz="1687" b="1" spc="-25" dirty="0">
                <a:latin typeface="Gill Sans"/>
                <a:cs typeface="Gill Sans"/>
              </a:rPr>
              <a:t>l</a:t>
            </a:r>
            <a:r>
              <a:rPr sz="1687" b="1" dirty="0">
                <a:latin typeface="Gill Sans"/>
                <a:cs typeface="Gill Sans"/>
              </a:rPr>
              <a:t>o</a:t>
            </a:r>
            <a:r>
              <a:rPr sz="1687" b="1" spc="-11" dirty="0">
                <a:latin typeface="Gill Sans"/>
                <a:cs typeface="Gill Sans"/>
              </a:rPr>
              <a:t>s</a:t>
            </a:r>
            <a:r>
              <a:rPr sz="1687" b="1" dirty="0">
                <a:latin typeface="Gill Sans"/>
                <a:cs typeface="Gill Sans"/>
              </a:rPr>
              <a:t>ely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spc="-11" dirty="0">
                <a:latin typeface="Gill Sans"/>
                <a:cs typeface="Gill Sans"/>
              </a:rPr>
              <a:t>a</a:t>
            </a:r>
            <a:r>
              <a:rPr sz="1687" b="1" dirty="0">
                <a:latin typeface="Gill Sans"/>
                <a:cs typeface="Gill Sans"/>
              </a:rPr>
              <a:t>llied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spc="-11" dirty="0">
                <a:latin typeface="Gill Sans"/>
                <a:cs typeface="Gill Sans"/>
              </a:rPr>
              <a:t>s</a:t>
            </a:r>
            <a:r>
              <a:rPr sz="1687" b="1" dirty="0">
                <a:latin typeface="Gill Sans"/>
                <a:cs typeface="Gill Sans"/>
              </a:rPr>
              <a:t>pecie</a:t>
            </a:r>
            <a:r>
              <a:rPr sz="1687" b="1" spc="-7" dirty="0">
                <a:latin typeface="Gill Sans"/>
                <a:cs typeface="Gill Sans"/>
              </a:rPr>
              <a:t>s.</a:t>
            </a:r>
            <a:r>
              <a:rPr sz="1687" b="1" dirty="0">
                <a:latin typeface="Gill Sans"/>
                <a:cs typeface="Gill Sans"/>
              </a:rPr>
              <a:t>”</a:t>
            </a:r>
            <a:endParaRPr sz="1687">
              <a:latin typeface="Gill Sans"/>
              <a:cs typeface="Gill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1266" y="5508446"/>
            <a:ext cx="3991124" cy="10259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>
              <a:lnSpc>
                <a:spcPts val="1969"/>
              </a:lnSpc>
            </a:pPr>
            <a:r>
              <a:rPr sz="1687" b="1" spc="-14" dirty="0">
                <a:latin typeface="Gill Sans"/>
                <a:cs typeface="Gill Sans"/>
              </a:rPr>
              <a:t>D</a:t>
            </a:r>
            <a:r>
              <a:rPr sz="1687" b="1" spc="11" dirty="0">
                <a:latin typeface="Gill Sans"/>
                <a:cs typeface="Gill Sans"/>
              </a:rPr>
              <a:t>a</a:t>
            </a:r>
            <a:r>
              <a:rPr sz="1687" b="1" dirty="0">
                <a:latin typeface="Gill Sans"/>
                <a:cs typeface="Gill Sans"/>
              </a:rPr>
              <a:t>rwin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spc="-7" dirty="0">
                <a:latin typeface="Gill Sans"/>
                <a:cs typeface="Gill Sans"/>
              </a:rPr>
              <a:t>(</a:t>
            </a:r>
            <a:r>
              <a:rPr sz="1687" b="1" dirty="0">
                <a:latin typeface="Gill Sans"/>
                <a:cs typeface="Gill Sans"/>
              </a:rPr>
              <a:t>1859</a:t>
            </a:r>
            <a:r>
              <a:rPr sz="1687" b="1" spc="-7" dirty="0">
                <a:latin typeface="Gill Sans"/>
                <a:cs typeface="Gill Sans"/>
              </a:rPr>
              <a:t>):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dirty="0">
                <a:latin typeface="Gill Sans"/>
                <a:cs typeface="Gill Sans"/>
              </a:rPr>
              <a:t>“the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dirty="0">
                <a:latin typeface="Gill Sans"/>
                <a:cs typeface="Gill Sans"/>
              </a:rPr>
              <a:t>mo</a:t>
            </a:r>
            <a:r>
              <a:rPr sz="1687" b="1" spc="-74" dirty="0">
                <a:latin typeface="Gill Sans"/>
                <a:cs typeface="Gill Sans"/>
              </a:rPr>
              <a:t>r</a:t>
            </a:r>
            <a:r>
              <a:rPr sz="1687" b="1" dirty="0">
                <a:latin typeface="Gill Sans"/>
                <a:cs typeface="Gill Sans"/>
              </a:rPr>
              <a:t>e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dirty="0">
                <a:latin typeface="Gill Sans"/>
                <a:cs typeface="Gill Sans"/>
              </a:rPr>
              <a:t>ne</a:t>
            </a:r>
            <a:r>
              <a:rPr sz="1687" b="1" spc="11" dirty="0">
                <a:latin typeface="Gill Sans"/>
                <a:cs typeface="Gill Sans"/>
              </a:rPr>
              <a:t>a</a:t>
            </a:r>
            <a:r>
              <a:rPr sz="1687" b="1" spc="-25" dirty="0">
                <a:latin typeface="Gill Sans"/>
                <a:cs typeface="Gill Sans"/>
              </a:rPr>
              <a:t>r</a:t>
            </a:r>
            <a:r>
              <a:rPr sz="1687" b="1" dirty="0">
                <a:latin typeface="Gill Sans"/>
                <a:cs typeface="Gill Sans"/>
              </a:rPr>
              <a:t>ly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spc="11" dirty="0">
                <a:latin typeface="Gill Sans"/>
                <a:cs typeface="Gill Sans"/>
              </a:rPr>
              <a:t>a</a:t>
            </a:r>
            <a:r>
              <a:rPr sz="1687" b="1" dirty="0">
                <a:latin typeface="Gill Sans"/>
                <a:cs typeface="Gill Sans"/>
              </a:rPr>
              <a:t>ny t</a:t>
            </a:r>
            <a:r>
              <a:rPr sz="1687" b="1" spc="-25" dirty="0">
                <a:latin typeface="Gill Sans"/>
                <a:cs typeface="Gill Sans"/>
              </a:rPr>
              <a:t>w</a:t>
            </a:r>
            <a:r>
              <a:rPr sz="1687" b="1" dirty="0">
                <a:latin typeface="Gill Sans"/>
                <a:cs typeface="Gill Sans"/>
              </a:rPr>
              <a:t>o </a:t>
            </a:r>
            <a:r>
              <a:rPr sz="1687" b="1" spc="-4" dirty="0">
                <a:latin typeface="Gill Sans"/>
                <a:cs typeface="Gill Sans"/>
              </a:rPr>
              <a:t>form</a:t>
            </a:r>
            <a:r>
              <a:rPr sz="1687" b="1" dirty="0">
                <a:latin typeface="Gill Sans"/>
                <a:cs typeface="Gill Sans"/>
              </a:rPr>
              <a:t>s </a:t>
            </a:r>
            <a:r>
              <a:rPr sz="1687" b="1" spc="11" dirty="0">
                <a:latin typeface="Gill Sans"/>
                <a:cs typeface="Gill Sans"/>
              </a:rPr>
              <a:t>a</a:t>
            </a:r>
            <a:r>
              <a:rPr sz="1687" b="1" spc="-74" dirty="0">
                <a:latin typeface="Gill Sans"/>
                <a:cs typeface="Gill Sans"/>
              </a:rPr>
              <a:t>r</a:t>
            </a:r>
            <a:r>
              <a:rPr sz="1687" b="1" dirty="0">
                <a:latin typeface="Gill Sans"/>
                <a:cs typeface="Gill Sans"/>
              </a:rPr>
              <a:t>e </a:t>
            </a:r>
            <a:r>
              <a:rPr sz="1687" b="1" spc="-74" dirty="0">
                <a:latin typeface="Gill Sans"/>
                <a:cs typeface="Gill Sans"/>
              </a:rPr>
              <a:t>r</a:t>
            </a:r>
            <a:r>
              <a:rPr sz="1687" b="1" spc="-4" dirty="0">
                <a:latin typeface="Gill Sans"/>
                <a:cs typeface="Gill Sans"/>
              </a:rPr>
              <a:t>elate</a:t>
            </a:r>
            <a:r>
              <a:rPr sz="1687" b="1" dirty="0">
                <a:latin typeface="Gill Sans"/>
                <a:cs typeface="Gill Sans"/>
              </a:rPr>
              <a:t>d </a:t>
            </a:r>
            <a:r>
              <a:rPr sz="1687" b="1" spc="-4" dirty="0">
                <a:latin typeface="Gill Sans"/>
                <a:cs typeface="Gill Sans"/>
              </a:rPr>
              <a:t>i</a:t>
            </a:r>
            <a:r>
              <a:rPr sz="1687" b="1" dirty="0">
                <a:latin typeface="Gill Sans"/>
                <a:cs typeface="Gill Sans"/>
              </a:rPr>
              <a:t>n </a:t>
            </a:r>
            <a:r>
              <a:rPr sz="1687" b="1" spc="-25" dirty="0">
                <a:latin typeface="Gill Sans"/>
                <a:cs typeface="Gill Sans"/>
              </a:rPr>
              <a:t>bl</a:t>
            </a:r>
            <a:r>
              <a:rPr sz="1687" b="1" spc="-4" dirty="0">
                <a:latin typeface="Gill Sans"/>
                <a:cs typeface="Gill Sans"/>
              </a:rPr>
              <a:t>ood</a:t>
            </a:r>
            <a:r>
              <a:rPr sz="1687" b="1" dirty="0">
                <a:latin typeface="Gill Sans"/>
                <a:cs typeface="Gill Sans"/>
              </a:rPr>
              <a:t>, </a:t>
            </a:r>
            <a:r>
              <a:rPr sz="1687" b="1" spc="-4" dirty="0">
                <a:latin typeface="Gill Sans"/>
                <a:cs typeface="Gill Sans"/>
              </a:rPr>
              <a:t>the </a:t>
            </a:r>
            <a:r>
              <a:rPr sz="1687" b="1" dirty="0">
                <a:latin typeface="Gill Sans"/>
                <a:cs typeface="Gill Sans"/>
              </a:rPr>
              <a:t>ne</a:t>
            </a:r>
            <a:r>
              <a:rPr sz="1687" b="1" spc="11" dirty="0">
                <a:latin typeface="Gill Sans"/>
                <a:cs typeface="Gill Sans"/>
              </a:rPr>
              <a:t>a</a:t>
            </a:r>
            <a:r>
              <a:rPr sz="1687" b="1" spc="-74" dirty="0">
                <a:latin typeface="Gill Sans"/>
                <a:cs typeface="Gill Sans"/>
              </a:rPr>
              <a:t>r</a:t>
            </a:r>
            <a:r>
              <a:rPr sz="1687" b="1" dirty="0">
                <a:latin typeface="Gill Sans"/>
                <a:cs typeface="Gill Sans"/>
              </a:rPr>
              <a:t>er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dirty="0">
                <a:latin typeface="Gill Sans"/>
                <a:cs typeface="Gill Sans"/>
              </a:rPr>
              <a:t>they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dirty="0">
                <a:latin typeface="Gill Sans"/>
                <a:cs typeface="Gill Sans"/>
              </a:rPr>
              <a:t>will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dirty="0">
                <a:latin typeface="Gill Sans"/>
                <a:cs typeface="Gill Sans"/>
              </a:rPr>
              <a:t>gene</a:t>
            </a:r>
            <a:r>
              <a:rPr sz="1687" b="1" spc="-25" dirty="0">
                <a:latin typeface="Gill Sans"/>
                <a:cs typeface="Gill Sans"/>
              </a:rPr>
              <a:t>r</a:t>
            </a:r>
            <a:r>
              <a:rPr sz="1687" b="1" spc="-11" dirty="0">
                <a:latin typeface="Gill Sans"/>
                <a:cs typeface="Gill Sans"/>
              </a:rPr>
              <a:t>a</a:t>
            </a:r>
            <a:r>
              <a:rPr sz="1687" b="1" dirty="0">
                <a:latin typeface="Gill Sans"/>
                <a:cs typeface="Gill Sans"/>
              </a:rPr>
              <a:t>lly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spc="-11" dirty="0">
                <a:latin typeface="Gill Sans"/>
                <a:cs typeface="Gill Sans"/>
              </a:rPr>
              <a:t>s</a:t>
            </a:r>
            <a:r>
              <a:rPr sz="1687" b="1" dirty="0">
                <a:latin typeface="Gill Sans"/>
                <a:cs typeface="Gill Sans"/>
              </a:rPr>
              <a:t>t</a:t>
            </a:r>
            <a:r>
              <a:rPr sz="1687" b="1" spc="11" dirty="0">
                <a:latin typeface="Gill Sans"/>
                <a:cs typeface="Gill Sans"/>
              </a:rPr>
              <a:t>a</a:t>
            </a:r>
            <a:r>
              <a:rPr sz="1687" b="1" dirty="0">
                <a:latin typeface="Gill Sans"/>
                <a:cs typeface="Gill Sans"/>
              </a:rPr>
              <a:t>nd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dirty="0">
                <a:latin typeface="Gill Sans"/>
                <a:cs typeface="Gill Sans"/>
              </a:rPr>
              <a:t>to e</a:t>
            </a:r>
            <a:r>
              <a:rPr sz="1687" b="1" spc="-11" dirty="0">
                <a:latin typeface="Gill Sans"/>
                <a:cs typeface="Gill Sans"/>
              </a:rPr>
              <a:t>a</a:t>
            </a:r>
            <a:r>
              <a:rPr sz="1687" b="1" dirty="0">
                <a:latin typeface="Gill Sans"/>
                <a:cs typeface="Gill Sans"/>
              </a:rPr>
              <a:t>ch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dirty="0">
                <a:latin typeface="Gill Sans"/>
                <a:cs typeface="Gill Sans"/>
              </a:rPr>
              <a:t>other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dirty="0">
                <a:latin typeface="Gill Sans"/>
                <a:cs typeface="Gill Sans"/>
              </a:rPr>
              <a:t>in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dirty="0">
                <a:latin typeface="Gill Sans"/>
                <a:cs typeface="Gill Sans"/>
              </a:rPr>
              <a:t>time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spc="11" dirty="0">
                <a:latin typeface="Gill Sans"/>
                <a:cs typeface="Gill Sans"/>
              </a:rPr>
              <a:t>a</a:t>
            </a:r>
            <a:r>
              <a:rPr sz="1687" b="1" dirty="0">
                <a:latin typeface="Gill Sans"/>
                <a:cs typeface="Gill Sans"/>
              </a:rPr>
              <a:t>nd</a:t>
            </a:r>
            <a:r>
              <a:rPr sz="1687" b="1" spc="-4" dirty="0">
                <a:latin typeface="Gill Sans"/>
                <a:cs typeface="Gill Sans"/>
              </a:rPr>
              <a:t> </a:t>
            </a:r>
            <a:r>
              <a:rPr sz="1687" b="1" spc="-11" dirty="0">
                <a:latin typeface="Gill Sans"/>
                <a:cs typeface="Gill Sans"/>
              </a:rPr>
              <a:t>s</a:t>
            </a:r>
            <a:r>
              <a:rPr sz="1687" b="1" dirty="0">
                <a:latin typeface="Gill Sans"/>
                <a:cs typeface="Gill Sans"/>
              </a:rPr>
              <a:t>p</a:t>
            </a:r>
            <a:r>
              <a:rPr sz="1687" b="1" spc="-11" dirty="0">
                <a:latin typeface="Gill Sans"/>
                <a:cs typeface="Gill Sans"/>
              </a:rPr>
              <a:t>a</a:t>
            </a:r>
            <a:r>
              <a:rPr sz="1687" b="1" dirty="0">
                <a:latin typeface="Gill Sans"/>
                <a:cs typeface="Gill Sans"/>
              </a:rPr>
              <a:t>ce</a:t>
            </a:r>
            <a:r>
              <a:rPr sz="1687" b="1" spc="-11" dirty="0">
                <a:latin typeface="Gill Sans"/>
                <a:cs typeface="Gill Sans"/>
              </a:rPr>
              <a:t>”.</a:t>
            </a:r>
            <a:endParaRPr sz="1687">
              <a:latin typeface="Gill Sans"/>
              <a:cs typeface="Gill Sa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73365" y="924257"/>
            <a:ext cx="3760214" cy="41700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730449" y="721097"/>
            <a:ext cx="2803054" cy="45764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133946" y="267891"/>
            <a:ext cx="8538121" cy="4327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812" dirty="0">
                <a:latin typeface="Calibri"/>
                <a:cs typeface="Calibri"/>
              </a:rPr>
              <a:t>Th</a:t>
            </a:r>
            <a:r>
              <a:rPr sz="2812" spc="-14" dirty="0">
                <a:latin typeface="Calibri"/>
                <a:cs typeface="Calibri"/>
              </a:rPr>
              <a:t>e “</a:t>
            </a:r>
            <a:r>
              <a:rPr sz="2812" spc="-4" dirty="0">
                <a:latin typeface="Calibri"/>
                <a:cs typeface="Calibri"/>
              </a:rPr>
              <a:t>+</a:t>
            </a:r>
            <a:r>
              <a:rPr sz="2812" spc="67" dirty="0">
                <a:latin typeface="Calibri"/>
                <a:cs typeface="Calibri"/>
              </a:rPr>
              <a:t>x</a:t>
            </a:r>
            <a:r>
              <a:rPr sz="2812" dirty="0">
                <a:latin typeface="Calibri"/>
                <a:cs typeface="Calibri"/>
              </a:rPr>
              <a:t>” </a:t>
            </a:r>
            <a:r>
              <a:rPr sz="2812" spc="-28" dirty="0">
                <a:latin typeface="Calibri"/>
                <a:cs typeface="Calibri"/>
              </a:rPr>
              <a:t>m</a:t>
            </a:r>
            <a:r>
              <a:rPr sz="2812" spc="-4" dirty="0">
                <a:latin typeface="Calibri"/>
                <a:cs typeface="Calibri"/>
              </a:rPr>
              <a:t>o</a:t>
            </a:r>
            <a:r>
              <a:rPr sz="2812" dirty="0">
                <a:latin typeface="Calibri"/>
                <a:cs typeface="Calibri"/>
              </a:rPr>
              <a:t>d</a:t>
            </a:r>
            <a:r>
              <a:rPr sz="2812" spc="-14" dirty="0">
                <a:latin typeface="Calibri"/>
                <a:cs typeface="Calibri"/>
              </a:rPr>
              <a:t>e</a:t>
            </a:r>
            <a:r>
              <a:rPr sz="2812" dirty="0">
                <a:latin typeface="Calibri"/>
                <a:cs typeface="Calibri"/>
              </a:rPr>
              <a:t>l</a:t>
            </a:r>
            <a:r>
              <a:rPr sz="2812" spc="-11" dirty="0">
                <a:latin typeface="Calibri"/>
                <a:cs typeface="Calibri"/>
              </a:rPr>
              <a:t>:</a:t>
            </a:r>
            <a:r>
              <a:rPr sz="2812" dirty="0">
                <a:latin typeface="Calibri"/>
                <a:cs typeface="Calibri"/>
              </a:rPr>
              <a:t> </a:t>
            </a:r>
            <a:r>
              <a:rPr sz="2812" spc="-28" dirty="0">
                <a:latin typeface="Calibri"/>
                <a:cs typeface="Calibri"/>
              </a:rPr>
              <a:t>m</a:t>
            </a:r>
            <a:r>
              <a:rPr sz="2812" spc="-4" dirty="0">
                <a:latin typeface="Calibri"/>
                <a:cs typeface="Calibri"/>
              </a:rPr>
              <a:t>o</a:t>
            </a:r>
            <a:r>
              <a:rPr sz="2812" dirty="0">
                <a:latin typeface="Calibri"/>
                <a:cs typeface="Calibri"/>
              </a:rPr>
              <a:t>di</a:t>
            </a:r>
            <a:r>
              <a:rPr sz="2812" spc="11" dirty="0">
                <a:latin typeface="Calibri"/>
                <a:cs typeface="Calibri"/>
              </a:rPr>
              <a:t>f</a:t>
            </a:r>
            <a:r>
              <a:rPr sz="2812" spc="-14" dirty="0">
                <a:latin typeface="Calibri"/>
                <a:cs typeface="Calibri"/>
              </a:rPr>
              <a:t>y</a:t>
            </a:r>
            <a:r>
              <a:rPr sz="2812" dirty="0">
                <a:latin typeface="Calibri"/>
                <a:cs typeface="Calibri"/>
              </a:rPr>
              <a:t> disp</a:t>
            </a:r>
            <a:r>
              <a:rPr sz="2812" spc="-14" dirty="0">
                <a:latin typeface="Calibri"/>
                <a:cs typeface="Calibri"/>
              </a:rPr>
              <a:t>e</a:t>
            </a:r>
            <a:r>
              <a:rPr sz="2812" spc="-60" dirty="0">
                <a:latin typeface="Calibri"/>
                <a:cs typeface="Calibri"/>
              </a:rPr>
              <a:t>r</a:t>
            </a:r>
            <a:r>
              <a:rPr sz="2812" dirty="0">
                <a:latin typeface="Calibri"/>
                <a:cs typeface="Calibri"/>
              </a:rPr>
              <a:t>sal p</a:t>
            </a:r>
            <a:r>
              <a:rPr sz="2812" spc="-56" dirty="0">
                <a:latin typeface="Calibri"/>
                <a:cs typeface="Calibri"/>
              </a:rPr>
              <a:t>r</a:t>
            </a:r>
            <a:r>
              <a:rPr sz="2812" spc="-4" dirty="0">
                <a:latin typeface="Calibri"/>
                <a:cs typeface="Calibri"/>
              </a:rPr>
              <a:t>o</a:t>
            </a:r>
            <a:r>
              <a:rPr sz="2812" dirty="0">
                <a:latin typeface="Calibri"/>
                <a:cs typeface="Calibri"/>
              </a:rPr>
              <a:t>babili</a:t>
            </a:r>
            <a:r>
              <a:rPr sz="2812" spc="-14" dirty="0">
                <a:latin typeface="Calibri"/>
                <a:cs typeface="Calibri"/>
              </a:rPr>
              <a:t>ty</a:t>
            </a:r>
            <a:r>
              <a:rPr sz="2812" dirty="0">
                <a:latin typeface="Calibri"/>
                <a:cs typeface="Calibri"/>
              </a:rPr>
              <a:t> </a:t>
            </a:r>
            <a:r>
              <a:rPr sz="2812" spc="-14" dirty="0">
                <a:latin typeface="Calibri"/>
                <a:cs typeface="Calibri"/>
              </a:rPr>
              <a:t>by</a:t>
            </a:r>
            <a:r>
              <a:rPr sz="2812" dirty="0">
                <a:latin typeface="Calibri"/>
                <a:cs typeface="Calibri"/>
              </a:rPr>
              <a:t> di</a:t>
            </a:r>
            <a:r>
              <a:rPr sz="2812" spc="-32" dirty="0">
                <a:latin typeface="Calibri"/>
                <a:cs typeface="Calibri"/>
              </a:rPr>
              <a:t>s</a:t>
            </a:r>
            <a:r>
              <a:rPr sz="2812" spc="-46" dirty="0">
                <a:latin typeface="Calibri"/>
                <a:cs typeface="Calibri"/>
              </a:rPr>
              <a:t>t</a:t>
            </a:r>
            <a:r>
              <a:rPr sz="2812" dirty="0">
                <a:latin typeface="Calibri"/>
                <a:cs typeface="Calibri"/>
              </a:rPr>
              <a:t>an</a:t>
            </a:r>
            <a:r>
              <a:rPr sz="2812" spc="-14" dirty="0">
                <a:latin typeface="Calibri"/>
                <a:cs typeface="Calibri"/>
              </a:rPr>
              <a:t>ce</a:t>
            </a:r>
            <a:r>
              <a:rPr sz="2812" spc="-4" dirty="0">
                <a:latin typeface="Calibri"/>
                <a:cs typeface="Calibri"/>
              </a:rPr>
              <a:t>^</a:t>
            </a:r>
            <a:r>
              <a:rPr sz="2812" i="1" dirty="0">
                <a:latin typeface="Calibri"/>
                <a:cs typeface="Calibri"/>
              </a:rPr>
              <a:t>x</a:t>
            </a:r>
            <a:endParaRPr sz="2812">
              <a:latin typeface="Calibri"/>
              <a:cs typeface="Calibri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866180"/>
            <a:ext cx="5715000" cy="5125641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6453" y="250031"/>
            <a:ext cx="428625" cy="4464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857250" y="553640"/>
            <a:ext cx="2696766" cy="15001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47052" y="178150"/>
            <a:ext cx="0" cy="2209205"/>
          </a:xfrm>
          <a:custGeom>
            <a:avLst/>
            <a:gdLst/>
            <a:ahLst/>
            <a:cxnLst/>
            <a:rect l="l" t="t" r="r" b="b"/>
            <a:pathLst>
              <a:path h="3141979">
                <a:moveTo>
                  <a:pt x="0" y="3141369"/>
                </a:moveTo>
                <a:lnTo>
                  <a:pt x="0" y="0"/>
                </a:lnTo>
              </a:path>
            </a:pathLst>
          </a:custGeom>
          <a:ln w="63376">
            <a:solidFill>
              <a:srgbClr val="A3BFA3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24772" y="146957"/>
            <a:ext cx="517029" cy="0"/>
          </a:xfrm>
          <a:custGeom>
            <a:avLst/>
            <a:gdLst/>
            <a:ahLst/>
            <a:cxnLst/>
            <a:rect l="l" t="t" r="r" b="b"/>
            <a:pathLst>
              <a:path w="735330">
                <a:moveTo>
                  <a:pt x="0" y="0"/>
                </a:moveTo>
                <a:lnTo>
                  <a:pt x="735164" y="0"/>
                </a:lnTo>
              </a:path>
            </a:pathLst>
          </a:custGeom>
          <a:ln w="88726">
            <a:solidFill>
              <a:srgbClr val="A3BFA3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15859" y="2409206"/>
            <a:ext cx="525959" cy="0"/>
          </a:xfrm>
          <a:custGeom>
            <a:avLst/>
            <a:gdLst/>
            <a:ahLst/>
            <a:cxnLst/>
            <a:rect l="l" t="t" r="r" b="b"/>
            <a:pathLst>
              <a:path w="748030">
                <a:moveTo>
                  <a:pt x="0" y="0"/>
                </a:moveTo>
                <a:lnTo>
                  <a:pt x="747839" y="0"/>
                </a:lnTo>
              </a:path>
            </a:pathLst>
          </a:custGeom>
          <a:ln w="63376">
            <a:solidFill>
              <a:srgbClr val="A3BFA3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677333" y="115785"/>
            <a:ext cx="0" cy="2315914"/>
          </a:xfrm>
          <a:custGeom>
            <a:avLst/>
            <a:gdLst/>
            <a:ahLst/>
            <a:cxnLst/>
            <a:rect l="l" t="t" r="r" b="b"/>
            <a:pathLst>
              <a:path h="3293745">
                <a:moveTo>
                  <a:pt x="0" y="3293423"/>
                </a:moveTo>
                <a:lnTo>
                  <a:pt x="0" y="0"/>
                </a:lnTo>
              </a:path>
            </a:pathLst>
          </a:custGeom>
          <a:ln w="101401">
            <a:solidFill>
              <a:srgbClr val="A3C3A3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/>
          <p:nvPr/>
        </p:nvSpPr>
        <p:spPr>
          <a:xfrm>
            <a:off x="864491" y="2333501"/>
            <a:ext cx="8155037" cy="0"/>
          </a:xfrm>
          <a:custGeom>
            <a:avLst/>
            <a:gdLst/>
            <a:ahLst/>
            <a:cxnLst/>
            <a:rect l="l" t="t" r="r" b="b"/>
            <a:pathLst>
              <a:path w="11598275">
                <a:moveTo>
                  <a:pt x="0" y="0"/>
                </a:moveTo>
                <a:lnTo>
                  <a:pt x="11597844" y="0"/>
                </a:lnTo>
              </a:path>
            </a:pathLst>
          </a:custGeom>
          <a:ln w="25350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9" name="object 9"/>
          <p:cNvSpPr txBox="1"/>
          <p:nvPr/>
        </p:nvSpPr>
        <p:spPr>
          <a:xfrm>
            <a:off x="864474" y="107672"/>
            <a:ext cx="3462486" cy="173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1090" i="1" spc="-67" dirty="0">
                <a:solidFill>
                  <a:srgbClr val="676470"/>
                </a:solidFill>
                <a:latin typeface="Arial"/>
                <a:cs typeface="Arial"/>
              </a:rPr>
              <a:t>J</a:t>
            </a:r>
            <a:r>
              <a:rPr sz="1090" i="1" spc="-105" dirty="0">
                <a:solidFill>
                  <a:srgbClr val="676470"/>
                </a:solidFill>
                <a:latin typeface="Arial"/>
                <a:cs typeface="Arial"/>
              </a:rPr>
              <a:t>o</a:t>
            </a:r>
            <a:r>
              <a:rPr sz="1090" i="1" spc="-21" dirty="0">
                <a:solidFill>
                  <a:srgbClr val="676470"/>
                </a:solidFill>
                <a:latin typeface="Arial"/>
                <a:cs typeface="Arial"/>
              </a:rPr>
              <a:t>urn</a:t>
            </a:r>
            <a:r>
              <a:rPr sz="1090" i="1" spc="-155" dirty="0">
                <a:solidFill>
                  <a:srgbClr val="676470"/>
                </a:solidFill>
                <a:latin typeface="Arial"/>
                <a:cs typeface="Arial"/>
              </a:rPr>
              <a:t>a</a:t>
            </a:r>
            <a:r>
              <a:rPr sz="1090" i="1" spc="80" dirty="0">
                <a:solidFill>
                  <a:srgbClr val="676470"/>
                </a:solidFill>
                <a:latin typeface="Arial"/>
                <a:cs typeface="Arial"/>
              </a:rPr>
              <a:t>l</a:t>
            </a:r>
            <a:r>
              <a:rPr sz="1090" i="1" spc="74" dirty="0">
                <a:solidFill>
                  <a:srgbClr val="676470"/>
                </a:solidFill>
                <a:latin typeface="Arial"/>
                <a:cs typeface="Arial"/>
              </a:rPr>
              <a:t> </a:t>
            </a:r>
            <a:r>
              <a:rPr sz="1090" i="1" spc="11" dirty="0">
                <a:solidFill>
                  <a:srgbClr val="797480"/>
                </a:solidFill>
                <a:latin typeface="Arial"/>
                <a:cs typeface="Arial"/>
              </a:rPr>
              <a:t>of</a:t>
            </a:r>
            <a:r>
              <a:rPr sz="1090" i="1" spc="14" dirty="0">
                <a:solidFill>
                  <a:srgbClr val="797480"/>
                </a:solidFill>
                <a:latin typeface="Arial"/>
                <a:cs typeface="Arial"/>
              </a:rPr>
              <a:t> </a:t>
            </a:r>
            <a:r>
              <a:rPr sz="1090" i="1" spc="-53" dirty="0">
                <a:solidFill>
                  <a:srgbClr val="676470"/>
                </a:solidFill>
                <a:latin typeface="Arial"/>
                <a:cs typeface="Arial"/>
              </a:rPr>
              <a:t>Biogeog</a:t>
            </a:r>
            <a:r>
              <a:rPr sz="1090" i="1" spc="-49" dirty="0">
                <a:solidFill>
                  <a:srgbClr val="676470"/>
                </a:solidFill>
                <a:latin typeface="Arial"/>
                <a:cs typeface="Arial"/>
              </a:rPr>
              <a:t>r</a:t>
            </a:r>
            <a:r>
              <a:rPr sz="1090" i="1" spc="-7" dirty="0">
                <a:solidFill>
                  <a:srgbClr val="676470"/>
                </a:solidFill>
                <a:latin typeface="Arial"/>
                <a:cs typeface="Arial"/>
              </a:rPr>
              <a:t>ap</a:t>
            </a:r>
            <a:r>
              <a:rPr sz="1090" i="1" spc="-123" dirty="0">
                <a:solidFill>
                  <a:srgbClr val="676470"/>
                </a:solidFill>
                <a:latin typeface="Arial"/>
                <a:cs typeface="Arial"/>
              </a:rPr>
              <a:t>h</a:t>
            </a:r>
            <a:r>
              <a:rPr sz="1090" i="1" spc="4" dirty="0">
                <a:solidFill>
                  <a:srgbClr val="676470"/>
                </a:solidFill>
                <a:latin typeface="Arial"/>
                <a:cs typeface="Arial"/>
              </a:rPr>
              <a:t>y</a:t>
            </a:r>
            <a:r>
              <a:rPr sz="1090" i="1" spc="56" dirty="0">
                <a:solidFill>
                  <a:srgbClr val="676470"/>
                </a:solidFill>
                <a:latin typeface="Arial"/>
                <a:cs typeface="Arial"/>
              </a:rPr>
              <a:t> </a:t>
            </a:r>
            <a:r>
              <a:rPr sz="1090" spc="-28" dirty="0">
                <a:solidFill>
                  <a:srgbClr val="797480"/>
                </a:solidFill>
                <a:latin typeface="Times New Roman"/>
                <a:cs typeface="Times New Roman"/>
              </a:rPr>
              <a:t>(</a:t>
            </a:r>
            <a:r>
              <a:rPr sz="1090" spc="-63" dirty="0">
                <a:solidFill>
                  <a:srgbClr val="797480"/>
                </a:solidFill>
                <a:latin typeface="Times New Roman"/>
                <a:cs typeface="Times New Roman"/>
              </a:rPr>
              <a:t>J</a:t>
            </a:r>
            <a:r>
              <a:rPr sz="1090" spc="46" dirty="0">
                <a:solidFill>
                  <a:srgbClr val="797480"/>
                </a:solidFill>
                <a:latin typeface="Times New Roman"/>
                <a:cs typeface="Times New Roman"/>
              </a:rPr>
              <a:t>.</a:t>
            </a:r>
            <a:r>
              <a:rPr sz="1090" spc="39" dirty="0">
                <a:solidFill>
                  <a:srgbClr val="797480"/>
                </a:solidFill>
                <a:latin typeface="Times New Roman"/>
                <a:cs typeface="Times New Roman"/>
              </a:rPr>
              <a:t> </a:t>
            </a:r>
            <a:r>
              <a:rPr sz="1090" i="1" spc="-49" dirty="0">
                <a:solidFill>
                  <a:srgbClr val="676470"/>
                </a:solidFill>
                <a:latin typeface="Arial"/>
                <a:cs typeface="Arial"/>
              </a:rPr>
              <a:t>Biogeogr.</a:t>
            </a:r>
            <a:r>
              <a:rPr sz="1090" i="1" spc="-32" dirty="0">
                <a:solidFill>
                  <a:srgbClr val="676470"/>
                </a:solidFill>
                <a:latin typeface="Arial"/>
                <a:cs typeface="Arial"/>
              </a:rPr>
              <a:t>)</a:t>
            </a:r>
            <a:r>
              <a:rPr sz="1090" i="1" spc="123" dirty="0">
                <a:solidFill>
                  <a:srgbClr val="676470"/>
                </a:solidFill>
                <a:latin typeface="Arial"/>
                <a:cs typeface="Arial"/>
              </a:rPr>
              <a:t> </a:t>
            </a:r>
            <a:r>
              <a:rPr sz="1125" spc="-14" dirty="0">
                <a:solidFill>
                  <a:srgbClr val="676470"/>
                </a:solidFill>
                <a:latin typeface="Times New Roman"/>
                <a:cs typeface="Times New Roman"/>
              </a:rPr>
              <a:t>(2</a:t>
            </a:r>
            <a:r>
              <a:rPr sz="1125" spc="70" dirty="0">
                <a:solidFill>
                  <a:srgbClr val="676470"/>
                </a:solidFill>
                <a:latin typeface="Times New Roman"/>
                <a:cs typeface="Times New Roman"/>
              </a:rPr>
              <a:t>0</a:t>
            </a:r>
            <a:r>
              <a:rPr sz="1125" spc="-77" dirty="0">
                <a:solidFill>
                  <a:srgbClr val="773F4D"/>
                </a:solidFill>
                <a:latin typeface="Times New Roman"/>
                <a:cs typeface="Times New Roman"/>
              </a:rPr>
              <a:t>1</a:t>
            </a:r>
            <a:r>
              <a:rPr sz="1125" spc="-74" dirty="0">
                <a:solidFill>
                  <a:srgbClr val="676470"/>
                </a:solidFill>
                <a:latin typeface="Times New Roman"/>
                <a:cs typeface="Times New Roman"/>
              </a:rPr>
              <a:t>7</a:t>
            </a:r>
            <a:r>
              <a:rPr sz="1125" spc="49" dirty="0">
                <a:solidFill>
                  <a:srgbClr val="676470"/>
                </a:solidFill>
                <a:latin typeface="Times New Roman"/>
                <a:cs typeface="Times New Roman"/>
              </a:rPr>
              <a:t>)</a:t>
            </a:r>
            <a:r>
              <a:rPr sz="1125" spc="-7" dirty="0">
                <a:solidFill>
                  <a:srgbClr val="676470"/>
                </a:solidFill>
                <a:latin typeface="Times New Roman"/>
                <a:cs typeface="Times New Roman"/>
              </a:rPr>
              <a:t> </a:t>
            </a:r>
            <a:r>
              <a:rPr sz="1125" spc="56" dirty="0">
                <a:solidFill>
                  <a:srgbClr val="3B363B"/>
                </a:solidFill>
                <a:latin typeface="Times New Roman"/>
                <a:cs typeface="Times New Roman"/>
              </a:rPr>
              <a:t>4</a:t>
            </a:r>
            <a:r>
              <a:rPr sz="1125" spc="11" dirty="0">
                <a:solidFill>
                  <a:srgbClr val="3B363B"/>
                </a:solidFill>
                <a:latin typeface="Times New Roman"/>
                <a:cs typeface="Times New Roman"/>
              </a:rPr>
              <a:t>4</a:t>
            </a:r>
            <a:r>
              <a:rPr sz="1125" spc="70" dirty="0">
                <a:solidFill>
                  <a:srgbClr val="797480"/>
                </a:solidFill>
                <a:latin typeface="Times New Roman"/>
                <a:cs typeface="Times New Roman"/>
              </a:rPr>
              <a:t>,</a:t>
            </a:r>
            <a:r>
              <a:rPr sz="1125" spc="63" dirty="0">
                <a:solidFill>
                  <a:srgbClr val="797480"/>
                </a:solidFill>
                <a:latin typeface="Times New Roman"/>
                <a:cs typeface="Times New Roman"/>
              </a:rPr>
              <a:t> </a:t>
            </a:r>
            <a:r>
              <a:rPr sz="1125" spc="-7" dirty="0">
                <a:solidFill>
                  <a:srgbClr val="676470"/>
                </a:solidFill>
                <a:latin typeface="Times New Roman"/>
                <a:cs typeface="Times New Roman"/>
              </a:rPr>
              <a:t>8</a:t>
            </a:r>
            <a:r>
              <a:rPr sz="1125" spc="88" dirty="0">
                <a:solidFill>
                  <a:srgbClr val="676470"/>
                </a:solidFill>
                <a:latin typeface="Times New Roman"/>
                <a:cs typeface="Times New Roman"/>
              </a:rPr>
              <a:t>8</a:t>
            </a:r>
            <a:r>
              <a:rPr sz="1125" spc="-95" dirty="0">
                <a:solidFill>
                  <a:srgbClr val="676470"/>
                </a:solidFill>
                <a:latin typeface="Times New Roman"/>
                <a:cs typeface="Times New Roman"/>
              </a:rPr>
              <a:t>7</a:t>
            </a:r>
            <a:r>
              <a:rPr sz="1125" spc="155" dirty="0">
                <a:solidFill>
                  <a:srgbClr val="676470"/>
                </a:solidFill>
                <a:latin typeface="Times New Roman"/>
                <a:cs typeface="Times New Roman"/>
              </a:rPr>
              <a:t>-</a:t>
            </a:r>
            <a:r>
              <a:rPr sz="1125" spc="95" dirty="0">
                <a:solidFill>
                  <a:srgbClr val="676470"/>
                </a:solidFill>
                <a:latin typeface="Times New Roman"/>
                <a:cs typeface="Times New Roman"/>
              </a:rPr>
              <a:t>8</a:t>
            </a:r>
            <a:r>
              <a:rPr sz="1125" spc="-7" dirty="0">
                <a:solidFill>
                  <a:srgbClr val="676470"/>
                </a:solidFill>
                <a:latin typeface="Times New Roman"/>
                <a:cs typeface="Times New Roman"/>
              </a:rPr>
              <a:t>9</a:t>
            </a:r>
            <a:r>
              <a:rPr sz="1125" spc="98" dirty="0">
                <a:solidFill>
                  <a:srgbClr val="676470"/>
                </a:solidFill>
                <a:latin typeface="Times New Roman"/>
                <a:cs typeface="Times New Roman"/>
              </a:rPr>
              <a:t>9</a:t>
            </a:r>
            <a:endParaRPr sz="112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25315" y="527705"/>
            <a:ext cx="5220295" cy="6249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8483">
              <a:lnSpc>
                <a:spcPct val="106900"/>
              </a:lnSpc>
            </a:pPr>
            <a:r>
              <a:rPr sz="1969" b="1" spc="-14" dirty="0">
                <a:solidFill>
                  <a:srgbClr val="232123"/>
                </a:solidFill>
                <a:latin typeface="Arial"/>
                <a:cs typeface="Arial"/>
              </a:rPr>
              <a:t>Baye</a:t>
            </a:r>
            <a:r>
              <a:rPr sz="1969" b="1" spc="-4" dirty="0">
                <a:solidFill>
                  <a:srgbClr val="232123"/>
                </a:solidFill>
                <a:latin typeface="Arial"/>
                <a:cs typeface="Arial"/>
              </a:rPr>
              <a:t>s</a:t>
            </a:r>
            <a:r>
              <a:rPr sz="1969" b="1" spc="84" dirty="0">
                <a:solidFill>
                  <a:srgbClr val="232123"/>
                </a:solidFill>
                <a:latin typeface="Arial"/>
                <a:cs typeface="Arial"/>
              </a:rPr>
              <a:t>ian</a:t>
            </a:r>
            <a:r>
              <a:rPr sz="1969" b="1" spc="116" dirty="0">
                <a:solidFill>
                  <a:srgbClr val="232123"/>
                </a:solidFill>
                <a:latin typeface="Arial"/>
                <a:cs typeface="Arial"/>
              </a:rPr>
              <a:t> </a:t>
            </a:r>
            <a:r>
              <a:rPr sz="1969" b="1" dirty="0">
                <a:solidFill>
                  <a:srgbClr val="232123"/>
                </a:solidFill>
                <a:latin typeface="Arial"/>
                <a:cs typeface="Arial"/>
              </a:rPr>
              <a:t>est</a:t>
            </a:r>
            <a:r>
              <a:rPr sz="1969" b="1" spc="84" dirty="0">
                <a:solidFill>
                  <a:srgbClr val="232123"/>
                </a:solidFill>
                <a:latin typeface="Arial"/>
                <a:cs typeface="Arial"/>
              </a:rPr>
              <a:t>i</a:t>
            </a:r>
            <a:r>
              <a:rPr sz="1969" b="1" spc="102" dirty="0">
                <a:solidFill>
                  <a:srgbClr val="232123"/>
                </a:solidFill>
                <a:latin typeface="Arial"/>
                <a:cs typeface="Arial"/>
              </a:rPr>
              <a:t>matio</a:t>
            </a:r>
            <a:r>
              <a:rPr sz="1969" b="1" spc="204" dirty="0">
                <a:solidFill>
                  <a:srgbClr val="232123"/>
                </a:solidFill>
                <a:latin typeface="Arial"/>
                <a:cs typeface="Arial"/>
              </a:rPr>
              <a:t>n</a:t>
            </a:r>
            <a:r>
              <a:rPr sz="1969" b="1" spc="70" dirty="0">
                <a:solidFill>
                  <a:srgbClr val="232123"/>
                </a:solidFill>
                <a:latin typeface="Arial"/>
                <a:cs typeface="Arial"/>
              </a:rPr>
              <a:t> </a:t>
            </a:r>
            <a:r>
              <a:rPr sz="1969" b="1" spc="74" dirty="0">
                <a:solidFill>
                  <a:srgbClr val="232123"/>
                </a:solidFill>
                <a:latin typeface="Arial"/>
                <a:cs typeface="Arial"/>
              </a:rPr>
              <a:t>of</a:t>
            </a:r>
            <a:r>
              <a:rPr sz="1969" b="1" spc="165" dirty="0">
                <a:solidFill>
                  <a:srgbClr val="232123"/>
                </a:solidFill>
                <a:latin typeface="Arial"/>
                <a:cs typeface="Arial"/>
              </a:rPr>
              <a:t> </a:t>
            </a:r>
            <a:r>
              <a:rPr sz="1969" b="1" spc="127" dirty="0">
                <a:solidFill>
                  <a:srgbClr val="232123"/>
                </a:solidFill>
                <a:latin typeface="Arial"/>
                <a:cs typeface="Arial"/>
              </a:rPr>
              <a:t>the</a:t>
            </a:r>
            <a:r>
              <a:rPr sz="1969" b="1" spc="229" dirty="0">
                <a:solidFill>
                  <a:srgbClr val="232123"/>
                </a:solidFill>
                <a:latin typeface="Arial"/>
                <a:cs typeface="Arial"/>
              </a:rPr>
              <a:t> </a:t>
            </a:r>
            <a:r>
              <a:rPr sz="1969" b="1" spc="120" dirty="0">
                <a:solidFill>
                  <a:srgbClr val="232123"/>
                </a:solidFill>
                <a:latin typeface="Arial"/>
                <a:cs typeface="Arial"/>
              </a:rPr>
              <a:t>g</a:t>
            </a:r>
            <a:r>
              <a:rPr sz="1969" b="1" spc="11" dirty="0">
                <a:solidFill>
                  <a:srgbClr val="232123"/>
                </a:solidFill>
                <a:latin typeface="Arial"/>
                <a:cs typeface="Arial"/>
              </a:rPr>
              <a:t>l</a:t>
            </a:r>
            <a:r>
              <a:rPr sz="1969" b="1" spc="105" dirty="0">
                <a:solidFill>
                  <a:srgbClr val="232123"/>
                </a:solidFill>
                <a:latin typeface="Arial"/>
                <a:cs typeface="Arial"/>
              </a:rPr>
              <a:t>o</a:t>
            </a:r>
            <a:r>
              <a:rPr sz="1969" b="1" spc="60" dirty="0">
                <a:solidFill>
                  <a:srgbClr val="232123"/>
                </a:solidFill>
                <a:latin typeface="Arial"/>
                <a:cs typeface="Arial"/>
              </a:rPr>
              <a:t>b</a:t>
            </a:r>
            <a:r>
              <a:rPr sz="1969" b="1" spc="39" dirty="0">
                <a:solidFill>
                  <a:srgbClr val="232123"/>
                </a:solidFill>
                <a:latin typeface="Arial"/>
                <a:cs typeface="Arial"/>
              </a:rPr>
              <a:t>al</a:t>
            </a:r>
            <a:r>
              <a:rPr sz="1969" b="1" spc="25" dirty="0">
                <a:solidFill>
                  <a:srgbClr val="232123"/>
                </a:solidFill>
                <a:latin typeface="Arial"/>
                <a:cs typeface="Arial"/>
              </a:rPr>
              <a:t> </a:t>
            </a:r>
            <a:r>
              <a:rPr sz="1969" b="1" spc="49" dirty="0">
                <a:solidFill>
                  <a:srgbClr val="232123"/>
                </a:solidFill>
                <a:latin typeface="Arial"/>
                <a:cs typeface="Arial"/>
              </a:rPr>
              <a:t>b</a:t>
            </a:r>
            <a:r>
              <a:rPr sz="1969" b="1" spc="-60" dirty="0">
                <a:solidFill>
                  <a:srgbClr val="232123"/>
                </a:solidFill>
                <a:latin typeface="Arial"/>
                <a:cs typeface="Arial"/>
              </a:rPr>
              <a:t>i</a:t>
            </a:r>
            <a:r>
              <a:rPr sz="1969" b="1" spc="95" dirty="0">
                <a:solidFill>
                  <a:srgbClr val="232123"/>
                </a:solidFill>
                <a:latin typeface="Arial"/>
                <a:cs typeface="Arial"/>
              </a:rPr>
              <a:t>og</a:t>
            </a:r>
            <a:r>
              <a:rPr sz="1969" b="1" spc="60" dirty="0">
                <a:solidFill>
                  <a:srgbClr val="232123"/>
                </a:solidFill>
                <a:latin typeface="Arial"/>
                <a:cs typeface="Arial"/>
              </a:rPr>
              <a:t>eo</a:t>
            </a:r>
            <a:r>
              <a:rPr sz="1969" b="1" spc="39" dirty="0">
                <a:solidFill>
                  <a:srgbClr val="232123"/>
                </a:solidFill>
                <a:latin typeface="Arial"/>
                <a:cs typeface="Arial"/>
              </a:rPr>
              <a:t>g</a:t>
            </a:r>
            <a:r>
              <a:rPr sz="1969" b="1" spc="46" dirty="0">
                <a:solidFill>
                  <a:srgbClr val="232123"/>
                </a:solidFill>
                <a:latin typeface="Arial"/>
                <a:cs typeface="Arial"/>
              </a:rPr>
              <a:t>ra</a:t>
            </a:r>
            <a:r>
              <a:rPr sz="1969" b="1" spc="42" dirty="0">
                <a:solidFill>
                  <a:srgbClr val="232123"/>
                </a:solidFill>
                <a:latin typeface="Arial"/>
                <a:cs typeface="Arial"/>
              </a:rPr>
              <a:t>p</a:t>
            </a:r>
            <a:r>
              <a:rPr sz="1969" b="1" spc="130" dirty="0">
                <a:solidFill>
                  <a:srgbClr val="232123"/>
                </a:solidFill>
                <a:latin typeface="Arial"/>
                <a:cs typeface="Arial"/>
              </a:rPr>
              <a:t>h</a:t>
            </a:r>
            <a:r>
              <a:rPr sz="1969" b="1" spc="-74" dirty="0">
                <a:solidFill>
                  <a:srgbClr val="232123"/>
                </a:solidFill>
                <a:latin typeface="Arial"/>
                <a:cs typeface="Arial"/>
              </a:rPr>
              <a:t>i</a:t>
            </a:r>
            <a:r>
              <a:rPr sz="1969" b="1" spc="-46" dirty="0">
                <a:solidFill>
                  <a:srgbClr val="232123"/>
                </a:solidFill>
                <a:latin typeface="Arial"/>
                <a:cs typeface="Arial"/>
              </a:rPr>
              <a:t>cal</a:t>
            </a:r>
            <a:r>
              <a:rPr sz="1969" b="1" spc="53" dirty="0">
                <a:solidFill>
                  <a:srgbClr val="232123"/>
                </a:solidFill>
                <a:latin typeface="Arial"/>
                <a:cs typeface="Arial"/>
              </a:rPr>
              <a:t> </a:t>
            </a:r>
            <a:r>
              <a:rPr sz="1969" b="1" spc="49" dirty="0">
                <a:solidFill>
                  <a:srgbClr val="232123"/>
                </a:solidFill>
                <a:latin typeface="Arial"/>
                <a:cs typeface="Arial"/>
              </a:rPr>
              <a:t>h</a:t>
            </a:r>
            <a:r>
              <a:rPr sz="1969" b="1" spc="-60" dirty="0">
                <a:solidFill>
                  <a:srgbClr val="232123"/>
                </a:solidFill>
                <a:latin typeface="Arial"/>
                <a:cs typeface="Arial"/>
              </a:rPr>
              <a:t>i</a:t>
            </a:r>
            <a:r>
              <a:rPr sz="1969" b="1" spc="7" dirty="0">
                <a:solidFill>
                  <a:srgbClr val="232123"/>
                </a:solidFill>
                <a:latin typeface="Arial"/>
                <a:cs typeface="Arial"/>
              </a:rPr>
              <a:t>story</a:t>
            </a:r>
            <a:r>
              <a:rPr sz="1969" b="1" spc="18" dirty="0">
                <a:solidFill>
                  <a:srgbClr val="232123"/>
                </a:solidFill>
                <a:latin typeface="Arial"/>
                <a:cs typeface="Arial"/>
              </a:rPr>
              <a:t> </a:t>
            </a:r>
            <a:r>
              <a:rPr sz="1969" b="1" spc="74" dirty="0">
                <a:solidFill>
                  <a:srgbClr val="232123"/>
                </a:solidFill>
                <a:latin typeface="Arial"/>
                <a:cs typeface="Arial"/>
              </a:rPr>
              <a:t>of</a:t>
            </a:r>
            <a:r>
              <a:rPr sz="1969" b="1" spc="25" dirty="0">
                <a:solidFill>
                  <a:srgbClr val="232123"/>
                </a:solidFill>
                <a:latin typeface="Arial"/>
                <a:cs typeface="Arial"/>
              </a:rPr>
              <a:t> </a:t>
            </a:r>
            <a:r>
              <a:rPr sz="1969" b="1" spc="183" dirty="0">
                <a:solidFill>
                  <a:srgbClr val="232123"/>
                </a:solidFill>
                <a:latin typeface="Arial"/>
                <a:cs typeface="Arial"/>
              </a:rPr>
              <a:t>t</a:t>
            </a:r>
            <a:r>
              <a:rPr sz="1969" b="1" spc="137" dirty="0">
                <a:solidFill>
                  <a:srgbClr val="232123"/>
                </a:solidFill>
                <a:latin typeface="Arial"/>
                <a:cs typeface="Arial"/>
              </a:rPr>
              <a:t>he</a:t>
            </a:r>
            <a:r>
              <a:rPr sz="1969" b="1" spc="-127" dirty="0">
                <a:solidFill>
                  <a:srgbClr val="232123"/>
                </a:solidFill>
                <a:latin typeface="Arial"/>
                <a:cs typeface="Arial"/>
              </a:rPr>
              <a:t> </a:t>
            </a:r>
            <a:r>
              <a:rPr sz="1969" b="1" spc="-105" dirty="0">
                <a:solidFill>
                  <a:srgbClr val="232123"/>
                </a:solidFill>
                <a:latin typeface="Arial"/>
                <a:cs typeface="Arial"/>
              </a:rPr>
              <a:t>S</a:t>
            </a:r>
            <a:r>
              <a:rPr sz="1969" b="1" spc="-49" dirty="0">
                <a:solidFill>
                  <a:srgbClr val="232123"/>
                </a:solidFill>
                <a:latin typeface="Arial"/>
                <a:cs typeface="Arial"/>
              </a:rPr>
              <a:t>o</a:t>
            </a:r>
            <a:r>
              <a:rPr sz="1969" b="1" spc="-60" dirty="0">
                <a:solidFill>
                  <a:srgbClr val="232123"/>
                </a:solidFill>
                <a:latin typeface="Arial"/>
                <a:cs typeface="Arial"/>
              </a:rPr>
              <a:t>l</a:t>
            </a:r>
            <a:r>
              <a:rPr sz="1969" b="1" spc="84" dirty="0">
                <a:solidFill>
                  <a:srgbClr val="232123"/>
                </a:solidFill>
                <a:latin typeface="Arial"/>
                <a:cs typeface="Arial"/>
              </a:rPr>
              <a:t>a</a:t>
            </a:r>
            <a:r>
              <a:rPr sz="1969" b="1" spc="46" dirty="0">
                <a:solidFill>
                  <a:srgbClr val="232123"/>
                </a:solidFill>
                <a:latin typeface="Arial"/>
                <a:cs typeface="Arial"/>
              </a:rPr>
              <a:t>n</a:t>
            </a:r>
            <a:r>
              <a:rPr sz="1969" b="1" spc="25" dirty="0">
                <a:solidFill>
                  <a:srgbClr val="232123"/>
                </a:solidFill>
                <a:latin typeface="Arial"/>
                <a:cs typeface="Arial"/>
              </a:rPr>
              <a:t>a</a:t>
            </a:r>
            <a:r>
              <a:rPr sz="1969" b="1" spc="-186" dirty="0">
                <a:solidFill>
                  <a:srgbClr val="232123"/>
                </a:solidFill>
                <a:latin typeface="Arial"/>
                <a:cs typeface="Arial"/>
              </a:rPr>
              <a:t>c</a:t>
            </a:r>
            <a:r>
              <a:rPr sz="1969" b="1" spc="95" dirty="0">
                <a:solidFill>
                  <a:srgbClr val="232123"/>
                </a:solidFill>
                <a:latin typeface="Arial"/>
                <a:cs typeface="Arial"/>
              </a:rPr>
              <a:t>e</a:t>
            </a:r>
            <a:r>
              <a:rPr sz="1969" b="1" spc="84" dirty="0">
                <a:solidFill>
                  <a:srgbClr val="232123"/>
                </a:solidFill>
                <a:latin typeface="Arial"/>
                <a:cs typeface="Arial"/>
              </a:rPr>
              <a:t>ae</a:t>
            </a:r>
            <a:endParaRPr sz="1969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07491" y="1231912"/>
            <a:ext cx="4828729" cy="4453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1135"/>
              </a:lnSpc>
              <a:tabLst>
                <a:tab pos="3707028" algn="l"/>
              </a:tabLst>
            </a:pPr>
            <a:r>
              <a:rPr sz="1301" spc="4" dirty="0">
                <a:solidFill>
                  <a:srgbClr val="797480"/>
                </a:solidFill>
                <a:latin typeface="Times New Roman"/>
                <a:cs typeface="Times New Roman"/>
              </a:rPr>
              <a:t>Jul</a:t>
            </a:r>
            <a:r>
              <a:rPr sz="1301" spc="-18" dirty="0">
                <a:solidFill>
                  <a:srgbClr val="797480"/>
                </a:solidFill>
                <a:latin typeface="Times New Roman"/>
                <a:cs typeface="Times New Roman"/>
              </a:rPr>
              <a:t>i</a:t>
            </a:r>
            <a:r>
              <a:rPr sz="1301" spc="14" dirty="0">
                <a:solidFill>
                  <a:srgbClr val="797480"/>
                </a:solidFill>
                <a:latin typeface="Times New Roman"/>
                <a:cs typeface="Times New Roman"/>
              </a:rPr>
              <a:t>a</a:t>
            </a:r>
            <a:r>
              <a:rPr sz="1301" spc="127" dirty="0">
                <a:solidFill>
                  <a:srgbClr val="797480"/>
                </a:solidFill>
                <a:latin typeface="Times New Roman"/>
                <a:cs typeface="Times New Roman"/>
              </a:rPr>
              <a:t> </a:t>
            </a:r>
            <a:r>
              <a:rPr sz="1301" spc="39" dirty="0">
                <a:solidFill>
                  <a:srgbClr val="676470"/>
                </a:solidFill>
                <a:latin typeface="Times New Roman"/>
                <a:cs typeface="Times New Roman"/>
              </a:rPr>
              <a:t>Dupi</a:t>
            </a:r>
            <a:r>
              <a:rPr sz="1301" spc="137" dirty="0">
                <a:solidFill>
                  <a:srgbClr val="676470"/>
                </a:solidFill>
                <a:latin typeface="Times New Roman"/>
                <a:cs typeface="Times New Roman"/>
              </a:rPr>
              <a:t>n</a:t>
            </a:r>
            <a:r>
              <a:rPr sz="1266" spc="-5" baseline="37037" dirty="0">
                <a:solidFill>
                  <a:srgbClr val="676470"/>
                </a:solidFill>
                <a:latin typeface="Times New Roman"/>
                <a:cs typeface="Times New Roman"/>
              </a:rPr>
              <a:t>1</a:t>
            </a:r>
            <a:r>
              <a:rPr sz="1477" spc="-18" dirty="0">
                <a:solidFill>
                  <a:srgbClr val="676470"/>
                </a:solidFill>
                <a:latin typeface="Arial"/>
                <a:cs typeface="Arial"/>
              </a:rPr>
              <a:t>*</a:t>
            </a:r>
            <a:r>
              <a:rPr sz="1477" spc="352" dirty="0">
                <a:solidFill>
                  <a:srgbClr val="676470"/>
                </a:solidFill>
                <a:latin typeface="Arial"/>
                <a:cs typeface="Arial"/>
              </a:rPr>
              <a:t>,</a:t>
            </a:r>
            <a:r>
              <a:rPr sz="1301" spc="7" dirty="0">
                <a:solidFill>
                  <a:srgbClr val="676470"/>
                </a:solidFill>
                <a:latin typeface="Times New Roman"/>
                <a:cs typeface="Times New Roman"/>
              </a:rPr>
              <a:t>N</a:t>
            </a:r>
            <a:r>
              <a:rPr sz="1301" spc="11" dirty="0">
                <a:solidFill>
                  <a:srgbClr val="676470"/>
                </a:solidFill>
                <a:latin typeface="Times New Roman"/>
                <a:cs typeface="Times New Roman"/>
              </a:rPr>
              <a:t>i</a:t>
            </a:r>
            <a:r>
              <a:rPr sz="1301" spc="25" dirty="0">
                <a:solidFill>
                  <a:srgbClr val="676470"/>
                </a:solidFill>
                <a:latin typeface="Times New Roman"/>
                <a:cs typeface="Times New Roman"/>
              </a:rPr>
              <a:t>cho</a:t>
            </a:r>
            <a:r>
              <a:rPr sz="1301" spc="-21" dirty="0">
                <a:solidFill>
                  <a:srgbClr val="676470"/>
                </a:solidFill>
                <a:latin typeface="Times New Roman"/>
                <a:cs typeface="Times New Roman"/>
              </a:rPr>
              <a:t>l</a:t>
            </a:r>
            <a:r>
              <a:rPr sz="1301" spc="-25" dirty="0">
                <a:solidFill>
                  <a:srgbClr val="676470"/>
                </a:solidFill>
                <a:latin typeface="Times New Roman"/>
                <a:cs typeface="Times New Roman"/>
              </a:rPr>
              <a:t>as</a:t>
            </a:r>
            <a:r>
              <a:rPr sz="1301" spc="28" dirty="0">
                <a:solidFill>
                  <a:srgbClr val="676470"/>
                </a:solidFill>
                <a:latin typeface="Times New Roman"/>
                <a:cs typeface="Times New Roman"/>
              </a:rPr>
              <a:t> </a:t>
            </a:r>
            <a:r>
              <a:rPr sz="1301" spc="25" dirty="0">
                <a:solidFill>
                  <a:srgbClr val="676470"/>
                </a:solidFill>
                <a:latin typeface="Times New Roman"/>
                <a:cs typeface="Times New Roman"/>
              </a:rPr>
              <a:t>J.</a:t>
            </a:r>
            <a:r>
              <a:rPr sz="1301" spc="127" dirty="0">
                <a:solidFill>
                  <a:srgbClr val="676470"/>
                </a:solidFill>
                <a:latin typeface="Times New Roman"/>
                <a:cs typeface="Times New Roman"/>
              </a:rPr>
              <a:t> </a:t>
            </a:r>
            <a:r>
              <a:rPr sz="1301" spc="-7" dirty="0">
                <a:solidFill>
                  <a:srgbClr val="676470"/>
                </a:solidFill>
                <a:latin typeface="Times New Roman"/>
                <a:cs typeface="Times New Roman"/>
              </a:rPr>
              <a:t>Matzk</a:t>
            </a:r>
            <a:r>
              <a:rPr sz="1301" spc="21" dirty="0">
                <a:solidFill>
                  <a:srgbClr val="676470"/>
                </a:solidFill>
                <a:latin typeface="Times New Roman"/>
                <a:cs typeface="Times New Roman"/>
              </a:rPr>
              <a:t>e</a:t>
            </a:r>
            <a:r>
              <a:rPr sz="1266" spc="100" baseline="37037" dirty="0">
                <a:solidFill>
                  <a:srgbClr val="908A90"/>
                </a:solidFill>
                <a:latin typeface="Times New Roman"/>
                <a:cs typeface="Times New Roman"/>
              </a:rPr>
              <a:t>2</a:t>
            </a:r>
            <a:r>
              <a:rPr sz="844" spc="264" dirty="0">
                <a:solidFill>
                  <a:srgbClr val="908A90"/>
                </a:solidFill>
                <a:latin typeface="Times New Roman"/>
                <a:cs typeface="Times New Roman"/>
              </a:rPr>
              <a:t>,</a:t>
            </a:r>
            <a:r>
              <a:rPr sz="844" spc="14" dirty="0">
                <a:solidFill>
                  <a:srgbClr val="908A90"/>
                </a:solidFill>
                <a:latin typeface="Times New Roman"/>
                <a:cs typeface="Times New Roman"/>
              </a:rPr>
              <a:t> </a:t>
            </a:r>
            <a:r>
              <a:rPr sz="1301" spc="39" dirty="0">
                <a:solidFill>
                  <a:srgbClr val="797480"/>
                </a:solidFill>
                <a:latin typeface="Times New Roman"/>
                <a:cs typeface="Times New Roman"/>
              </a:rPr>
              <a:t>T</a:t>
            </a:r>
            <a:r>
              <a:rPr sz="1301" spc="-25" dirty="0">
                <a:solidFill>
                  <a:srgbClr val="797480"/>
                </a:solidFill>
                <a:latin typeface="Times New Roman"/>
                <a:cs typeface="Times New Roman"/>
              </a:rPr>
              <a:t>i</a:t>
            </a:r>
            <a:r>
              <a:rPr sz="1301" spc="56" dirty="0">
                <a:solidFill>
                  <a:srgbClr val="797480"/>
                </a:solidFill>
                <a:latin typeface="Times New Roman"/>
                <a:cs typeface="Times New Roman"/>
              </a:rPr>
              <a:t>i</a:t>
            </a:r>
            <a:r>
              <a:rPr sz="1301" spc="-32" dirty="0">
                <a:solidFill>
                  <a:srgbClr val="797480"/>
                </a:solidFill>
                <a:latin typeface="Times New Roman"/>
                <a:cs typeface="Times New Roman"/>
              </a:rPr>
              <a:t>na</a:t>
            </a:r>
            <a:r>
              <a:rPr sz="1301" dirty="0">
                <a:solidFill>
                  <a:srgbClr val="797480"/>
                </a:solidFill>
                <a:latin typeface="Times New Roman"/>
                <a:cs typeface="Times New Roman"/>
              </a:rPr>
              <a:t> </a:t>
            </a:r>
            <a:r>
              <a:rPr sz="1301" spc="-74" dirty="0">
                <a:solidFill>
                  <a:srgbClr val="797480"/>
                </a:solidFill>
                <a:latin typeface="Times New Roman"/>
                <a:cs typeface="Times New Roman"/>
              </a:rPr>
              <a:t> </a:t>
            </a:r>
            <a:r>
              <a:rPr sz="1301" spc="-18" dirty="0">
                <a:solidFill>
                  <a:srgbClr val="797480"/>
                </a:solidFill>
                <a:latin typeface="Times New Roman"/>
                <a:cs typeface="Times New Roman"/>
              </a:rPr>
              <a:t>Sarki</a:t>
            </a:r>
            <a:r>
              <a:rPr sz="1301" spc="88" dirty="0">
                <a:solidFill>
                  <a:srgbClr val="797480"/>
                </a:solidFill>
                <a:latin typeface="Times New Roman"/>
                <a:cs typeface="Times New Roman"/>
              </a:rPr>
              <a:t>n</a:t>
            </a:r>
            <a:r>
              <a:rPr sz="1301" spc="-7" dirty="0">
                <a:solidFill>
                  <a:srgbClr val="797480"/>
                </a:solidFill>
                <a:latin typeface="Times New Roman"/>
                <a:cs typeface="Times New Roman"/>
              </a:rPr>
              <a:t>e</a:t>
            </a:r>
            <a:r>
              <a:rPr sz="1301" spc="28" dirty="0">
                <a:solidFill>
                  <a:srgbClr val="797480"/>
                </a:solidFill>
                <a:latin typeface="Times New Roman"/>
                <a:cs typeface="Times New Roman"/>
              </a:rPr>
              <a:t>n</a:t>
            </a:r>
            <a:r>
              <a:rPr sz="1266" spc="190" baseline="32407" dirty="0">
                <a:solidFill>
                  <a:srgbClr val="797480"/>
                </a:solidFill>
                <a:latin typeface="Times New Roman"/>
                <a:cs typeface="Times New Roman"/>
              </a:rPr>
              <a:t>3</a:t>
            </a:r>
            <a:r>
              <a:rPr sz="1266" baseline="32407" dirty="0">
                <a:solidFill>
                  <a:srgbClr val="797480"/>
                </a:solidFill>
                <a:latin typeface="Times New Roman"/>
                <a:cs typeface="Times New Roman"/>
              </a:rPr>
              <a:t>	</a:t>
            </a:r>
            <a:r>
              <a:rPr sz="1301" spc="-35" dirty="0">
                <a:solidFill>
                  <a:srgbClr val="797480"/>
                </a:solidFill>
                <a:latin typeface="Times New Roman"/>
                <a:cs typeface="Times New Roman"/>
              </a:rPr>
              <a:t>Sa</a:t>
            </a:r>
            <a:r>
              <a:rPr sz="1301" spc="56" dirty="0">
                <a:solidFill>
                  <a:srgbClr val="797480"/>
                </a:solidFill>
                <a:latin typeface="Times New Roman"/>
                <a:cs typeface="Times New Roman"/>
              </a:rPr>
              <a:t>n</a:t>
            </a:r>
            <a:r>
              <a:rPr sz="1301" spc="32" dirty="0">
                <a:solidFill>
                  <a:srgbClr val="797480"/>
                </a:solidFill>
                <a:latin typeface="Times New Roman"/>
                <a:cs typeface="Times New Roman"/>
              </a:rPr>
              <a:t>dra</a:t>
            </a:r>
            <a:r>
              <a:rPr sz="1301" spc="74" dirty="0">
                <a:solidFill>
                  <a:srgbClr val="797480"/>
                </a:solidFill>
                <a:latin typeface="Times New Roman"/>
                <a:cs typeface="Times New Roman"/>
              </a:rPr>
              <a:t> </a:t>
            </a:r>
            <a:r>
              <a:rPr sz="1301" spc="14" dirty="0">
                <a:solidFill>
                  <a:srgbClr val="676470"/>
                </a:solidFill>
                <a:latin typeface="Times New Roman"/>
                <a:cs typeface="Times New Roman"/>
              </a:rPr>
              <a:t>Knap</a:t>
            </a:r>
            <a:r>
              <a:rPr sz="1301" spc="18" dirty="0">
                <a:solidFill>
                  <a:srgbClr val="676470"/>
                </a:solidFill>
                <a:latin typeface="Times New Roman"/>
                <a:cs typeface="Times New Roman"/>
              </a:rPr>
              <a:t>p</a:t>
            </a:r>
            <a:r>
              <a:rPr sz="1266" spc="290" baseline="37037" dirty="0">
                <a:solidFill>
                  <a:srgbClr val="676470"/>
                </a:solidFill>
                <a:latin typeface="Times New Roman"/>
                <a:cs typeface="Times New Roman"/>
              </a:rPr>
              <a:t>4</a:t>
            </a:r>
            <a:endParaRPr sz="1266" baseline="37037" dirty="0">
              <a:latin typeface="Times New Roman"/>
              <a:cs typeface="Times New Roman"/>
            </a:endParaRPr>
          </a:p>
          <a:p>
            <a:pPr marR="3572" algn="r">
              <a:lnSpc>
                <a:spcPts val="510"/>
              </a:lnSpc>
              <a:tabLst>
                <a:tab pos="1149209" algn="l"/>
              </a:tabLst>
            </a:pPr>
            <a:r>
              <a:rPr sz="844" spc="264" dirty="0">
                <a:solidFill>
                  <a:srgbClr val="797480"/>
                </a:solidFill>
                <a:latin typeface="Times New Roman"/>
                <a:cs typeface="Times New Roman"/>
              </a:rPr>
              <a:t>,	</a:t>
            </a:r>
            <a:r>
              <a:rPr sz="844" spc="264" dirty="0">
                <a:solidFill>
                  <a:srgbClr val="676470"/>
                </a:solidFill>
                <a:latin typeface="Times New Roman"/>
                <a:cs typeface="Times New Roman"/>
              </a:rPr>
              <a:t>,</a:t>
            </a:r>
            <a:endParaRPr sz="844" dirty="0">
              <a:latin typeface="Times New Roman"/>
              <a:cs typeface="Times New Roman"/>
            </a:endParaRPr>
          </a:p>
          <a:p>
            <a:pPr marL="17412">
              <a:lnSpc>
                <a:spcPts val="1065"/>
              </a:lnSpc>
              <a:spcBef>
                <a:spcPts val="176"/>
              </a:spcBef>
              <a:tabLst>
                <a:tab pos="1648362" algn="l"/>
              </a:tabLst>
            </a:pPr>
            <a:r>
              <a:rPr sz="1301" spc="-11" dirty="0">
                <a:solidFill>
                  <a:srgbClr val="676470"/>
                </a:solidFill>
                <a:latin typeface="Times New Roman"/>
                <a:cs typeface="Times New Roman"/>
              </a:rPr>
              <a:t>R</a:t>
            </a:r>
            <a:r>
              <a:rPr sz="1301" spc="-42" dirty="0">
                <a:solidFill>
                  <a:srgbClr val="676470"/>
                </a:solidFill>
                <a:latin typeface="Times New Roman"/>
                <a:cs typeface="Times New Roman"/>
              </a:rPr>
              <a:t>i</a:t>
            </a:r>
            <a:r>
              <a:rPr sz="1301" spc="14" dirty="0">
                <a:solidFill>
                  <a:srgbClr val="676470"/>
                </a:solidFill>
                <a:latin typeface="Times New Roman"/>
                <a:cs typeface="Times New Roman"/>
              </a:rPr>
              <a:t>chard</a:t>
            </a:r>
            <a:r>
              <a:rPr sz="1301" dirty="0">
                <a:solidFill>
                  <a:srgbClr val="676470"/>
                </a:solidFill>
                <a:latin typeface="Times New Roman"/>
                <a:cs typeface="Times New Roman"/>
              </a:rPr>
              <a:t> </a:t>
            </a:r>
            <a:r>
              <a:rPr sz="1301" spc="-143" dirty="0">
                <a:solidFill>
                  <a:srgbClr val="676470"/>
                </a:solidFill>
                <a:latin typeface="Times New Roman"/>
                <a:cs typeface="Times New Roman"/>
              </a:rPr>
              <a:t> </a:t>
            </a:r>
            <a:r>
              <a:rPr sz="1301" spc="-28" dirty="0">
                <a:solidFill>
                  <a:srgbClr val="676470"/>
                </a:solidFill>
                <a:latin typeface="Times New Roman"/>
                <a:cs typeface="Times New Roman"/>
              </a:rPr>
              <a:t>G</a:t>
            </a:r>
            <a:r>
              <a:rPr sz="1301" spc="155" dirty="0">
                <a:solidFill>
                  <a:srgbClr val="54484F"/>
                </a:solidFill>
                <a:latin typeface="Times New Roman"/>
                <a:cs typeface="Times New Roman"/>
              </a:rPr>
              <a:t>.</a:t>
            </a:r>
            <a:r>
              <a:rPr sz="1301" spc="-35" dirty="0">
                <a:solidFill>
                  <a:srgbClr val="54484F"/>
                </a:solidFill>
                <a:latin typeface="Times New Roman"/>
                <a:cs typeface="Times New Roman"/>
              </a:rPr>
              <a:t> </a:t>
            </a:r>
            <a:r>
              <a:rPr sz="1301" spc="-28" dirty="0">
                <a:solidFill>
                  <a:srgbClr val="676470"/>
                </a:solidFill>
                <a:latin typeface="Times New Roman"/>
                <a:cs typeface="Times New Roman"/>
              </a:rPr>
              <a:t>O</a:t>
            </a:r>
            <a:r>
              <a:rPr sz="1301" spc="49" dirty="0">
                <a:solidFill>
                  <a:srgbClr val="676470"/>
                </a:solidFill>
                <a:latin typeface="Times New Roman"/>
                <a:cs typeface="Times New Roman"/>
              </a:rPr>
              <a:t>l</a:t>
            </a:r>
            <a:r>
              <a:rPr sz="1301" spc="105" dirty="0">
                <a:solidFill>
                  <a:srgbClr val="676470"/>
                </a:solidFill>
                <a:latin typeface="Times New Roman"/>
                <a:cs typeface="Times New Roman"/>
              </a:rPr>
              <a:t>m</a:t>
            </a:r>
            <a:r>
              <a:rPr sz="1301" spc="7" dirty="0">
                <a:solidFill>
                  <a:srgbClr val="676470"/>
                </a:solidFill>
                <a:latin typeface="Times New Roman"/>
                <a:cs typeface="Times New Roman"/>
              </a:rPr>
              <a:t>stea</a:t>
            </a:r>
            <a:r>
              <a:rPr sz="1301" spc="-4" dirty="0">
                <a:solidFill>
                  <a:srgbClr val="676470"/>
                </a:solidFill>
                <a:latin typeface="Times New Roman"/>
                <a:cs typeface="Times New Roman"/>
              </a:rPr>
              <a:t>d</a:t>
            </a:r>
            <a:r>
              <a:rPr sz="1266" spc="169" baseline="41666" dirty="0">
                <a:solidFill>
                  <a:srgbClr val="676470"/>
                </a:solidFill>
                <a:latin typeface="Times New Roman"/>
                <a:cs typeface="Times New Roman"/>
              </a:rPr>
              <a:t>5</a:t>
            </a:r>
            <a:r>
              <a:rPr sz="1266" baseline="41666" dirty="0">
                <a:solidFill>
                  <a:srgbClr val="676470"/>
                </a:solidFill>
                <a:latin typeface="Times New Roman"/>
                <a:cs typeface="Times New Roman"/>
              </a:rPr>
              <a:t>	</a:t>
            </a:r>
            <a:r>
              <a:rPr sz="1301" spc="-176" dirty="0">
                <a:solidFill>
                  <a:srgbClr val="676470"/>
                </a:solidFill>
                <a:latin typeface="Times New Roman"/>
                <a:cs typeface="Times New Roman"/>
              </a:rPr>
              <a:t>L</a:t>
            </a:r>
            <a:r>
              <a:rPr sz="1301" spc="-91" dirty="0">
                <a:solidFill>
                  <a:srgbClr val="676470"/>
                </a:solidFill>
                <a:latin typeface="Times New Roman"/>
                <a:cs typeface="Times New Roman"/>
              </a:rPr>
              <a:t>y</a:t>
            </a:r>
            <a:r>
              <a:rPr sz="1301" spc="84" dirty="0">
                <a:solidFill>
                  <a:srgbClr val="676470"/>
                </a:solidFill>
                <a:latin typeface="Times New Roman"/>
                <a:cs typeface="Times New Roman"/>
              </a:rPr>
              <a:t>nn</a:t>
            </a:r>
            <a:r>
              <a:rPr sz="1301" dirty="0">
                <a:solidFill>
                  <a:srgbClr val="676470"/>
                </a:solidFill>
                <a:latin typeface="Times New Roman"/>
                <a:cs typeface="Times New Roman"/>
              </a:rPr>
              <a:t> </a:t>
            </a:r>
            <a:r>
              <a:rPr sz="1301" spc="-158" dirty="0">
                <a:solidFill>
                  <a:srgbClr val="676470"/>
                </a:solidFill>
                <a:latin typeface="Times New Roman"/>
                <a:cs typeface="Times New Roman"/>
              </a:rPr>
              <a:t> </a:t>
            </a:r>
            <a:r>
              <a:rPr sz="1301" spc="-25" dirty="0">
                <a:solidFill>
                  <a:srgbClr val="676470"/>
                </a:solidFill>
                <a:latin typeface="Times New Roman"/>
                <a:cs typeface="Times New Roman"/>
              </a:rPr>
              <a:t>Boh</a:t>
            </a:r>
            <a:r>
              <a:rPr sz="1301" spc="-42" dirty="0">
                <a:solidFill>
                  <a:srgbClr val="676470"/>
                </a:solidFill>
                <a:latin typeface="Times New Roman"/>
                <a:cs typeface="Times New Roman"/>
              </a:rPr>
              <a:t>s</a:t>
            </a:r>
            <a:r>
              <a:rPr sz="1266" spc="232" baseline="37037" dirty="0">
                <a:solidFill>
                  <a:srgbClr val="908A90"/>
                </a:solidFill>
                <a:latin typeface="Times New Roman"/>
                <a:cs typeface="Times New Roman"/>
              </a:rPr>
              <a:t>6</a:t>
            </a:r>
            <a:r>
              <a:rPr sz="1266" baseline="37037" dirty="0">
                <a:solidFill>
                  <a:srgbClr val="908A90"/>
                </a:solidFill>
                <a:latin typeface="Times New Roman"/>
                <a:cs typeface="Times New Roman"/>
              </a:rPr>
              <a:t> </a:t>
            </a:r>
            <a:r>
              <a:rPr sz="1266" spc="-26" baseline="37037" dirty="0">
                <a:solidFill>
                  <a:srgbClr val="908A90"/>
                </a:solidFill>
                <a:latin typeface="Times New Roman"/>
                <a:cs typeface="Times New Roman"/>
              </a:rPr>
              <a:t> </a:t>
            </a:r>
            <a:r>
              <a:rPr sz="1301" spc="46" dirty="0">
                <a:solidFill>
                  <a:srgbClr val="797480"/>
                </a:solidFill>
                <a:latin typeface="Times New Roman"/>
                <a:cs typeface="Times New Roman"/>
              </a:rPr>
              <a:t>a</a:t>
            </a:r>
            <a:r>
              <a:rPr sz="1301" spc="4" dirty="0">
                <a:solidFill>
                  <a:srgbClr val="797480"/>
                </a:solidFill>
                <a:latin typeface="Times New Roman"/>
                <a:cs typeface="Times New Roman"/>
              </a:rPr>
              <a:t>nd</a:t>
            </a:r>
            <a:r>
              <a:rPr sz="1301" dirty="0">
                <a:solidFill>
                  <a:srgbClr val="797480"/>
                </a:solidFill>
                <a:latin typeface="Times New Roman"/>
                <a:cs typeface="Times New Roman"/>
              </a:rPr>
              <a:t> </a:t>
            </a:r>
            <a:r>
              <a:rPr sz="1301" spc="-70" dirty="0">
                <a:solidFill>
                  <a:srgbClr val="797480"/>
                </a:solidFill>
                <a:latin typeface="Times New Roman"/>
                <a:cs typeface="Times New Roman"/>
              </a:rPr>
              <a:t> </a:t>
            </a:r>
            <a:r>
              <a:rPr sz="1406" spc="-84" dirty="0">
                <a:solidFill>
                  <a:srgbClr val="797480"/>
                </a:solidFill>
                <a:latin typeface="Times New Roman"/>
                <a:cs typeface="Times New Roman"/>
              </a:rPr>
              <a:t>Stacey</a:t>
            </a:r>
            <a:r>
              <a:rPr sz="1406" spc="141" dirty="0">
                <a:solidFill>
                  <a:srgbClr val="797480"/>
                </a:solidFill>
                <a:latin typeface="Times New Roman"/>
                <a:cs typeface="Times New Roman"/>
              </a:rPr>
              <a:t> </a:t>
            </a:r>
            <a:r>
              <a:rPr sz="1301" spc="11" dirty="0">
                <a:solidFill>
                  <a:srgbClr val="676470"/>
                </a:solidFill>
                <a:latin typeface="Times New Roman"/>
                <a:cs typeface="Times New Roman"/>
              </a:rPr>
              <a:t>D.</a:t>
            </a:r>
            <a:r>
              <a:rPr sz="1301" spc="137" dirty="0">
                <a:solidFill>
                  <a:srgbClr val="676470"/>
                </a:solidFill>
                <a:latin typeface="Times New Roman"/>
                <a:cs typeface="Times New Roman"/>
              </a:rPr>
              <a:t> </a:t>
            </a:r>
            <a:r>
              <a:rPr sz="1301" spc="11" dirty="0">
                <a:solidFill>
                  <a:srgbClr val="797480"/>
                </a:solidFill>
                <a:latin typeface="Times New Roman"/>
                <a:cs typeface="Times New Roman"/>
              </a:rPr>
              <a:t>Smit</a:t>
            </a:r>
            <a:r>
              <a:rPr sz="1301" spc="105" dirty="0">
                <a:solidFill>
                  <a:srgbClr val="797480"/>
                </a:solidFill>
                <a:latin typeface="Times New Roman"/>
                <a:cs typeface="Times New Roman"/>
              </a:rPr>
              <a:t>h</a:t>
            </a:r>
            <a:r>
              <a:rPr sz="1266" spc="158" baseline="41666" dirty="0">
                <a:solidFill>
                  <a:srgbClr val="797480"/>
                </a:solidFill>
                <a:latin typeface="Times New Roman"/>
                <a:cs typeface="Times New Roman"/>
              </a:rPr>
              <a:t>1</a:t>
            </a:r>
            <a:endParaRPr sz="1266" baseline="41666" dirty="0">
              <a:latin typeface="Times New Roman"/>
              <a:cs typeface="Times New Roman"/>
            </a:endParaRPr>
          </a:p>
          <a:p>
            <a:pPr marL="1550585">
              <a:lnSpc>
                <a:spcPts val="510"/>
              </a:lnSpc>
            </a:pPr>
            <a:r>
              <a:rPr sz="844" spc="264" dirty="0">
                <a:solidFill>
                  <a:srgbClr val="676470"/>
                </a:solidFill>
                <a:latin typeface="Times New Roman"/>
                <a:cs typeface="Times New Roman"/>
              </a:rPr>
              <a:t>,</a:t>
            </a:r>
            <a:endParaRPr sz="844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19" y="48933"/>
            <a:ext cx="9072563" cy="23931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 txBox="1"/>
          <p:nvPr/>
        </p:nvSpPr>
        <p:spPr>
          <a:xfrm>
            <a:off x="62508" y="6668332"/>
            <a:ext cx="2031057" cy="129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844" dirty="0">
                <a:latin typeface="Helvetica"/>
                <a:cs typeface="Helvetica"/>
                <a:hlinkClick r:id="rId4"/>
              </a:rPr>
              <a:t>h</a:t>
            </a:r>
            <a:r>
              <a:rPr sz="844" spc="-4" dirty="0">
                <a:latin typeface="Helvetica"/>
                <a:cs typeface="Helvetica"/>
                <a:hlinkClick r:id="rId4"/>
              </a:rPr>
              <a:t>ttp://solcap.msu.edu/img/germplasm2.jpg</a:t>
            </a:r>
            <a:endParaRPr sz="844">
              <a:latin typeface="Helvetica"/>
              <a:cs typeface="Helvetic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29906" y="1845859"/>
            <a:ext cx="6670126" cy="49909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80"/>
            <a:ext cx="9072563" cy="2393156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2141" y="1645291"/>
            <a:ext cx="6822281" cy="5206008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454" y="321469"/>
            <a:ext cx="8119318" cy="1051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375" b="1" spc="-25" dirty="0">
                <a:latin typeface="Calibri"/>
                <a:cs typeface="Calibri"/>
              </a:rPr>
              <a:t>G</a:t>
            </a:r>
            <a:r>
              <a:rPr sz="3375" b="1" spc="-21" dirty="0">
                <a:latin typeface="Calibri"/>
                <a:cs typeface="Calibri"/>
              </a:rPr>
              <a:t>loba</a:t>
            </a:r>
            <a:r>
              <a:rPr sz="3375" b="1" spc="-11" dirty="0">
                <a:latin typeface="Calibri"/>
                <a:cs typeface="Calibri"/>
              </a:rPr>
              <a:t>l</a:t>
            </a:r>
            <a:r>
              <a:rPr sz="3375" b="1" spc="-4" dirty="0">
                <a:latin typeface="Calibri"/>
                <a:cs typeface="Calibri"/>
              </a:rPr>
              <a:t> </a:t>
            </a:r>
            <a:r>
              <a:rPr sz="3375" b="1" spc="-21" dirty="0">
                <a:latin typeface="Calibri"/>
                <a:cs typeface="Calibri"/>
              </a:rPr>
              <a:t>Solana</a:t>
            </a:r>
            <a:r>
              <a:rPr sz="3375" b="1" spc="-4" dirty="0">
                <a:latin typeface="Calibri"/>
                <a:cs typeface="Calibri"/>
              </a:rPr>
              <a:t>ceae:</a:t>
            </a:r>
            <a:endParaRPr sz="3375" dirty="0">
              <a:latin typeface="Calibri"/>
              <a:cs typeface="Calibri"/>
            </a:endParaRPr>
          </a:p>
          <a:p>
            <a:pPr marL="8929">
              <a:spcBef>
                <a:spcPts val="98"/>
              </a:spcBef>
            </a:pPr>
            <a:r>
              <a:rPr sz="3375" b="1" spc="-25" dirty="0">
                <a:latin typeface="Calibri"/>
                <a:cs typeface="Calibri"/>
              </a:rPr>
              <a:t>d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53" dirty="0">
                <a:latin typeface="Calibri"/>
                <a:cs typeface="Calibri"/>
              </a:rPr>
              <a:t>s</a:t>
            </a:r>
            <a:r>
              <a:rPr sz="3375" b="1" spc="-49" dirty="0">
                <a:latin typeface="Calibri"/>
                <a:cs typeface="Calibri"/>
              </a:rPr>
              <a:t>t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n</a:t>
            </a:r>
            <a:r>
              <a:rPr sz="3375" b="1" dirty="0">
                <a:latin typeface="Calibri"/>
                <a:cs typeface="Calibri"/>
              </a:rPr>
              <a:t>ce</a:t>
            </a:r>
            <a:r>
              <a:rPr sz="3375" b="1" spc="-11" dirty="0">
                <a:latin typeface="Calibri"/>
                <a:cs typeface="Calibri"/>
              </a:rPr>
              <a:t>,</a:t>
            </a:r>
            <a:r>
              <a:rPr sz="3375" b="1" dirty="0">
                <a:latin typeface="Calibri"/>
                <a:cs typeface="Calibri"/>
              </a:rPr>
              <a:t> </a:t>
            </a:r>
            <a:r>
              <a:rPr sz="3375" b="1" spc="-25" dirty="0">
                <a:latin typeface="Calibri"/>
                <a:cs typeface="Calibri"/>
              </a:rPr>
              <a:t>B</a:t>
            </a:r>
            <a:r>
              <a:rPr sz="3375" b="1" spc="-14" dirty="0">
                <a:latin typeface="Calibri"/>
                <a:cs typeface="Calibri"/>
              </a:rPr>
              <a:t>io</a:t>
            </a:r>
            <a:r>
              <a:rPr sz="3375" b="1" spc="-39" dirty="0">
                <a:latin typeface="Calibri"/>
                <a:cs typeface="Calibri"/>
              </a:rPr>
              <a:t>g</a:t>
            </a:r>
            <a:r>
              <a:rPr sz="3375" b="1" dirty="0">
                <a:latin typeface="Calibri"/>
                <a:cs typeface="Calibri"/>
              </a:rPr>
              <a:t>e</a:t>
            </a:r>
            <a:r>
              <a:rPr sz="3375" b="1" spc="-21" dirty="0">
                <a:latin typeface="Calibri"/>
                <a:cs typeface="Calibri"/>
              </a:rPr>
              <a:t>o</a:t>
            </a:r>
            <a:r>
              <a:rPr sz="3375" b="1" spc="-4" dirty="0">
                <a:latin typeface="Calibri"/>
                <a:cs typeface="Calibri"/>
              </a:rPr>
              <a:t>g</a:t>
            </a:r>
            <a:r>
              <a:rPr sz="3375" b="1" spc="-77" dirty="0">
                <a:latin typeface="Calibri"/>
                <a:cs typeface="Calibri"/>
              </a:rPr>
              <a:t>r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ph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21" dirty="0">
                <a:latin typeface="Calibri"/>
                <a:cs typeface="Calibri"/>
              </a:rPr>
              <a:t>c</a:t>
            </a:r>
            <a:r>
              <a:rPr sz="3375" b="1" spc="-14" dirty="0">
                <a:latin typeface="Calibri"/>
                <a:cs typeface="Calibri"/>
              </a:rPr>
              <a:t>al</a:t>
            </a:r>
            <a:r>
              <a:rPr sz="3375" b="1" dirty="0">
                <a:latin typeface="Calibri"/>
                <a:cs typeface="Calibri"/>
              </a:rPr>
              <a:t> </a:t>
            </a:r>
            <a:r>
              <a:rPr sz="3375" b="1" spc="-18" dirty="0">
                <a:latin typeface="Calibri"/>
                <a:cs typeface="Calibri"/>
              </a:rPr>
              <a:t>S</a:t>
            </a:r>
            <a:r>
              <a:rPr sz="3375" b="1" spc="-49" dirty="0">
                <a:latin typeface="Calibri"/>
                <a:cs typeface="Calibri"/>
              </a:rPr>
              <a:t>t</a:t>
            </a:r>
            <a:r>
              <a:rPr sz="3375" b="1" spc="-21" dirty="0">
                <a:latin typeface="Calibri"/>
                <a:cs typeface="Calibri"/>
              </a:rPr>
              <a:t>o</a:t>
            </a:r>
            <a:r>
              <a:rPr sz="3375" b="1" dirty="0">
                <a:latin typeface="Calibri"/>
                <a:cs typeface="Calibri"/>
              </a:rPr>
              <a:t>c</a:t>
            </a:r>
            <a:r>
              <a:rPr sz="3375" b="1" spc="-25" dirty="0">
                <a:latin typeface="Calibri"/>
                <a:cs typeface="Calibri"/>
              </a:rPr>
              <a:t>h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53" dirty="0">
                <a:latin typeface="Calibri"/>
                <a:cs typeface="Calibri"/>
              </a:rPr>
              <a:t>s</a:t>
            </a:r>
            <a:r>
              <a:rPr lang="en-US" sz="3375" b="1" spc="253" dirty="0">
                <a:latin typeface="Calibri"/>
                <a:cs typeface="Calibri"/>
              </a:rPr>
              <a:t>ti</a:t>
            </a:r>
            <a:r>
              <a:rPr sz="3375" b="1" dirty="0">
                <a:latin typeface="Calibri"/>
                <a:cs typeface="Calibri"/>
              </a:rPr>
              <a:t>c </a:t>
            </a:r>
            <a:r>
              <a:rPr sz="3375" b="1" spc="-35" dirty="0">
                <a:latin typeface="Calibri"/>
                <a:cs typeface="Calibri"/>
              </a:rPr>
              <a:t>M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pp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25" dirty="0">
                <a:latin typeface="Calibri"/>
                <a:cs typeface="Calibri"/>
              </a:rPr>
              <a:t>n</a:t>
            </a:r>
            <a:r>
              <a:rPr sz="3375" b="1" dirty="0">
                <a:latin typeface="Calibri"/>
                <a:cs typeface="Calibri"/>
              </a:rPr>
              <a:t>g</a:t>
            </a:r>
            <a:endParaRPr sz="3375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04150"/>
            <a:ext cx="9144000" cy="44794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04150"/>
            <a:ext cx="9144000" cy="44794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7689302" y="2268902"/>
            <a:ext cx="1424732" cy="4350097"/>
          </a:xfrm>
          <a:custGeom>
            <a:avLst/>
            <a:gdLst/>
            <a:ahLst/>
            <a:cxnLst/>
            <a:rect l="l" t="t" r="r" b="b"/>
            <a:pathLst>
              <a:path w="2026284" h="6186805">
                <a:moveTo>
                  <a:pt x="291210" y="0"/>
                </a:moveTo>
                <a:lnTo>
                  <a:pt x="1734980" y="0"/>
                </a:lnTo>
                <a:lnTo>
                  <a:pt x="1752868" y="5"/>
                </a:lnTo>
                <a:lnTo>
                  <a:pt x="1799488" y="370"/>
                </a:lnTo>
                <a:lnTo>
                  <a:pt x="1837774" y="1987"/>
                </a:lnTo>
                <a:lnTo>
                  <a:pt x="1880831" y="7712"/>
                </a:lnTo>
                <a:lnTo>
                  <a:pt x="1926342" y="23854"/>
                </a:lnTo>
                <a:lnTo>
                  <a:pt x="1959558" y="45897"/>
                </a:lnTo>
                <a:lnTo>
                  <a:pt x="1986321" y="73656"/>
                </a:lnTo>
                <a:lnTo>
                  <a:pt x="2006150" y="106336"/>
                </a:lnTo>
                <a:lnTo>
                  <a:pt x="2018984" y="148793"/>
                </a:lnTo>
                <a:lnTo>
                  <a:pt x="2024398" y="192548"/>
                </a:lnTo>
                <a:lnTo>
                  <a:pt x="2025880" y="231360"/>
                </a:lnTo>
                <a:lnTo>
                  <a:pt x="2026188" y="278555"/>
                </a:lnTo>
                <a:lnTo>
                  <a:pt x="2026191" y="5895341"/>
                </a:lnTo>
                <a:lnTo>
                  <a:pt x="2026185" y="5913230"/>
                </a:lnTo>
                <a:lnTo>
                  <a:pt x="2025820" y="5959849"/>
                </a:lnTo>
                <a:lnTo>
                  <a:pt x="2024203" y="5998135"/>
                </a:lnTo>
                <a:lnTo>
                  <a:pt x="2018478" y="6041193"/>
                </a:lnTo>
                <a:lnTo>
                  <a:pt x="2002335" y="6086704"/>
                </a:lnTo>
                <a:lnTo>
                  <a:pt x="1980293" y="6119919"/>
                </a:lnTo>
                <a:lnTo>
                  <a:pt x="1952533" y="6146683"/>
                </a:lnTo>
                <a:lnTo>
                  <a:pt x="1919854" y="6166511"/>
                </a:lnTo>
                <a:lnTo>
                  <a:pt x="1877397" y="6179345"/>
                </a:lnTo>
                <a:lnTo>
                  <a:pt x="1833641" y="6184760"/>
                </a:lnTo>
                <a:lnTo>
                  <a:pt x="1794830" y="6186242"/>
                </a:lnTo>
                <a:lnTo>
                  <a:pt x="1747635" y="6186549"/>
                </a:lnTo>
                <a:lnTo>
                  <a:pt x="291210" y="6186552"/>
                </a:lnTo>
                <a:lnTo>
                  <a:pt x="273321" y="6186546"/>
                </a:lnTo>
                <a:lnTo>
                  <a:pt x="226702" y="6186181"/>
                </a:lnTo>
                <a:lnTo>
                  <a:pt x="188416" y="6184564"/>
                </a:lnTo>
                <a:lnTo>
                  <a:pt x="145358" y="6178839"/>
                </a:lnTo>
                <a:lnTo>
                  <a:pt x="99847" y="6162696"/>
                </a:lnTo>
                <a:lnTo>
                  <a:pt x="66632" y="6140654"/>
                </a:lnTo>
                <a:lnTo>
                  <a:pt x="39868" y="6112895"/>
                </a:lnTo>
                <a:lnTo>
                  <a:pt x="20040" y="6080215"/>
                </a:lnTo>
                <a:lnTo>
                  <a:pt x="7206" y="6037758"/>
                </a:lnTo>
                <a:lnTo>
                  <a:pt x="1792" y="5994003"/>
                </a:lnTo>
                <a:lnTo>
                  <a:pt x="310" y="5955192"/>
                </a:lnTo>
                <a:lnTo>
                  <a:pt x="2" y="5907997"/>
                </a:lnTo>
                <a:lnTo>
                  <a:pt x="0" y="291210"/>
                </a:lnTo>
                <a:lnTo>
                  <a:pt x="5" y="273321"/>
                </a:lnTo>
                <a:lnTo>
                  <a:pt x="370" y="226702"/>
                </a:lnTo>
                <a:lnTo>
                  <a:pt x="1987" y="188416"/>
                </a:lnTo>
                <a:lnTo>
                  <a:pt x="7712" y="145358"/>
                </a:lnTo>
                <a:lnTo>
                  <a:pt x="23855" y="99847"/>
                </a:lnTo>
                <a:lnTo>
                  <a:pt x="45897" y="66632"/>
                </a:lnTo>
                <a:lnTo>
                  <a:pt x="73656" y="39869"/>
                </a:lnTo>
                <a:lnTo>
                  <a:pt x="106336" y="20040"/>
                </a:lnTo>
                <a:lnTo>
                  <a:pt x="148793" y="7206"/>
                </a:lnTo>
                <a:lnTo>
                  <a:pt x="192548" y="1792"/>
                </a:lnTo>
                <a:lnTo>
                  <a:pt x="231360" y="310"/>
                </a:lnTo>
                <a:lnTo>
                  <a:pt x="278555" y="2"/>
                </a:lnTo>
                <a:lnTo>
                  <a:pt x="291210" y="0"/>
                </a:lnTo>
                <a:close/>
              </a:path>
            </a:pathLst>
          </a:custGeom>
          <a:ln w="101599">
            <a:solidFill>
              <a:srgbClr val="0365C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 txBox="1"/>
          <p:nvPr/>
        </p:nvSpPr>
        <p:spPr>
          <a:xfrm>
            <a:off x="196454" y="321469"/>
            <a:ext cx="8119318" cy="1051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375" b="1" spc="-25" dirty="0">
                <a:latin typeface="Calibri"/>
                <a:cs typeface="Calibri"/>
              </a:rPr>
              <a:t>G</a:t>
            </a:r>
            <a:r>
              <a:rPr sz="3375" b="1" spc="-21" dirty="0">
                <a:latin typeface="Calibri"/>
                <a:cs typeface="Calibri"/>
              </a:rPr>
              <a:t>loba</a:t>
            </a:r>
            <a:r>
              <a:rPr sz="3375" b="1" spc="-11" dirty="0">
                <a:latin typeface="Calibri"/>
                <a:cs typeface="Calibri"/>
              </a:rPr>
              <a:t>l</a:t>
            </a:r>
            <a:r>
              <a:rPr sz="3375" b="1" spc="-4" dirty="0">
                <a:latin typeface="Calibri"/>
                <a:cs typeface="Calibri"/>
              </a:rPr>
              <a:t> </a:t>
            </a:r>
            <a:r>
              <a:rPr sz="3375" b="1" spc="-21" dirty="0">
                <a:latin typeface="Calibri"/>
                <a:cs typeface="Calibri"/>
              </a:rPr>
              <a:t>Solana</a:t>
            </a:r>
            <a:r>
              <a:rPr sz="3375" b="1" spc="-4" dirty="0">
                <a:latin typeface="Calibri"/>
                <a:cs typeface="Calibri"/>
              </a:rPr>
              <a:t>ceae:</a:t>
            </a:r>
            <a:endParaRPr sz="3375" dirty="0">
              <a:latin typeface="Calibri"/>
              <a:cs typeface="Calibri"/>
            </a:endParaRPr>
          </a:p>
          <a:p>
            <a:pPr marL="8929">
              <a:spcBef>
                <a:spcPts val="98"/>
              </a:spcBef>
            </a:pPr>
            <a:r>
              <a:rPr sz="3375" b="1" spc="-25" dirty="0">
                <a:latin typeface="Calibri"/>
                <a:cs typeface="Calibri"/>
              </a:rPr>
              <a:t>d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53" dirty="0">
                <a:latin typeface="Calibri"/>
                <a:cs typeface="Calibri"/>
              </a:rPr>
              <a:t>s</a:t>
            </a:r>
            <a:r>
              <a:rPr sz="3375" b="1" spc="-49" dirty="0">
                <a:latin typeface="Calibri"/>
                <a:cs typeface="Calibri"/>
              </a:rPr>
              <a:t>t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n</a:t>
            </a:r>
            <a:r>
              <a:rPr sz="3375" b="1" dirty="0">
                <a:latin typeface="Calibri"/>
                <a:cs typeface="Calibri"/>
              </a:rPr>
              <a:t>ce</a:t>
            </a:r>
            <a:r>
              <a:rPr sz="3375" b="1" spc="-11" dirty="0">
                <a:latin typeface="Calibri"/>
                <a:cs typeface="Calibri"/>
              </a:rPr>
              <a:t>,</a:t>
            </a:r>
            <a:r>
              <a:rPr sz="3375" b="1" dirty="0">
                <a:latin typeface="Calibri"/>
                <a:cs typeface="Calibri"/>
              </a:rPr>
              <a:t> </a:t>
            </a:r>
            <a:r>
              <a:rPr sz="3375" b="1" spc="-25" dirty="0">
                <a:latin typeface="Calibri"/>
                <a:cs typeface="Calibri"/>
              </a:rPr>
              <a:t>B</a:t>
            </a:r>
            <a:r>
              <a:rPr sz="3375" b="1" spc="-14" dirty="0">
                <a:latin typeface="Calibri"/>
                <a:cs typeface="Calibri"/>
              </a:rPr>
              <a:t>io</a:t>
            </a:r>
            <a:r>
              <a:rPr sz="3375" b="1" spc="-39" dirty="0">
                <a:latin typeface="Calibri"/>
                <a:cs typeface="Calibri"/>
              </a:rPr>
              <a:t>g</a:t>
            </a:r>
            <a:r>
              <a:rPr sz="3375" b="1" dirty="0">
                <a:latin typeface="Calibri"/>
                <a:cs typeface="Calibri"/>
              </a:rPr>
              <a:t>e</a:t>
            </a:r>
            <a:r>
              <a:rPr sz="3375" b="1" spc="-21" dirty="0">
                <a:latin typeface="Calibri"/>
                <a:cs typeface="Calibri"/>
              </a:rPr>
              <a:t>o</a:t>
            </a:r>
            <a:r>
              <a:rPr sz="3375" b="1" spc="-4" dirty="0">
                <a:latin typeface="Calibri"/>
                <a:cs typeface="Calibri"/>
              </a:rPr>
              <a:t>g</a:t>
            </a:r>
            <a:r>
              <a:rPr sz="3375" b="1" spc="-77" dirty="0">
                <a:latin typeface="Calibri"/>
                <a:cs typeface="Calibri"/>
              </a:rPr>
              <a:t>r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ph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21" dirty="0">
                <a:latin typeface="Calibri"/>
                <a:cs typeface="Calibri"/>
              </a:rPr>
              <a:t>c</a:t>
            </a:r>
            <a:r>
              <a:rPr sz="3375" b="1" spc="-14" dirty="0">
                <a:latin typeface="Calibri"/>
                <a:cs typeface="Calibri"/>
              </a:rPr>
              <a:t>al</a:t>
            </a:r>
            <a:r>
              <a:rPr sz="3375" b="1" dirty="0">
                <a:latin typeface="Calibri"/>
                <a:cs typeface="Calibri"/>
              </a:rPr>
              <a:t> </a:t>
            </a:r>
            <a:r>
              <a:rPr sz="3375" b="1" spc="-18" dirty="0">
                <a:latin typeface="Calibri"/>
                <a:cs typeface="Calibri"/>
              </a:rPr>
              <a:t>S</a:t>
            </a:r>
            <a:r>
              <a:rPr sz="3375" b="1" spc="-49" dirty="0">
                <a:latin typeface="Calibri"/>
                <a:cs typeface="Calibri"/>
              </a:rPr>
              <a:t>t</a:t>
            </a:r>
            <a:r>
              <a:rPr sz="3375" b="1" spc="-21" dirty="0">
                <a:latin typeface="Calibri"/>
                <a:cs typeface="Calibri"/>
              </a:rPr>
              <a:t>o</a:t>
            </a:r>
            <a:r>
              <a:rPr sz="3375" b="1" dirty="0">
                <a:latin typeface="Calibri"/>
                <a:cs typeface="Calibri"/>
              </a:rPr>
              <a:t>c</a:t>
            </a:r>
            <a:r>
              <a:rPr sz="3375" b="1" spc="-25" dirty="0">
                <a:latin typeface="Calibri"/>
                <a:cs typeface="Calibri"/>
              </a:rPr>
              <a:t>h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53" dirty="0">
                <a:latin typeface="Calibri"/>
                <a:cs typeface="Calibri"/>
              </a:rPr>
              <a:t>s</a:t>
            </a:r>
            <a:r>
              <a:rPr sz="3375" b="1" spc="253" dirty="0">
                <a:latin typeface="Calibri"/>
                <a:cs typeface="Calibri"/>
              </a:rPr>
              <a:t>3</a:t>
            </a:r>
            <a:r>
              <a:rPr sz="3375" b="1" dirty="0">
                <a:latin typeface="Calibri"/>
                <a:cs typeface="Calibri"/>
              </a:rPr>
              <a:t>c </a:t>
            </a:r>
            <a:r>
              <a:rPr sz="3375" b="1" spc="-35" dirty="0">
                <a:latin typeface="Calibri"/>
                <a:cs typeface="Calibri"/>
              </a:rPr>
              <a:t>M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pp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25" dirty="0">
                <a:latin typeface="Calibri"/>
                <a:cs typeface="Calibri"/>
              </a:rPr>
              <a:t>n</a:t>
            </a:r>
            <a:r>
              <a:rPr sz="3375" b="1" dirty="0">
                <a:latin typeface="Calibri"/>
                <a:cs typeface="Calibri"/>
              </a:rPr>
              <a:t>g</a:t>
            </a:r>
            <a:endParaRPr sz="337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469" y="377197"/>
            <a:ext cx="5786438" cy="435488"/>
          </a:xfrm>
          <a:prstGeom prst="rect">
            <a:avLst/>
          </a:prstGeom>
        </p:spPr>
        <p:txBody>
          <a:bodyPr vert="horz" wrap="square" lIns="0" tIns="45577" rIns="0" bIns="0" rtlCol="0" anchor="ctr">
            <a:spAutoFit/>
          </a:bodyPr>
          <a:lstStyle/>
          <a:p>
            <a:pPr marL="1203233"/>
            <a:r>
              <a:rPr sz="2531" spc="-21" dirty="0">
                <a:latin typeface="Gill Sans"/>
                <a:cs typeface="Gill Sans"/>
              </a:rPr>
              <a:t>Ak</a:t>
            </a:r>
            <a:r>
              <a:rPr sz="2531" spc="18" dirty="0">
                <a:latin typeface="Gill Sans"/>
                <a:cs typeface="Gill Sans"/>
              </a:rPr>
              <a:t>a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127" dirty="0">
                <a:latin typeface="Gill Sans"/>
                <a:cs typeface="Gill Sans"/>
              </a:rPr>
              <a:t>k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nfo</a:t>
            </a:r>
            <a:r>
              <a:rPr sz="2531" dirty="0">
                <a:latin typeface="Gill Sans"/>
                <a:cs typeface="Gill Sans"/>
              </a:rPr>
              <a:t>r</a:t>
            </a:r>
            <a:r>
              <a:rPr sz="2531" spc="-4" dirty="0">
                <a:latin typeface="Gill Sans"/>
                <a:cs typeface="Gill Sans"/>
              </a:rPr>
              <a:t>m</a:t>
            </a:r>
            <a:r>
              <a:rPr sz="2531" spc="-18" dirty="0">
                <a:latin typeface="Gill Sans"/>
                <a:cs typeface="Gill Sans"/>
              </a:rPr>
              <a:t>a</a:t>
            </a:r>
            <a:r>
              <a:rPr sz="2531" spc="-4" dirty="0">
                <a:latin typeface="Gill Sans"/>
                <a:cs typeface="Gill Sans"/>
              </a:rPr>
              <a:t>t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o</a:t>
            </a:r>
            <a:r>
              <a:rPr sz="2531" dirty="0">
                <a:latin typeface="Gill Sans"/>
                <a:cs typeface="Gill Sans"/>
              </a:rPr>
              <a:t>n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dirty="0">
                <a:latin typeface="Gill Sans"/>
                <a:cs typeface="Gill Sans"/>
              </a:rPr>
              <a:t>C</a:t>
            </a:r>
            <a:r>
              <a:rPr sz="2531" spc="-109" dirty="0">
                <a:latin typeface="Gill Sans"/>
                <a:cs typeface="Gill Sans"/>
              </a:rPr>
              <a:t>r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t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109" dirty="0">
                <a:latin typeface="Gill Sans"/>
                <a:cs typeface="Gill Sans"/>
              </a:rPr>
              <a:t>r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o</a:t>
            </a:r>
            <a:r>
              <a:rPr sz="2531" dirty="0">
                <a:latin typeface="Gill Sans"/>
                <a:cs typeface="Gill Sans"/>
              </a:rPr>
              <a:t>n</a:t>
            </a:r>
            <a:endParaRPr sz="2531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05" y="-107156"/>
            <a:ext cx="6251228" cy="1073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1446558">
              <a:lnSpc>
                <a:spcPct val="145800"/>
              </a:lnSpc>
            </a:pPr>
            <a:r>
              <a:rPr sz="2531" b="1" spc="-21" dirty="0">
                <a:latin typeface="Gill Sans"/>
                <a:cs typeface="Gill Sans"/>
              </a:rPr>
              <a:t>Ak</a:t>
            </a:r>
            <a:r>
              <a:rPr sz="2531" b="1" spc="18" dirty="0">
                <a:latin typeface="Gill Sans"/>
                <a:cs typeface="Gill Sans"/>
              </a:rPr>
              <a:t>a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127" dirty="0">
                <a:latin typeface="Gill Sans"/>
                <a:cs typeface="Gill Sans"/>
              </a:rPr>
              <a:t>k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4" dirty="0">
                <a:latin typeface="Gill Sans"/>
                <a:cs typeface="Gill Sans"/>
              </a:rPr>
              <a:t> 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4" dirty="0">
                <a:latin typeface="Gill Sans"/>
                <a:cs typeface="Gill Sans"/>
              </a:rPr>
              <a:t>nfo</a:t>
            </a:r>
            <a:r>
              <a:rPr sz="2531" b="1" dirty="0">
                <a:latin typeface="Gill Sans"/>
                <a:cs typeface="Gill Sans"/>
              </a:rPr>
              <a:t>r</a:t>
            </a:r>
            <a:r>
              <a:rPr sz="2531" b="1" spc="-4" dirty="0">
                <a:latin typeface="Gill Sans"/>
                <a:cs typeface="Gill Sans"/>
              </a:rPr>
              <a:t>m</a:t>
            </a:r>
            <a:r>
              <a:rPr sz="2531" b="1" spc="-18" dirty="0">
                <a:latin typeface="Gill Sans"/>
                <a:cs typeface="Gill Sans"/>
              </a:rPr>
              <a:t>a</a:t>
            </a:r>
            <a:r>
              <a:rPr sz="2531" b="1" spc="-4" dirty="0">
                <a:latin typeface="Gill Sans"/>
                <a:cs typeface="Gill Sans"/>
              </a:rPr>
              <a:t>t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4" dirty="0">
                <a:latin typeface="Gill Sans"/>
                <a:cs typeface="Gill Sans"/>
              </a:rPr>
              <a:t>o</a:t>
            </a:r>
            <a:r>
              <a:rPr sz="2531" b="1" dirty="0">
                <a:latin typeface="Gill Sans"/>
                <a:cs typeface="Gill Sans"/>
              </a:rPr>
              <a:t>n</a:t>
            </a:r>
            <a:r>
              <a:rPr sz="2531" b="1" spc="-4" dirty="0">
                <a:latin typeface="Gill Sans"/>
                <a:cs typeface="Gill Sans"/>
              </a:rPr>
              <a:t> </a:t>
            </a:r>
            <a:r>
              <a:rPr sz="2531" b="1" dirty="0">
                <a:latin typeface="Gill Sans"/>
                <a:cs typeface="Gill Sans"/>
              </a:rPr>
              <a:t>C</a:t>
            </a:r>
            <a:r>
              <a:rPr sz="2531" b="1" spc="-109" dirty="0">
                <a:latin typeface="Gill Sans"/>
                <a:cs typeface="Gill Sans"/>
              </a:rPr>
              <a:t>r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4" dirty="0">
                <a:latin typeface="Gill Sans"/>
                <a:cs typeface="Gill Sans"/>
              </a:rPr>
              <a:t>t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109" dirty="0">
                <a:latin typeface="Gill Sans"/>
                <a:cs typeface="Gill Sans"/>
              </a:rPr>
              <a:t>r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4" dirty="0">
                <a:latin typeface="Gill Sans"/>
                <a:cs typeface="Gill Sans"/>
              </a:rPr>
              <a:t>o</a:t>
            </a:r>
            <a:r>
              <a:rPr sz="2531" b="1" dirty="0">
                <a:latin typeface="Gill Sans"/>
                <a:cs typeface="Gill Sans"/>
              </a:rPr>
              <a:t>n “</a:t>
            </a:r>
            <a:r>
              <a:rPr sz="2531" b="1" spc="-74" dirty="0">
                <a:latin typeface="Gill Sans"/>
                <a:cs typeface="Gill Sans"/>
              </a:rPr>
              <a:t>T</a:t>
            </a:r>
            <a:r>
              <a:rPr sz="2531" b="1" spc="-39" dirty="0">
                <a:latin typeface="Gill Sans"/>
                <a:cs typeface="Gill Sans"/>
              </a:rPr>
              <a:t>r</a:t>
            </a:r>
            <a:r>
              <a:rPr sz="2531" b="1" spc="-4" dirty="0">
                <a:latin typeface="Gill Sans"/>
                <a:cs typeface="Gill Sans"/>
              </a:rPr>
              <a:t>u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4" dirty="0">
                <a:latin typeface="Gill Sans"/>
                <a:cs typeface="Gill Sans"/>
              </a:rPr>
              <a:t> mo</a:t>
            </a:r>
            <a:r>
              <a:rPr sz="2531" b="1" dirty="0">
                <a:latin typeface="Gill Sans"/>
                <a:cs typeface="Gill Sans"/>
              </a:rPr>
              <a:t>del”</a:t>
            </a:r>
            <a:endParaRPr sz="2531" dirty="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1298" y="1468969"/>
            <a:ext cx="0" cy="4750147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03573" y="1394389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03573" y="1296163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861298" y="1001648"/>
            <a:ext cx="0" cy="357633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641530" y="1729114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1660547" y="6095301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 txBox="1"/>
          <p:nvPr/>
        </p:nvSpPr>
        <p:spPr>
          <a:xfrm>
            <a:off x="723305" y="-107156"/>
            <a:ext cx="6251228" cy="1073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1446558">
              <a:lnSpc>
                <a:spcPct val="145800"/>
              </a:lnSpc>
            </a:pPr>
            <a:r>
              <a:rPr sz="2531" b="1" spc="-21" dirty="0">
                <a:latin typeface="Gill Sans"/>
                <a:cs typeface="Gill Sans"/>
              </a:rPr>
              <a:t>Ak</a:t>
            </a:r>
            <a:r>
              <a:rPr sz="2531" b="1" spc="18" dirty="0">
                <a:latin typeface="Gill Sans"/>
                <a:cs typeface="Gill Sans"/>
              </a:rPr>
              <a:t>a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127" dirty="0">
                <a:latin typeface="Gill Sans"/>
                <a:cs typeface="Gill Sans"/>
              </a:rPr>
              <a:t>k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4" dirty="0">
                <a:latin typeface="Gill Sans"/>
                <a:cs typeface="Gill Sans"/>
              </a:rPr>
              <a:t> 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4" dirty="0">
                <a:latin typeface="Gill Sans"/>
                <a:cs typeface="Gill Sans"/>
              </a:rPr>
              <a:t>nfo</a:t>
            </a:r>
            <a:r>
              <a:rPr sz="2531" b="1" dirty="0">
                <a:latin typeface="Gill Sans"/>
                <a:cs typeface="Gill Sans"/>
              </a:rPr>
              <a:t>r</a:t>
            </a:r>
            <a:r>
              <a:rPr sz="2531" b="1" spc="-4" dirty="0">
                <a:latin typeface="Gill Sans"/>
                <a:cs typeface="Gill Sans"/>
              </a:rPr>
              <a:t>m</a:t>
            </a:r>
            <a:r>
              <a:rPr sz="2531" b="1" spc="-18" dirty="0">
                <a:latin typeface="Gill Sans"/>
                <a:cs typeface="Gill Sans"/>
              </a:rPr>
              <a:t>a</a:t>
            </a:r>
            <a:r>
              <a:rPr sz="2531" b="1" spc="-4" dirty="0">
                <a:latin typeface="Gill Sans"/>
                <a:cs typeface="Gill Sans"/>
              </a:rPr>
              <a:t>t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4" dirty="0">
                <a:latin typeface="Gill Sans"/>
                <a:cs typeface="Gill Sans"/>
              </a:rPr>
              <a:t>o</a:t>
            </a:r>
            <a:r>
              <a:rPr sz="2531" b="1" dirty="0">
                <a:latin typeface="Gill Sans"/>
                <a:cs typeface="Gill Sans"/>
              </a:rPr>
              <a:t>n</a:t>
            </a:r>
            <a:r>
              <a:rPr sz="2531" b="1" spc="-4" dirty="0">
                <a:latin typeface="Gill Sans"/>
                <a:cs typeface="Gill Sans"/>
              </a:rPr>
              <a:t> </a:t>
            </a:r>
            <a:r>
              <a:rPr sz="2531" b="1" dirty="0">
                <a:latin typeface="Gill Sans"/>
                <a:cs typeface="Gill Sans"/>
              </a:rPr>
              <a:t>C</a:t>
            </a:r>
            <a:r>
              <a:rPr sz="2531" b="1" spc="-109" dirty="0">
                <a:latin typeface="Gill Sans"/>
                <a:cs typeface="Gill Sans"/>
              </a:rPr>
              <a:t>r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4" dirty="0">
                <a:latin typeface="Gill Sans"/>
                <a:cs typeface="Gill Sans"/>
              </a:rPr>
              <a:t>t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109" dirty="0">
                <a:latin typeface="Gill Sans"/>
                <a:cs typeface="Gill Sans"/>
              </a:rPr>
              <a:t>r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4" dirty="0">
                <a:latin typeface="Gill Sans"/>
                <a:cs typeface="Gill Sans"/>
              </a:rPr>
              <a:t>o</a:t>
            </a:r>
            <a:r>
              <a:rPr sz="2531" b="1" dirty="0">
                <a:latin typeface="Gill Sans"/>
                <a:cs typeface="Gill Sans"/>
              </a:rPr>
              <a:t>n “</a:t>
            </a:r>
            <a:r>
              <a:rPr sz="2531" b="1" spc="-74" dirty="0">
                <a:latin typeface="Gill Sans"/>
                <a:cs typeface="Gill Sans"/>
              </a:rPr>
              <a:t>T</a:t>
            </a:r>
            <a:r>
              <a:rPr sz="2531" b="1" spc="-39" dirty="0">
                <a:latin typeface="Gill Sans"/>
                <a:cs typeface="Gill Sans"/>
              </a:rPr>
              <a:t>r</a:t>
            </a:r>
            <a:r>
              <a:rPr sz="2531" b="1" spc="-4" dirty="0">
                <a:latin typeface="Gill Sans"/>
                <a:cs typeface="Gill Sans"/>
              </a:rPr>
              <a:t>u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4" dirty="0">
                <a:latin typeface="Gill Sans"/>
                <a:cs typeface="Gill Sans"/>
              </a:rPr>
              <a:t> mo</a:t>
            </a:r>
            <a:r>
              <a:rPr sz="2531" b="1" dirty="0">
                <a:latin typeface="Gill Sans"/>
                <a:cs typeface="Gill Sans"/>
              </a:rPr>
              <a:t>del”</a:t>
            </a:r>
            <a:endParaRPr sz="2531" dirty="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1298" y="1468969"/>
            <a:ext cx="0" cy="4750147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03573" y="1394389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03573" y="1296163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861298" y="1001648"/>
            <a:ext cx="0" cy="357633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641530" y="1729114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1660547" y="6095301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 txBox="1"/>
          <p:nvPr/>
        </p:nvSpPr>
        <p:spPr>
          <a:xfrm>
            <a:off x="723305" y="-160734"/>
            <a:ext cx="6251228" cy="1073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1446558">
              <a:lnSpc>
                <a:spcPct val="145800"/>
              </a:lnSpc>
            </a:pPr>
            <a:r>
              <a:rPr sz="2531" b="1" spc="-21" dirty="0">
                <a:latin typeface="Gill Sans"/>
                <a:cs typeface="Gill Sans"/>
              </a:rPr>
              <a:t>Ak</a:t>
            </a:r>
            <a:r>
              <a:rPr sz="2531" b="1" spc="18" dirty="0">
                <a:latin typeface="Gill Sans"/>
                <a:cs typeface="Gill Sans"/>
              </a:rPr>
              <a:t>a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127" dirty="0">
                <a:latin typeface="Gill Sans"/>
                <a:cs typeface="Gill Sans"/>
              </a:rPr>
              <a:t>k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4" dirty="0">
                <a:latin typeface="Gill Sans"/>
                <a:cs typeface="Gill Sans"/>
              </a:rPr>
              <a:t> 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4" dirty="0">
                <a:latin typeface="Gill Sans"/>
                <a:cs typeface="Gill Sans"/>
              </a:rPr>
              <a:t>nfo</a:t>
            </a:r>
            <a:r>
              <a:rPr sz="2531" b="1" dirty="0">
                <a:latin typeface="Gill Sans"/>
                <a:cs typeface="Gill Sans"/>
              </a:rPr>
              <a:t>r</a:t>
            </a:r>
            <a:r>
              <a:rPr sz="2531" b="1" spc="-4" dirty="0">
                <a:latin typeface="Gill Sans"/>
                <a:cs typeface="Gill Sans"/>
              </a:rPr>
              <a:t>m</a:t>
            </a:r>
            <a:r>
              <a:rPr sz="2531" b="1" spc="-18" dirty="0">
                <a:latin typeface="Gill Sans"/>
                <a:cs typeface="Gill Sans"/>
              </a:rPr>
              <a:t>a</a:t>
            </a:r>
            <a:r>
              <a:rPr sz="2531" b="1" spc="-4" dirty="0">
                <a:latin typeface="Gill Sans"/>
                <a:cs typeface="Gill Sans"/>
              </a:rPr>
              <a:t>t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4" dirty="0">
                <a:latin typeface="Gill Sans"/>
                <a:cs typeface="Gill Sans"/>
              </a:rPr>
              <a:t>o</a:t>
            </a:r>
            <a:r>
              <a:rPr sz="2531" b="1" dirty="0">
                <a:latin typeface="Gill Sans"/>
                <a:cs typeface="Gill Sans"/>
              </a:rPr>
              <a:t>n</a:t>
            </a:r>
            <a:r>
              <a:rPr sz="2531" b="1" spc="-4" dirty="0">
                <a:latin typeface="Gill Sans"/>
                <a:cs typeface="Gill Sans"/>
              </a:rPr>
              <a:t> </a:t>
            </a:r>
            <a:r>
              <a:rPr sz="2531" b="1" dirty="0">
                <a:latin typeface="Gill Sans"/>
                <a:cs typeface="Gill Sans"/>
              </a:rPr>
              <a:t>C</a:t>
            </a:r>
            <a:r>
              <a:rPr sz="2531" b="1" spc="-109" dirty="0">
                <a:latin typeface="Gill Sans"/>
                <a:cs typeface="Gill Sans"/>
              </a:rPr>
              <a:t>r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4" dirty="0">
                <a:latin typeface="Gill Sans"/>
                <a:cs typeface="Gill Sans"/>
              </a:rPr>
              <a:t>t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109" dirty="0">
                <a:latin typeface="Gill Sans"/>
                <a:cs typeface="Gill Sans"/>
              </a:rPr>
              <a:t>r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4" dirty="0">
                <a:latin typeface="Gill Sans"/>
                <a:cs typeface="Gill Sans"/>
              </a:rPr>
              <a:t>o</a:t>
            </a:r>
            <a:r>
              <a:rPr sz="2531" b="1" dirty="0">
                <a:latin typeface="Gill Sans"/>
                <a:cs typeface="Gill Sans"/>
              </a:rPr>
              <a:t>n “</a:t>
            </a:r>
            <a:r>
              <a:rPr sz="2531" b="1" spc="-74" dirty="0">
                <a:latin typeface="Gill Sans"/>
                <a:cs typeface="Gill Sans"/>
              </a:rPr>
              <a:t>T</a:t>
            </a:r>
            <a:r>
              <a:rPr sz="2531" b="1" spc="-39" dirty="0">
                <a:latin typeface="Gill Sans"/>
                <a:cs typeface="Gill Sans"/>
              </a:rPr>
              <a:t>r</a:t>
            </a:r>
            <a:r>
              <a:rPr sz="2531" b="1" spc="-4" dirty="0">
                <a:latin typeface="Gill Sans"/>
                <a:cs typeface="Gill Sans"/>
              </a:rPr>
              <a:t>u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4" dirty="0">
                <a:latin typeface="Gill Sans"/>
                <a:cs typeface="Gill Sans"/>
              </a:rPr>
              <a:t> mo</a:t>
            </a:r>
            <a:r>
              <a:rPr sz="2531" b="1" dirty="0">
                <a:latin typeface="Gill Sans"/>
                <a:cs typeface="Gill Sans"/>
              </a:rPr>
              <a:t>del”</a:t>
            </a:r>
            <a:endParaRPr sz="2531" dirty="0">
              <a:latin typeface="Gill Sans"/>
              <a:cs typeface="Gill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90165" y="4899688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1521407" y="5016221"/>
            <a:ext cx="182165" cy="182165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 txBox="1"/>
          <p:nvPr/>
        </p:nvSpPr>
        <p:spPr>
          <a:xfrm>
            <a:off x="1446791" y="2620308"/>
            <a:ext cx="324576" cy="21216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8929"/>
            <a:r>
              <a:rPr sz="2109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dirty="0">
                <a:latin typeface="Gill Sans"/>
                <a:cs typeface="Gill Sans"/>
              </a:rPr>
              <a:t>stance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f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om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truth</a:t>
            </a:r>
            <a:endParaRPr sz="2109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1298" y="1468969"/>
            <a:ext cx="0" cy="4750147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03573" y="1394389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03573" y="1296163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861298" y="1001648"/>
            <a:ext cx="0" cy="357633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641530" y="1729114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1660547" y="6095301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 txBox="1"/>
          <p:nvPr/>
        </p:nvSpPr>
        <p:spPr>
          <a:xfrm>
            <a:off x="312540" y="-107156"/>
            <a:ext cx="6661993" cy="2108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680" marR="3572" indent="1446558">
              <a:lnSpc>
                <a:spcPct val="145800"/>
              </a:lnSpc>
            </a:pPr>
            <a:r>
              <a:rPr sz="2531" b="1" spc="-21" dirty="0">
                <a:latin typeface="Gill Sans"/>
                <a:cs typeface="Gill Sans"/>
              </a:rPr>
              <a:t>Ak</a:t>
            </a:r>
            <a:r>
              <a:rPr sz="2531" b="1" spc="18" dirty="0">
                <a:latin typeface="Gill Sans"/>
                <a:cs typeface="Gill Sans"/>
              </a:rPr>
              <a:t>a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127" dirty="0">
                <a:latin typeface="Gill Sans"/>
                <a:cs typeface="Gill Sans"/>
              </a:rPr>
              <a:t>k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4" dirty="0">
                <a:latin typeface="Gill Sans"/>
                <a:cs typeface="Gill Sans"/>
              </a:rPr>
              <a:t> 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4" dirty="0">
                <a:latin typeface="Gill Sans"/>
                <a:cs typeface="Gill Sans"/>
              </a:rPr>
              <a:t>nfo</a:t>
            </a:r>
            <a:r>
              <a:rPr sz="2531" b="1" dirty="0">
                <a:latin typeface="Gill Sans"/>
                <a:cs typeface="Gill Sans"/>
              </a:rPr>
              <a:t>r</a:t>
            </a:r>
            <a:r>
              <a:rPr sz="2531" b="1" spc="-4" dirty="0">
                <a:latin typeface="Gill Sans"/>
                <a:cs typeface="Gill Sans"/>
              </a:rPr>
              <a:t>m</a:t>
            </a:r>
            <a:r>
              <a:rPr sz="2531" b="1" spc="-18" dirty="0">
                <a:latin typeface="Gill Sans"/>
                <a:cs typeface="Gill Sans"/>
              </a:rPr>
              <a:t>a</a:t>
            </a:r>
            <a:r>
              <a:rPr sz="2531" b="1" spc="-4" dirty="0">
                <a:latin typeface="Gill Sans"/>
                <a:cs typeface="Gill Sans"/>
              </a:rPr>
              <a:t>t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4" dirty="0">
                <a:latin typeface="Gill Sans"/>
                <a:cs typeface="Gill Sans"/>
              </a:rPr>
              <a:t>o</a:t>
            </a:r>
            <a:r>
              <a:rPr sz="2531" b="1" dirty="0">
                <a:latin typeface="Gill Sans"/>
                <a:cs typeface="Gill Sans"/>
              </a:rPr>
              <a:t>n</a:t>
            </a:r>
            <a:r>
              <a:rPr sz="2531" b="1" spc="-4" dirty="0">
                <a:latin typeface="Gill Sans"/>
                <a:cs typeface="Gill Sans"/>
              </a:rPr>
              <a:t> </a:t>
            </a:r>
            <a:r>
              <a:rPr sz="2531" b="1" dirty="0">
                <a:latin typeface="Gill Sans"/>
                <a:cs typeface="Gill Sans"/>
              </a:rPr>
              <a:t>C</a:t>
            </a:r>
            <a:r>
              <a:rPr sz="2531" b="1" spc="-109" dirty="0">
                <a:latin typeface="Gill Sans"/>
                <a:cs typeface="Gill Sans"/>
              </a:rPr>
              <a:t>r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4" dirty="0">
                <a:latin typeface="Gill Sans"/>
                <a:cs typeface="Gill Sans"/>
              </a:rPr>
              <a:t>t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109" dirty="0">
                <a:latin typeface="Gill Sans"/>
                <a:cs typeface="Gill Sans"/>
              </a:rPr>
              <a:t>r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4" dirty="0">
                <a:latin typeface="Gill Sans"/>
                <a:cs typeface="Gill Sans"/>
              </a:rPr>
              <a:t>o</a:t>
            </a:r>
            <a:r>
              <a:rPr sz="2531" b="1" dirty="0">
                <a:latin typeface="Gill Sans"/>
                <a:cs typeface="Gill Sans"/>
              </a:rPr>
              <a:t>n “</a:t>
            </a:r>
            <a:r>
              <a:rPr sz="2531" b="1" spc="-74" dirty="0">
                <a:latin typeface="Gill Sans"/>
                <a:cs typeface="Gill Sans"/>
              </a:rPr>
              <a:t>T</a:t>
            </a:r>
            <a:r>
              <a:rPr sz="2531" b="1" spc="-39" dirty="0">
                <a:latin typeface="Gill Sans"/>
                <a:cs typeface="Gill Sans"/>
              </a:rPr>
              <a:t>r</a:t>
            </a:r>
            <a:r>
              <a:rPr sz="2531" b="1" spc="-4" dirty="0">
                <a:latin typeface="Gill Sans"/>
                <a:cs typeface="Gill Sans"/>
              </a:rPr>
              <a:t>u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4" dirty="0">
                <a:latin typeface="Gill Sans"/>
                <a:cs typeface="Gill Sans"/>
              </a:rPr>
              <a:t> mo</a:t>
            </a:r>
            <a:r>
              <a:rPr sz="2531" b="1" dirty="0">
                <a:latin typeface="Gill Sans"/>
                <a:cs typeface="Gill Sans"/>
              </a:rPr>
              <a:t>del”</a:t>
            </a:r>
            <a:endParaRPr sz="2531" dirty="0">
              <a:latin typeface="Gill Sans"/>
              <a:cs typeface="Gill Sans"/>
            </a:endParaRPr>
          </a:p>
          <a:p>
            <a:pPr>
              <a:lnSpc>
                <a:spcPct val="100000"/>
              </a:lnSpc>
            </a:pPr>
            <a:endParaRPr sz="2531" dirty="0">
              <a:latin typeface="Times New Roman"/>
              <a:cs typeface="Times New Roman"/>
            </a:endParaRPr>
          </a:p>
          <a:p>
            <a:pPr marL="8929">
              <a:spcBef>
                <a:spcPts val="1505"/>
              </a:spcBef>
            </a:pPr>
            <a:r>
              <a:rPr sz="2531" dirty="0">
                <a:latin typeface="Gill Sans"/>
                <a:cs typeface="Gill Sans"/>
              </a:rPr>
              <a:t>Better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spc="18" dirty="0">
                <a:latin typeface="Gill Sans"/>
                <a:cs typeface="Gill Sans"/>
              </a:rPr>
              <a:t>fit</a:t>
            </a:r>
            <a:endParaRPr sz="2531" dirty="0">
              <a:latin typeface="Gill Sans"/>
              <a:cs typeface="Gill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90165" y="4899688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1521407" y="5016221"/>
            <a:ext cx="182165" cy="182165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 txBox="1"/>
          <p:nvPr/>
        </p:nvSpPr>
        <p:spPr>
          <a:xfrm>
            <a:off x="1446791" y="2620308"/>
            <a:ext cx="324576" cy="21216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8929"/>
            <a:r>
              <a:rPr sz="2109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dirty="0">
                <a:latin typeface="Gill Sans"/>
                <a:cs typeface="Gill Sans"/>
              </a:rPr>
              <a:t>stance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f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om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truth</a:t>
            </a:r>
            <a:endParaRPr sz="2109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1298" y="1468969"/>
            <a:ext cx="0" cy="4750147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03573" y="1394389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03573" y="1296163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861298" y="1001648"/>
            <a:ext cx="0" cy="357633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1641530" y="1729114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/>
          <p:nvPr/>
        </p:nvSpPr>
        <p:spPr>
          <a:xfrm>
            <a:off x="1660547" y="6095301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 txBox="1"/>
          <p:nvPr/>
        </p:nvSpPr>
        <p:spPr>
          <a:xfrm>
            <a:off x="312540" y="-79921"/>
            <a:ext cx="6661993" cy="21085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680" marR="3572" indent="1446558">
              <a:lnSpc>
                <a:spcPct val="145800"/>
              </a:lnSpc>
            </a:pPr>
            <a:r>
              <a:rPr sz="2531" b="1" spc="-21" dirty="0">
                <a:latin typeface="Gill Sans"/>
                <a:cs typeface="Gill Sans"/>
              </a:rPr>
              <a:t>Ak</a:t>
            </a:r>
            <a:r>
              <a:rPr sz="2531" b="1" spc="18" dirty="0">
                <a:latin typeface="Gill Sans"/>
                <a:cs typeface="Gill Sans"/>
              </a:rPr>
              <a:t>a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127" dirty="0">
                <a:latin typeface="Gill Sans"/>
                <a:cs typeface="Gill Sans"/>
              </a:rPr>
              <a:t>k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4" dirty="0">
                <a:latin typeface="Gill Sans"/>
                <a:cs typeface="Gill Sans"/>
              </a:rPr>
              <a:t> 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4" dirty="0">
                <a:latin typeface="Gill Sans"/>
                <a:cs typeface="Gill Sans"/>
              </a:rPr>
              <a:t>nfo</a:t>
            </a:r>
            <a:r>
              <a:rPr sz="2531" b="1" dirty="0">
                <a:latin typeface="Gill Sans"/>
                <a:cs typeface="Gill Sans"/>
              </a:rPr>
              <a:t>r</a:t>
            </a:r>
            <a:r>
              <a:rPr sz="2531" b="1" spc="-4" dirty="0">
                <a:latin typeface="Gill Sans"/>
                <a:cs typeface="Gill Sans"/>
              </a:rPr>
              <a:t>m</a:t>
            </a:r>
            <a:r>
              <a:rPr sz="2531" b="1" spc="-18" dirty="0">
                <a:latin typeface="Gill Sans"/>
                <a:cs typeface="Gill Sans"/>
              </a:rPr>
              <a:t>a</a:t>
            </a:r>
            <a:r>
              <a:rPr sz="2531" b="1" spc="-4" dirty="0">
                <a:latin typeface="Gill Sans"/>
                <a:cs typeface="Gill Sans"/>
              </a:rPr>
              <a:t>t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4" dirty="0">
                <a:latin typeface="Gill Sans"/>
                <a:cs typeface="Gill Sans"/>
              </a:rPr>
              <a:t>o</a:t>
            </a:r>
            <a:r>
              <a:rPr sz="2531" b="1" dirty="0">
                <a:latin typeface="Gill Sans"/>
                <a:cs typeface="Gill Sans"/>
              </a:rPr>
              <a:t>n</a:t>
            </a:r>
            <a:r>
              <a:rPr sz="2531" b="1" spc="-4" dirty="0">
                <a:latin typeface="Gill Sans"/>
                <a:cs typeface="Gill Sans"/>
              </a:rPr>
              <a:t> </a:t>
            </a:r>
            <a:r>
              <a:rPr sz="2531" b="1" dirty="0">
                <a:latin typeface="Gill Sans"/>
                <a:cs typeface="Gill Sans"/>
              </a:rPr>
              <a:t>C</a:t>
            </a:r>
            <a:r>
              <a:rPr sz="2531" b="1" spc="-109" dirty="0">
                <a:latin typeface="Gill Sans"/>
                <a:cs typeface="Gill Sans"/>
              </a:rPr>
              <a:t>r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4" dirty="0">
                <a:latin typeface="Gill Sans"/>
                <a:cs typeface="Gill Sans"/>
              </a:rPr>
              <a:t>t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109" dirty="0">
                <a:latin typeface="Gill Sans"/>
                <a:cs typeface="Gill Sans"/>
              </a:rPr>
              <a:t>r</a:t>
            </a:r>
            <a:r>
              <a:rPr sz="2531" b="1" dirty="0">
                <a:latin typeface="Gill Sans"/>
                <a:cs typeface="Gill Sans"/>
              </a:rPr>
              <a:t>i</a:t>
            </a:r>
            <a:r>
              <a:rPr sz="2531" b="1" spc="-4" dirty="0">
                <a:latin typeface="Gill Sans"/>
                <a:cs typeface="Gill Sans"/>
              </a:rPr>
              <a:t>o</a:t>
            </a:r>
            <a:r>
              <a:rPr sz="2531" b="1" dirty="0">
                <a:latin typeface="Gill Sans"/>
                <a:cs typeface="Gill Sans"/>
              </a:rPr>
              <a:t>n “</a:t>
            </a:r>
            <a:r>
              <a:rPr sz="2531" b="1" spc="-74" dirty="0">
                <a:latin typeface="Gill Sans"/>
                <a:cs typeface="Gill Sans"/>
              </a:rPr>
              <a:t>T</a:t>
            </a:r>
            <a:r>
              <a:rPr sz="2531" b="1" spc="-39" dirty="0">
                <a:latin typeface="Gill Sans"/>
                <a:cs typeface="Gill Sans"/>
              </a:rPr>
              <a:t>r</a:t>
            </a:r>
            <a:r>
              <a:rPr sz="2531" b="1" spc="-4" dirty="0">
                <a:latin typeface="Gill Sans"/>
                <a:cs typeface="Gill Sans"/>
              </a:rPr>
              <a:t>u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4" dirty="0">
                <a:latin typeface="Gill Sans"/>
                <a:cs typeface="Gill Sans"/>
              </a:rPr>
              <a:t> mo</a:t>
            </a:r>
            <a:r>
              <a:rPr sz="2531" b="1" dirty="0">
                <a:latin typeface="Gill Sans"/>
                <a:cs typeface="Gill Sans"/>
              </a:rPr>
              <a:t>del”</a:t>
            </a:r>
            <a:endParaRPr sz="2531" dirty="0">
              <a:latin typeface="Gill Sans"/>
              <a:cs typeface="Gill Sans"/>
            </a:endParaRPr>
          </a:p>
          <a:p>
            <a:pPr>
              <a:lnSpc>
                <a:spcPct val="100000"/>
              </a:lnSpc>
            </a:pPr>
            <a:endParaRPr sz="2531" dirty="0">
              <a:latin typeface="Times New Roman"/>
              <a:cs typeface="Times New Roman"/>
            </a:endParaRPr>
          </a:p>
          <a:p>
            <a:pPr marL="8929">
              <a:spcBef>
                <a:spcPts val="1505"/>
              </a:spcBef>
            </a:pPr>
            <a:r>
              <a:rPr sz="2531" dirty="0">
                <a:latin typeface="Gill Sans"/>
                <a:cs typeface="Gill Sans"/>
              </a:rPr>
              <a:t>Better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spc="18" dirty="0">
                <a:latin typeface="Gill Sans"/>
                <a:cs typeface="Gill Sans"/>
              </a:rPr>
              <a:t>fit</a:t>
            </a:r>
            <a:endParaRPr sz="2531" dirty="0">
              <a:latin typeface="Gill Sans"/>
              <a:cs typeface="Gill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7187" y="5922387"/>
            <a:ext cx="1263551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spc="-257" dirty="0">
                <a:latin typeface="Gill Sans"/>
                <a:cs typeface="Gill Sans"/>
              </a:rPr>
              <a:t>W</a:t>
            </a:r>
            <a:r>
              <a:rPr sz="2531" spc="-14" dirty="0">
                <a:latin typeface="Gill Sans"/>
                <a:cs typeface="Gill Sans"/>
              </a:rPr>
              <a:t>ors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spc="18" dirty="0">
                <a:latin typeface="Gill Sans"/>
                <a:cs typeface="Gill Sans"/>
              </a:rPr>
              <a:t>fit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90165" y="4899688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/>
          <p:nvPr/>
        </p:nvSpPr>
        <p:spPr>
          <a:xfrm>
            <a:off x="1521407" y="5016221"/>
            <a:ext cx="182165" cy="182165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2" name="object 12"/>
          <p:cNvSpPr txBox="1"/>
          <p:nvPr/>
        </p:nvSpPr>
        <p:spPr>
          <a:xfrm>
            <a:off x="1446791" y="2620308"/>
            <a:ext cx="324576" cy="21216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8929"/>
            <a:r>
              <a:rPr sz="2109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dirty="0">
                <a:latin typeface="Gill Sans"/>
                <a:cs typeface="Gill Sans"/>
              </a:rPr>
              <a:t>stance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f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om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truth</a:t>
            </a:r>
            <a:endParaRPr sz="2109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1298" y="1468969"/>
            <a:ext cx="0" cy="4750147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03573" y="1394389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03573" y="1296163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861298" y="1001648"/>
            <a:ext cx="0" cy="357633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 txBox="1"/>
          <p:nvPr/>
        </p:nvSpPr>
        <p:spPr>
          <a:xfrm>
            <a:off x="312539" y="636716"/>
            <a:ext cx="2692301" cy="13607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indent="410751"/>
            <a:r>
              <a:rPr sz="2531" b="1" dirty="0">
                <a:latin typeface="Gill Sans"/>
                <a:cs typeface="Gill Sans"/>
              </a:rPr>
              <a:t>“</a:t>
            </a:r>
            <a:r>
              <a:rPr sz="2531" b="1" spc="-74" dirty="0">
                <a:latin typeface="Gill Sans"/>
                <a:cs typeface="Gill Sans"/>
              </a:rPr>
              <a:t>T</a:t>
            </a:r>
            <a:r>
              <a:rPr sz="2531" b="1" spc="-39" dirty="0">
                <a:latin typeface="Gill Sans"/>
                <a:cs typeface="Gill Sans"/>
              </a:rPr>
              <a:t>r</a:t>
            </a:r>
            <a:r>
              <a:rPr sz="2531" b="1" spc="-4" dirty="0">
                <a:latin typeface="Gill Sans"/>
                <a:cs typeface="Gill Sans"/>
              </a:rPr>
              <a:t>u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4" dirty="0">
                <a:latin typeface="Gill Sans"/>
                <a:cs typeface="Gill Sans"/>
              </a:rPr>
              <a:t> mo</a:t>
            </a:r>
            <a:r>
              <a:rPr sz="2531" b="1" dirty="0">
                <a:latin typeface="Gill Sans"/>
                <a:cs typeface="Gill Sans"/>
              </a:rPr>
              <a:t>del”</a:t>
            </a:r>
            <a:endParaRPr sz="2531">
              <a:latin typeface="Gill Sans"/>
              <a:cs typeface="Gill Sans"/>
            </a:endParaRPr>
          </a:p>
          <a:p>
            <a:pPr>
              <a:lnSpc>
                <a:spcPct val="100000"/>
              </a:lnSpc>
            </a:pPr>
            <a:endParaRPr sz="2531">
              <a:latin typeface="Times New Roman"/>
              <a:cs typeface="Times New Roman"/>
            </a:endParaRPr>
          </a:p>
          <a:p>
            <a:pPr marL="8929">
              <a:spcBef>
                <a:spcPts val="1505"/>
              </a:spcBef>
            </a:pPr>
            <a:r>
              <a:rPr sz="2531" dirty="0">
                <a:latin typeface="Gill Sans"/>
                <a:cs typeface="Gill Sans"/>
              </a:rPr>
              <a:t>Better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spc="18" dirty="0">
                <a:latin typeface="Gill Sans"/>
                <a:cs typeface="Gill Sans"/>
              </a:rPr>
              <a:t>fit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41530" y="1729114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8" name="object 8"/>
          <p:cNvSpPr/>
          <p:nvPr/>
        </p:nvSpPr>
        <p:spPr>
          <a:xfrm>
            <a:off x="1660547" y="6095301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21469" y="372688"/>
            <a:ext cx="5786438" cy="444505"/>
          </a:xfrm>
          <a:prstGeom prst="rect">
            <a:avLst/>
          </a:prstGeom>
        </p:spPr>
        <p:txBody>
          <a:bodyPr vert="horz" wrap="square" lIns="0" tIns="54507" rIns="0" bIns="0" rtlCol="0" anchor="ctr">
            <a:spAutoFit/>
          </a:bodyPr>
          <a:lstStyle/>
          <a:p>
            <a:pPr marL="1203233"/>
            <a:r>
              <a:rPr sz="2531" spc="-21" dirty="0">
                <a:latin typeface="Gill Sans"/>
                <a:cs typeface="Gill Sans"/>
              </a:rPr>
              <a:t>Ak</a:t>
            </a:r>
            <a:r>
              <a:rPr sz="2531" spc="18" dirty="0">
                <a:latin typeface="Gill Sans"/>
                <a:cs typeface="Gill Sans"/>
              </a:rPr>
              <a:t>a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127" dirty="0">
                <a:latin typeface="Gill Sans"/>
                <a:cs typeface="Gill Sans"/>
              </a:rPr>
              <a:t>k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nfo</a:t>
            </a:r>
            <a:r>
              <a:rPr sz="2531" dirty="0">
                <a:latin typeface="Gill Sans"/>
                <a:cs typeface="Gill Sans"/>
              </a:rPr>
              <a:t>r</a:t>
            </a:r>
            <a:r>
              <a:rPr sz="2531" spc="-4" dirty="0">
                <a:latin typeface="Gill Sans"/>
                <a:cs typeface="Gill Sans"/>
              </a:rPr>
              <a:t>m</a:t>
            </a:r>
            <a:r>
              <a:rPr sz="2531" spc="-18" dirty="0">
                <a:latin typeface="Gill Sans"/>
                <a:cs typeface="Gill Sans"/>
              </a:rPr>
              <a:t>a</a:t>
            </a:r>
            <a:r>
              <a:rPr sz="2531" spc="-4" dirty="0">
                <a:latin typeface="Gill Sans"/>
                <a:cs typeface="Gill Sans"/>
              </a:rPr>
              <a:t>t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o</a:t>
            </a:r>
            <a:r>
              <a:rPr sz="2531" dirty="0">
                <a:latin typeface="Gill Sans"/>
                <a:cs typeface="Gill Sans"/>
              </a:rPr>
              <a:t>n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dirty="0">
                <a:latin typeface="Gill Sans"/>
                <a:cs typeface="Gill Sans"/>
              </a:rPr>
              <a:t>C</a:t>
            </a:r>
            <a:r>
              <a:rPr sz="2531" spc="-109" dirty="0">
                <a:latin typeface="Gill Sans"/>
                <a:cs typeface="Gill Sans"/>
              </a:rPr>
              <a:t>r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t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109" dirty="0">
                <a:latin typeface="Gill Sans"/>
                <a:cs typeface="Gill Sans"/>
              </a:rPr>
              <a:t>r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o</a:t>
            </a:r>
            <a:r>
              <a:rPr sz="2531" dirty="0">
                <a:latin typeface="Gill Sans"/>
                <a:cs typeface="Gill Sans"/>
              </a:rPr>
              <a:t>n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7187" y="5922387"/>
            <a:ext cx="1263551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spc="-257" dirty="0">
                <a:latin typeface="Gill Sans"/>
                <a:cs typeface="Gill Sans"/>
              </a:rPr>
              <a:t>W</a:t>
            </a:r>
            <a:r>
              <a:rPr sz="2531" spc="-14" dirty="0">
                <a:latin typeface="Gill Sans"/>
                <a:cs typeface="Gill Sans"/>
              </a:rPr>
              <a:t>ors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spc="18" dirty="0">
                <a:latin typeface="Gill Sans"/>
                <a:cs typeface="Gill Sans"/>
              </a:rPr>
              <a:t>fit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09180" y="3080924"/>
            <a:ext cx="1822996" cy="12952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496"/>
              </a:lnSpc>
            </a:pP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endParaRPr sz="2109">
              <a:latin typeface="Gill Sans"/>
              <a:cs typeface="Gill Sans"/>
            </a:endParaRPr>
          </a:p>
          <a:p>
            <a:pPr marL="8929" marR="3572">
              <a:lnSpc>
                <a:spcPts val="2461"/>
              </a:lnSpc>
              <a:spcBef>
                <a:spcPts val="105"/>
              </a:spcBef>
            </a:pPr>
            <a:r>
              <a:rPr sz="2109" spc="-11" dirty="0">
                <a:latin typeface="Gill Sans"/>
                <a:cs typeface="Gill Sans"/>
              </a:rPr>
              <a:t>est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mator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o</a:t>
            </a:r>
            <a:r>
              <a:rPr sz="2109" dirty="0">
                <a:latin typeface="Gill Sans"/>
                <a:cs typeface="Gill Sans"/>
              </a:rPr>
              <a:t>f 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11" dirty="0">
                <a:latin typeface="Gill Sans"/>
                <a:cs typeface="Gill Sans"/>
              </a:rPr>
              <a:t>a</a:t>
            </a:r>
            <a:r>
              <a:rPr sz="2109" dirty="0">
                <a:latin typeface="Gill Sans"/>
                <a:cs typeface="Gill Sans"/>
              </a:rPr>
              <a:t>t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53" dirty="0">
                <a:latin typeface="Gill Sans"/>
                <a:cs typeface="Gill Sans"/>
              </a:rPr>
              <a:t>v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r>
              <a:rPr sz="2109" spc="-7" dirty="0">
                <a:latin typeface="Gill Sans"/>
                <a:cs typeface="Gill Sans"/>
              </a:rPr>
              <a:t> f</a:t>
            </a:r>
            <a:r>
              <a:rPr sz="2109" spc="-63" dirty="0">
                <a:latin typeface="Gill Sans"/>
                <a:cs typeface="Gill Sans"/>
              </a:rPr>
              <a:t>r</a:t>
            </a:r>
            <a:r>
              <a:rPr sz="2109" spc="-14" dirty="0">
                <a:latin typeface="Gill Sans"/>
                <a:cs typeface="Gill Sans"/>
              </a:rPr>
              <a:t>om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true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mod</a:t>
            </a:r>
            <a:r>
              <a:rPr sz="2109" dirty="0">
                <a:latin typeface="Gill Sans"/>
                <a:cs typeface="Gill Sans"/>
              </a:rPr>
              <a:t>el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90165" y="4899688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3" name="object 13"/>
          <p:cNvSpPr/>
          <p:nvPr/>
        </p:nvSpPr>
        <p:spPr>
          <a:xfrm>
            <a:off x="1521407" y="5016221"/>
            <a:ext cx="182165" cy="182165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4" name="object 14"/>
          <p:cNvSpPr txBox="1"/>
          <p:nvPr/>
        </p:nvSpPr>
        <p:spPr>
          <a:xfrm>
            <a:off x="1446791" y="2620308"/>
            <a:ext cx="324576" cy="21216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8929"/>
            <a:r>
              <a:rPr sz="2109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dirty="0">
                <a:latin typeface="Gill Sans"/>
                <a:cs typeface="Gill Sans"/>
              </a:rPr>
              <a:t>stance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f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om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truth</a:t>
            </a:r>
            <a:endParaRPr sz="2109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1298" y="1468969"/>
            <a:ext cx="0" cy="4750147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03573" y="1394389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03573" y="1296163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861298" y="1001648"/>
            <a:ext cx="0" cy="357633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 txBox="1"/>
          <p:nvPr/>
        </p:nvSpPr>
        <p:spPr>
          <a:xfrm>
            <a:off x="723305" y="636716"/>
            <a:ext cx="2281535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b="1" dirty="0">
                <a:latin typeface="Gill Sans"/>
                <a:cs typeface="Gill Sans"/>
              </a:rPr>
              <a:t>“</a:t>
            </a:r>
            <a:r>
              <a:rPr sz="2531" b="1" spc="-74" dirty="0">
                <a:latin typeface="Gill Sans"/>
                <a:cs typeface="Gill Sans"/>
              </a:rPr>
              <a:t>T</a:t>
            </a:r>
            <a:r>
              <a:rPr sz="2531" b="1" spc="-39" dirty="0">
                <a:latin typeface="Gill Sans"/>
                <a:cs typeface="Gill Sans"/>
              </a:rPr>
              <a:t>r</a:t>
            </a:r>
            <a:r>
              <a:rPr sz="2531" b="1" spc="-4" dirty="0">
                <a:latin typeface="Gill Sans"/>
                <a:cs typeface="Gill Sans"/>
              </a:rPr>
              <a:t>u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4" dirty="0">
                <a:latin typeface="Gill Sans"/>
                <a:cs typeface="Gill Sans"/>
              </a:rPr>
              <a:t> mo</a:t>
            </a:r>
            <a:r>
              <a:rPr sz="2531" b="1" dirty="0">
                <a:latin typeface="Gill Sans"/>
                <a:cs typeface="Gill Sans"/>
              </a:rPr>
              <a:t>del”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2539" y="1573629"/>
            <a:ext cx="1205508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dirty="0">
                <a:latin typeface="Gill Sans"/>
                <a:cs typeface="Gill Sans"/>
              </a:rPr>
              <a:t>Better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spc="18" dirty="0">
                <a:latin typeface="Gill Sans"/>
                <a:cs typeface="Gill Sans"/>
              </a:rPr>
              <a:t>fit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2391" y="1598596"/>
            <a:ext cx="3013323" cy="324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35" dirty="0">
                <a:latin typeface="Gill Sans"/>
                <a:cs typeface="Gill Sans"/>
              </a:rPr>
              <a:t>o</a:t>
            </a:r>
            <a:r>
              <a:rPr sz="2109" spc="-46" dirty="0">
                <a:latin typeface="Gill Sans"/>
                <a:cs typeface="Gill Sans"/>
              </a:rPr>
              <a:t>w</a:t>
            </a:r>
            <a:r>
              <a:rPr sz="2109" dirty="0">
                <a:latin typeface="Gill Sans"/>
                <a:cs typeface="Gill Sans"/>
              </a:rPr>
              <a:t>er</a:t>
            </a:r>
            <a:r>
              <a:rPr sz="2109" spc="-21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r>
              <a:rPr sz="2109" spc="-4" dirty="0">
                <a:latin typeface="Gill Sans"/>
                <a:cs typeface="Gill Sans"/>
              </a:rPr>
              <a:t> l</a:t>
            </a:r>
            <a:r>
              <a:rPr sz="2109" spc="-35" dirty="0">
                <a:latin typeface="Gill Sans"/>
                <a:cs typeface="Gill Sans"/>
              </a:rPr>
              <a:t>o</a:t>
            </a:r>
            <a:r>
              <a:rPr sz="2109" spc="-46" dirty="0">
                <a:latin typeface="Gill Sans"/>
                <a:cs typeface="Gill Sans"/>
              </a:rPr>
              <a:t>w</a:t>
            </a:r>
            <a:r>
              <a:rPr sz="2109" dirty="0">
                <a:latin typeface="Gill Sans"/>
                <a:cs typeface="Gill Sans"/>
              </a:rPr>
              <a:t>er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41530" y="1729114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1660547" y="6095301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1469" y="372688"/>
            <a:ext cx="5786438" cy="444505"/>
          </a:xfrm>
          <a:prstGeom prst="rect">
            <a:avLst/>
          </a:prstGeom>
        </p:spPr>
        <p:txBody>
          <a:bodyPr vert="horz" wrap="square" lIns="0" tIns="54507" rIns="0" bIns="0" rtlCol="0" anchor="ctr">
            <a:spAutoFit/>
          </a:bodyPr>
          <a:lstStyle/>
          <a:p>
            <a:pPr marL="1203233"/>
            <a:r>
              <a:rPr sz="2531" spc="-21" dirty="0">
                <a:latin typeface="Gill Sans"/>
                <a:cs typeface="Gill Sans"/>
              </a:rPr>
              <a:t>Ak</a:t>
            </a:r>
            <a:r>
              <a:rPr sz="2531" spc="18" dirty="0">
                <a:latin typeface="Gill Sans"/>
                <a:cs typeface="Gill Sans"/>
              </a:rPr>
              <a:t>a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127" dirty="0">
                <a:latin typeface="Gill Sans"/>
                <a:cs typeface="Gill Sans"/>
              </a:rPr>
              <a:t>k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nfo</a:t>
            </a:r>
            <a:r>
              <a:rPr sz="2531" dirty="0">
                <a:latin typeface="Gill Sans"/>
                <a:cs typeface="Gill Sans"/>
              </a:rPr>
              <a:t>r</a:t>
            </a:r>
            <a:r>
              <a:rPr sz="2531" spc="-4" dirty="0">
                <a:latin typeface="Gill Sans"/>
                <a:cs typeface="Gill Sans"/>
              </a:rPr>
              <a:t>m</a:t>
            </a:r>
            <a:r>
              <a:rPr sz="2531" spc="-18" dirty="0">
                <a:latin typeface="Gill Sans"/>
                <a:cs typeface="Gill Sans"/>
              </a:rPr>
              <a:t>a</a:t>
            </a:r>
            <a:r>
              <a:rPr sz="2531" spc="-4" dirty="0">
                <a:latin typeface="Gill Sans"/>
                <a:cs typeface="Gill Sans"/>
              </a:rPr>
              <a:t>t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o</a:t>
            </a:r>
            <a:r>
              <a:rPr sz="2531" dirty="0">
                <a:latin typeface="Gill Sans"/>
                <a:cs typeface="Gill Sans"/>
              </a:rPr>
              <a:t>n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dirty="0">
                <a:latin typeface="Gill Sans"/>
                <a:cs typeface="Gill Sans"/>
              </a:rPr>
              <a:t>C</a:t>
            </a:r>
            <a:r>
              <a:rPr sz="2531" spc="-109" dirty="0">
                <a:latin typeface="Gill Sans"/>
                <a:cs typeface="Gill Sans"/>
              </a:rPr>
              <a:t>r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t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109" dirty="0">
                <a:latin typeface="Gill Sans"/>
                <a:cs typeface="Gill Sans"/>
              </a:rPr>
              <a:t>r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o</a:t>
            </a:r>
            <a:r>
              <a:rPr sz="2531" dirty="0">
                <a:latin typeface="Gill Sans"/>
                <a:cs typeface="Gill Sans"/>
              </a:rPr>
              <a:t>n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7187" y="5922387"/>
            <a:ext cx="1263551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spc="-257" dirty="0">
                <a:latin typeface="Gill Sans"/>
                <a:cs typeface="Gill Sans"/>
              </a:rPr>
              <a:t>W</a:t>
            </a:r>
            <a:r>
              <a:rPr sz="2531" spc="-14" dirty="0">
                <a:latin typeface="Gill Sans"/>
                <a:cs typeface="Gill Sans"/>
              </a:rPr>
              <a:t>ors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spc="18" dirty="0">
                <a:latin typeface="Gill Sans"/>
                <a:cs typeface="Gill Sans"/>
              </a:rPr>
              <a:t>fit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09180" y="3080924"/>
            <a:ext cx="1822996" cy="12952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496"/>
              </a:lnSpc>
            </a:pP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endParaRPr sz="2109">
              <a:latin typeface="Gill Sans"/>
              <a:cs typeface="Gill Sans"/>
            </a:endParaRPr>
          </a:p>
          <a:p>
            <a:pPr marL="8929" marR="3572">
              <a:lnSpc>
                <a:spcPts val="2461"/>
              </a:lnSpc>
              <a:spcBef>
                <a:spcPts val="105"/>
              </a:spcBef>
            </a:pPr>
            <a:r>
              <a:rPr sz="2109" spc="-11" dirty="0">
                <a:latin typeface="Gill Sans"/>
                <a:cs typeface="Gill Sans"/>
              </a:rPr>
              <a:t>est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mator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o</a:t>
            </a:r>
            <a:r>
              <a:rPr sz="2109" dirty="0">
                <a:latin typeface="Gill Sans"/>
                <a:cs typeface="Gill Sans"/>
              </a:rPr>
              <a:t>f 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11" dirty="0">
                <a:latin typeface="Gill Sans"/>
                <a:cs typeface="Gill Sans"/>
              </a:rPr>
              <a:t>a</a:t>
            </a:r>
            <a:r>
              <a:rPr sz="2109" dirty="0">
                <a:latin typeface="Gill Sans"/>
                <a:cs typeface="Gill Sans"/>
              </a:rPr>
              <a:t>t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53" dirty="0">
                <a:latin typeface="Gill Sans"/>
                <a:cs typeface="Gill Sans"/>
              </a:rPr>
              <a:t>v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r>
              <a:rPr sz="2109" spc="-7" dirty="0">
                <a:latin typeface="Gill Sans"/>
                <a:cs typeface="Gill Sans"/>
              </a:rPr>
              <a:t> f</a:t>
            </a:r>
            <a:r>
              <a:rPr sz="2109" spc="-63" dirty="0">
                <a:latin typeface="Gill Sans"/>
                <a:cs typeface="Gill Sans"/>
              </a:rPr>
              <a:t>r</a:t>
            </a:r>
            <a:r>
              <a:rPr sz="2109" spc="-14" dirty="0">
                <a:latin typeface="Gill Sans"/>
                <a:cs typeface="Gill Sans"/>
              </a:rPr>
              <a:t>om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true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mod</a:t>
            </a:r>
            <a:r>
              <a:rPr sz="2109" dirty="0">
                <a:latin typeface="Gill Sans"/>
                <a:cs typeface="Gill Sans"/>
              </a:rPr>
              <a:t>el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90165" y="4899688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5" name="object 15"/>
          <p:cNvSpPr/>
          <p:nvPr/>
        </p:nvSpPr>
        <p:spPr>
          <a:xfrm>
            <a:off x="1521407" y="5016221"/>
            <a:ext cx="182165" cy="182165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6" name="object 16"/>
          <p:cNvSpPr txBox="1"/>
          <p:nvPr/>
        </p:nvSpPr>
        <p:spPr>
          <a:xfrm>
            <a:off x="1446791" y="2620308"/>
            <a:ext cx="324576" cy="21216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8929"/>
            <a:r>
              <a:rPr sz="2109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dirty="0">
                <a:latin typeface="Gill Sans"/>
                <a:cs typeface="Gill Sans"/>
              </a:rPr>
              <a:t>stance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f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om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truth</a:t>
            </a:r>
            <a:endParaRPr sz="2109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1298" y="1468969"/>
            <a:ext cx="0" cy="4750147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03573" y="1394389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03573" y="1296163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861298" y="1001648"/>
            <a:ext cx="0" cy="357633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 txBox="1"/>
          <p:nvPr/>
        </p:nvSpPr>
        <p:spPr>
          <a:xfrm>
            <a:off x="723305" y="636716"/>
            <a:ext cx="2281535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b="1" dirty="0">
                <a:latin typeface="Gill Sans"/>
                <a:cs typeface="Gill Sans"/>
              </a:rPr>
              <a:t>“</a:t>
            </a:r>
            <a:r>
              <a:rPr sz="2531" b="1" spc="-74" dirty="0">
                <a:latin typeface="Gill Sans"/>
                <a:cs typeface="Gill Sans"/>
              </a:rPr>
              <a:t>T</a:t>
            </a:r>
            <a:r>
              <a:rPr sz="2531" b="1" spc="-39" dirty="0">
                <a:latin typeface="Gill Sans"/>
                <a:cs typeface="Gill Sans"/>
              </a:rPr>
              <a:t>r</a:t>
            </a:r>
            <a:r>
              <a:rPr sz="2531" b="1" spc="-4" dirty="0">
                <a:latin typeface="Gill Sans"/>
                <a:cs typeface="Gill Sans"/>
              </a:rPr>
              <a:t>u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4" dirty="0">
                <a:latin typeface="Gill Sans"/>
                <a:cs typeface="Gill Sans"/>
              </a:rPr>
              <a:t> mo</a:t>
            </a:r>
            <a:r>
              <a:rPr sz="2531" b="1" dirty="0">
                <a:latin typeface="Gill Sans"/>
                <a:cs typeface="Gill Sans"/>
              </a:rPr>
              <a:t>del”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2539" y="1573629"/>
            <a:ext cx="1205508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dirty="0">
                <a:latin typeface="Gill Sans"/>
                <a:cs typeface="Gill Sans"/>
              </a:rPr>
              <a:t>Better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spc="18" dirty="0">
                <a:latin typeface="Gill Sans"/>
                <a:cs typeface="Gill Sans"/>
              </a:rPr>
              <a:t>fit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2391" y="1598596"/>
            <a:ext cx="3013323" cy="324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35" dirty="0">
                <a:latin typeface="Gill Sans"/>
                <a:cs typeface="Gill Sans"/>
              </a:rPr>
              <a:t>o</a:t>
            </a:r>
            <a:r>
              <a:rPr sz="2109" spc="-46" dirty="0">
                <a:latin typeface="Gill Sans"/>
                <a:cs typeface="Gill Sans"/>
              </a:rPr>
              <a:t>w</a:t>
            </a:r>
            <a:r>
              <a:rPr sz="2109" dirty="0">
                <a:latin typeface="Gill Sans"/>
                <a:cs typeface="Gill Sans"/>
              </a:rPr>
              <a:t>er</a:t>
            </a:r>
            <a:r>
              <a:rPr sz="2109" spc="-21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r>
              <a:rPr sz="2109" spc="-4" dirty="0">
                <a:latin typeface="Gill Sans"/>
                <a:cs typeface="Gill Sans"/>
              </a:rPr>
              <a:t> l</a:t>
            </a:r>
            <a:r>
              <a:rPr sz="2109" spc="-35" dirty="0">
                <a:latin typeface="Gill Sans"/>
                <a:cs typeface="Gill Sans"/>
              </a:rPr>
              <a:t>o</a:t>
            </a:r>
            <a:r>
              <a:rPr sz="2109" spc="-46" dirty="0">
                <a:latin typeface="Gill Sans"/>
                <a:cs typeface="Gill Sans"/>
              </a:rPr>
              <a:t>w</a:t>
            </a:r>
            <a:r>
              <a:rPr sz="2109" dirty="0">
                <a:latin typeface="Gill Sans"/>
                <a:cs typeface="Gill Sans"/>
              </a:rPr>
              <a:t>er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41530" y="1729114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1660547" y="6095301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1469" y="372688"/>
            <a:ext cx="5786438" cy="444505"/>
          </a:xfrm>
          <a:prstGeom prst="rect">
            <a:avLst/>
          </a:prstGeom>
        </p:spPr>
        <p:txBody>
          <a:bodyPr vert="horz" wrap="square" lIns="0" tIns="54507" rIns="0" bIns="0" rtlCol="0" anchor="ctr">
            <a:spAutoFit/>
          </a:bodyPr>
          <a:lstStyle/>
          <a:p>
            <a:pPr marL="1203233"/>
            <a:r>
              <a:rPr sz="2531" spc="-21" dirty="0">
                <a:latin typeface="Gill Sans"/>
                <a:cs typeface="Gill Sans"/>
              </a:rPr>
              <a:t>Ak</a:t>
            </a:r>
            <a:r>
              <a:rPr sz="2531" spc="18" dirty="0">
                <a:latin typeface="Gill Sans"/>
                <a:cs typeface="Gill Sans"/>
              </a:rPr>
              <a:t>a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127" dirty="0">
                <a:latin typeface="Gill Sans"/>
                <a:cs typeface="Gill Sans"/>
              </a:rPr>
              <a:t>k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nfo</a:t>
            </a:r>
            <a:r>
              <a:rPr sz="2531" dirty="0">
                <a:latin typeface="Gill Sans"/>
                <a:cs typeface="Gill Sans"/>
              </a:rPr>
              <a:t>r</a:t>
            </a:r>
            <a:r>
              <a:rPr sz="2531" spc="-4" dirty="0">
                <a:latin typeface="Gill Sans"/>
                <a:cs typeface="Gill Sans"/>
              </a:rPr>
              <a:t>m</a:t>
            </a:r>
            <a:r>
              <a:rPr sz="2531" spc="-18" dirty="0">
                <a:latin typeface="Gill Sans"/>
                <a:cs typeface="Gill Sans"/>
              </a:rPr>
              <a:t>a</a:t>
            </a:r>
            <a:r>
              <a:rPr sz="2531" spc="-4" dirty="0">
                <a:latin typeface="Gill Sans"/>
                <a:cs typeface="Gill Sans"/>
              </a:rPr>
              <a:t>t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o</a:t>
            </a:r>
            <a:r>
              <a:rPr sz="2531" dirty="0">
                <a:latin typeface="Gill Sans"/>
                <a:cs typeface="Gill Sans"/>
              </a:rPr>
              <a:t>n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dirty="0">
                <a:latin typeface="Gill Sans"/>
                <a:cs typeface="Gill Sans"/>
              </a:rPr>
              <a:t>C</a:t>
            </a:r>
            <a:r>
              <a:rPr sz="2531" spc="-109" dirty="0">
                <a:latin typeface="Gill Sans"/>
                <a:cs typeface="Gill Sans"/>
              </a:rPr>
              <a:t>r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t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109" dirty="0">
                <a:latin typeface="Gill Sans"/>
                <a:cs typeface="Gill Sans"/>
              </a:rPr>
              <a:t>r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o</a:t>
            </a:r>
            <a:r>
              <a:rPr sz="2531" dirty="0">
                <a:latin typeface="Gill Sans"/>
                <a:cs typeface="Gill Sans"/>
              </a:rPr>
              <a:t>n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90165" y="4899688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3" name="object 13"/>
          <p:cNvSpPr/>
          <p:nvPr/>
        </p:nvSpPr>
        <p:spPr>
          <a:xfrm>
            <a:off x="1521407" y="5016221"/>
            <a:ext cx="182165" cy="182165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4" name="object 14"/>
          <p:cNvSpPr txBox="1"/>
          <p:nvPr/>
        </p:nvSpPr>
        <p:spPr>
          <a:xfrm>
            <a:off x="357187" y="5922387"/>
            <a:ext cx="1263551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spc="-257" dirty="0">
                <a:latin typeface="Gill Sans"/>
                <a:cs typeface="Gill Sans"/>
              </a:rPr>
              <a:t>W</a:t>
            </a:r>
            <a:r>
              <a:rPr sz="2531" spc="-14" dirty="0">
                <a:latin typeface="Gill Sans"/>
                <a:cs typeface="Gill Sans"/>
              </a:rPr>
              <a:t>ors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spc="18" dirty="0">
                <a:latin typeface="Gill Sans"/>
                <a:cs typeface="Gill Sans"/>
              </a:rPr>
              <a:t>fit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09180" y="3080924"/>
            <a:ext cx="1822996" cy="12952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496"/>
              </a:lnSpc>
            </a:pP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endParaRPr sz="2109">
              <a:latin typeface="Gill Sans"/>
              <a:cs typeface="Gill Sans"/>
            </a:endParaRPr>
          </a:p>
          <a:p>
            <a:pPr marL="8929" marR="3572">
              <a:lnSpc>
                <a:spcPts val="2461"/>
              </a:lnSpc>
              <a:spcBef>
                <a:spcPts val="105"/>
              </a:spcBef>
            </a:pPr>
            <a:r>
              <a:rPr sz="2109" spc="-11" dirty="0">
                <a:latin typeface="Gill Sans"/>
                <a:cs typeface="Gill Sans"/>
              </a:rPr>
              <a:t>est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mator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o</a:t>
            </a:r>
            <a:r>
              <a:rPr sz="2109" dirty="0">
                <a:latin typeface="Gill Sans"/>
                <a:cs typeface="Gill Sans"/>
              </a:rPr>
              <a:t>f 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11" dirty="0">
                <a:latin typeface="Gill Sans"/>
                <a:cs typeface="Gill Sans"/>
              </a:rPr>
              <a:t>a</a:t>
            </a:r>
            <a:r>
              <a:rPr sz="2109" dirty="0">
                <a:latin typeface="Gill Sans"/>
                <a:cs typeface="Gill Sans"/>
              </a:rPr>
              <a:t>t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53" dirty="0">
                <a:latin typeface="Gill Sans"/>
                <a:cs typeface="Gill Sans"/>
              </a:rPr>
              <a:t>v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r>
              <a:rPr sz="2109" spc="-7" dirty="0">
                <a:latin typeface="Gill Sans"/>
                <a:cs typeface="Gill Sans"/>
              </a:rPr>
              <a:t> f</a:t>
            </a:r>
            <a:r>
              <a:rPr sz="2109" spc="-63" dirty="0">
                <a:latin typeface="Gill Sans"/>
                <a:cs typeface="Gill Sans"/>
              </a:rPr>
              <a:t>r</a:t>
            </a:r>
            <a:r>
              <a:rPr sz="2109" spc="-14" dirty="0">
                <a:latin typeface="Gill Sans"/>
                <a:cs typeface="Gill Sans"/>
              </a:rPr>
              <a:t>om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true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mod</a:t>
            </a:r>
            <a:r>
              <a:rPr sz="2109" dirty="0">
                <a:latin typeface="Gill Sans"/>
                <a:cs typeface="Gill Sans"/>
              </a:rPr>
              <a:t>el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44898" y="5956283"/>
            <a:ext cx="3112889" cy="324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109" dirty="0">
                <a:latin typeface="Gill Sans"/>
                <a:cs typeface="Gill Sans"/>
              </a:rPr>
              <a:t>h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g</a:t>
            </a:r>
            <a:r>
              <a:rPr sz="2109" dirty="0">
                <a:latin typeface="Gill Sans"/>
                <a:cs typeface="Gill Sans"/>
              </a:rPr>
              <a:t>her</a:t>
            </a:r>
            <a:r>
              <a:rPr sz="2109" spc="-21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h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g</a:t>
            </a:r>
            <a:r>
              <a:rPr sz="2109" dirty="0">
                <a:latin typeface="Gill Sans"/>
                <a:cs typeface="Gill Sans"/>
              </a:rPr>
              <a:t>her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46791" y="2620308"/>
            <a:ext cx="324576" cy="21216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8929"/>
            <a:r>
              <a:rPr sz="2109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dirty="0">
                <a:latin typeface="Gill Sans"/>
                <a:cs typeface="Gill Sans"/>
              </a:rPr>
              <a:t>stance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f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om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truth</a:t>
            </a:r>
            <a:endParaRPr sz="2109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1298" y="1468969"/>
            <a:ext cx="0" cy="4750147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03573" y="1394389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03573" y="1296163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861298" y="1001648"/>
            <a:ext cx="0" cy="357633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 txBox="1"/>
          <p:nvPr/>
        </p:nvSpPr>
        <p:spPr>
          <a:xfrm>
            <a:off x="723305" y="636716"/>
            <a:ext cx="2281535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b="1" dirty="0">
                <a:latin typeface="Gill Sans"/>
                <a:cs typeface="Gill Sans"/>
              </a:rPr>
              <a:t>“</a:t>
            </a:r>
            <a:r>
              <a:rPr sz="2531" b="1" spc="-74" dirty="0">
                <a:latin typeface="Gill Sans"/>
                <a:cs typeface="Gill Sans"/>
              </a:rPr>
              <a:t>T</a:t>
            </a:r>
            <a:r>
              <a:rPr sz="2531" b="1" spc="-39" dirty="0">
                <a:latin typeface="Gill Sans"/>
                <a:cs typeface="Gill Sans"/>
              </a:rPr>
              <a:t>r</a:t>
            </a:r>
            <a:r>
              <a:rPr sz="2531" b="1" spc="-4" dirty="0">
                <a:latin typeface="Gill Sans"/>
                <a:cs typeface="Gill Sans"/>
              </a:rPr>
              <a:t>u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4" dirty="0">
                <a:latin typeface="Gill Sans"/>
                <a:cs typeface="Gill Sans"/>
              </a:rPr>
              <a:t> mo</a:t>
            </a:r>
            <a:r>
              <a:rPr sz="2531" b="1" dirty="0">
                <a:latin typeface="Gill Sans"/>
                <a:cs typeface="Gill Sans"/>
              </a:rPr>
              <a:t>del”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2539" y="1573629"/>
            <a:ext cx="1205508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dirty="0">
                <a:latin typeface="Gill Sans"/>
                <a:cs typeface="Gill Sans"/>
              </a:rPr>
              <a:t>Better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spc="18" dirty="0">
                <a:latin typeface="Gill Sans"/>
                <a:cs typeface="Gill Sans"/>
              </a:rPr>
              <a:t>fit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2391" y="1598596"/>
            <a:ext cx="3013323" cy="324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35" dirty="0">
                <a:latin typeface="Gill Sans"/>
                <a:cs typeface="Gill Sans"/>
              </a:rPr>
              <a:t>o</a:t>
            </a:r>
            <a:r>
              <a:rPr sz="2109" spc="-46" dirty="0">
                <a:latin typeface="Gill Sans"/>
                <a:cs typeface="Gill Sans"/>
              </a:rPr>
              <a:t>w</a:t>
            </a:r>
            <a:r>
              <a:rPr sz="2109" dirty="0">
                <a:latin typeface="Gill Sans"/>
                <a:cs typeface="Gill Sans"/>
              </a:rPr>
              <a:t>er</a:t>
            </a:r>
            <a:r>
              <a:rPr sz="2109" spc="-21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r>
              <a:rPr sz="2109" spc="-4" dirty="0">
                <a:latin typeface="Gill Sans"/>
                <a:cs typeface="Gill Sans"/>
              </a:rPr>
              <a:t> l</a:t>
            </a:r>
            <a:r>
              <a:rPr sz="2109" spc="-35" dirty="0">
                <a:latin typeface="Gill Sans"/>
                <a:cs typeface="Gill Sans"/>
              </a:rPr>
              <a:t>o</a:t>
            </a:r>
            <a:r>
              <a:rPr sz="2109" spc="-46" dirty="0">
                <a:latin typeface="Gill Sans"/>
                <a:cs typeface="Gill Sans"/>
              </a:rPr>
              <a:t>w</a:t>
            </a:r>
            <a:r>
              <a:rPr sz="2109" dirty="0">
                <a:latin typeface="Gill Sans"/>
                <a:cs typeface="Gill Sans"/>
              </a:rPr>
              <a:t>er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41530" y="1729114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1660547" y="6095301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1469" y="372688"/>
            <a:ext cx="5786438" cy="444505"/>
          </a:xfrm>
          <a:prstGeom prst="rect">
            <a:avLst/>
          </a:prstGeom>
        </p:spPr>
        <p:txBody>
          <a:bodyPr vert="horz" wrap="square" lIns="0" tIns="54507" rIns="0" bIns="0" rtlCol="0" anchor="ctr">
            <a:spAutoFit/>
          </a:bodyPr>
          <a:lstStyle/>
          <a:p>
            <a:pPr marL="1203233"/>
            <a:r>
              <a:rPr sz="2531" spc="-21" dirty="0">
                <a:latin typeface="Gill Sans"/>
                <a:cs typeface="Gill Sans"/>
              </a:rPr>
              <a:t>Ak</a:t>
            </a:r>
            <a:r>
              <a:rPr sz="2531" spc="18" dirty="0">
                <a:latin typeface="Gill Sans"/>
                <a:cs typeface="Gill Sans"/>
              </a:rPr>
              <a:t>a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127" dirty="0">
                <a:latin typeface="Gill Sans"/>
                <a:cs typeface="Gill Sans"/>
              </a:rPr>
              <a:t>k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nfo</a:t>
            </a:r>
            <a:r>
              <a:rPr sz="2531" dirty="0">
                <a:latin typeface="Gill Sans"/>
                <a:cs typeface="Gill Sans"/>
              </a:rPr>
              <a:t>r</a:t>
            </a:r>
            <a:r>
              <a:rPr sz="2531" spc="-4" dirty="0">
                <a:latin typeface="Gill Sans"/>
                <a:cs typeface="Gill Sans"/>
              </a:rPr>
              <a:t>m</a:t>
            </a:r>
            <a:r>
              <a:rPr sz="2531" spc="-18" dirty="0">
                <a:latin typeface="Gill Sans"/>
                <a:cs typeface="Gill Sans"/>
              </a:rPr>
              <a:t>a</a:t>
            </a:r>
            <a:r>
              <a:rPr sz="2531" spc="-4" dirty="0">
                <a:latin typeface="Gill Sans"/>
                <a:cs typeface="Gill Sans"/>
              </a:rPr>
              <a:t>t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o</a:t>
            </a:r>
            <a:r>
              <a:rPr sz="2531" dirty="0">
                <a:latin typeface="Gill Sans"/>
                <a:cs typeface="Gill Sans"/>
              </a:rPr>
              <a:t>n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dirty="0">
                <a:latin typeface="Gill Sans"/>
                <a:cs typeface="Gill Sans"/>
              </a:rPr>
              <a:t>C</a:t>
            </a:r>
            <a:r>
              <a:rPr sz="2531" spc="-109" dirty="0">
                <a:latin typeface="Gill Sans"/>
                <a:cs typeface="Gill Sans"/>
              </a:rPr>
              <a:t>r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t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109" dirty="0">
                <a:latin typeface="Gill Sans"/>
                <a:cs typeface="Gill Sans"/>
              </a:rPr>
              <a:t>r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o</a:t>
            </a:r>
            <a:r>
              <a:rPr sz="2531" dirty="0">
                <a:latin typeface="Gill Sans"/>
                <a:cs typeface="Gill Sans"/>
              </a:rPr>
              <a:t>n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7187" y="5922387"/>
            <a:ext cx="1263551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spc="-257" dirty="0">
                <a:latin typeface="Gill Sans"/>
                <a:cs typeface="Gill Sans"/>
              </a:rPr>
              <a:t>W</a:t>
            </a:r>
            <a:r>
              <a:rPr sz="2531" spc="-14" dirty="0">
                <a:latin typeface="Gill Sans"/>
                <a:cs typeface="Gill Sans"/>
              </a:rPr>
              <a:t>ors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spc="18" dirty="0">
                <a:latin typeface="Gill Sans"/>
                <a:cs typeface="Gill Sans"/>
              </a:rPr>
              <a:t>fit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09180" y="3080924"/>
            <a:ext cx="1822996" cy="12952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496"/>
              </a:lnSpc>
            </a:pP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endParaRPr sz="2109">
              <a:latin typeface="Gill Sans"/>
              <a:cs typeface="Gill Sans"/>
            </a:endParaRPr>
          </a:p>
          <a:p>
            <a:pPr marL="8929" marR="3572">
              <a:lnSpc>
                <a:spcPts val="2461"/>
              </a:lnSpc>
              <a:spcBef>
                <a:spcPts val="105"/>
              </a:spcBef>
            </a:pPr>
            <a:r>
              <a:rPr sz="2109" spc="-11" dirty="0">
                <a:latin typeface="Gill Sans"/>
                <a:cs typeface="Gill Sans"/>
              </a:rPr>
              <a:t>est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mator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o</a:t>
            </a:r>
            <a:r>
              <a:rPr sz="2109" dirty="0">
                <a:latin typeface="Gill Sans"/>
                <a:cs typeface="Gill Sans"/>
              </a:rPr>
              <a:t>f 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11" dirty="0">
                <a:latin typeface="Gill Sans"/>
                <a:cs typeface="Gill Sans"/>
              </a:rPr>
              <a:t>a</a:t>
            </a:r>
            <a:r>
              <a:rPr sz="2109" dirty="0">
                <a:latin typeface="Gill Sans"/>
                <a:cs typeface="Gill Sans"/>
              </a:rPr>
              <a:t>t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53" dirty="0">
                <a:latin typeface="Gill Sans"/>
                <a:cs typeface="Gill Sans"/>
              </a:rPr>
              <a:t>v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r>
              <a:rPr sz="2109" spc="-7" dirty="0">
                <a:latin typeface="Gill Sans"/>
                <a:cs typeface="Gill Sans"/>
              </a:rPr>
              <a:t> f</a:t>
            </a:r>
            <a:r>
              <a:rPr sz="2109" spc="-63" dirty="0">
                <a:latin typeface="Gill Sans"/>
                <a:cs typeface="Gill Sans"/>
              </a:rPr>
              <a:t>r</a:t>
            </a:r>
            <a:r>
              <a:rPr sz="2109" spc="-14" dirty="0">
                <a:latin typeface="Gill Sans"/>
                <a:cs typeface="Gill Sans"/>
              </a:rPr>
              <a:t>om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true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mod</a:t>
            </a:r>
            <a:r>
              <a:rPr sz="2109" dirty="0">
                <a:latin typeface="Gill Sans"/>
                <a:cs typeface="Gill Sans"/>
              </a:rPr>
              <a:t>el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40008" y="3046132"/>
            <a:ext cx="4108549" cy="948978"/>
          </a:xfrm>
          <a:prstGeom prst="rect">
            <a:avLst/>
          </a:prstGeom>
          <a:ln w="762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90686" marR="680418" algn="ctr">
              <a:lnSpc>
                <a:spcPts val="2461"/>
              </a:lnSpc>
            </a:pPr>
            <a:r>
              <a:rPr sz="2109" b="1" spc="-18" dirty="0">
                <a:latin typeface="Gill Sans"/>
                <a:cs typeface="Gill Sans"/>
              </a:rPr>
              <a:t>Ak</a:t>
            </a:r>
            <a:r>
              <a:rPr sz="2109" b="1" spc="14" dirty="0">
                <a:latin typeface="Gill Sans"/>
                <a:cs typeface="Gill Sans"/>
              </a:rPr>
              <a:t>a</a:t>
            </a:r>
            <a:r>
              <a:rPr sz="2109" b="1" dirty="0">
                <a:latin typeface="Gill Sans"/>
                <a:cs typeface="Gill Sans"/>
              </a:rPr>
              <a:t>i</a:t>
            </a:r>
            <a:r>
              <a:rPr sz="2109" b="1" spc="-105" dirty="0">
                <a:latin typeface="Gill Sans"/>
                <a:cs typeface="Gill Sans"/>
              </a:rPr>
              <a:t>k</a:t>
            </a:r>
            <a:r>
              <a:rPr sz="2109" b="1" dirty="0">
                <a:latin typeface="Gill Sans"/>
                <a:cs typeface="Gill Sans"/>
              </a:rPr>
              <a:t>e</a:t>
            </a:r>
            <a:r>
              <a:rPr sz="2109" b="1" spc="-4" dirty="0">
                <a:latin typeface="Gill Sans"/>
                <a:cs typeface="Gill Sans"/>
              </a:rPr>
              <a:t> </a:t>
            </a:r>
            <a:r>
              <a:rPr sz="2109" b="1" dirty="0">
                <a:latin typeface="Gill Sans"/>
                <a:cs typeface="Gill Sans"/>
              </a:rPr>
              <a:t>In</a:t>
            </a:r>
            <a:r>
              <a:rPr sz="2109" b="1" spc="-4" dirty="0">
                <a:latin typeface="Gill Sans"/>
                <a:cs typeface="Gill Sans"/>
              </a:rPr>
              <a:t>fo</a:t>
            </a:r>
            <a:r>
              <a:rPr sz="2109" b="1" dirty="0">
                <a:latin typeface="Gill Sans"/>
                <a:cs typeface="Gill Sans"/>
              </a:rPr>
              <a:t>r</a:t>
            </a:r>
            <a:r>
              <a:rPr sz="2109" b="1" spc="-4" dirty="0">
                <a:latin typeface="Gill Sans"/>
                <a:cs typeface="Gill Sans"/>
              </a:rPr>
              <a:t>m</a:t>
            </a:r>
            <a:r>
              <a:rPr sz="2109" b="1" spc="-14" dirty="0">
                <a:latin typeface="Gill Sans"/>
                <a:cs typeface="Gill Sans"/>
              </a:rPr>
              <a:t>a</a:t>
            </a:r>
            <a:r>
              <a:rPr sz="2109" b="1" spc="-4" dirty="0">
                <a:latin typeface="Gill Sans"/>
                <a:cs typeface="Gill Sans"/>
              </a:rPr>
              <a:t>t</a:t>
            </a:r>
            <a:r>
              <a:rPr sz="2109" b="1" dirty="0">
                <a:latin typeface="Gill Sans"/>
                <a:cs typeface="Gill Sans"/>
              </a:rPr>
              <a:t>i</a:t>
            </a:r>
            <a:r>
              <a:rPr sz="2109" b="1" spc="-4" dirty="0">
                <a:latin typeface="Gill Sans"/>
                <a:cs typeface="Gill Sans"/>
              </a:rPr>
              <a:t>o</a:t>
            </a:r>
            <a:r>
              <a:rPr sz="2109" b="1" dirty="0">
                <a:latin typeface="Gill Sans"/>
                <a:cs typeface="Gill Sans"/>
              </a:rPr>
              <a:t>n C</a:t>
            </a:r>
            <a:r>
              <a:rPr sz="2109" b="1" spc="-91" dirty="0">
                <a:latin typeface="Gill Sans"/>
                <a:cs typeface="Gill Sans"/>
              </a:rPr>
              <a:t>r</a:t>
            </a:r>
            <a:r>
              <a:rPr sz="2109" b="1" dirty="0">
                <a:latin typeface="Gill Sans"/>
                <a:cs typeface="Gill Sans"/>
              </a:rPr>
              <a:t>i</a:t>
            </a:r>
            <a:r>
              <a:rPr sz="2109" b="1" spc="-4" dirty="0">
                <a:latin typeface="Gill Sans"/>
                <a:cs typeface="Gill Sans"/>
              </a:rPr>
              <a:t>t</a:t>
            </a:r>
            <a:r>
              <a:rPr sz="2109" b="1" dirty="0">
                <a:latin typeface="Gill Sans"/>
                <a:cs typeface="Gill Sans"/>
              </a:rPr>
              <a:t>e</a:t>
            </a:r>
            <a:r>
              <a:rPr sz="2109" b="1" spc="-91" dirty="0">
                <a:latin typeface="Gill Sans"/>
                <a:cs typeface="Gill Sans"/>
              </a:rPr>
              <a:t>r</a:t>
            </a:r>
            <a:r>
              <a:rPr sz="2109" b="1" dirty="0">
                <a:latin typeface="Gill Sans"/>
                <a:cs typeface="Gill Sans"/>
              </a:rPr>
              <a:t>i</a:t>
            </a:r>
            <a:r>
              <a:rPr sz="2109" b="1" spc="-4" dirty="0">
                <a:latin typeface="Gill Sans"/>
                <a:cs typeface="Gill Sans"/>
              </a:rPr>
              <a:t>o</a:t>
            </a:r>
            <a:r>
              <a:rPr sz="2109" b="1" dirty="0">
                <a:latin typeface="Gill Sans"/>
                <a:cs typeface="Gill Sans"/>
              </a:rPr>
              <a:t>n</a:t>
            </a:r>
            <a:r>
              <a:rPr sz="2109" b="1" spc="-4" dirty="0">
                <a:latin typeface="Gill Sans"/>
                <a:cs typeface="Gill Sans"/>
              </a:rPr>
              <a:t> </a:t>
            </a:r>
            <a:r>
              <a:rPr sz="2109" b="1" spc="-11" dirty="0">
                <a:latin typeface="Gill Sans"/>
                <a:cs typeface="Gill Sans"/>
              </a:rPr>
              <a:t>(</a:t>
            </a:r>
            <a:r>
              <a:rPr sz="2109" b="1" dirty="0">
                <a:latin typeface="Gill Sans"/>
                <a:cs typeface="Gill Sans"/>
              </a:rPr>
              <a:t>AIC</a:t>
            </a:r>
            <a:r>
              <a:rPr sz="2109" b="1" spc="-11" dirty="0">
                <a:latin typeface="Gill Sans"/>
                <a:cs typeface="Gill Sans"/>
              </a:rPr>
              <a:t>)</a:t>
            </a:r>
            <a:r>
              <a:rPr sz="2109" b="1" spc="-4" dirty="0">
                <a:latin typeface="Gill Sans"/>
                <a:cs typeface="Gill Sans"/>
              </a:rPr>
              <a:t> </a:t>
            </a:r>
            <a:r>
              <a:rPr sz="2109" b="1" spc="-14" dirty="0">
                <a:latin typeface="Gill Sans"/>
                <a:cs typeface="Gill Sans"/>
              </a:rPr>
              <a:t>=</a:t>
            </a:r>
            <a:endParaRPr sz="2109">
              <a:latin typeface="Gill Sans"/>
              <a:cs typeface="Gill Sans"/>
            </a:endParaRPr>
          </a:p>
          <a:p>
            <a:pPr algn="ctr">
              <a:lnSpc>
                <a:spcPts val="2391"/>
              </a:lnSpc>
            </a:pPr>
            <a:r>
              <a:rPr sz="2109" spc="-4" dirty="0">
                <a:latin typeface="Gill Sans"/>
                <a:cs typeface="Gill Sans"/>
              </a:rPr>
              <a:t>-</a:t>
            </a:r>
            <a:r>
              <a:rPr sz="2109" dirty="0">
                <a:latin typeface="Gill Sans"/>
                <a:cs typeface="Gill Sans"/>
              </a:rPr>
              <a:t>2</a:t>
            </a:r>
            <a:r>
              <a:rPr sz="2109" spc="-4" dirty="0">
                <a:latin typeface="Gill Sans"/>
                <a:cs typeface="Gill Sans"/>
              </a:rPr>
              <a:t>(L</a:t>
            </a:r>
            <a:r>
              <a:rPr sz="2109" dirty="0">
                <a:latin typeface="Gill Sans"/>
                <a:cs typeface="Gill Sans"/>
              </a:rPr>
              <a:t>nL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-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#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o</a:t>
            </a:r>
            <a:r>
              <a:rPr sz="2109" dirty="0">
                <a:latin typeface="Gill Sans"/>
                <a:cs typeface="Gill Sans"/>
              </a:rPr>
              <a:t>f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1" dirty="0">
                <a:latin typeface="Gill Sans"/>
                <a:cs typeface="Gill Sans"/>
              </a:rPr>
              <a:t>parameters</a:t>
            </a:r>
            <a:r>
              <a:rPr sz="2109" dirty="0">
                <a:latin typeface="Gill Sans"/>
                <a:cs typeface="Gill Sans"/>
              </a:rPr>
              <a:t>)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44898" y="5956283"/>
            <a:ext cx="3112889" cy="324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109" dirty="0">
                <a:latin typeface="Gill Sans"/>
                <a:cs typeface="Gill Sans"/>
              </a:rPr>
              <a:t>h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g</a:t>
            </a:r>
            <a:r>
              <a:rPr sz="2109" dirty="0">
                <a:latin typeface="Gill Sans"/>
                <a:cs typeface="Gill Sans"/>
              </a:rPr>
              <a:t>her</a:t>
            </a:r>
            <a:r>
              <a:rPr sz="2109" spc="-21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h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g</a:t>
            </a:r>
            <a:r>
              <a:rPr sz="2109" dirty="0">
                <a:latin typeface="Gill Sans"/>
                <a:cs typeface="Gill Sans"/>
              </a:rPr>
              <a:t>her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90165" y="4899688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7" name="object 17"/>
          <p:cNvSpPr/>
          <p:nvPr/>
        </p:nvSpPr>
        <p:spPr>
          <a:xfrm>
            <a:off x="1521407" y="5016221"/>
            <a:ext cx="182165" cy="182165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8" name="object 18"/>
          <p:cNvSpPr txBox="1"/>
          <p:nvPr/>
        </p:nvSpPr>
        <p:spPr>
          <a:xfrm>
            <a:off x="1446791" y="2620308"/>
            <a:ext cx="324576" cy="21216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8929"/>
            <a:r>
              <a:rPr sz="2109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dirty="0">
                <a:latin typeface="Gill Sans"/>
                <a:cs typeface="Gill Sans"/>
              </a:rPr>
              <a:t>stance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f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om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truth</a:t>
            </a:r>
            <a:endParaRPr sz="2109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1298" y="1468969"/>
            <a:ext cx="0" cy="4750147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03573" y="1394389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03573" y="1296163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861298" y="1001648"/>
            <a:ext cx="0" cy="357633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 txBox="1"/>
          <p:nvPr/>
        </p:nvSpPr>
        <p:spPr>
          <a:xfrm>
            <a:off x="723305" y="636716"/>
            <a:ext cx="2281535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b="1" dirty="0">
                <a:latin typeface="Gill Sans"/>
                <a:cs typeface="Gill Sans"/>
              </a:rPr>
              <a:t>“</a:t>
            </a:r>
            <a:r>
              <a:rPr sz="2531" b="1" spc="-74" dirty="0">
                <a:latin typeface="Gill Sans"/>
                <a:cs typeface="Gill Sans"/>
              </a:rPr>
              <a:t>T</a:t>
            </a:r>
            <a:r>
              <a:rPr sz="2531" b="1" spc="-39" dirty="0">
                <a:latin typeface="Gill Sans"/>
                <a:cs typeface="Gill Sans"/>
              </a:rPr>
              <a:t>r</a:t>
            </a:r>
            <a:r>
              <a:rPr sz="2531" b="1" spc="-4" dirty="0">
                <a:latin typeface="Gill Sans"/>
                <a:cs typeface="Gill Sans"/>
              </a:rPr>
              <a:t>u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4" dirty="0">
                <a:latin typeface="Gill Sans"/>
                <a:cs typeface="Gill Sans"/>
              </a:rPr>
              <a:t> mo</a:t>
            </a:r>
            <a:r>
              <a:rPr sz="2531" b="1" dirty="0">
                <a:latin typeface="Gill Sans"/>
                <a:cs typeface="Gill Sans"/>
              </a:rPr>
              <a:t>del”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2539" y="1573629"/>
            <a:ext cx="1205508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dirty="0">
                <a:latin typeface="Gill Sans"/>
                <a:cs typeface="Gill Sans"/>
              </a:rPr>
              <a:t>Better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spc="18" dirty="0">
                <a:latin typeface="Gill Sans"/>
                <a:cs typeface="Gill Sans"/>
              </a:rPr>
              <a:t>fit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2391" y="1598596"/>
            <a:ext cx="3013323" cy="324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35" dirty="0">
                <a:latin typeface="Gill Sans"/>
                <a:cs typeface="Gill Sans"/>
              </a:rPr>
              <a:t>o</a:t>
            </a:r>
            <a:r>
              <a:rPr sz="2109" spc="-46" dirty="0">
                <a:latin typeface="Gill Sans"/>
                <a:cs typeface="Gill Sans"/>
              </a:rPr>
              <a:t>w</a:t>
            </a:r>
            <a:r>
              <a:rPr sz="2109" dirty="0">
                <a:latin typeface="Gill Sans"/>
                <a:cs typeface="Gill Sans"/>
              </a:rPr>
              <a:t>er</a:t>
            </a:r>
            <a:r>
              <a:rPr sz="2109" spc="-21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r>
              <a:rPr sz="2109" spc="-4" dirty="0">
                <a:latin typeface="Gill Sans"/>
                <a:cs typeface="Gill Sans"/>
              </a:rPr>
              <a:t> l</a:t>
            </a:r>
            <a:r>
              <a:rPr sz="2109" spc="-35" dirty="0">
                <a:latin typeface="Gill Sans"/>
                <a:cs typeface="Gill Sans"/>
              </a:rPr>
              <a:t>o</a:t>
            </a:r>
            <a:r>
              <a:rPr sz="2109" spc="-46" dirty="0">
                <a:latin typeface="Gill Sans"/>
                <a:cs typeface="Gill Sans"/>
              </a:rPr>
              <a:t>w</a:t>
            </a:r>
            <a:r>
              <a:rPr sz="2109" dirty="0">
                <a:latin typeface="Gill Sans"/>
                <a:cs typeface="Gill Sans"/>
              </a:rPr>
              <a:t>er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41530" y="1729114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1660547" y="6095301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1469" y="372688"/>
            <a:ext cx="5786438" cy="444505"/>
          </a:xfrm>
          <a:prstGeom prst="rect">
            <a:avLst/>
          </a:prstGeom>
        </p:spPr>
        <p:txBody>
          <a:bodyPr vert="horz" wrap="square" lIns="0" tIns="54507" rIns="0" bIns="0" rtlCol="0" anchor="ctr">
            <a:spAutoFit/>
          </a:bodyPr>
          <a:lstStyle/>
          <a:p>
            <a:pPr marL="1203233"/>
            <a:r>
              <a:rPr sz="2531" spc="-21" dirty="0">
                <a:latin typeface="Gill Sans"/>
                <a:cs typeface="Gill Sans"/>
              </a:rPr>
              <a:t>Ak</a:t>
            </a:r>
            <a:r>
              <a:rPr sz="2531" spc="18" dirty="0">
                <a:latin typeface="Gill Sans"/>
                <a:cs typeface="Gill Sans"/>
              </a:rPr>
              <a:t>a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127" dirty="0">
                <a:latin typeface="Gill Sans"/>
                <a:cs typeface="Gill Sans"/>
              </a:rPr>
              <a:t>k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nfo</a:t>
            </a:r>
            <a:r>
              <a:rPr sz="2531" dirty="0">
                <a:latin typeface="Gill Sans"/>
                <a:cs typeface="Gill Sans"/>
              </a:rPr>
              <a:t>r</a:t>
            </a:r>
            <a:r>
              <a:rPr sz="2531" spc="-4" dirty="0">
                <a:latin typeface="Gill Sans"/>
                <a:cs typeface="Gill Sans"/>
              </a:rPr>
              <a:t>m</a:t>
            </a:r>
            <a:r>
              <a:rPr sz="2531" spc="-18" dirty="0">
                <a:latin typeface="Gill Sans"/>
                <a:cs typeface="Gill Sans"/>
              </a:rPr>
              <a:t>a</a:t>
            </a:r>
            <a:r>
              <a:rPr sz="2531" spc="-4" dirty="0">
                <a:latin typeface="Gill Sans"/>
                <a:cs typeface="Gill Sans"/>
              </a:rPr>
              <a:t>t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o</a:t>
            </a:r>
            <a:r>
              <a:rPr sz="2531" dirty="0">
                <a:latin typeface="Gill Sans"/>
                <a:cs typeface="Gill Sans"/>
              </a:rPr>
              <a:t>n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dirty="0">
                <a:latin typeface="Gill Sans"/>
                <a:cs typeface="Gill Sans"/>
              </a:rPr>
              <a:t>C</a:t>
            </a:r>
            <a:r>
              <a:rPr sz="2531" spc="-109" dirty="0">
                <a:latin typeface="Gill Sans"/>
                <a:cs typeface="Gill Sans"/>
              </a:rPr>
              <a:t>r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t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109" dirty="0">
                <a:latin typeface="Gill Sans"/>
                <a:cs typeface="Gill Sans"/>
              </a:rPr>
              <a:t>r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o</a:t>
            </a:r>
            <a:r>
              <a:rPr sz="2531" dirty="0">
                <a:latin typeface="Gill Sans"/>
                <a:cs typeface="Gill Sans"/>
              </a:rPr>
              <a:t>n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7187" y="5922387"/>
            <a:ext cx="1263551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spc="-257" dirty="0">
                <a:latin typeface="Gill Sans"/>
                <a:cs typeface="Gill Sans"/>
              </a:rPr>
              <a:t>W</a:t>
            </a:r>
            <a:r>
              <a:rPr sz="2531" spc="-14" dirty="0">
                <a:latin typeface="Gill Sans"/>
                <a:cs typeface="Gill Sans"/>
              </a:rPr>
              <a:t>ors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spc="18" dirty="0">
                <a:latin typeface="Gill Sans"/>
                <a:cs typeface="Gill Sans"/>
              </a:rPr>
              <a:t>fit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44898" y="5956283"/>
            <a:ext cx="3112889" cy="324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109" dirty="0">
                <a:latin typeface="Gill Sans"/>
                <a:cs typeface="Gill Sans"/>
              </a:rPr>
              <a:t>h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g</a:t>
            </a:r>
            <a:r>
              <a:rPr sz="2109" dirty="0">
                <a:latin typeface="Gill Sans"/>
                <a:cs typeface="Gill Sans"/>
              </a:rPr>
              <a:t>her</a:t>
            </a:r>
            <a:r>
              <a:rPr sz="2109" spc="-21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h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g</a:t>
            </a:r>
            <a:r>
              <a:rPr sz="2109" dirty="0">
                <a:latin typeface="Gill Sans"/>
                <a:cs typeface="Gill Sans"/>
              </a:rPr>
              <a:t>her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09180" y="3080924"/>
            <a:ext cx="1822996" cy="12952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496"/>
              </a:lnSpc>
            </a:pP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endParaRPr sz="2109">
              <a:latin typeface="Gill Sans"/>
              <a:cs typeface="Gill Sans"/>
            </a:endParaRPr>
          </a:p>
          <a:p>
            <a:pPr marL="8929" marR="3572">
              <a:lnSpc>
                <a:spcPts val="2461"/>
              </a:lnSpc>
              <a:spcBef>
                <a:spcPts val="105"/>
              </a:spcBef>
            </a:pPr>
            <a:r>
              <a:rPr sz="2109" spc="-11" dirty="0">
                <a:latin typeface="Gill Sans"/>
                <a:cs typeface="Gill Sans"/>
              </a:rPr>
              <a:t>est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mator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o</a:t>
            </a:r>
            <a:r>
              <a:rPr sz="2109" dirty="0">
                <a:latin typeface="Gill Sans"/>
                <a:cs typeface="Gill Sans"/>
              </a:rPr>
              <a:t>f 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11" dirty="0">
                <a:latin typeface="Gill Sans"/>
                <a:cs typeface="Gill Sans"/>
              </a:rPr>
              <a:t>a</a:t>
            </a:r>
            <a:r>
              <a:rPr sz="2109" dirty="0">
                <a:latin typeface="Gill Sans"/>
                <a:cs typeface="Gill Sans"/>
              </a:rPr>
              <a:t>t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53" dirty="0">
                <a:latin typeface="Gill Sans"/>
                <a:cs typeface="Gill Sans"/>
              </a:rPr>
              <a:t>v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r>
              <a:rPr sz="2109" spc="-7" dirty="0">
                <a:latin typeface="Gill Sans"/>
                <a:cs typeface="Gill Sans"/>
              </a:rPr>
              <a:t> f</a:t>
            </a:r>
            <a:r>
              <a:rPr sz="2109" spc="-63" dirty="0">
                <a:latin typeface="Gill Sans"/>
                <a:cs typeface="Gill Sans"/>
              </a:rPr>
              <a:t>r</a:t>
            </a:r>
            <a:r>
              <a:rPr sz="2109" spc="-14" dirty="0">
                <a:latin typeface="Gill Sans"/>
                <a:cs typeface="Gill Sans"/>
              </a:rPr>
              <a:t>om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true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mod</a:t>
            </a:r>
            <a:r>
              <a:rPr sz="2109" dirty="0">
                <a:latin typeface="Gill Sans"/>
                <a:cs typeface="Gill Sans"/>
              </a:rPr>
              <a:t>el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02729" y="1236083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406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6" name="object 16"/>
          <p:cNvSpPr/>
          <p:nvPr/>
        </p:nvSpPr>
        <p:spPr>
          <a:xfrm>
            <a:off x="6433970" y="963727"/>
            <a:ext cx="182165" cy="151805"/>
          </a:xfrm>
          <a:custGeom>
            <a:avLst/>
            <a:gdLst/>
            <a:ahLst/>
            <a:cxnLst/>
            <a:rect l="l" t="t" r="r" b="b"/>
            <a:pathLst>
              <a:path w="259079" h="215900">
                <a:moveTo>
                  <a:pt x="259080" y="215900"/>
                </a:moveTo>
                <a:lnTo>
                  <a:pt x="129540" y="0"/>
                </a:lnTo>
                <a:lnTo>
                  <a:pt x="0" y="21590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7" name="object 17"/>
          <p:cNvSpPr/>
          <p:nvPr/>
        </p:nvSpPr>
        <p:spPr>
          <a:xfrm>
            <a:off x="6525053" y="963727"/>
            <a:ext cx="0" cy="151805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215900"/>
                </a:moveTo>
                <a:lnTo>
                  <a:pt x="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8" name="object 18"/>
          <p:cNvSpPr txBox="1"/>
          <p:nvPr/>
        </p:nvSpPr>
        <p:spPr>
          <a:xfrm>
            <a:off x="5786438" y="1446792"/>
            <a:ext cx="1475184" cy="9618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-3125" algn="ctr">
              <a:lnSpc>
                <a:spcPts val="2461"/>
              </a:lnSpc>
            </a:pPr>
            <a:r>
              <a:rPr sz="2109" dirty="0">
                <a:latin typeface="Gill Sans"/>
                <a:cs typeface="Gill Sans"/>
              </a:rPr>
              <a:t>h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g</a:t>
            </a:r>
            <a:r>
              <a:rPr sz="2109" dirty="0">
                <a:latin typeface="Gill Sans"/>
                <a:cs typeface="Gill Sans"/>
              </a:rPr>
              <a:t>her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1" dirty="0">
                <a:latin typeface="Gill Sans"/>
                <a:cs typeface="Gill Sans"/>
              </a:rPr>
              <a:t>data</a:t>
            </a:r>
            <a:r>
              <a:rPr sz="2109" spc="-7" dirty="0">
                <a:latin typeface="Gill Sans"/>
                <a:cs typeface="Gill Sans"/>
              </a:rPr>
              <a:t> 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11" dirty="0">
                <a:latin typeface="Gill Sans"/>
                <a:cs typeface="Gill Sans"/>
              </a:rPr>
              <a:t>og</a:t>
            </a:r>
            <a:r>
              <a:rPr sz="2109" spc="-4" dirty="0">
                <a:latin typeface="Gill Sans"/>
                <a:cs typeface="Gill Sans"/>
              </a:rPr>
              <a:t>-li</a:t>
            </a:r>
            <a:r>
              <a:rPr sz="2109" spc="-63" dirty="0">
                <a:latin typeface="Gill Sans"/>
                <a:cs typeface="Gill Sans"/>
              </a:rPr>
              <a:t>k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li</a:t>
            </a:r>
            <a:r>
              <a:rPr sz="2109" spc="-14" dirty="0">
                <a:latin typeface="Gill Sans"/>
                <a:cs typeface="Gill Sans"/>
              </a:rPr>
              <a:t>hood</a:t>
            </a:r>
            <a:r>
              <a:rPr sz="2109" spc="-7" dirty="0">
                <a:latin typeface="Gill Sans"/>
                <a:cs typeface="Gill Sans"/>
              </a:rPr>
              <a:t> </a:t>
            </a:r>
            <a:r>
              <a:rPr sz="2109" spc="-4" dirty="0">
                <a:latin typeface="Gill Sans"/>
                <a:cs typeface="Gill Sans"/>
              </a:rPr>
              <a:t>(L</a:t>
            </a:r>
            <a:r>
              <a:rPr sz="2109" dirty="0">
                <a:latin typeface="Gill Sans"/>
                <a:cs typeface="Gill Sans"/>
              </a:rPr>
              <a:t>n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dirty="0">
                <a:latin typeface="Gill Sans"/>
                <a:cs typeface="Gill Sans"/>
              </a:rPr>
              <a:t>)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40008" y="3046132"/>
            <a:ext cx="4108549" cy="948978"/>
          </a:xfrm>
          <a:prstGeom prst="rect">
            <a:avLst/>
          </a:prstGeom>
          <a:ln w="762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90686" marR="680418" algn="ctr">
              <a:lnSpc>
                <a:spcPts val="2461"/>
              </a:lnSpc>
            </a:pPr>
            <a:r>
              <a:rPr sz="2109" b="1" spc="-18" dirty="0">
                <a:latin typeface="Gill Sans"/>
                <a:cs typeface="Gill Sans"/>
              </a:rPr>
              <a:t>Ak</a:t>
            </a:r>
            <a:r>
              <a:rPr sz="2109" b="1" spc="14" dirty="0">
                <a:latin typeface="Gill Sans"/>
                <a:cs typeface="Gill Sans"/>
              </a:rPr>
              <a:t>a</a:t>
            </a:r>
            <a:r>
              <a:rPr sz="2109" b="1" dirty="0">
                <a:latin typeface="Gill Sans"/>
                <a:cs typeface="Gill Sans"/>
              </a:rPr>
              <a:t>i</a:t>
            </a:r>
            <a:r>
              <a:rPr sz="2109" b="1" spc="-105" dirty="0">
                <a:latin typeface="Gill Sans"/>
                <a:cs typeface="Gill Sans"/>
              </a:rPr>
              <a:t>k</a:t>
            </a:r>
            <a:r>
              <a:rPr sz="2109" b="1" dirty="0">
                <a:latin typeface="Gill Sans"/>
                <a:cs typeface="Gill Sans"/>
              </a:rPr>
              <a:t>e</a:t>
            </a:r>
            <a:r>
              <a:rPr sz="2109" b="1" spc="-4" dirty="0">
                <a:latin typeface="Gill Sans"/>
                <a:cs typeface="Gill Sans"/>
              </a:rPr>
              <a:t> </a:t>
            </a:r>
            <a:r>
              <a:rPr sz="2109" b="1" dirty="0">
                <a:latin typeface="Gill Sans"/>
                <a:cs typeface="Gill Sans"/>
              </a:rPr>
              <a:t>In</a:t>
            </a:r>
            <a:r>
              <a:rPr sz="2109" b="1" spc="-4" dirty="0">
                <a:latin typeface="Gill Sans"/>
                <a:cs typeface="Gill Sans"/>
              </a:rPr>
              <a:t>fo</a:t>
            </a:r>
            <a:r>
              <a:rPr sz="2109" b="1" dirty="0">
                <a:latin typeface="Gill Sans"/>
                <a:cs typeface="Gill Sans"/>
              </a:rPr>
              <a:t>r</a:t>
            </a:r>
            <a:r>
              <a:rPr sz="2109" b="1" spc="-4" dirty="0">
                <a:latin typeface="Gill Sans"/>
                <a:cs typeface="Gill Sans"/>
              </a:rPr>
              <a:t>m</a:t>
            </a:r>
            <a:r>
              <a:rPr sz="2109" b="1" spc="-14" dirty="0">
                <a:latin typeface="Gill Sans"/>
                <a:cs typeface="Gill Sans"/>
              </a:rPr>
              <a:t>a</a:t>
            </a:r>
            <a:r>
              <a:rPr sz="2109" b="1" spc="-4" dirty="0">
                <a:latin typeface="Gill Sans"/>
                <a:cs typeface="Gill Sans"/>
              </a:rPr>
              <a:t>t</a:t>
            </a:r>
            <a:r>
              <a:rPr sz="2109" b="1" dirty="0">
                <a:latin typeface="Gill Sans"/>
                <a:cs typeface="Gill Sans"/>
              </a:rPr>
              <a:t>i</a:t>
            </a:r>
            <a:r>
              <a:rPr sz="2109" b="1" spc="-4" dirty="0">
                <a:latin typeface="Gill Sans"/>
                <a:cs typeface="Gill Sans"/>
              </a:rPr>
              <a:t>o</a:t>
            </a:r>
            <a:r>
              <a:rPr sz="2109" b="1" dirty="0">
                <a:latin typeface="Gill Sans"/>
                <a:cs typeface="Gill Sans"/>
              </a:rPr>
              <a:t>n C</a:t>
            </a:r>
            <a:r>
              <a:rPr sz="2109" b="1" spc="-91" dirty="0">
                <a:latin typeface="Gill Sans"/>
                <a:cs typeface="Gill Sans"/>
              </a:rPr>
              <a:t>r</a:t>
            </a:r>
            <a:r>
              <a:rPr sz="2109" b="1" dirty="0">
                <a:latin typeface="Gill Sans"/>
                <a:cs typeface="Gill Sans"/>
              </a:rPr>
              <a:t>i</a:t>
            </a:r>
            <a:r>
              <a:rPr sz="2109" b="1" spc="-4" dirty="0">
                <a:latin typeface="Gill Sans"/>
                <a:cs typeface="Gill Sans"/>
              </a:rPr>
              <a:t>t</a:t>
            </a:r>
            <a:r>
              <a:rPr sz="2109" b="1" dirty="0">
                <a:latin typeface="Gill Sans"/>
                <a:cs typeface="Gill Sans"/>
              </a:rPr>
              <a:t>e</a:t>
            </a:r>
            <a:r>
              <a:rPr sz="2109" b="1" spc="-91" dirty="0">
                <a:latin typeface="Gill Sans"/>
                <a:cs typeface="Gill Sans"/>
              </a:rPr>
              <a:t>r</a:t>
            </a:r>
            <a:r>
              <a:rPr sz="2109" b="1" dirty="0">
                <a:latin typeface="Gill Sans"/>
                <a:cs typeface="Gill Sans"/>
              </a:rPr>
              <a:t>i</a:t>
            </a:r>
            <a:r>
              <a:rPr sz="2109" b="1" spc="-4" dirty="0">
                <a:latin typeface="Gill Sans"/>
                <a:cs typeface="Gill Sans"/>
              </a:rPr>
              <a:t>o</a:t>
            </a:r>
            <a:r>
              <a:rPr sz="2109" b="1" dirty="0">
                <a:latin typeface="Gill Sans"/>
                <a:cs typeface="Gill Sans"/>
              </a:rPr>
              <a:t>n</a:t>
            </a:r>
            <a:r>
              <a:rPr sz="2109" b="1" spc="-4" dirty="0">
                <a:latin typeface="Gill Sans"/>
                <a:cs typeface="Gill Sans"/>
              </a:rPr>
              <a:t> </a:t>
            </a:r>
            <a:r>
              <a:rPr sz="2109" b="1" spc="-11" dirty="0">
                <a:latin typeface="Gill Sans"/>
                <a:cs typeface="Gill Sans"/>
              </a:rPr>
              <a:t>(</a:t>
            </a:r>
            <a:r>
              <a:rPr sz="2109" b="1" dirty="0">
                <a:latin typeface="Gill Sans"/>
                <a:cs typeface="Gill Sans"/>
              </a:rPr>
              <a:t>AIC</a:t>
            </a:r>
            <a:r>
              <a:rPr sz="2109" b="1" spc="-11" dirty="0">
                <a:latin typeface="Gill Sans"/>
                <a:cs typeface="Gill Sans"/>
              </a:rPr>
              <a:t>)</a:t>
            </a:r>
            <a:r>
              <a:rPr sz="2109" b="1" spc="-4" dirty="0">
                <a:latin typeface="Gill Sans"/>
                <a:cs typeface="Gill Sans"/>
              </a:rPr>
              <a:t> </a:t>
            </a:r>
            <a:r>
              <a:rPr sz="2109" b="1" spc="-14" dirty="0">
                <a:latin typeface="Gill Sans"/>
                <a:cs typeface="Gill Sans"/>
              </a:rPr>
              <a:t>=</a:t>
            </a:r>
            <a:endParaRPr sz="2109">
              <a:latin typeface="Gill Sans"/>
              <a:cs typeface="Gill Sans"/>
            </a:endParaRPr>
          </a:p>
          <a:p>
            <a:pPr algn="ctr">
              <a:lnSpc>
                <a:spcPts val="2391"/>
              </a:lnSpc>
            </a:pPr>
            <a:r>
              <a:rPr sz="2109" spc="-4" dirty="0">
                <a:latin typeface="Gill Sans"/>
                <a:cs typeface="Gill Sans"/>
              </a:rPr>
              <a:t>-</a:t>
            </a:r>
            <a:r>
              <a:rPr sz="2109" dirty="0">
                <a:latin typeface="Gill Sans"/>
                <a:cs typeface="Gill Sans"/>
              </a:rPr>
              <a:t>2</a:t>
            </a:r>
            <a:r>
              <a:rPr sz="2109" spc="-4" dirty="0">
                <a:latin typeface="Gill Sans"/>
                <a:cs typeface="Gill Sans"/>
              </a:rPr>
              <a:t>(L</a:t>
            </a:r>
            <a:r>
              <a:rPr sz="2109" dirty="0">
                <a:latin typeface="Gill Sans"/>
                <a:cs typeface="Gill Sans"/>
              </a:rPr>
              <a:t>nL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-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#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o</a:t>
            </a:r>
            <a:r>
              <a:rPr sz="2109" dirty="0">
                <a:latin typeface="Gill Sans"/>
                <a:cs typeface="Gill Sans"/>
              </a:rPr>
              <a:t>f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1" dirty="0">
                <a:latin typeface="Gill Sans"/>
                <a:cs typeface="Gill Sans"/>
              </a:rPr>
              <a:t>parameters</a:t>
            </a:r>
            <a:r>
              <a:rPr sz="2109" dirty="0">
                <a:latin typeface="Gill Sans"/>
                <a:cs typeface="Gill Sans"/>
              </a:rPr>
              <a:t>)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90165" y="4899688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1" name="object 21"/>
          <p:cNvSpPr/>
          <p:nvPr/>
        </p:nvSpPr>
        <p:spPr>
          <a:xfrm>
            <a:off x="1521407" y="5016221"/>
            <a:ext cx="182165" cy="182165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2" name="object 22"/>
          <p:cNvSpPr txBox="1"/>
          <p:nvPr/>
        </p:nvSpPr>
        <p:spPr>
          <a:xfrm>
            <a:off x="1446791" y="2620308"/>
            <a:ext cx="324576" cy="21216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8929"/>
            <a:r>
              <a:rPr sz="2109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dirty="0">
                <a:latin typeface="Gill Sans"/>
                <a:cs typeface="Gill Sans"/>
              </a:rPr>
              <a:t>stance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f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om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truth</a:t>
            </a:r>
            <a:endParaRPr sz="2109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1298" y="1468969"/>
            <a:ext cx="0" cy="4750147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03573" y="1394389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03573" y="1296163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861298" y="1001648"/>
            <a:ext cx="0" cy="357633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 txBox="1"/>
          <p:nvPr/>
        </p:nvSpPr>
        <p:spPr>
          <a:xfrm>
            <a:off x="723305" y="636716"/>
            <a:ext cx="2281535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b="1" dirty="0">
                <a:latin typeface="Gill Sans"/>
                <a:cs typeface="Gill Sans"/>
              </a:rPr>
              <a:t>“</a:t>
            </a:r>
            <a:r>
              <a:rPr sz="2531" b="1" spc="-74" dirty="0">
                <a:latin typeface="Gill Sans"/>
                <a:cs typeface="Gill Sans"/>
              </a:rPr>
              <a:t>T</a:t>
            </a:r>
            <a:r>
              <a:rPr sz="2531" b="1" spc="-39" dirty="0">
                <a:latin typeface="Gill Sans"/>
                <a:cs typeface="Gill Sans"/>
              </a:rPr>
              <a:t>r</a:t>
            </a:r>
            <a:r>
              <a:rPr sz="2531" b="1" spc="-4" dirty="0">
                <a:latin typeface="Gill Sans"/>
                <a:cs typeface="Gill Sans"/>
              </a:rPr>
              <a:t>u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4" dirty="0">
                <a:latin typeface="Gill Sans"/>
                <a:cs typeface="Gill Sans"/>
              </a:rPr>
              <a:t> mo</a:t>
            </a:r>
            <a:r>
              <a:rPr sz="2531" b="1" dirty="0">
                <a:latin typeface="Gill Sans"/>
                <a:cs typeface="Gill Sans"/>
              </a:rPr>
              <a:t>del”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2539" y="1573629"/>
            <a:ext cx="1205508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dirty="0">
                <a:latin typeface="Gill Sans"/>
                <a:cs typeface="Gill Sans"/>
              </a:rPr>
              <a:t>Better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spc="18" dirty="0">
                <a:latin typeface="Gill Sans"/>
                <a:cs typeface="Gill Sans"/>
              </a:rPr>
              <a:t>fit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2391" y="1598596"/>
            <a:ext cx="3013323" cy="324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35" dirty="0">
                <a:latin typeface="Gill Sans"/>
                <a:cs typeface="Gill Sans"/>
              </a:rPr>
              <a:t>o</a:t>
            </a:r>
            <a:r>
              <a:rPr sz="2109" spc="-46" dirty="0">
                <a:latin typeface="Gill Sans"/>
                <a:cs typeface="Gill Sans"/>
              </a:rPr>
              <a:t>w</a:t>
            </a:r>
            <a:r>
              <a:rPr sz="2109" dirty="0">
                <a:latin typeface="Gill Sans"/>
                <a:cs typeface="Gill Sans"/>
              </a:rPr>
              <a:t>er</a:t>
            </a:r>
            <a:r>
              <a:rPr sz="2109" spc="-21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r>
              <a:rPr sz="2109" spc="-4" dirty="0">
                <a:latin typeface="Gill Sans"/>
                <a:cs typeface="Gill Sans"/>
              </a:rPr>
              <a:t> l</a:t>
            </a:r>
            <a:r>
              <a:rPr sz="2109" spc="-35" dirty="0">
                <a:latin typeface="Gill Sans"/>
                <a:cs typeface="Gill Sans"/>
              </a:rPr>
              <a:t>o</a:t>
            </a:r>
            <a:r>
              <a:rPr sz="2109" spc="-46" dirty="0">
                <a:latin typeface="Gill Sans"/>
                <a:cs typeface="Gill Sans"/>
              </a:rPr>
              <a:t>w</a:t>
            </a:r>
            <a:r>
              <a:rPr sz="2109" dirty="0">
                <a:latin typeface="Gill Sans"/>
                <a:cs typeface="Gill Sans"/>
              </a:rPr>
              <a:t>er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41530" y="1729114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1660547" y="6095301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1469" y="372688"/>
            <a:ext cx="5786438" cy="444505"/>
          </a:xfrm>
          <a:prstGeom prst="rect">
            <a:avLst/>
          </a:prstGeom>
        </p:spPr>
        <p:txBody>
          <a:bodyPr vert="horz" wrap="square" lIns="0" tIns="54507" rIns="0" bIns="0" rtlCol="0" anchor="ctr">
            <a:spAutoFit/>
          </a:bodyPr>
          <a:lstStyle/>
          <a:p>
            <a:pPr marL="1203233"/>
            <a:r>
              <a:rPr sz="2531" spc="-21" dirty="0">
                <a:latin typeface="Gill Sans"/>
                <a:cs typeface="Gill Sans"/>
              </a:rPr>
              <a:t>Ak</a:t>
            </a:r>
            <a:r>
              <a:rPr sz="2531" spc="18" dirty="0">
                <a:latin typeface="Gill Sans"/>
                <a:cs typeface="Gill Sans"/>
              </a:rPr>
              <a:t>a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127" dirty="0">
                <a:latin typeface="Gill Sans"/>
                <a:cs typeface="Gill Sans"/>
              </a:rPr>
              <a:t>k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nfo</a:t>
            </a:r>
            <a:r>
              <a:rPr sz="2531" dirty="0">
                <a:latin typeface="Gill Sans"/>
                <a:cs typeface="Gill Sans"/>
              </a:rPr>
              <a:t>r</a:t>
            </a:r>
            <a:r>
              <a:rPr sz="2531" spc="-4" dirty="0">
                <a:latin typeface="Gill Sans"/>
                <a:cs typeface="Gill Sans"/>
              </a:rPr>
              <a:t>m</a:t>
            </a:r>
            <a:r>
              <a:rPr sz="2531" spc="-18" dirty="0">
                <a:latin typeface="Gill Sans"/>
                <a:cs typeface="Gill Sans"/>
              </a:rPr>
              <a:t>a</a:t>
            </a:r>
            <a:r>
              <a:rPr sz="2531" spc="-4" dirty="0">
                <a:latin typeface="Gill Sans"/>
                <a:cs typeface="Gill Sans"/>
              </a:rPr>
              <a:t>t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o</a:t>
            </a:r>
            <a:r>
              <a:rPr sz="2531" dirty="0">
                <a:latin typeface="Gill Sans"/>
                <a:cs typeface="Gill Sans"/>
              </a:rPr>
              <a:t>n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dirty="0">
                <a:latin typeface="Gill Sans"/>
                <a:cs typeface="Gill Sans"/>
              </a:rPr>
              <a:t>C</a:t>
            </a:r>
            <a:r>
              <a:rPr sz="2531" spc="-109" dirty="0">
                <a:latin typeface="Gill Sans"/>
                <a:cs typeface="Gill Sans"/>
              </a:rPr>
              <a:t>r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t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109" dirty="0">
                <a:latin typeface="Gill Sans"/>
                <a:cs typeface="Gill Sans"/>
              </a:rPr>
              <a:t>r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o</a:t>
            </a:r>
            <a:r>
              <a:rPr sz="2531" dirty="0">
                <a:latin typeface="Gill Sans"/>
                <a:cs typeface="Gill Sans"/>
              </a:rPr>
              <a:t>n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7187" y="5922387"/>
            <a:ext cx="1263551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spc="-257" dirty="0">
                <a:latin typeface="Gill Sans"/>
                <a:cs typeface="Gill Sans"/>
              </a:rPr>
              <a:t>W</a:t>
            </a:r>
            <a:r>
              <a:rPr sz="2531" spc="-14" dirty="0">
                <a:latin typeface="Gill Sans"/>
                <a:cs typeface="Gill Sans"/>
              </a:rPr>
              <a:t>ors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spc="18" dirty="0">
                <a:latin typeface="Gill Sans"/>
                <a:cs typeface="Gill Sans"/>
              </a:rPr>
              <a:t>fit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44898" y="5956283"/>
            <a:ext cx="3112889" cy="324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109" dirty="0">
                <a:latin typeface="Gill Sans"/>
                <a:cs typeface="Gill Sans"/>
              </a:rPr>
              <a:t>h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g</a:t>
            </a:r>
            <a:r>
              <a:rPr sz="2109" dirty="0">
                <a:latin typeface="Gill Sans"/>
                <a:cs typeface="Gill Sans"/>
              </a:rPr>
              <a:t>her</a:t>
            </a:r>
            <a:r>
              <a:rPr sz="2109" spc="-21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h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g</a:t>
            </a:r>
            <a:r>
              <a:rPr sz="2109" dirty="0">
                <a:latin typeface="Gill Sans"/>
                <a:cs typeface="Gill Sans"/>
              </a:rPr>
              <a:t>her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09180" y="3080924"/>
            <a:ext cx="1822996" cy="12952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496"/>
              </a:lnSpc>
            </a:pP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endParaRPr sz="2109">
              <a:latin typeface="Gill Sans"/>
              <a:cs typeface="Gill Sans"/>
            </a:endParaRPr>
          </a:p>
          <a:p>
            <a:pPr marL="8929" marR="3572">
              <a:lnSpc>
                <a:spcPts val="2461"/>
              </a:lnSpc>
              <a:spcBef>
                <a:spcPts val="105"/>
              </a:spcBef>
            </a:pPr>
            <a:r>
              <a:rPr sz="2109" spc="-11" dirty="0">
                <a:latin typeface="Gill Sans"/>
                <a:cs typeface="Gill Sans"/>
              </a:rPr>
              <a:t>est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mator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o</a:t>
            </a:r>
            <a:r>
              <a:rPr sz="2109" dirty="0">
                <a:latin typeface="Gill Sans"/>
                <a:cs typeface="Gill Sans"/>
              </a:rPr>
              <a:t>f 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11" dirty="0">
                <a:latin typeface="Gill Sans"/>
                <a:cs typeface="Gill Sans"/>
              </a:rPr>
              <a:t>a</a:t>
            </a:r>
            <a:r>
              <a:rPr sz="2109" dirty="0">
                <a:latin typeface="Gill Sans"/>
                <a:cs typeface="Gill Sans"/>
              </a:rPr>
              <a:t>t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53" dirty="0">
                <a:latin typeface="Gill Sans"/>
                <a:cs typeface="Gill Sans"/>
              </a:rPr>
              <a:t>v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r>
              <a:rPr sz="2109" spc="-7" dirty="0">
                <a:latin typeface="Gill Sans"/>
                <a:cs typeface="Gill Sans"/>
              </a:rPr>
              <a:t> f</a:t>
            </a:r>
            <a:r>
              <a:rPr sz="2109" spc="-63" dirty="0">
                <a:latin typeface="Gill Sans"/>
                <a:cs typeface="Gill Sans"/>
              </a:rPr>
              <a:t>r</a:t>
            </a:r>
            <a:r>
              <a:rPr sz="2109" spc="-14" dirty="0">
                <a:latin typeface="Gill Sans"/>
                <a:cs typeface="Gill Sans"/>
              </a:rPr>
              <a:t>om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true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mod</a:t>
            </a:r>
            <a:r>
              <a:rPr sz="2109" dirty="0">
                <a:latin typeface="Gill Sans"/>
                <a:cs typeface="Gill Sans"/>
              </a:rPr>
              <a:t>el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02729" y="1236083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406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6" name="object 16"/>
          <p:cNvSpPr/>
          <p:nvPr/>
        </p:nvSpPr>
        <p:spPr>
          <a:xfrm>
            <a:off x="6433970" y="963727"/>
            <a:ext cx="182165" cy="151805"/>
          </a:xfrm>
          <a:custGeom>
            <a:avLst/>
            <a:gdLst/>
            <a:ahLst/>
            <a:cxnLst/>
            <a:rect l="l" t="t" r="r" b="b"/>
            <a:pathLst>
              <a:path w="259079" h="215900">
                <a:moveTo>
                  <a:pt x="259080" y="215900"/>
                </a:moveTo>
                <a:lnTo>
                  <a:pt x="129540" y="0"/>
                </a:lnTo>
                <a:lnTo>
                  <a:pt x="0" y="21590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7" name="object 17"/>
          <p:cNvSpPr/>
          <p:nvPr/>
        </p:nvSpPr>
        <p:spPr>
          <a:xfrm>
            <a:off x="6525053" y="963727"/>
            <a:ext cx="0" cy="151805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215900"/>
                </a:moveTo>
                <a:lnTo>
                  <a:pt x="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8" name="object 18"/>
          <p:cNvSpPr txBox="1"/>
          <p:nvPr/>
        </p:nvSpPr>
        <p:spPr>
          <a:xfrm>
            <a:off x="5786438" y="1446792"/>
            <a:ext cx="1475184" cy="9618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-3125" algn="ctr">
              <a:lnSpc>
                <a:spcPts val="2461"/>
              </a:lnSpc>
            </a:pPr>
            <a:r>
              <a:rPr sz="2109" dirty="0">
                <a:latin typeface="Gill Sans"/>
                <a:cs typeface="Gill Sans"/>
              </a:rPr>
              <a:t>h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g</a:t>
            </a:r>
            <a:r>
              <a:rPr sz="2109" dirty="0">
                <a:latin typeface="Gill Sans"/>
                <a:cs typeface="Gill Sans"/>
              </a:rPr>
              <a:t>her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1" dirty="0">
                <a:latin typeface="Gill Sans"/>
                <a:cs typeface="Gill Sans"/>
              </a:rPr>
              <a:t>data</a:t>
            </a:r>
            <a:r>
              <a:rPr sz="2109" spc="-7" dirty="0">
                <a:latin typeface="Gill Sans"/>
                <a:cs typeface="Gill Sans"/>
              </a:rPr>
              <a:t> 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11" dirty="0">
                <a:latin typeface="Gill Sans"/>
                <a:cs typeface="Gill Sans"/>
              </a:rPr>
              <a:t>og</a:t>
            </a:r>
            <a:r>
              <a:rPr sz="2109" spc="-4" dirty="0">
                <a:latin typeface="Gill Sans"/>
                <a:cs typeface="Gill Sans"/>
              </a:rPr>
              <a:t>-li</a:t>
            </a:r>
            <a:r>
              <a:rPr sz="2109" spc="-63" dirty="0">
                <a:latin typeface="Gill Sans"/>
                <a:cs typeface="Gill Sans"/>
              </a:rPr>
              <a:t>k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li</a:t>
            </a:r>
            <a:r>
              <a:rPr sz="2109" spc="-14" dirty="0">
                <a:latin typeface="Gill Sans"/>
                <a:cs typeface="Gill Sans"/>
              </a:rPr>
              <a:t>hood</a:t>
            </a:r>
            <a:r>
              <a:rPr sz="2109" spc="-7" dirty="0">
                <a:latin typeface="Gill Sans"/>
                <a:cs typeface="Gill Sans"/>
              </a:rPr>
              <a:t> </a:t>
            </a:r>
            <a:r>
              <a:rPr sz="2109" spc="-4" dirty="0">
                <a:latin typeface="Gill Sans"/>
                <a:cs typeface="Gill Sans"/>
              </a:rPr>
              <a:t>(L</a:t>
            </a:r>
            <a:r>
              <a:rPr sz="2109" dirty="0">
                <a:latin typeface="Gill Sans"/>
                <a:cs typeface="Gill Sans"/>
              </a:rPr>
              <a:t>n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dirty="0">
                <a:latin typeface="Gill Sans"/>
                <a:cs typeface="Gill Sans"/>
              </a:rPr>
              <a:t>)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02727" y="5865010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406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0" name="object 20"/>
          <p:cNvSpPr/>
          <p:nvPr/>
        </p:nvSpPr>
        <p:spPr>
          <a:xfrm>
            <a:off x="6433970" y="5985560"/>
            <a:ext cx="182165" cy="151805"/>
          </a:xfrm>
          <a:custGeom>
            <a:avLst/>
            <a:gdLst/>
            <a:ahLst/>
            <a:cxnLst/>
            <a:rect l="l" t="t" r="r" b="b"/>
            <a:pathLst>
              <a:path w="259079" h="215900">
                <a:moveTo>
                  <a:pt x="0" y="0"/>
                </a:moveTo>
                <a:lnTo>
                  <a:pt x="129540" y="215900"/>
                </a:lnTo>
                <a:lnTo>
                  <a:pt x="25908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1" name="object 21"/>
          <p:cNvSpPr/>
          <p:nvPr/>
        </p:nvSpPr>
        <p:spPr>
          <a:xfrm>
            <a:off x="6525051" y="5985560"/>
            <a:ext cx="0" cy="151805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0"/>
                </a:moveTo>
                <a:lnTo>
                  <a:pt x="0" y="21590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2" name="object 22"/>
          <p:cNvSpPr txBox="1"/>
          <p:nvPr/>
        </p:nvSpPr>
        <p:spPr>
          <a:xfrm>
            <a:off x="5786438" y="4768635"/>
            <a:ext cx="1475184" cy="9618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893" algn="ctr">
              <a:lnSpc>
                <a:spcPts val="2461"/>
              </a:lnSpc>
            </a:pP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35" dirty="0">
                <a:latin typeface="Gill Sans"/>
                <a:cs typeface="Gill Sans"/>
              </a:rPr>
              <a:t>o</a:t>
            </a:r>
            <a:r>
              <a:rPr sz="2109" spc="-46" dirty="0">
                <a:latin typeface="Gill Sans"/>
                <a:cs typeface="Gill Sans"/>
              </a:rPr>
              <a:t>w</a:t>
            </a:r>
            <a:r>
              <a:rPr sz="2109" dirty="0">
                <a:latin typeface="Gill Sans"/>
                <a:cs typeface="Gill Sans"/>
              </a:rPr>
              <a:t>er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1" dirty="0">
                <a:latin typeface="Gill Sans"/>
                <a:cs typeface="Gill Sans"/>
              </a:rPr>
              <a:t>data</a:t>
            </a:r>
            <a:r>
              <a:rPr sz="2109" spc="-7" dirty="0">
                <a:latin typeface="Gill Sans"/>
                <a:cs typeface="Gill Sans"/>
              </a:rPr>
              <a:t> 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11" dirty="0">
                <a:latin typeface="Gill Sans"/>
                <a:cs typeface="Gill Sans"/>
              </a:rPr>
              <a:t>og</a:t>
            </a:r>
            <a:r>
              <a:rPr sz="2109" spc="-4" dirty="0">
                <a:latin typeface="Gill Sans"/>
                <a:cs typeface="Gill Sans"/>
              </a:rPr>
              <a:t>-li</a:t>
            </a:r>
            <a:r>
              <a:rPr sz="2109" spc="-63" dirty="0">
                <a:latin typeface="Gill Sans"/>
                <a:cs typeface="Gill Sans"/>
              </a:rPr>
              <a:t>k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li</a:t>
            </a:r>
            <a:r>
              <a:rPr sz="2109" spc="-14" dirty="0">
                <a:latin typeface="Gill Sans"/>
                <a:cs typeface="Gill Sans"/>
              </a:rPr>
              <a:t>hood</a:t>
            </a:r>
            <a:r>
              <a:rPr sz="2109" spc="-7" dirty="0">
                <a:latin typeface="Gill Sans"/>
                <a:cs typeface="Gill Sans"/>
              </a:rPr>
              <a:t> </a:t>
            </a:r>
            <a:r>
              <a:rPr sz="2109" spc="-4" dirty="0">
                <a:latin typeface="Gill Sans"/>
                <a:cs typeface="Gill Sans"/>
              </a:rPr>
              <a:t>(L</a:t>
            </a:r>
            <a:r>
              <a:rPr sz="2109" dirty="0">
                <a:latin typeface="Gill Sans"/>
                <a:cs typeface="Gill Sans"/>
              </a:rPr>
              <a:t>n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dirty="0">
                <a:latin typeface="Gill Sans"/>
                <a:cs typeface="Gill Sans"/>
              </a:rPr>
              <a:t>)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40008" y="3046132"/>
            <a:ext cx="4108549" cy="948978"/>
          </a:xfrm>
          <a:prstGeom prst="rect">
            <a:avLst/>
          </a:prstGeom>
          <a:ln w="762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90686" marR="680418" algn="ctr">
              <a:lnSpc>
                <a:spcPts val="2461"/>
              </a:lnSpc>
            </a:pPr>
            <a:r>
              <a:rPr sz="2109" b="1" spc="-18" dirty="0">
                <a:latin typeface="Gill Sans"/>
                <a:cs typeface="Gill Sans"/>
              </a:rPr>
              <a:t>Ak</a:t>
            </a:r>
            <a:r>
              <a:rPr sz="2109" b="1" spc="14" dirty="0">
                <a:latin typeface="Gill Sans"/>
                <a:cs typeface="Gill Sans"/>
              </a:rPr>
              <a:t>a</a:t>
            </a:r>
            <a:r>
              <a:rPr sz="2109" b="1" dirty="0">
                <a:latin typeface="Gill Sans"/>
                <a:cs typeface="Gill Sans"/>
              </a:rPr>
              <a:t>i</a:t>
            </a:r>
            <a:r>
              <a:rPr sz="2109" b="1" spc="-105" dirty="0">
                <a:latin typeface="Gill Sans"/>
                <a:cs typeface="Gill Sans"/>
              </a:rPr>
              <a:t>k</a:t>
            </a:r>
            <a:r>
              <a:rPr sz="2109" b="1" dirty="0">
                <a:latin typeface="Gill Sans"/>
                <a:cs typeface="Gill Sans"/>
              </a:rPr>
              <a:t>e</a:t>
            </a:r>
            <a:r>
              <a:rPr sz="2109" b="1" spc="-4" dirty="0">
                <a:latin typeface="Gill Sans"/>
                <a:cs typeface="Gill Sans"/>
              </a:rPr>
              <a:t> </a:t>
            </a:r>
            <a:r>
              <a:rPr sz="2109" b="1" dirty="0">
                <a:latin typeface="Gill Sans"/>
                <a:cs typeface="Gill Sans"/>
              </a:rPr>
              <a:t>In</a:t>
            </a:r>
            <a:r>
              <a:rPr sz="2109" b="1" spc="-4" dirty="0">
                <a:latin typeface="Gill Sans"/>
                <a:cs typeface="Gill Sans"/>
              </a:rPr>
              <a:t>fo</a:t>
            </a:r>
            <a:r>
              <a:rPr sz="2109" b="1" dirty="0">
                <a:latin typeface="Gill Sans"/>
                <a:cs typeface="Gill Sans"/>
              </a:rPr>
              <a:t>r</a:t>
            </a:r>
            <a:r>
              <a:rPr sz="2109" b="1" spc="-4" dirty="0">
                <a:latin typeface="Gill Sans"/>
                <a:cs typeface="Gill Sans"/>
              </a:rPr>
              <a:t>m</a:t>
            </a:r>
            <a:r>
              <a:rPr sz="2109" b="1" spc="-14" dirty="0">
                <a:latin typeface="Gill Sans"/>
                <a:cs typeface="Gill Sans"/>
              </a:rPr>
              <a:t>a</a:t>
            </a:r>
            <a:r>
              <a:rPr sz="2109" b="1" spc="-4" dirty="0">
                <a:latin typeface="Gill Sans"/>
                <a:cs typeface="Gill Sans"/>
              </a:rPr>
              <a:t>t</a:t>
            </a:r>
            <a:r>
              <a:rPr sz="2109" b="1" dirty="0">
                <a:latin typeface="Gill Sans"/>
                <a:cs typeface="Gill Sans"/>
              </a:rPr>
              <a:t>i</a:t>
            </a:r>
            <a:r>
              <a:rPr sz="2109" b="1" spc="-4" dirty="0">
                <a:latin typeface="Gill Sans"/>
                <a:cs typeface="Gill Sans"/>
              </a:rPr>
              <a:t>o</a:t>
            </a:r>
            <a:r>
              <a:rPr sz="2109" b="1" dirty="0">
                <a:latin typeface="Gill Sans"/>
                <a:cs typeface="Gill Sans"/>
              </a:rPr>
              <a:t>n C</a:t>
            </a:r>
            <a:r>
              <a:rPr sz="2109" b="1" spc="-91" dirty="0">
                <a:latin typeface="Gill Sans"/>
                <a:cs typeface="Gill Sans"/>
              </a:rPr>
              <a:t>r</a:t>
            </a:r>
            <a:r>
              <a:rPr sz="2109" b="1" dirty="0">
                <a:latin typeface="Gill Sans"/>
                <a:cs typeface="Gill Sans"/>
              </a:rPr>
              <a:t>i</a:t>
            </a:r>
            <a:r>
              <a:rPr sz="2109" b="1" spc="-4" dirty="0">
                <a:latin typeface="Gill Sans"/>
                <a:cs typeface="Gill Sans"/>
              </a:rPr>
              <a:t>t</a:t>
            </a:r>
            <a:r>
              <a:rPr sz="2109" b="1" dirty="0">
                <a:latin typeface="Gill Sans"/>
                <a:cs typeface="Gill Sans"/>
              </a:rPr>
              <a:t>e</a:t>
            </a:r>
            <a:r>
              <a:rPr sz="2109" b="1" spc="-91" dirty="0">
                <a:latin typeface="Gill Sans"/>
                <a:cs typeface="Gill Sans"/>
              </a:rPr>
              <a:t>r</a:t>
            </a:r>
            <a:r>
              <a:rPr sz="2109" b="1" dirty="0">
                <a:latin typeface="Gill Sans"/>
                <a:cs typeface="Gill Sans"/>
              </a:rPr>
              <a:t>i</a:t>
            </a:r>
            <a:r>
              <a:rPr sz="2109" b="1" spc="-4" dirty="0">
                <a:latin typeface="Gill Sans"/>
                <a:cs typeface="Gill Sans"/>
              </a:rPr>
              <a:t>o</a:t>
            </a:r>
            <a:r>
              <a:rPr sz="2109" b="1" dirty="0">
                <a:latin typeface="Gill Sans"/>
                <a:cs typeface="Gill Sans"/>
              </a:rPr>
              <a:t>n</a:t>
            </a:r>
            <a:r>
              <a:rPr sz="2109" b="1" spc="-4" dirty="0">
                <a:latin typeface="Gill Sans"/>
                <a:cs typeface="Gill Sans"/>
              </a:rPr>
              <a:t> </a:t>
            </a:r>
            <a:r>
              <a:rPr sz="2109" b="1" spc="-11" dirty="0">
                <a:latin typeface="Gill Sans"/>
                <a:cs typeface="Gill Sans"/>
              </a:rPr>
              <a:t>(</a:t>
            </a:r>
            <a:r>
              <a:rPr sz="2109" b="1" dirty="0">
                <a:latin typeface="Gill Sans"/>
                <a:cs typeface="Gill Sans"/>
              </a:rPr>
              <a:t>AIC</a:t>
            </a:r>
            <a:r>
              <a:rPr sz="2109" b="1" spc="-11" dirty="0">
                <a:latin typeface="Gill Sans"/>
                <a:cs typeface="Gill Sans"/>
              </a:rPr>
              <a:t>)</a:t>
            </a:r>
            <a:r>
              <a:rPr sz="2109" b="1" spc="-4" dirty="0">
                <a:latin typeface="Gill Sans"/>
                <a:cs typeface="Gill Sans"/>
              </a:rPr>
              <a:t> </a:t>
            </a:r>
            <a:r>
              <a:rPr sz="2109" b="1" spc="-14" dirty="0">
                <a:latin typeface="Gill Sans"/>
                <a:cs typeface="Gill Sans"/>
              </a:rPr>
              <a:t>=</a:t>
            </a:r>
            <a:endParaRPr sz="2109">
              <a:latin typeface="Gill Sans"/>
              <a:cs typeface="Gill Sans"/>
            </a:endParaRPr>
          </a:p>
          <a:p>
            <a:pPr algn="ctr">
              <a:lnSpc>
                <a:spcPts val="2391"/>
              </a:lnSpc>
            </a:pPr>
            <a:r>
              <a:rPr sz="2109" spc="-4" dirty="0">
                <a:latin typeface="Gill Sans"/>
                <a:cs typeface="Gill Sans"/>
              </a:rPr>
              <a:t>-</a:t>
            </a:r>
            <a:r>
              <a:rPr sz="2109" dirty="0">
                <a:latin typeface="Gill Sans"/>
                <a:cs typeface="Gill Sans"/>
              </a:rPr>
              <a:t>2</a:t>
            </a:r>
            <a:r>
              <a:rPr sz="2109" spc="-4" dirty="0">
                <a:latin typeface="Gill Sans"/>
                <a:cs typeface="Gill Sans"/>
              </a:rPr>
              <a:t>(L</a:t>
            </a:r>
            <a:r>
              <a:rPr sz="2109" dirty="0">
                <a:latin typeface="Gill Sans"/>
                <a:cs typeface="Gill Sans"/>
              </a:rPr>
              <a:t>nL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-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#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o</a:t>
            </a:r>
            <a:r>
              <a:rPr sz="2109" dirty="0">
                <a:latin typeface="Gill Sans"/>
                <a:cs typeface="Gill Sans"/>
              </a:rPr>
              <a:t>f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1" dirty="0">
                <a:latin typeface="Gill Sans"/>
                <a:cs typeface="Gill Sans"/>
              </a:rPr>
              <a:t>parameters</a:t>
            </a:r>
            <a:r>
              <a:rPr sz="2109" dirty="0">
                <a:latin typeface="Gill Sans"/>
                <a:cs typeface="Gill Sans"/>
              </a:rPr>
              <a:t>)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590165" y="4899688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5" name="object 25"/>
          <p:cNvSpPr/>
          <p:nvPr/>
        </p:nvSpPr>
        <p:spPr>
          <a:xfrm>
            <a:off x="1521407" y="5016221"/>
            <a:ext cx="182165" cy="182165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6" name="object 26"/>
          <p:cNvSpPr txBox="1"/>
          <p:nvPr/>
        </p:nvSpPr>
        <p:spPr>
          <a:xfrm>
            <a:off x="1446791" y="2620308"/>
            <a:ext cx="324576" cy="21216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8929"/>
            <a:r>
              <a:rPr sz="2109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dirty="0">
                <a:latin typeface="Gill Sans"/>
                <a:cs typeface="Gill Sans"/>
              </a:rPr>
              <a:t>stance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f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om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truth</a:t>
            </a:r>
            <a:endParaRPr sz="2109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1298" y="1468969"/>
            <a:ext cx="0" cy="4750147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03573" y="1394389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03573" y="1296163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861298" y="1001648"/>
            <a:ext cx="0" cy="357633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 txBox="1"/>
          <p:nvPr/>
        </p:nvSpPr>
        <p:spPr>
          <a:xfrm>
            <a:off x="723305" y="636716"/>
            <a:ext cx="2281535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b="1" dirty="0">
                <a:latin typeface="Gill Sans"/>
                <a:cs typeface="Gill Sans"/>
              </a:rPr>
              <a:t>“</a:t>
            </a:r>
            <a:r>
              <a:rPr sz="2531" b="1" spc="-74" dirty="0">
                <a:latin typeface="Gill Sans"/>
                <a:cs typeface="Gill Sans"/>
              </a:rPr>
              <a:t>T</a:t>
            </a:r>
            <a:r>
              <a:rPr sz="2531" b="1" spc="-39" dirty="0">
                <a:latin typeface="Gill Sans"/>
                <a:cs typeface="Gill Sans"/>
              </a:rPr>
              <a:t>r</a:t>
            </a:r>
            <a:r>
              <a:rPr sz="2531" b="1" spc="-4" dirty="0">
                <a:latin typeface="Gill Sans"/>
                <a:cs typeface="Gill Sans"/>
              </a:rPr>
              <a:t>u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4" dirty="0">
                <a:latin typeface="Gill Sans"/>
                <a:cs typeface="Gill Sans"/>
              </a:rPr>
              <a:t> mo</a:t>
            </a:r>
            <a:r>
              <a:rPr sz="2531" b="1" dirty="0">
                <a:latin typeface="Gill Sans"/>
                <a:cs typeface="Gill Sans"/>
              </a:rPr>
              <a:t>del”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2539" y="1573629"/>
            <a:ext cx="1205508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dirty="0">
                <a:latin typeface="Gill Sans"/>
                <a:cs typeface="Gill Sans"/>
              </a:rPr>
              <a:t>Better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spc="18" dirty="0">
                <a:latin typeface="Gill Sans"/>
                <a:cs typeface="Gill Sans"/>
              </a:rPr>
              <a:t>fit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2391" y="1598596"/>
            <a:ext cx="3013323" cy="324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35" dirty="0">
                <a:latin typeface="Gill Sans"/>
                <a:cs typeface="Gill Sans"/>
              </a:rPr>
              <a:t>o</a:t>
            </a:r>
            <a:r>
              <a:rPr sz="2109" spc="-46" dirty="0">
                <a:latin typeface="Gill Sans"/>
                <a:cs typeface="Gill Sans"/>
              </a:rPr>
              <a:t>w</a:t>
            </a:r>
            <a:r>
              <a:rPr sz="2109" dirty="0">
                <a:latin typeface="Gill Sans"/>
                <a:cs typeface="Gill Sans"/>
              </a:rPr>
              <a:t>er</a:t>
            </a:r>
            <a:r>
              <a:rPr sz="2109" spc="-21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r>
              <a:rPr sz="2109" spc="-4" dirty="0">
                <a:latin typeface="Gill Sans"/>
                <a:cs typeface="Gill Sans"/>
              </a:rPr>
              <a:t> l</a:t>
            </a:r>
            <a:r>
              <a:rPr sz="2109" spc="-35" dirty="0">
                <a:latin typeface="Gill Sans"/>
                <a:cs typeface="Gill Sans"/>
              </a:rPr>
              <a:t>o</a:t>
            </a:r>
            <a:r>
              <a:rPr sz="2109" spc="-46" dirty="0">
                <a:latin typeface="Gill Sans"/>
                <a:cs typeface="Gill Sans"/>
              </a:rPr>
              <a:t>w</a:t>
            </a:r>
            <a:r>
              <a:rPr sz="2109" dirty="0">
                <a:latin typeface="Gill Sans"/>
                <a:cs typeface="Gill Sans"/>
              </a:rPr>
              <a:t>er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41530" y="1729114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1660547" y="6095301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1469" y="372688"/>
            <a:ext cx="5786438" cy="444505"/>
          </a:xfrm>
          <a:prstGeom prst="rect">
            <a:avLst/>
          </a:prstGeom>
        </p:spPr>
        <p:txBody>
          <a:bodyPr vert="horz" wrap="square" lIns="0" tIns="54507" rIns="0" bIns="0" rtlCol="0" anchor="ctr">
            <a:spAutoFit/>
          </a:bodyPr>
          <a:lstStyle/>
          <a:p>
            <a:pPr marL="1203233"/>
            <a:r>
              <a:rPr sz="2531" spc="-21" dirty="0">
                <a:latin typeface="Gill Sans"/>
                <a:cs typeface="Gill Sans"/>
              </a:rPr>
              <a:t>Ak</a:t>
            </a:r>
            <a:r>
              <a:rPr sz="2531" spc="18" dirty="0">
                <a:latin typeface="Gill Sans"/>
                <a:cs typeface="Gill Sans"/>
              </a:rPr>
              <a:t>a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127" dirty="0">
                <a:latin typeface="Gill Sans"/>
                <a:cs typeface="Gill Sans"/>
              </a:rPr>
              <a:t>k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nfo</a:t>
            </a:r>
            <a:r>
              <a:rPr sz="2531" dirty="0">
                <a:latin typeface="Gill Sans"/>
                <a:cs typeface="Gill Sans"/>
              </a:rPr>
              <a:t>r</a:t>
            </a:r>
            <a:r>
              <a:rPr sz="2531" spc="-4" dirty="0">
                <a:latin typeface="Gill Sans"/>
                <a:cs typeface="Gill Sans"/>
              </a:rPr>
              <a:t>m</a:t>
            </a:r>
            <a:r>
              <a:rPr sz="2531" spc="-18" dirty="0">
                <a:latin typeface="Gill Sans"/>
                <a:cs typeface="Gill Sans"/>
              </a:rPr>
              <a:t>a</a:t>
            </a:r>
            <a:r>
              <a:rPr sz="2531" spc="-4" dirty="0">
                <a:latin typeface="Gill Sans"/>
                <a:cs typeface="Gill Sans"/>
              </a:rPr>
              <a:t>t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o</a:t>
            </a:r>
            <a:r>
              <a:rPr sz="2531" dirty="0">
                <a:latin typeface="Gill Sans"/>
                <a:cs typeface="Gill Sans"/>
              </a:rPr>
              <a:t>n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dirty="0">
                <a:latin typeface="Gill Sans"/>
                <a:cs typeface="Gill Sans"/>
              </a:rPr>
              <a:t>C</a:t>
            </a:r>
            <a:r>
              <a:rPr sz="2531" spc="-109" dirty="0">
                <a:latin typeface="Gill Sans"/>
                <a:cs typeface="Gill Sans"/>
              </a:rPr>
              <a:t>r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t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109" dirty="0">
                <a:latin typeface="Gill Sans"/>
                <a:cs typeface="Gill Sans"/>
              </a:rPr>
              <a:t>r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o</a:t>
            </a:r>
            <a:r>
              <a:rPr sz="2531" dirty="0">
                <a:latin typeface="Gill Sans"/>
                <a:cs typeface="Gill Sans"/>
              </a:rPr>
              <a:t>n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7187" y="5922387"/>
            <a:ext cx="1263551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spc="-257" dirty="0">
                <a:latin typeface="Gill Sans"/>
                <a:cs typeface="Gill Sans"/>
              </a:rPr>
              <a:t>W</a:t>
            </a:r>
            <a:r>
              <a:rPr sz="2531" spc="-14" dirty="0">
                <a:latin typeface="Gill Sans"/>
                <a:cs typeface="Gill Sans"/>
              </a:rPr>
              <a:t>ors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spc="18" dirty="0">
                <a:latin typeface="Gill Sans"/>
                <a:cs typeface="Gill Sans"/>
              </a:rPr>
              <a:t>fit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44898" y="5956283"/>
            <a:ext cx="3112889" cy="324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109" dirty="0">
                <a:latin typeface="Gill Sans"/>
                <a:cs typeface="Gill Sans"/>
              </a:rPr>
              <a:t>h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g</a:t>
            </a:r>
            <a:r>
              <a:rPr sz="2109" dirty="0">
                <a:latin typeface="Gill Sans"/>
                <a:cs typeface="Gill Sans"/>
              </a:rPr>
              <a:t>her</a:t>
            </a:r>
            <a:r>
              <a:rPr sz="2109" spc="-21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h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g</a:t>
            </a:r>
            <a:r>
              <a:rPr sz="2109" dirty="0">
                <a:latin typeface="Gill Sans"/>
                <a:cs typeface="Gill Sans"/>
              </a:rPr>
              <a:t>her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09180" y="3080924"/>
            <a:ext cx="1822996" cy="12952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496"/>
              </a:lnSpc>
            </a:pP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endParaRPr sz="2109">
              <a:latin typeface="Gill Sans"/>
              <a:cs typeface="Gill Sans"/>
            </a:endParaRPr>
          </a:p>
          <a:p>
            <a:pPr marL="8929" marR="3572">
              <a:lnSpc>
                <a:spcPts val="2461"/>
              </a:lnSpc>
              <a:spcBef>
                <a:spcPts val="105"/>
              </a:spcBef>
            </a:pPr>
            <a:r>
              <a:rPr sz="2109" spc="-11" dirty="0">
                <a:latin typeface="Gill Sans"/>
                <a:cs typeface="Gill Sans"/>
              </a:rPr>
              <a:t>est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mator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o</a:t>
            </a:r>
            <a:r>
              <a:rPr sz="2109" dirty="0">
                <a:latin typeface="Gill Sans"/>
                <a:cs typeface="Gill Sans"/>
              </a:rPr>
              <a:t>f 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11" dirty="0">
                <a:latin typeface="Gill Sans"/>
                <a:cs typeface="Gill Sans"/>
              </a:rPr>
              <a:t>a</a:t>
            </a:r>
            <a:r>
              <a:rPr sz="2109" dirty="0">
                <a:latin typeface="Gill Sans"/>
                <a:cs typeface="Gill Sans"/>
              </a:rPr>
              <a:t>t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53" dirty="0">
                <a:latin typeface="Gill Sans"/>
                <a:cs typeface="Gill Sans"/>
              </a:rPr>
              <a:t>v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r>
              <a:rPr sz="2109" spc="-7" dirty="0">
                <a:latin typeface="Gill Sans"/>
                <a:cs typeface="Gill Sans"/>
              </a:rPr>
              <a:t> f</a:t>
            </a:r>
            <a:r>
              <a:rPr sz="2109" spc="-63" dirty="0">
                <a:latin typeface="Gill Sans"/>
                <a:cs typeface="Gill Sans"/>
              </a:rPr>
              <a:t>r</a:t>
            </a:r>
            <a:r>
              <a:rPr sz="2109" spc="-14" dirty="0">
                <a:latin typeface="Gill Sans"/>
                <a:cs typeface="Gill Sans"/>
              </a:rPr>
              <a:t>om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true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mod</a:t>
            </a:r>
            <a:r>
              <a:rPr sz="2109" dirty="0">
                <a:latin typeface="Gill Sans"/>
                <a:cs typeface="Gill Sans"/>
              </a:rPr>
              <a:t>el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02729" y="1236083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406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6" name="object 16"/>
          <p:cNvSpPr/>
          <p:nvPr/>
        </p:nvSpPr>
        <p:spPr>
          <a:xfrm>
            <a:off x="6433970" y="963727"/>
            <a:ext cx="182165" cy="151805"/>
          </a:xfrm>
          <a:custGeom>
            <a:avLst/>
            <a:gdLst/>
            <a:ahLst/>
            <a:cxnLst/>
            <a:rect l="l" t="t" r="r" b="b"/>
            <a:pathLst>
              <a:path w="259079" h="215900">
                <a:moveTo>
                  <a:pt x="259080" y="215900"/>
                </a:moveTo>
                <a:lnTo>
                  <a:pt x="129540" y="0"/>
                </a:lnTo>
                <a:lnTo>
                  <a:pt x="0" y="21590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7" name="object 17"/>
          <p:cNvSpPr/>
          <p:nvPr/>
        </p:nvSpPr>
        <p:spPr>
          <a:xfrm>
            <a:off x="6525053" y="963727"/>
            <a:ext cx="0" cy="151805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215900"/>
                </a:moveTo>
                <a:lnTo>
                  <a:pt x="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8" name="object 18"/>
          <p:cNvSpPr txBox="1"/>
          <p:nvPr/>
        </p:nvSpPr>
        <p:spPr>
          <a:xfrm>
            <a:off x="5786438" y="1446792"/>
            <a:ext cx="1475184" cy="9618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-3125" algn="ctr">
              <a:lnSpc>
                <a:spcPts val="2461"/>
              </a:lnSpc>
            </a:pPr>
            <a:r>
              <a:rPr sz="2109" dirty="0">
                <a:latin typeface="Gill Sans"/>
                <a:cs typeface="Gill Sans"/>
              </a:rPr>
              <a:t>h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g</a:t>
            </a:r>
            <a:r>
              <a:rPr sz="2109" dirty="0">
                <a:latin typeface="Gill Sans"/>
                <a:cs typeface="Gill Sans"/>
              </a:rPr>
              <a:t>her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1" dirty="0">
                <a:latin typeface="Gill Sans"/>
                <a:cs typeface="Gill Sans"/>
              </a:rPr>
              <a:t>data</a:t>
            </a:r>
            <a:r>
              <a:rPr sz="2109" spc="-7" dirty="0">
                <a:latin typeface="Gill Sans"/>
                <a:cs typeface="Gill Sans"/>
              </a:rPr>
              <a:t> 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11" dirty="0">
                <a:latin typeface="Gill Sans"/>
                <a:cs typeface="Gill Sans"/>
              </a:rPr>
              <a:t>og</a:t>
            </a:r>
            <a:r>
              <a:rPr sz="2109" spc="-4" dirty="0">
                <a:latin typeface="Gill Sans"/>
                <a:cs typeface="Gill Sans"/>
              </a:rPr>
              <a:t>-li</a:t>
            </a:r>
            <a:r>
              <a:rPr sz="2109" spc="-63" dirty="0">
                <a:latin typeface="Gill Sans"/>
                <a:cs typeface="Gill Sans"/>
              </a:rPr>
              <a:t>k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li</a:t>
            </a:r>
            <a:r>
              <a:rPr sz="2109" spc="-14" dirty="0">
                <a:latin typeface="Gill Sans"/>
                <a:cs typeface="Gill Sans"/>
              </a:rPr>
              <a:t>hood</a:t>
            </a:r>
            <a:r>
              <a:rPr sz="2109" spc="-7" dirty="0">
                <a:latin typeface="Gill Sans"/>
                <a:cs typeface="Gill Sans"/>
              </a:rPr>
              <a:t> </a:t>
            </a:r>
            <a:r>
              <a:rPr sz="2109" spc="-4" dirty="0">
                <a:latin typeface="Gill Sans"/>
                <a:cs typeface="Gill Sans"/>
              </a:rPr>
              <a:t>(L</a:t>
            </a:r>
            <a:r>
              <a:rPr sz="2109" dirty="0">
                <a:latin typeface="Gill Sans"/>
                <a:cs typeface="Gill Sans"/>
              </a:rPr>
              <a:t>n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dirty="0">
                <a:latin typeface="Gill Sans"/>
                <a:cs typeface="Gill Sans"/>
              </a:rPr>
              <a:t>)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02727" y="5865010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406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0" name="object 20"/>
          <p:cNvSpPr/>
          <p:nvPr/>
        </p:nvSpPr>
        <p:spPr>
          <a:xfrm>
            <a:off x="6433970" y="5985560"/>
            <a:ext cx="182165" cy="151805"/>
          </a:xfrm>
          <a:custGeom>
            <a:avLst/>
            <a:gdLst/>
            <a:ahLst/>
            <a:cxnLst/>
            <a:rect l="l" t="t" r="r" b="b"/>
            <a:pathLst>
              <a:path w="259079" h="215900">
                <a:moveTo>
                  <a:pt x="0" y="0"/>
                </a:moveTo>
                <a:lnTo>
                  <a:pt x="129540" y="215900"/>
                </a:lnTo>
                <a:lnTo>
                  <a:pt x="25908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1" name="object 21"/>
          <p:cNvSpPr/>
          <p:nvPr/>
        </p:nvSpPr>
        <p:spPr>
          <a:xfrm>
            <a:off x="6525051" y="5985560"/>
            <a:ext cx="0" cy="151805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0"/>
                </a:moveTo>
                <a:lnTo>
                  <a:pt x="0" y="21590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2" name="object 22"/>
          <p:cNvSpPr txBox="1"/>
          <p:nvPr/>
        </p:nvSpPr>
        <p:spPr>
          <a:xfrm>
            <a:off x="5786438" y="4768635"/>
            <a:ext cx="1475184" cy="9618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893" algn="ctr">
              <a:lnSpc>
                <a:spcPts val="2461"/>
              </a:lnSpc>
            </a:pP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35" dirty="0">
                <a:latin typeface="Gill Sans"/>
                <a:cs typeface="Gill Sans"/>
              </a:rPr>
              <a:t>o</a:t>
            </a:r>
            <a:r>
              <a:rPr sz="2109" spc="-46" dirty="0">
                <a:latin typeface="Gill Sans"/>
                <a:cs typeface="Gill Sans"/>
              </a:rPr>
              <a:t>w</a:t>
            </a:r>
            <a:r>
              <a:rPr sz="2109" dirty="0">
                <a:latin typeface="Gill Sans"/>
                <a:cs typeface="Gill Sans"/>
              </a:rPr>
              <a:t>er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1" dirty="0">
                <a:latin typeface="Gill Sans"/>
                <a:cs typeface="Gill Sans"/>
              </a:rPr>
              <a:t>data</a:t>
            </a:r>
            <a:r>
              <a:rPr sz="2109" spc="-7" dirty="0">
                <a:latin typeface="Gill Sans"/>
                <a:cs typeface="Gill Sans"/>
              </a:rPr>
              <a:t> 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11" dirty="0">
                <a:latin typeface="Gill Sans"/>
                <a:cs typeface="Gill Sans"/>
              </a:rPr>
              <a:t>og</a:t>
            </a:r>
            <a:r>
              <a:rPr sz="2109" spc="-4" dirty="0">
                <a:latin typeface="Gill Sans"/>
                <a:cs typeface="Gill Sans"/>
              </a:rPr>
              <a:t>-li</a:t>
            </a:r>
            <a:r>
              <a:rPr sz="2109" spc="-63" dirty="0">
                <a:latin typeface="Gill Sans"/>
                <a:cs typeface="Gill Sans"/>
              </a:rPr>
              <a:t>k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li</a:t>
            </a:r>
            <a:r>
              <a:rPr sz="2109" spc="-14" dirty="0">
                <a:latin typeface="Gill Sans"/>
                <a:cs typeface="Gill Sans"/>
              </a:rPr>
              <a:t>hood</a:t>
            </a:r>
            <a:r>
              <a:rPr sz="2109" spc="-7" dirty="0">
                <a:latin typeface="Gill Sans"/>
                <a:cs typeface="Gill Sans"/>
              </a:rPr>
              <a:t> </a:t>
            </a:r>
            <a:r>
              <a:rPr sz="2109" spc="-4" dirty="0">
                <a:latin typeface="Gill Sans"/>
                <a:cs typeface="Gill Sans"/>
              </a:rPr>
              <a:t>(L</a:t>
            </a:r>
            <a:r>
              <a:rPr sz="2109" dirty="0">
                <a:latin typeface="Gill Sans"/>
                <a:cs typeface="Gill Sans"/>
              </a:rPr>
              <a:t>n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dirty="0">
                <a:latin typeface="Gill Sans"/>
                <a:cs typeface="Gill Sans"/>
              </a:rPr>
              <a:t>)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062063" y="1289887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406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4" name="object 24"/>
          <p:cNvSpPr/>
          <p:nvPr/>
        </p:nvSpPr>
        <p:spPr>
          <a:xfrm>
            <a:off x="7993304" y="1017531"/>
            <a:ext cx="182165" cy="151805"/>
          </a:xfrm>
          <a:custGeom>
            <a:avLst/>
            <a:gdLst/>
            <a:ahLst/>
            <a:cxnLst/>
            <a:rect l="l" t="t" r="r" b="b"/>
            <a:pathLst>
              <a:path w="259079" h="215900">
                <a:moveTo>
                  <a:pt x="259080" y="215900"/>
                </a:moveTo>
                <a:lnTo>
                  <a:pt x="129540" y="0"/>
                </a:lnTo>
                <a:lnTo>
                  <a:pt x="0" y="21590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5" name="object 25"/>
          <p:cNvSpPr/>
          <p:nvPr/>
        </p:nvSpPr>
        <p:spPr>
          <a:xfrm>
            <a:off x="8084387" y="1017531"/>
            <a:ext cx="0" cy="151805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215900"/>
                </a:moveTo>
                <a:lnTo>
                  <a:pt x="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6" name="object 26"/>
          <p:cNvSpPr txBox="1"/>
          <p:nvPr/>
        </p:nvSpPr>
        <p:spPr>
          <a:xfrm>
            <a:off x="7456289" y="1446792"/>
            <a:ext cx="1248370" cy="948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1457" marR="310741" algn="ctr">
              <a:lnSpc>
                <a:spcPts val="2461"/>
              </a:lnSpc>
            </a:pPr>
            <a:r>
              <a:rPr sz="2109" spc="-21" dirty="0">
                <a:latin typeface="Gill Sans"/>
                <a:cs typeface="Gill Sans"/>
              </a:rPr>
              <a:t>f</a:t>
            </a:r>
            <a:r>
              <a:rPr sz="2109" spc="-35" dirty="0">
                <a:latin typeface="Gill Sans"/>
                <a:cs typeface="Gill Sans"/>
              </a:rPr>
              <a:t>e</a:t>
            </a:r>
            <a:r>
              <a:rPr sz="2109" spc="-46" dirty="0">
                <a:latin typeface="Gill Sans"/>
                <a:cs typeface="Gill Sans"/>
              </a:rPr>
              <a:t>w</a:t>
            </a:r>
            <a:r>
              <a:rPr sz="2109" dirty="0">
                <a:latin typeface="Gill Sans"/>
                <a:cs typeface="Gill Sans"/>
              </a:rPr>
              <a:t>er </a:t>
            </a:r>
            <a:r>
              <a:rPr sz="2109" spc="-7" dirty="0">
                <a:latin typeface="Gill Sans"/>
                <a:cs typeface="Gill Sans"/>
              </a:rPr>
              <a:t>f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ee</a:t>
            </a:r>
            <a:endParaRPr sz="2109">
              <a:latin typeface="Gill Sans"/>
              <a:cs typeface="Gill Sans"/>
            </a:endParaRPr>
          </a:p>
          <a:p>
            <a:pPr algn="ctr">
              <a:lnSpc>
                <a:spcPts val="2391"/>
              </a:lnSpc>
            </a:pPr>
            <a:r>
              <a:rPr sz="2109" spc="-11" dirty="0">
                <a:latin typeface="Gill Sans"/>
                <a:cs typeface="Gill Sans"/>
              </a:rPr>
              <a:t>parameters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40008" y="3046132"/>
            <a:ext cx="4108549" cy="948978"/>
          </a:xfrm>
          <a:prstGeom prst="rect">
            <a:avLst/>
          </a:prstGeom>
          <a:ln w="762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90686" marR="680418" algn="ctr">
              <a:lnSpc>
                <a:spcPts val="2461"/>
              </a:lnSpc>
            </a:pPr>
            <a:r>
              <a:rPr sz="2109" b="1" spc="-18" dirty="0">
                <a:latin typeface="Gill Sans"/>
                <a:cs typeface="Gill Sans"/>
              </a:rPr>
              <a:t>Ak</a:t>
            </a:r>
            <a:r>
              <a:rPr sz="2109" b="1" spc="14" dirty="0">
                <a:latin typeface="Gill Sans"/>
                <a:cs typeface="Gill Sans"/>
              </a:rPr>
              <a:t>a</a:t>
            </a:r>
            <a:r>
              <a:rPr sz="2109" b="1" dirty="0">
                <a:latin typeface="Gill Sans"/>
                <a:cs typeface="Gill Sans"/>
              </a:rPr>
              <a:t>i</a:t>
            </a:r>
            <a:r>
              <a:rPr sz="2109" b="1" spc="-105" dirty="0">
                <a:latin typeface="Gill Sans"/>
                <a:cs typeface="Gill Sans"/>
              </a:rPr>
              <a:t>k</a:t>
            </a:r>
            <a:r>
              <a:rPr sz="2109" b="1" dirty="0">
                <a:latin typeface="Gill Sans"/>
                <a:cs typeface="Gill Sans"/>
              </a:rPr>
              <a:t>e</a:t>
            </a:r>
            <a:r>
              <a:rPr sz="2109" b="1" spc="-4" dirty="0">
                <a:latin typeface="Gill Sans"/>
                <a:cs typeface="Gill Sans"/>
              </a:rPr>
              <a:t> </a:t>
            </a:r>
            <a:r>
              <a:rPr sz="2109" b="1" dirty="0">
                <a:latin typeface="Gill Sans"/>
                <a:cs typeface="Gill Sans"/>
              </a:rPr>
              <a:t>In</a:t>
            </a:r>
            <a:r>
              <a:rPr sz="2109" b="1" spc="-4" dirty="0">
                <a:latin typeface="Gill Sans"/>
                <a:cs typeface="Gill Sans"/>
              </a:rPr>
              <a:t>fo</a:t>
            </a:r>
            <a:r>
              <a:rPr sz="2109" b="1" dirty="0">
                <a:latin typeface="Gill Sans"/>
                <a:cs typeface="Gill Sans"/>
              </a:rPr>
              <a:t>r</a:t>
            </a:r>
            <a:r>
              <a:rPr sz="2109" b="1" spc="-4" dirty="0">
                <a:latin typeface="Gill Sans"/>
                <a:cs typeface="Gill Sans"/>
              </a:rPr>
              <a:t>m</a:t>
            </a:r>
            <a:r>
              <a:rPr sz="2109" b="1" spc="-14" dirty="0">
                <a:latin typeface="Gill Sans"/>
                <a:cs typeface="Gill Sans"/>
              </a:rPr>
              <a:t>a</a:t>
            </a:r>
            <a:r>
              <a:rPr sz="2109" b="1" spc="-4" dirty="0">
                <a:latin typeface="Gill Sans"/>
                <a:cs typeface="Gill Sans"/>
              </a:rPr>
              <a:t>t</a:t>
            </a:r>
            <a:r>
              <a:rPr sz="2109" b="1" dirty="0">
                <a:latin typeface="Gill Sans"/>
                <a:cs typeface="Gill Sans"/>
              </a:rPr>
              <a:t>i</a:t>
            </a:r>
            <a:r>
              <a:rPr sz="2109" b="1" spc="-4" dirty="0">
                <a:latin typeface="Gill Sans"/>
                <a:cs typeface="Gill Sans"/>
              </a:rPr>
              <a:t>o</a:t>
            </a:r>
            <a:r>
              <a:rPr sz="2109" b="1" dirty="0">
                <a:latin typeface="Gill Sans"/>
                <a:cs typeface="Gill Sans"/>
              </a:rPr>
              <a:t>n C</a:t>
            </a:r>
            <a:r>
              <a:rPr sz="2109" b="1" spc="-91" dirty="0">
                <a:latin typeface="Gill Sans"/>
                <a:cs typeface="Gill Sans"/>
              </a:rPr>
              <a:t>r</a:t>
            </a:r>
            <a:r>
              <a:rPr sz="2109" b="1" dirty="0">
                <a:latin typeface="Gill Sans"/>
                <a:cs typeface="Gill Sans"/>
              </a:rPr>
              <a:t>i</a:t>
            </a:r>
            <a:r>
              <a:rPr sz="2109" b="1" spc="-4" dirty="0">
                <a:latin typeface="Gill Sans"/>
                <a:cs typeface="Gill Sans"/>
              </a:rPr>
              <a:t>t</a:t>
            </a:r>
            <a:r>
              <a:rPr sz="2109" b="1" dirty="0">
                <a:latin typeface="Gill Sans"/>
                <a:cs typeface="Gill Sans"/>
              </a:rPr>
              <a:t>e</a:t>
            </a:r>
            <a:r>
              <a:rPr sz="2109" b="1" spc="-91" dirty="0">
                <a:latin typeface="Gill Sans"/>
                <a:cs typeface="Gill Sans"/>
              </a:rPr>
              <a:t>r</a:t>
            </a:r>
            <a:r>
              <a:rPr sz="2109" b="1" dirty="0">
                <a:latin typeface="Gill Sans"/>
                <a:cs typeface="Gill Sans"/>
              </a:rPr>
              <a:t>i</a:t>
            </a:r>
            <a:r>
              <a:rPr sz="2109" b="1" spc="-4" dirty="0">
                <a:latin typeface="Gill Sans"/>
                <a:cs typeface="Gill Sans"/>
              </a:rPr>
              <a:t>o</a:t>
            </a:r>
            <a:r>
              <a:rPr sz="2109" b="1" dirty="0">
                <a:latin typeface="Gill Sans"/>
                <a:cs typeface="Gill Sans"/>
              </a:rPr>
              <a:t>n</a:t>
            </a:r>
            <a:r>
              <a:rPr sz="2109" b="1" spc="-4" dirty="0">
                <a:latin typeface="Gill Sans"/>
                <a:cs typeface="Gill Sans"/>
              </a:rPr>
              <a:t> </a:t>
            </a:r>
            <a:r>
              <a:rPr sz="2109" b="1" spc="-11" dirty="0">
                <a:latin typeface="Gill Sans"/>
                <a:cs typeface="Gill Sans"/>
              </a:rPr>
              <a:t>(</a:t>
            </a:r>
            <a:r>
              <a:rPr sz="2109" b="1" dirty="0">
                <a:latin typeface="Gill Sans"/>
                <a:cs typeface="Gill Sans"/>
              </a:rPr>
              <a:t>AIC</a:t>
            </a:r>
            <a:r>
              <a:rPr sz="2109" b="1" spc="-11" dirty="0">
                <a:latin typeface="Gill Sans"/>
                <a:cs typeface="Gill Sans"/>
              </a:rPr>
              <a:t>)</a:t>
            </a:r>
            <a:r>
              <a:rPr sz="2109" b="1" spc="-4" dirty="0">
                <a:latin typeface="Gill Sans"/>
                <a:cs typeface="Gill Sans"/>
              </a:rPr>
              <a:t> </a:t>
            </a:r>
            <a:r>
              <a:rPr sz="2109" b="1" spc="-14" dirty="0">
                <a:latin typeface="Gill Sans"/>
                <a:cs typeface="Gill Sans"/>
              </a:rPr>
              <a:t>=</a:t>
            </a:r>
            <a:endParaRPr sz="2109">
              <a:latin typeface="Gill Sans"/>
              <a:cs typeface="Gill Sans"/>
            </a:endParaRPr>
          </a:p>
          <a:p>
            <a:pPr algn="ctr">
              <a:lnSpc>
                <a:spcPts val="2391"/>
              </a:lnSpc>
            </a:pPr>
            <a:r>
              <a:rPr sz="2109" spc="-4" dirty="0">
                <a:latin typeface="Gill Sans"/>
                <a:cs typeface="Gill Sans"/>
              </a:rPr>
              <a:t>-</a:t>
            </a:r>
            <a:r>
              <a:rPr sz="2109" dirty="0">
                <a:latin typeface="Gill Sans"/>
                <a:cs typeface="Gill Sans"/>
              </a:rPr>
              <a:t>2</a:t>
            </a:r>
            <a:r>
              <a:rPr sz="2109" spc="-4" dirty="0">
                <a:latin typeface="Gill Sans"/>
                <a:cs typeface="Gill Sans"/>
              </a:rPr>
              <a:t>(L</a:t>
            </a:r>
            <a:r>
              <a:rPr sz="2109" dirty="0">
                <a:latin typeface="Gill Sans"/>
                <a:cs typeface="Gill Sans"/>
              </a:rPr>
              <a:t>nL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-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#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o</a:t>
            </a:r>
            <a:r>
              <a:rPr sz="2109" dirty="0">
                <a:latin typeface="Gill Sans"/>
                <a:cs typeface="Gill Sans"/>
              </a:rPr>
              <a:t>f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1" dirty="0">
                <a:latin typeface="Gill Sans"/>
                <a:cs typeface="Gill Sans"/>
              </a:rPr>
              <a:t>parameters</a:t>
            </a:r>
            <a:r>
              <a:rPr sz="2109" dirty="0">
                <a:latin typeface="Gill Sans"/>
                <a:cs typeface="Gill Sans"/>
              </a:rPr>
              <a:t>)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590165" y="4899688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9" name="object 29"/>
          <p:cNvSpPr/>
          <p:nvPr/>
        </p:nvSpPr>
        <p:spPr>
          <a:xfrm>
            <a:off x="1521407" y="5016221"/>
            <a:ext cx="182165" cy="182165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0" name="object 30"/>
          <p:cNvSpPr txBox="1"/>
          <p:nvPr/>
        </p:nvSpPr>
        <p:spPr>
          <a:xfrm>
            <a:off x="1446791" y="2620308"/>
            <a:ext cx="324576" cy="21216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8929"/>
            <a:r>
              <a:rPr sz="2109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dirty="0">
                <a:latin typeface="Gill Sans"/>
                <a:cs typeface="Gill Sans"/>
              </a:rPr>
              <a:t>stance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f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om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truth</a:t>
            </a:r>
            <a:endParaRPr sz="2109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61298" y="1468969"/>
            <a:ext cx="0" cy="4750147"/>
          </a:xfrm>
          <a:custGeom>
            <a:avLst/>
            <a:gdLst/>
            <a:ahLst/>
            <a:cxnLst/>
            <a:rect l="l" t="t" r="r" b="b"/>
            <a:pathLst>
              <a:path h="6755765">
                <a:moveTo>
                  <a:pt x="0" y="0"/>
                </a:moveTo>
                <a:lnTo>
                  <a:pt x="0" y="6755477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1703573" y="1394389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1703573" y="1296163"/>
            <a:ext cx="315664" cy="150465"/>
          </a:xfrm>
          <a:custGeom>
            <a:avLst/>
            <a:gdLst/>
            <a:ahLst/>
            <a:cxnLst/>
            <a:rect l="l" t="t" r="r" b="b"/>
            <a:pathLst>
              <a:path w="448944" h="213994">
                <a:moveTo>
                  <a:pt x="21537" y="0"/>
                </a:moveTo>
                <a:lnTo>
                  <a:pt x="448641" y="153991"/>
                </a:lnTo>
                <a:lnTo>
                  <a:pt x="427103" y="213727"/>
                </a:lnTo>
                <a:lnTo>
                  <a:pt x="0" y="59735"/>
                </a:lnTo>
                <a:lnTo>
                  <a:pt x="21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1861298" y="1001648"/>
            <a:ext cx="0" cy="357633"/>
          </a:xfrm>
          <a:custGeom>
            <a:avLst/>
            <a:gdLst/>
            <a:ahLst/>
            <a:cxnLst/>
            <a:rect l="l" t="t" r="r" b="b"/>
            <a:pathLst>
              <a:path h="508635">
                <a:moveTo>
                  <a:pt x="0" y="0"/>
                </a:moveTo>
                <a:lnTo>
                  <a:pt x="0" y="508136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 txBox="1"/>
          <p:nvPr/>
        </p:nvSpPr>
        <p:spPr>
          <a:xfrm>
            <a:off x="723305" y="636716"/>
            <a:ext cx="2281535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b="1" dirty="0">
                <a:latin typeface="Gill Sans"/>
                <a:cs typeface="Gill Sans"/>
              </a:rPr>
              <a:t>“</a:t>
            </a:r>
            <a:r>
              <a:rPr sz="2531" b="1" spc="-74" dirty="0">
                <a:latin typeface="Gill Sans"/>
                <a:cs typeface="Gill Sans"/>
              </a:rPr>
              <a:t>T</a:t>
            </a:r>
            <a:r>
              <a:rPr sz="2531" b="1" spc="-39" dirty="0">
                <a:latin typeface="Gill Sans"/>
                <a:cs typeface="Gill Sans"/>
              </a:rPr>
              <a:t>r</a:t>
            </a:r>
            <a:r>
              <a:rPr sz="2531" b="1" spc="-4" dirty="0">
                <a:latin typeface="Gill Sans"/>
                <a:cs typeface="Gill Sans"/>
              </a:rPr>
              <a:t>u</a:t>
            </a:r>
            <a:r>
              <a:rPr sz="2531" b="1" dirty="0">
                <a:latin typeface="Gill Sans"/>
                <a:cs typeface="Gill Sans"/>
              </a:rPr>
              <a:t>e</a:t>
            </a:r>
            <a:r>
              <a:rPr sz="2531" b="1" spc="-4" dirty="0">
                <a:latin typeface="Gill Sans"/>
                <a:cs typeface="Gill Sans"/>
              </a:rPr>
              <a:t> mo</a:t>
            </a:r>
            <a:r>
              <a:rPr sz="2531" b="1" dirty="0">
                <a:latin typeface="Gill Sans"/>
                <a:cs typeface="Gill Sans"/>
              </a:rPr>
              <a:t>del”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2539" y="1573629"/>
            <a:ext cx="1205508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dirty="0">
                <a:latin typeface="Gill Sans"/>
                <a:cs typeface="Gill Sans"/>
              </a:rPr>
              <a:t>Better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spc="18" dirty="0">
                <a:latin typeface="Gill Sans"/>
                <a:cs typeface="Gill Sans"/>
              </a:rPr>
              <a:t>fit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2391" y="1598596"/>
            <a:ext cx="3013323" cy="324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35" dirty="0">
                <a:latin typeface="Gill Sans"/>
                <a:cs typeface="Gill Sans"/>
              </a:rPr>
              <a:t>o</a:t>
            </a:r>
            <a:r>
              <a:rPr sz="2109" spc="-46" dirty="0">
                <a:latin typeface="Gill Sans"/>
                <a:cs typeface="Gill Sans"/>
              </a:rPr>
              <a:t>w</a:t>
            </a:r>
            <a:r>
              <a:rPr sz="2109" dirty="0">
                <a:latin typeface="Gill Sans"/>
                <a:cs typeface="Gill Sans"/>
              </a:rPr>
              <a:t>er</a:t>
            </a:r>
            <a:r>
              <a:rPr sz="2109" spc="-21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r>
              <a:rPr sz="2109" spc="-4" dirty="0">
                <a:latin typeface="Gill Sans"/>
                <a:cs typeface="Gill Sans"/>
              </a:rPr>
              <a:t> l</a:t>
            </a:r>
            <a:r>
              <a:rPr sz="2109" spc="-35" dirty="0">
                <a:latin typeface="Gill Sans"/>
                <a:cs typeface="Gill Sans"/>
              </a:rPr>
              <a:t>o</a:t>
            </a:r>
            <a:r>
              <a:rPr sz="2109" spc="-46" dirty="0">
                <a:latin typeface="Gill Sans"/>
                <a:cs typeface="Gill Sans"/>
              </a:rPr>
              <a:t>w</a:t>
            </a:r>
            <a:r>
              <a:rPr sz="2109" dirty="0">
                <a:latin typeface="Gill Sans"/>
                <a:cs typeface="Gill Sans"/>
              </a:rPr>
              <a:t>er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41530" y="1729114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1660547" y="6095301"/>
            <a:ext cx="220563" cy="0"/>
          </a:xfrm>
          <a:custGeom>
            <a:avLst/>
            <a:gdLst/>
            <a:ahLst/>
            <a:cxnLst/>
            <a:rect l="l" t="t" r="r" b="b"/>
            <a:pathLst>
              <a:path w="313689">
                <a:moveTo>
                  <a:pt x="0" y="0"/>
                </a:moveTo>
                <a:lnTo>
                  <a:pt x="313530" y="0"/>
                </a:lnTo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1469" y="372688"/>
            <a:ext cx="5786438" cy="444505"/>
          </a:xfrm>
          <a:prstGeom prst="rect">
            <a:avLst/>
          </a:prstGeom>
        </p:spPr>
        <p:txBody>
          <a:bodyPr vert="horz" wrap="square" lIns="0" tIns="54507" rIns="0" bIns="0" rtlCol="0" anchor="ctr">
            <a:spAutoFit/>
          </a:bodyPr>
          <a:lstStyle/>
          <a:p>
            <a:pPr marL="1203233"/>
            <a:r>
              <a:rPr sz="2531" spc="-21" dirty="0">
                <a:latin typeface="Gill Sans"/>
                <a:cs typeface="Gill Sans"/>
              </a:rPr>
              <a:t>Ak</a:t>
            </a:r>
            <a:r>
              <a:rPr sz="2531" spc="18" dirty="0">
                <a:latin typeface="Gill Sans"/>
                <a:cs typeface="Gill Sans"/>
              </a:rPr>
              <a:t>a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127" dirty="0">
                <a:latin typeface="Gill Sans"/>
                <a:cs typeface="Gill Sans"/>
              </a:rPr>
              <a:t>k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nfo</a:t>
            </a:r>
            <a:r>
              <a:rPr sz="2531" dirty="0">
                <a:latin typeface="Gill Sans"/>
                <a:cs typeface="Gill Sans"/>
              </a:rPr>
              <a:t>r</a:t>
            </a:r>
            <a:r>
              <a:rPr sz="2531" spc="-4" dirty="0">
                <a:latin typeface="Gill Sans"/>
                <a:cs typeface="Gill Sans"/>
              </a:rPr>
              <a:t>m</a:t>
            </a:r>
            <a:r>
              <a:rPr sz="2531" spc="-18" dirty="0">
                <a:latin typeface="Gill Sans"/>
                <a:cs typeface="Gill Sans"/>
              </a:rPr>
              <a:t>a</a:t>
            </a:r>
            <a:r>
              <a:rPr sz="2531" spc="-4" dirty="0">
                <a:latin typeface="Gill Sans"/>
                <a:cs typeface="Gill Sans"/>
              </a:rPr>
              <a:t>t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o</a:t>
            </a:r>
            <a:r>
              <a:rPr sz="2531" dirty="0">
                <a:latin typeface="Gill Sans"/>
                <a:cs typeface="Gill Sans"/>
              </a:rPr>
              <a:t>n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dirty="0">
                <a:latin typeface="Gill Sans"/>
                <a:cs typeface="Gill Sans"/>
              </a:rPr>
              <a:t>C</a:t>
            </a:r>
            <a:r>
              <a:rPr sz="2531" spc="-109" dirty="0">
                <a:latin typeface="Gill Sans"/>
                <a:cs typeface="Gill Sans"/>
              </a:rPr>
              <a:t>r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t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109" dirty="0">
                <a:latin typeface="Gill Sans"/>
                <a:cs typeface="Gill Sans"/>
              </a:rPr>
              <a:t>r</a:t>
            </a:r>
            <a:r>
              <a:rPr sz="2531" dirty="0">
                <a:latin typeface="Gill Sans"/>
                <a:cs typeface="Gill Sans"/>
              </a:rPr>
              <a:t>i</a:t>
            </a:r>
            <a:r>
              <a:rPr sz="2531" spc="-4" dirty="0">
                <a:latin typeface="Gill Sans"/>
                <a:cs typeface="Gill Sans"/>
              </a:rPr>
              <a:t>o</a:t>
            </a:r>
            <a:r>
              <a:rPr sz="2531" dirty="0">
                <a:latin typeface="Gill Sans"/>
                <a:cs typeface="Gill Sans"/>
              </a:rPr>
              <a:t>n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7187" y="5922387"/>
            <a:ext cx="1263551" cy="3894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531" spc="-257" dirty="0">
                <a:latin typeface="Gill Sans"/>
                <a:cs typeface="Gill Sans"/>
              </a:rPr>
              <a:t>W</a:t>
            </a:r>
            <a:r>
              <a:rPr sz="2531" spc="-14" dirty="0">
                <a:latin typeface="Gill Sans"/>
                <a:cs typeface="Gill Sans"/>
              </a:rPr>
              <a:t>ors</a:t>
            </a:r>
            <a:r>
              <a:rPr sz="2531" dirty="0">
                <a:latin typeface="Gill Sans"/>
                <a:cs typeface="Gill Sans"/>
              </a:rPr>
              <a:t>e</a:t>
            </a:r>
            <a:r>
              <a:rPr sz="2531" spc="-4" dirty="0">
                <a:latin typeface="Gill Sans"/>
                <a:cs typeface="Gill Sans"/>
              </a:rPr>
              <a:t> </a:t>
            </a:r>
            <a:r>
              <a:rPr sz="2531" spc="18" dirty="0">
                <a:latin typeface="Gill Sans"/>
                <a:cs typeface="Gill Sans"/>
              </a:rPr>
              <a:t>fit</a:t>
            </a:r>
            <a:endParaRPr sz="2531">
              <a:latin typeface="Gill Sans"/>
              <a:cs typeface="Gill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44898" y="5956283"/>
            <a:ext cx="3112889" cy="324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2109" dirty="0">
                <a:latin typeface="Gill Sans"/>
                <a:cs typeface="Gill Sans"/>
              </a:rPr>
              <a:t>h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g</a:t>
            </a:r>
            <a:r>
              <a:rPr sz="2109" dirty="0">
                <a:latin typeface="Gill Sans"/>
                <a:cs typeface="Gill Sans"/>
              </a:rPr>
              <a:t>her</a:t>
            </a:r>
            <a:r>
              <a:rPr sz="2109" spc="-21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h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g</a:t>
            </a:r>
            <a:r>
              <a:rPr sz="2109" dirty="0">
                <a:latin typeface="Gill Sans"/>
                <a:cs typeface="Gill Sans"/>
              </a:rPr>
              <a:t>her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09180" y="3080924"/>
            <a:ext cx="1822996" cy="12952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>
              <a:lnSpc>
                <a:spcPts val="2496"/>
              </a:lnSpc>
            </a:pPr>
            <a:r>
              <a:rPr sz="2109" dirty="0">
                <a:latin typeface="Gill Sans"/>
                <a:cs typeface="Gill Sans"/>
              </a:rPr>
              <a:t>AIC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=</a:t>
            </a:r>
            <a:endParaRPr sz="2109">
              <a:latin typeface="Gill Sans"/>
              <a:cs typeface="Gill Sans"/>
            </a:endParaRPr>
          </a:p>
          <a:p>
            <a:pPr marL="8929" marR="3572">
              <a:lnSpc>
                <a:spcPts val="2461"/>
              </a:lnSpc>
              <a:spcBef>
                <a:spcPts val="105"/>
              </a:spcBef>
            </a:pPr>
            <a:r>
              <a:rPr sz="2109" spc="-11" dirty="0">
                <a:latin typeface="Gill Sans"/>
                <a:cs typeface="Gill Sans"/>
              </a:rPr>
              <a:t>est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mator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o</a:t>
            </a:r>
            <a:r>
              <a:rPr sz="2109" dirty="0">
                <a:latin typeface="Gill Sans"/>
                <a:cs typeface="Gill Sans"/>
              </a:rPr>
              <a:t>f 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11" dirty="0">
                <a:latin typeface="Gill Sans"/>
                <a:cs typeface="Gill Sans"/>
              </a:rPr>
              <a:t>a</a:t>
            </a:r>
            <a:r>
              <a:rPr sz="2109" dirty="0">
                <a:latin typeface="Gill Sans"/>
                <a:cs typeface="Gill Sans"/>
              </a:rPr>
              <a:t>t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53" dirty="0">
                <a:latin typeface="Gill Sans"/>
                <a:cs typeface="Gill Sans"/>
              </a:rPr>
              <a:t>v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stance</a:t>
            </a:r>
            <a:r>
              <a:rPr sz="2109" spc="-7" dirty="0">
                <a:latin typeface="Gill Sans"/>
                <a:cs typeface="Gill Sans"/>
              </a:rPr>
              <a:t> f</a:t>
            </a:r>
            <a:r>
              <a:rPr sz="2109" spc="-63" dirty="0">
                <a:latin typeface="Gill Sans"/>
                <a:cs typeface="Gill Sans"/>
              </a:rPr>
              <a:t>r</a:t>
            </a:r>
            <a:r>
              <a:rPr sz="2109" spc="-14" dirty="0">
                <a:latin typeface="Gill Sans"/>
                <a:cs typeface="Gill Sans"/>
              </a:rPr>
              <a:t>om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true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mod</a:t>
            </a:r>
            <a:r>
              <a:rPr sz="2109" dirty="0">
                <a:latin typeface="Gill Sans"/>
                <a:cs typeface="Gill Sans"/>
              </a:rPr>
              <a:t>el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02729" y="1236083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406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6" name="object 16"/>
          <p:cNvSpPr/>
          <p:nvPr/>
        </p:nvSpPr>
        <p:spPr>
          <a:xfrm>
            <a:off x="6433970" y="963727"/>
            <a:ext cx="182165" cy="151805"/>
          </a:xfrm>
          <a:custGeom>
            <a:avLst/>
            <a:gdLst/>
            <a:ahLst/>
            <a:cxnLst/>
            <a:rect l="l" t="t" r="r" b="b"/>
            <a:pathLst>
              <a:path w="259079" h="215900">
                <a:moveTo>
                  <a:pt x="259080" y="215900"/>
                </a:moveTo>
                <a:lnTo>
                  <a:pt x="129540" y="0"/>
                </a:lnTo>
                <a:lnTo>
                  <a:pt x="0" y="21590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7" name="object 17"/>
          <p:cNvSpPr/>
          <p:nvPr/>
        </p:nvSpPr>
        <p:spPr>
          <a:xfrm>
            <a:off x="6525053" y="963727"/>
            <a:ext cx="0" cy="151805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215900"/>
                </a:moveTo>
                <a:lnTo>
                  <a:pt x="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8" name="object 18"/>
          <p:cNvSpPr txBox="1"/>
          <p:nvPr/>
        </p:nvSpPr>
        <p:spPr>
          <a:xfrm>
            <a:off x="5786438" y="1446792"/>
            <a:ext cx="1475184" cy="9618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-3125" algn="ctr">
              <a:lnSpc>
                <a:spcPts val="2461"/>
              </a:lnSpc>
            </a:pPr>
            <a:r>
              <a:rPr sz="2109" dirty="0">
                <a:latin typeface="Gill Sans"/>
                <a:cs typeface="Gill Sans"/>
              </a:rPr>
              <a:t>h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spc="-11" dirty="0">
                <a:latin typeface="Gill Sans"/>
                <a:cs typeface="Gill Sans"/>
              </a:rPr>
              <a:t>g</a:t>
            </a:r>
            <a:r>
              <a:rPr sz="2109" dirty="0">
                <a:latin typeface="Gill Sans"/>
                <a:cs typeface="Gill Sans"/>
              </a:rPr>
              <a:t>her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1" dirty="0">
                <a:latin typeface="Gill Sans"/>
                <a:cs typeface="Gill Sans"/>
              </a:rPr>
              <a:t>data</a:t>
            </a:r>
            <a:r>
              <a:rPr sz="2109" spc="-7" dirty="0">
                <a:latin typeface="Gill Sans"/>
                <a:cs typeface="Gill Sans"/>
              </a:rPr>
              <a:t> 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11" dirty="0">
                <a:latin typeface="Gill Sans"/>
                <a:cs typeface="Gill Sans"/>
              </a:rPr>
              <a:t>og</a:t>
            </a:r>
            <a:r>
              <a:rPr sz="2109" spc="-4" dirty="0">
                <a:latin typeface="Gill Sans"/>
                <a:cs typeface="Gill Sans"/>
              </a:rPr>
              <a:t>-li</a:t>
            </a:r>
            <a:r>
              <a:rPr sz="2109" spc="-63" dirty="0">
                <a:latin typeface="Gill Sans"/>
                <a:cs typeface="Gill Sans"/>
              </a:rPr>
              <a:t>k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li</a:t>
            </a:r>
            <a:r>
              <a:rPr sz="2109" spc="-14" dirty="0">
                <a:latin typeface="Gill Sans"/>
                <a:cs typeface="Gill Sans"/>
              </a:rPr>
              <a:t>hood</a:t>
            </a:r>
            <a:r>
              <a:rPr sz="2109" spc="-7" dirty="0">
                <a:latin typeface="Gill Sans"/>
                <a:cs typeface="Gill Sans"/>
              </a:rPr>
              <a:t> </a:t>
            </a:r>
            <a:r>
              <a:rPr sz="2109" spc="-4" dirty="0">
                <a:latin typeface="Gill Sans"/>
                <a:cs typeface="Gill Sans"/>
              </a:rPr>
              <a:t>(L</a:t>
            </a:r>
            <a:r>
              <a:rPr sz="2109" dirty="0">
                <a:latin typeface="Gill Sans"/>
                <a:cs typeface="Gill Sans"/>
              </a:rPr>
              <a:t>n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dirty="0">
                <a:latin typeface="Gill Sans"/>
                <a:cs typeface="Gill Sans"/>
              </a:rPr>
              <a:t>)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02727" y="5865010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406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0" name="object 20"/>
          <p:cNvSpPr/>
          <p:nvPr/>
        </p:nvSpPr>
        <p:spPr>
          <a:xfrm>
            <a:off x="6433970" y="5985560"/>
            <a:ext cx="182165" cy="151805"/>
          </a:xfrm>
          <a:custGeom>
            <a:avLst/>
            <a:gdLst/>
            <a:ahLst/>
            <a:cxnLst/>
            <a:rect l="l" t="t" r="r" b="b"/>
            <a:pathLst>
              <a:path w="259079" h="215900">
                <a:moveTo>
                  <a:pt x="0" y="0"/>
                </a:moveTo>
                <a:lnTo>
                  <a:pt x="129540" y="215900"/>
                </a:lnTo>
                <a:lnTo>
                  <a:pt x="25908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1" name="object 21"/>
          <p:cNvSpPr/>
          <p:nvPr/>
        </p:nvSpPr>
        <p:spPr>
          <a:xfrm>
            <a:off x="6525051" y="5985560"/>
            <a:ext cx="0" cy="151805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0"/>
                </a:moveTo>
                <a:lnTo>
                  <a:pt x="0" y="21590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2" name="object 22"/>
          <p:cNvSpPr txBox="1"/>
          <p:nvPr/>
        </p:nvSpPr>
        <p:spPr>
          <a:xfrm>
            <a:off x="5786438" y="4768635"/>
            <a:ext cx="1475184" cy="9618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3572" indent="893" algn="ctr">
              <a:lnSpc>
                <a:spcPts val="2461"/>
              </a:lnSpc>
            </a:pP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35" dirty="0">
                <a:latin typeface="Gill Sans"/>
                <a:cs typeface="Gill Sans"/>
              </a:rPr>
              <a:t>o</a:t>
            </a:r>
            <a:r>
              <a:rPr sz="2109" spc="-46" dirty="0">
                <a:latin typeface="Gill Sans"/>
                <a:cs typeface="Gill Sans"/>
              </a:rPr>
              <a:t>w</a:t>
            </a:r>
            <a:r>
              <a:rPr sz="2109" dirty="0">
                <a:latin typeface="Gill Sans"/>
                <a:cs typeface="Gill Sans"/>
              </a:rPr>
              <a:t>er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1" dirty="0">
                <a:latin typeface="Gill Sans"/>
                <a:cs typeface="Gill Sans"/>
              </a:rPr>
              <a:t>data</a:t>
            </a:r>
            <a:r>
              <a:rPr sz="2109" spc="-7" dirty="0">
                <a:latin typeface="Gill Sans"/>
                <a:cs typeface="Gill Sans"/>
              </a:rPr>
              <a:t> 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spc="-11" dirty="0">
                <a:latin typeface="Gill Sans"/>
                <a:cs typeface="Gill Sans"/>
              </a:rPr>
              <a:t>og</a:t>
            </a:r>
            <a:r>
              <a:rPr sz="2109" spc="-4" dirty="0">
                <a:latin typeface="Gill Sans"/>
                <a:cs typeface="Gill Sans"/>
              </a:rPr>
              <a:t>-li</a:t>
            </a:r>
            <a:r>
              <a:rPr sz="2109" spc="-63" dirty="0">
                <a:latin typeface="Gill Sans"/>
                <a:cs typeface="Gill Sans"/>
              </a:rPr>
              <a:t>k</a:t>
            </a:r>
            <a:r>
              <a:rPr sz="2109" dirty="0">
                <a:latin typeface="Gill Sans"/>
                <a:cs typeface="Gill Sans"/>
              </a:rPr>
              <a:t>e</a:t>
            </a:r>
            <a:r>
              <a:rPr sz="2109" spc="-4" dirty="0">
                <a:latin typeface="Gill Sans"/>
                <a:cs typeface="Gill Sans"/>
              </a:rPr>
              <a:t>li</a:t>
            </a:r>
            <a:r>
              <a:rPr sz="2109" spc="-14" dirty="0">
                <a:latin typeface="Gill Sans"/>
                <a:cs typeface="Gill Sans"/>
              </a:rPr>
              <a:t>hood</a:t>
            </a:r>
            <a:r>
              <a:rPr sz="2109" spc="-7" dirty="0">
                <a:latin typeface="Gill Sans"/>
                <a:cs typeface="Gill Sans"/>
              </a:rPr>
              <a:t> </a:t>
            </a:r>
            <a:r>
              <a:rPr sz="2109" spc="-4" dirty="0">
                <a:latin typeface="Gill Sans"/>
                <a:cs typeface="Gill Sans"/>
              </a:rPr>
              <a:t>(L</a:t>
            </a:r>
            <a:r>
              <a:rPr sz="2109" dirty="0">
                <a:latin typeface="Gill Sans"/>
                <a:cs typeface="Gill Sans"/>
              </a:rPr>
              <a:t>n</a:t>
            </a:r>
            <a:r>
              <a:rPr sz="2109" spc="-4" dirty="0">
                <a:latin typeface="Gill Sans"/>
                <a:cs typeface="Gill Sans"/>
              </a:rPr>
              <a:t>L</a:t>
            </a:r>
            <a:r>
              <a:rPr sz="2109" dirty="0">
                <a:latin typeface="Gill Sans"/>
                <a:cs typeface="Gill Sans"/>
              </a:rPr>
              <a:t>)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062063" y="1289887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406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4" name="object 24"/>
          <p:cNvSpPr/>
          <p:nvPr/>
        </p:nvSpPr>
        <p:spPr>
          <a:xfrm>
            <a:off x="7993304" y="1017531"/>
            <a:ext cx="182165" cy="151805"/>
          </a:xfrm>
          <a:custGeom>
            <a:avLst/>
            <a:gdLst/>
            <a:ahLst/>
            <a:cxnLst/>
            <a:rect l="l" t="t" r="r" b="b"/>
            <a:pathLst>
              <a:path w="259079" h="215900">
                <a:moveTo>
                  <a:pt x="259080" y="215900"/>
                </a:moveTo>
                <a:lnTo>
                  <a:pt x="129540" y="0"/>
                </a:lnTo>
                <a:lnTo>
                  <a:pt x="0" y="21590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5" name="object 25"/>
          <p:cNvSpPr/>
          <p:nvPr/>
        </p:nvSpPr>
        <p:spPr>
          <a:xfrm>
            <a:off x="8084387" y="1017531"/>
            <a:ext cx="0" cy="151805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215900"/>
                </a:moveTo>
                <a:lnTo>
                  <a:pt x="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6" name="object 26"/>
          <p:cNvSpPr txBox="1"/>
          <p:nvPr/>
        </p:nvSpPr>
        <p:spPr>
          <a:xfrm>
            <a:off x="7456289" y="1446792"/>
            <a:ext cx="1248370" cy="948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1457" marR="310741" algn="ctr">
              <a:lnSpc>
                <a:spcPts val="2461"/>
              </a:lnSpc>
            </a:pPr>
            <a:r>
              <a:rPr sz="2109" spc="-21" dirty="0">
                <a:latin typeface="Gill Sans"/>
                <a:cs typeface="Gill Sans"/>
              </a:rPr>
              <a:t>f</a:t>
            </a:r>
            <a:r>
              <a:rPr sz="2109" spc="-35" dirty="0">
                <a:latin typeface="Gill Sans"/>
                <a:cs typeface="Gill Sans"/>
              </a:rPr>
              <a:t>e</a:t>
            </a:r>
            <a:r>
              <a:rPr sz="2109" spc="-46" dirty="0">
                <a:latin typeface="Gill Sans"/>
                <a:cs typeface="Gill Sans"/>
              </a:rPr>
              <a:t>w</a:t>
            </a:r>
            <a:r>
              <a:rPr sz="2109" dirty="0">
                <a:latin typeface="Gill Sans"/>
                <a:cs typeface="Gill Sans"/>
              </a:rPr>
              <a:t>er </a:t>
            </a:r>
            <a:r>
              <a:rPr sz="2109" spc="-7" dirty="0">
                <a:latin typeface="Gill Sans"/>
                <a:cs typeface="Gill Sans"/>
              </a:rPr>
              <a:t>f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ee</a:t>
            </a:r>
            <a:endParaRPr sz="2109">
              <a:latin typeface="Gill Sans"/>
              <a:cs typeface="Gill Sans"/>
            </a:endParaRPr>
          </a:p>
          <a:p>
            <a:pPr algn="ctr">
              <a:lnSpc>
                <a:spcPts val="2391"/>
              </a:lnSpc>
            </a:pPr>
            <a:r>
              <a:rPr sz="2109" spc="-11" dirty="0">
                <a:latin typeface="Gill Sans"/>
                <a:cs typeface="Gill Sans"/>
              </a:rPr>
              <a:t>parameters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097782" y="5865010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406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8" name="object 28"/>
          <p:cNvSpPr/>
          <p:nvPr/>
        </p:nvSpPr>
        <p:spPr>
          <a:xfrm>
            <a:off x="8029023" y="5985560"/>
            <a:ext cx="182165" cy="151805"/>
          </a:xfrm>
          <a:custGeom>
            <a:avLst/>
            <a:gdLst/>
            <a:ahLst/>
            <a:cxnLst/>
            <a:rect l="l" t="t" r="r" b="b"/>
            <a:pathLst>
              <a:path w="259079" h="215900">
                <a:moveTo>
                  <a:pt x="0" y="0"/>
                </a:moveTo>
                <a:lnTo>
                  <a:pt x="129540" y="215900"/>
                </a:lnTo>
                <a:lnTo>
                  <a:pt x="259080" y="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9" name="object 29"/>
          <p:cNvSpPr/>
          <p:nvPr/>
        </p:nvSpPr>
        <p:spPr>
          <a:xfrm>
            <a:off x="8120106" y="5985560"/>
            <a:ext cx="0" cy="151805"/>
          </a:xfrm>
          <a:custGeom>
            <a:avLst/>
            <a:gdLst/>
            <a:ahLst/>
            <a:cxnLst/>
            <a:rect l="l" t="t" r="r" b="b"/>
            <a:pathLst>
              <a:path h="215900">
                <a:moveTo>
                  <a:pt x="0" y="0"/>
                </a:moveTo>
                <a:lnTo>
                  <a:pt x="0" y="215900"/>
                </a:lnTo>
              </a:path>
            </a:pathLst>
          </a:custGeom>
          <a:ln w="63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0" name="object 30"/>
          <p:cNvSpPr txBox="1"/>
          <p:nvPr/>
        </p:nvSpPr>
        <p:spPr>
          <a:xfrm>
            <a:off x="7492008" y="4768635"/>
            <a:ext cx="1248370" cy="9489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9316" marR="319671" algn="ctr">
              <a:lnSpc>
                <a:spcPts val="2461"/>
              </a:lnSpc>
            </a:pPr>
            <a:r>
              <a:rPr sz="2109" spc="-14" dirty="0">
                <a:latin typeface="Gill Sans"/>
                <a:cs typeface="Gill Sans"/>
              </a:rPr>
              <a:t>mo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e </a:t>
            </a:r>
            <a:r>
              <a:rPr sz="2109" spc="-7" dirty="0">
                <a:latin typeface="Gill Sans"/>
                <a:cs typeface="Gill Sans"/>
              </a:rPr>
              <a:t>f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ee</a:t>
            </a:r>
            <a:endParaRPr sz="2109">
              <a:latin typeface="Gill Sans"/>
              <a:cs typeface="Gill Sans"/>
            </a:endParaRPr>
          </a:p>
          <a:p>
            <a:pPr algn="ctr">
              <a:lnSpc>
                <a:spcPts val="2391"/>
              </a:lnSpc>
            </a:pPr>
            <a:r>
              <a:rPr sz="2109" spc="-11" dirty="0">
                <a:latin typeface="Gill Sans"/>
                <a:cs typeface="Gill Sans"/>
              </a:rPr>
              <a:t>parameters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40008" y="3046132"/>
            <a:ext cx="4108549" cy="948978"/>
          </a:xfrm>
          <a:prstGeom prst="rect">
            <a:avLst/>
          </a:prstGeom>
          <a:ln w="762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90686" marR="680418" algn="ctr">
              <a:lnSpc>
                <a:spcPts val="2461"/>
              </a:lnSpc>
            </a:pPr>
            <a:r>
              <a:rPr sz="2109" b="1" spc="-18" dirty="0">
                <a:latin typeface="Gill Sans"/>
                <a:cs typeface="Gill Sans"/>
              </a:rPr>
              <a:t>Ak</a:t>
            </a:r>
            <a:r>
              <a:rPr sz="2109" b="1" spc="14" dirty="0">
                <a:latin typeface="Gill Sans"/>
                <a:cs typeface="Gill Sans"/>
              </a:rPr>
              <a:t>a</a:t>
            </a:r>
            <a:r>
              <a:rPr sz="2109" b="1" dirty="0">
                <a:latin typeface="Gill Sans"/>
                <a:cs typeface="Gill Sans"/>
              </a:rPr>
              <a:t>i</a:t>
            </a:r>
            <a:r>
              <a:rPr sz="2109" b="1" spc="-105" dirty="0">
                <a:latin typeface="Gill Sans"/>
                <a:cs typeface="Gill Sans"/>
              </a:rPr>
              <a:t>k</a:t>
            </a:r>
            <a:r>
              <a:rPr sz="2109" b="1" dirty="0">
                <a:latin typeface="Gill Sans"/>
                <a:cs typeface="Gill Sans"/>
              </a:rPr>
              <a:t>e</a:t>
            </a:r>
            <a:r>
              <a:rPr sz="2109" b="1" spc="-4" dirty="0">
                <a:latin typeface="Gill Sans"/>
                <a:cs typeface="Gill Sans"/>
              </a:rPr>
              <a:t> </a:t>
            </a:r>
            <a:r>
              <a:rPr sz="2109" b="1" dirty="0">
                <a:latin typeface="Gill Sans"/>
                <a:cs typeface="Gill Sans"/>
              </a:rPr>
              <a:t>In</a:t>
            </a:r>
            <a:r>
              <a:rPr sz="2109" b="1" spc="-4" dirty="0">
                <a:latin typeface="Gill Sans"/>
                <a:cs typeface="Gill Sans"/>
              </a:rPr>
              <a:t>fo</a:t>
            </a:r>
            <a:r>
              <a:rPr sz="2109" b="1" dirty="0">
                <a:latin typeface="Gill Sans"/>
                <a:cs typeface="Gill Sans"/>
              </a:rPr>
              <a:t>r</a:t>
            </a:r>
            <a:r>
              <a:rPr sz="2109" b="1" spc="-4" dirty="0">
                <a:latin typeface="Gill Sans"/>
                <a:cs typeface="Gill Sans"/>
              </a:rPr>
              <a:t>m</a:t>
            </a:r>
            <a:r>
              <a:rPr sz="2109" b="1" spc="-14" dirty="0">
                <a:latin typeface="Gill Sans"/>
                <a:cs typeface="Gill Sans"/>
              </a:rPr>
              <a:t>a</a:t>
            </a:r>
            <a:r>
              <a:rPr sz="2109" b="1" spc="-4" dirty="0">
                <a:latin typeface="Gill Sans"/>
                <a:cs typeface="Gill Sans"/>
              </a:rPr>
              <a:t>t</a:t>
            </a:r>
            <a:r>
              <a:rPr sz="2109" b="1" dirty="0">
                <a:latin typeface="Gill Sans"/>
                <a:cs typeface="Gill Sans"/>
              </a:rPr>
              <a:t>i</a:t>
            </a:r>
            <a:r>
              <a:rPr sz="2109" b="1" spc="-4" dirty="0">
                <a:latin typeface="Gill Sans"/>
                <a:cs typeface="Gill Sans"/>
              </a:rPr>
              <a:t>o</a:t>
            </a:r>
            <a:r>
              <a:rPr sz="2109" b="1" dirty="0">
                <a:latin typeface="Gill Sans"/>
                <a:cs typeface="Gill Sans"/>
              </a:rPr>
              <a:t>n C</a:t>
            </a:r>
            <a:r>
              <a:rPr sz="2109" b="1" spc="-91" dirty="0">
                <a:latin typeface="Gill Sans"/>
                <a:cs typeface="Gill Sans"/>
              </a:rPr>
              <a:t>r</a:t>
            </a:r>
            <a:r>
              <a:rPr sz="2109" b="1" dirty="0">
                <a:latin typeface="Gill Sans"/>
                <a:cs typeface="Gill Sans"/>
              </a:rPr>
              <a:t>i</a:t>
            </a:r>
            <a:r>
              <a:rPr sz="2109" b="1" spc="-4" dirty="0">
                <a:latin typeface="Gill Sans"/>
                <a:cs typeface="Gill Sans"/>
              </a:rPr>
              <a:t>t</a:t>
            </a:r>
            <a:r>
              <a:rPr sz="2109" b="1" dirty="0">
                <a:latin typeface="Gill Sans"/>
                <a:cs typeface="Gill Sans"/>
              </a:rPr>
              <a:t>e</a:t>
            </a:r>
            <a:r>
              <a:rPr sz="2109" b="1" spc="-91" dirty="0">
                <a:latin typeface="Gill Sans"/>
                <a:cs typeface="Gill Sans"/>
              </a:rPr>
              <a:t>r</a:t>
            </a:r>
            <a:r>
              <a:rPr sz="2109" b="1" dirty="0">
                <a:latin typeface="Gill Sans"/>
                <a:cs typeface="Gill Sans"/>
              </a:rPr>
              <a:t>i</a:t>
            </a:r>
            <a:r>
              <a:rPr sz="2109" b="1" spc="-4" dirty="0">
                <a:latin typeface="Gill Sans"/>
                <a:cs typeface="Gill Sans"/>
              </a:rPr>
              <a:t>o</a:t>
            </a:r>
            <a:r>
              <a:rPr sz="2109" b="1" dirty="0">
                <a:latin typeface="Gill Sans"/>
                <a:cs typeface="Gill Sans"/>
              </a:rPr>
              <a:t>n</a:t>
            </a:r>
            <a:r>
              <a:rPr sz="2109" b="1" spc="-4" dirty="0">
                <a:latin typeface="Gill Sans"/>
                <a:cs typeface="Gill Sans"/>
              </a:rPr>
              <a:t> </a:t>
            </a:r>
            <a:r>
              <a:rPr sz="2109" b="1" spc="-11" dirty="0">
                <a:latin typeface="Gill Sans"/>
                <a:cs typeface="Gill Sans"/>
              </a:rPr>
              <a:t>(</a:t>
            </a:r>
            <a:r>
              <a:rPr sz="2109" b="1" dirty="0">
                <a:latin typeface="Gill Sans"/>
                <a:cs typeface="Gill Sans"/>
              </a:rPr>
              <a:t>AIC</a:t>
            </a:r>
            <a:r>
              <a:rPr sz="2109" b="1" spc="-11" dirty="0">
                <a:latin typeface="Gill Sans"/>
                <a:cs typeface="Gill Sans"/>
              </a:rPr>
              <a:t>)</a:t>
            </a:r>
            <a:r>
              <a:rPr sz="2109" b="1" spc="-4" dirty="0">
                <a:latin typeface="Gill Sans"/>
                <a:cs typeface="Gill Sans"/>
              </a:rPr>
              <a:t> </a:t>
            </a:r>
            <a:r>
              <a:rPr sz="2109" b="1" spc="-14" dirty="0">
                <a:latin typeface="Gill Sans"/>
                <a:cs typeface="Gill Sans"/>
              </a:rPr>
              <a:t>=</a:t>
            </a:r>
            <a:endParaRPr sz="2109">
              <a:latin typeface="Gill Sans"/>
              <a:cs typeface="Gill Sans"/>
            </a:endParaRPr>
          </a:p>
          <a:p>
            <a:pPr algn="ctr">
              <a:lnSpc>
                <a:spcPts val="2391"/>
              </a:lnSpc>
            </a:pPr>
            <a:r>
              <a:rPr sz="2109" spc="-4" dirty="0">
                <a:latin typeface="Gill Sans"/>
                <a:cs typeface="Gill Sans"/>
              </a:rPr>
              <a:t>-</a:t>
            </a:r>
            <a:r>
              <a:rPr sz="2109" dirty="0">
                <a:latin typeface="Gill Sans"/>
                <a:cs typeface="Gill Sans"/>
              </a:rPr>
              <a:t>2</a:t>
            </a:r>
            <a:r>
              <a:rPr sz="2109" spc="-4" dirty="0">
                <a:latin typeface="Gill Sans"/>
                <a:cs typeface="Gill Sans"/>
              </a:rPr>
              <a:t>(L</a:t>
            </a:r>
            <a:r>
              <a:rPr sz="2109" dirty="0">
                <a:latin typeface="Gill Sans"/>
                <a:cs typeface="Gill Sans"/>
              </a:rPr>
              <a:t>nL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-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#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4" dirty="0">
                <a:latin typeface="Gill Sans"/>
                <a:cs typeface="Gill Sans"/>
              </a:rPr>
              <a:t>o</a:t>
            </a:r>
            <a:r>
              <a:rPr sz="2109" dirty="0">
                <a:latin typeface="Gill Sans"/>
                <a:cs typeface="Gill Sans"/>
              </a:rPr>
              <a:t>f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spc="-11" dirty="0">
                <a:latin typeface="Gill Sans"/>
                <a:cs typeface="Gill Sans"/>
              </a:rPr>
              <a:t>parameters</a:t>
            </a:r>
            <a:r>
              <a:rPr sz="2109" dirty="0">
                <a:latin typeface="Gill Sans"/>
                <a:cs typeface="Gill Sans"/>
              </a:rPr>
              <a:t>)</a:t>
            </a:r>
            <a:endParaRPr sz="2109">
              <a:latin typeface="Gill Sans"/>
              <a:cs typeface="Gill San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590165" y="4899688"/>
            <a:ext cx="44648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394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3" name="object 33"/>
          <p:cNvSpPr/>
          <p:nvPr/>
        </p:nvSpPr>
        <p:spPr>
          <a:xfrm>
            <a:off x="1521407" y="5016221"/>
            <a:ext cx="182165" cy="182165"/>
          </a:xfrm>
          <a:custGeom>
            <a:avLst/>
            <a:gdLst/>
            <a:ahLst/>
            <a:cxnLst/>
            <a:rect l="l" t="t" r="r" b="b"/>
            <a:pathLst>
              <a:path w="259080" h="259079">
                <a:moveTo>
                  <a:pt x="259080" y="0"/>
                </a:moveTo>
                <a:lnTo>
                  <a:pt x="0" y="0"/>
                </a:lnTo>
                <a:lnTo>
                  <a:pt x="129540" y="259080"/>
                </a:lnTo>
                <a:lnTo>
                  <a:pt x="2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4" name="object 34"/>
          <p:cNvSpPr txBox="1"/>
          <p:nvPr/>
        </p:nvSpPr>
        <p:spPr>
          <a:xfrm>
            <a:off x="1446791" y="2620308"/>
            <a:ext cx="324576" cy="21216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8929"/>
            <a:r>
              <a:rPr sz="2109" dirty="0">
                <a:latin typeface="Gill Sans"/>
                <a:cs typeface="Gill Sans"/>
              </a:rPr>
              <a:t>d</a:t>
            </a:r>
            <a:r>
              <a:rPr sz="2109" spc="-4" dirty="0">
                <a:latin typeface="Gill Sans"/>
                <a:cs typeface="Gill Sans"/>
              </a:rPr>
              <a:t>i</a:t>
            </a:r>
            <a:r>
              <a:rPr sz="2109" dirty="0">
                <a:latin typeface="Gill Sans"/>
                <a:cs typeface="Gill Sans"/>
              </a:rPr>
              <a:t>stance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f</a:t>
            </a:r>
            <a:r>
              <a:rPr sz="2109" spc="-53" dirty="0">
                <a:latin typeface="Gill Sans"/>
                <a:cs typeface="Gill Sans"/>
              </a:rPr>
              <a:t>r</a:t>
            </a:r>
            <a:r>
              <a:rPr sz="2109" dirty="0">
                <a:latin typeface="Gill Sans"/>
                <a:cs typeface="Gill Sans"/>
              </a:rPr>
              <a:t>om</a:t>
            </a:r>
            <a:r>
              <a:rPr sz="2109" spc="-4" dirty="0">
                <a:latin typeface="Gill Sans"/>
                <a:cs typeface="Gill Sans"/>
              </a:rPr>
              <a:t> </a:t>
            </a:r>
            <a:r>
              <a:rPr sz="2109" dirty="0">
                <a:latin typeface="Gill Sans"/>
                <a:cs typeface="Gill Sans"/>
              </a:rPr>
              <a:t>truth</a:t>
            </a:r>
            <a:endParaRPr sz="2109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04150"/>
            <a:ext cx="9144000" cy="44794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7689302" y="2268902"/>
            <a:ext cx="1424732" cy="4350097"/>
          </a:xfrm>
          <a:custGeom>
            <a:avLst/>
            <a:gdLst/>
            <a:ahLst/>
            <a:cxnLst/>
            <a:rect l="l" t="t" r="r" b="b"/>
            <a:pathLst>
              <a:path w="2026284" h="6186805">
                <a:moveTo>
                  <a:pt x="291210" y="0"/>
                </a:moveTo>
                <a:lnTo>
                  <a:pt x="1734980" y="0"/>
                </a:lnTo>
                <a:lnTo>
                  <a:pt x="1752868" y="5"/>
                </a:lnTo>
                <a:lnTo>
                  <a:pt x="1799488" y="370"/>
                </a:lnTo>
                <a:lnTo>
                  <a:pt x="1837774" y="1987"/>
                </a:lnTo>
                <a:lnTo>
                  <a:pt x="1880831" y="7712"/>
                </a:lnTo>
                <a:lnTo>
                  <a:pt x="1926342" y="23854"/>
                </a:lnTo>
                <a:lnTo>
                  <a:pt x="1959558" y="45897"/>
                </a:lnTo>
                <a:lnTo>
                  <a:pt x="1986321" y="73656"/>
                </a:lnTo>
                <a:lnTo>
                  <a:pt x="2006150" y="106336"/>
                </a:lnTo>
                <a:lnTo>
                  <a:pt x="2018984" y="148793"/>
                </a:lnTo>
                <a:lnTo>
                  <a:pt x="2024398" y="192548"/>
                </a:lnTo>
                <a:lnTo>
                  <a:pt x="2025880" y="231360"/>
                </a:lnTo>
                <a:lnTo>
                  <a:pt x="2026188" y="278555"/>
                </a:lnTo>
                <a:lnTo>
                  <a:pt x="2026191" y="5895341"/>
                </a:lnTo>
                <a:lnTo>
                  <a:pt x="2026185" y="5913230"/>
                </a:lnTo>
                <a:lnTo>
                  <a:pt x="2025820" y="5959849"/>
                </a:lnTo>
                <a:lnTo>
                  <a:pt x="2024203" y="5998135"/>
                </a:lnTo>
                <a:lnTo>
                  <a:pt x="2018478" y="6041193"/>
                </a:lnTo>
                <a:lnTo>
                  <a:pt x="2002335" y="6086704"/>
                </a:lnTo>
                <a:lnTo>
                  <a:pt x="1980293" y="6119919"/>
                </a:lnTo>
                <a:lnTo>
                  <a:pt x="1952533" y="6146683"/>
                </a:lnTo>
                <a:lnTo>
                  <a:pt x="1919854" y="6166511"/>
                </a:lnTo>
                <a:lnTo>
                  <a:pt x="1877397" y="6179345"/>
                </a:lnTo>
                <a:lnTo>
                  <a:pt x="1833641" y="6184760"/>
                </a:lnTo>
                <a:lnTo>
                  <a:pt x="1794830" y="6186242"/>
                </a:lnTo>
                <a:lnTo>
                  <a:pt x="1747635" y="6186549"/>
                </a:lnTo>
                <a:lnTo>
                  <a:pt x="291210" y="6186552"/>
                </a:lnTo>
                <a:lnTo>
                  <a:pt x="273321" y="6186546"/>
                </a:lnTo>
                <a:lnTo>
                  <a:pt x="226702" y="6186181"/>
                </a:lnTo>
                <a:lnTo>
                  <a:pt x="188416" y="6184564"/>
                </a:lnTo>
                <a:lnTo>
                  <a:pt x="145358" y="6178839"/>
                </a:lnTo>
                <a:lnTo>
                  <a:pt x="99847" y="6162696"/>
                </a:lnTo>
                <a:lnTo>
                  <a:pt x="66632" y="6140654"/>
                </a:lnTo>
                <a:lnTo>
                  <a:pt x="39868" y="6112895"/>
                </a:lnTo>
                <a:lnTo>
                  <a:pt x="20040" y="6080215"/>
                </a:lnTo>
                <a:lnTo>
                  <a:pt x="7206" y="6037758"/>
                </a:lnTo>
                <a:lnTo>
                  <a:pt x="1792" y="5994003"/>
                </a:lnTo>
                <a:lnTo>
                  <a:pt x="310" y="5955192"/>
                </a:lnTo>
                <a:lnTo>
                  <a:pt x="2" y="5907997"/>
                </a:lnTo>
                <a:lnTo>
                  <a:pt x="0" y="291210"/>
                </a:lnTo>
                <a:lnTo>
                  <a:pt x="5" y="273321"/>
                </a:lnTo>
                <a:lnTo>
                  <a:pt x="370" y="226702"/>
                </a:lnTo>
                <a:lnTo>
                  <a:pt x="1987" y="188416"/>
                </a:lnTo>
                <a:lnTo>
                  <a:pt x="7712" y="145358"/>
                </a:lnTo>
                <a:lnTo>
                  <a:pt x="23855" y="99847"/>
                </a:lnTo>
                <a:lnTo>
                  <a:pt x="45897" y="66632"/>
                </a:lnTo>
                <a:lnTo>
                  <a:pt x="73656" y="39869"/>
                </a:lnTo>
                <a:lnTo>
                  <a:pt x="106336" y="20040"/>
                </a:lnTo>
                <a:lnTo>
                  <a:pt x="148793" y="7206"/>
                </a:lnTo>
                <a:lnTo>
                  <a:pt x="192548" y="1792"/>
                </a:lnTo>
                <a:lnTo>
                  <a:pt x="231360" y="310"/>
                </a:lnTo>
                <a:lnTo>
                  <a:pt x="278555" y="2"/>
                </a:lnTo>
                <a:lnTo>
                  <a:pt x="291210" y="0"/>
                </a:lnTo>
                <a:close/>
              </a:path>
            </a:pathLst>
          </a:custGeom>
          <a:ln w="101599">
            <a:solidFill>
              <a:srgbClr val="0365C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 txBox="1"/>
          <p:nvPr/>
        </p:nvSpPr>
        <p:spPr>
          <a:xfrm>
            <a:off x="196454" y="321469"/>
            <a:ext cx="8119318" cy="1051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375" b="1" spc="-25" dirty="0">
                <a:latin typeface="Calibri"/>
                <a:cs typeface="Calibri"/>
              </a:rPr>
              <a:t>G</a:t>
            </a:r>
            <a:r>
              <a:rPr sz="3375" b="1" spc="-21" dirty="0">
                <a:latin typeface="Calibri"/>
                <a:cs typeface="Calibri"/>
              </a:rPr>
              <a:t>loba</a:t>
            </a:r>
            <a:r>
              <a:rPr sz="3375" b="1" spc="-11" dirty="0">
                <a:latin typeface="Calibri"/>
                <a:cs typeface="Calibri"/>
              </a:rPr>
              <a:t>l</a:t>
            </a:r>
            <a:r>
              <a:rPr sz="3375" b="1" spc="-4" dirty="0">
                <a:latin typeface="Calibri"/>
                <a:cs typeface="Calibri"/>
              </a:rPr>
              <a:t> </a:t>
            </a:r>
            <a:r>
              <a:rPr sz="3375" b="1" spc="-21" dirty="0">
                <a:latin typeface="Calibri"/>
                <a:cs typeface="Calibri"/>
              </a:rPr>
              <a:t>Solana</a:t>
            </a:r>
            <a:r>
              <a:rPr sz="3375" b="1" spc="-4" dirty="0">
                <a:latin typeface="Calibri"/>
                <a:cs typeface="Calibri"/>
              </a:rPr>
              <a:t>ceae:</a:t>
            </a:r>
            <a:endParaRPr sz="3375" dirty="0">
              <a:latin typeface="Calibri"/>
              <a:cs typeface="Calibri"/>
            </a:endParaRPr>
          </a:p>
          <a:p>
            <a:pPr marL="8929">
              <a:spcBef>
                <a:spcPts val="98"/>
              </a:spcBef>
            </a:pPr>
            <a:r>
              <a:rPr sz="3375" b="1" spc="-25" dirty="0">
                <a:latin typeface="Calibri"/>
                <a:cs typeface="Calibri"/>
              </a:rPr>
              <a:t>d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53" dirty="0">
                <a:latin typeface="Calibri"/>
                <a:cs typeface="Calibri"/>
              </a:rPr>
              <a:t>s</a:t>
            </a:r>
            <a:r>
              <a:rPr sz="3375" b="1" spc="-49" dirty="0">
                <a:latin typeface="Calibri"/>
                <a:cs typeface="Calibri"/>
              </a:rPr>
              <a:t>t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n</a:t>
            </a:r>
            <a:r>
              <a:rPr sz="3375" b="1" dirty="0">
                <a:latin typeface="Calibri"/>
                <a:cs typeface="Calibri"/>
              </a:rPr>
              <a:t>ce</a:t>
            </a:r>
            <a:r>
              <a:rPr sz="3375" b="1" spc="-11" dirty="0">
                <a:latin typeface="Calibri"/>
                <a:cs typeface="Calibri"/>
              </a:rPr>
              <a:t>,</a:t>
            </a:r>
            <a:r>
              <a:rPr sz="3375" b="1" dirty="0">
                <a:latin typeface="Calibri"/>
                <a:cs typeface="Calibri"/>
              </a:rPr>
              <a:t> </a:t>
            </a:r>
            <a:r>
              <a:rPr sz="3375" b="1" spc="-25" dirty="0">
                <a:latin typeface="Calibri"/>
                <a:cs typeface="Calibri"/>
              </a:rPr>
              <a:t>B</a:t>
            </a:r>
            <a:r>
              <a:rPr sz="3375" b="1" spc="-14" dirty="0">
                <a:latin typeface="Calibri"/>
                <a:cs typeface="Calibri"/>
              </a:rPr>
              <a:t>io</a:t>
            </a:r>
            <a:r>
              <a:rPr sz="3375" b="1" spc="-39" dirty="0">
                <a:latin typeface="Calibri"/>
                <a:cs typeface="Calibri"/>
              </a:rPr>
              <a:t>g</a:t>
            </a:r>
            <a:r>
              <a:rPr sz="3375" b="1" dirty="0">
                <a:latin typeface="Calibri"/>
                <a:cs typeface="Calibri"/>
              </a:rPr>
              <a:t>e</a:t>
            </a:r>
            <a:r>
              <a:rPr sz="3375" b="1" spc="-21" dirty="0">
                <a:latin typeface="Calibri"/>
                <a:cs typeface="Calibri"/>
              </a:rPr>
              <a:t>o</a:t>
            </a:r>
            <a:r>
              <a:rPr sz="3375" b="1" spc="-4" dirty="0">
                <a:latin typeface="Calibri"/>
                <a:cs typeface="Calibri"/>
              </a:rPr>
              <a:t>g</a:t>
            </a:r>
            <a:r>
              <a:rPr sz="3375" b="1" spc="-77" dirty="0">
                <a:latin typeface="Calibri"/>
                <a:cs typeface="Calibri"/>
              </a:rPr>
              <a:t>r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ph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21" dirty="0">
                <a:latin typeface="Calibri"/>
                <a:cs typeface="Calibri"/>
              </a:rPr>
              <a:t>c</a:t>
            </a:r>
            <a:r>
              <a:rPr sz="3375" b="1" spc="-14" dirty="0">
                <a:latin typeface="Calibri"/>
                <a:cs typeface="Calibri"/>
              </a:rPr>
              <a:t>al</a:t>
            </a:r>
            <a:r>
              <a:rPr sz="3375" b="1" dirty="0">
                <a:latin typeface="Calibri"/>
                <a:cs typeface="Calibri"/>
              </a:rPr>
              <a:t> </a:t>
            </a:r>
            <a:r>
              <a:rPr sz="3375" b="1" spc="-18" dirty="0">
                <a:latin typeface="Calibri"/>
                <a:cs typeface="Calibri"/>
              </a:rPr>
              <a:t>S</a:t>
            </a:r>
            <a:r>
              <a:rPr sz="3375" b="1" spc="-49" dirty="0">
                <a:latin typeface="Calibri"/>
                <a:cs typeface="Calibri"/>
              </a:rPr>
              <a:t>t</a:t>
            </a:r>
            <a:r>
              <a:rPr sz="3375" b="1" spc="-21" dirty="0">
                <a:latin typeface="Calibri"/>
                <a:cs typeface="Calibri"/>
              </a:rPr>
              <a:t>o</a:t>
            </a:r>
            <a:r>
              <a:rPr sz="3375" b="1" dirty="0">
                <a:latin typeface="Calibri"/>
                <a:cs typeface="Calibri"/>
              </a:rPr>
              <a:t>c</a:t>
            </a:r>
            <a:r>
              <a:rPr sz="3375" b="1" spc="-25" dirty="0">
                <a:latin typeface="Calibri"/>
                <a:cs typeface="Calibri"/>
              </a:rPr>
              <a:t>h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53" dirty="0">
                <a:latin typeface="Calibri"/>
                <a:cs typeface="Calibri"/>
              </a:rPr>
              <a:t>s</a:t>
            </a:r>
            <a:r>
              <a:rPr lang="en-US" sz="3375" b="1" spc="253" dirty="0">
                <a:latin typeface="Calibri"/>
                <a:cs typeface="Calibri"/>
              </a:rPr>
              <a:t>ti</a:t>
            </a:r>
            <a:r>
              <a:rPr sz="3375" b="1" dirty="0">
                <a:latin typeface="Calibri"/>
                <a:cs typeface="Calibri"/>
              </a:rPr>
              <a:t>c </a:t>
            </a:r>
            <a:r>
              <a:rPr sz="3375" b="1" spc="-35" dirty="0">
                <a:latin typeface="Calibri"/>
                <a:cs typeface="Calibri"/>
              </a:rPr>
              <a:t>M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pp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25" dirty="0">
                <a:latin typeface="Calibri"/>
                <a:cs typeface="Calibri"/>
              </a:rPr>
              <a:t>n</a:t>
            </a:r>
            <a:r>
              <a:rPr sz="3375" b="1" dirty="0">
                <a:latin typeface="Calibri"/>
                <a:cs typeface="Calibri"/>
              </a:rPr>
              <a:t>g</a:t>
            </a:r>
            <a:endParaRPr sz="337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04150"/>
            <a:ext cx="9144000" cy="44794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3" name="object 3"/>
          <p:cNvSpPr/>
          <p:nvPr/>
        </p:nvSpPr>
        <p:spPr>
          <a:xfrm>
            <a:off x="7689302" y="2268902"/>
            <a:ext cx="1424732" cy="4350097"/>
          </a:xfrm>
          <a:custGeom>
            <a:avLst/>
            <a:gdLst/>
            <a:ahLst/>
            <a:cxnLst/>
            <a:rect l="l" t="t" r="r" b="b"/>
            <a:pathLst>
              <a:path w="2026284" h="6186805">
                <a:moveTo>
                  <a:pt x="291210" y="0"/>
                </a:moveTo>
                <a:lnTo>
                  <a:pt x="1734980" y="0"/>
                </a:lnTo>
                <a:lnTo>
                  <a:pt x="1752868" y="5"/>
                </a:lnTo>
                <a:lnTo>
                  <a:pt x="1799488" y="370"/>
                </a:lnTo>
                <a:lnTo>
                  <a:pt x="1837774" y="1987"/>
                </a:lnTo>
                <a:lnTo>
                  <a:pt x="1880831" y="7712"/>
                </a:lnTo>
                <a:lnTo>
                  <a:pt x="1926342" y="23854"/>
                </a:lnTo>
                <a:lnTo>
                  <a:pt x="1959558" y="45897"/>
                </a:lnTo>
                <a:lnTo>
                  <a:pt x="1986321" y="73656"/>
                </a:lnTo>
                <a:lnTo>
                  <a:pt x="2006150" y="106336"/>
                </a:lnTo>
                <a:lnTo>
                  <a:pt x="2018984" y="148793"/>
                </a:lnTo>
                <a:lnTo>
                  <a:pt x="2024398" y="192548"/>
                </a:lnTo>
                <a:lnTo>
                  <a:pt x="2025880" y="231360"/>
                </a:lnTo>
                <a:lnTo>
                  <a:pt x="2026188" y="278555"/>
                </a:lnTo>
                <a:lnTo>
                  <a:pt x="2026191" y="5895341"/>
                </a:lnTo>
                <a:lnTo>
                  <a:pt x="2026185" y="5913230"/>
                </a:lnTo>
                <a:lnTo>
                  <a:pt x="2025820" y="5959849"/>
                </a:lnTo>
                <a:lnTo>
                  <a:pt x="2024203" y="5998135"/>
                </a:lnTo>
                <a:lnTo>
                  <a:pt x="2018478" y="6041193"/>
                </a:lnTo>
                <a:lnTo>
                  <a:pt x="2002335" y="6086704"/>
                </a:lnTo>
                <a:lnTo>
                  <a:pt x="1980293" y="6119919"/>
                </a:lnTo>
                <a:lnTo>
                  <a:pt x="1952533" y="6146683"/>
                </a:lnTo>
                <a:lnTo>
                  <a:pt x="1919854" y="6166511"/>
                </a:lnTo>
                <a:lnTo>
                  <a:pt x="1877397" y="6179345"/>
                </a:lnTo>
                <a:lnTo>
                  <a:pt x="1833641" y="6184760"/>
                </a:lnTo>
                <a:lnTo>
                  <a:pt x="1794830" y="6186242"/>
                </a:lnTo>
                <a:lnTo>
                  <a:pt x="1747635" y="6186549"/>
                </a:lnTo>
                <a:lnTo>
                  <a:pt x="291210" y="6186552"/>
                </a:lnTo>
                <a:lnTo>
                  <a:pt x="273321" y="6186546"/>
                </a:lnTo>
                <a:lnTo>
                  <a:pt x="226702" y="6186181"/>
                </a:lnTo>
                <a:lnTo>
                  <a:pt x="188416" y="6184564"/>
                </a:lnTo>
                <a:lnTo>
                  <a:pt x="145358" y="6178839"/>
                </a:lnTo>
                <a:lnTo>
                  <a:pt x="99847" y="6162696"/>
                </a:lnTo>
                <a:lnTo>
                  <a:pt x="66632" y="6140654"/>
                </a:lnTo>
                <a:lnTo>
                  <a:pt x="39868" y="6112895"/>
                </a:lnTo>
                <a:lnTo>
                  <a:pt x="20040" y="6080215"/>
                </a:lnTo>
                <a:lnTo>
                  <a:pt x="7206" y="6037758"/>
                </a:lnTo>
                <a:lnTo>
                  <a:pt x="1792" y="5994003"/>
                </a:lnTo>
                <a:lnTo>
                  <a:pt x="310" y="5955192"/>
                </a:lnTo>
                <a:lnTo>
                  <a:pt x="2" y="5907997"/>
                </a:lnTo>
                <a:lnTo>
                  <a:pt x="0" y="291210"/>
                </a:lnTo>
                <a:lnTo>
                  <a:pt x="5" y="273321"/>
                </a:lnTo>
                <a:lnTo>
                  <a:pt x="370" y="226702"/>
                </a:lnTo>
                <a:lnTo>
                  <a:pt x="1987" y="188416"/>
                </a:lnTo>
                <a:lnTo>
                  <a:pt x="7712" y="145358"/>
                </a:lnTo>
                <a:lnTo>
                  <a:pt x="23855" y="99847"/>
                </a:lnTo>
                <a:lnTo>
                  <a:pt x="45897" y="66632"/>
                </a:lnTo>
                <a:lnTo>
                  <a:pt x="73656" y="39869"/>
                </a:lnTo>
                <a:lnTo>
                  <a:pt x="106336" y="20040"/>
                </a:lnTo>
                <a:lnTo>
                  <a:pt x="148793" y="7206"/>
                </a:lnTo>
                <a:lnTo>
                  <a:pt x="192548" y="1792"/>
                </a:lnTo>
                <a:lnTo>
                  <a:pt x="231360" y="310"/>
                </a:lnTo>
                <a:lnTo>
                  <a:pt x="278555" y="2"/>
                </a:lnTo>
                <a:lnTo>
                  <a:pt x="291210" y="0"/>
                </a:lnTo>
                <a:close/>
              </a:path>
            </a:pathLst>
          </a:custGeom>
          <a:ln w="101599">
            <a:solidFill>
              <a:srgbClr val="0365C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734854" y="2732117"/>
            <a:ext cx="6812741" cy="29708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5" name="object 5"/>
          <p:cNvSpPr/>
          <p:nvPr/>
        </p:nvSpPr>
        <p:spPr>
          <a:xfrm>
            <a:off x="783967" y="2763371"/>
            <a:ext cx="6714679" cy="2872680"/>
          </a:xfrm>
          <a:custGeom>
            <a:avLst/>
            <a:gdLst/>
            <a:ahLst/>
            <a:cxnLst/>
            <a:rect l="l" t="t" r="r" b="b"/>
            <a:pathLst>
              <a:path w="9549765" h="4085590">
                <a:moveTo>
                  <a:pt x="0" y="0"/>
                </a:moveTo>
                <a:lnTo>
                  <a:pt x="9549530" y="0"/>
                </a:lnTo>
                <a:lnTo>
                  <a:pt x="9549530" y="4085546"/>
                </a:lnTo>
                <a:lnTo>
                  <a:pt x="0" y="4085546"/>
                </a:lnTo>
                <a:lnTo>
                  <a:pt x="0" y="0"/>
                </a:lnTo>
                <a:close/>
              </a:path>
            </a:pathLst>
          </a:custGeom>
          <a:solidFill>
            <a:srgbClr val="51A7F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6" name="object 6"/>
          <p:cNvSpPr/>
          <p:nvPr/>
        </p:nvSpPr>
        <p:spPr>
          <a:xfrm>
            <a:off x="783967" y="2763371"/>
            <a:ext cx="6714679" cy="2872680"/>
          </a:xfrm>
          <a:custGeom>
            <a:avLst/>
            <a:gdLst/>
            <a:ahLst/>
            <a:cxnLst/>
            <a:rect l="l" t="t" r="r" b="b"/>
            <a:pathLst>
              <a:path w="9549765" h="4085590">
                <a:moveTo>
                  <a:pt x="0" y="0"/>
                </a:moveTo>
                <a:lnTo>
                  <a:pt x="9549531" y="0"/>
                </a:lnTo>
                <a:lnTo>
                  <a:pt x="9549531" y="4085546"/>
                </a:lnTo>
                <a:lnTo>
                  <a:pt x="0" y="4085546"/>
                </a:lnTo>
                <a:lnTo>
                  <a:pt x="0" y="0"/>
                </a:lnTo>
                <a:close/>
              </a:path>
            </a:pathLst>
          </a:custGeom>
          <a:ln w="63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7" name="object 7"/>
          <p:cNvSpPr txBox="1"/>
          <p:nvPr/>
        </p:nvSpPr>
        <p:spPr>
          <a:xfrm>
            <a:off x="1035844" y="2928938"/>
            <a:ext cx="5893594" cy="26561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 marR="114296">
              <a:lnSpc>
                <a:spcPct val="102400"/>
              </a:lnSpc>
            </a:pPr>
            <a:r>
              <a:rPr sz="3375" b="1" spc="-25" dirty="0">
                <a:latin typeface="Calibri"/>
                <a:cs typeface="Calibri"/>
              </a:rPr>
              <a:t>B</a:t>
            </a:r>
            <a:r>
              <a:rPr sz="3375" b="1" dirty="0">
                <a:latin typeface="Calibri"/>
                <a:cs typeface="Calibri"/>
              </a:rPr>
              <a:t>e</a:t>
            </a:r>
            <a:r>
              <a:rPr sz="3375" b="1" spc="-53" dirty="0">
                <a:latin typeface="Calibri"/>
                <a:cs typeface="Calibri"/>
              </a:rPr>
              <a:t>s</a:t>
            </a:r>
            <a:r>
              <a:rPr sz="3375" b="1" spc="-14" dirty="0">
                <a:latin typeface="Calibri"/>
                <a:cs typeface="Calibri"/>
              </a:rPr>
              <a:t>t</a:t>
            </a:r>
            <a:r>
              <a:rPr sz="3375" b="1" dirty="0">
                <a:latin typeface="Calibri"/>
                <a:cs typeface="Calibri"/>
              </a:rPr>
              <a:t> m</a:t>
            </a:r>
            <a:r>
              <a:rPr sz="3375" b="1" spc="-21" dirty="0">
                <a:latin typeface="Calibri"/>
                <a:cs typeface="Calibri"/>
              </a:rPr>
              <a:t>o</a:t>
            </a:r>
            <a:r>
              <a:rPr sz="3375" b="1" spc="-25" dirty="0">
                <a:latin typeface="Calibri"/>
                <a:cs typeface="Calibri"/>
              </a:rPr>
              <a:t>d</a:t>
            </a:r>
            <a:r>
              <a:rPr sz="3375" b="1" dirty="0">
                <a:latin typeface="Calibri"/>
                <a:cs typeface="Calibri"/>
              </a:rPr>
              <a:t>e</a:t>
            </a:r>
            <a:r>
              <a:rPr sz="3375" b="1" spc="-11" dirty="0">
                <a:latin typeface="Calibri"/>
                <a:cs typeface="Calibri"/>
              </a:rPr>
              <a:t>l:</a:t>
            </a:r>
            <a:r>
              <a:rPr sz="3375" b="1" dirty="0">
                <a:latin typeface="Calibri"/>
                <a:cs typeface="Calibri"/>
              </a:rPr>
              <a:t> </a:t>
            </a:r>
            <a:r>
              <a:rPr sz="3375" b="1" spc="-21" dirty="0">
                <a:latin typeface="Calibri"/>
                <a:cs typeface="Calibri"/>
              </a:rPr>
              <a:t>99</a:t>
            </a:r>
            <a:r>
              <a:rPr sz="3375" b="1" dirty="0">
                <a:latin typeface="Calibri"/>
                <a:cs typeface="Calibri"/>
              </a:rPr>
              <a:t>.</a:t>
            </a:r>
            <a:r>
              <a:rPr sz="3375" b="1" spc="-21" dirty="0">
                <a:latin typeface="Calibri"/>
                <a:cs typeface="Calibri"/>
              </a:rPr>
              <a:t>9</a:t>
            </a:r>
            <a:r>
              <a:rPr sz="3375" b="1" dirty="0">
                <a:latin typeface="Calibri"/>
                <a:cs typeface="Calibri"/>
              </a:rPr>
              <a:t>% </a:t>
            </a:r>
            <a:r>
              <a:rPr sz="3375" b="1" spc="-21" dirty="0">
                <a:latin typeface="Calibri"/>
                <a:cs typeface="Calibri"/>
              </a:rPr>
              <a:t>o</a:t>
            </a:r>
            <a:r>
              <a:rPr sz="3375" b="1" dirty="0">
                <a:latin typeface="Calibri"/>
                <a:cs typeface="Calibri"/>
              </a:rPr>
              <a:t>f </a:t>
            </a:r>
            <a:r>
              <a:rPr sz="3375" b="1" spc="-18" dirty="0">
                <a:latin typeface="Calibri"/>
                <a:cs typeface="Calibri"/>
              </a:rPr>
              <a:t>AI</a:t>
            </a:r>
            <a:r>
              <a:rPr sz="3375" b="1" dirty="0">
                <a:latin typeface="Calibri"/>
                <a:cs typeface="Calibri"/>
              </a:rPr>
              <a:t>C </a:t>
            </a:r>
            <a:r>
              <a:rPr sz="3375" b="1" spc="-28" dirty="0">
                <a:latin typeface="Calibri"/>
                <a:cs typeface="Calibri"/>
              </a:rPr>
              <a:t>w</a:t>
            </a:r>
            <a:r>
              <a:rPr sz="3375" b="1" dirty="0">
                <a:latin typeface="Calibri"/>
                <a:cs typeface="Calibri"/>
              </a:rPr>
              <a:t>e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4" dirty="0">
                <a:latin typeface="Calibri"/>
                <a:cs typeface="Calibri"/>
              </a:rPr>
              <a:t>g</a:t>
            </a:r>
            <a:r>
              <a:rPr sz="3375" b="1" spc="-53" dirty="0">
                <a:latin typeface="Calibri"/>
                <a:cs typeface="Calibri"/>
              </a:rPr>
              <a:t>h</a:t>
            </a:r>
            <a:r>
              <a:rPr sz="3375" b="1" spc="-14" dirty="0">
                <a:latin typeface="Calibri"/>
                <a:cs typeface="Calibri"/>
              </a:rPr>
              <a:t>t</a:t>
            </a:r>
            <a:r>
              <a:rPr sz="3375" b="1" spc="-11" dirty="0">
                <a:latin typeface="Calibri"/>
                <a:cs typeface="Calibri"/>
              </a:rPr>
              <a:t> </a:t>
            </a:r>
            <a:r>
              <a:rPr sz="3375" b="1" dirty="0">
                <a:latin typeface="Calibri"/>
                <a:cs typeface="Calibri"/>
              </a:rPr>
              <a:t>D</a:t>
            </a:r>
            <a:r>
              <a:rPr sz="3375" b="1" spc="-49" dirty="0">
                <a:latin typeface="Calibri"/>
                <a:cs typeface="Calibri"/>
              </a:rPr>
              <a:t>E</a:t>
            </a:r>
            <a:r>
              <a:rPr sz="3375" b="1" dirty="0">
                <a:latin typeface="Calibri"/>
                <a:cs typeface="Calibri"/>
              </a:rPr>
              <a:t>C</a:t>
            </a:r>
            <a:endParaRPr sz="3375" dirty="0">
              <a:latin typeface="Calibri"/>
              <a:cs typeface="Calibri"/>
            </a:endParaRPr>
          </a:p>
          <a:p>
            <a:pPr marL="8929">
              <a:spcBef>
                <a:spcPts val="98"/>
              </a:spcBef>
            </a:pPr>
            <a:r>
              <a:rPr sz="3375" b="1" dirty="0">
                <a:latin typeface="Calibri"/>
                <a:cs typeface="Calibri"/>
              </a:rPr>
              <a:t>+ J </a:t>
            </a:r>
            <a:r>
              <a:rPr sz="3375" b="1" spc="70" dirty="0">
                <a:latin typeface="Calibri"/>
                <a:cs typeface="Calibri"/>
              </a:rPr>
              <a:t>(</a:t>
            </a:r>
            <a:r>
              <a:rPr sz="3375" b="1" dirty="0">
                <a:latin typeface="Calibri"/>
                <a:cs typeface="Calibri"/>
              </a:rPr>
              <a:t>j</a:t>
            </a:r>
            <a:r>
              <a:rPr sz="3375" b="1" spc="-25" dirty="0">
                <a:latin typeface="Calibri"/>
                <a:cs typeface="Calibri"/>
              </a:rPr>
              <a:t>u</a:t>
            </a:r>
            <a:r>
              <a:rPr sz="3375" b="1" dirty="0">
                <a:latin typeface="Calibri"/>
                <a:cs typeface="Calibri"/>
              </a:rPr>
              <a:t>m</a:t>
            </a:r>
            <a:r>
              <a:rPr sz="3375" b="1" spc="-21" dirty="0">
                <a:latin typeface="Calibri"/>
                <a:cs typeface="Calibri"/>
              </a:rPr>
              <a:t>p</a:t>
            </a:r>
            <a:r>
              <a:rPr sz="3375" b="1" dirty="0">
                <a:latin typeface="Calibri"/>
                <a:cs typeface="Calibri"/>
              </a:rPr>
              <a:t> </a:t>
            </a:r>
            <a:r>
              <a:rPr sz="3375" b="1" spc="-25" dirty="0">
                <a:latin typeface="Calibri"/>
                <a:cs typeface="Calibri"/>
              </a:rPr>
              <a:t>d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21" dirty="0">
                <a:latin typeface="Calibri"/>
                <a:cs typeface="Calibri"/>
              </a:rPr>
              <a:t>sp</a:t>
            </a:r>
            <a:r>
              <a:rPr sz="3375" b="1" dirty="0">
                <a:latin typeface="Calibri"/>
                <a:cs typeface="Calibri"/>
              </a:rPr>
              <a:t>e</a:t>
            </a:r>
            <a:r>
              <a:rPr sz="3375" b="1" spc="-42" dirty="0">
                <a:latin typeface="Calibri"/>
                <a:cs typeface="Calibri"/>
              </a:rPr>
              <a:t>r</a:t>
            </a:r>
            <a:r>
              <a:rPr sz="3375" b="1" spc="-18" dirty="0">
                <a:latin typeface="Calibri"/>
                <a:cs typeface="Calibri"/>
              </a:rPr>
              <a:t>s</a:t>
            </a:r>
            <a:r>
              <a:rPr sz="3375" b="1" spc="-14" dirty="0">
                <a:latin typeface="Calibri"/>
                <a:cs typeface="Calibri"/>
              </a:rPr>
              <a:t>al)</a:t>
            </a:r>
            <a:endParaRPr sz="3375" dirty="0">
              <a:latin typeface="Calibri"/>
              <a:cs typeface="Calibri"/>
            </a:endParaRPr>
          </a:p>
          <a:p>
            <a:pPr marL="8929">
              <a:spcBef>
                <a:spcPts val="98"/>
              </a:spcBef>
            </a:pPr>
            <a:r>
              <a:rPr sz="3375" b="1" dirty="0">
                <a:latin typeface="Calibri"/>
                <a:cs typeface="Calibri"/>
              </a:rPr>
              <a:t>+ c</a:t>
            </a:r>
            <a:r>
              <a:rPr sz="3375" b="1" spc="-25" dirty="0">
                <a:latin typeface="Calibri"/>
                <a:cs typeface="Calibri"/>
              </a:rPr>
              <a:t>h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n</a:t>
            </a:r>
            <a:r>
              <a:rPr sz="3375" b="1" spc="-4" dirty="0">
                <a:latin typeface="Calibri"/>
                <a:cs typeface="Calibri"/>
              </a:rPr>
              <a:t>g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25" dirty="0">
                <a:latin typeface="Calibri"/>
                <a:cs typeface="Calibri"/>
              </a:rPr>
              <a:t>n</a:t>
            </a:r>
            <a:r>
              <a:rPr sz="3375" b="1" dirty="0">
                <a:latin typeface="Calibri"/>
                <a:cs typeface="Calibri"/>
              </a:rPr>
              <a:t>g </a:t>
            </a:r>
            <a:r>
              <a:rPr sz="3375" b="1" spc="-39" dirty="0">
                <a:latin typeface="Calibri"/>
                <a:cs typeface="Calibri"/>
              </a:rPr>
              <a:t>g</a:t>
            </a:r>
            <a:r>
              <a:rPr sz="3375" b="1" dirty="0">
                <a:latin typeface="Calibri"/>
                <a:cs typeface="Calibri"/>
              </a:rPr>
              <a:t>e</a:t>
            </a:r>
            <a:r>
              <a:rPr sz="3375" b="1" spc="-21" dirty="0">
                <a:latin typeface="Calibri"/>
                <a:cs typeface="Calibri"/>
              </a:rPr>
              <a:t>o</a:t>
            </a:r>
            <a:r>
              <a:rPr sz="3375" b="1" spc="-4" dirty="0">
                <a:latin typeface="Calibri"/>
                <a:cs typeface="Calibri"/>
              </a:rPr>
              <a:t>g</a:t>
            </a:r>
            <a:r>
              <a:rPr sz="3375" b="1" spc="-77" dirty="0">
                <a:latin typeface="Calibri"/>
                <a:cs typeface="Calibri"/>
              </a:rPr>
              <a:t>r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p</a:t>
            </a:r>
            <a:r>
              <a:rPr sz="3375" b="1" spc="-84" dirty="0">
                <a:latin typeface="Calibri"/>
                <a:cs typeface="Calibri"/>
              </a:rPr>
              <a:t>h</a:t>
            </a:r>
            <a:r>
              <a:rPr sz="3375" b="1" spc="-18" dirty="0">
                <a:latin typeface="Calibri"/>
                <a:cs typeface="Calibri"/>
              </a:rPr>
              <a:t>y</a:t>
            </a:r>
            <a:r>
              <a:rPr sz="3375" b="1" dirty="0">
                <a:latin typeface="Calibri"/>
                <a:cs typeface="Calibri"/>
              </a:rPr>
              <a:t> </a:t>
            </a:r>
            <a:r>
              <a:rPr sz="3375" b="1" spc="-21" dirty="0">
                <a:latin typeface="Calibri"/>
                <a:cs typeface="Calibri"/>
              </a:rPr>
              <a:t>(d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53" dirty="0">
                <a:latin typeface="Calibri"/>
                <a:cs typeface="Calibri"/>
              </a:rPr>
              <a:t>s</a:t>
            </a:r>
            <a:r>
              <a:rPr sz="3375" b="1" spc="-49" dirty="0">
                <a:latin typeface="Calibri"/>
                <a:cs typeface="Calibri"/>
              </a:rPr>
              <a:t>t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n</a:t>
            </a:r>
            <a:r>
              <a:rPr sz="3375" b="1" dirty="0">
                <a:latin typeface="Calibri"/>
                <a:cs typeface="Calibri"/>
              </a:rPr>
              <a:t>ce</a:t>
            </a:r>
            <a:r>
              <a:rPr sz="3375" b="1" spc="-18" dirty="0">
                <a:latin typeface="Calibri"/>
                <a:cs typeface="Calibri"/>
              </a:rPr>
              <a:t>s</a:t>
            </a:r>
            <a:r>
              <a:rPr sz="3375" b="1" spc="-11" dirty="0">
                <a:latin typeface="Calibri"/>
                <a:cs typeface="Calibri"/>
              </a:rPr>
              <a:t>)</a:t>
            </a:r>
            <a:endParaRPr sz="3375" dirty="0">
              <a:latin typeface="Calibri"/>
              <a:cs typeface="Calibri"/>
            </a:endParaRPr>
          </a:p>
          <a:p>
            <a:pPr marL="8929">
              <a:spcBef>
                <a:spcPts val="98"/>
              </a:spcBef>
            </a:pPr>
            <a:r>
              <a:rPr sz="3375" b="1" dirty="0">
                <a:latin typeface="Calibri"/>
                <a:cs typeface="Calibri"/>
              </a:rPr>
              <a:t>+ </a:t>
            </a:r>
            <a:r>
              <a:rPr sz="3375" b="1" spc="-25" dirty="0">
                <a:latin typeface="Calibri"/>
                <a:cs typeface="Calibri"/>
              </a:rPr>
              <a:t>p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77" dirty="0">
                <a:latin typeface="Calibri"/>
                <a:cs typeface="Calibri"/>
              </a:rPr>
              <a:t>r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dirty="0">
                <a:latin typeface="Calibri"/>
                <a:cs typeface="Calibri"/>
              </a:rPr>
              <a:t>m</a:t>
            </a:r>
            <a:r>
              <a:rPr sz="3375" b="1" spc="-25" dirty="0">
                <a:latin typeface="Calibri"/>
                <a:cs typeface="Calibri"/>
              </a:rPr>
              <a:t>e</a:t>
            </a:r>
            <a:r>
              <a:rPr sz="3375" b="1" spc="-56" dirty="0">
                <a:latin typeface="Calibri"/>
                <a:cs typeface="Calibri"/>
              </a:rPr>
              <a:t>t</a:t>
            </a:r>
            <a:r>
              <a:rPr sz="3375" b="1" dirty="0">
                <a:latin typeface="Calibri"/>
                <a:cs typeface="Calibri"/>
              </a:rPr>
              <a:t>er </a:t>
            </a:r>
            <a:r>
              <a:rPr sz="3375" b="1" spc="-28" dirty="0">
                <a:latin typeface="Calibri"/>
                <a:cs typeface="Calibri"/>
              </a:rPr>
              <a:t>w</a:t>
            </a:r>
            <a:r>
              <a:rPr sz="3375" b="1" dirty="0">
                <a:latin typeface="Calibri"/>
                <a:cs typeface="Calibri"/>
              </a:rPr>
              <a:t>e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4" dirty="0">
                <a:latin typeface="Calibri"/>
                <a:cs typeface="Calibri"/>
              </a:rPr>
              <a:t>g</a:t>
            </a:r>
            <a:r>
              <a:rPr sz="3375" b="1" spc="-53" dirty="0">
                <a:latin typeface="Calibri"/>
                <a:cs typeface="Calibri"/>
              </a:rPr>
              <a:t>h</a:t>
            </a:r>
            <a:r>
              <a:rPr sz="3375" b="1" spc="253" dirty="0">
                <a:latin typeface="Calibri"/>
                <a:cs typeface="Calibri"/>
              </a:rPr>
              <a:t>3</a:t>
            </a:r>
            <a:r>
              <a:rPr sz="3375" b="1" spc="-25" dirty="0">
                <a:latin typeface="Calibri"/>
                <a:cs typeface="Calibri"/>
              </a:rPr>
              <a:t>n</a:t>
            </a:r>
            <a:r>
              <a:rPr sz="3375" b="1" dirty="0">
                <a:latin typeface="Calibri"/>
                <a:cs typeface="Calibri"/>
              </a:rPr>
              <a:t>g </a:t>
            </a:r>
            <a:r>
              <a:rPr sz="3375" b="1" spc="-25" dirty="0">
                <a:latin typeface="Calibri"/>
                <a:cs typeface="Calibri"/>
              </a:rPr>
              <a:t>d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53" dirty="0">
                <a:latin typeface="Calibri"/>
                <a:cs typeface="Calibri"/>
              </a:rPr>
              <a:t>s</a:t>
            </a:r>
            <a:r>
              <a:rPr sz="3375" b="1" spc="-49" dirty="0">
                <a:latin typeface="Calibri"/>
                <a:cs typeface="Calibri"/>
              </a:rPr>
              <a:t>t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n</a:t>
            </a:r>
            <a:r>
              <a:rPr sz="3375" b="1" dirty="0">
                <a:latin typeface="Calibri"/>
                <a:cs typeface="Calibri"/>
              </a:rPr>
              <a:t>ce</a:t>
            </a:r>
            <a:endParaRPr sz="3375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8568" y="5993022"/>
            <a:ext cx="9025682" cy="87064"/>
          </a:xfrm>
          <a:custGeom>
            <a:avLst/>
            <a:gdLst/>
            <a:ahLst/>
            <a:cxnLst/>
            <a:rect l="l" t="t" r="r" b="b"/>
            <a:pathLst>
              <a:path w="12836525" h="123825">
                <a:moveTo>
                  <a:pt x="0" y="0"/>
                </a:moveTo>
                <a:lnTo>
                  <a:pt x="12667541" y="0"/>
                </a:lnTo>
                <a:lnTo>
                  <a:pt x="12682269" y="604"/>
                </a:lnTo>
                <a:lnTo>
                  <a:pt x="12724257" y="9297"/>
                </a:lnTo>
                <a:lnTo>
                  <a:pt x="12761950" y="27304"/>
                </a:lnTo>
                <a:lnTo>
                  <a:pt x="12794058" y="53335"/>
                </a:lnTo>
                <a:lnTo>
                  <a:pt x="12819292" y="86103"/>
                </a:lnTo>
                <a:lnTo>
                  <a:pt x="12831659" y="111053"/>
                </a:lnTo>
                <a:lnTo>
                  <a:pt x="12836169" y="123769"/>
                </a:lnTo>
              </a:path>
            </a:pathLst>
          </a:custGeom>
          <a:ln w="101599">
            <a:solidFill>
              <a:srgbClr val="0365C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9" name="object 9"/>
          <p:cNvSpPr/>
          <p:nvPr/>
        </p:nvSpPr>
        <p:spPr>
          <a:xfrm>
            <a:off x="0" y="6154275"/>
            <a:ext cx="9144000" cy="87511"/>
          </a:xfrm>
          <a:custGeom>
            <a:avLst/>
            <a:gdLst/>
            <a:ahLst/>
            <a:cxnLst/>
            <a:rect l="l" t="t" r="r" b="b"/>
            <a:pathLst>
              <a:path w="13004800" h="124459">
                <a:moveTo>
                  <a:pt x="13004799" y="0"/>
                </a:moveTo>
                <a:lnTo>
                  <a:pt x="12985587" y="41788"/>
                </a:lnTo>
                <a:lnTo>
                  <a:pt x="12959555" y="73895"/>
                </a:lnTo>
                <a:lnTo>
                  <a:pt x="12926787" y="99129"/>
                </a:lnTo>
                <a:lnTo>
                  <a:pt x="12888573" y="116200"/>
                </a:lnTo>
                <a:lnTo>
                  <a:pt x="12846201" y="123818"/>
                </a:lnTo>
                <a:lnTo>
                  <a:pt x="12836172" y="124098"/>
                </a:lnTo>
                <a:lnTo>
                  <a:pt x="168630" y="124098"/>
                </a:lnTo>
                <a:lnTo>
                  <a:pt x="125497" y="118796"/>
                </a:lnTo>
                <a:lnTo>
                  <a:pt x="86229" y="103751"/>
                </a:lnTo>
                <a:lnTo>
                  <a:pt x="52117" y="80251"/>
                </a:lnTo>
                <a:lnTo>
                  <a:pt x="24449" y="49585"/>
                </a:lnTo>
                <a:lnTo>
                  <a:pt x="4514" y="13043"/>
                </a:lnTo>
                <a:lnTo>
                  <a:pt x="0" y="313"/>
                </a:lnTo>
              </a:path>
            </a:pathLst>
          </a:custGeom>
          <a:ln w="101600">
            <a:solidFill>
              <a:srgbClr val="0365C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0" name="object 10"/>
          <p:cNvSpPr/>
          <p:nvPr/>
        </p:nvSpPr>
        <p:spPr>
          <a:xfrm>
            <a:off x="0" y="5993021"/>
            <a:ext cx="118765" cy="87511"/>
          </a:xfrm>
          <a:custGeom>
            <a:avLst/>
            <a:gdLst/>
            <a:ahLst/>
            <a:cxnLst/>
            <a:rect l="l" t="t" r="r" b="b"/>
            <a:pathLst>
              <a:path w="168910" h="124459">
                <a:moveTo>
                  <a:pt x="0" y="124116"/>
                </a:moveTo>
                <a:lnTo>
                  <a:pt x="19217" y="82309"/>
                </a:lnTo>
                <a:lnTo>
                  <a:pt x="45249" y="50201"/>
                </a:lnTo>
                <a:lnTo>
                  <a:pt x="78017" y="24968"/>
                </a:lnTo>
                <a:lnTo>
                  <a:pt x="116231" y="7897"/>
                </a:lnTo>
                <a:lnTo>
                  <a:pt x="158603" y="279"/>
                </a:lnTo>
                <a:lnTo>
                  <a:pt x="168630" y="0"/>
                </a:lnTo>
              </a:path>
            </a:pathLst>
          </a:custGeom>
          <a:ln w="101600">
            <a:solidFill>
              <a:srgbClr val="0365C0"/>
            </a:solidFill>
          </a:ln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11" name="object 11"/>
          <p:cNvSpPr txBox="1"/>
          <p:nvPr/>
        </p:nvSpPr>
        <p:spPr>
          <a:xfrm>
            <a:off x="196454" y="321469"/>
            <a:ext cx="8119318" cy="1051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375" b="1" spc="-25" dirty="0">
                <a:latin typeface="Calibri"/>
                <a:cs typeface="Calibri"/>
              </a:rPr>
              <a:t>G</a:t>
            </a:r>
            <a:r>
              <a:rPr sz="3375" b="1" spc="-21" dirty="0">
                <a:latin typeface="Calibri"/>
                <a:cs typeface="Calibri"/>
              </a:rPr>
              <a:t>loba</a:t>
            </a:r>
            <a:r>
              <a:rPr sz="3375" b="1" spc="-11" dirty="0">
                <a:latin typeface="Calibri"/>
                <a:cs typeface="Calibri"/>
              </a:rPr>
              <a:t>l</a:t>
            </a:r>
            <a:r>
              <a:rPr sz="3375" b="1" spc="-4" dirty="0">
                <a:latin typeface="Calibri"/>
                <a:cs typeface="Calibri"/>
              </a:rPr>
              <a:t> </a:t>
            </a:r>
            <a:r>
              <a:rPr sz="3375" b="1" spc="-21" dirty="0">
                <a:latin typeface="Calibri"/>
                <a:cs typeface="Calibri"/>
              </a:rPr>
              <a:t>Solana</a:t>
            </a:r>
            <a:r>
              <a:rPr sz="3375" b="1" spc="-4" dirty="0">
                <a:latin typeface="Calibri"/>
                <a:cs typeface="Calibri"/>
              </a:rPr>
              <a:t>ceae:</a:t>
            </a:r>
            <a:endParaRPr sz="3375" dirty="0">
              <a:latin typeface="Calibri"/>
              <a:cs typeface="Calibri"/>
            </a:endParaRPr>
          </a:p>
          <a:p>
            <a:pPr marL="8929">
              <a:spcBef>
                <a:spcPts val="98"/>
              </a:spcBef>
            </a:pPr>
            <a:r>
              <a:rPr sz="3375" b="1" spc="-25" dirty="0">
                <a:latin typeface="Calibri"/>
                <a:cs typeface="Calibri"/>
              </a:rPr>
              <a:t>d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53" dirty="0">
                <a:latin typeface="Calibri"/>
                <a:cs typeface="Calibri"/>
              </a:rPr>
              <a:t>s</a:t>
            </a:r>
            <a:r>
              <a:rPr sz="3375" b="1" spc="-49" dirty="0">
                <a:latin typeface="Calibri"/>
                <a:cs typeface="Calibri"/>
              </a:rPr>
              <a:t>t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n</a:t>
            </a:r>
            <a:r>
              <a:rPr sz="3375" b="1" dirty="0">
                <a:latin typeface="Calibri"/>
                <a:cs typeface="Calibri"/>
              </a:rPr>
              <a:t>ce</a:t>
            </a:r>
            <a:r>
              <a:rPr sz="3375" b="1" spc="-11" dirty="0">
                <a:latin typeface="Calibri"/>
                <a:cs typeface="Calibri"/>
              </a:rPr>
              <a:t>,</a:t>
            </a:r>
            <a:r>
              <a:rPr sz="3375" b="1" dirty="0">
                <a:latin typeface="Calibri"/>
                <a:cs typeface="Calibri"/>
              </a:rPr>
              <a:t> </a:t>
            </a:r>
            <a:r>
              <a:rPr sz="3375" b="1" spc="-25" dirty="0">
                <a:latin typeface="Calibri"/>
                <a:cs typeface="Calibri"/>
              </a:rPr>
              <a:t>B</a:t>
            </a:r>
            <a:r>
              <a:rPr sz="3375" b="1" spc="-14" dirty="0">
                <a:latin typeface="Calibri"/>
                <a:cs typeface="Calibri"/>
              </a:rPr>
              <a:t>io</a:t>
            </a:r>
            <a:r>
              <a:rPr sz="3375" b="1" spc="-39" dirty="0">
                <a:latin typeface="Calibri"/>
                <a:cs typeface="Calibri"/>
              </a:rPr>
              <a:t>g</a:t>
            </a:r>
            <a:r>
              <a:rPr sz="3375" b="1" dirty="0">
                <a:latin typeface="Calibri"/>
                <a:cs typeface="Calibri"/>
              </a:rPr>
              <a:t>e</a:t>
            </a:r>
            <a:r>
              <a:rPr sz="3375" b="1" spc="-21" dirty="0">
                <a:latin typeface="Calibri"/>
                <a:cs typeface="Calibri"/>
              </a:rPr>
              <a:t>o</a:t>
            </a:r>
            <a:r>
              <a:rPr sz="3375" b="1" spc="-4" dirty="0">
                <a:latin typeface="Calibri"/>
                <a:cs typeface="Calibri"/>
              </a:rPr>
              <a:t>g</a:t>
            </a:r>
            <a:r>
              <a:rPr sz="3375" b="1" spc="-77" dirty="0">
                <a:latin typeface="Calibri"/>
                <a:cs typeface="Calibri"/>
              </a:rPr>
              <a:t>r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ph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21" dirty="0">
                <a:latin typeface="Calibri"/>
                <a:cs typeface="Calibri"/>
              </a:rPr>
              <a:t>c</a:t>
            </a:r>
            <a:r>
              <a:rPr sz="3375" b="1" spc="-14" dirty="0">
                <a:latin typeface="Calibri"/>
                <a:cs typeface="Calibri"/>
              </a:rPr>
              <a:t>al</a:t>
            </a:r>
            <a:r>
              <a:rPr sz="3375" b="1" dirty="0">
                <a:latin typeface="Calibri"/>
                <a:cs typeface="Calibri"/>
              </a:rPr>
              <a:t> </a:t>
            </a:r>
            <a:r>
              <a:rPr sz="3375" b="1" spc="-18" dirty="0">
                <a:latin typeface="Calibri"/>
                <a:cs typeface="Calibri"/>
              </a:rPr>
              <a:t>S</a:t>
            </a:r>
            <a:r>
              <a:rPr sz="3375" b="1" spc="-49" dirty="0">
                <a:latin typeface="Calibri"/>
                <a:cs typeface="Calibri"/>
              </a:rPr>
              <a:t>t</a:t>
            </a:r>
            <a:r>
              <a:rPr sz="3375" b="1" spc="-21" dirty="0">
                <a:latin typeface="Calibri"/>
                <a:cs typeface="Calibri"/>
              </a:rPr>
              <a:t>o</a:t>
            </a:r>
            <a:r>
              <a:rPr sz="3375" b="1" dirty="0">
                <a:latin typeface="Calibri"/>
                <a:cs typeface="Calibri"/>
              </a:rPr>
              <a:t>c</a:t>
            </a:r>
            <a:r>
              <a:rPr sz="3375" b="1" spc="-25" dirty="0">
                <a:latin typeface="Calibri"/>
                <a:cs typeface="Calibri"/>
              </a:rPr>
              <a:t>h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53" dirty="0">
                <a:latin typeface="Calibri"/>
                <a:cs typeface="Calibri"/>
              </a:rPr>
              <a:t>s</a:t>
            </a:r>
            <a:r>
              <a:rPr lang="en-US" sz="3375" b="1" spc="253" dirty="0">
                <a:latin typeface="Calibri"/>
                <a:cs typeface="Calibri"/>
              </a:rPr>
              <a:t>ti</a:t>
            </a:r>
            <a:r>
              <a:rPr sz="3375" b="1" dirty="0">
                <a:latin typeface="Calibri"/>
                <a:cs typeface="Calibri"/>
              </a:rPr>
              <a:t>c </a:t>
            </a:r>
            <a:r>
              <a:rPr sz="3375" b="1" spc="-35" dirty="0">
                <a:latin typeface="Calibri"/>
                <a:cs typeface="Calibri"/>
              </a:rPr>
              <a:t>M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pp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25" dirty="0">
                <a:latin typeface="Calibri"/>
                <a:cs typeface="Calibri"/>
              </a:rPr>
              <a:t>n</a:t>
            </a:r>
            <a:r>
              <a:rPr sz="3375" b="1" dirty="0">
                <a:latin typeface="Calibri"/>
                <a:cs typeface="Calibri"/>
              </a:rPr>
              <a:t>g</a:t>
            </a:r>
            <a:endParaRPr sz="337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454" y="321469"/>
            <a:ext cx="8119318" cy="1051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375" b="1" spc="-25" dirty="0">
                <a:latin typeface="Calibri"/>
                <a:cs typeface="Calibri"/>
              </a:rPr>
              <a:t>G</a:t>
            </a:r>
            <a:r>
              <a:rPr sz="3375" b="1" spc="-21" dirty="0">
                <a:latin typeface="Calibri"/>
                <a:cs typeface="Calibri"/>
              </a:rPr>
              <a:t>loba</a:t>
            </a:r>
            <a:r>
              <a:rPr sz="3375" b="1" spc="-11" dirty="0">
                <a:latin typeface="Calibri"/>
                <a:cs typeface="Calibri"/>
              </a:rPr>
              <a:t>l</a:t>
            </a:r>
            <a:r>
              <a:rPr sz="3375" b="1" spc="-4" dirty="0">
                <a:latin typeface="Calibri"/>
                <a:cs typeface="Calibri"/>
              </a:rPr>
              <a:t> </a:t>
            </a:r>
            <a:r>
              <a:rPr sz="3375" b="1" spc="-21" dirty="0">
                <a:latin typeface="Calibri"/>
                <a:cs typeface="Calibri"/>
              </a:rPr>
              <a:t>Solana</a:t>
            </a:r>
            <a:r>
              <a:rPr sz="3375" b="1" spc="-4" dirty="0">
                <a:latin typeface="Calibri"/>
                <a:cs typeface="Calibri"/>
              </a:rPr>
              <a:t>ceae:</a:t>
            </a:r>
            <a:endParaRPr sz="3375" dirty="0">
              <a:latin typeface="Calibri"/>
              <a:cs typeface="Calibri"/>
            </a:endParaRPr>
          </a:p>
          <a:p>
            <a:pPr marL="8929">
              <a:spcBef>
                <a:spcPts val="98"/>
              </a:spcBef>
            </a:pPr>
            <a:r>
              <a:rPr sz="3375" b="1" spc="-25" dirty="0">
                <a:latin typeface="Calibri"/>
                <a:cs typeface="Calibri"/>
              </a:rPr>
              <a:t>d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53" dirty="0">
                <a:latin typeface="Calibri"/>
                <a:cs typeface="Calibri"/>
              </a:rPr>
              <a:t>s</a:t>
            </a:r>
            <a:r>
              <a:rPr sz="3375" b="1" spc="-49" dirty="0">
                <a:latin typeface="Calibri"/>
                <a:cs typeface="Calibri"/>
              </a:rPr>
              <a:t>t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n</a:t>
            </a:r>
            <a:r>
              <a:rPr sz="3375" b="1" dirty="0">
                <a:latin typeface="Calibri"/>
                <a:cs typeface="Calibri"/>
              </a:rPr>
              <a:t>ce</a:t>
            </a:r>
            <a:r>
              <a:rPr sz="3375" b="1" spc="-11" dirty="0">
                <a:latin typeface="Calibri"/>
                <a:cs typeface="Calibri"/>
              </a:rPr>
              <a:t>,</a:t>
            </a:r>
            <a:r>
              <a:rPr sz="3375" b="1" dirty="0">
                <a:latin typeface="Calibri"/>
                <a:cs typeface="Calibri"/>
              </a:rPr>
              <a:t> </a:t>
            </a:r>
            <a:r>
              <a:rPr sz="3375" b="1" spc="-25" dirty="0">
                <a:latin typeface="Calibri"/>
                <a:cs typeface="Calibri"/>
              </a:rPr>
              <a:t>B</a:t>
            </a:r>
            <a:r>
              <a:rPr sz="3375" b="1" spc="-14" dirty="0">
                <a:latin typeface="Calibri"/>
                <a:cs typeface="Calibri"/>
              </a:rPr>
              <a:t>io</a:t>
            </a:r>
            <a:r>
              <a:rPr sz="3375" b="1" spc="-39" dirty="0">
                <a:latin typeface="Calibri"/>
                <a:cs typeface="Calibri"/>
              </a:rPr>
              <a:t>g</a:t>
            </a:r>
            <a:r>
              <a:rPr sz="3375" b="1" dirty="0">
                <a:latin typeface="Calibri"/>
                <a:cs typeface="Calibri"/>
              </a:rPr>
              <a:t>e</a:t>
            </a:r>
            <a:r>
              <a:rPr sz="3375" b="1" spc="-21" dirty="0">
                <a:latin typeface="Calibri"/>
                <a:cs typeface="Calibri"/>
              </a:rPr>
              <a:t>o</a:t>
            </a:r>
            <a:r>
              <a:rPr sz="3375" b="1" spc="-4" dirty="0">
                <a:latin typeface="Calibri"/>
                <a:cs typeface="Calibri"/>
              </a:rPr>
              <a:t>g</a:t>
            </a:r>
            <a:r>
              <a:rPr sz="3375" b="1" spc="-77" dirty="0">
                <a:latin typeface="Calibri"/>
                <a:cs typeface="Calibri"/>
              </a:rPr>
              <a:t>r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ph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21" dirty="0">
                <a:latin typeface="Calibri"/>
                <a:cs typeface="Calibri"/>
              </a:rPr>
              <a:t>c</a:t>
            </a:r>
            <a:r>
              <a:rPr sz="3375" b="1" spc="-14" dirty="0">
                <a:latin typeface="Calibri"/>
                <a:cs typeface="Calibri"/>
              </a:rPr>
              <a:t>al</a:t>
            </a:r>
            <a:r>
              <a:rPr sz="3375" b="1" dirty="0">
                <a:latin typeface="Calibri"/>
                <a:cs typeface="Calibri"/>
              </a:rPr>
              <a:t> </a:t>
            </a:r>
            <a:r>
              <a:rPr sz="3375" b="1" spc="-18" dirty="0">
                <a:latin typeface="Calibri"/>
                <a:cs typeface="Calibri"/>
              </a:rPr>
              <a:t>S</a:t>
            </a:r>
            <a:r>
              <a:rPr sz="3375" b="1" spc="-49" dirty="0">
                <a:latin typeface="Calibri"/>
                <a:cs typeface="Calibri"/>
              </a:rPr>
              <a:t>t</a:t>
            </a:r>
            <a:r>
              <a:rPr sz="3375" b="1" spc="-21" dirty="0">
                <a:latin typeface="Calibri"/>
                <a:cs typeface="Calibri"/>
              </a:rPr>
              <a:t>o</a:t>
            </a:r>
            <a:r>
              <a:rPr sz="3375" b="1" dirty="0">
                <a:latin typeface="Calibri"/>
                <a:cs typeface="Calibri"/>
              </a:rPr>
              <a:t>c</a:t>
            </a:r>
            <a:r>
              <a:rPr sz="3375" b="1" spc="-25" dirty="0">
                <a:latin typeface="Calibri"/>
                <a:cs typeface="Calibri"/>
              </a:rPr>
              <a:t>h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53" dirty="0">
                <a:latin typeface="Calibri"/>
                <a:cs typeface="Calibri"/>
              </a:rPr>
              <a:t>s</a:t>
            </a:r>
            <a:r>
              <a:rPr lang="en-US" sz="3375" b="1" spc="253" dirty="0">
                <a:latin typeface="Calibri"/>
                <a:cs typeface="Calibri"/>
              </a:rPr>
              <a:t>ti</a:t>
            </a:r>
            <a:r>
              <a:rPr sz="3375" b="1" dirty="0">
                <a:latin typeface="Calibri"/>
                <a:cs typeface="Calibri"/>
              </a:rPr>
              <a:t>c </a:t>
            </a:r>
            <a:r>
              <a:rPr sz="3375" b="1" spc="-35" dirty="0">
                <a:latin typeface="Calibri"/>
                <a:cs typeface="Calibri"/>
              </a:rPr>
              <a:t>M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pp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25" dirty="0">
                <a:latin typeface="Calibri"/>
                <a:cs typeface="Calibri"/>
              </a:rPr>
              <a:t>n</a:t>
            </a:r>
            <a:r>
              <a:rPr sz="3375" b="1" dirty="0">
                <a:latin typeface="Calibri"/>
                <a:cs typeface="Calibri"/>
              </a:rPr>
              <a:t>g</a:t>
            </a:r>
            <a:endParaRPr sz="3375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38391"/>
            <a:ext cx="5374528" cy="27338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454" y="321469"/>
            <a:ext cx="8119318" cy="1051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3375" b="1" spc="-25" dirty="0">
                <a:latin typeface="Calibri"/>
                <a:cs typeface="Calibri"/>
              </a:rPr>
              <a:t>G</a:t>
            </a:r>
            <a:r>
              <a:rPr sz="3375" b="1" spc="-21" dirty="0">
                <a:latin typeface="Calibri"/>
                <a:cs typeface="Calibri"/>
              </a:rPr>
              <a:t>loba</a:t>
            </a:r>
            <a:r>
              <a:rPr sz="3375" b="1" spc="-11" dirty="0">
                <a:latin typeface="Calibri"/>
                <a:cs typeface="Calibri"/>
              </a:rPr>
              <a:t>l</a:t>
            </a:r>
            <a:r>
              <a:rPr sz="3375" b="1" spc="-4" dirty="0">
                <a:latin typeface="Calibri"/>
                <a:cs typeface="Calibri"/>
              </a:rPr>
              <a:t> </a:t>
            </a:r>
            <a:r>
              <a:rPr sz="3375" b="1" spc="-21" dirty="0">
                <a:latin typeface="Calibri"/>
                <a:cs typeface="Calibri"/>
              </a:rPr>
              <a:t>Solana</a:t>
            </a:r>
            <a:r>
              <a:rPr sz="3375" b="1" spc="-4" dirty="0">
                <a:latin typeface="Calibri"/>
                <a:cs typeface="Calibri"/>
              </a:rPr>
              <a:t>ceae:</a:t>
            </a:r>
            <a:endParaRPr sz="3375" dirty="0">
              <a:latin typeface="Calibri"/>
              <a:cs typeface="Calibri"/>
            </a:endParaRPr>
          </a:p>
          <a:p>
            <a:pPr marL="8929">
              <a:spcBef>
                <a:spcPts val="98"/>
              </a:spcBef>
            </a:pPr>
            <a:r>
              <a:rPr sz="3375" b="1" spc="-25" dirty="0">
                <a:latin typeface="Calibri"/>
                <a:cs typeface="Calibri"/>
              </a:rPr>
              <a:t>d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53" dirty="0">
                <a:latin typeface="Calibri"/>
                <a:cs typeface="Calibri"/>
              </a:rPr>
              <a:t>s</a:t>
            </a:r>
            <a:r>
              <a:rPr sz="3375" b="1" spc="-49" dirty="0">
                <a:latin typeface="Calibri"/>
                <a:cs typeface="Calibri"/>
              </a:rPr>
              <a:t>t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n</a:t>
            </a:r>
            <a:r>
              <a:rPr sz="3375" b="1" dirty="0">
                <a:latin typeface="Calibri"/>
                <a:cs typeface="Calibri"/>
              </a:rPr>
              <a:t>ce</a:t>
            </a:r>
            <a:r>
              <a:rPr sz="3375" b="1" spc="-11" dirty="0">
                <a:latin typeface="Calibri"/>
                <a:cs typeface="Calibri"/>
              </a:rPr>
              <a:t>,</a:t>
            </a:r>
            <a:r>
              <a:rPr sz="3375" b="1" dirty="0">
                <a:latin typeface="Calibri"/>
                <a:cs typeface="Calibri"/>
              </a:rPr>
              <a:t> </a:t>
            </a:r>
            <a:r>
              <a:rPr sz="3375" b="1" spc="-25" dirty="0">
                <a:latin typeface="Calibri"/>
                <a:cs typeface="Calibri"/>
              </a:rPr>
              <a:t>B</a:t>
            </a:r>
            <a:r>
              <a:rPr sz="3375" b="1" spc="-14" dirty="0">
                <a:latin typeface="Calibri"/>
                <a:cs typeface="Calibri"/>
              </a:rPr>
              <a:t>io</a:t>
            </a:r>
            <a:r>
              <a:rPr sz="3375" b="1" spc="-39" dirty="0">
                <a:latin typeface="Calibri"/>
                <a:cs typeface="Calibri"/>
              </a:rPr>
              <a:t>g</a:t>
            </a:r>
            <a:r>
              <a:rPr sz="3375" b="1" dirty="0">
                <a:latin typeface="Calibri"/>
                <a:cs typeface="Calibri"/>
              </a:rPr>
              <a:t>e</a:t>
            </a:r>
            <a:r>
              <a:rPr sz="3375" b="1" spc="-21" dirty="0">
                <a:latin typeface="Calibri"/>
                <a:cs typeface="Calibri"/>
              </a:rPr>
              <a:t>o</a:t>
            </a:r>
            <a:r>
              <a:rPr sz="3375" b="1" spc="-4" dirty="0">
                <a:latin typeface="Calibri"/>
                <a:cs typeface="Calibri"/>
              </a:rPr>
              <a:t>g</a:t>
            </a:r>
            <a:r>
              <a:rPr sz="3375" b="1" spc="-77" dirty="0">
                <a:latin typeface="Calibri"/>
                <a:cs typeface="Calibri"/>
              </a:rPr>
              <a:t>r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ph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21" dirty="0">
                <a:latin typeface="Calibri"/>
                <a:cs typeface="Calibri"/>
              </a:rPr>
              <a:t>c</a:t>
            </a:r>
            <a:r>
              <a:rPr sz="3375" b="1" spc="-14" dirty="0">
                <a:latin typeface="Calibri"/>
                <a:cs typeface="Calibri"/>
              </a:rPr>
              <a:t>al</a:t>
            </a:r>
            <a:r>
              <a:rPr sz="3375" b="1" dirty="0">
                <a:latin typeface="Calibri"/>
                <a:cs typeface="Calibri"/>
              </a:rPr>
              <a:t> </a:t>
            </a:r>
            <a:r>
              <a:rPr sz="3375" b="1" spc="-18" dirty="0">
                <a:latin typeface="Calibri"/>
                <a:cs typeface="Calibri"/>
              </a:rPr>
              <a:t>S</a:t>
            </a:r>
            <a:r>
              <a:rPr sz="3375" b="1" spc="-49" dirty="0">
                <a:latin typeface="Calibri"/>
                <a:cs typeface="Calibri"/>
              </a:rPr>
              <a:t>t</a:t>
            </a:r>
            <a:r>
              <a:rPr sz="3375" b="1" spc="-21" dirty="0">
                <a:latin typeface="Calibri"/>
                <a:cs typeface="Calibri"/>
              </a:rPr>
              <a:t>o</a:t>
            </a:r>
            <a:r>
              <a:rPr sz="3375" b="1" dirty="0">
                <a:latin typeface="Calibri"/>
                <a:cs typeface="Calibri"/>
              </a:rPr>
              <a:t>c</a:t>
            </a:r>
            <a:r>
              <a:rPr sz="3375" b="1" spc="-25" dirty="0">
                <a:latin typeface="Calibri"/>
                <a:cs typeface="Calibri"/>
              </a:rPr>
              <a:t>h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53" dirty="0">
                <a:latin typeface="Calibri"/>
                <a:cs typeface="Calibri"/>
              </a:rPr>
              <a:t>s</a:t>
            </a:r>
            <a:r>
              <a:rPr lang="en-US" sz="3375" b="1" spc="253" dirty="0">
                <a:latin typeface="Calibri"/>
                <a:cs typeface="Calibri"/>
              </a:rPr>
              <a:t>ti</a:t>
            </a:r>
            <a:r>
              <a:rPr sz="3375" b="1" dirty="0">
                <a:latin typeface="Calibri"/>
                <a:cs typeface="Calibri"/>
              </a:rPr>
              <a:t>c </a:t>
            </a:r>
            <a:r>
              <a:rPr sz="3375" b="1" spc="-35" dirty="0">
                <a:latin typeface="Calibri"/>
                <a:cs typeface="Calibri"/>
              </a:rPr>
              <a:t>M</a:t>
            </a:r>
            <a:r>
              <a:rPr sz="3375" b="1" spc="-18" dirty="0">
                <a:latin typeface="Calibri"/>
                <a:cs typeface="Calibri"/>
              </a:rPr>
              <a:t>a</a:t>
            </a:r>
            <a:r>
              <a:rPr sz="3375" b="1" spc="-25" dirty="0">
                <a:latin typeface="Calibri"/>
                <a:cs typeface="Calibri"/>
              </a:rPr>
              <a:t>pp</a:t>
            </a:r>
            <a:r>
              <a:rPr sz="3375" b="1" spc="-11" dirty="0">
                <a:latin typeface="Calibri"/>
                <a:cs typeface="Calibri"/>
              </a:rPr>
              <a:t>i</a:t>
            </a:r>
            <a:r>
              <a:rPr sz="3375" b="1" spc="-25" dirty="0">
                <a:latin typeface="Calibri"/>
                <a:cs typeface="Calibri"/>
              </a:rPr>
              <a:t>n</a:t>
            </a:r>
            <a:r>
              <a:rPr sz="3375" b="1" dirty="0">
                <a:latin typeface="Calibri"/>
                <a:cs typeface="Calibri"/>
              </a:rPr>
              <a:t>g</a:t>
            </a:r>
            <a:endParaRPr sz="3375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338391"/>
            <a:ext cx="5374528" cy="27338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4" name="object 4"/>
          <p:cNvSpPr/>
          <p:nvPr/>
        </p:nvSpPr>
        <p:spPr>
          <a:xfrm>
            <a:off x="4059000" y="3456624"/>
            <a:ext cx="4881270" cy="33339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75eb9d1-7479-4f8a-9240-cc5b19dbbc64}" enabled="1" method="Standard" siteId="{d1b36e95-0d50-42e9-958f-b63fa906bea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51319</TotalTime>
  <Words>4396</Words>
  <Application>Microsoft Macintosh PowerPoint</Application>
  <PresentationFormat>On-screen Show (4:3)</PresentationFormat>
  <Paragraphs>749</Paragraphs>
  <Slides>104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12" baseType="lpstr">
      <vt:lpstr>Arial</vt:lpstr>
      <vt:lpstr>Calibri</vt:lpstr>
      <vt:lpstr>Cambria</vt:lpstr>
      <vt:lpstr>Gill Sans</vt:lpstr>
      <vt:lpstr>Helvetica</vt:lpstr>
      <vt:lpstr>Times New Roman</vt:lpstr>
      <vt:lpstr>Wingdings</vt:lpstr>
      <vt:lpstr>Office Theme</vt:lpstr>
      <vt:lpstr>Nicholas J. Matzke Senior Lecturer, Rutherford Discovery Fellow School of Biological Sciences University of Auckland</vt:lpstr>
      <vt:lpstr>Example papers: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Comparison: 3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Trait-dependent dispersal in Podocarpaceae+Araucariaceae (with Kristina Klaus, Univ. of Bochum)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Review: Models, parameters, and data</vt:lpstr>
      <vt:lpstr>Review: Models, parameters, and data</vt:lpstr>
      <vt:lpstr>Likelihood: the key concept</vt:lpstr>
      <vt:lpstr>What is likelihood?</vt:lpstr>
      <vt:lpstr>Key concepts</vt:lpstr>
      <vt:lpstr>Maximum Likelihood Inference</vt:lpstr>
      <vt:lpstr>Maximum Likelihood Inference</vt:lpstr>
      <vt:lpstr>Maximum Likelihood Inference</vt:lpstr>
      <vt:lpstr>Maximum Likelihood Inference</vt:lpstr>
      <vt:lpstr>Maximum Likelihood Inference</vt:lpstr>
      <vt:lpstr>Maximum Likelihood Inference</vt:lpstr>
      <vt:lpstr>Maximum Likelihood Inference</vt:lpstr>
      <vt:lpstr>Maximum Likelihood Inference</vt:lpstr>
      <vt:lpstr>Maximum Likelihood Inference</vt:lpstr>
      <vt:lpstr>Maximum Likelihood Inference</vt:lpstr>
      <vt:lpstr>Maximum Likelihood Inference</vt:lpstr>
      <vt:lpstr>Maximum Likelihood Inference</vt:lpstr>
      <vt:lpstr>Maximum Likelihood Inference</vt:lpstr>
      <vt:lpstr>We can calculate likelihood or lnL for many different possible parameter values</vt:lpstr>
      <vt:lpstr>We can calculate likelihood or lnL for many different possible parameter values</vt:lpstr>
      <vt:lpstr>We can calculate likelihood or lnL for many different possible parameter values</vt:lpstr>
      <vt:lpstr>We can calculate likelihood or lnL for many different possible parameter values</vt:lpstr>
      <vt:lpstr>We can calculate likelihood or lnL for many different possible parameter values</vt:lpstr>
      <vt:lpstr>We can calculate likelihood or lnL for many different possible parameter values</vt:lpstr>
      <vt:lpstr>We can calculate likelihood or lnL for many different possible parameter values</vt:lpstr>
      <vt:lpstr>Likelihood profile curve</vt:lpstr>
      <vt:lpstr>Log-likelihood (lnL)</vt:lpstr>
      <vt:lpstr>The maximum likelihood and log-likelihood (lnL) give the same parameter estimate</vt:lpstr>
      <vt:lpstr>What is our best estimate of the parameter?</vt:lpstr>
      <vt:lpstr>What is our best estimate of the parameter?</vt:lpstr>
      <vt:lpstr>What is our best estimate of the parameter?</vt:lpstr>
      <vt:lpstr>What is our best estimate of the parameter?</vt:lpstr>
      <vt:lpstr>How to find the maximum of the likelihood?</vt:lpstr>
      <vt:lpstr>How to find this maximum?</vt:lpstr>
      <vt:lpstr>The parameter value that Maximizes the Likelihood (ML)</vt:lpstr>
      <vt:lpstr>The parameter value that Maximizes the Likelihood (ML)</vt:lpstr>
      <vt:lpstr>How to find this maximum?</vt:lpstr>
      <vt:lpstr>How to find this maximum?</vt:lpstr>
      <vt:lpstr>How to find this maximum?</vt:lpstr>
      <vt:lpstr>How to find this maximum?</vt:lpstr>
      <vt:lpstr>How to find this maximum?</vt:lpstr>
      <vt:lpstr>How to find this maximum?</vt:lpstr>
      <vt:lpstr>How to find this maximum?</vt:lpstr>
      <vt:lpstr>How to find this maximum?</vt:lpstr>
      <vt:lpstr>How to find this maximum?</vt:lpstr>
      <vt:lpstr>How to find this maximum?</vt:lpstr>
      <vt:lpstr>How to find this maximum?</vt:lpstr>
      <vt:lpstr>How to find this maximum?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Akaike Information Criterion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Akaike Information Criterion</vt:lpstr>
      <vt:lpstr>Akaike Information Criterion</vt:lpstr>
      <vt:lpstr>Akaike Information Criterion</vt:lpstr>
      <vt:lpstr>Akaike Information Criterion</vt:lpstr>
      <vt:lpstr>Akaike Information Criterion</vt:lpstr>
      <vt:lpstr>Akaike Information Criterion</vt:lpstr>
      <vt:lpstr>Akaike Information Criterion</vt:lpstr>
      <vt:lpstr>Akaike Information Criterion</vt:lpstr>
      <vt:lpstr>PowerPoint Presentation</vt:lpstr>
      <vt:lpstr>PowerPoint Presentation</vt:lpstr>
      <vt:lpstr>PowerPoint Presentation</vt:lpstr>
      <vt:lpstr>PowerPoint Presentation</vt:lpstr>
    </vt:vector>
  </TitlesOfParts>
  <Company>ANU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Revolutionising phylogenetic biogeography</dc:title>
  <dc:creator>Nick Matzke</dc:creator>
  <cp:lastModifiedBy>Nicholas Matzke</cp:lastModifiedBy>
  <cp:revision>266</cp:revision>
  <cp:lastPrinted>2023-04-28T01:48:09Z</cp:lastPrinted>
  <dcterms:created xsi:type="dcterms:W3CDTF">2018-09-04T23:49:11Z</dcterms:created>
  <dcterms:modified xsi:type="dcterms:W3CDTF">2026-10-10T01:23:40Z</dcterms:modified>
</cp:coreProperties>
</file>