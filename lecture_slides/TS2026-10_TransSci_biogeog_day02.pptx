
<file path=[Content_Types].xml><?xml version="1.0" encoding="utf-8"?>
<Types xmlns="http://schemas.openxmlformats.org/package/2006/content-types">
  <Default Extension="(null)" ContentType="image/x-emf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0" r:id="rId2"/>
    <p:sldId id="355" r:id="rId3"/>
    <p:sldId id="334" r:id="rId4"/>
    <p:sldId id="330" r:id="rId5"/>
    <p:sldId id="293" r:id="rId6"/>
    <p:sldId id="292" r:id="rId7"/>
    <p:sldId id="294" r:id="rId8"/>
    <p:sldId id="319" r:id="rId9"/>
    <p:sldId id="320" r:id="rId10"/>
    <p:sldId id="321" r:id="rId11"/>
    <p:sldId id="300" r:id="rId12"/>
    <p:sldId id="325" r:id="rId13"/>
    <p:sldId id="306" r:id="rId14"/>
    <p:sldId id="318" r:id="rId15"/>
    <p:sldId id="309" r:id="rId16"/>
    <p:sldId id="311" r:id="rId17"/>
    <p:sldId id="356" r:id="rId18"/>
    <p:sldId id="357" r:id="rId19"/>
    <p:sldId id="358" r:id="rId20"/>
    <p:sldId id="260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715B"/>
    <a:srgbClr val="000B91"/>
    <a:srgbClr val="0000FF"/>
    <a:srgbClr val="00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2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52279-B0B6-1045-B0B6-D29719D6866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5C1D5-3944-394F-9494-7A37F387D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49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2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56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DCCF2-0383-544E-B661-007219BEDD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6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ADCCF2-0383-544E-B661-007219BEDD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36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2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27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72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95C1D5-3944-394F-9494-7A37F387DA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1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1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1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7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0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6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1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3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3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37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31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6ADD9-5AE2-F349-95AD-8C8903065CB9}" type="datetimeFigureOut">
              <a:rPr lang="en-US" smtClean="0"/>
              <a:t>10/10/26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7927D-FC4F-F946-9A4D-5488D4956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06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(null)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matzke/PhyBEARS.jl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f"/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953073" y="3042931"/>
            <a:ext cx="3989365" cy="2064773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Nicholas J. Matzke</a:t>
            </a:r>
            <a:br>
              <a:rPr lang="en-US" sz="2400" dirty="0"/>
            </a:br>
            <a:r>
              <a:rPr lang="en-US" sz="2400" dirty="0"/>
              <a:t>Senior Lecturer,</a:t>
            </a:r>
            <a:br>
              <a:rPr lang="en-US" sz="2400" dirty="0"/>
            </a:br>
            <a:r>
              <a:rPr lang="en-US" sz="2400" dirty="0"/>
              <a:t>Rutherford Discovery Fellow</a:t>
            </a:r>
            <a:br>
              <a:rPr lang="en-US" sz="2400" dirty="0"/>
            </a:br>
            <a:r>
              <a:rPr lang="en-US" sz="2400" dirty="0"/>
              <a:t>School of Biological Sciences</a:t>
            </a:r>
            <a:br>
              <a:rPr lang="en-US" sz="2400" dirty="0"/>
            </a:br>
            <a:r>
              <a:rPr lang="en-US" sz="2400" dirty="0"/>
              <a:t>University of Auckland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2547"/>
            <a:ext cx="9144000" cy="1480301"/>
          </a:xfrm>
          <a:prstGeom prst="rect">
            <a:avLst/>
          </a:prstGeom>
          <a:solidFill>
            <a:srgbClr val="000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Model-based statistical inference in evolutionary biogeography</a:t>
            </a:r>
          </a:p>
          <a:p>
            <a:pPr algn="ctr"/>
            <a:r>
              <a:rPr lang="en-US" sz="2800" i="1" dirty="0"/>
              <a:t>Transmitting Science workshop, Oct. 12, 2026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1687B4-0771-CE4C-8157-ECD111F8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72" y="2253888"/>
            <a:ext cx="4254091" cy="319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9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mbria"/>
              </a:rPr>
              <a:t>Controversy! Are these models any good?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5D8DCF-2DBA-594F-9B61-A53D1C87E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752" y="1115367"/>
            <a:ext cx="6346979" cy="174841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49322E1-4C95-C949-844D-B9743A4DAD9E}"/>
              </a:ext>
            </a:extLst>
          </p:cNvPr>
          <p:cNvSpPr/>
          <p:nvPr/>
        </p:nvSpPr>
        <p:spPr>
          <a:xfrm>
            <a:off x="104536" y="1168096"/>
            <a:ext cx="2361216" cy="164295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 critique of the </a:t>
            </a:r>
            <a:r>
              <a:rPr lang="en-US" b="1" i="1" dirty="0">
                <a:solidFill>
                  <a:schemeClr val="tx1"/>
                </a:solidFill>
              </a:rPr>
              <a:t>BioGeoBEARS</a:t>
            </a:r>
            <a:r>
              <a:rPr lang="en-US" b="1" dirty="0">
                <a:solidFill>
                  <a:schemeClr val="tx1"/>
                </a:solidFill>
              </a:rPr>
              <a:t> model-comparison approach was published…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0575763-5ABB-FC4C-9381-0A2A9E032C40}"/>
              </a:ext>
            </a:extLst>
          </p:cNvPr>
          <p:cNvSpPr/>
          <p:nvPr/>
        </p:nvSpPr>
        <p:spPr>
          <a:xfrm>
            <a:off x="413053" y="3499316"/>
            <a:ext cx="5045318" cy="61836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My 2021 rebuttal in the </a:t>
            </a:r>
            <a:r>
              <a:rPr lang="en-US" b="1" i="1" dirty="0">
                <a:solidFill>
                  <a:schemeClr val="tx1"/>
                </a:solidFill>
              </a:rPr>
              <a:t>Journal of Biogeography</a:t>
            </a:r>
            <a:r>
              <a:rPr lang="en-US" b="1" dirty="0">
                <a:solidFill>
                  <a:schemeClr val="tx1"/>
                </a:solidFill>
              </a:rPr>
              <a:t>:</a:t>
            </a:r>
            <a:endParaRPr lang="en-US" i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89714-37C2-3E42-A643-1D65B8922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44" y="2893924"/>
            <a:ext cx="3008305" cy="39942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E26AA6D-4FF9-5A4F-B318-0C26B090FD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36" y="4147824"/>
            <a:ext cx="5880608" cy="175812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0036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34">
            <a:extLst>
              <a:ext uri="{FF2B5EF4-FFF2-40B4-BE49-F238E27FC236}">
                <a16:creationId xmlns:a16="http://schemas.microsoft.com/office/drawing/2014/main" id="{28700D49-6488-2549-8EC5-B6A3F4A85FAC}"/>
              </a:ext>
            </a:extLst>
          </p:cNvPr>
          <p:cNvSpPr/>
          <p:nvPr/>
        </p:nvSpPr>
        <p:spPr>
          <a:xfrm>
            <a:off x="4233797" y="1659699"/>
            <a:ext cx="4846490" cy="4379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ambria"/>
                <a:cs typeface="Cambria"/>
              </a:rPr>
              <a:t>The real challenge to our models: extinction</a:t>
            </a:r>
            <a:endParaRPr lang="en-US" sz="3200" dirty="0"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9A6072E8-35A6-8F47-9F03-396D6890D278}"/>
              </a:ext>
            </a:extLst>
          </p:cNvPr>
          <p:cNvSpPr/>
          <p:nvPr/>
        </p:nvSpPr>
        <p:spPr>
          <a:xfrm>
            <a:off x="367674" y="1336484"/>
            <a:ext cx="3591280" cy="24589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There are </a:t>
            </a:r>
            <a:r>
              <a:rPr lang="en-US" b="1" u="sng" dirty="0">
                <a:solidFill>
                  <a:schemeClr val="tx1"/>
                </a:solidFill>
              </a:rPr>
              <a:t>3 HUGE problems</a:t>
            </a:r>
            <a:r>
              <a:rPr lang="en-US" b="1" dirty="0">
                <a:solidFill>
                  <a:schemeClr val="tx1"/>
                </a:solidFill>
              </a:rPr>
              <a:t> with routine biogeographic models:</a:t>
            </a:r>
          </a:p>
          <a:p>
            <a:pPr algn="ctr"/>
            <a:endParaRPr lang="en-US" sz="1000" b="1" dirty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Extinction is missing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sz="1200" b="1" dirty="0">
                <a:solidFill>
                  <a:schemeClr val="tx1"/>
                </a:solidFill>
              </a:rPr>
              <a:t>(and diversity-dependence)</a:t>
            </a:r>
            <a:br>
              <a:rPr lang="en-US" sz="1200" b="1" dirty="0">
                <a:solidFill>
                  <a:schemeClr val="tx1"/>
                </a:solidFill>
              </a:rPr>
            </a:br>
            <a:endParaRPr lang="en-US" sz="1200" b="1" dirty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Fossils not used</a:t>
            </a:r>
            <a:br>
              <a:rPr lang="en-US" b="1" dirty="0">
                <a:solidFill>
                  <a:schemeClr val="tx1"/>
                </a:solidFill>
              </a:rPr>
            </a:br>
            <a:endParaRPr lang="en-US" sz="1000" b="1" dirty="0">
              <a:solidFill>
                <a:schemeClr val="tx1"/>
              </a:solidFill>
            </a:endParaRPr>
          </a:p>
          <a:p>
            <a:pPr marL="342900" indent="-342900" algn="ctr"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Palaeogeography not used</a:t>
            </a:r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3E8CFDF-2605-F647-89F6-947C67CD0D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33" b="57857"/>
          <a:stretch/>
        </p:blipFill>
        <p:spPr>
          <a:xfrm>
            <a:off x="513671" y="5441696"/>
            <a:ext cx="3828034" cy="11953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5" name="Rounded Rectangular Callout 114">
            <a:extLst>
              <a:ext uri="{FF2B5EF4-FFF2-40B4-BE49-F238E27FC236}">
                <a16:creationId xmlns:a16="http://schemas.microsoft.com/office/drawing/2014/main" id="{43F9A6DB-675E-3C45-9F8C-820BEDE32B63}"/>
              </a:ext>
            </a:extLst>
          </p:cNvPr>
          <p:cNvSpPr/>
          <p:nvPr/>
        </p:nvSpPr>
        <p:spPr>
          <a:xfrm>
            <a:off x="144019" y="4322292"/>
            <a:ext cx="3903133" cy="914401"/>
          </a:xfrm>
          <a:prstGeom prst="wedgeRoundRectCallout">
            <a:avLst>
              <a:gd name="adj1" fmla="val 41824"/>
              <a:gd name="adj2" fmla="val 74402"/>
              <a:gd name="adj3" fmla="val 16667"/>
            </a:avLst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</a:rPr>
              <a:t>“[M]olecular phylogenetic analyses that yield </a:t>
            </a:r>
            <a:r>
              <a:rPr lang="en-US" sz="1200" b="1" dirty="0">
                <a:solidFill>
                  <a:schemeClr val="tx1"/>
                </a:solidFill>
              </a:rPr>
              <a:t>zero or low extinction</a:t>
            </a:r>
            <a:r>
              <a:rPr lang="mr-IN" sz="1200" b="1" dirty="0">
                <a:solidFill>
                  <a:schemeClr val="tx1"/>
                </a:solidFill>
              </a:rPr>
              <a:t>…</a:t>
            </a:r>
            <a:r>
              <a:rPr lang="en-US" sz="1200" b="1" dirty="0">
                <a:solidFill>
                  <a:schemeClr val="tx1"/>
                </a:solidFill>
              </a:rPr>
              <a:t>are almost certainly wrong</a:t>
            </a:r>
            <a:r>
              <a:rPr lang="en-US" sz="1200" dirty="0">
                <a:solidFill>
                  <a:schemeClr val="tx1"/>
                </a:solidFill>
              </a:rPr>
              <a:t> [</a:t>
            </a:r>
            <a:r>
              <a:rPr lang="mr-IN" sz="1200" dirty="0">
                <a:solidFill>
                  <a:schemeClr val="tx1"/>
                </a:solidFill>
              </a:rPr>
              <a:t>…</a:t>
            </a:r>
            <a:r>
              <a:rPr lang="en-US" sz="1200" dirty="0">
                <a:solidFill>
                  <a:schemeClr val="tx1"/>
                </a:solidFill>
              </a:rPr>
              <a:t>] they fail to take into account the origin of extinct species.”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(Charles Marshall, 2017, </a:t>
            </a:r>
            <a:r>
              <a:rPr lang="en-US" sz="1000" i="1" dirty="0">
                <a:solidFill>
                  <a:schemeClr val="tx1"/>
                </a:solidFill>
              </a:rPr>
              <a:t>Nature Ecology &amp; Evolution</a:t>
            </a:r>
            <a:r>
              <a:rPr lang="en-US" sz="1000" dirty="0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2B873E2-6704-4F48-8A89-BD54456E7641}"/>
              </a:ext>
            </a:extLst>
          </p:cNvPr>
          <p:cNvGrpSpPr/>
          <p:nvPr/>
        </p:nvGrpSpPr>
        <p:grpSpPr>
          <a:xfrm>
            <a:off x="4322566" y="1721238"/>
            <a:ext cx="4598309" cy="4361951"/>
            <a:chOff x="95031" y="2322487"/>
            <a:chExt cx="4598309" cy="4361951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B0E2542-7BC2-114D-9699-C794100F99B0}"/>
                </a:ext>
              </a:extLst>
            </p:cNvPr>
            <p:cNvGrpSpPr/>
            <p:nvPr/>
          </p:nvGrpSpPr>
          <p:grpSpPr>
            <a:xfrm>
              <a:off x="379552" y="2967180"/>
              <a:ext cx="2367280" cy="3717258"/>
              <a:chOff x="2117924" y="2320237"/>
              <a:chExt cx="2367280" cy="3717258"/>
            </a:xfrm>
          </p:grpSpPr>
          <p:pic>
            <p:nvPicPr>
              <p:cNvPr id="123" name="Picture 122">
                <a:extLst>
                  <a:ext uri="{FF2B5EF4-FFF2-40B4-BE49-F238E27FC236}">
                    <a16:creationId xmlns:a16="http://schemas.microsoft.com/office/drawing/2014/main" id="{CE000F06-125D-5141-B59B-2EB73BF41DC6}"/>
                  </a:ext>
                </a:extLst>
              </p:cNvPr>
              <p:cNvPicPr/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2122"/>
              <a:stretch/>
            </p:blipFill>
            <p:spPr>
              <a:xfrm>
                <a:off x="2117924" y="2456261"/>
                <a:ext cx="2367280" cy="3045600"/>
              </a:xfrm>
              <a:prstGeom prst="rect">
                <a:avLst/>
              </a:prstGeom>
            </p:spPr>
          </p:pic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5C0445CC-BD79-8840-A2DB-E80AD569C9FA}"/>
                  </a:ext>
                </a:extLst>
              </p:cNvPr>
              <p:cNvPicPr/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8376" b="-1695"/>
              <a:stretch/>
            </p:blipFill>
            <p:spPr>
              <a:xfrm>
                <a:off x="2117924" y="5439895"/>
                <a:ext cx="2367280" cy="597600"/>
              </a:xfrm>
              <a:prstGeom prst="rect">
                <a:avLst/>
              </a:prstGeom>
            </p:spPr>
          </p:pic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06FAEF5-6E0E-6148-9992-B53BC98676E2}"/>
                  </a:ext>
                </a:extLst>
              </p:cNvPr>
              <p:cNvSpPr/>
              <p:nvPr/>
            </p:nvSpPr>
            <p:spPr>
              <a:xfrm>
                <a:off x="2203908" y="2455704"/>
                <a:ext cx="1648424" cy="43142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1D302DE-8253-F441-911B-2CE8AD299C8A}"/>
                  </a:ext>
                </a:extLst>
              </p:cNvPr>
              <p:cNvSpPr/>
              <p:nvPr/>
            </p:nvSpPr>
            <p:spPr>
              <a:xfrm>
                <a:off x="4170343" y="2320237"/>
                <a:ext cx="291590" cy="318162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F633C72A-C3C6-1A49-B04B-583F771BC4E7}"/>
                </a:ext>
              </a:extLst>
            </p:cNvPr>
            <p:cNvGrpSpPr/>
            <p:nvPr/>
          </p:nvGrpSpPr>
          <p:grpSpPr>
            <a:xfrm>
              <a:off x="95031" y="2322487"/>
              <a:ext cx="4598309" cy="1267240"/>
              <a:chOff x="4774048" y="2104817"/>
              <a:chExt cx="4598309" cy="126724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84C52045-1170-2744-83F5-CAC11010C79E}"/>
                  </a:ext>
                </a:extLst>
              </p:cNvPr>
              <p:cNvGrpSpPr/>
              <p:nvPr/>
            </p:nvGrpSpPr>
            <p:grpSpPr>
              <a:xfrm>
                <a:off x="4774048" y="2178578"/>
                <a:ext cx="3236480" cy="1193479"/>
                <a:chOff x="4774048" y="2178578"/>
                <a:chExt cx="3236480" cy="1193479"/>
              </a:xfrm>
            </p:grpSpPr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CD7BACB5-CAD2-7D44-B346-63D15E9DBFB3}"/>
                    </a:ext>
                  </a:extLst>
                </p:cNvPr>
                <p:cNvSpPr/>
                <p:nvPr/>
              </p:nvSpPr>
              <p:spPr>
                <a:xfrm>
                  <a:off x="4774048" y="3218169"/>
                  <a:ext cx="3236480" cy="15388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400" dirty="0">
                      <a:solidFill>
                        <a:schemeClr val="bg1">
                          <a:lumMod val="65000"/>
                        </a:schemeClr>
                      </a:solidFill>
                    </a:rPr>
                    <a:t>Source: http://www.forbes.com/sites/shaenamontanari/2015/08/18/old-dogs-learned-new-tricks-for-hunting-as-climate-changed/</a:t>
                  </a:r>
                </a:p>
              </p:txBody>
            </p:sp>
            <p:pic>
              <p:nvPicPr>
                <p:cNvPr id="122" name="Picture 121">
                  <a:extLst>
                    <a:ext uri="{FF2B5EF4-FFF2-40B4-BE49-F238E27FC236}">
                      <a16:creationId xmlns:a16="http://schemas.microsoft.com/office/drawing/2014/main" id="{16C9F736-BA79-0A48-A1FC-120F6D9BB8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74048" y="2178578"/>
                  <a:ext cx="2086608" cy="1070905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</p:grp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A5339C9-53AC-3A4D-A34C-EB5B4BFCB9DC}"/>
                  </a:ext>
                </a:extLst>
              </p:cNvPr>
              <p:cNvSpPr/>
              <p:nvPr/>
            </p:nvSpPr>
            <p:spPr>
              <a:xfrm>
                <a:off x="7110988" y="2104817"/>
                <a:ext cx="226136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Example: fossil “dogs”</a:t>
                </a:r>
                <a:br>
                  <a:rPr lang="en-US" dirty="0"/>
                </a:br>
                <a:r>
                  <a:rPr lang="en-US" dirty="0"/>
                  <a:t>(wolves, foxes, etc.)</a:t>
                </a:r>
                <a:br>
                  <a:rPr lang="en-US" dirty="0"/>
                </a:br>
                <a:r>
                  <a:rPr lang="en-US" sz="800" dirty="0"/>
                  <a:t>(Matzke &amp; Wright 2016, </a:t>
                </a:r>
                <a:r>
                  <a:rPr lang="en-US" sz="800" i="1" dirty="0"/>
                  <a:t>Biology Letters</a:t>
                </a:r>
                <a:r>
                  <a:rPr lang="en-US" sz="800" dirty="0"/>
                  <a:t>)</a:t>
                </a:r>
              </a:p>
            </p:txBody>
          </p:sp>
        </p:grp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EF082BD-2E9A-4E46-953B-562EAF5D59A2}"/>
              </a:ext>
            </a:extLst>
          </p:cNvPr>
          <p:cNvGrpSpPr/>
          <p:nvPr/>
        </p:nvGrpSpPr>
        <p:grpSpPr>
          <a:xfrm>
            <a:off x="6706780" y="2769643"/>
            <a:ext cx="2381973" cy="3253724"/>
            <a:chOff x="2479245" y="3370892"/>
            <a:chExt cx="2381973" cy="3253724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6453A216-D24D-424A-9317-4C787BDC5BEF}"/>
                </a:ext>
              </a:extLst>
            </p:cNvPr>
            <p:cNvGrpSpPr/>
            <p:nvPr/>
          </p:nvGrpSpPr>
          <p:grpSpPr>
            <a:xfrm>
              <a:off x="2493938" y="5074398"/>
              <a:ext cx="2367280" cy="1550218"/>
              <a:chOff x="0" y="4372511"/>
              <a:chExt cx="2367280" cy="1550218"/>
            </a:xfrm>
          </p:grpSpPr>
          <p:pic>
            <p:nvPicPr>
              <p:cNvPr id="132" name="Picture 131">
                <a:extLst>
                  <a:ext uri="{FF2B5EF4-FFF2-40B4-BE49-F238E27FC236}">
                    <a16:creationId xmlns:a16="http://schemas.microsoft.com/office/drawing/2014/main" id="{F5F3E60A-3880-094E-A5F4-B20C4F6985F3}"/>
                  </a:ext>
                </a:extLst>
              </p:cNvPr>
              <p:cNvPicPr/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8307" b="-400"/>
              <a:stretch/>
            </p:blipFill>
            <p:spPr>
              <a:xfrm>
                <a:off x="0" y="4482729"/>
                <a:ext cx="2367280" cy="1440000"/>
              </a:xfrm>
              <a:prstGeom prst="rect">
                <a:avLst/>
              </a:prstGeom>
            </p:spPr>
          </p:pic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DACE4C4F-C182-394B-A649-905F60A44093}"/>
                  </a:ext>
                </a:extLst>
              </p:cNvPr>
              <p:cNvSpPr/>
              <p:nvPr/>
            </p:nvSpPr>
            <p:spPr>
              <a:xfrm>
                <a:off x="2056356" y="4372511"/>
                <a:ext cx="302457" cy="9276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FF6C14E-5AE0-4346-9B39-F41011FCA94C}"/>
                  </a:ext>
                </a:extLst>
              </p:cNvPr>
              <p:cNvSpPr/>
              <p:nvPr/>
            </p:nvSpPr>
            <p:spPr>
              <a:xfrm>
                <a:off x="0" y="4482729"/>
                <a:ext cx="1498605" cy="4254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D258DBD6-864A-C14B-A32C-634119B7DF1E}"/>
                </a:ext>
              </a:extLst>
            </p:cNvPr>
            <p:cNvSpPr/>
            <p:nvPr/>
          </p:nvSpPr>
          <p:spPr>
            <a:xfrm>
              <a:off x="2645473" y="4028845"/>
              <a:ext cx="2146656" cy="82578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DNA-only phylogeny misses most species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0" name="Right Arrow 129">
              <a:extLst>
                <a:ext uri="{FF2B5EF4-FFF2-40B4-BE49-F238E27FC236}">
                  <a16:creationId xmlns:a16="http://schemas.microsoft.com/office/drawing/2014/main" id="{201AFCFF-C7CF-E54B-B6C0-47009B75845A}"/>
                </a:ext>
              </a:extLst>
            </p:cNvPr>
            <p:cNvSpPr/>
            <p:nvPr/>
          </p:nvSpPr>
          <p:spPr>
            <a:xfrm rot="5400000">
              <a:off x="3346568" y="5029881"/>
              <a:ext cx="510480" cy="27341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Bent Arrow 130">
              <a:extLst>
                <a:ext uri="{FF2B5EF4-FFF2-40B4-BE49-F238E27FC236}">
                  <a16:creationId xmlns:a16="http://schemas.microsoft.com/office/drawing/2014/main" id="{27E5D973-50C5-4547-9B0C-ED9D3E949A60}"/>
                </a:ext>
              </a:extLst>
            </p:cNvPr>
            <p:cNvSpPr/>
            <p:nvPr/>
          </p:nvSpPr>
          <p:spPr>
            <a:xfrm rot="5400000">
              <a:off x="2788788" y="3061349"/>
              <a:ext cx="613324" cy="1232409"/>
            </a:xfrm>
            <a:prstGeom prst="bentArrow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99" grpId="0" animBg="1"/>
      <p:bldP spid="1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Summary of key issues: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246377" y="970334"/>
            <a:ext cx="8521842" cy="5787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r>
              <a:rPr lang="en-US" sz="2200" dirty="0"/>
              <a:t>Most biogeographical inference methods </a:t>
            </a:r>
            <a:r>
              <a:rPr lang="en-US" sz="2200" i="1" dirty="0"/>
              <a:t>ignore extinction</a:t>
            </a:r>
            <a:r>
              <a:rPr lang="en-US" sz="2200" dirty="0"/>
              <a:t>. This is a big problem</a:t>
            </a:r>
            <a:br>
              <a:rPr lang="en-US" sz="2200" dirty="0"/>
            </a:br>
            <a:endParaRPr lang="en-US" sz="2200" dirty="0"/>
          </a:p>
          <a:p>
            <a:pPr marL="457200" indent="-457200" algn="l">
              <a:buAutoNum type="arabicPeriod"/>
            </a:pPr>
            <a:r>
              <a:rPr lang="en-US" sz="2200" dirty="0"/>
              <a:t>There are models (SSE: State-dependent Speciation/Extinction models) that take into account extinction, but they require large systems of Ordinary Differential Equations (ODEs) which are computationally challenging.</a:t>
            </a:r>
            <a:br>
              <a:rPr lang="en-US" sz="2200" dirty="0"/>
            </a:br>
            <a:endParaRPr lang="en-US" sz="2200" dirty="0"/>
          </a:p>
          <a:p>
            <a:pPr marL="457200" indent="-457200" algn="l">
              <a:buAutoNum type="arabicPeriod"/>
            </a:pPr>
            <a:r>
              <a:rPr lang="en-US" sz="2200" dirty="0"/>
              <a:t>Part of modern evolutionary biology, and evolutionary biogeography, is thus highly computational: designing solvers that will allow realistic inference to occur fast enough for biologists to use routinely for their research studies.</a:t>
            </a:r>
            <a:br>
              <a:rPr lang="en-US" sz="2200" dirty="0"/>
            </a:br>
            <a:endParaRPr lang="en-US" sz="2200" dirty="0"/>
          </a:p>
          <a:p>
            <a:pPr marL="457200" indent="-457200" algn="l">
              <a:buAutoNum type="arabicPeriod"/>
            </a:pPr>
            <a:r>
              <a:rPr lang="en-US" sz="2200" dirty="0"/>
              <a:t>This Marsden Project solved these computational problems with the </a:t>
            </a:r>
            <a:r>
              <a:rPr lang="en-US" sz="2200" i="1" dirty="0"/>
              <a:t>Julia</a:t>
            </a:r>
            <a:r>
              <a:rPr lang="en-US" sz="2200" dirty="0"/>
              <a:t> package, </a:t>
            </a:r>
            <a:r>
              <a:rPr lang="en-US" sz="2200" i="1" dirty="0" err="1"/>
              <a:t>PhyBEARS.jl</a:t>
            </a:r>
            <a:r>
              <a:rPr lang="en-US" sz="2200" dirty="0"/>
              <a:t>, available at: </a:t>
            </a:r>
            <a:r>
              <a:rPr lang="en-US" sz="2200" dirty="0">
                <a:hlinkClick r:id="rId2"/>
              </a:rPr>
              <a:t>https://github.com/nmatzke/PhyBEARS.jl</a:t>
            </a:r>
            <a:r>
              <a:rPr lang="en-US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66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6929" t="90" r="-66929" b="54937"/>
          <a:stretch/>
        </p:blipFill>
        <p:spPr>
          <a:xfrm>
            <a:off x="1038726" y="-939800"/>
            <a:ext cx="22410821" cy="7543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1421" y="3758168"/>
            <a:ext cx="1069668" cy="12464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500" b="1" i="1" dirty="0"/>
              <a:t>Q</a:t>
            </a:r>
            <a:endParaRPr lang="en-US" sz="7500" i="1" dirty="0"/>
          </a:p>
        </p:txBody>
      </p:sp>
    </p:spTree>
    <p:extLst>
      <p:ext uri="{BB962C8B-B14F-4D97-AF65-F5344CB8AC3E}">
        <p14:creationId xmlns:p14="http://schemas.microsoft.com/office/powerpoint/2010/main" val="3045654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2" r="56428" b="74230"/>
          <a:stretch/>
        </p:blipFill>
        <p:spPr>
          <a:xfrm>
            <a:off x="-1018120" y="749300"/>
            <a:ext cx="10162120" cy="450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2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193676"/>
            <a:ext cx="9004300" cy="2532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dirty="0"/>
              <a:t>Problem: </a:t>
            </a:r>
          </a:p>
          <a:p>
            <a:r>
              <a:rPr lang="en-US" sz="7200" dirty="0"/>
              <a:t># of ranges=2</a:t>
            </a:r>
            <a:r>
              <a:rPr lang="en-US" sz="7200" baseline="30000" dirty="0"/>
              <a:t>(# of areas)</a:t>
            </a:r>
          </a:p>
        </p:txBody>
      </p:sp>
      <p:sp>
        <p:nvSpPr>
          <p:cNvPr id="2" name="Rectangle 1"/>
          <p:cNvSpPr/>
          <p:nvPr/>
        </p:nvSpPr>
        <p:spPr>
          <a:xfrm>
            <a:off x="616138" y="2800906"/>
            <a:ext cx="5766122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/>
              <a:t>2 areas = 4 states</a:t>
            </a:r>
          </a:p>
          <a:p>
            <a:r>
              <a:rPr lang="en-US" sz="4800" dirty="0"/>
              <a:t>4 areas = 16 states</a:t>
            </a:r>
          </a:p>
          <a:p>
            <a:r>
              <a:rPr lang="en-US" sz="4800" dirty="0"/>
              <a:t>10 areas = 1024 states</a:t>
            </a:r>
          </a:p>
          <a:p>
            <a:r>
              <a:rPr lang="en-US" sz="4800" dirty="0"/>
              <a:t>11 areas = 2048 states</a:t>
            </a:r>
          </a:p>
        </p:txBody>
      </p:sp>
    </p:spTree>
    <p:extLst>
      <p:ext uri="{BB962C8B-B14F-4D97-AF65-F5344CB8AC3E}">
        <p14:creationId xmlns:p14="http://schemas.microsoft.com/office/powerpoint/2010/main" val="2685118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4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27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6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70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6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7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6845" y="1329852"/>
            <a:ext cx="5662829" cy="54721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085596"/>
            <a:ext cx="9144000" cy="265139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/>
                <a:cs typeface="Cambria"/>
              </a:rPr>
              <a:t>                                                                  </a:t>
            </a:r>
            <a:r>
              <a:rPr lang="en-US" sz="1600" dirty="0">
                <a:latin typeface="Cambria"/>
                <a:cs typeface="Cambria"/>
              </a:rPr>
              <a:t>Nicholas J. Matzke, Senior Lecturer, SBS, U. Auckland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57794"/>
          </a:xfrm>
          <a:prstGeom prst="rect">
            <a:avLst/>
          </a:prstGeom>
          <a:solidFill>
            <a:srgbClr val="000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Faster likelihood calculations for State-dependent Speciation-Extinction (SSE) models using Julia</a:t>
            </a:r>
          </a:p>
        </p:txBody>
      </p:sp>
      <p:sp>
        <p:nvSpPr>
          <p:cNvPr id="31" name="Title 6"/>
          <p:cNvSpPr txBox="1">
            <a:spLocks/>
          </p:cNvSpPr>
          <p:nvPr/>
        </p:nvSpPr>
        <p:spPr>
          <a:xfrm>
            <a:off x="407387" y="1879389"/>
            <a:ext cx="8576398" cy="3670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en-US" sz="3200" dirty="0"/>
              <a:t>Some evolutionary models naturally have large state spaces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E.g., biogeography</a:t>
            </a:r>
            <a:r>
              <a:rPr lang="mr-IN" sz="3200" dirty="0"/>
              <a:t>…</a:t>
            </a:r>
            <a:br>
              <a:rPr lang="en-AU" sz="3200" dirty="0"/>
            </a:br>
            <a:endParaRPr lang="en-AU" sz="3200" dirty="0"/>
          </a:p>
          <a:p>
            <a:pPr marL="514350" indent="-514350" algn="l">
              <a:buFont typeface="+mj-lt"/>
              <a:buAutoNum type="arabicPeriod"/>
            </a:pPr>
            <a:r>
              <a:rPr lang="en-AU" sz="3200" dirty="0"/>
              <a:t>It gets worse when you add traits:</a:t>
            </a:r>
            <a:br>
              <a:rPr lang="en-AU" sz="3200" dirty="0"/>
            </a:br>
            <a:r>
              <a:rPr lang="mr-IN" sz="3200" dirty="0"/>
              <a:t>…</a:t>
            </a:r>
            <a:r>
              <a:rPr lang="en-AU" sz="3200" dirty="0"/>
              <a:t>every binary trait doubles the state space</a:t>
            </a:r>
          </a:p>
          <a:p>
            <a:pPr marL="514350" indent="-514350" algn="l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73002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6845" y="1329852"/>
            <a:ext cx="5662829" cy="54721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085596"/>
            <a:ext cx="9144000" cy="265139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/>
                <a:cs typeface="Cambria"/>
              </a:rPr>
              <a:t>                                                                  </a:t>
            </a:r>
            <a:r>
              <a:rPr lang="en-US" sz="1600" dirty="0">
                <a:latin typeface="Cambria"/>
                <a:cs typeface="Cambria"/>
              </a:rPr>
              <a:t>Nicholas J. Matzke, Senior Lecturer, SBS, U. Auckland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57794"/>
          </a:xfrm>
          <a:prstGeom prst="rect">
            <a:avLst/>
          </a:prstGeom>
          <a:solidFill>
            <a:srgbClr val="000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Faster likelihood calculations for State-dependent Speciation-Extinction (SSE) models using Julia</a:t>
            </a:r>
          </a:p>
        </p:txBody>
      </p:sp>
      <p:sp>
        <p:nvSpPr>
          <p:cNvPr id="31" name="Title 6"/>
          <p:cNvSpPr txBox="1">
            <a:spLocks/>
          </p:cNvSpPr>
          <p:nvPr/>
        </p:nvSpPr>
        <p:spPr>
          <a:xfrm>
            <a:off x="407387" y="1879389"/>
            <a:ext cx="8576398" cy="3670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en-US" sz="3200" dirty="0"/>
              <a:t>Some evolutionary models naturally have large state spaces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E.g., biogeography</a:t>
            </a:r>
            <a:r>
              <a:rPr lang="mr-IN" sz="3200" dirty="0"/>
              <a:t>…</a:t>
            </a:r>
            <a:br>
              <a:rPr lang="en-AU" sz="3200" dirty="0"/>
            </a:br>
            <a:endParaRPr lang="en-AU" sz="3200" dirty="0"/>
          </a:p>
          <a:p>
            <a:pPr marL="514350" indent="-514350" algn="l">
              <a:buFont typeface="+mj-lt"/>
              <a:buAutoNum type="arabicPeriod"/>
            </a:pPr>
            <a:r>
              <a:rPr lang="en-AU" sz="3200" dirty="0"/>
              <a:t>It gets worse when you add traits:</a:t>
            </a:r>
            <a:br>
              <a:rPr lang="en-AU" sz="3200" dirty="0"/>
            </a:br>
            <a:r>
              <a:rPr lang="mr-IN" sz="3200" dirty="0"/>
              <a:t>…</a:t>
            </a:r>
            <a:r>
              <a:rPr lang="en-AU" sz="3200" dirty="0"/>
              <a:t>every binary trait doubles the state space</a:t>
            </a:r>
          </a:p>
          <a:p>
            <a:pPr marL="514350" indent="-514350" algn="l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9566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6845" y="1329852"/>
            <a:ext cx="5662829" cy="54721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085596"/>
            <a:ext cx="9144000" cy="265139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ambria"/>
                <a:cs typeface="Cambria"/>
              </a:rPr>
              <a:t>                                                                  </a:t>
            </a:r>
            <a:r>
              <a:rPr lang="en-US" sz="1600" dirty="0">
                <a:latin typeface="Cambria"/>
                <a:cs typeface="Cambria"/>
              </a:rPr>
              <a:t>Nicholas J. Matzke, Senior Lecturer, SBS, U. Auckland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157794"/>
          </a:xfrm>
          <a:prstGeom prst="rect">
            <a:avLst/>
          </a:prstGeom>
          <a:solidFill>
            <a:srgbClr val="000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Faster likelihood calculations for State-dependent Speciation-Extinction (SSE) models using Julia</a:t>
            </a:r>
          </a:p>
        </p:txBody>
      </p:sp>
      <p:sp>
        <p:nvSpPr>
          <p:cNvPr id="31" name="Title 6"/>
          <p:cNvSpPr txBox="1">
            <a:spLocks/>
          </p:cNvSpPr>
          <p:nvPr/>
        </p:nvSpPr>
        <p:spPr>
          <a:xfrm>
            <a:off x="407387" y="1879389"/>
            <a:ext cx="8576398" cy="3670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Font typeface="+mj-lt"/>
              <a:buAutoNum type="arabicPeriod"/>
            </a:pPr>
            <a:r>
              <a:rPr lang="en-US" sz="3200" dirty="0"/>
              <a:t>Some evolutionary models naturally have large state spaces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E.g., biogeography</a:t>
            </a:r>
            <a:r>
              <a:rPr lang="mr-IN" sz="3200" dirty="0"/>
              <a:t>…</a:t>
            </a:r>
            <a:br>
              <a:rPr lang="en-AU" sz="3200" dirty="0"/>
            </a:br>
            <a:endParaRPr lang="en-AU" sz="3200" dirty="0"/>
          </a:p>
          <a:p>
            <a:pPr marL="514350" indent="-514350" algn="l">
              <a:buFont typeface="+mj-lt"/>
              <a:buAutoNum type="arabicPeriod"/>
            </a:pPr>
            <a:r>
              <a:rPr lang="en-AU" sz="3200" dirty="0"/>
              <a:t>It gets worse when you add traits</a:t>
            </a:r>
            <a:br>
              <a:rPr lang="en-AU" sz="3200" dirty="0"/>
            </a:br>
            <a:endParaRPr lang="en-AU" sz="3200" dirty="0"/>
          </a:p>
          <a:p>
            <a:pPr marL="514350" indent="-514350" algn="l">
              <a:buFont typeface="+mj-lt"/>
              <a:buAutoNum type="arabicPeriod"/>
            </a:pPr>
            <a:r>
              <a:rPr lang="en-AU" sz="3200" dirty="0"/>
              <a:t>Even these slow models ignore extinction (!!)</a:t>
            </a:r>
          </a:p>
          <a:p>
            <a:pPr marL="514350" indent="-514350" algn="l">
              <a:buFont typeface="+mj-lt"/>
              <a:buAutoNum type="arabicPeriod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77041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mbria"/>
                <a:cs typeface="Cambria"/>
              </a:rPr>
              <a:t>State-dependent speciation-extinction (SSE) models </a:t>
            </a:r>
            <a:br>
              <a:rPr lang="en-US" sz="2800" dirty="0">
                <a:latin typeface="Cambria"/>
                <a:cs typeface="Cambria"/>
              </a:rPr>
            </a:br>
            <a:r>
              <a:rPr lang="en-US" sz="2800" dirty="0">
                <a:latin typeface="Cambria"/>
                <a:cs typeface="Cambria"/>
              </a:rPr>
              <a:t>include extinction</a:t>
            </a:r>
            <a:r>
              <a:rPr lang="mr-IN" sz="2800" dirty="0">
                <a:latin typeface="Cambria"/>
                <a:cs typeface="Cambria"/>
              </a:rPr>
              <a:t>…</a:t>
            </a:r>
            <a:endParaRPr lang="en-US" sz="2800" dirty="0"/>
          </a:p>
        </p:txBody>
      </p:sp>
      <p:grpSp>
        <p:nvGrpSpPr>
          <p:cNvPr id="27" name="Group 26"/>
          <p:cNvGrpSpPr/>
          <p:nvPr/>
        </p:nvGrpSpPr>
        <p:grpSpPr>
          <a:xfrm>
            <a:off x="270482" y="1112523"/>
            <a:ext cx="6514393" cy="4707811"/>
            <a:chOff x="564454" y="5028021"/>
            <a:chExt cx="2880697" cy="177441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97181590-49AD-9047-B650-2C43E9FBB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5233" y="5722195"/>
              <a:ext cx="1918261" cy="56623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10F77189-D259-D944-94F2-C09F9AE65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448" y="6288431"/>
              <a:ext cx="1881966" cy="514003"/>
            </a:xfrm>
            <a:prstGeom prst="rect">
              <a:avLst/>
            </a:prstGeom>
          </p:spPr>
        </p:pic>
        <p:sp>
          <p:nvSpPr>
            <p:cNvPr id="30" name="Title 6">
              <a:extLst>
                <a:ext uri="{FF2B5EF4-FFF2-40B4-BE49-F238E27FC236}">
                  <a16:creationId xmlns:a16="http://schemas.microsoft.com/office/drawing/2014/main" id="{AB4D7B9D-FD90-E448-A911-C53E4851F205}"/>
                </a:ext>
              </a:extLst>
            </p:cNvPr>
            <p:cNvSpPr txBox="1">
              <a:spLocks/>
            </p:cNvSpPr>
            <p:nvPr/>
          </p:nvSpPr>
          <p:spPr>
            <a:xfrm>
              <a:off x="564454" y="5028021"/>
              <a:ext cx="2880697" cy="91257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/>
                <a:t>We have to integrate 2</a:t>
              </a:r>
              <a:r>
                <a:rPr lang="en-US" sz="2400" i="1" dirty="0"/>
                <a:t>N</a:t>
              </a:r>
              <a:r>
                <a:rPr lang="en-US" sz="2400" dirty="0"/>
                <a:t> differential equations for </a:t>
              </a:r>
              <a:r>
                <a:rPr lang="en-US" sz="2400" i="1" dirty="0"/>
                <a:t>N</a:t>
              </a:r>
              <a:r>
                <a:rPr lang="en-US" sz="2400" dirty="0"/>
                <a:t> biogeographic states: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784875" y="2675998"/>
            <a:ext cx="2111563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And,</a:t>
            </a:r>
          </a:p>
          <a:p>
            <a:endParaRPr lang="en-US" dirty="0"/>
          </a:p>
          <a:p>
            <a:r>
              <a:rPr lang="en-US" dirty="0"/>
              <a:t>ClaSSE models have: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N</a:t>
            </a:r>
            <a:r>
              <a:rPr lang="en-US" dirty="0"/>
              <a:t> extinction rates</a:t>
            </a:r>
          </a:p>
          <a:p>
            <a:endParaRPr lang="en-US" dirty="0"/>
          </a:p>
          <a:p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-</a:t>
            </a:r>
            <a:r>
              <a:rPr lang="en-US" i="1" dirty="0"/>
              <a:t>N</a:t>
            </a:r>
            <a:r>
              <a:rPr lang="en-US" dirty="0"/>
              <a:t> anagenetic</a:t>
            </a:r>
            <a:br>
              <a:rPr lang="en-US" dirty="0"/>
            </a:br>
            <a:r>
              <a:rPr lang="en-US" dirty="0"/>
              <a:t>transition rates</a:t>
            </a:r>
          </a:p>
          <a:p>
            <a:endParaRPr lang="en-US" dirty="0"/>
          </a:p>
          <a:p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 cladogenetic </a:t>
            </a:r>
            <a:br>
              <a:rPr lang="en-US" dirty="0"/>
            </a:br>
            <a:r>
              <a:rPr lang="en-US" dirty="0"/>
              <a:t>transition rates</a:t>
            </a:r>
          </a:p>
        </p:txBody>
      </p:sp>
    </p:spTree>
    <p:extLst>
      <p:ext uri="{BB962C8B-B14F-4D97-AF65-F5344CB8AC3E}">
        <p14:creationId xmlns:p14="http://schemas.microsoft.com/office/powerpoint/2010/main" val="2434448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mbria"/>
                <a:cs typeface="Cambria"/>
              </a:rPr>
              <a:t>State-dependent speciation-extinction models are </a:t>
            </a:r>
            <a:r>
              <a:rPr lang="en-US" sz="2800" dirty="0" err="1">
                <a:latin typeface="Cambria"/>
                <a:cs typeface="Cambria"/>
              </a:rPr>
              <a:t>slooooow</a:t>
            </a:r>
            <a:endParaRPr lang="en-US" sz="2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13375DF-43C2-B343-BF14-353ADDF146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306" y="1119710"/>
            <a:ext cx="6609915" cy="5464911"/>
          </a:xfrm>
          <a:prstGeom prst="rect">
            <a:avLst/>
          </a:prstGeom>
          <a:solidFill>
            <a:schemeClr val="bg1"/>
          </a:solidFill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2" name="Rectangle 1"/>
          <p:cNvSpPr/>
          <p:nvPr/>
        </p:nvSpPr>
        <p:spPr>
          <a:xfrm>
            <a:off x="88371" y="2192049"/>
            <a:ext cx="2293935" cy="17543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My first attempt </a:t>
            </a:r>
            <a:r>
              <a:rPr lang="mr-IN" dirty="0"/>
              <a:t>–</a:t>
            </a:r>
            <a:r>
              <a:rPr lang="en-US" dirty="0"/>
              <a:t> in R, but making full use of sparsity etc. to reduce ClaSSE calculations, and using</a:t>
            </a:r>
          </a:p>
          <a:p>
            <a:r>
              <a:rPr lang="en-US" dirty="0"/>
              <a:t>R’s </a:t>
            </a:r>
            <a:r>
              <a:rPr lang="en-US" i="1" dirty="0" err="1"/>
              <a:t>deSolve</a:t>
            </a:r>
            <a:r>
              <a:rPr lang="en-US" dirty="0"/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30046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mbria"/>
                <a:cs typeface="Cambria"/>
              </a:rPr>
              <a:t>Julia to the rescue?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693133" y="1321192"/>
            <a:ext cx="8124295" cy="5016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dirty="0"/>
              <a:t>Julia 1.0 released in early 2019, after many years &lt;1.0</a:t>
            </a:r>
          </a:p>
          <a:p>
            <a:endParaRPr lang="en-AU" sz="3200" dirty="0"/>
          </a:p>
          <a:p>
            <a:r>
              <a:rPr lang="en-AU" sz="3200" dirty="0"/>
              <a:t>Core developers at MIT</a:t>
            </a:r>
          </a:p>
          <a:p>
            <a:endParaRPr lang="en-AU" sz="3200" dirty="0"/>
          </a:p>
          <a:p>
            <a:r>
              <a:rPr lang="en-AU" sz="3200" dirty="0"/>
              <a:t>Aims to have R/Python-like usage</a:t>
            </a:r>
          </a:p>
          <a:p>
            <a:endParaRPr lang="en-AU" sz="3200" dirty="0"/>
          </a:p>
          <a:p>
            <a:r>
              <a:rPr lang="en-AU" sz="3200" dirty="0"/>
              <a:t>But compiles to C-like speeds</a:t>
            </a:r>
          </a:p>
          <a:p>
            <a:endParaRPr lang="en-AU" sz="3200" dirty="0"/>
          </a:p>
          <a:p>
            <a:r>
              <a:rPr lang="en-AU" sz="3200" dirty="0"/>
              <a:t>KEY advantage: </a:t>
            </a:r>
            <a:r>
              <a:rPr lang="en-AU" sz="3200" dirty="0" err="1"/>
              <a:t>DifferentialEquations.jl</a:t>
            </a:r>
            <a:r>
              <a:rPr lang="en-AU" sz="3200" dirty="0"/>
              <a:t> library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68A55-7BDE-7148-8A7A-BD0537DB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041" y="1987114"/>
            <a:ext cx="2516387" cy="16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3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12;p27">
            <a:extLst>
              <a:ext uri="{FF2B5EF4-FFF2-40B4-BE49-F238E27FC236}">
                <a16:creationId xmlns:a16="http://schemas.microsoft.com/office/drawing/2014/main" id="{A7FD37A9-5F37-A74D-9C00-4E60E6F891B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97400" y="1326776"/>
            <a:ext cx="9738800" cy="55312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Additional progress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246377" y="970334"/>
            <a:ext cx="8521842" cy="57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Ph.D. student Wallis Bland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Integrating</a:t>
            </a:r>
          </a:p>
          <a:p>
            <a:pPr algn="l"/>
            <a:r>
              <a:rPr lang="en-US" sz="2000" i="1" dirty="0" err="1"/>
              <a:t>Gplates</a:t>
            </a:r>
            <a:r>
              <a:rPr lang="en-US" sz="2000" dirty="0"/>
              <a:t> and</a:t>
            </a:r>
          </a:p>
          <a:p>
            <a:pPr algn="l"/>
            <a:r>
              <a:rPr lang="en-US" sz="2000" i="1" dirty="0"/>
              <a:t>PhyBEARS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Simulation-</a:t>
            </a:r>
          </a:p>
          <a:p>
            <a:pPr algn="l"/>
            <a:r>
              <a:rPr lang="en-US" sz="2000" dirty="0"/>
              <a:t>Inference </a:t>
            </a:r>
            <a:br>
              <a:rPr lang="en-US" sz="2000" dirty="0"/>
            </a:br>
            <a:r>
              <a:rPr lang="en-US" sz="2000" dirty="0"/>
              <a:t>tests</a:t>
            </a:r>
          </a:p>
          <a:p>
            <a:pPr algn="l"/>
            <a:r>
              <a:rPr lang="en-US" sz="2000" dirty="0"/>
              <a:t>of </a:t>
            </a:r>
            <a:r>
              <a:rPr lang="en-US" sz="2000" i="1" dirty="0"/>
              <a:t>PhyBEARS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C633B-7B90-8042-A5F2-F271FD1DDF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33" t="2769" r="22773" b="31221"/>
          <a:stretch/>
        </p:blipFill>
        <p:spPr>
          <a:xfrm>
            <a:off x="349357" y="4704310"/>
            <a:ext cx="1080000" cy="162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A2B35C-444B-0948-8489-AD824A8F020E}"/>
              </a:ext>
            </a:extLst>
          </p:cNvPr>
          <p:cNvSpPr/>
          <p:nvPr/>
        </p:nvSpPr>
        <p:spPr>
          <a:xfrm>
            <a:off x="226355" y="6253898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Wallis Bland</a:t>
            </a:r>
          </a:p>
        </p:txBody>
      </p:sp>
    </p:spTree>
    <p:extLst>
      <p:ext uri="{BB962C8B-B14F-4D97-AF65-F5344CB8AC3E}">
        <p14:creationId xmlns:p14="http://schemas.microsoft.com/office/powerpoint/2010/main" val="1688876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Additional progress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246377" y="970334"/>
            <a:ext cx="8521842" cy="57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Ph.D. student Wallis Bland</a:t>
            </a:r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Integrating</a:t>
            </a:r>
          </a:p>
          <a:p>
            <a:pPr algn="l"/>
            <a:r>
              <a:rPr lang="en-US" sz="2000" i="1" dirty="0" err="1"/>
              <a:t>Gplates</a:t>
            </a:r>
            <a:r>
              <a:rPr lang="en-US" sz="2000" dirty="0"/>
              <a:t> and</a:t>
            </a:r>
          </a:p>
          <a:p>
            <a:pPr algn="l"/>
            <a:r>
              <a:rPr lang="en-US" sz="2000" i="1" dirty="0"/>
              <a:t>PhyBEARS</a:t>
            </a:r>
            <a:endParaRPr lang="en-US" sz="2000" dirty="0"/>
          </a:p>
          <a:p>
            <a:pPr algn="l"/>
            <a:endParaRPr lang="en-US" sz="2000" dirty="0"/>
          </a:p>
          <a:p>
            <a:pPr algn="l"/>
            <a:r>
              <a:rPr lang="en-US" sz="2000" dirty="0"/>
              <a:t>Simulation-</a:t>
            </a:r>
          </a:p>
          <a:p>
            <a:pPr algn="l"/>
            <a:r>
              <a:rPr lang="en-US" sz="2000" dirty="0"/>
              <a:t>Inference </a:t>
            </a:r>
            <a:br>
              <a:rPr lang="en-US" sz="2000" dirty="0"/>
            </a:br>
            <a:r>
              <a:rPr lang="en-US" sz="2000" dirty="0"/>
              <a:t>tests</a:t>
            </a:r>
          </a:p>
          <a:p>
            <a:pPr algn="l"/>
            <a:r>
              <a:rPr lang="en-US" sz="2000" dirty="0"/>
              <a:t>of </a:t>
            </a:r>
            <a:r>
              <a:rPr lang="en-US" sz="2000" i="1" dirty="0"/>
              <a:t>PhyBEARS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9FFBDE-5B87-184F-AEDD-941DC9CA7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700" y="1905198"/>
            <a:ext cx="6513519" cy="3701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71E1C0-7D2F-ED4B-AE54-A87E645DAF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33" t="2769" r="22773" b="31221"/>
          <a:stretch/>
        </p:blipFill>
        <p:spPr>
          <a:xfrm>
            <a:off x="349357" y="4704310"/>
            <a:ext cx="1080000" cy="162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A485FB-7AE6-EA4D-B74F-E5DD05D70374}"/>
              </a:ext>
            </a:extLst>
          </p:cNvPr>
          <p:cNvSpPr/>
          <p:nvPr/>
        </p:nvSpPr>
        <p:spPr>
          <a:xfrm>
            <a:off x="226355" y="6253898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Wallis Bland</a:t>
            </a:r>
          </a:p>
        </p:txBody>
      </p:sp>
    </p:spTree>
    <p:extLst>
      <p:ext uri="{BB962C8B-B14F-4D97-AF65-F5344CB8AC3E}">
        <p14:creationId xmlns:p14="http://schemas.microsoft.com/office/powerpoint/2010/main" val="2781023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Additional progress: Inference under changing geog.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246377" y="970334"/>
            <a:ext cx="8521842" cy="57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Using Julia’s amazing capabilities for including interpolators in ODEs: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62BCF7-E86C-754D-A24A-A690CE64400C}"/>
              </a:ext>
            </a:extLst>
          </p:cNvPr>
          <p:cNvSpPr/>
          <p:nvPr/>
        </p:nvSpPr>
        <p:spPr>
          <a:xfrm>
            <a:off x="851276" y="1458745"/>
            <a:ext cx="13113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i="1" dirty="0"/>
              <a:t>GPlates-</a:t>
            </a:r>
            <a:r>
              <a:rPr lang="en-US" sz="1400" dirty="0"/>
              <a:t>&gt;</a:t>
            </a:r>
          </a:p>
          <a:p>
            <a:pPr algn="ctr"/>
            <a:r>
              <a:rPr lang="en-US" sz="1400" dirty="0"/>
              <a:t>Paleodistances</a:t>
            </a:r>
          </a:p>
        </p:txBody>
      </p:sp>
      <p:pic>
        <p:nvPicPr>
          <p:cNvPr id="10" name="Google Shape;212;p27">
            <a:extLst>
              <a:ext uri="{FF2B5EF4-FFF2-40B4-BE49-F238E27FC236}">
                <a16:creationId xmlns:a16="http://schemas.microsoft.com/office/drawing/2014/main" id="{3A3D3456-C5DE-314B-8DB2-3B51DCE407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12468" y="4984258"/>
            <a:ext cx="3145135" cy="17735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40C6A3C-A895-AA47-95A7-4634A96A2858}"/>
              </a:ext>
            </a:extLst>
          </p:cNvPr>
          <p:cNvSpPr/>
          <p:nvPr/>
        </p:nvSpPr>
        <p:spPr>
          <a:xfrm>
            <a:off x="404443" y="1517052"/>
            <a:ext cx="131131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Time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E5CB324D-8C7F-C549-9A4A-416BC0D352F6}"/>
              </a:ext>
            </a:extLst>
          </p:cNvPr>
          <p:cNvSpPr/>
          <p:nvPr/>
        </p:nvSpPr>
        <p:spPr>
          <a:xfrm>
            <a:off x="1268924" y="1981965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E314F8-C2DA-634B-A157-10DE02481132}"/>
              </a:ext>
            </a:extLst>
          </p:cNvPr>
          <p:cNvSpPr/>
          <p:nvPr/>
        </p:nvSpPr>
        <p:spPr>
          <a:xfrm>
            <a:off x="1838331" y="1471233"/>
            <a:ext cx="13113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Dispersal</a:t>
            </a:r>
            <a:br>
              <a:rPr lang="en-US" sz="1400" dirty="0"/>
            </a:br>
            <a:r>
              <a:rPr lang="en-US" sz="1400" dirty="0"/>
              <a:t>rates</a:t>
            </a:r>
          </a:p>
        </p:txBody>
      </p:sp>
      <p:sp>
        <p:nvSpPr>
          <p:cNvPr id="14" name="Down Arrow 13">
            <a:extLst>
              <a:ext uri="{FF2B5EF4-FFF2-40B4-BE49-F238E27FC236}">
                <a16:creationId xmlns:a16="http://schemas.microsoft.com/office/drawing/2014/main" id="{AB61E9EA-CAB5-BE40-95F8-B6ECD81555C9}"/>
              </a:ext>
            </a:extLst>
          </p:cNvPr>
          <p:cNvSpPr/>
          <p:nvPr/>
        </p:nvSpPr>
        <p:spPr>
          <a:xfrm>
            <a:off x="2255979" y="1994453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8E96F5-E7A2-D242-9412-C4B2E720A3D4}"/>
              </a:ext>
            </a:extLst>
          </p:cNvPr>
          <p:cNvSpPr/>
          <p:nvPr/>
        </p:nvSpPr>
        <p:spPr>
          <a:xfrm>
            <a:off x="2661852" y="1458745"/>
            <a:ext cx="13113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Changing</a:t>
            </a:r>
            <a:br>
              <a:rPr lang="en-US" sz="1400" dirty="0"/>
            </a:br>
            <a:r>
              <a:rPr lang="en-US" sz="1400" dirty="0"/>
              <a:t>area sizes</a:t>
            </a: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C436D2AA-69F0-074E-A98D-BF23A5CCED81}"/>
              </a:ext>
            </a:extLst>
          </p:cNvPr>
          <p:cNvSpPr/>
          <p:nvPr/>
        </p:nvSpPr>
        <p:spPr>
          <a:xfrm>
            <a:off x="3079500" y="1981965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772E7E-46D8-8A44-919F-BFC53688A8C6}"/>
              </a:ext>
            </a:extLst>
          </p:cNvPr>
          <p:cNvSpPr/>
          <p:nvPr/>
        </p:nvSpPr>
        <p:spPr>
          <a:xfrm>
            <a:off x="3599138" y="1456056"/>
            <a:ext cx="131131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Changing</a:t>
            </a:r>
            <a:br>
              <a:rPr lang="en-US" sz="1400" dirty="0"/>
            </a:br>
            <a:r>
              <a:rPr lang="en-US" sz="1400" dirty="0"/>
              <a:t>extinction rates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14D8359C-625B-B148-8FD4-81847C4B0CF1}"/>
              </a:ext>
            </a:extLst>
          </p:cNvPr>
          <p:cNvSpPr/>
          <p:nvPr/>
        </p:nvSpPr>
        <p:spPr>
          <a:xfrm>
            <a:off x="4056757" y="1994453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586164-EF28-9B4F-BC7B-FDB06DF9365E}"/>
              </a:ext>
            </a:extLst>
          </p:cNvPr>
          <p:cNvSpPr/>
          <p:nvPr/>
        </p:nvSpPr>
        <p:spPr>
          <a:xfrm>
            <a:off x="4756393" y="1440879"/>
            <a:ext cx="1546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ODEs for “</a:t>
            </a:r>
            <a:r>
              <a:rPr lang="en-US" sz="1400" dirty="0" err="1"/>
              <a:t>Es</a:t>
            </a:r>
            <a:r>
              <a:rPr lang="en-US" sz="1400" dirty="0"/>
              <a:t>”</a:t>
            </a:r>
            <a:br>
              <a:rPr lang="en-US" sz="1400" dirty="0"/>
            </a:br>
            <a:r>
              <a:rPr lang="en-US" sz="1400" dirty="0"/>
              <a:t>(extinction probs.)</a:t>
            </a: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6F026C7D-6E8B-024F-9556-0AABA26B8C2E}"/>
              </a:ext>
            </a:extLst>
          </p:cNvPr>
          <p:cNvSpPr/>
          <p:nvPr/>
        </p:nvSpPr>
        <p:spPr>
          <a:xfrm>
            <a:off x="5331743" y="2009630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97246B-6CA6-2C4F-B511-23E057B48A75}"/>
              </a:ext>
            </a:extLst>
          </p:cNvPr>
          <p:cNvSpPr/>
          <p:nvPr/>
        </p:nvSpPr>
        <p:spPr>
          <a:xfrm>
            <a:off x="5957482" y="1440879"/>
            <a:ext cx="1546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ODEs for “Ds”</a:t>
            </a:r>
            <a:br>
              <a:rPr lang="en-US" sz="1400" dirty="0"/>
            </a:br>
            <a:r>
              <a:rPr lang="en-US" sz="1400" dirty="0"/>
              <a:t>(data probs.)</a:t>
            </a:r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7786080A-0E0A-F64E-84A6-21173AA7CB14}"/>
              </a:ext>
            </a:extLst>
          </p:cNvPr>
          <p:cNvSpPr/>
          <p:nvPr/>
        </p:nvSpPr>
        <p:spPr>
          <a:xfrm>
            <a:off x="6532832" y="2009630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805B0D-FEEF-1A42-924E-7689D68C04F3}"/>
              </a:ext>
            </a:extLst>
          </p:cNvPr>
          <p:cNvSpPr/>
          <p:nvPr/>
        </p:nvSpPr>
        <p:spPr>
          <a:xfrm>
            <a:off x="6727138" y="1410525"/>
            <a:ext cx="1546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A=</a:t>
            </a:r>
            <a:r>
              <a:rPr lang="en-US" sz="1400" dirty="0" err="1"/>
              <a:t>dG</a:t>
            </a:r>
            <a:br>
              <a:rPr lang="en-US" sz="1400" dirty="0"/>
            </a:br>
            <a:r>
              <a:rPr lang="en-US" sz="1400" dirty="0"/>
              <a:t>matrix</a:t>
            </a:r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C6DF3466-C9CD-9440-875A-744C155DEFE4}"/>
              </a:ext>
            </a:extLst>
          </p:cNvPr>
          <p:cNvSpPr/>
          <p:nvPr/>
        </p:nvSpPr>
        <p:spPr>
          <a:xfrm>
            <a:off x="7302488" y="1979276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DAEC8B-A77D-E646-9F8F-F6010CCB92D8}"/>
              </a:ext>
            </a:extLst>
          </p:cNvPr>
          <p:cNvSpPr/>
          <p:nvPr/>
        </p:nvSpPr>
        <p:spPr>
          <a:xfrm>
            <a:off x="7333315" y="1410525"/>
            <a:ext cx="15467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/>
              <a:t>Gflow</a:t>
            </a:r>
            <a:br>
              <a:rPr lang="en-US" sz="1400" dirty="0"/>
            </a:br>
            <a:r>
              <a:rPr lang="en-US" sz="1400" dirty="0"/>
              <a:t>matrix</a:t>
            </a:r>
          </a:p>
        </p:txBody>
      </p:sp>
      <p:sp>
        <p:nvSpPr>
          <p:cNvPr id="26" name="Down Arrow 25">
            <a:extLst>
              <a:ext uri="{FF2B5EF4-FFF2-40B4-BE49-F238E27FC236}">
                <a16:creationId xmlns:a16="http://schemas.microsoft.com/office/drawing/2014/main" id="{48607523-03AE-1F42-A667-8ADCCFD0926E}"/>
              </a:ext>
            </a:extLst>
          </p:cNvPr>
          <p:cNvSpPr/>
          <p:nvPr/>
        </p:nvSpPr>
        <p:spPr>
          <a:xfrm>
            <a:off x="7908665" y="1979276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itle 6">
            <a:extLst>
              <a:ext uri="{FF2B5EF4-FFF2-40B4-BE49-F238E27FC236}">
                <a16:creationId xmlns:a16="http://schemas.microsoft.com/office/drawing/2014/main" id="{D4DC8AE1-E5E2-0640-9F3B-E6F366F889AF}"/>
              </a:ext>
            </a:extLst>
          </p:cNvPr>
          <p:cNvSpPr txBox="1">
            <a:spLocks/>
          </p:cNvSpPr>
          <p:nvPr/>
        </p:nvSpPr>
        <p:spPr>
          <a:xfrm>
            <a:off x="7878962" y="6362090"/>
            <a:ext cx="1227051" cy="5777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/>
              <a:t>LnL: Log-likelihood</a:t>
            </a:r>
          </a:p>
        </p:txBody>
      </p:sp>
      <p:sp>
        <p:nvSpPr>
          <p:cNvPr id="3" name="Down Arrow 2">
            <a:extLst>
              <a:ext uri="{FF2B5EF4-FFF2-40B4-BE49-F238E27FC236}">
                <a16:creationId xmlns:a16="http://schemas.microsoft.com/office/drawing/2014/main" id="{CC58062C-2238-494D-9669-A4240DDFC801}"/>
              </a:ext>
            </a:extLst>
          </p:cNvPr>
          <p:cNvSpPr/>
          <p:nvPr/>
        </p:nvSpPr>
        <p:spPr>
          <a:xfrm>
            <a:off x="455201" y="1981965"/>
            <a:ext cx="396075" cy="435306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9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i="1" dirty="0">
                <a:latin typeface="Cambria"/>
                <a:cs typeface="Cambria"/>
              </a:rPr>
              <a:t>PhyBEARS</a:t>
            </a:r>
            <a:r>
              <a:rPr lang="en-US" sz="3000" dirty="0">
                <a:latin typeface="Cambria"/>
                <a:cs typeface="Cambria"/>
              </a:rPr>
              <a:t>: complexifying biogeography</a:t>
            </a:r>
            <a:endParaRPr lang="en-US" sz="3000" dirty="0"/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4212176" y="927836"/>
            <a:ext cx="4741324" cy="673775"/>
          </a:xfrm>
        </p:spPr>
        <p:txBody>
          <a:bodyPr>
            <a:normAutofit/>
          </a:bodyPr>
          <a:lstStyle/>
          <a:p>
            <a:r>
              <a:rPr lang="en-US" sz="2800" dirty="0"/>
              <a:t>Comparison of model features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835" y="1705360"/>
            <a:ext cx="5001497" cy="4274255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xmlns=""/>
            </a:ext>
          </a:extLst>
        </p:spPr>
      </p:pic>
      <p:sp>
        <p:nvSpPr>
          <p:cNvPr id="9" name="Rectangle 8"/>
          <p:cNvSpPr/>
          <p:nvPr/>
        </p:nvSpPr>
        <p:spPr>
          <a:xfrm>
            <a:off x="7218301" y="1705359"/>
            <a:ext cx="491642" cy="42742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09943" y="1705359"/>
            <a:ext cx="557390" cy="42742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 rot="16200000">
            <a:off x="7946241" y="2163495"/>
            <a:ext cx="1293543" cy="5847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sz="1600" dirty="0"/>
              <a:t>This Proposal</a:t>
            </a:r>
            <a:br>
              <a:rPr lang="en-US" sz="1600" dirty="0"/>
            </a:br>
            <a:r>
              <a:rPr lang="en-US" sz="1600" dirty="0"/>
              <a:t>(</a:t>
            </a:r>
            <a:r>
              <a:rPr lang="en-US" sz="1600" i="1" dirty="0"/>
              <a:t>BioGeoJulia</a:t>
            </a:r>
            <a:r>
              <a:rPr lang="en-US" sz="1600" dirty="0"/>
              <a:t>)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7333" y="1705359"/>
            <a:ext cx="839611" cy="427425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26C5C162-4BB2-EE4F-9A8C-DC2B077C1CC8}"/>
              </a:ext>
            </a:extLst>
          </p:cNvPr>
          <p:cNvSpPr txBox="1">
            <a:spLocks/>
          </p:cNvSpPr>
          <p:nvPr/>
        </p:nvSpPr>
        <p:spPr>
          <a:xfrm>
            <a:off x="394568" y="852936"/>
            <a:ext cx="3361787" cy="570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/>
              <a:t>Summary:</a:t>
            </a:r>
          </a:p>
        </p:txBody>
      </p:sp>
      <p:sp>
        <p:nvSpPr>
          <p:cNvPr id="24" name="Title 6">
            <a:extLst>
              <a:ext uri="{FF2B5EF4-FFF2-40B4-BE49-F238E27FC236}">
                <a16:creationId xmlns:a16="http://schemas.microsoft.com/office/drawing/2014/main" id="{DD7292D3-56F9-C64C-957A-ABFD37D0B7F5}"/>
              </a:ext>
            </a:extLst>
          </p:cNvPr>
          <p:cNvSpPr txBox="1">
            <a:spLocks/>
          </p:cNvSpPr>
          <p:nvPr/>
        </p:nvSpPr>
        <p:spPr>
          <a:xfrm>
            <a:off x="69626" y="1356176"/>
            <a:ext cx="3599113" cy="11577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Integrated </a:t>
            </a:r>
            <a:r>
              <a:rPr lang="en-US" sz="2400" i="1" dirty="0"/>
              <a:t>PhyBEARS </a:t>
            </a:r>
            <a:r>
              <a:rPr lang="en-US" sz="2400" dirty="0"/>
              <a:t>with </a:t>
            </a:r>
            <a:r>
              <a:rPr lang="en-US" sz="2400" i="1" dirty="0"/>
              <a:t>GPlates</a:t>
            </a:r>
            <a:r>
              <a:rPr lang="en-US" sz="2400" dirty="0"/>
              <a:t> for continuous palaeogeography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DF67363-8ABC-7640-811D-FC6007983A11}"/>
              </a:ext>
            </a:extLst>
          </p:cNvPr>
          <p:cNvGrpSpPr/>
          <p:nvPr/>
        </p:nvGrpSpPr>
        <p:grpSpPr>
          <a:xfrm>
            <a:off x="-110343" y="2624418"/>
            <a:ext cx="4092349" cy="2403038"/>
            <a:chOff x="4907718" y="2691713"/>
            <a:chExt cx="4092349" cy="2403038"/>
          </a:xfrm>
        </p:grpSpPr>
        <p:pic>
          <p:nvPicPr>
            <p:cNvPr id="34" name="Picture 33" descr="Muller_Zahirovic_2018_Zealandia_thickness.gif">
              <a:extLst>
                <a:ext uri="{FF2B5EF4-FFF2-40B4-BE49-F238E27FC236}">
                  <a16:creationId xmlns:a16="http://schemas.microsoft.com/office/drawing/2014/main" id="{0483E8C4-9990-CE41-B9AF-E7B5C9865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3239" y="2992853"/>
              <a:ext cx="3986828" cy="1843908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636BFAD-A937-4147-AB5C-77D3A2952908}"/>
                </a:ext>
              </a:extLst>
            </p:cNvPr>
            <p:cNvSpPr/>
            <p:nvPr/>
          </p:nvSpPr>
          <p:spPr>
            <a:xfrm>
              <a:off x="4907718" y="4786974"/>
              <a:ext cx="4092349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700" dirty="0">
                  <a:solidFill>
                    <a:schemeClr val="bg1">
                      <a:lumMod val="65000"/>
                    </a:schemeClr>
                  </a:solidFill>
                </a:rPr>
                <a:t>Müller, Sahirovic et al. (2018), U. Sydney "Modelling and visualising distributed crustal deformation of Australia and Zealandia using </a:t>
              </a:r>
              <a:r>
                <a:rPr lang="en-US" sz="700" i="1" dirty="0">
                  <a:solidFill>
                    <a:schemeClr val="bg1">
                      <a:lumMod val="65000"/>
                    </a:schemeClr>
                  </a:solidFill>
                </a:rPr>
                <a:t>GPlates 2.0</a:t>
              </a:r>
              <a:r>
                <a:rPr lang="en-US" sz="700" dirty="0">
                  <a:solidFill>
                    <a:schemeClr val="bg1">
                      <a:lumMod val="65000"/>
                    </a:schemeClr>
                  </a:solidFill>
                </a:rPr>
                <a:t>." https://www.youtube.com/watch?v=iKkCIdZ6oaE  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D73703-33B7-1F40-AB14-3535010217F0}"/>
                </a:ext>
              </a:extLst>
            </p:cNvPr>
            <p:cNvSpPr/>
            <p:nvPr/>
          </p:nvSpPr>
          <p:spPr>
            <a:xfrm>
              <a:off x="5202392" y="2691713"/>
              <a:ext cx="357202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i="1" dirty="0"/>
                <a:t>GPlates</a:t>
              </a:r>
              <a:r>
                <a:rPr lang="en-US" sz="1400" dirty="0"/>
                <a:t> animation: Zealandia crustal thickness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AA8CCE-D385-284C-8035-33360B37F24F}"/>
              </a:ext>
            </a:extLst>
          </p:cNvPr>
          <p:cNvGrpSpPr/>
          <p:nvPr/>
        </p:nvGrpSpPr>
        <p:grpSpPr>
          <a:xfrm>
            <a:off x="184331" y="5027456"/>
            <a:ext cx="3975475" cy="1763249"/>
            <a:chOff x="5202392" y="5094751"/>
            <a:chExt cx="3975475" cy="1763249"/>
          </a:xfrm>
        </p:grpSpPr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6A70D5CB-98CC-DE4D-AD81-DE08FC25A058}"/>
                </a:ext>
              </a:extLst>
            </p:cNvPr>
            <p:cNvSpPr/>
            <p:nvPr/>
          </p:nvSpPr>
          <p:spPr>
            <a:xfrm>
              <a:off x="5202392" y="5532332"/>
              <a:ext cx="2146656" cy="12490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/>
            <a:lstStyle/>
            <a:p>
              <a:pPr algn="ctr"/>
              <a:r>
                <a:rPr lang="en-US" i="1" dirty="0" err="1">
                  <a:solidFill>
                    <a:schemeClr val="tx1"/>
                  </a:solidFill>
                </a:rPr>
                <a:t>PyGPlates</a:t>
              </a:r>
              <a:r>
                <a:rPr lang="en-US" i="1" dirty="0">
                  <a:solidFill>
                    <a:schemeClr val="tx1"/>
                  </a:solidFill>
                </a:rPr>
                <a:t>: </a:t>
              </a:r>
              <a:r>
                <a:rPr lang="en-US" dirty="0">
                  <a:solidFill>
                    <a:schemeClr val="tx1"/>
                  </a:solidFill>
                </a:rPr>
                <a:t>extract &amp;  use continuous estimates of areas, distances</a:t>
              </a: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39" name="Right Arrow 38">
              <a:extLst>
                <a:ext uri="{FF2B5EF4-FFF2-40B4-BE49-F238E27FC236}">
                  <a16:creationId xmlns:a16="http://schemas.microsoft.com/office/drawing/2014/main" id="{5F2A387A-EA9B-E848-B466-F3B7846BC6D5}"/>
                </a:ext>
              </a:extLst>
            </p:cNvPr>
            <p:cNvSpPr/>
            <p:nvPr/>
          </p:nvSpPr>
          <p:spPr>
            <a:xfrm rot="5400000">
              <a:off x="6048114" y="5153339"/>
              <a:ext cx="390585" cy="27341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25400"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3BC82B85-E20F-1A46-870D-B4060C51BD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-3" t="27400" r="32145" b="7034"/>
            <a:stretch/>
          </p:blipFill>
          <p:spPr>
            <a:xfrm>
              <a:off x="7704669" y="5309121"/>
              <a:ext cx="1256309" cy="1213866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0BB1DC-264E-4A47-BD5E-CAC00F29BA55}"/>
                </a:ext>
              </a:extLst>
            </p:cNvPr>
            <p:cNvSpPr/>
            <p:nvPr/>
          </p:nvSpPr>
          <p:spPr>
            <a:xfrm>
              <a:off x="7506691" y="6457890"/>
              <a:ext cx="167117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/>
                <a:t>Sabin Zahirovic, </a:t>
              </a:r>
              <a:r>
                <a:rPr lang="en-US" sz="1000" i="1" dirty="0"/>
                <a:t>GPlates </a:t>
              </a:r>
              <a:r>
                <a:rPr lang="en-US" sz="1000" dirty="0"/>
                <a:t>coauthor, U. Sydney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296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0" grpId="0" animBg="1"/>
      <p:bldP spid="11" grpId="0" animBg="1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920231"/>
          </a:xfrm>
          <a:prstGeom prst="rect">
            <a:avLst/>
          </a:prstGeom>
          <a:solidFill>
            <a:srgbClr val="000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Conclusions</a:t>
            </a:r>
          </a:p>
        </p:txBody>
      </p:sp>
      <p:sp>
        <p:nvSpPr>
          <p:cNvPr id="29" name="Title 6">
            <a:extLst>
              <a:ext uri="{FF2B5EF4-FFF2-40B4-BE49-F238E27FC236}">
                <a16:creationId xmlns:a16="http://schemas.microsoft.com/office/drawing/2014/main" id="{EB2679C8-DD82-2A48-B030-87536BD094FE}"/>
              </a:ext>
            </a:extLst>
          </p:cNvPr>
          <p:cNvSpPr txBox="1">
            <a:spLocks/>
          </p:cNvSpPr>
          <p:nvPr/>
        </p:nvSpPr>
        <p:spPr>
          <a:xfrm>
            <a:off x="246377" y="970334"/>
            <a:ext cx="8521842" cy="5787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AutoNum type="arabicPeriod"/>
            </a:pPr>
            <a:r>
              <a:rPr lang="en-US" sz="2000" dirty="0"/>
              <a:t>Large ClaSSE models will probably never be super-fast </a:t>
            </a:r>
            <a:r>
              <a:rPr lang="mr-IN" sz="2000" dirty="0"/>
              <a:t>–</a:t>
            </a:r>
            <a:r>
              <a:rPr lang="en-US" sz="2000" dirty="0"/>
              <a:t> but Julia versions should be fast enough for e.g. Maximum Likelihood</a:t>
            </a:r>
            <a:br>
              <a:rPr lang="en-US" sz="2000" dirty="0"/>
            </a:b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The number of free parameters explodes to meaninglessness quickly.  So model (parametric) complexity has to be carefully controlled by carefully thinking about, and designing, meaningful models controlled by a small number of parameters (as in e.g. standard biogeography models)</a:t>
            </a:r>
            <a:br>
              <a:rPr lang="en-US" sz="2000" dirty="0"/>
            </a:br>
            <a:endParaRPr lang="en-US" sz="2000" dirty="0"/>
          </a:p>
          <a:p>
            <a:pPr marL="457200" indent="-457200" algn="l">
              <a:buAutoNum type="arabicPeriod"/>
            </a:pPr>
            <a:r>
              <a:rPr lang="en-US" sz="2000" dirty="0"/>
              <a:t>Julia’s </a:t>
            </a:r>
            <a:r>
              <a:rPr lang="en-US" sz="2000" dirty="0" err="1"/>
              <a:t>DifferentialEquations</a:t>
            </a:r>
            <a:r>
              <a:rPr lang="en-US" sz="2000" dirty="0"/>
              <a:t> solvers are </a:t>
            </a:r>
            <a:r>
              <a:rPr lang="en-US" sz="2000" i="1" dirty="0"/>
              <a:t>very</a:t>
            </a:r>
            <a:r>
              <a:rPr lang="en-US" sz="2000" dirty="0"/>
              <a:t> flexible, suggesting that more interesting models could be designed in this framework (regional carrying capacity, interpolating in the impact of external forcers</a:t>
            </a:r>
            <a:br>
              <a:rPr lang="en-US" sz="2000" dirty="0"/>
            </a:br>
            <a:r>
              <a:rPr lang="en-US" sz="2000" dirty="0"/>
              <a:t>like changing geography &amp; climate, etc.)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EC68A55-7BDE-7148-8A7A-BD0537DB3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556" y="5615686"/>
            <a:ext cx="1849967" cy="12423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8567" y="6280924"/>
            <a:ext cx="4980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Acknowledgements: Marsden grant no. 18-UOA-34 </a:t>
            </a:r>
          </a:p>
        </p:txBody>
      </p:sp>
    </p:spTree>
    <p:extLst>
      <p:ext uri="{BB962C8B-B14F-4D97-AF65-F5344CB8AC3E}">
        <p14:creationId xmlns:p14="http://schemas.microsoft.com/office/powerpoint/2010/main" val="1340033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75eb9d1-7479-4f8a-9240-cc5b19dbbc64}" enabled="1" method="Standard" siteId="{d1b36e95-0d50-42e9-958f-b63fa906bea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51318</TotalTime>
  <Words>959</Words>
  <Application>Microsoft Macintosh PowerPoint</Application>
  <PresentationFormat>On-screen Show (4:3)</PresentationFormat>
  <Paragraphs>123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Nicholas J. Matzke Senior Lecturer, Rutherford Discovery Fellow School of Biological Sciences University of Auckland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Motivation</vt:lpstr>
      <vt:lpstr>Motivation</vt:lpstr>
      <vt:lpstr>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 of model features</vt:lpstr>
      <vt:lpstr>PowerPoint Presentation</vt:lpstr>
    </vt:vector>
  </TitlesOfParts>
  <Company>ANU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Revolutionising phylogenetic biogeography</dc:title>
  <dc:creator>Nick Matzke</dc:creator>
  <cp:lastModifiedBy>Nicholas Matzke</cp:lastModifiedBy>
  <cp:revision>265</cp:revision>
  <cp:lastPrinted>2023-04-28T01:48:09Z</cp:lastPrinted>
  <dcterms:created xsi:type="dcterms:W3CDTF">2018-09-04T23:49:11Z</dcterms:created>
  <dcterms:modified xsi:type="dcterms:W3CDTF">2026-10-10T01:23:26Z</dcterms:modified>
</cp:coreProperties>
</file>