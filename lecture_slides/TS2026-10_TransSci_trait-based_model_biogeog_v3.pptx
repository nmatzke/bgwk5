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tiff" ContentType="image/tiff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6"/>
  </p:notesMasterIdLst>
  <p:sldIdLst>
    <p:sldId id="256" r:id="rId2"/>
    <p:sldId id="257" r:id="rId3"/>
    <p:sldId id="261" r:id="rId4"/>
    <p:sldId id="262" r:id="rId5"/>
    <p:sldId id="263" r:id="rId6"/>
    <p:sldId id="264" r:id="rId7"/>
    <p:sldId id="265" r:id="rId8"/>
    <p:sldId id="266" r:id="rId9"/>
    <p:sldId id="409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410" r:id="rId20"/>
    <p:sldId id="411" r:id="rId21"/>
    <p:sldId id="412" r:id="rId22"/>
    <p:sldId id="413" r:id="rId23"/>
    <p:sldId id="414" r:id="rId24"/>
    <p:sldId id="415" r:id="rId25"/>
    <p:sldId id="416" r:id="rId26"/>
    <p:sldId id="417" r:id="rId27"/>
    <p:sldId id="418" r:id="rId28"/>
    <p:sldId id="419" r:id="rId29"/>
    <p:sldId id="420" r:id="rId30"/>
    <p:sldId id="421" r:id="rId31"/>
    <p:sldId id="422" r:id="rId32"/>
    <p:sldId id="423" r:id="rId33"/>
    <p:sldId id="424" r:id="rId34"/>
    <p:sldId id="425" r:id="rId35"/>
    <p:sldId id="426" r:id="rId36"/>
    <p:sldId id="427" r:id="rId37"/>
    <p:sldId id="428" r:id="rId38"/>
    <p:sldId id="429" r:id="rId39"/>
    <p:sldId id="430" r:id="rId40"/>
    <p:sldId id="431" r:id="rId41"/>
    <p:sldId id="432" r:id="rId42"/>
    <p:sldId id="433" r:id="rId43"/>
    <p:sldId id="434" r:id="rId44"/>
    <p:sldId id="435" r:id="rId45"/>
    <p:sldId id="436" r:id="rId46"/>
    <p:sldId id="437" r:id="rId47"/>
    <p:sldId id="438" r:id="rId48"/>
    <p:sldId id="439" r:id="rId49"/>
    <p:sldId id="440" r:id="rId50"/>
    <p:sldId id="441" r:id="rId51"/>
    <p:sldId id="442" r:id="rId52"/>
    <p:sldId id="443" r:id="rId53"/>
    <p:sldId id="444" r:id="rId54"/>
    <p:sldId id="445" r:id="rId55"/>
    <p:sldId id="446" r:id="rId56"/>
    <p:sldId id="447" r:id="rId57"/>
    <p:sldId id="448" r:id="rId58"/>
    <p:sldId id="449" r:id="rId59"/>
    <p:sldId id="450" r:id="rId60"/>
    <p:sldId id="451" r:id="rId61"/>
    <p:sldId id="452" r:id="rId62"/>
    <p:sldId id="453" r:id="rId63"/>
    <p:sldId id="454" r:id="rId64"/>
    <p:sldId id="455" r:id="rId65"/>
    <p:sldId id="456" r:id="rId66"/>
    <p:sldId id="457" r:id="rId67"/>
    <p:sldId id="458" r:id="rId68"/>
    <p:sldId id="277" r:id="rId69"/>
    <p:sldId id="278" r:id="rId70"/>
    <p:sldId id="279" r:id="rId71"/>
    <p:sldId id="280" r:id="rId72"/>
    <p:sldId id="281" r:id="rId73"/>
    <p:sldId id="282" r:id="rId74"/>
    <p:sldId id="283" r:id="rId75"/>
    <p:sldId id="284" r:id="rId76"/>
    <p:sldId id="285" r:id="rId77"/>
    <p:sldId id="286" r:id="rId78"/>
    <p:sldId id="287" r:id="rId79"/>
    <p:sldId id="288" r:id="rId80"/>
    <p:sldId id="289" r:id="rId81"/>
    <p:sldId id="290" r:id="rId82"/>
    <p:sldId id="291" r:id="rId83"/>
    <p:sldId id="292" r:id="rId84"/>
    <p:sldId id="293" r:id="rId85"/>
    <p:sldId id="294" r:id="rId86"/>
    <p:sldId id="295" r:id="rId87"/>
    <p:sldId id="296" r:id="rId88"/>
    <p:sldId id="297" r:id="rId89"/>
    <p:sldId id="298" r:id="rId90"/>
    <p:sldId id="299" r:id="rId91"/>
    <p:sldId id="300" r:id="rId92"/>
    <p:sldId id="301" r:id="rId93"/>
    <p:sldId id="302" r:id="rId94"/>
    <p:sldId id="303" r:id="rId95"/>
    <p:sldId id="304" r:id="rId96"/>
    <p:sldId id="305" r:id="rId97"/>
    <p:sldId id="306" r:id="rId98"/>
    <p:sldId id="307" r:id="rId99"/>
    <p:sldId id="308" r:id="rId100"/>
    <p:sldId id="309" r:id="rId101"/>
    <p:sldId id="310" r:id="rId102"/>
    <p:sldId id="311" r:id="rId103"/>
    <p:sldId id="312" r:id="rId104"/>
    <p:sldId id="313" r:id="rId105"/>
    <p:sldId id="314" r:id="rId106"/>
    <p:sldId id="315" r:id="rId107"/>
    <p:sldId id="316" r:id="rId108"/>
    <p:sldId id="317" r:id="rId109"/>
    <p:sldId id="318" r:id="rId110"/>
    <p:sldId id="319" r:id="rId111"/>
    <p:sldId id="320" r:id="rId112"/>
    <p:sldId id="321" r:id="rId113"/>
    <p:sldId id="322" r:id="rId114"/>
    <p:sldId id="323" r:id="rId115"/>
    <p:sldId id="349" r:id="rId116"/>
    <p:sldId id="324" r:id="rId117"/>
    <p:sldId id="325" r:id="rId118"/>
    <p:sldId id="326" r:id="rId119"/>
    <p:sldId id="327" r:id="rId120"/>
    <p:sldId id="328" r:id="rId121"/>
    <p:sldId id="329" r:id="rId122"/>
    <p:sldId id="330" r:id="rId123"/>
    <p:sldId id="331" r:id="rId124"/>
    <p:sldId id="332" r:id="rId125"/>
    <p:sldId id="333" r:id="rId126"/>
    <p:sldId id="334" r:id="rId127"/>
    <p:sldId id="335" r:id="rId128"/>
    <p:sldId id="336" r:id="rId129"/>
    <p:sldId id="337" r:id="rId130"/>
    <p:sldId id="350" r:id="rId131"/>
    <p:sldId id="351" r:id="rId132"/>
    <p:sldId id="352" r:id="rId133"/>
    <p:sldId id="353" r:id="rId134"/>
    <p:sldId id="354" r:id="rId135"/>
    <p:sldId id="355" r:id="rId136"/>
    <p:sldId id="356" r:id="rId137"/>
    <p:sldId id="357" r:id="rId138"/>
    <p:sldId id="358" r:id="rId139"/>
    <p:sldId id="359" r:id="rId140"/>
    <p:sldId id="360" r:id="rId141"/>
    <p:sldId id="361" r:id="rId142"/>
    <p:sldId id="362" r:id="rId143"/>
    <p:sldId id="363" r:id="rId144"/>
    <p:sldId id="364" r:id="rId145"/>
    <p:sldId id="365" r:id="rId146"/>
    <p:sldId id="366" r:id="rId147"/>
    <p:sldId id="367" r:id="rId148"/>
    <p:sldId id="368" r:id="rId149"/>
    <p:sldId id="369" r:id="rId150"/>
    <p:sldId id="370" r:id="rId151"/>
    <p:sldId id="371" r:id="rId152"/>
    <p:sldId id="372" r:id="rId153"/>
    <p:sldId id="373" r:id="rId154"/>
    <p:sldId id="374" r:id="rId155"/>
    <p:sldId id="375" r:id="rId156"/>
    <p:sldId id="383" r:id="rId157"/>
    <p:sldId id="384" r:id="rId158"/>
    <p:sldId id="385" r:id="rId159"/>
    <p:sldId id="386" r:id="rId160"/>
    <p:sldId id="387" r:id="rId161"/>
    <p:sldId id="388" r:id="rId162"/>
    <p:sldId id="389" r:id="rId163"/>
    <p:sldId id="390" r:id="rId164"/>
    <p:sldId id="391" r:id="rId165"/>
    <p:sldId id="392" r:id="rId166"/>
    <p:sldId id="393" r:id="rId167"/>
    <p:sldId id="394" r:id="rId168"/>
    <p:sldId id="395" r:id="rId169"/>
    <p:sldId id="396" r:id="rId170"/>
    <p:sldId id="397" r:id="rId171"/>
    <p:sldId id="398" r:id="rId172"/>
    <p:sldId id="399" r:id="rId173"/>
    <p:sldId id="400" r:id="rId174"/>
    <p:sldId id="401" r:id="rId175"/>
    <p:sldId id="402" r:id="rId176"/>
    <p:sldId id="403" r:id="rId177"/>
    <p:sldId id="404" r:id="rId178"/>
    <p:sldId id="405" r:id="rId179"/>
    <p:sldId id="461" r:id="rId180"/>
    <p:sldId id="408" r:id="rId181"/>
    <p:sldId id="345" r:id="rId182"/>
    <p:sldId id="346" r:id="rId183"/>
    <p:sldId id="347" r:id="rId184"/>
    <p:sldId id="348" r:id="rId185"/>
  </p:sldIdLst>
  <p:sldSz cx="13004800" cy="9753600"/>
  <p:notesSz cx="13004800" cy="97536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7"/>
    <p:restoredTop sz="94661"/>
  </p:normalViewPr>
  <p:slideViewPr>
    <p:cSldViewPr>
      <p:cViewPr varScale="1">
        <p:scale>
          <a:sx n="143" d="100"/>
          <a:sy n="143" d="100"/>
        </p:scale>
        <p:origin x="576" y="21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theme" Target="theme/theme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0" Type="http://schemas.openxmlformats.org/officeDocument/2006/relationships/tableStyles" Target="tableStyle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notesMaster" Target="notesMasters/notesMaster1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635625" cy="4873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7366000" y="0"/>
            <a:ext cx="5635625" cy="4873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894338-6353-F64F-97FC-CF0CF3409E82}" type="datetimeFigureOut">
              <a:rPr lang="en-US" smtClean="0"/>
              <a:t>8/12/21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0" y="731838"/>
            <a:ext cx="4876800" cy="3657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300163" y="4632325"/>
            <a:ext cx="10404475" cy="43894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264650"/>
            <a:ext cx="5635625" cy="4873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7366000" y="9264650"/>
            <a:ext cx="5635625" cy="4873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FEBA77-A8DC-5B42-8025-BCEC2588F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170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ADCCF2-0383-544E-B661-007219BEDD7F}" type="slidenum">
              <a:rPr lang="en-US" smtClean="0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836239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ADCCF2-0383-544E-B661-007219BEDD7F}" type="slidenum">
              <a:rPr lang="en-US" smtClean="0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836239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ADCCF2-0383-544E-B661-007219BEDD7F}" type="slidenum">
              <a:rPr lang="en-US" smtClean="0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836239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95C1D5-3944-394F-9494-7A37F387DADD}" type="slidenum">
              <a:rPr lang="en-US" smtClean="0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812795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95C1D5-3944-394F-9494-7A37F387DADD}" type="slidenum">
              <a:rPr lang="en-US" smtClean="0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812795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75360" y="3023616"/>
            <a:ext cx="1105408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50720" y="5462016"/>
            <a:ext cx="910336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8/12/21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Helvetica"/>
                <a:cs typeface="Helvetic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Gill Sans"/>
                <a:cs typeface="Gill San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8/12/21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Helvetica"/>
                <a:cs typeface="Helvetic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50240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870700" y="1793550"/>
            <a:ext cx="5768975" cy="6819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Gill Sans"/>
                <a:cs typeface="Gill Sans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8/12/21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Helvetica"/>
                <a:cs typeface="Helvetic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8/12/21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8/12/21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itle Text"/>
          <p:cNvSpPr txBox="1">
            <a:spLocks noGrp="1"/>
          </p:cNvSpPr>
          <p:nvPr>
            <p:ph type="title"/>
          </p:nvPr>
        </p:nvSpPr>
        <p:spPr>
          <a:xfrm>
            <a:off x="1270001" y="1638301"/>
            <a:ext cx="10464801" cy="330200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8400"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r>
              <a:t>Title Text</a:t>
            </a:r>
          </a:p>
        </p:txBody>
      </p:sp>
      <p:sp>
        <p:nvSpPr>
          <p:cNvPr id="11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270001" y="5029200"/>
            <a:ext cx="10464801" cy="11303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spcBef>
                <a:spcPts val="0"/>
              </a:spcBef>
              <a:buSzTx/>
              <a:buNone/>
              <a:defRPr sz="3600">
                <a:latin typeface="Gill Sans"/>
                <a:ea typeface="Gill Sans"/>
                <a:cs typeface="Gill Sans"/>
                <a:sym typeface="Gill Sans"/>
              </a:defRPr>
            </a:lvl1pPr>
            <a:lvl2pPr marL="0" indent="0" algn="ctr">
              <a:spcBef>
                <a:spcPts val="0"/>
              </a:spcBef>
              <a:buSzTx/>
              <a:buNone/>
              <a:defRPr sz="3600">
                <a:latin typeface="Gill Sans"/>
                <a:ea typeface="Gill Sans"/>
                <a:cs typeface="Gill Sans"/>
                <a:sym typeface="Gill Sans"/>
              </a:defRPr>
            </a:lvl2pPr>
            <a:lvl3pPr marL="0" indent="0" algn="ctr">
              <a:spcBef>
                <a:spcPts val="0"/>
              </a:spcBef>
              <a:buSzTx/>
              <a:buNone/>
              <a:defRPr sz="3600">
                <a:latin typeface="Gill Sans"/>
                <a:ea typeface="Gill Sans"/>
                <a:cs typeface="Gill Sans"/>
                <a:sym typeface="Gill Sans"/>
              </a:defRPr>
            </a:lvl3pPr>
            <a:lvl4pPr marL="0" indent="0" algn="ctr">
              <a:spcBef>
                <a:spcPts val="0"/>
              </a:spcBef>
              <a:buSzTx/>
              <a:buNone/>
              <a:defRPr sz="3600">
                <a:latin typeface="Gill Sans"/>
                <a:ea typeface="Gill Sans"/>
                <a:cs typeface="Gill Sans"/>
                <a:sym typeface="Gill Sans"/>
              </a:defRPr>
            </a:lvl4pPr>
            <a:lvl5pPr marL="0" indent="0" algn="ctr">
              <a:spcBef>
                <a:spcPts val="0"/>
              </a:spcBef>
              <a:buSzTx/>
              <a:buNone/>
              <a:defRPr sz="3600"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24599" y="9258300"/>
            <a:ext cx="342901" cy="276999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5846148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87475" y="27930"/>
            <a:ext cx="10229850" cy="175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Helvetica"/>
                <a:cs typeface="Helvetic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06220" y="4090856"/>
            <a:ext cx="9992360" cy="3721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Gill Sans"/>
                <a:cs typeface="Gill San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21632" y="9070848"/>
            <a:ext cx="416153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50240" y="9070848"/>
            <a:ext cx="299110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8/12/21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63456" y="9070848"/>
            <a:ext cx="299110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13" Type="http://schemas.openxmlformats.org/officeDocument/2006/relationships/image" Target="../media/image11.jpg"/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12" Type="http://schemas.openxmlformats.org/officeDocument/2006/relationships/image" Target="../media/image1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jpg"/><Relationship Id="rId10" Type="http://schemas.openxmlformats.org/officeDocument/2006/relationships/image" Target="../media/image8.png"/><Relationship Id="rId4" Type="http://schemas.openxmlformats.org/officeDocument/2006/relationships/image" Target="../media/image2.jp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13" Type="http://schemas.openxmlformats.org/officeDocument/2006/relationships/image" Target="../media/image12.gif"/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12" Type="http://schemas.openxmlformats.org/officeDocument/2006/relationships/image" Target="../media/image1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10.jpg"/><Relationship Id="rId5" Type="http://schemas.openxmlformats.org/officeDocument/2006/relationships/image" Target="../media/image3.jpg"/><Relationship Id="rId10" Type="http://schemas.openxmlformats.org/officeDocument/2006/relationships/image" Target="../media/image9.jpg"/><Relationship Id="rId4" Type="http://schemas.openxmlformats.org/officeDocument/2006/relationships/image" Target="../media/image2.jp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farm8.static.flickr.com/7446/9252634315_0ecf0ba853_m.jpg" TargetMode="External"/><Relationship Id="rId4" Type="http://schemas.openxmlformats.org/officeDocument/2006/relationships/image" Target="../media/image1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farm8.static.flickr.com/7446/9252634315_0ecf0ba853_m.jpg" TargetMode="External"/><Relationship Id="rId5" Type="http://schemas.openxmlformats.org/officeDocument/2006/relationships/image" Target="../media/image13.jpg"/><Relationship Id="rId4" Type="http://schemas.openxmlformats.org/officeDocument/2006/relationships/image" Target="../media/image9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farm8.static.flickr.com/7446/9252634315_0ecf0ba853_m.jpg" TargetMode="External"/><Relationship Id="rId5" Type="http://schemas.openxmlformats.org/officeDocument/2006/relationships/image" Target="../media/image13.jp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stats.stackexchange.com/questions/181035/how-to-derive-the-likelihood-function-for-binomial-distribution-for-parameter-es" TargetMode="Externa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jp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jp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9.jpg"/><Relationship Id="rId4" Type="http://schemas.openxmlformats.org/officeDocument/2006/relationships/hyperlink" Target="http://solcap.msu.edu/img/germplasm2.jpg" TargetMode="Externa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1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3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5.jp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jpg"/><Relationship Id="rId4" Type="http://schemas.openxmlformats.org/officeDocument/2006/relationships/image" Target="../media/image48.jpg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5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5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5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8.jp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jp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jpg"/><Relationship Id="rId4" Type="http://schemas.openxmlformats.org/officeDocument/2006/relationships/image" Target="../media/image58.jpg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4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3.jpg"/><Relationship Id="rId5" Type="http://schemas.openxmlformats.org/officeDocument/2006/relationships/image" Target="../media/image62.jpg"/><Relationship Id="rId4" Type="http://schemas.openxmlformats.org/officeDocument/2006/relationships/image" Target="../media/image53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jpg"/><Relationship Id="rId5" Type="http://schemas.openxmlformats.org/officeDocument/2006/relationships/image" Target="../media/image67.jpg"/><Relationship Id="rId4" Type="http://schemas.openxmlformats.org/officeDocument/2006/relationships/image" Target="../media/image66.jp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ourdailyread.com/2015/04/island-biogeography-revisited-online-book-club-chapter-one/" TargetMode="Externa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ourdailyread.com/2015/04/island-biogeography-revisited-online-book-club-chapter-one/" TargetMode="Externa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ourdailyread.com/2015/04/island-biogeography-revisited-online-book-club-chapter-one/" TargetMode="Externa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4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5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4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emf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emf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emf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emf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emf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emf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emf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tiff"/><Relationship Id="rId1" Type="http://schemas.openxmlformats.org/officeDocument/2006/relationships/slideLayout" Target="../slideLayouts/slideLayout1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tiff"/><Relationship Id="rId1" Type="http://schemas.openxmlformats.org/officeDocument/2006/relationships/slideLayout" Target="../slideLayouts/slideLayout1.xml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gif"/><Relationship Id="rId2" Type="http://schemas.openxmlformats.org/officeDocument/2006/relationships/image" Target="../media/image109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1.png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.xml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jp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jp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5.xml"/></Relationships>
</file>

<file path=ppt/slides/_rels/slide1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13" Type="http://schemas.openxmlformats.org/officeDocument/2006/relationships/image" Target="../media/image5.jpg"/><Relationship Id="rId3" Type="http://schemas.openxmlformats.org/officeDocument/2006/relationships/hyperlink" Target="mailto:n.matzke@auckland.ac.nz" TargetMode="External"/><Relationship Id="rId7" Type="http://schemas.openxmlformats.org/officeDocument/2006/relationships/image" Target="../media/image8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90.xml"/><Relationship Id="rId16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5.png"/><Relationship Id="rId11" Type="http://schemas.openxmlformats.org/officeDocument/2006/relationships/image" Target="../media/image3.jpg"/><Relationship Id="rId5" Type="http://schemas.openxmlformats.org/officeDocument/2006/relationships/image" Target="../media/image114.jpg"/><Relationship Id="rId15" Type="http://schemas.openxmlformats.org/officeDocument/2006/relationships/image" Target="../media/image10.jpg"/><Relationship Id="rId10" Type="http://schemas.openxmlformats.org/officeDocument/2006/relationships/image" Target="../media/image2.jpg"/><Relationship Id="rId4" Type="http://schemas.openxmlformats.org/officeDocument/2006/relationships/image" Target="../media/image113.png"/><Relationship Id="rId9" Type="http://schemas.openxmlformats.org/officeDocument/2006/relationships/image" Target="../media/image1.png"/><Relationship Id="rId1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79500" y="298450"/>
            <a:ext cx="11504295" cy="10982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39800" marR="5080" indent="-927100">
              <a:lnSpc>
                <a:spcPct val="105400"/>
              </a:lnSpc>
            </a:pPr>
            <a:r>
              <a:rPr sz="3400" b="1" spc="-175" dirty="0">
                <a:latin typeface="Calibri"/>
                <a:cs typeface="Calibri"/>
              </a:rPr>
              <a:t>T</a:t>
            </a:r>
            <a:r>
              <a:rPr sz="3400" b="1" spc="-75" dirty="0">
                <a:latin typeface="Calibri"/>
                <a:cs typeface="Calibri"/>
              </a:rPr>
              <a:t>r</a:t>
            </a:r>
            <a:r>
              <a:rPr sz="3400" b="1" spc="-15" dirty="0">
                <a:latin typeface="Calibri"/>
                <a:cs typeface="Calibri"/>
              </a:rPr>
              <a:t>ai</a:t>
            </a:r>
            <a:r>
              <a:rPr sz="3400" b="1" spc="-100" dirty="0">
                <a:latin typeface="Calibri"/>
                <a:cs typeface="Calibri"/>
              </a:rPr>
              <a:t>t</a:t>
            </a:r>
            <a:r>
              <a:rPr sz="3400" b="1" spc="-5" dirty="0">
                <a:latin typeface="Calibri"/>
                <a:cs typeface="Calibri"/>
              </a:rPr>
              <a:t>-</a:t>
            </a:r>
            <a:r>
              <a:rPr sz="3400" b="1" spc="-20" dirty="0">
                <a:latin typeface="Calibri"/>
                <a:cs typeface="Calibri"/>
              </a:rPr>
              <a:t>d</a:t>
            </a:r>
            <a:r>
              <a:rPr sz="3400" b="1" dirty="0">
                <a:latin typeface="Calibri"/>
                <a:cs typeface="Calibri"/>
              </a:rPr>
              <a:t>e</a:t>
            </a:r>
            <a:r>
              <a:rPr sz="3400" b="1" spc="-20" dirty="0">
                <a:latin typeface="Calibri"/>
                <a:cs typeface="Calibri"/>
              </a:rPr>
              <a:t>p</a:t>
            </a:r>
            <a:r>
              <a:rPr sz="3400" b="1" dirty="0">
                <a:latin typeface="Calibri"/>
                <a:cs typeface="Calibri"/>
              </a:rPr>
              <a:t>e</a:t>
            </a:r>
            <a:r>
              <a:rPr sz="3400" b="1" spc="-20" dirty="0">
                <a:latin typeface="Calibri"/>
                <a:cs typeface="Calibri"/>
              </a:rPr>
              <a:t>nd</a:t>
            </a:r>
            <a:r>
              <a:rPr sz="3400" b="1" dirty="0">
                <a:latin typeface="Calibri"/>
                <a:cs typeface="Calibri"/>
              </a:rPr>
              <a:t>e</a:t>
            </a:r>
            <a:r>
              <a:rPr sz="3400" b="1" spc="-50" dirty="0">
                <a:latin typeface="Calibri"/>
                <a:cs typeface="Calibri"/>
              </a:rPr>
              <a:t>n</a:t>
            </a:r>
            <a:r>
              <a:rPr sz="3400" b="1" spc="-15" dirty="0">
                <a:latin typeface="Calibri"/>
                <a:cs typeface="Calibri"/>
              </a:rPr>
              <a:t>t</a:t>
            </a:r>
            <a:r>
              <a:rPr sz="3400" b="1" spc="-5" dirty="0">
                <a:latin typeface="Calibri"/>
                <a:cs typeface="Calibri"/>
              </a:rPr>
              <a:t> </a:t>
            </a:r>
            <a:r>
              <a:rPr sz="3400" b="1" spc="-15" dirty="0">
                <a:latin typeface="Calibri"/>
                <a:cs typeface="Calibri"/>
              </a:rPr>
              <a:t>di</a:t>
            </a:r>
            <a:r>
              <a:rPr sz="3400" b="1" spc="-20" dirty="0">
                <a:latin typeface="Calibri"/>
                <a:cs typeface="Calibri"/>
              </a:rPr>
              <a:t>sp</a:t>
            </a:r>
            <a:r>
              <a:rPr sz="3400" b="1" dirty="0">
                <a:latin typeface="Calibri"/>
                <a:cs typeface="Calibri"/>
              </a:rPr>
              <a:t>e</a:t>
            </a:r>
            <a:r>
              <a:rPr sz="3400" b="1" spc="-40" dirty="0">
                <a:latin typeface="Calibri"/>
                <a:cs typeface="Calibri"/>
              </a:rPr>
              <a:t>r</a:t>
            </a:r>
            <a:r>
              <a:rPr sz="3400" b="1" spc="-20" dirty="0">
                <a:latin typeface="Calibri"/>
                <a:cs typeface="Calibri"/>
              </a:rPr>
              <a:t>s</a:t>
            </a:r>
            <a:r>
              <a:rPr sz="3400" b="1" spc="-15" dirty="0">
                <a:latin typeface="Calibri"/>
                <a:cs typeface="Calibri"/>
              </a:rPr>
              <a:t>al</a:t>
            </a:r>
            <a:r>
              <a:rPr sz="3400" b="1" dirty="0">
                <a:latin typeface="Calibri"/>
                <a:cs typeface="Calibri"/>
              </a:rPr>
              <a:t> m</a:t>
            </a:r>
            <a:r>
              <a:rPr sz="3400" b="1" spc="-20" dirty="0">
                <a:latin typeface="Calibri"/>
                <a:cs typeface="Calibri"/>
              </a:rPr>
              <a:t>od</a:t>
            </a:r>
            <a:r>
              <a:rPr sz="3400" b="1" dirty="0">
                <a:latin typeface="Calibri"/>
                <a:cs typeface="Calibri"/>
              </a:rPr>
              <a:t>e</a:t>
            </a:r>
            <a:r>
              <a:rPr sz="3400" b="1" spc="-15" dirty="0">
                <a:latin typeface="Calibri"/>
                <a:cs typeface="Calibri"/>
              </a:rPr>
              <a:t>ls</a:t>
            </a:r>
            <a:r>
              <a:rPr sz="3400" b="1" spc="-5" dirty="0">
                <a:latin typeface="Calibri"/>
                <a:cs typeface="Calibri"/>
              </a:rPr>
              <a:t> </a:t>
            </a:r>
            <a:r>
              <a:rPr sz="3400" b="1" spc="-15" dirty="0">
                <a:latin typeface="Calibri"/>
                <a:cs typeface="Calibri"/>
              </a:rPr>
              <a:t>in</a:t>
            </a:r>
            <a:r>
              <a:rPr sz="3400" b="1" dirty="0">
                <a:latin typeface="Calibri"/>
                <a:cs typeface="Calibri"/>
              </a:rPr>
              <a:t> </a:t>
            </a:r>
            <a:r>
              <a:rPr sz="3400" b="1" spc="-20" dirty="0">
                <a:latin typeface="Calibri"/>
                <a:cs typeface="Calibri"/>
              </a:rPr>
              <a:t>p</a:t>
            </a:r>
            <a:r>
              <a:rPr sz="3400" b="1" spc="-85" dirty="0">
                <a:latin typeface="Calibri"/>
                <a:cs typeface="Calibri"/>
              </a:rPr>
              <a:t>h</a:t>
            </a:r>
            <a:r>
              <a:rPr sz="3400" b="1" spc="-15" dirty="0">
                <a:latin typeface="Calibri"/>
                <a:cs typeface="Calibri"/>
              </a:rPr>
              <a:t>ylo</a:t>
            </a:r>
            <a:r>
              <a:rPr sz="3400" b="1" spc="-35" dirty="0">
                <a:latin typeface="Calibri"/>
                <a:cs typeface="Calibri"/>
              </a:rPr>
              <a:t>g</a:t>
            </a:r>
            <a:r>
              <a:rPr sz="3400" b="1" dirty="0">
                <a:latin typeface="Calibri"/>
                <a:cs typeface="Calibri"/>
              </a:rPr>
              <a:t>e</a:t>
            </a:r>
            <a:r>
              <a:rPr sz="3400" b="1" spc="-20" dirty="0">
                <a:latin typeface="Calibri"/>
                <a:cs typeface="Calibri"/>
              </a:rPr>
              <a:t>n</a:t>
            </a:r>
            <a:r>
              <a:rPr sz="3400" b="1" spc="-25" dirty="0">
                <a:latin typeface="Calibri"/>
                <a:cs typeface="Calibri"/>
              </a:rPr>
              <a:t>e</a:t>
            </a:r>
            <a:r>
              <a:rPr lang="en-US" sz="3400" b="1" spc="254" dirty="0">
                <a:latin typeface="Calibri"/>
                <a:cs typeface="Calibri"/>
              </a:rPr>
              <a:t>ti</a:t>
            </a:r>
            <a:r>
              <a:rPr sz="3400" b="1" dirty="0">
                <a:latin typeface="Calibri"/>
                <a:cs typeface="Calibri"/>
              </a:rPr>
              <a:t>c </a:t>
            </a:r>
            <a:r>
              <a:rPr sz="3400" b="1" spc="-15" dirty="0">
                <a:latin typeface="Calibri"/>
                <a:cs typeface="Calibri"/>
              </a:rPr>
              <a:t>bio</a:t>
            </a:r>
            <a:r>
              <a:rPr sz="3400" b="1" spc="-35" dirty="0">
                <a:latin typeface="Calibri"/>
                <a:cs typeface="Calibri"/>
              </a:rPr>
              <a:t>g</a:t>
            </a:r>
            <a:r>
              <a:rPr sz="3400" b="1" dirty="0">
                <a:latin typeface="Calibri"/>
                <a:cs typeface="Calibri"/>
              </a:rPr>
              <a:t>e</a:t>
            </a:r>
            <a:r>
              <a:rPr sz="3400" b="1" spc="-20" dirty="0">
                <a:latin typeface="Calibri"/>
                <a:cs typeface="Calibri"/>
              </a:rPr>
              <a:t>o</a:t>
            </a:r>
            <a:r>
              <a:rPr sz="3400" b="1" spc="-5" dirty="0">
                <a:latin typeface="Calibri"/>
                <a:cs typeface="Calibri"/>
              </a:rPr>
              <a:t>g</a:t>
            </a:r>
            <a:r>
              <a:rPr sz="3400" b="1" spc="-75" dirty="0">
                <a:latin typeface="Calibri"/>
                <a:cs typeface="Calibri"/>
              </a:rPr>
              <a:t>r</a:t>
            </a:r>
            <a:r>
              <a:rPr sz="3400" b="1" spc="-20" dirty="0">
                <a:latin typeface="Calibri"/>
                <a:cs typeface="Calibri"/>
              </a:rPr>
              <a:t>ap</a:t>
            </a:r>
            <a:r>
              <a:rPr sz="3400" b="1" spc="-85" dirty="0">
                <a:latin typeface="Calibri"/>
                <a:cs typeface="Calibri"/>
              </a:rPr>
              <a:t>h</a:t>
            </a:r>
            <a:r>
              <a:rPr sz="3400" b="1" spc="-15" dirty="0">
                <a:latin typeface="Calibri"/>
                <a:cs typeface="Calibri"/>
              </a:rPr>
              <a:t>y: the</a:t>
            </a:r>
            <a:r>
              <a:rPr sz="3400" b="1" dirty="0">
                <a:latin typeface="Calibri"/>
                <a:cs typeface="Calibri"/>
              </a:rPr>
              <a:t>o</a:t>
            </a:r>
            <a:r>
              <a:rPr sz="3400" b="1" spc="10" dirty="0">
                <a:latin typeface="Calibri"/>
                <a:cs typeface="Calibri"/>
              </a:rPr>
              <a:t>r</a:t>
            </a:r>
            <a:r>
              <a:rPr sz="3400" b="1" spc="-20" dirty="0">
                <a:latin typeface="Calibri"/>
                <a:cs typeface="Calibri"/>
              </a:rPr>
              <a:t>y</a:t>
            </a:r>
            <a:r>
              <a:rPr sz="3400" b="1" spc="-5" dirty="0">
                <a:latin typeface="Calibri"/>
                <a:cs typeface="Calibri"/>
              </a:rPr>
              <a:t> </a:t>
            </a:r>
            <a:r>
              <a:rPr sz="3400" b="1" spc="-20" dirty="0">
                <a:latin typeface="Calibri"/>
                <a:cs typeface="Calibri"/>
              </a:rPr>
              <a:t>and</a:t>
            </a:r>
            <a:r>
              <a:rPr sz="3400" b="1" spc="-5" dirty="0">
                <a:latin typeface="Calibri"/>
                <a:cs typeface="Calibri"/>
              </a:rPr>
              <a:t> </a:t>
            </a:r>
            <a:r>
              <a:rPr sz="3400" b="1" spc="-15" dirty="0">
                <a:latin typeface="Calibri"/>
                <a:cs typeface="Calibri"/>
              </a:rPr>
              <a:t>appli</a:t>
            </a:r>
            <a:r>
              <a:rPr sz="3400" b="1" spc="-35" dirty="0">
                <a:latin typeface="Calibri"/>
                <a:cs typeface="Calibri"/>
              </a:rPr>
              <a:t>c</a:t>
            </a:r>
            <a:r>
              <a:rPr sz="3400" b="1" spc="-55" dirty="0">
                <a:latin typeface="Calibri"/>
                <a:cs typeface="Calibri"/>
              </a:rPr>
              <a:t>a</a:t>
            </a:r>
            <a:r>
              <a:rPr lang="en-US" sz="3400" b="1" spc="254" dirty="0">
                <a:latin typeface="Calibri"/>
                <a:cs typeface="Calibri"/>
              </a:rPr>
              <a:t>ti</a:t>
            </a:r>
            <a:r>
              <a:rPr sz="3400" b="1" spc="-20" dirty="0">
                <a:latin typeface="Calibri"/>
                <a:cs typeface="Calibri"/>
              </a:rPr>
              <a:t>on</a:t>
            </a:r>
            <a:r>
              <a:rPr sz="3400" b="1" spc="-5" dirty="0">
                <a:latin typeface="Calibri"/>
                <a:cs typeface="Calibri"/>
              </a:rPr>
              <a:t> </a:t>
            </a:r>
            <a:r>
              <a:rPr sz="3400" b="1" spc="-15" dirty="0">
                <a:latin typeface="Calibri"/>
                <a:cs typeface="Calibri"/>
              </a:rPr>
              <a:t>in</a:t>
            </a:r>
            <a:r>
              <a:rPr sz="3400" b="1" spc="-5" dirty="0">
                <a:latin typeface="Calibri"/>
                <a:cs typeface="Calibri"/>
              </a:rPr>
              <a:t> </a:t>
            </a:r>
            <a:r>
              <a:rPr sz="3400" b="1" spc="-20" dirty="0">
                <a:latin typeface="Calibri"/>
                <a:cs typeface="Calibri"/>
              </a:rPr>
              <a:t>a</a:t>
            </a:r>
            <a:r>
              <a:rPr sz="3400" b="1" spc="-55" dirty="0">
                <a:latin typeface="Calibri"/>
                <a:cs typeface="Calibri"/>
              </a:rPr>
              <a:t>n</a:t>
            </a:r>
            <a:r>
              <a:rPr sz="3400" b="1" spc="-15" dirty="0">
                <a:latin typeface="Calibri"/>
                <a:cs typeface="Calibri"/>
              </a:rPr>
              <a:t>ts,</a:t>
            </a:r>
            <a:r>
              <a:rPr sz="3400" b="1" spc="-5" dirty="0">
                <a:latin typeface="Calibri"/>
                <a:cs typeface="Calibri"/>
              </a:rPr>
              <a:t> </a:t>
            </a:r>
            <a:r>
              <a:rPr sz="3400" b="1" dirty="0">
                <a:latin typeface="Calibri"/>
                <a:cs typeface="Calibri"/>
              </a:rPr>
              <a:t>c</a:t>
            </a:r>
            <a:r>
              <a:rPr sz="3400" b="1" spc="-40" dirty="0">
                <a:latin typeface="Calibri"/>
                <a:cs typeface="Calibri"/>
              </a:rPr>
              <a:t>r</a:t>
            </a:r>
            <a:r>
              <a:rPr sz="3400" b="1" dirty="0">
                <a:latin typeface="Calibri"/>
                <a:cs typeface="Calibri"/>
              </a:rPr>
              <a:t>oc</a:t>
            </a:r>
            <a:r>
              <a:rPr sz="3400" b="1" spc="-20" dirty="0">
                <a:latin typeface="Calibri"/>
                <a:cs typeface="Calibri"/>
              </a:rPr>
              <a:t>s</a:t>
            </a:r>
            <a:r>
              <a:rPr sz="3400" b="1" spc="-10" dirty="0">
                <a:latin typeface="Calibri"/>
                <a:cs typeface="Calibri"/>
              </a:rPr>
              <a:t>,</a:t>
            </a:r>
            <a:r>
              <a:rPr sz="3400" b="1" spc="-5" dirty="0">
                <a:latin typeface="Calibri"/>
                <a:cs typeface="Calibri"/>
              </a:rPr>
              <a:t> </a:t>
            </a:r>
            <a:r>
              <a:rPr sz="3400" b="1" spc="-10" dirty="0">
                <a:latin typeface="Calibri"/>
                <a:cs typeface="Calibri"/>
              </a:rPr>
              <a:t>li</a:t>
            </a:r>
            <a:r>
              <a:rPr sz="3400" b="1" spc="-60" dirty="0">
                <a:latin typeface="Calibri"/>
                <a:cs typeface="Calibri"/>
              </a:rPr>
              <a:t>z</a:t>
            </a:r>
            <a:r>
              <a:rPr sz="3400" b="1" dirty="0">
                <a:latin typeface="Calibri"/>
                <a:cs typeface="Calibri"/>
              </a:rPr>
              <a:t>a</a:t>
            </a:r>
            <a:r>
              <a:rPr sz="3400" b="1" spc="-40" dirty="0">
                <a:latin typeface="Calibri"/>
                <a:cs typeface="Calibri"/>
              </a:rPr>
              <a:t>r</a:t>
            </a:r>
            <a:r>
              <a:rPr sz="3400" b="1" spc="-20" dirty="0">
                <a:latin typeface="Calibri"/>
                <a:cs typeface="Calibri"/>
              </a:rPr>
              <a:t>ds</a:t>
            </a:r>
            <a:r>
              <a:rPr sz="3400" b="1" spc="-5" dirty="0">
                <a:latin typeface="Calibri"/>
                <a:cs typeface="Calibri"/>
              </a:rPr>
              <a:t> </a:t>
            </a:r>
            <a:r>
              <a:rPr sz="3400" b="1" spc="-20" dirty="0">
                <a:latin typeface="Calibri"/>
                <a:cs typeface="Calibri"/>
              </a:rPr>
              <a:t>and</a:t>
            </a:r>
            <a:r>
              <a:rPr sz="3400" b="1" spc="-5" dirty="0">
                <a:latin typeface="Calibri"/>
                <a:cs typeface="Calibri"/>
              </a:rPr>
              <a:t> </a:t>
            </a:r>
            <a:r>
              <a:rPr sz="3400" b="1" spc="-65" dirty="0">
                <a:latin typeface="Calibri"/>
                <a:cs typeface="Calibri"/>
              </a:rPr>
              <a:t>k</a:t>
            </a:r>
            <a:r>
              <a:rPr sz="3400" b="1" spc="-15" dirty="0">
                <a:latin typeface="Calibri"/>
                <a:cs typeface="Calibri"/>
              </a:rPr>
              <a:t>auri</a:t>
            </a:r>
            <a:endParaRPr sz="3400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34534" y="8819978"/>
            <a:ext cx="965959" cy="93362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278403" y="9269811"/>
            <a:ext cx="1842590" cy="4544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278403" y="9269811"/>
            <a:ext cx="1842770" cy="454659"/>
          </a:xfrm>
          <a:custGeom>
            <a:avLst/>
            <a:gdLst/>
            <a:ahLst/>
            <a:cxnLst/>
            <a:rect l="l" t="t" r="r" b="b"/>
            <a:pathLst>
              <a:path w="1842770" h="454659">
                <a:moveTo>
                  <a:pt x="0" y="0"/>
                </a:moveTo>
                <a:lnTo>
                  <a:pt x="1842590" y="0"/>
                </a:lnTo>
                <a:lnTo>
                  <a:pt x="1842590" y="454416"/>
                </a:lnTo>
                <a:lnTo>
                  <a:pt x="0" y="454416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070126" y="8909258"/>
            <a:ext cx="3125519" cy="7872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8852022"/>
            <a:ext cx="4057650" cy="901700"/>
          </a:xfrm>
          <a:custGeom>
            <a:avLst/>
            <a:gdLst/>
            <a:ahLst/>
            <a:cxnLst/>
            <a:rect l="l" t="t" r="r" b="b"/>
            <a:pathLst>
              <a:path w="4057650" h="901700">
                <a:moveTo>
                  <a:pt x="0" y="901577"/>
                </a:moveTo>
                <a:lnTo>
                  <a:pt x="4057609" y="901577"/>
                </a:lnTo>
                <a:lnTo>
                  <a:pt x="4057609" y="0"/>
                </a:lnTo>
                <a:lnTo>
                  <a:pt x="0" y="0"/>
                </a:lnTo>
                <a:lnTo>
                  <a:pt x="0" y="9015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561311" y="9053007"/>
            <a:ext cx="1492987" cy="56001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8856043"/>
            <a:ext cx="1447741" cy="89292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923640" y="2159000"/>
            <a:ext cx="2540000" cy="33782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203877" y="8852022"/>
            <a:ext cx="2454275" cy="901700"/>
          </a:xfrm>
          <a:custGeom>
            <a:avLst/>
            <a:gdLst/>
            <a:ahLst/>
            <a:cxnLst/>
            <a:rect l="l" t="t" r="r" b="b"/>
            <a:pathLst>
              <a:path w="2454275" h="901700">
                <a:moveTo>
                  <a:pt x="0" y="0"/>
                </a:moveTo>
                <a:lnTo>
                  <a:pt x="2453779" y="0"/>
                </a:lnTo>
                <a:lnTo>
                  <a:pt x="2453779" y="901577"/>
                </a:lnTo>
                <a:lnTo>
                  <a:pt x="0" y="901577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221054" y="8883857"/>
            <a:ext cx="2387592" cy="8436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144000" y="5651500"/>
            <a:ext cx="3824604" cy="13869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63600" marR="863600" indent="2540" algn="ctr">
              <a:lnSpc>
                <a:spcPct val="100000"/>
              </a:lnSpc>
            </a:pPr>
            <a:r>
              <a:rPr sz="2000" b="1" spc="-10" dirty="0">
                <a:latin typeface="Calibri"/>
                <a:cs typeface="Calibri"/>
              </a:rPr>
              <a:t>Nicholas </a:t>
            </a:r>
            <a:r>
              <a:rPr sz="2000" b="1" spc="-15" dirty="0">
                <a:latin typeface="Calibri"/>
                <a:cs typeface="Calibri"/>
              </a:rPr>
              <a:t>J</a:t>
            </a:r>
            <a:r>
              <a:rPr sz="2000" b="1" dirty="0">
                <a:latin typeface="Calibri"/>
                <a:cs typeface="Calibri"/>
              </a:rPr>
              <a:t>. </a:t>
            </a:r>
            <a:r>
              <a:rPr sz="2000" b="1" spc="-20" dirty="0">
                <a:latin typeface="Calibri"/>
                <a:cs typeface="Calibri"/>
              </a:rPr>
              <a:t>M</a:t>
            </a:r>
            <a:r>
              <a:rPr sz="2000" b="1" spc="-30" dirty="0">
                <a:latin typeface="Calibri"/>
                <a:cs typeface="Calibri"/>
              </a:rPr>
              <a:t>a</a:t>
            </a:r>
            <a:r>
              <a:rPr sz="2000" b="1" spc="-10" dirty="0">
                <a:latin typeface="Calibri"/>
                <a:cs typeface="Calibri"/>
              </a:rPr>
              <a:t>t</a:t>
            </a:r>
            <a:r>
              <a:rPr sz="2000" b="1" dirty="0">
                <a:latin typeface="Calibri"/>
                <a:cs typeface="Calibri"/>
              </a:rPr>
              <a:t>z</a:t>
            </a:r>
            <a:r>
              <a:rPr sz="2000" b="1" spc="-65" dirty="0">
                <a:latin typeface="Calibri"/>
                <a:cs typeface="Calibri"/>
              </a:rPr>
              <a:t>k</a:t>
            </a:r>
            <a:r>
              <a:rPr sz="2000" b="1" dirty="0">
                <a:latin typeface="Calibri"/>
                <a:cs typeface="Calibri"/>
              </a:rPr>
              <a:t>e Se</a:t>
            </a:r>
            <a:r>
              <a:rPr sz="2000" b="1" spc="-10" dirty="0">
                <a:latin typeface="Calibri"/>
                <a:cs typeface="Calibri"/>
              </a:rPr>
              <a:t>nior</a:t>
            </a:r>
            <a:r>
              <a:rPr sz="2000" b="1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L</a:t>
            </a:r>
            <a:r>
              <a:rPr sz="2000" b="1" dirty="0">
                <a:latin typeface="Calibri"/>
                <a:cs typeface="Calibri"/>
              </a:rPr>
              <a:t>ec</a:t>
            </a:r>
            <a:r>
              <a:rPr sz="2000" b="1" spc="-10" dirty="0">
                <a:latin typeface="Calibri"/>
                <a:cs typeface="Calibri"/>
              </a:rPr>
              <a:t>tu</a:t>
            </a:r>
            <a:r>
              <a:rPr sz="2000" b="1" spc="-35" dirty="0">
                <a:latin typeface="Calibri"/>
                <a:cs typeface="Calibri"/>
              </a:rPr>
              <a:t>r</a:t>
            </a:r>
            <a:r>
              <a:rPr sz="2000" b="1" dirty="0">
                <a:latin typeface="Calibri"/>
                <a:cs typeface="Calibri"/>
              </a:rPr>
              <a:t>e</a:t>
            </a:r>
            <a:r>
              <a:rPr sz="2000" b="1" spc="-150" dirty="0">
                <a:latin typeface="Calibri"/>
                <a:cs typeface="Calibri"/>
              </a:rPr>
              <a:t>r</a:t>
            </a:r>
            <a:r>
              <a:rPr sz="2000" b="1" spc="-10" dirty="0">
                <a:latin typeface="Calibri"/>
                <a:cs typeface="Calibri"/>
              </a:rPr>
              <a:t>,</a:t>
            </a:r>
            <a:r>
              <a:rPr sz="2000" b="1" spc="-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SBS</a:t>
            </a:r>
            <a:endParaRPr sz="20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1400" dirty="0">
                <a:latin typeface="Calibri"/>
                <a:cs typeface="Calibri"/>
              </a:rPr>
              <a:t>S</a:t>
            </a:r>
            <a:r>
              <a:rPr sz="1400" spc="-10" dirty="0">
                <a:latin typeface="Calibri"/>
                <a:cs typeface="Calibri"/>
              </a:rPr>
              <a:t>chool of Biologi</a:t>
            </a:r>
            <a:r>
              <a:rPr sz="1400" spc="-25" dirty="0">
                <a:latin typeface="Calibri"/>
                <a:cs typeface="Calibri"/>
              </a:rPr>
              <a:t>c</a:t>
            </a:r>
            <a:r>
              <a:rPr sz="1400" dirty="0">
                <a:latin typeface="Calibri"/>
                <a:cs typeface="Calibri"/>
              </a:rPr>
              <a:t>al S</a:t>
            </a:r>
            <a:r>
              <a:rPr sz="1400" spc="-10" dirty="0">
                <a:latin typeface="Calibri"/>
                <a:cs typeface="Calibri"/>
              </a:rPr>
              <a:t>c</a:t>
            </a:r>
            <a:r>
              <a:rPr sz="1400" dirty="0">
                <a:latin typeface="Calibri"/>
                <a:cs typeface="Calibri"/>
              </a:rPr>
              <a:t>i</a:t>
            </a:r>
            <a:r>
              <a:rPr sz="1400" spc="-10" dirty="0">
                <a:latin typeface="Calibri"/>
                <a:cs typeface="Calibri"/>
              </a:rPr>
              <a:t>e</a:t>
            </a:r>
            <a:r>
              <a:rPr sz="1400" dirty="0">
                <a:latin typeface="Calibri"/>
                <a:cs typeface="Calibri"/>
              </a:rPr>
              <a:t>n</a:t>
            </a:r>
            <a:r>
              <a:rPr sz="1400" spc="-10" dirty="0">
                <a:latin typeface="Calibri"/>
                <a:cs typeface="Calibri"/>
              </a:rPr>
              <a:t>ce</a:t>
            </a:r>
            <a:r>
              <a:rPr sz="1400" dirty="0">
                <a:latin typeface="Calibri"/>
                <a:cs typeface="Calibri"/>
              </a:rPr>
              <a:t>s</a:t>
            </a:r>
            <a:r>
              <a:rPr sz="1400" spc="-5" dirty="0">
                <a:latin typeface="Calibri"/>
                <a:cs typeface="Calibri"/>
              </a:rPr>
              <a:t>,</a:t>
            </a:r>
            <a:endParaRPr sz="1400" dirty="0">
              <a:latin typeface="Calibri"/>
              <a:cs typeface="Calibri"/>
            </a:endParaRPr>
          </a:p>
          <a:p>
            <a:pPr marL="3175" algn="ctr">
              <a:lnSpc>
                <a:spcPts val="1590"/>
              </a:lnSpc>
              <a:spcBef>
                <a:spcPts val="120"/>
              </a:spcBef>
            </a:pPr>
            <a:r>
              <a:rPr sz="1400" spc="-10" dirty="0">
                <a:latin typeface="Calibri"/>
                <a:cs typeface="Calibri"/>
              </a:rPr>
              <a:t>Uni</a:t>
            </a:r>
            <a:r>
              <a:rPr sz="1400" spc="-25" dirty="0">
                <a:latin typeface="Calibri"/>
                <a:cs typeface="Calibri"/>
              </a:rPr>
              <a:t>v</a:t>
            </a:r>
            <a:r>
              <a:rPr sz="1400" spc="-10" dirty="0">
                <a:latin typeface="Calibri"/>
                <a:cs typeface="Calibri"/>
              </a:rPr>
              <a:t>e</a:t>
            </a:r>
            <a:r>
              <a:rPr sz="1400" spc="-30" dirty="0">
                <a:latin typeface="Calibri"/>
                <a:cs typeface="Calibri"/>
              </a:rPr>
              <a:t>r</a:t>
            </a:r>
            <a:r>
              <a:rPr sz="1400" dirty="0">
                <a:latin typeface="Calibri"/>
                <a:cs typeface="Calibri"/>
              </a:rPr>
              <a:t>si</a:t>
            </a:r>
            <a:r>
              <a:rPr sz="1400" spc="-10" dirty="0">
                <a:latin typeface="Calibri"/>
                <a:cs typeface="Calibri"/>
              </a:rPr>
              <a:t>ty</a:t>
            </a:r>
            <a:r>
              <a:rPr sz="1400" dirty="0">
                <a:latin typeface="Calibri"/>
                <a:cs typeface="Calibri"/>
              </a:rPr>
              <a:t> of </a:t>
            </a:r>
            <a:r>
              <a:rPr sz="1400" spc="-10" dirty="0">
                <a:latin typeface="Calibri"/>
                <a:cs typeface="Calibri"/>
              </a:rPr>
              <a:t>A</a:t>
            </a:r>
            <a:r>
              <a:rPr sz="1400" dirty="0">
                <a:latin typeface="Calibri"/>
                <a:cs typeface="Calibri"/>
              </a:rPr>
              <a:t>u</a:t>
            </a:r>
            <a:r>
              <a:rPr sz="1400" spc="-10" dirty="0">
                <a:latin typeface="Calibri"/>
                <a:cs typeface="Calibri"/>
              </a:rPr>
              <a:t>ck</a:t>
            </a:r>
            <a:r>
              <a:rPr sz="1400" dirty="0">
                <a:latin typeface="Calibri"/>
                <a:cs typeface="Calibri"/>
              </a:rPr>
              <a:t>land</a:t>
            </a:r>
          </a:p>
          <a:p>
            <a:pPr algn="ctr">
              <a:lnSpc>
                <a:spcPts val="2310"/>
              </a:lnSpc>
            </a:pPr>
            <a:r>
              <a:rPr sz="2000" u="heavy" dirty="0">
                <a:latin typeface="Calibri"/>
                <a:cs typeface="Calibri"/>
              </a:rPr>
              <a:t>p</a:t>
            </a:r>
            <a:r>
              <a:rPr sz="2000" u="heavy" spc="-40" dirty="0">
                <a:latin typeface="Calibri"/>
                <a:cs typeface="Calibri"/>
              </a:rPr>
              <a:t>h</a:t>
            </a:r>
            <a:r>
              <a:rPr sz="2000" u="heavy" spc="-10" dirty="0">
                <a:latin typeface="Calibri"/>
                <a:cs typeface="Calibri"/>
              </a:rPr>
              <a:t>y</a:t>
            </a:r>
            <a:r>
              <a:rPr sz="2000" u="heavy" dirty="0">
                <a:latin typeface="Calibri"/>
                <a:cs typeface="Calibri"/>
              </a:rPr>
              <a:t>lo</a:t>
            </a:r>
            <a:r>
              <a:rPr sz="2000" u="heavy" spc="-70" dirty="0">
                <a:latin typeface="Calibri"/>
                <a:cs typeface="Calibri"/>
              </a:rPr>
              <a:t>.</a:t>
            </a:r>
            <a:r>
              <a:rPr sz="2000" u="heavy" spc="-15" dirty="0">
                <a:latin typeface="Calibri"/>
                <a:cs typeface="Calibri"/>
              </a:rPr>
              <a:t>w</a:t>
            </a:r>
            <a:r>
              <a:rPr sz="2000" u="heavy" dirty="0">
                <a:latin typeface="Calibri"/>
                <a:cs typeface="Calibri"/>
              </a:rPr>
              <a:t>i</a:t>
            </a:r>
            <a:r>
              <a:rPr sz="2000" u="heavy" spc="-10" dirty="0">
                <a:latin typeface="Calibri"/>
                <a:cs typeface="Calibri"/>
              </a:rPr>
              <a:t>k</a:t>
            </a:r>
            <a:r>
              <a:rPr sz="2000" u="heavy" dirty="0">
                <a:latin typeface="Calibri"/>
                <a:cs typeface="Calibri"/>
              </a:rPr>
              <a:t>idot.</a:t>
            </a:r>
            <a:r>
              <a:rPr sz="2000" u="heavy" spc="-30" dirty="0">
                <a:latin typeface="Calibri"/>
                <a:cs typeface="Calibri"/>
              </a:rPr>
              <a:t>c</a:t>
            </a:r>
            <a:r>
              <a:rPr sz="2000" u="heavy" dirty="0">
                <a:latin typeface="Calibri"/>
                <a:cs typeface="Calibri"/>
              </a:rPr>
              <a:t>o</a:t>
            </a:r>
            <a:r>
              <a:rPr sz="2000" u="heavy" spc="-20" dirty="0">
                <a:latin typeface="Calibri"/>
                <a:cs typeface="Calibri"/>
              </a:rPr>
              <a:t>m</a:t>
            </a:r>
            <a:r>
              <a:rPr sz="2000" u="heavy" dirty="0">
                <a:latin typeface="Calibri"/>
                <a:cs typeface="Calibri"/>
              </a:rPr>
              <a:t>/ni</a:t>
            </a:r>
            <a:r>
              <a:rPr sz="2000" u="heavy" spc="-10" dirty="0">
                <a:latin typeface="Calibri"/>
                <a:cs typeface="Calibri"/>
              </a:rPr>
              <a:t>c</a:t>
            </a:r>
            <a:r>
              <a:rPr sz="2000" u="heavy" dirty="0">
                <a:latin typeface="Calibri"/>
                <a:cs typeface="Calibri"/>
              </a:rPr>
              <a:t>holas-j-</a:t>
            </a:r>
            <a:r>
              <a:rPr sz="2000" u="heavy" spc="-20" dirty="0">
                <a:latin typeface="Calibri"/>
                <a:cs typeface="Calibri"/>
              </a:rPr>
              <a:t>ma</a:t>
            </a:r>
            <a:r>
              <a:rPr sz="2000" u="heavy" spc="-10" dirty="0">
                <a:latin typeface="Calibri"/>
                <a:cs typeface="Calibri"/>
              </a:rPr>
              <a:t>tz</a:t>
            </a:r>
            <a:r>
              <a:rPr sz="2000" u="heavy" spc="-75" dirty="0">
                <a:latin typeface="Calibri"/>
                <a:cs typeface="Calibri"/>
              </a:rPr>
              <a:t>k</a:t>
            </a:r>
            <a:r>
              <a:rPr sz="2000" u="heavy" spc="-10" dirty="0">
                <a:latin typeface="Calibri"/>
                <a:cs typeface="Calibri"/>
              </a:rPr>
              <a:t>e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800" y="8594725"/>
            <a:ext cx="1950085" cy="21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dirty="0">
                <a:latin typeface="Calibri"/>
                <a:cs typeface="Calibri"/>
              </a:rPr>
              <a:t>Than</a:t>
            </a:r>
            <a:r>
              <a:rPr sz="1500" spc="-25" dirty="0">
                <a:latin typeface="Calibri"/>
                <a:cs typeface="Calibri"/>
              </a:rPr>
              <a:t>k</a:t>
            </a:r>
            <a:r>
              <a:rPr sz="1500" dirty="0">
                <a:latin typeface="Calibri"/>
                <a:cs typeface="Calibri"/>
              </a:rPr>
              <a:t>s </a:t>
            </a:r>
            <a:r>
              <a:rPr sz="1500" spc="-35" dirty="0">
                <a:latin typeface="Calibri"/>
                <a:cs typeface="Calibri"/>
              </a:rPr>
              <a:t>f</a:t>
            </a:r>
            <a:r>
              <a:rPr sz="1500" dirty="0">
                <a:latin typeface="Calibri"/>
                <a:cs typeface="Calibri"/>
              </a:rPr>
              <a:t>o</a:t>
            </a:r>
            <a:r>
              <a:rPr sz="1500" spc="-10" dirty="0">
                <a:latin typeface="Calibri"/>
                <a:cs typeface="Calibri"/>
              </a:rPr>
              <a:t>r</a:t>
            </a:r>
            <a:r>
              <a:rPr sz="1500" dirty="0">
                <a:latin typeface="Calibri"/>
                <a:cs typeface="Calibri"/>
              </a:rPr>
              <a:t> suppo</a:t>
            </a:r>
            <a:r>
              <a:rPr sz="1500" spc="-10" dirty="0">
                <a:latin typeface="Calibri"/>
                <a:cs typeface="Calibri"/>
              </a:rPr>
              <a:t>rt</a:t>
            </a:r>
            <a:r>
              <a:rPr sz="1500" dirty="0">
                <a:latin typeface="Calibri"/>
                <a:cs typeface="Calibri"/>
              </a:rPr>
              <a:t> f</a:t>
            </a:r>
            <a:r>
              <a:rPr sz="1500" spc="-35" dirty="0">
                <a:latin typeface="Calibri"/>
                <a:cs typeface="Calibri"/>
              </a:rPr>
              <a:t>r</a:t>
            </a:r>
            <a:r>
              <a:rPr sz="1500" dirty="0">
                <a:latin typeface="Calibri"/>
                <a:cs typeface="Calibri"/>
              </a:rPr>
              <a:t>o</a:t>
            </a:r>
            <a:r>
              <a:rPr sz="1500" spc="-10" dirty="0">
                <a:latin typeface="Calibri"/>
                <a:cs typeface="Calibri"/>
              </a:rPr>
              <a:t>m: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0" y="1828800"/>
            <a:ext cx="9715500" cy="48641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508988" y="6739235"/>
            <a:ext cx="2703515" cy="19558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508988" y="6739234"/>
            <a:ext cx="2703830" cy="19558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31140" marR="1574165" indent="10160" algn="ctr">
              <a:lnSpc>
                <a:spcPct val="104200"/>
              </a:lnSpc>
            </a:pPr>
            <a:r>
              <a:rPr sz="1600" b="1" spc="-10" dirty="0">
                <a:latin typeface="Calibri"/>
                <a:cs typeface="Calibri"/>
              </a:rPr>
              <a:t>H</a:t>
            </a:r>
            <a:r>
              <a:rPr sz="1600" b="1" spc="-25" dirty="0">
                <a:latin typeface="Calibri"/>
                <a:cs typeface="Calibri"/>
              </a:rPr>
              <a:t>a</a:t>
            </a:r>
            <a:r>
              <a:rPr sz="1600" b="1" spc="-20" dirty="0">
                <a:latin typeface="Calibri"/>
                <a:cs typeface="Calibri"/>
              </a:rPr>
              <a:t>w</a:t>
            </a:r>
            <a:r>
              <a:rPr sz="1600" b="1" spc="-10" dirty="0">
                <a:latin typeface="Calibri"/>
                <a:cs typeface="Calibri"/>
              </a:rPr>
              <a:t>aiian</a:t>
            </a:r>
            <a:r>
              <a:rPr sz="1600" b="1" spc="-5" dirty="0">
                <a:latin typeface="Calibri"/>
                <a:cs typeface="Calibri"/>
              </a:rPr>
              <a:t> </a:t>
            </a:r>
            <a:r>
              <a:rPr sz="1600" b="1" i="1" dirty="0">
                <a:latin typeface="Calibri"/>
                <a:cs typeface="Calibri"/>
              </a:rPr>
              <a:t>P</a:t>
            </a:r>
            <a:r>
              <a:rPr sz="1600" b="1" i="1" spc="-25" dirty="0">
                <a:latin typeface="Calibri"/>
                <a:cs typeface="Calibri"/>
              </a:rPr>
              <a:t>s</a:t>
            </a:r>
            <a:r>
              <a:rPr sz="1600" b="1" i="1" spc="-10" dirty="0">
                <a:latin typeface="Calibri"/>
                <a:cs typeface="Calibri"/>
              </a:rPr>
              <a:t>y</a:t>
            </a:r>
            <a:r>
              <a:rPr sz="1600" b="1" i="1" spc="-15" dirty="0">
                <a:latin typeface="Calibri"/>
                <a:cs typeface="Calibri"/>
              </a:rPr>
              <a:t>c</a:t>
            </a:r>
            <a:r>
              <a:rPr sz="1600" b="1" i="1" spc="-5" dirty="0">
                <a:latin typeface="Calibri"/>
                <a:cs typeface="Calibri"/>
              </a:rPr>
              <a:t>hot</a:t>
            </a:r>
            <a:r>
              <a:rPr sz="1600" b="1" i="1" spc="-10" dirty="0">
                <a:latin typeface="Calibri"/>
                <a:cs typeface="Calibri"/>
              </a:rPr>
              <a:t>ria</a:t>
            </a:r>
            <a:r>
              <a:rPr sz="1600" b="1" i="1" spc="-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shr</a:t>
            </a:r>
            <a:r>
              <a:rPr sz="1600" b="1" spc="-10" dirty="0">
                <a:latin typeface="Calibri"/>
                <a:cs typeface="Calibri"/>
              </a:rPr>
              <a:t>u</a:t>
            </a:r>
            <a:r>
              <a:rPr sz="1600" b="1" spc="-20" dirty="0">
                <a:latin typeface="Calibri"/>
                <a:cs typeface="Calibri"/>
              </a:rPr>
              <a:t>b</a:t>
            </a:r>
            <a:r>
              <a:rPr sz="1600" b="1" spc="-10" dirty="0">
                <a:latin typeface="Calibri"/>
                <a:cs typeface="Calibri"/>
              </a:rPr>
              <a:t>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604000" y="6515100"/>
            <a:ext cx="1536700" cy="889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11430" algn="ctr">
              <a:lnSpc>
                <a:spcPct val="100000"/>
              </a:lnSpc>
            </a:pPr>
            <a:r>
              <a:rPr sz="2000" b="1" spc="-10" dirty="0">
                <a:latin typeface="Calibri"/>
                <a:cs typeface="Calibri"/>
              </a:rPr>
              <a:t>possible hi</a:t>
            </a:r>
            <a:r>
              <a:rPr sz="2000" b="1" spc="-35" dirty="0">
                <a:latin typeface="Calibri"/>
                <a:cs typeface="Calibri"/>
              </a:rPr>
              <a:t>st</a:t>
            </a:r>
            <a:r>
              <a:rPr sz="2000" b="1" dirty="0">
                <a:latin typeface="Calibri"/>
                <a:cs typeface="Calibri"/>
              </a:rPr>
              <a:t>orie</a:t>
            </a:r>
            <a:r>
              <a:rPr sz="2000" b="1" spc="-10" dirty="0">
                <a:latin typeface="Calibri"/>
                <a:cs typeface="Calibri"/>
              </a:rPr>
              <a:t>s (</a:t>
            </a:r>
            <a:r>
              <a:rPr sz="2000" b="1" dirty="0">
                <a:latin typeface="Calibri"/>
                <a:cs typeface="Calibri"/>
              </a:rPr>
              <a:t>D</a:t>
            </a:r>
            <a:r>
              <a:rPr sz="2000" b="1" spc="-40" dirty="0">
                <a:latin typeface="Calibri"/>
                <a:cs typeface="Calibri"/>
              </a:rPr>
              <a:t>E</a:t>
            </a:r>
            <a:r>
              <a:rPr sz="2000" b="1" dirty="0">
                <a:latin typeface="Calibri"/>
                <a:cs typeface="Calibri"/>
              </a:rPr>
              <a:t>C+J m</a:t>
            </a:r>
            <a:r>
              <a:rPr sz="2000" b="1" spc="-15" dirty="0">
                <a:latin typeface="Calibri"/>
                <a:cs typeface="Calibri"/>
              </a:rPr>
              <a:t>od</a:t>
            </a:r>
            <a:r>
              <a:rPr sz="2000" b="1" dirty="0">
                <a:latin typeface="Calibri"/>
                <a:cs typeface="Calibri"/>
              </a:rPr>
              <a:t>e</a:t>
            </a:r>
            <a:r>
              <a:rPr sz="2000" b="1" spc="-10" dirty="0">
                <a:latin typeface="Calibri"/>
                <a:cs typeface="Calibri"/>
              </a:rPr>
              <a:t>l)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765300" y="6591300"/>
            <a:ext cx="1325880" cy="889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4445" algn="ctr">
              <a:lnSpc>
                <a:spcPct val="100000"/>
              </a:lnSpc>
            </a:pPr>
            <a:r>
              <a:rPr sz="2000" b="1" spc="-10" dirty="0">
                <a:latin typeface="Calibri"/>
                <a:cs typeface="Calibri"/>
              </a:rPr>
              <a:t>possible hi</a:t>
            </a:r>
            <a:r>
              <a:rPr sz="2000" b="1" spc="-35" dirty="0">
                <a:latin typeface="Calibri"/>
                <a:cs typeface="Calibri"/>
              </a:rPr>
              <a:t>st</a:t>
            </a:r>
            <a:r>
              <a:rPr sz="2000" b="1" dirty="0">
                <a:latin typeface="Calibri"/>
                <a:cs typeface="Calibri"/>
              </a:rPr>
              <a:t>orie</a:t>
            </a:r>
            <a:r>
              <a:rPr sz="2000" b="1" spc="-10" dirty="0">
                <a:latin typeface="Calibri"/>
                <a:cs typeface="Calibri"/>
              </a:rPr>
              <a:t>s (D</a:t>
            </a:r>
            <a:r>
              <a:rPr sz="2000" b="1" spc="-40" dirty="0">
                <a:latin typeface="Calibri"/>
                <a:cs typeface="Calibri"/>
              </a:rPr>
              <a:t>E</a:t>
            </a:r>
            <a:r>
              <a:rPr sz="2000" b="1" dirty="0">
                <a:latin typeface="Calibri"/>
                <a:cs typeface="Calibri"/>
              </a:rPr>
              <a:t>C m</a:t>
            </a:r>
            <a:r>
              <a:rPr sz="2000" b="1" spc="-20" dirty="0">
                <a:latin typeface="Calibri"/>
                <a:cs typeface="Calibri"/>
              </a:rPr>
              <a:t>od</a:t>
            </a:r>
            <a:r>
              <a:rPr sz="2000" b="1" spc="-10" dirty="0">
                <a:latin typeface="Calibri"/>
                <a:cs typeface="Calibri"/>
              </a:rPr>
              <a:t>e</a:t>
            </a:r>
            <a:r>
              <a:rPr sz="2000" b="1" spc="-15" dirty="0">
                <a:latin typeface="Calibri"/>
                <a:cs typeface="Calibri"/>
              </a:rPr>
              <a:t>l)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063657" y="8858372"/>
            <a:ext cx="2272080" cy="45441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063657" y="8858372"/>
            <a:ext cx="2272665" cy="454659"/>
          </a:xfrm>
          <a:custGeom>
            <a:avLst/>
            <a:gdLst/>
            <a:ahLst/>
            <a:cxnLst/>
            <a:rect l="l" t="t" r="r" b="b"/>
            <a:pathLst>
              <a:path w="2272665" h="454659">
                <a:moveTo>
                  <a:pt x="0" y="0"/>
                </a:moveTo>
                <a:lnTo>
                  <a:pt x="2272080" y="0"/>
                </a:lnTo>
                <a:lnTo>
                  <a:pt x="2272080" y="454416"/>
                </a:lnTo>
                <a:lnTo>
                  <a:pt x="0" y="454416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1734193" y="8699869"/>
            <a:ext cx="1206177" cy="105373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79500" y="298450"/>
            <a:ext cx="11504295" cy="10982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39800" marR="5080" indent="-927100">
              <a:lnSpc>
                <a:spcPct val="105400"/>
              </a:lnSpc>
            </a:pPr>
            <a:r>
              <a:rPr sz="3400" b="1" spc="-175" dirty="0">
                <a:latin typeface="Calibri"/>
                <a:cs typeface="Calibri"/>
              </a:rPr>
              <a:t>T</a:t>
            </a:r>
            <a:r>
              <a:rPr sz="3400" b="1" spc="-75" dirty="0">
                <a:latin typeface="Calibri"/>
                <a:cs typeface="Calibri"/>
              </a:rPr>
              <a:t>r</a:t>
            </a:r>
            <a:r>
              <a:rPr sz="3400" b="1" spc="-15" dirty="0">
                <a:latin typeface="Calibri"/>
                <a:cs typeface="Calibri"/>
              </a:rPr>
              <a:t>ai</a:t>
            </a:r>
            <a:r>
              <a:rPr sz="3400" b="1" spc="-100" dirty="0">
                <a:latin typeface="Calibri"/>
                <a:cs typeface="Calibri"/>
              </a:rPr>
              <a:t>t</a:t>
            </a:r>
            <a:r>
              <a:rPr sz="3400" b="1" spc="-5" dirty="0">
                <a:latin typeface="Calibri"/>
                <a:cs typeface="Calibri"/>
              </a:rPr>
              <a:t>-</a:t>
            </a:r>
            <a:r>
              <a:rPr sz="3400" b="1" spc="-20" dirty="0">
                <a:latin typeface="Calibri"/>
                <a:cs typeface="Calibri"/>
              </a:rPr>
              <a:t>d</a:t>
            </a:r>
            <a:r>
              <a:rPr sz="3400" b="1" dirty="0">
                <a:latin typeface="Calibri"/>
                <a:cs typeface="Calibri"/>
              </a:rPr>
              <a:t>e</a:t>
            </a:r>
            <a:r>
              <a:rPr sz="3400" b="1" spc="-20" dirty="0">
                <a:latin typeface="Calibri"/>
                <a:cs typeface="Calibri"/>
              </a:rPr>
              <a:t>p</a:t>
            </a:r>
            <a:r>
              <a:rPr sz="3400" b="1" dirty="0">
                <a:latin typeface="Calibri"/>
                <a:cs typeface="Calibri"/>
              </a:rPr>
              <a:t>e</a:t>
            </a:r>
            <a:r>
              <a:rPr sz="3400" b="1" spc="-20" dirty="0">
                <a:latin typeface="Calibri"/>
                <a:cs typeface="Calibri"/>
              </a:rPr>
              <a:t>nd</a:t>
            </a:r>
            <a:r>
              <a:rPr sz="3400" b="1" dirty="0">
                <a:latin typeface="Calibri"/>
                <a:cs typeface="Calibri"/>
              </a:rPr>
              <a:t>e</a:t>
            </a:r>
            <a:r>
              <a:rPr sz="3400" b="1" spc="-50" dirty="0">
                <a:latin typeface="Calibri"/>
                <a:cs typeface="Calibri"/>
              </a:rPr>
              <a:t>n</a:t>
            </a:r>
            <a:r>
              <a:rPr sz="3400" b="1" spc="-15" dirty="0">
                <a:latin typeface="Calibri"/>
                <a:cs typeface="Calibri"/>
              </a:rPr>
              <a:t>t</a:t>
            </a:r>
            <a:r>
              <a:rPr sz="3400" b="1" spc="-5" dirty="0">
                <a:latin typeface="Calibri"/>
                <a:cs typeface="Calibri"/>
              </a:rPr>
              <a:t> </a:t>
            </a:r>
            <a:r>
              <a:rPr sz="3400" b="1" spc="-15" dirty="0">
                <a:latin typeface="Calibri"/>
                <a:cs typeface="Calibri"/>
              </a:rPr>
              <a:t>di</a:t>
            </a:r>
            <a:r>
              <a:rPr sz="3400" b="1" spc="-20" dirty="0">
                <a:latin typeface="Calibri"/>
                <a:cs typeface="Calibri"/>
              </a:rPr>
              <a:t>sp</a:t>
            </a:r>
            <a:r>
              <a:rPr sz="3400" b="1" dirty="0">
                <a:latin typeface="Calibri"/>
                <a:cs typeface="Calibri"/>
              </a:rPr>
              <a:t>e</a:t>
            </a:r>
            <a:r>
              <a:rPr sz="3400" b="1" spc="-40" dirty="0">
                <a:latin typeface="Calibri"/>
                <a:cs typeface="Calibri"/>
              </a:rPr>
              <a:t>r</a:t>
            </a:r>
            <a:r>
              <a:rPr sz="3400" b="1" spc="-20" dirty="0">
                <a:latin typeface="Calibri"/>
                <a:cs typeface="Calibri"/>
              </a:rPr>
              <a:t>s</a:t>
            </a:r>
            <a:r>
              <a:rPr sz="3400" b="1" spc="-15" dirty="0">
                <a:latin typeface="Calibri"/>
                <a:cs typeface="Calibri"/>
              </a:rPr>
              <a:t>al</a:t>
            </a:r>
            <a:r>
              <a:rPr sz="3400" b="1" dirty="0">
                <a:latin typeface="Calibri"/>
                <a:cs typeface="Calibri"/>
              </a:rPr>
              <a:t> m</a:t>
            </a:r>
            <a:r>
              <a:rPr sz="3400" b="1" spc="-20" dirty="0">
                <a:latin typeface="Calibri"/>
                <a:cs typeface="Calibri"/>
              </a:rPr>
              <a:t>od</a:t>
            </a:r>
            <a:r>
              <a:rPr sz="3400" b="1" dirty="0">
                <a:latin typeface="Calibri"/>
                <a:cs typeface="Calibri"/>
              </a:rPr>
              <a:t>e</a:t>
            </a:r>
            <a:r>
              <a:rPr sz="3400" b="1" spc="-15" dirty="0">
                <a:latin typeface="Calibri"/>
                <a:cs typeface="Calibri"/>
              </a:rPr>
              <a:t>ls</a:t>
            </a:r>
            <a:r>
              <a:rPr sz="3400" b="1" spc="-5" dirty="0">
                <a:latin typeface="Calibri"/>
                <a:cs typeface="Calibri"/>
              </a:rPr>
              <a:t> </a:t>
            </a:r>
            <a:r>
              <a:rPr sz="3400" b="1" spc="-15" dirty="0">
                <a:latin typeface="Calibri"/>
                <a:cs typeface="Calibri"/>
              </a:rPr>
              <a:t>in</a:t>
            </a:r>
            <a:r>
              <a:rPr sz="3400" b="1" dirty="0">
                <a:latin typeface="Calibri"/>
                <a:cs typeface="Calibri"/>
              </a:rPr>
              <a:t> </a:t>
            </a:r>
            <a:r>
              <a:rPr sz="3400" b="1" spc="-20" dirty="0">
                <a:latin typeface="Calibri"/>
                <a:cs typeface="Calibri"/>
              </a:rPr>
              <a:t>p</a:t>
            </a:r>
            <a:r>
              <a:rPr sz="3400" b="1" spc="-85" dirty="0">
                <a:latin typeface="Calibri"/>
                <a:cs typeface="Calibri"/>
              </a:rPr>
              <a:t>h</a:t>
            </a:r>
            <a:r>
              <a:rPr sz="3400" b="1" spc="-15" dirty="0">
                <a:latin typeface="Calibri"/>
                <a:cs typeface="Calibri"/>
              </a:rPr>
              <a:t>ylo</a:t>
            </a:r>
            <a:r>
              <a:rPr sz="3400" b="1" spc="-35" dirty="0">
                <a:latin typeface="Calibri"/>
                <a:cs typeface="Calibri"/>
              </a:rPr>
              <a:t>g</a:t>
            </a:r>
            <a:r>
              <a:rPr sz="3400" b="1" dirty="0">
                <a:latin typeface="Calibri"/>
                <a:cs typeface="Calibri"/>
              </a:rPr>
              <a:t>e</a:t>
            </a:r>
            <a:r>
              <a:rPr sz="3400" b="1" spc="-20" dirty="0">
                <a:latin typeface="Calibri"/>
                <a:cs typeface="Calibri"/>
              </a:rPr>
              <a:t>n</a:t>
            </a:r>
            <a:r>
              <a:rPr sz="3400" b="1" spc="-25" dirty="0">
                <a:latin typeface="Calibri"/>
                <a:cs typeface="Calibri"/>
              </a:rPr>
              <a:t>e</a:t>
            </a:r>
            <a:r>
              <a:rPr lang="en-US" sz="3400" b="1" spc="254" dirty="0">
                <a:latin typeface="Calibri"/>
                <a:cs typeface="Calibri"/>
              </a:rPr>
              <a:t>ti</a:t>
            </a:r>
            <a:r>
              <a:rPr sz="3400" b="1" dirty="0">
                <a:latin typeface="Calibri"/>
                <a:cs typeface="Calibri"/>
              </a:rPr>
              <a:t>c </a:t>
            </a:r>
            <a:r>
              <a:rPr sz="3400" b="1" spc="-15" dirty="0">
                <a:latin typeface="Calibri"/>
                <a:cs typeface="Calibri"/>
              </a:rPr>
              <a:t>bio</a:t>
            </a:r>
            <a:r>
              <a:rPr sz="3400" b="1" spc="-35" dirty="0">
                <a:latin typeface="Calibri"/>
                <a:cs typeface="Calibri"/>
              </a:rPr>
              <a:t>g</a:t>
            </a:r>
            <a:r>
              <a:rPr sz="3400" b="1" dirty="0">
                <a:latin typeface="Calibri"/>
                <a:cs typeface="Calibri"/>
              </a:rPr>
              <a:t>e</a:t>
            </a:r>
            <a:r>
              <a:rPr sz="3400" b="1" spc="-20" dirty="0">
                <a:latin typeface="Calibri"/>
                <a:cs typeface="Calibri"/>
              </a:rPr>
              <a:t>o</a:t>
            </a:r>
            <a:r>
              <a:rPr sz="3400" b="1" spc="-5" dirty="0">
                <a:latin typeface="Calibri"/>
                <a:cs typeface="Calibri"/>
              </a:rPr>
              <a:t>g</a:t>
            </a:r>
            <a:r>
              <a:rPr sz="3400" b="1" spc="-75" dirty="0">
                <a:latin typeface="Calibri"/>
                <a:cs typeface="Calibri"/>
              </a:rPr>
              <a:t>r</a:t>
            </a:r>
            <a:r>
              <a:rPr sz="3400" b="1" spc="-20" dirty="0">
                <a:latin typeface="Calibri"/>
                <a:cs typeface="Calibri"/>
              </a:rPr>
              <a:t>ap</a:t>
            </a:r>
            <a:r>
              <a:rPr sz="3400" b="1" spc="-85" dirty="0">
                <a:latin typeface="Calibri"/>
                <a:cs typeface="Calibri"/>
              </a:rPr>
              <a:t>h</a:t>
            </a:r>
            <a:r>
              <a:rPr sz="3400" b="1" spc="-15" dirty="0">
                <a:latin typeface="Calibri"/>
                <a:cs typeface="Calibri"/>
              </a:rPr>
              <a:t>y: the</a:t>
            </a:r>
            <a:r>
              <a:rPr sz="3400" b="1" dirty="0">
                <a:latin typeface="Calibri"/>
                <a:cs typeface="Calibri"/>
              </a:rPr>
              <a:t>o</a:t>
            </a:r>
            <a:r>
              <a:rPr sz="3400" b="1" spc="10" dirty="0">
                <a:latin typeface="Calibri"/>
                <a:cs typeface="Calibri"/>
              </a:rPr>
              <a:t>r</a:t>
            </a:r>
            <a:r>
              <a:rPr sz="3400" b="1" spc="-20" dirty="0">
                <a:latin typeface="Calibri"/>
                <a:cs typeface="Calibri"/>
              </a:rPr>
              <a:t>y</a:t>
            </a:r>
            <a:r>
              <a:rPr sz="3400" b="1" spc="-5" dirty="0">
                <a:latin typeface="Calibri"/>
                <a:cs typeface="Calibri"/>
              </a:rPr>
              <a:t> </a:t>
            </a:r>
            <a:r>
              <a:rPr sz="3400" b="1" spc="-20" dirty="0">
                <a:latin typeface="Calibri"/>
                <a:cs typeface="Calibri"/>
              </a:rPr>
              <a:t>and</a:t>
            </a:r>
            <a:r>
              <a:rPr sz="3400" b="1" spc="-5" dirty="0">
                <a:latin typeface="Calibri"/>
                <a:cs typeface="Calibri"/>
              </a:rPr>
              <a:t> </a:t>
            </a:r>
            <a:r>
              <a:rPr sz="3400" b="1" spc="-15" dirty="0">
                <a:latin typeface="Calibri"/>
                <a:cs typeface="Calibri"/>
              </a:rPr>
              <a:t>appli</a:t>
            </a:r>
            <a:r>
              <a:rPr sz="3400" b="1" spc="-35" dirty="0">
                <a:latin typeface="Calibri"/>
                <a:cs typeface="Calibri"/>
              </a:rPr>
              <a:t>c</a:t>
            </a:r>
            <a:r>
              <a:rPr sz="3400" b="1" spc="-55" dirty="0">
                <a:latin typeface="Calibri"/>
                <a:cs typeface="Calibri"/>
              </a:rPr>
              <a:t>a</a:t>
            </a:r>
            <a:r>
              <a:rPr lang="en-US" sz="3400" b="1" spc="254" dirty="0">
                <a:latin typeface="Calibri"/>
                <a:cs typeface="Calibri"/>
              </a:rPr>
              <a:t>ti</a:t>
            </a:r>
            <a:r>
              <a:rPr sz="3400" b="1" spc="-20" dirty="0">
                <a:latin typeface="Calibri"/>
                <a:cs typeface="Calibri"/>
              </a:rPr>
              <a:t>on</a:t>
            </a:r>
            <a:r>
              <a:rPr sz="3400" b="1" spc="-5" dirty="0">
                <a:latin typeface="Calibri"/>
                <a:cs typeface="Calibri"/>
              </a:rPr>
              <a:t> </a:t>
            </a:r>
            <a:r>
              <a:rPr sz="3400" b="1" spc="-15" dirty="0">
                <a:latin typeface="Calibri"/>
                <a:cs typeface="Calibri"/>
              </a:rPr>
              <a:t>in</a:t>
            </a:r>
            <a:r>
              <a:rPr sz="3400" b="1" spc="-5" dirty="0">
                <a:latin typeface="Calibri"/>
                <a:cs typeface="Calibri"/>
              </a:rPr>
              <a:t> </a:t>
            </a:r>
            <a:r>
              <a:rPr sz="3400" b="1" spc="-20" dirty="0">
                <a:latin typeface="Calibri"/>
                <a:cs typeface="Calibri"/>
              </a:rPr>
              <a:t>a</a:t>
            </a:r>
            <a:r>
              <a:rPr sz="3400" b="1" spc="-55" dirty="0">
                <a:latin typeface="Calibri"/>
                <a:cs typeface="Calibri"/>
              </a:rPr>
              <a:t>n</a:t>
            </a:r>
            <a:r>
              <a:rPr sz="3400" b="1" spc="-15" dirty="0">
                <a:latin typeface="Calibri"/>
                <a:cs typeface="Calibri"/>
              </a:rPr>
              <a:t>ts,</a:t>
            </a:r>
            <a:r>
              <a:rPr sz="3400" b="1" spc="-5" dirty="0">
                <a:latin typeface="Calibri"/>
                <a:cs typeface="Calibri"/>
              </a:rPr>
              <a:t> </a:t>
            </a:r>
            <a:r>
              <a:rPr sz="3400" b="1" dirty="0">
                <a:latin typeface="Calibri"/>
                <a:cs typeface="Calibri"/>
              </a:rPr>
              <a:t>c</a:t>
            </a:r>
            <a:r>
              <a:rPr sz="3400" b="1" spc="-40" dirty="0">
                <a:latin typeface="Calibri"/>
                <a:cs typeface="Calibri"/>
              </a:rPr>
              <a:t>r</a:t>
            </a:r>
            <a:r>
              <a:rPr sz="3400" b="1" dirty="0">
                <a:latin typeface="Calibri"/>
                <a:cs typeface="Calibri"/>
              </a:rPr>
              <a:t>oc</a:t>
            </a:r>
            <a:r>
              <a:rPr sz="3400" b="1" spc="-20" dirty="0">
                <a:latin typeface="Calibri"/>
                <a:cs typeface="Calibri"/>
              </a:rPr>
              <a:t>s</a:t>
            </a:r>
            <a:r>
              <a:rPr sz="3400" b="1" spc="-10" dirty="0">
                <a:latin typeface="Calibri"/>
                <a:cs typeface="Calibri"/>
              </a:rPr>
              <a:t>,</a:t>
            </a:r>
            <a:r>
              <a:rPr sz="3400" b="1" spc="-5" dirty="0">
                <a:latin typeface="Calibri"/>
                <a:cs typeface="Calibri"/>
              </a:rPr>
              <a:t> </a:t>
            </a:r>
            <a:r>
              <a:rPr sz="3400" b="1" spc="-10" dirty="0">
                <a:latin typeface="Calibri"/>
                <a:cs typeface="Calibri"/>
              </a:rPr>
              <a:t>li</a:t>
            </a:r>
            <a:r>
              <a:rPr sz="3400" b="1" spc="-60" dirty="0">
                <a:latin typeface="Calibri"/>
                <a:cs typeface="Calibri"/>
              </a:rPr>
              <a:t>z</a:t>
            </a:r>
            <a:r>
              <a:rPr sz="3400" b="1" dirty="0">
                <a:latin typeface="Calibri"/>
                <a:cs typeface="Calibri"/>
              </a:rPr>
              <a:t>a</a:t>
            </a:r>
            <a:r>
              <a:rPr sz="3400" b="1" spc="-40" dirty="0">
                <a:latin typeface="Calibri"/>
                <a:cs typeface="Calibri"/>
              </a:rPr>
              <a:t>r</a:t>
            </a:r>
            <a:r>
              <a:rPr sz="3400" b="1" spc="-20" dirty="0">
                <a:latin typeface="Calibri"/>
                <a:cs typeface="Calibri"/>
              </a:rPr>
              <a:t>ds</a:t>
            </a:r>
            <a:r>
              <a:rPr sz="3400" b="1" spc="-5" dirty="0">
                <a:latin typeface="Calibri"/>
                <a:cs typeface="Calibri"/>
              </a:rPr>
              <a:t> </a:t>
            </a:r>
            <a:r>
              <a:rPr sz="3400" b="1" spc="-20" dirty="0">
                <a:latin typeface="Calibri"/>
                <a:cs typeface="Calibri"/>
              </a:rPr>
              <a:t>and</a:t>
            </a:r>
            <a:r>
              <a:rPr sz="3400" b="1" spc="-5" dirty="0">
                <a:latin typeface="Calibri"/>
                <a:cs typeface="Calibri"/>
              </a:rPr>
              <a:t> </a:t>
            </a:r>
            <a:r>
              <a:rPr sz="3400" b="1" spc="-65" dirty="0">
                <a:latin typeface="Calibri"/>
                <a:cs typeface="Calibri"/>
              </a:rPr>
              <a:t>k</a:t>
            </a:r>
            <a:r>
              <a:rPr sz="3400" b="1" spc="-15" dirty="0">
                <a:latin typeface="Calibri"/>
                <a:cs typeface="Calibri"/>
              </a:rPr>
              <a:t>auri</a:t>
            </a:r>
            <a:endParaRPr sz="3400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34534" y="8819978"/>
            <a:ext cx="965959" cy="93362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278403" y="9269811"/>
            <a:ext cx="1842590" cy="4544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278403" y="9269811"/>
            <a:ext cx="1842770" cy="454659"/>
          </a:xfrm>
          <a:custGeom>
            <a:avLst/>
            <a:gdLst/>
            <a:ahLst/>
            <a:cxnLst/>
            <a:rect l="l" t="t" r="r" b="b"/>
            <a:pathLst>
              <a:path w="1842770" h="454659">
                <a:moveTo>
                  <a:pt x="0" y="0"/>
                </a:moveTo>
                <a:lnTo>
                  <a:pt x="1842590" y="0"/>
                </a:lnTo>
                <a:lnTo>
                  <a:pt x="1842590" y="454416"/>
                </a:lnTo>
                <a:lnTo>
                  <a:pt x="0" y="454416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070126" y="8909258"/>
            <a:ext cx="3125519" cy="7872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8852022"/>
            <a:ext cx="4057650" cy="901700"/>
          </a:xfrm>
          <a:custGeom>
            <a:avLst/>
            <a:gdLst/>
            <a:ahLst/>
            <a:cxnLst/>
            <a:rect l="l" t="t" r="r" b="b"/>
            <a:pathLst>
              <a:path w="4057650" h="901700">
                <a:moveTo>
                  <a:pt x="0" y="901577"/>
                </a:moveTo>
                <a:lnTo>
                  <a:pt x="4057609" y="901577"/>
                </a:lnTo>
                <a:lnTo>
                  <a:pt x="4057609" y="0"/>
                </a:lnTo>
                <a:lnTo>
                  <a:pt x="0" y="0"/>
                </a:lnTo>
                <a:lnTo>
                  <a:pt x="0" y="9015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561311" y="9053007"/>
            <a:ext cx="1492987" cy="56001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8856043"/>
            <a:ext cx="1447741" cy="89292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923640" y="2159000"/>
            <a:ext cx="2540000" cy="33782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203877" y="8852022"/>
            <a:ext cx="2454275" cy="901700"/>
          </a:xfrm>
          <a:custGeom>
            <a:avLst/>
            <a:gdLst/>
            <a:ahLst/>
            <a:cxnLst/>
            <a:rect l="l" t="t" r="r" b="b"/>
            <a:pathLst>
              <a:path w="2454275" h="901700">
                <a:moveTo>
                  <a:pt x="0" y="0"/>
                </a:moveTo>
                <a:lnTo>
                  <a:pt x="2453779" y="0"/>
                </a:lnTo>
                <a:lnTo>
                  <a:pt x="2453779" y="901577"/>
                </a:lnTo>
                <a:lnTo>
                  <a:pt x="0" y="901577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221054" y="8883857"/>
            <a:ext cx="2387592" cy="8436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144000" y="5651500"/>
            <a:ext cx="3824604" cy="13869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63600" marR="863600" indent="2540" algn="ctr">
              <a:lnSpc>
                <a:spcPct val="100000"/>
              </a:lnSpc>
            </a:pPr>
            <a:r>
              <a:rPr sz="2000" b="1" spc="-10" dirty="0">
                <a:latin typeface="Calibri"/>
                <a:cs typeface="Calibri"/>
              </a:rPr>
              <a:t>Nicholas </a:t>
            </a:r>
            <a:r>
              <a:rPr sz="2000" b="1" spc="-15" dirty="0">
                <a:latin typeface="Calibri"/>
                <a:cs typeface="Calibri"/>
              </a:rPr>
              <a:t>J</a:t>
            </a:r>
            <a:r>
              <a:rPr sz="2000" b="1" dirty="0">
                <a:latin typeface="Calibri"/>
                <a:cs typeface="Calibri"/>
              </a:rPr>
              <a:t>. </a:t>
            </a:r>
            <a:r>
              <a:rPr sz="2000" b="1" spc="-20" dirty="0">
                <a:latin typeface="Calibri"/>
                <a:cs typeface="Calibri"/>
              </a:rPr>
              <a:t>M</a:t>
            </a:r>
            <a:r>
              <a:rPr sz="2000" b="1" spc="-30" dirty="0">
                <a:latin typeface="Calibri"/>
                <a:cs typeface="Calibri"/>
              </a:rPr>
              <a:t>a</a:t>
            </a:r>
            <a:r>
              <a:rPr sz="2000" b="1" spc="-10" dirty="0">
                <a:latin typeface="Calibri"/>
                <a:cs typeface="Calibri"/>
              </a:rPr>
              <a:t>t</a:t>
            </a:r>
            <a:r>
              <a:rPr sz="2000" b="1" dirty="0">
                <a:latin typeface="Calibri"/>
                <a:cs typeface="Calibri"/>
              </a:rPr>
              <a:t>z</a:t>
            </a:r>
            <a:r>
              <a:rPr sz="2000" b="1" spc="-65" dirty="0">
                <a:latin typeface="Calibri"/>
                <a:cs typeface="Calibri"/>
              </a:rPr>
              <a:t>k</a:t>
            </a:r>
            <a:r>
              <a:rPr sz="2000" b="1" dirty="0">
                <a:latin typeface="Calibri"/>
                <a:cs typeface="Calibri"/>
              </a:rPr>
              <a:t>e Se</a:t>
            </a:r>
            <a:r>
              <a:rPr sz="2000" b="1" spc="-10" dirty="0">
                <a:latin typeface="Calibri"/>
                <a:cs typeface="Calibri"/>
              </a:rPr>
              <a:t>nior</a:t>
            </a:r>
            <a:r>
              <a:rPr sz="2000" b="1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L</a:t>
            </a:r>
            <a:r>
              <a:rPr sz="2000" b="1" dirty="0">
                <a:latin typeface="Calibri"/>
                <a:cs typeface="Calibri"/>
              </a:rPr>
              <a:t>ec</a:t>
            </a:r>
            <a:r>
              <a:rPr sz="2000" b="1" spc="-10" dirty="0">
                <a:latin typeface="Calibri"/>
                <a:cs typeface="Calibri"/>
              </a:rPr>
              <a:t>tu</a:t>
            </a:r>
            <a:r>
              <a:rPr sz="2000" b="1" spc="-35" dirty="0">
                <a:latin typeface="Calibri"/>
                <a:cs typeface="Calibri"/>
              </a:rPr>
              <a:t>r</a:t>
            </a:r>
            <a:r>
              <a:rPr sz="2000" b="1" dirty="0">
                <a:latin typeface="Calibri"/>
                <a:cs typeface="Calibri"/>
              </a:rPr>
              <a:t>e</a:t>
            </a:r>
            <a:r>
              <a:rPr sz="2000" b="1" spc="-150" dirty="0">
                <a:latin typeface="Calibri"/>
                <a:cs typeface="Calibri"/>
              </a:rPr>
              <a:t>r</a:t>
            </a:r>
            <a:r>
              <a:rPr sz="2000" b="1" spc="-10" dirty="0">
                <a:latin typeface="Calibri"/>
                <a:cs typeface="Calibri"/>
              </a:rPr>
              <a:t>,</a:t>
            </a:r>
            <a:r>
              <a:rPr sz="2000" b="1" spc="-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SBS</a:t>
            </a:r>
            <a:endParaRPr sz="20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1400" dirty="0">
                <a:latin typeface="Calibri"/>
                <a:cs typeface="Calibri"/>
              </a:rPr>
              <a:t>S</a:t>
            </a:r>
            <a:r>
              <a:rPr sz="1400" spc="-10" dirty="0">
                <a:latin typeface="Calibri"/>
                <a:cs typeface="Calibri"/>
              </a:rPr>
              <a:t>chool of Biologi</a:t>
            </a:r>
            <a:r>
              <a:rPr sz="1400" spc="-25" dirty="0">
                <a:latin typeface="Calibri"/>
                <a:cs typeface="Calibri"/>
              </a:rPr>
              <a:t>c</a:t>
            </a:r>
            <a:r>
              <a:rPr sz="1400" dirty="0">
                <a:latin typeface="Calibri"/>
                <a:cs typeface="Calibri"/>
              </a:rPr>
              <a:t>al S</a:t>
            </a:r>
            <a:r>
              <a:rPr sz="1400" spc="-10" dirty="0">
                <a:latin typeface="Calibri"/>
                <a:cs typeface="Calibri"/>
              </a:rPr>
              <a:t>c</a:t>
            </a:r>
            <a:r>
              <a:rPr sz="1400" dirty="0">
                <a:latin typeface="Calibri"/>
                <a:cs typeface="Calibri"/>
              </a:rPr>
              <a:t>i</a:t>
            </a:r>
            <a:r>
              <a:rPr sz="1400" spc="-10" dirty="0">
                <a:latin typeface="Calibri"/>
                <a:cs typeface="Calibri"/>
              </a:rPr>
              <a:t>e</a:t>
            </a:r>
            <a:r>
              <a:rPr sz="1400" dirty="0">
                <a:latin typeface="Calibri"/>
                <a:cs typeface="Calibri"/>
              </a:rPr>
              <a:t>n</a:t>
            </a:r>
            <a:r>
              <a:rPr sz="1400" spc="-10" dirty="0">
                <a:latin typeface="Calibri"/>
                <a:cs typeface="Calibri"/>
              </a:rPr>
              <a:t>ce</a:t>
            </a:r>
            <a:r>
              <a:rPr sz="1400" dirty="0">
                <a:latin typeface="Calibri"/>
                <a:cs typeface="Calibri"/>
              </a:rPr>
              <a:t>s</a:t>
            </a:r>
            <a:r>
              <a:rPr sz="1400" spc="-5" dirty="0">
                <a:latin typeface="Calibri"/>
                <a:cs typeface="Calibri"/>
              </a:rPr>
              <a:t>,</a:t>
            </a:r>
            <a:endParaRPr sz="1400" dirty="0">
              <a:latin typeface="Calibri"/>
              <a:cs typeface="Calibri"/>
            </a:endParaRPr>
          </a:p>
          <a:p>
            <a:pPr marL="3175" algn="ctr">
              <a:lnSpc>
                <a:spcPts val="1590"/>
              </a:lnSpc>
              <a:spcBef>
                <a:spcPts val="120"/>
              </a:spcBef>
            </a:pPr>
            <a:r>
              <a:rPr sz="1400" spc="-10" dirty="0">
                <a:latin typeface="Calibri"/>
                <a:cs typeface="Calibri"/>
              </a:rPr>
              <a:t>Uni</a:t>
            </a:r>
            <a:r>
              <a:rPr sz="1400" spc="-25" dirty="0">
                <a:latin typeface="Calibri"/>
                <a:cs typeface="Calibri"/>
              </a:rPr>
              <a:t>v</a:t>
            </a:r>
            <a:r>
              <a:rPr sz="1400" spc="-10" dirty="0">
                <a:latin typeface="Calibri"/>
                <a:cs typeface="Calibri"/>
              </a:rPr>
              <a:t>e</a:t>
            </a:r>
            <a:r>
              <a:rPr sz="1400" spc="-30" dirty="0">
                <a:latin typeface="Calibri"/>
                <a:cs typeface="Calibri"/>
              </a:rPr>
              <a:t>r</a:t>
            </a:r>
            <a:r>
              <a:rPr sz="1400" dirty="0">
                <a:latin typeface="Calibri"/>
                <a:cs typeface="Calibri"/>
              </a:rPr>
              <a:t>si</a:t>
            </a:r>
            <a:r>
              <a:rPr sz="1400" spc="-10" dirty="0">
                <a:latin typeface="Calibri"/>
                <a:cs typeface="Calibri"/>
              </a:rPr>
              <a:t>ty</a:t>
            </a:r>
            <a:r>
              <a:rPr sz="1400" dirty="0">
                <a:latin typeface="Calibri"/>
                <a:cs typeface="Calibri"/>
              </a:rPr>
              <a:t> of </a:t>
            </a:r>
            <a:r>
              <a:rPr sz="1400" spc="-10" dirty="0">
                <a:latin typeface="Calibri"/>
                <a:cs typeface="Calibri"/>
              </a:rPr>
              <a:t>A</a:t>
            </a:r>
            <a:r>
              <a:rPr sz="1400" dirty="0">
                <a:latin typeface="Calibri"/>
                <a:cs typeface="Calibri"/>
              </a:rPr>
              <a:t>u</a:t>
            </a:r>
            <a:r>
              <a:rPr sz="1400" spc="-10" dirty="0">
                <a:latin typeface="Calibri"/>
                <a:cs typeface="Calibri"/>
              </a:rPr>
              <a:t>ck</a:t>
            </a:r>
            <a:r>
              <a:rPr sz="1400" dirty="0">
                <a:latin typeface="Calibri"/>
                <a:cs typeface="Calibri"/>
              </a:rPr>
              <a:t>land</a:t>
            </a:r>
          </a:p>
          <a:p>
            <a:pPr algn="ctr">
              <a:lnSpc>
                <a:spcPts val="2310"/>
              </a:lnSpc>
            </a:pPr>
            <a:r>
              <a:rPr sz="2000" u="heavy" dirty="0">
                <a:latin typeface="Calibri"/>
                <a:cs typeface="Calibri"/>
              </a:rPr>
              <a:t>p</a:t>
            </a:r>
            <a:r>
              <a:rPr sz="2000" u="heavy" spc="-40" dirty="0">
                <a:latin typeface="Calibri"/>
                <a:cs typeface="Calibri"/>
              </a:rPr>
              <a:t>h</a:t>
            </a:r>
            <a:r>
              <a:rPr sz="2000" u="heavy" spc="-10" dirty="0">
                <a:latin typeface="Calibri"/>
                <a:cs typeface="Calibri"/>
              </a:rPr>
              <a:t>y</a:t>
            </a:r>
            <a:r>
              <a:rPr sz="2000" u="heavy" dirty="0">
                <a:latin typeface="Calibri"/>
                <a:cs typeface="Calibri"/>
              </a:rPr>
              <a:t>lo</a:t>
            </a:r>
            <a:r>
              <a:rPr sz="2000" u="heavy" spc="-70" dirty="0">
                <a:latin typeface="Calibri"/>
                <a:cs typeface="Calibri"/>
              </a:rPr>
              <a:t>.</a:t>
            </a:r>
            <a:r>
              <a:rPr sz="2000" u="heavy" spc="-15" dirty="0">
                <a:latin typeface="Calibri"/>
                <a:cs typeface="Calibri"/>
              </a:rPr>
              <a:t>w</a:t>
            </a:r>
            <a:r>
              <a:rPr sz="2000" u="heavy" dirty="0">
                <a:latin typeface="Calibri"/>
                <a:cs typeface="Calibri"/>
              </a:rPr>
              <a:t>i</a:t>
            </a:r>
            <a:r>
              <a:rPr sz="2000" u="heavy" spc="-10" dirty="0">
                <a:latin typeface="Calibri"/>
                <a:cs typeface="Calibri"/>
              </a:rPr>
              <a:t>k</a:t>
            </a:r>
            <a:r>
              <a:rPr sz="2000" u="heavy" dirty="0">
                <a:latin typeface="Calibri"/>
                <a:cs typeface="Calibri"/>
              </a:rPr>
              <a:t>idot.</a:t>
            </a:r>
            <a:r>
              <a:rPr sz="2000" u="heavy" spc="-30" dirty="0">
                <a:latin typeface="Calibri"/>
                <a:cs typeface="Calibri"/>
              </a:rPr>
              <a:t>c</a:t>
            </a:r>
            <a:r>
              <a:rPr sz="2000" u="heavy" dirty="0">
                <a:latin typeface="Calibri"/>
                <a:cs typeface="Calibri"/>
              </a:rPr>
              <a:t>o</a:t>
            </a:r>
            <a:r>
              <a:rPr sz="2000" u="heavy" spc="-20" dirty="0">
                <a:latin typeface="Calibri"/>
                <a:cs typeface="Calibri"/>
              </a:rPr>
              <a:t>m</a:t>
            </a:r>
            <a:r>
              <a:rPr sz="2000" u="heavy" dirty="0">
                <a:latin typeface="Calibri"/>
                <a:cs typeface="Calibri"/>
              </a:rPr>
              <a:t>/ni</a:t>
            </a:r>
            <a:r>
              <a:rPr sz="2000" u="heavy" spc="-10" dirty="0">
                <a:latin typeface="Calibri"/>
                <a:cs typeface="Calibri"/>
              </a:rPr>
              <a:t>c</a:t>
            </a:r>
            <a:r>
              <a:rPr sz="2000" u="heavy" dirty="0">
                <a:latin typeface="Calibri"/>
                <a:cs typeface="Calibri"/>
              </a:rPr>
              <a:t>holas-j-</a:t>
            </a:r>
            <a:r>
              <a:rPr sz="2000" u="heavy" spc="-20" dirty="0">
                <a:latin typeface="Calibri"/>
                <a:cs typeface="Calibri"/>
              </a:rPr>
              <a:t>ma</a:t>
            </a:r>
            <a:r>
              <a:rPr sz="2000" u="heavy" spc="-10" dirty="0">
                <a:latin typeface="Calibri"/>
                <a:cs typeface="Calibri"/>
              </a:rPr>
              <a:t>tz</a:t>
            </a:r>
            <a:r>
              <a:rPr sz="2000" u="heavy" spc="-75" dirty="0">
                <a:latin typeface="Calibri"/>
                <a:cs typeface="Calibri"/>
              </a:rPr>
              <a:t>k</a:t>
            </a:r>
            <a:r>
              <a:rPr sz="2000" u="heavy" spc="-10" dirty="0">
                <a:latin typeface="Calibri"/>
                <a:cs typeface="Calibri"/>
              </a:rPr>
              <a:t>e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800" y="8594725"/>
            <a:ext cx="1950085" cy="21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dirty="0">
                <a:latin typeface="Calibri"/>
                <a:cs typeface="Calibri"/>
              </a:rPr>
              <a:t>Than</a:t>
            </a:r>
            <a:r>
              <a:rPr sz="1500" spc="-25" dirty="0">
                <a:latin typeface="Calibri"/>
                <a:cs typeface="Calibri"/>
              </a:rPr>
              <a:t>k</a:t>
            </a:r>
            <a:r>
              <a:rPr sz="1500" dirty="0">
                <a:latin typeface="Calibri"/>
                <a:cs typeface="Calibri"/>
              </a:rPr>
              <a:t>s </a:t>
            </a:r>
            <a:r>
              <a:rPr sz="1500" spc="-35" dirty="0">
                <a:latin typeface="Calibri"/>
                <a:cs typeface="Calibri"/>
              </a:rPr>
              <a:t>f</a:t>
            </a:r>
            <a:r>
              <a:rPr sz="1500" dirty="0">
                <a:latin typeface="Calibri"/>
                <a:cs typeface="Calibri"/>
              </a:rPr>
              <a:t>o</a:t>
            </a:r>
            <a:r>
              <a:rPr sz="1500" spc="-10" dirty="0">
                <a:latin typeface="Calibri"/>
                <a:cs typeface="Calibri"/>
              </a:rPr>
              <a:t>r</a:t>
            </a:r>
            <a:r>
              <a:rPr sz="1500" dirty="0">
                <a:latin typeface="Calibri"/>
                <a:cs typeface="Calibri"/>
              </a:rPr>
              <a:t> suppo</a:t>
            </a:r>
            <a:r>
              <a:rPr sz="1500" spc="-10" dirty="0">
                <a:latin typeface="Calibri"/>
                <a:cs typeface="Calibri"/>
              </a:rPr>
              <a:t>rt</a:t>
            </a:r>
            <a:r>
              <a:rPr sz="1500" dirty="0">
                <a:latin typeface="Calibri"/>
                <a:cs typeface="Calibri"/>
              </a:rPr>
              <a:t> f</a:t>
            </a:r>
            <a:r>
              <a:rPr sz="1500" spc="-35" dirty="0">
                <a:latin typeface="Calibri"/>
                <a:cs typeface="Calibri"/>
              </a:rPr>
              <a:t>r</a:t>
            </a:r>
            <a:r>
              <a:rPr sz="1500" dirty="0">
                <a:latin typeface="Calibri"/>
                <a:cs typeface="Calibri"/>
              </a:rPr>
              <a:t>o</a:t>
            </a:r>
            <a:r>
              <a:rPr sz="1500" spc="-10" dirty="0">
                <a:latin typeface="Calibri"/>
                <a:cs typeface="Calibri"/>
              </a:rPr>
              <a:t>m: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508988" y="6739235"/>
            <a:ext cx="2703515" cy="19558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508988" y="6739234"/>
            <a:ext cx="2703830" cy="19558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31140" marR="1574165" indent="10160" algn="ctr">
              <a:lnSpc>
                <a:spcPct val="104200"/>
              </a:lnSpc>
            </a:pPr>
            <a:r>
              <a:rPr sz="1600" b="1" spc="-10" dirty="0">
                <a:latin typeface="Calibri"/>
                <a:cs typeface="Calibri"/>
              </a:rPr>
              <a:t>H</a:t>
            </a:r>
            <a:r>
              <a:rPr sz="1600" b="1" spc="-25" dirty="0">
                <a:latin typeface="Calibri"/>
                <a:cs typeface="Calibri"/>
              </a:rPr>
              <a:t>a</a:t>
            </a:r>
            <a:r>
              <a:rPr sz="1600" b="1" spc="-20" dirty="0">
                <a:latin typeface="Calibri"/>
                <a:cs typeface="Calibri"/>
              </a:rPr>
              <a:t>w</a:t>
            </a:r>
            <a:r>
              <a:rPr sz="1600" b="1" spc="-10" dirty="0">
                <a:latin typeface="Calibri"/>
                <a:cs typeface="Calibri"/>
              </a:rPr>
              <a:t>aiian</a:t>
            </a:r>
            <a:r>
              <a:rPr sz="1600" b="1" spc="-5" dirty="0">
                <a:latin typeface="Calibri"/>
                <a:cs typeface="Calibri"/>
              </a:rPr>
              <a:t> </a:t>
            </a:r>
            <a:r>
              <a:rPr sz="1600" b="1" i="1" dirty="0">
                <a:latin typeface="Calibri"/>
                <a:cs typeface="Calibri"/>
              </a:rPr>
              <a:t>P</a:t>
            </a:r>
            <a:r>
              <a:rPr sz="1600" b="1" i="1" spc="-25" dirty="0">
                <a:latin typeface="Calibri"/>
                <a:cs typeface="Calibri"/>
              </a:rPr>
              <a:t>s</a:t>
            </a:r>
            <a:r>
              <a:rPr sz="1600" b="1" i="1" spc="-10" dirty="0">
                <a:latin typeface="Calibri"/>
                <a:cs typeface="Calibri"/>
              </a:rPr>
              <a:t>y</a:t>
            </a:r>
            <a:r>
              <a:rPr sz="1600" b="1" i="1" spc="-15" dirty="0">
                <a:latin typeface="Calibri"/>
                <a:cs typeface="Calibri"/>
              </a:rPr>
              <a:t>c</a:t>
            </a:r>
            <a:r>
              <a:rPr sz="1600" b="1" i="1" spc="-5" dirty="0">
                <a:latin typeface="Calibri"/>
                <a:cs typeface="Calibri"/>
              </a:rPr>
              <a:t>hot</a:t>
            </a:r>
            <a:r>
              <a:rPr sz="1600" b="1" i="1" spc="-10" dirty="0">
                <a:latin typeface="Calibri"/>
                <a:cs typeface="Calibri"/>
              </a:rPr>
              <a:t>ria</a:t>
            </a:r>
            <a:r>
              <a:rPr sz="1600" b="1" i="1" spc="-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shr</a:t>
            </a:r>
            <a:r>
              <a:rPr sz="1600" b="1" spc="-10" dirty="0">
                <a:latin typeface="Calibri"/>
                <a:cs typeface="Calibri"/>
              </a:rPr>
              <a:t>u</a:t>
            </a:r>
            <a:r>
              <a:rPr sz="1600" b="1" spc="-20" dirty="0">
                <a:latin typeface="Calibri"/>
                <a:cs typeface="Calibri"/>
              </a:rPr>
              <a:t>b</a:t>
            </a:r>
            <a:r>
              <a:rPr sz="1600" b="1" spc="-10" dirty="0">
                <a:latin typeface="Calibri"/>
                <a:cs typeface="Calibri"/>
              </a:rPr>
              <a:t>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604000" y="6515100"/>
            <a:ext cx="1536700" cy="889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11430" algn="ctr">
              <a:lnSpc>
                <a:spcPct val="100000"/>
              </a:lnSpc>
            </a:pPr>
            <a:r>
              <a:rPr sz="2000" b="1" spc="-10" dirty="0">
                <a:latin typeface="Calibri"/>
                <a:cs typeface="Calibri"/>
              </a:rPr>
              <a:t>possible hi</a:t>
            </a:r>
            <a:r>
              <a:rPr sz="2000" b="1" spc="-35" dirty="0">
                <a:latin typeface="Calibri"/>
                <a:cs typeface="Calibri"/>
              </a:rPr>
              <a:t>st</a:t>
            </a:r>
            <a:r>
              <a:rPr sz="2000" b="1" dirty="0">
                <a:latin typeface="Calibri"/>
                <a:cs typeface="Calibri"/>
              </a:rPr>
              <a:t>orie</a:t>
            </a:r>
            <a:r>
              <a:rPr sz="2000" b="1" spc="-10" dirty="0">
                <a:latin typeface="Calibri"/>
                <a:cs typeface="Calibri"/>
              </a:rPr>
              <a:t>s (</a:t>
            </a:r>
            <a:r>
              <a:rPr sz="2000" b="1" dirty="0">
                <a:latin typeface="Calibri"/>
                <a:cs typeface="Calibri"/>
              </a:rPr>
              <a:t>D</a:t>
            </a:r>
            <a:r>
              <a:rPr sz="2000" b="1" spc="-40" dirty="0">
                <a:latin typeface="Calibri"/>
                <a:cs typeface="Calibri"/>
              </a:rPr>
              <a:t>E</a:t>
            </a:r>
            <a:r>
              <a:rPr sz="2000" b="1" dirty="0">
                <a:latin typeface="Calibri"/>
                <a:cs typeface="Calibri"/>
              </a:rPr>
              <a:t>C+J m</a:t>
            </a:r>
            <a:r>
              <a:rPr sz="2000" b="1" spc="-15" dirty="0">
                <a:latin typeface="Calibri"/>
                <a:cs typeface="Calibri"/>
              </a:rPr>
              <a:t>od</a:t>
            </a:r>
            <a:r>
              <a:rPr sz="2000" b="1" dirty="0">
                <a:latin typeface="Calibri"/>
                <a:cs typeface="Calibri"/>
              </a:rPr>
              <a:t>e</a:t>
            </a:r>
            <a:r>
              <a:rPr sz="2000" b="1" spc="-10" dirty="0">
                <a:latin typeface="Calibri"/>
                <a:cs typeface="Calibri"/>
              </a:rPr>
              <a:t>l)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765300" y="6591300"/>
            <a:ext cx="1325880" cy="889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4445" algn="ctr">
              <a:lnSpc>
                <a:spcPct val="100000"/>
              </a:lnSpc>
            </a:pPr>
            <a:r>
              <a:rPr sz="2000" b="1" spc="-10" dirty="0">
                <a:latin typeface="Calibri"/>
                <a:cs typeface="Calibri"/>
              </a:rPr>
              <a:t>possible hi</a:t>
            </a:r>
            <a:r>
              <a:rPr sz="2000" b="1" spc="-35" dirty="0">
                <a:latin typeface="Calibri"/>
                <a:cs typeface="Calibri"/>
              </a:rPr>
              <a:t>st</a:t>
            </a:r>
            <a:r>
              <a:rPr sz="2000" b="1" dirty="0">
                <a:latin typeface="Calibri"/>
                <a:cs typeface="Calibri"/>
              </a:rPr>
              <a:t>orie</a:t>
            </a:r>
            <a:r>
              <a:rPr sz="2000" b="1" spc="-10" dirty="0">
                <a:latin typeface="Calibri"/>
                <a:cs typeface="Calibri"/>
              </a:rPr>
              <a:t>s (D</a:t>
            </a:r>
            <a:r>
              <a:rPr sz="2000" b="1" spc="-40" dirty="0">
                <a:latin typeface="Calibri"/>
                <a:cs typeface="Calibri"/>
              </a:rPr>
              <a:t>E</a:t>
            </a:r>
            <a:r>
              <a:rPr sz="2000" b="1" dirty="0">
                <a:latin typeface="Calibri"/>
                <a:cs typeface="Calibri"/>
              </a:rPr>
              <a:t>C m</a:t>
            </a:r>
            <a:r>
              <a:rPr sz="2000" b="1" spc="-20" dirty="0">
                <a:latin typeface="Calibri"/>
                <a:cs typeface="Calibri"/>
              </a:rPr>
              <a:t>od</a:t>
            </a:r>
            <a:r>
              <a:rPr sz="2000" b="1" spc="-10" dirty="0">
                <a:latin typeface="Calibri"/>
                <a:cs typeface="Calibri"/>
              </a:rPr>
              <a:t>e</a:t>
            </a:r>
            <a:r>
              <a:rPr sz="2000" b="1" spc="-15" dirty="0">
                <a:latin typeface="Calibri"/>
                <a:cs typeface="Calibri"/>
              </a:rPr>
              <a:t>l)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063657" y="8858372"/>
            <a:ext cx="2272080" cy="45441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063657" y="8858372"/>
            <a:ext cx="2272665" cy="454659"/>
          </a:xfrm>
          <a:custGeom>
            <a:avLst/>
            <a:gdLst/>
            <a:ahLst/>
            <a:cxnLst/>
            <a:rect l="l" t="t" r="r" b="b"/>
            <a:pathLst>
              <a:path w="2272665" h="454659">
                <a:moveTo>
                  <a:pt x="0" y="0"/>
                </a:moveTo>
                <a:lnTo>
                  <a:pt x="2272080" y="0"/>
                </a:lnTo>
                <a:lnTo>
                  <a:pt x="2272080" y="454416"/>
                </a:lnTo>
                <a:lnTo>
                  <a:pt x="0" y="454416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1734193" y="8699869"/>
            <a:ext cx="1206177" cy="105373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Picture 22" descr="stochastic_maps_DEC_vs_DECj_M0_v1_WORKED_ARCHIVE_100dpi.gif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5600"/>
            <a:ext cx="10007600" cy="5003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1000" y="441168"/>
            <a:ext cx="10318750" cy="635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800" b="1" spc="-45" dirty="0">
                <a:latin typeface="Gill Sans"/>
                <a:cs typeface="Gill Sans"/>
              </a:rPr>
              <a:t>Hi</a:t>
            </a:r>
            <a:r>
              <a:rPr sz="4800" b="1" spc="-25" dirty="0">
                <a:latin typeface="Gill Sans"/>
                <a:cs typeface="Gill Sans"/>
              </a:rPr>
              <a:t>s</a:t>
            </a:r>
            <a:r>
              <a:rPr sz="4800" b="1" spc="-5" dirty="0">
                <a:latin typeface="Gill Sans"/>
                <a:cs typeface="Gill Sans"/>
              </a:rPr>
              <a:t>to</a:t>
            </a:r>
            <a:r>
              <a:rPr sz="4800" b="1" spc="-210" dirty="0">
                <a:latin typeface="Gill Sans"/>
                <a:cs typeface="Gill Sans"/>
              </a:rPr>
              <a:t>r</a:t>
            </a:r>
            <a:r>
              <a:rPr sz="4800" b="1" dirty="0">
                <a:latin typeface="Gill Sans"/>
                <a:cs typeface="Gill Sans"/>
              </a:rPr>
              <a:t>i</a:t>
            </a:r>
            <a:r>
              <a:rPr sz="4800" b="1" spc="-5" dirty="0">
                <a:latin typeface="Gill Sans"/>
                <a:cs typeface="Gill Sans"/>
              </a:rPr>
              <a:t>c</a:t>
            </a:r>
            <a:r>
              <a:rPr sz="4800" b="1" spc="-30" dirty="0">
                <a:latin typeface="Gill Sans"/>
                <a:cs typeface="Gill Sans"/>
              </a:rPr>
              <a:t>a</a:t>
            </a:r>
            <a:r>
              <a:rPr sz="4800" b="1" dirty="0">
                <a:latin typeface="Gill Sans"/>
                <a:cs typeface="Gill Sans"/>
              </a:rPr>
              <a:t>l</a:t>
            </a:r>
            <a:r>
              <a:rPr sz="4800" b="1" spc="-5" dirty="0">
                <a:latin typeface="Gill Sans"/>
                <a:cs typeface="Gill Sans"/>
              </a:rPr>
              <a:t> </a:t>
            </a:r>
            <a:r>
              <a:rPr sz="4800" b="1" dirty="0">
                <a:latin typeface="Gill Sans"/>
                <a:cs typeface="Gill Sans"/>
              </a:rPr>
              <a:t>bi</a:t>
            </a:r>
            <a:r>
              <a:rPr sz="4800" b="1" spc="-5" dirty="0">
                <a:latin typeface="Gill Sans"/>
                <a:cs typeface="Gill Sans"/>
              </a:rPr>
              <a:t>o</a:t>
            </a:r>
            <a:r>
              <a:rPr sz="4800" b="1" dirty="0">
                <a:latin typeface="Gill Sans"/>
                <a:cs typeface="Gill Sans"/>
              </a:rPr>
              <a:t>ge</a:t>
            </a:r>
            <a:r>
              <a:rPr sz="4800" b="1" spc="-5" dirty="0">
                <a:latin typeface="Gill Sans"/>
                <a:cs typeface="Gill Sans"/>
              </a:rPr>
              <a:t>o</a:t>
            </a:r>
            <a:r>
              <a:rPr sz="4800" b="1" spc="175" dirty="0">
                <a:latin typeface="Gill Sans"/>
                <a:cs typeface="Gill Sans"/>
              </a:rPr>
              <a:t>g</a:t>
            </a:r>
            <a:r>
              <a:rPr sz="4800" b="1" spc="-70" dirty="0">
                <a:latin typeface="Gill Sans"/>
                <a:cs typeface="Gill Sans"/>
              </a:rPr>
              <a:t>r</a:t>
            </a:r>
            <a:r>
              <a:rPr sz="4800" b="1" spc="30" dirty="0">
                <a:latin typeface="Gill Sans"/>
                <a:cs typeface="Gill Sans"/>
              </a:rPr>
              <a:t>a</a:t>
            </a:r>
            <a:r>
              <a:rPr sz="4800" b="1" dirty="0">
                <a:latin typeface="Gill Sans"/>
                <a:cs typeface="Gill Sans"/>
              </a:rPr>
              <a:t>p</a:t>
            </a:r>
            <a:r>
              <a:rPr sz="4800" b="1" spc="-5" dirty="0">
                <a:latin typeface="Gill Sans"/>
                <a:cs typeface="Gill Sans"/>
              </a:rPr>
              <a:t>h</a:t>
            </a:r>
            <a:r>
              <a:rPr sz="4800" b="1" dirty="0">
                <a:latin typeface="Gill Sans"/>
                <a:cs typeface="Gill Sans"/>
              </a:rPr>
              <a:t>y</a:t>
            </a:r>
            <a:r>
              <a:rPr sz="4800" b="1" spc="-5" dirty="0">
                <a:latin typeface="Gill Sans"/>
                <a:cs typeface="Gill Sans"/>
              </a:rPr>
              <a:t> m</a:t>
            </a:r>
            <a:r>
              <a:rPr sz="4800" b="1" dirty="0">
                <a:latin typeface="Gill Sans"/>
                <a:cs typeface="Gill Sans"/>
              </a:rPr>
              <a:t>e</a:t>
            </a:r>
            <a:r>
              <a:rPr sz="4800" b="1" spc="-5" dirty="0">
                <a:latin typeface="Gill Sans"/>
                <a:cs typeface="Gill Sans"/>
              </a:rPr>
              <a:t>tho</a:t>
            </a:r>
            <a:r>
              <a:rPr sz="4800" b="1" dirty="0">
                <a:latin typeface="Gill Sans"/>
                <a:cs typeface="Gill Sans"/>
              </a:rPr>
              <a:t>d</a:t>
            </a:r>
            <a:r>
              <a:rPr sz="4800" b="1" spc="-25" dirty="0">
                <a:latin typeface="Gill Sans"/>
                <a:cs typeface="Gill Sans"/>
              </a:rPr>
              <a:t>s</a:t>
            </a:r>
            <a:endParaRPr sz="4800">
              <a:latin typeface="Gill Sans"/>
              <a:cs typeface="Gill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1000" y="707868"/>
            <a:ext cx="10318750" cy="20307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800" b="1" spc="-45" dirty="0">
                <a:latin typeface="Gill Sans"/>
                <a:cs typeface="Gill Sans"/>
              </a:rPr>
              <a:t>Hi</a:t>
            </a:r>
            <a:r>
              <a:rPr sz="4800" b="1" spc="-25" dirty="0">
                <a:latin typeface="Gill Sans"/>
                <a:cs typeface="Gill Sans"/>
              </a:rPr>
              <a:t>s</a:t>
            </a:r>
            <a:r>
              <a:rPr sz="4800" b="1" spc="-5" dirty="0">
                <a:latin typeface="Gill Sans"/>
                <a:cs typeface="Gill Sans"/>
              </a:rPr>
              <a:t>to</a:t>
            </a:r>
            <a:r>
              <a:rPr sz="4800" b="1" spc="-210" dirty="0">
                <a:latin typeface="Gill Sans"/>
                <a:cs typeface="Gill Sans"/>
              </a:rPr>
              <a:t>r</a:t>
            </a:r>
            <a:r>
              <a:rPr sz="4800" b="1" dirty="0">
                <a:latin typeface="Gill Sans"/>
                <a:cs typeface="Gill Sans"/>
              </a:rPr>
              <a:t>i</a:t>
            </a:r>
            <a:r>
              <a:rPr sz="4800" b="1" spc="-5" dirty="0">
                <a:latin typeface="Gill Sans"/>
                <a:cs typeface="Gill Sans"/>
              </a:rPr>
              <a:t>c</a:t>
            </a:r>
            <a:r>
              <a:rPr sz="4800" b="1" spc="-30" dirty="0">
                <a:latin typeface="Gill Sans"/>
                <a:cs typeface="Gill Sans"/>
              </a:rPr>
              <a:t>a</a:t>
            </a:r>
            <a:r>
              <a:rPr sz="4800" b="1" dirty="0">
                <a:latin typeface="Gill Sans"/>
                <a:cs typeface="Gill Sans"/>
              </a:rPr>
              <a:t>l</a:t>
            </a:r>
            <a:r>
              <a:rPr sz="4800" b="1" spc="-5" dirty="0">
                <a:latin typeface="Gill Sans"/>
                <a:cs typeface="Gill Sans"/>
              </a:rPr>
              <a:t> </a:t>
            </a:r>
            <a:r>
              <a:rPr sz="4800" b="1" dirty="0">
                <a:latin typeface="Gill Sans"/>
                <a:cs typeface="Gill Sans"/>
              </a:rPr>
              <a:t>bi</a:t>
            </a:r>
            <a:r>
              <a:rPr sz="4800" b="1" spc="-5" dirty="0">
                <a:latin typeface="Gill Sans"/>
                <a:cs typeface="Gill Sans"/>
              </a:rPr>
              <a:t>o</a:t>
            </a:r>
            <a:r>
              <a:rPr sz="4800" b="1" dirty="0">
                <a:latin typeface="Gill Sans"/>
                <a:cs typeface="Gill Sans"/>
              </a:rPr>
              <a:t>ge</a:t>
            </a:r>
            <a:r>
              <a:rPr sz="4800" b="1" spc="-5" dirty="0">
                <a:latin typeface="Gill Sans"/>
                <a:cs typeface="Gill Sans"/>
              </a:rPr>
              <a:t>o</a:t>
            </a:r>
            <a:r>
              <a:rPr sz="4800" b="1" spc="175" dirty="0">
                <a:latin typeface="Gill Sans"/>
                <a:cs typeface="Gill Sans"/>
              </a:rPr>
              <a:t>g</a:t>
            </a:r>
            <a:r>
              <a:rPr sz="4800" b="1" spc="-70" dirty="0">
                <a:latin typeface="Gill Sans"/>
                <a:cs typeface="Gill Sans"/>
              </a:rPr>
              <a:t>r</a:t>
            </a:r>
            <a:r>
              <a:rPr sz="4800" b="1" spc="30" dirty="0">
                <a:latin typeface="Gill Sans"/>
                <a:cs typeface="Gill Sans"/>
              </a:rPr>
              <a:t>a</a:t>
            </a:r>
            <a:r>
              <a:rPr sz="4800" b="1" dirty="0">
                <a:latin typeface="Gill Sans"/>
                <a:cs typeface="Gill Sans"/>
              </a:rPr>
              <a:t>p</a:t>
            </a:r>
            <a:r>
              <a:rPr sz="4800" b="1" spc="-5" dirty="0">
                <a:latin typeface="Gill Sans"/>
                <a:cs typeface="Gill Sans"/>
              </a:rPr>
              <a:t>h</a:t>
            </a:r>
            <a:r>
              <a:rPr sz="4800" b="1" dirty="0">
                <a:latin typeface="Gill Sans"/>
                <a:cs typeface="Gill Sans"/>
              </a:rPr>
              <a:t>y</a:t>
            </a:r>
            <a:r>
              <a:rPr sz="4800" b="1" spc="-5" dirty="0">
                <a:latin typeface="Gill Sans"/>
                <a:cs typeface="Gill Sans"/>
              </a:rPr>
              <a:t> m</a:t>
            </a:r>
            <a:r>
              <a:rPr sz="4800" b="1" dirty="0">
                <a:latin typeface="Gill Sans"/>
                <a:cs typeface="Gill Sans"/>
              </a:rPr>
              <a:t>e</a:t>
            </a:r>
            <a:r>
              <a:rPr sz="4800" b="1" spc="-5" dirty="0">
                <a:latin typeface="Gill Sans"/>
                <a:cs typeface="Gill Sans"/>
              </a:rPr>
              <a:t>tho</a:t>
            </a:r>
            <a:r>
              <a:rPr sz="4800" b="1" dirty="0">
                <a:latin typeface="Gill Sans"/>
                <a:cs typeface="Gill Sans"/>
              </a:rPr>
              <a:t>d</a:t>
            </a:r>
            <a:r>
              <a:rPr sz="4800" b="1" spc="-25" dirty="0">
                <a:latin typeface="Gill Sans"/>
                <a:cs typeface="Gill Sans"/>
              </a:rPr>
              <a:t>s</a:t>
            </a:r>
            <a:endParaRPr sz="4800">
              <a:latin typeface="Gill Sans"/>
              <a:cs typeface="Gill Sans"/>
            </a:endParaRPr>
          </a:p>
          <a:p>
            <a:pPr>
              <a:lnSpc>
                <a:spcPct val="100000"/>
              </a:lnSpc>
              <a:spcBef>
                <a:spcPts val="7"/>
              </a:spcBef>
            </a:pPr>
            <a:endParaRPr sz="4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4800" dirty="0">
                <a:latin typeface="Gill Sans"/>
                <a:cs typeface="Gill Sans"/>
              </a:rPr>
              <a:t>1.</a:t>
            </a:r>
            <a:r>
              <a:rPr sz="4800" spc="-484" dirty="0">
                <a:latin typeface="Gill Sans"/>
                <a:cs typeface="Gill Sans"/>
              </a:rPr>
              <a:t> </a:t>
            </a:r>
            <a:r>
              <a:rPr sz="4800" spc="-25" dirty="0">
                <a:latin typeface="Gill Sans"/>
                <a:cs typeface="Gill Sans"/>
              </a:rPr>
              <a:t>Es</a:t>
            </a:r>
            <a:r>
              <a:rPr sz="4800" dirty="0">
                <a:latin typeface="Gill Sans"/>
                <a:cs typeface="Gill Sans"/>
              </a:rPr>
              <a:t>t</a:t>
            </a:r>
            <a:r>
              <a:rPr sz="4800" spc="-5" dirty="0">
                <a:latin typeface="Gill Sans"/>
                <a:cs typeface="Gill Sans"/>
              </a:rPr>
              <a:t>i</a:t>
            </a:r>
            <a:r>
              <a:rPr sz="4800" spc="-30" dirty="0">
                <a:latin typeface="Gill Sans"/>
                <a:cs typeface="Gill Sans"/>
              </a:rPr>
              <a:t>ma</a:t>
            </a:r>
            <a:r>
              <a:rPr sz="4800" dirty="0">
                <a:latin typeface="Gill Sans"/>
                <a:cs typeface="Gill Sans"/>
              </a:rPr>
              <a:t>te</a:t>
            </a:r>
            <a:r>
              <a:rPr sz="4800" spc="-5" dirty="0">
                <a:latin typeface="Gill Sans"/>
                <a:cs typeface="Gill Sans"/>
              </a:rPr>
              <a:t> </a:t>
            </a:r>
            <a:r>
              <a:rPr sz="4800" spc="-25" dirty="0">
                <a:latin typeface="Gill Sans"/>
                <a:cs typeface="Gill Sans"/>
              </a:rPr>
              <a:t>a</a:t>
            </a:r>
            <a:r>
              <a:rPr sz="4800" spc="-5" dirty="0">
                <a:latin typeface="Gill Sans"/>
                <a:cs typeface="Gill Sans"/>
              </a:rPr>
              <a:t> </a:t>
            </a:r>
            <a:r>
              <a:rPr sz="4800" u="heavy" spc="-25" dirty="0">
                <a:latin typeface="Gill Sans"/>
                <a:cs typeface="Gill Sans"/>
              </a:rPr>
              <a:t>dated</a:t>
            </a:r>
            <a:r>
              <a:rPr sz="4800" spc="-5" dirty="0">
                <a:latin typeface="Gill Sans"/>
                <a:cs typeface="Gill Sans"/>
              </a:rPr>
              <a:t> </a:t>
            </a:r>
            <a:r>
              <a:rPr sz="4800" dirty="0">
                <a:latin typeface="Gill Sans"/>
                <a:cs typeface="Gill Sans"/>
              </a:rPr>
              <a:t>p</a:t>
            </a:r>
            <a:r>
              <a:rPr sz="4800" spc="-170" dirty="0">
                <a:latin typeface="Gill Sans"/>
                <a:cs typeface="Gill Sans"/>
              </a:rPr>
              <a:t>h</a:t>
            </a:r>
            <a:r>
              <a:rPr sz="4800" dirty="0">
                <a:latin typeface="Gill Sans"/>
                <a:cs typeface="Gill Sans"/>
              </a:rPr>
              <a:t>y</a:t>
            </a:r>
            <a:r>
              <a:rPr sz="4800" spc="-5" dirty="0">
                <a:latin typeface="Gill Sans"/>
                <a:cs typeface="Gill Sans"/>
              </a:rPr>
              <a:t>l</a:t>
            </a:r>
            <a:r>
              <a:rPr sz="4800" spc="-25" dirty="0">
                <a:latin typeface="Gill Sans"/>
                <a:cs typeface="Gill Sans"/>
              </a:rPr>
              <a:t>og</a:t>
            </a:r>
            <a:r>
              <a:rPr sz="4800" dirty="0">
                <a:latin typeface="Gill Sans"/>
                <a:cs typeface="Gill Sans"/>
              </a:rPr>
              <a:t>e</a:t>
            </a:r>
            <a:r>
              <a:rPr sz="4800" spc="-100" dirty="0">
                <a:latin typeface="Gill Sans"/>
                <a:cs typeface="Gill Sans"/>
              </a:rPr>
              <a:t>n</a:t>
            </a:r>
            <a:r>
              <a:rPr sz="4800" spc="-25" dirty="0">
                <a:latin typeface="Gill Sans"/>
                <a:cs typeface="Gill Sans"/>
              </a:rPr>
              <a:t>y</a:t>
            </a:r>
            <a:endParaRPr sz="4800">
              <a:latin typeface="Gill Sans"/>
              <a:cs typeface="Gill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1000" y="707868"/>
            <a:ext cx="10318750" cy="3427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800" b="1" spc="-45" dirty="0">
                <a:latin typeface="Gill Sans"/>
                <a:cs typeface="Gill Sans"/>
              </a:rPr>
              <a:t>Hi</a:t>
            </a:r>
            <a:r>
              <a:rPr sz="4800" b="1" spc="-25" dirty="0">
                <a:latin typeface="Gill Sans"/>
                <a:cs typeface="Gill Sans"/>
              </a:rPr>
              <a:t>s</a:t>
            </a:r>
            <a:r>
              <a:rPr sz="4800" b="1" spc="-5" dirty="0">
                <a:latin typeface="Gill Sans"/>
                <a:cs typeface="Gill Sans"/>
              </a:rPr>
              <a:t>to</a:t>
            </a:r>
            <a:r>
              <a:rPr sz="4800" b="1" spc="-210" dirty="0">
                <a:latin typeface="Gill Sans"/>
                <a:cs typeface="Gill Sans"/>
              </a:rPr>
              <a:t>r</a:t>
            </a:r>
            <a:r>
              <a:rPr sz="4800" b="1" dirty="0">
                <a:latin typeface="Gill Sans"/>
                <a:cs typeface="Gill Sans"/>
              </a:rPr>
              <a:t>i</a:t>
            </a:r>
            <a:r>
              <a:rPr sz="4800" b="1" spc="-5" dirty="0">
                <a:latin typeface="Gill Sans"/>
                <a:cs typeface="Gill Sans"/>
              </a:rPr>
              <a:t>c</a:t>
            </a:r>
            <a:r>
              <a:rPr sz="4800" b="1" spc="-30" dirty="0">
                <a:latin typeface="Gill Sans"/>
                <a:cs typeface="Gill Sans"/>
              </a:rPr>
              <a:t>a</a:t>
            </a:r>
            <a:r>
              <a:rPr sz="4800" b="1" dirty="0">
                <a:latin typeface="Gill Sans"/>
                <a:cs typeface="Gill Sans"/>
              </a:rPr>
              <a:t>l</a:t>
            </a:r>
            <a:r>
              <a:rPr sz="4800" b="1" spc="-5" dirty="0">
                <a:latin typeface="Gill Sans"/>
                <a:cs typeface="Gill Sans"/>
              </a:rPr>
              <a:t> </a:t>
            </a:r>
            <a:r>
              <a:rPr sz="4800" b="1" dirty="0">
                <a:latin typeface="Gill Sans"/>
                <a:cs typeface="Gill Sans"/>
              </a:rPr>
              <a:t>bi</a:t>
            </a:r>
            <a:r>
              <a:rPr sz="4800" b="1" spc="-5" dirty="0">
                <a:latin typeface="Gill Sans"/>
                <a:cs typeface="Gill Sans"/>
              </a:rPr>
              <a:t>o</a:t>
            </a:r>
            <a:r>
              <a:rPr sz="4800" b="1" dirty="0">
                <a:latin typeface="Gill Sans"/>
                <a:cs typeface="Gill Sans"/>
              </a:rPr>
              <a:t>ge</a:t>
            </a:r>
            <a:r>
              <a:rPr sz="4800" b="1" spc="-5" dirty="0">
                <a:latin typeface="Gill Sans"/>
                <a:cs typeface="Gill Sans"/>
              </a:rPr>
              <a:t>o</a:t>
            </a:r>
            <a:r>
              <a:rPr sz="4800" b="1" spc="175" dirty="0">
                <a:latin typeface="Gill Sans"/>
                <a:cs typeface="Gill Sans"/>
              </a:rPr>
              <a:t>g</a:t>
            </a:r>
            <a:r>
              <a:rPr sz="4800" b="1" spc="-70" dirty="0">
                <a:latin typeface="Gill Sans"/>
                <a:cs typeface="Gill Sans"/>
              </a:rPr>
              <a:t>r</a:t>
            </a:r>
            <a:r>
              <a:rPr sz="4800" b="1" spc="30" dirty="0">
                <a:latin typeface="Gill Sans"/>
                <a:cs typeface="Gill Sans"/>
              </a:rPr>
              <a:t>a</a:t>
            </a:r>
            <a:r>
              <a:rPr sz="4800" b="1" dirty="0">
                <a:latin typeface="Gill Sans"/>
                <a:cs typeface="Gill Sans"/>
              </a:rPr>
              <a:t>p</a:t>
            </a:r>
            <a:r>
              <a:rPr sz="4800" b="1" spc="-5" dirty="0">
                <a:latin typeface="Gill Sans"/>
                <a:cs typeface="Gill Sans"/>
              </a:rPr>
              <a:t>h</a:t>
            </a:r>
            <a:r>
              <a:rPr sz="4800" b="1" dirty="0">
                <a:latin typeface="Gill Sans"/>
                <a:cs typeface="Gill Sans"/>
              </a:rPr>
              <a:t>y</a:t>
            </a:r>
            <a:r>
              <a:rPr sz="4800" b="1" spc="-5" dirty="0">
                <a:latin typeface="Gill Sans"/>
                <a:cs typeface="Gill Sans"/>
              </a:rPr>
              <a:t> m</a:t>
            </a:r>
            <a:r>
              <a:rPr sz="4800" b="1" dirty="0">
                <a:latin typeface="Gill Sans"/>
                <a:cs typeface="Gill Sans"/>
              </a:rPr>
              <a:t>e</a:t>
            </a:r>
            <a:r>
              <a:rPr sz="4800" b="1" spc="-5" dirty="0">
                <a:latin typeface="Gill Sans"/>
                <a:cs typeface="Gill Sans"/>
              </a:rPr>
              <a:t>tho</a:t>
            </a:r>
            <a:r>
              <a:rPr sz="4800" b="1" dirty="0">
                <a:latin typeface="Gill Sans"/>
                <a:cs typeface="Gill Sans"/>
              </a:rPr>
              <a:t>d</a:t>
            </a:r>
            <a:r>
              <a:rPr sz="4800" b="1" spc="-25" dirty="0">
                <a:latin typeface="Gill Sans"/>
                <a:cs typeface="Gill Sans"/>
              </a:rPr>
              <a:t>s</a:t>
            </a:r>
            <a:endParaRPr sz="4800">
              <a:latin typeface="Gill Sans"/>
              <a:cs typeface="Gill Sans"/>
            </a:endParaRPr>
          </a:p>
          <a:p>
            <a:pPr>
              <a:lnSpc>
                <a:spcPct val="100000"/>
              </a:lnSpc>
              <a:spcBef>
                <a:spcPts val="7"/>
              </a:spcBef>
            </a:pPr>
            <a:endParaRPr sz="4550">
              <a:latin typeface="Times New Roman"/>
              <a:cs typeface="Times New Roman"/>
            </a:endParaRPr>
          </a:p>
          <a:p>
            <a:pPr marL="559435" indent="-546735">
              <a:lnSpc>
                <a:spcPct val="100000"/>
              </a:lnSpc>
              <a:buFont typeface="Gill Sans"/>
              <a:buAutoNum type="arabicPeriod"/>
              <a:tabLst>
                <a:tab pos="560070" algn="l"/>
              </a:tabLst>
            </a:pPr>
            <a:r>
              <a:rPr sz="4800" spc="-25" dirty="0">
                <a:latin typeface="Gill Sans"/>
                <a:cs typeface="Gill Sans"/>
              </a:rPr>
              <a:t>Es</a:t>
            </a:r>
            <a:r>
              <a:rPr sz="4800" dirty="0">
                <a:latin typeface="Gill Sans"/>
                <a:cs typeface="Gill Sans"/>
              </a:rPr>
              <a:t>t</a:t>
            </a:r>
            <a:r>
              <a:rPr sz="4800" spc="-5" dirty="0">
                <a:latin typeface="Gill Sans"/>
                <a:cs typeface="Gill Sans"/>
              </a:rPr>
              <a:t>i</a:t>
            </a:r>
            <a:r>
              <a:rPr sz="4800" spc="-30" dirty="0">
                <a:latin typeface="Gill Sans"/>
                <a:cs typeface="Gill Sans"/>
              </a:rPr>
              <a:t>ma</a:t>
            </a:r>
            <a:r>
              <a:rPr sz="4800" dirty="0">
                <a:latin typeface="Gill Sans"/>
                <a:cs typeface="Gill Sans"/>
              </a:rPr>
              <a:t>te</a:t>
            </a:r>
            <a:r>
              <a:rPr sz="4800" spc="-5" dirty="0">
                <a:latin typeface="Gill Sans"/>
                <a:cs typeface="Gill Sans"/>
              </a:rPr>
              <a:t> </a:t>
            </a:r>
            <a:r>
              <a:rPr sz="4800" spc="-25" dirty="0">
                <a:latin typeface="Gill Sans"/>
                <a:cs typeface="Gill Sans"/>
              </a:rPr>
              <a:t>a</a:t>
            </a:r>
            <a:r>
              <a:rPr sz="4800" spc="-5" dirty="0">
                <a:latin typeface="Gill Sans"/>
                <a:cs typeface="Gill Sans"/>
              </a:rPr>
              <a:t> </a:t>
            </a:r>
            <a:r>
              <a:rPr sz="4800" u="heavy" spc="-25" dirty="0">
                <a:latin typeface="Gill Sans"/>
                <a:cs typeface="Gill Sans"/>
              </a:rPr>
              <a:t>dated</a:t>
            </a:r>
            <a:r>
              <a:rPr sz="4800" spc="-5" dirty="0">
                <a:latin typeface="Gill Sans"/>
                <a:cs typeface="Gill Sans"/>
              </a:rPr>
              <a:t> </a:t>
            </a:r>
            <a:r>
              <a:rPr sz="4800" dirty="0">
                <a:latin typeface="Gill Sans"/>
                <a:cs typeface="Gill Sans"/>
              </a:rPr>
              <a:t>p</a:t>
            </a:r>
            <a:r>
              <a:rPr sz="4800" spc="-170" dirty="0">
                <a:latin typeface="Gill Sans"/>
                <a:cs typeface="Gill Sans"/>
              </a:rPr>
              <a:t>h</a:t>
            </a:r>
            <a:r>
              <a:rPr sz="4800" dirty="0">
                <a:latin typeface="Gill Sans"/>
                <a:cs typeface="Gill Sans"/>
              </a:rPr>
              <a:t>y</a:t>
            </a:r>
            <a:r>
              <a:rPr sz="4800" spc="-5" dirty="0">
                <a:latin typeface="Gill Sans"/>
                <a:cs typeface="Gill Sans"/>
              </a:rPr>
              <a:t>l</a:t>
            </a:r>
            <a:r>
              <a:rPr sz="4800" spc="-25" dirty="0">
                <a:latin typeface="Gill Sans"/>
                <a:cs typeface="Gill Sans"/>
              </a:rPr>
              <a:t>og</a:t>
            </a:r>
            <a:r>
              <a:rPr sz="4800" dirty="0">
                <a:latin typeface="Gill Sans"/>
                <a:cs typeface="Gill Sans"/>
              </a:rPr>
              <a:t>e</a:t>
            </a:r>
            <a:r>
              <a:rPr sz="4800" spc="-100" dirty="0">
                <a:latin typeface="Gill Sans"/>
                <a:cs typeface="Gill Sans"/>
              </a:rPr>
              <a:t>n</a:t>
            </a:r>
            <a:r>
              <a:rPr sz="4800" spc="-25" dirty="0">
                <a:latin typeface="Gill Sans"/>
                <a:cs typeface="Gill Sans"/>
              </a:rPr>
              <a:t>y</a:t>
            </a:r>
            <a:endParaRPr sz="4800">
              <a:latin typeface="Gill Sans"/>
              <a:cs typeface="Gill Sans"/>
            </a:endParaRPr>
          </a:p>
          <a:p>
            <a:pPr>
              <a:lnSpc>
                <a:spcPct val="100000"/>
              </a:lnSpc>
              <a:spcBef>
                <a:spcPts val="7"/>
              </a:spcBef>
              <a:buFont typeface="Gill Sans"/>
              <a:buAutoNum type="arabicPeriod"/>
            </a:pPr>
            <a:endParaRPr sz="4550">
              <a:latin typeface="Times New Roman"/>
              <a:cs typeface="Times New Roman"/>
            </a:endParaRPr>
          </a:p>
          <a:p>
            <a:pPr marL="559435" indent="-546735">
              <a:lnSpc>
                <a:spcPct val="100000"/>
              </a:lnSpc>
              <a:buFont typeface="Gill Sans"/>
              <a:buAutoNum type="arabicPeriod"/>
              <a:tabLst>
                <a:tab pos="560070" algn="l"/>
              </a:tabLst>
            </a:pPr>
            <a:r>
              <a:rPr sz="4800" spc="-25" dirty="0">
                <a:latin typeface="Gill Sans"/>
                <a:cs typeface="Gill Sans"/>
              </a:rPr>
              <a:t>P</a:t>
            </a:r>
            <a:r>
              <a:rPr sz="4800" dirty="0">
                <a:latin typeface="Gill Sans"/>
                <a:cs typeface="Gill Sans"/>
              </a:rPr>
              <a:t>ut</a:t>
            </a:r>
            <a:r>
              <a:rPr sz="4800" spc="-5" dirty="0">
                <a:latin typeface="Gill Sans"/>
                <a:cs typeface="Gill Sans"/>
              </a:rPr>
              <a:t> </a:t>
            </a:r>
            <a:r>
              <a:rPr sz="4800" dirty="0">
                <a:latin typeface="Gill Sans"/>
                <a:cs typeface="Gill Sans"/>
              </a:rPr>
              <a:t>the</a:t>
            </a:r>
            <a:r>
              <a:rPr sz="4800" spc="-5" dirty="0">
                <a:latin typeface="Gill Sans"/>
                <a:cs typeface="Gill Sans"/>
              </a:rPr>
              <a:t> </a:t>
            </a:r>
            <a:r>
              <a:rPr sz="4800" spc="-25" dirty="0">
                <a:latin typeface="Gill Sans"/>
                <a:cs typeface="Gill Sans"/>
              </a:rPr>
              <a:t>geogr</a:t>
            </a:r>
            <a:r>
              <a:rPr sz="4800" spc="-75" dirty="0">
                <a:latin typeface="Gill Sans"/>
                <a:cs typeface="Gill Sans"/>
              </a:rPr>
              <a:t>a</a:t>
            </a:r>
            <a:r>
              <a:rPr sz="4800" dirty="0">
                <a:latin typeface="Gill Sans"/>
                <a:cs typeface="Gill Sans"/>
              </a:rPr>
              <a:t>ph</a:t>
            </a:r>
            <a:r>
              <a:rPr sz="4800" spc="-5" dirty="0">
                <a:latin typeface="Gill Sans"/>
                <a:cs typeface="Gill Sans"/>
              </a:rPr>
              <a:t>i</a:t>
            </a:r>
            <a:r>
              <a:rPr sz="4800" spc="-25" dirty="0">
                <a:latin typeface="Gill Sans"/>
                <a:cs typeface="Gill Sans"/>
              </a:rPr>
              <a:t>c</a:t>
            </a:r>
            <a:r>
              <a:rPr sz="4800" spc="-5" dirty="0">
                <a:latin typeface="Gill Sans"/>
                <a:cs typeface="Gill Sans"/>
              </a:rPr>
              <a:t> </a:t>
            </a:r>
            <a:r>
              <a:rPr sz="4800" spc="-25" dirty="0">
                <a:latin typeface="Gill Sans"/>
                <a:cs typeface="Gill Sans"/>
              </a:rPr>
              <a:t>ranges</a:t>
            </a:r>
            <a:r>
              <a:rPr sz="4800" spc="-5" dirty="0">
                <a:latin typeface="Gill Sans"/>
                <a:cs typeface="Gill Sans"/>
              </a:rPr>
              <a:t> </a:t>
            </a:r>
            <a:r>
              <a:rPr sz="4800" spc="-25" dirty="0">
                <a:latin typeface="Gill Sans"/>
                <a:cs typeface="Gill Sans"/>
              </a:rPr>
              <a:t>a</a:t>
            </a:r>
            <a:r>
              <a:rPr sz="4800" dirty="0">
                <a:latin typeface="Gill Sans"/>
                <a:cs typeface="Gill Sans"/>
              </a:rPr>
              <a:t>t</a:t>
            </a:r>
            <a:r>
              <a:rPr sz="4800" spc="-5" dirty="0">
                <a:latin typeface="Gill Sans"/>
                <a:cs typeface="Gill Sans"/>
              </a:rPr>
              <a:t> </a:t>
            </a:r>
            <a:r>
              <a:rPr sz="4800" dirty="0">
                <a:latin typeface="Gill Sans"/>
                <a:cs typeface="Gill Sans"/>
              </a:rPr>
              <a:t>the</a:t>
            </a:r>
            <a:r>
              <a:rPr sz="4800" spc="-5" dirty="0">
                <a:latin typeface="Gill Sans"/>
                <a:cs typeface="Gill Sans"/>
              </a:rPr>
              <a:t> </a:t>
            </a:r>
            <a:r>
              <a:rPr sz="4800" dirty="0">
                <a:latin typeface="Gill Sans"/>
                <a:cs typeface="Gill Sans"/>
              </a:rPr>
              <a:t>t</a:t>
            </a:r>
            <a:r>
              <a:rPr sz="4800" spc="-5" dirty="0">
                <a:latin typeface="Gill Sans"/>
                <a:cs typeface="Gill Sans"/>
              </a:rPr>
              <a:t>i</a:t>
            </a:r>
            <a:r>
              <a:rPr sz="4800" spc="-25" dirty="0">
                <a:latin typeface="Gill Sans"/>
                <a:cs typeface="Gill Sans"/>
              </a:rPr>
              <a:t>ps</a:t>
            </a:r>
            <a:endParaRPr sz="4800">
              <a:latin typeface="Gill Sans"/>
              <a:cs typeface="Gill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1000" y="707868"/>
            <a:ext cx="10318750" cy="48247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800" b="1" spc="-45" dirty="0">
                <a:latin typeface="Gill Sans"/>
                <a:cs typeface="Gill Sans"/>
              </a:rPr>
              <a:t>Hi</a:t>
            </a:r>
            <a:r>
              <a:rPr sz="4800" b="1" spc="-25" dirty="0">
                <a:latin typeface="Gill Sans"/>
                <a:cs typeface="Gill Sans"/>
              </a:rPr>
              <a:t>s</a:t>
            </a:r>
            <a:r>
              <a:rPr sz="4800" b="1" spc="-5" dirty="0">
                <a:latin typeface="Gill Sans"/>
                <a:cs typeface="Gill Sans"/>
              </a:rPr>
              <a:t>to</a:t>
            </a:r>
            <a:r>
              <a:rPr sz="4800" b="1" spc="-210" dirty="0">
                <a:latin typeface="Gill Sans"/>
                <a:cs typeface="Gill Sans"/>
              </a:rPr>
              <a:t>r</a:t>
            </a:r>
            <a:r>
              <a:rPr sz="4800" b="1" dirty="0">
                <a:latin typeface="Gill Sans"/>
                <a:cs typeface="Gill Sans"/>
              </a:rPr>
              <a:t>i</a:t>
            </a:r>
            <a:r>
              <a:rPr sz="4800" b="1" spc="-5" dirty="0">
                <a:latin typeface="Gill Sans"/>
                <a:cs typeface="Gill Sans"/>
              </a:rPr>
              <a:t>c</a:t>
            </a:r>
            <a:r>
              <a:rPr sz="4800" b="1" spc="-30" dirty="0">
                <a:latin typeface="Gill Sans"/>
                <a:cs typeface="Gill Sans"/>
              </a:rPr>
              <a:t>a</a:t>
            </a:r>
            <a:r>
              <a:rPr sz="4800" b="1" dirty="0">
                <a:latin typeface="Gill Sans"/>
                <a:cs typeface="Gill Sans"/>
              </a:rPr>
              <a:t>l</a:t>
            </a:r>
            <a:r>
              <a:rPr sz="4800" b="1" spc="-5" dirty="0">
                <a:latin typeface="Gill Sans"/>
                <a:cs typeface="Gill Sans"/>
              </a:rPr>
              <a:t> </a:t>
            </a:r>
            <a:r>
              <a:rPr sz="4800" b="1" dirty="0">
                <a:latin typeface="Gill Sans"/>
                <a:cs typeface="Gill Sans"/>
              </a:rPr>
              <a:t>bi</a:t>
            </a:r>
            <a:r>
              <a:rPr sz="4800" b="1" spc="-5" dirty="0">
                <a:latin typeface="Gill Sans"/>
                <a:cs typeface="Gill Sans"/>
              </a:rPr>
              <a:t>o</a:t>
            </a:r>
            <a:r>
              <a:rPr sz="4800" b="1" dirty="0">
                <a:latin typeface="Gill Sans"/>
                <a:cs typeface="Gill Sans"/>
              </a:rPr>
              <a:t>ge</a:t>
            </a:r>
            <a:r>
              <a:rPr sz="4800" b="1" spc="-5" dirty="0">
                <a:latin typeface="Gill Sans"/>
                <a:cs typeface="Gill Sans"/>
              </a:rPr>
              <a:t>o</a:t>
            </a:r>
            <a:r>
              <a:rPr sz="4800" b="1" spc="175" dirty="0">
                <a:latin typeface="Gill Sans"/>
                <a:cs typeface="Gill Sans"/>
              </a:rPr>
              <a:t>g</a:t>
            </a:r>
            <a:r>
              <a:rPr sz="4800" b="1" spc="-70" dirty="0">
                <a:latin typeface="Gill Sans"/>
                <a:cs typeface="Gill Sans"/>
              </a:rPr>
              <a:t>r</a:t>
            </a:r>
            <a:r>
              <a:rPr sz="4800" b="1" spc="30" dirty="0">
                <a:latin typeface="Gill Sans"/>
                <a:cs typeface="Gill Sans"/>
              </a:rPr>
              <a:t>a</a:t>
            </a:r>
            <a:r>
              <a:rPr sz="4800" b="1" dirty="0">
                <a:latin typeface="Gill Sans"/>
                <a:cs typeface="Gill Sans"/>
              </a:rPr>
              <a:t>p</a:t>
            </a:r>
            <a:r>
              <a:rPr sz="4800" b="1" spc="-5" dirty="0">
                <a:latin typeface="Gill Sans"/>
                <a:cs typeface="Gill Sans"/>
              </a:rPr>
              <a:t>h</a:t>
            </a:r>
            <a:r>
              <a:rPr sz="4800" b="1" dirty="0">
                <a:latin typeface="Gill Sans"/>
                <a:cs typeface="Gill Sans"/>
              </a:rPr>
              <a:t>y</a:t>
            </a:r>
            <a:r>
              <a:rPr sz="4800" b="1" spc="-5" dirty="0">
                <a:latin typeface="Gill Sans"/>
                <a:cs typeface="Gill Sans"/>
              </a:rPr>
              <a:t> m</a:t>
            </a:r>
            <a:r>
              <a:rPr sz="4800" b="1" dirty="0">
                <a:latin typeface="Gill Sans"/>
                <a:cs typeface="Gill Sans"/>
              </a:rPr>
              <a:t>e</a:t>
            </a:r>
            <a:r>
              <a:rPr sz="4800" b="1" spc="-5" dirty="0">
                <a:latin typeface="Gill Sans"/>
                <a:cs typeface="Gill Sans"/>
              </a:rPr>
              <a:t>tho</a:t>
            </a:r>
            <a:r>
              <a:rPr sz="4800" b="1" dirty="0">
                <a:latin typeface="Gill Sans"/>
                <a:cs typeface="Gill Sans"/>
              </a:rPr>
              <a:t>d</a:t>
            </a:r>
            <a:r>
              <a:rPr sz="4800" b="1" spc="-25" dirty="0">
                <a:latin typeface="Gill Sans"/>
                <a:cs typeface="Gill Sans"/>
              </a:rPr>
              <a:t>s</a:t>
            </a:r>
            <a:endParaRPr sz="4800">
              <a:latin typeface="Gill Sans"/>
              <a:cs typeface="Gill Sans"/>
            </a:endParaRPr>
          </a:p>
          <a:p>
            <a:pPr>
              <a:lnSpc>
                <a:spcPct val="100000"/>
              </a:lnSpc>
              <a:spcBef>
                <a:spcPts val="7"/>
              </a:spcBef>
            </a:pPr>
            <a:endParaRPr sz="4550">
              <a:latin typeface="Times New Roman"/>
              <a:cs typeface="Times New Roman"/>
            </a:endParaRPr>
          </a:p>
          <a:p>
            <a:pPr marL="559435" indent="-546735">
              <a:lnSpc>
                <a:spcPct val="100000"/>
              </a:lnSpc>
              <a:buFont typeface="Gill Sans"/>
              <a:buAutoNum type="arabicPeriod"/>
              <a:tabLst>
                <a:tab pos="560070" algn="l"/>
              </a:tabLst>
            </a:pPr>
            <a:r>
              <a:rPr sz="4800" spc="-25" dirty="0">
                <a:latin typeface="Gill Sans"/>
                <a:cs typeface="Gill Sans"/>
              </a:rPr>
              <a:t>Es</a:t>
            </a:r>
            <a:r>
              <a:rPr sz="4800" dirty="0">
                <a:latin typeface="Gill Sans"/>
                <a:cs typeface="Gill Sans"/>
              </a:rPr>
              <a:t>t</a:t>
            </a:r>
            <a:r>
              <a:rPr sz="4800" spc="-5" dirty="0">
                <a:latin typeface="Gill Sans"/>
                <a:cs typeface="Gill Sans"/>
              </a:rPr>
              <a:t>i</a:t>
            </a:r>
            <a:r>
              <a:rPr sz="4800" spc="-30" dirty="0">
                <a:latin typeface="Gill Sans"/>
                <a:cs typeface="Gill Sans"/>
              </a:rPr>
              <a:t>ma</a:t>
            </a:r>
            <a:r>
              <a:rPr sz="4800" dirty="0">
                <a:latin typeface="Gill Sans"/>
                <a:cs typeface="Gill Sans"/>
              </a:rPr>
              <a:t>te</a:t>
            </a:r>
            <a:r>
              <a:rPr sz="4800" spc="-5" dirty="0">
                <a:latin typeface="Gill Sans"/>
                <a:cs typeface="Gill Sans"/>
              </a:rPr>
              <a:t> </a:t>
            </a:r>
            <a:r>
              <a:rPr sz="4800" spc="-25" dirty="0">
                <a:latin typeface="Gill Sans"/>
                <a:cs typeface="Gill Sans"/>
              </a:rPr>
              <a:t>a</a:t>
            </a:r>
            <a:r>
              <a:rPr sz="4800" spc="-5" dirty="0">
                <a:latin typeface="Gill Sans"/>
                <a:cs typeface="Gill Sans"/>
              </a:rPr>
              <a:t> </a:t>
            </a:r>
            <a:r>
              <a:rPr sz="4800" u="heavy" spc="-25" dirty="0">
                <a:latin typeface="Gill Sans"/>
                <a:cs typeface="Gill Sans"/>
              </a:rPr>
              <a:t>dated</a:t>
            </a:r>
            <a:r>
              <a:rPr sz="4800" spc="-5" dirty="0">
                <a:latin typeface="Gill Sans"/>
                <a:cs typeface="Gill Sans"/>
              </a:rPr>
              <a:t> </a:t>
            </a:r>
            <a:r>
              <a:rPr sz="4800" dirty="0">
                <a:latin typeface="Gill Sans"/>
                <a:cs typeface="Gill Sans"/>
              </a:rPr>
              <a:t>p</a:t>
            </a:r>
            <a:r>
              <a:rPr sz="4800" spc="-170" dirty="0">
                <a:latin typeface="Gill Sans"/>
                <a:cs typeface="Gill Sans"/>
              </a:rPr>
              <a:t>h</a:t>
            </a:r>
            <a:r>
              <a:rPr sz="4800" dirty="0">
                <a:latin typeface="Gill Sans"/>
                <a:cs typeface="Gill Sans"/>
              </a:rPr>
              <a:t>y</a:t>
            </a:r>
            <a:r>
              <a:rPr sz="4800" spc="-5" dirty="0">
                <a:latin typeface="Gill Sans"/>
                <a:cs typeface="Gill Sans"/>
              </a:rPr>
              <a:t>l</a:t>
            </a:r>
            <a:r>
              <a:rPr sz="4800" spc="-25" dirty="0">
                <a:latin typeface="Gill Sans"/>
                <a:cs typeface="Gill Sans"/>
              </a:rPr>
              <a:t>og</a:t>
            </a:r>
            <a:r>
              <a:rPr sz="4800" dirty="0">
                <a:latin typeface="Gill Sans"/>
                <a:cs typeface="Gill Sans"/>
              </a:rPr>
              <a:t>e</a:t>
            </a:r>
            <a:r>
              <a:rPr sz="4800" spc="-100" dirty="0">
                <a:latin typeface="Gill Sans"/>
                <a:cs typeface="Gill Sans"/>
              </a:rPr>
              <a:t>n</a:t>
            </a:r>
            <a:r>
              <a:rPr sz="4800" spc="-25" dirty="0">
                <a:latin typeface="Gill Sans"/>
                <a:cs typeface="Gill Sans"/>
              </a:rPr>
              <a:t>y</a:t>
            </a:r>
            <a:endParaRPr sz="4800">
              <a:latin typeface="Gill Sans"/>
              <a:cs typeface="Gill Sans"/>
            </a:endParaRPr>
          </a:p>
          <a:p>
            <a:pPr>
              <a:lnSpc>
                <a:spcPct val="100000"/>
              </a:lnSpc>
              <a:spcBef>
                <a:spcPts val="7"/>
              </a:spcBef>
              <a:buFont typeface="Gill Sans"/>
              <a:buAutoNum type="arabicPeriod"/>
            </a:pPr>
            <a:endParaRPr sz="4550">
              <a:latin typeface="Times New Roman"/>
              <a:cs typeface="Times New Roman"/>
            </a:endParaRPr>
          </a:p>
          <a:p>
            <a:pPr marL="559435" indent="-546735">
              <a:lnSpc>
                <a:spcPct val="100000"/>
              </a:lnSpc>
              <a:buFont typeface="Gill Sans"/>
              <a:buAutoNum type="arabicPeriod"/>
              <a:tabLst>
                <a:tab pos="560070" algn="l"/>
              </a:tabLst>
            </a:pPr>
            <a:r>
              <a:rPr sz="4800" spc="-25" dirty="0">
                <a:latin typeface="Gill Sans"/>
                <a:cs typeface="Gill Sans"/>
              </a:rPr>
              <a:t>P</a:t>
            </a:r>
            <a:r>
              <a:rPr sz="4800" dirty="0">
                <a:latin typeface="Gill Sans"/>
                <a:cs typeface="Gill Sans"/>
              </a:rPr>
              <a:t>ut</a:t>
            </a:r>
            <a:r>
              <a:rPr sz="4800" spc="-5" dirty="0">
                <a:latin typeface="Gill Sans"/>
                <a:cs typeface="Gill Sans"/>
              </a:rPr>
              <a:t> </a:t>
            </a:r>
            <a:r>
              <a:rPr sz="4800" dirty="0">
                <a:latin typeface="Gill Sans"/>
                <a:cs typeface="Gill Sans"/>
              </a:rPr>
              <a:t>the</a:t>
            </a:r>
            <a:r>
              <a:rPr sz="4800" spc="-5" dirty="0">
                <a:latin typeface="Gill Sans"/>
                <a:cs typeface="Gill Sans"/>
              </a:rPr>
              <a:t> </a:t>
            </a:r>
            <a:r>
              <a:rPr sz="4800" spc="-25" dirty="0">
                <a:latin typeface="Gill Sans"/>
                <a:cs typeface="Gill Sans"/>
              </a:rPr>
              <a:t>geogr</a:t>
            </a:r>
            <a:r>
              <a:rPr sz="4800" spc="-75" dirty="0">
                <a:latin typeface="Gill Sans"/>
                <a:cs typeface="Gill Sans"/>
              </a:rPr>
              <a:t>a</a:t>
            </a:r>
            <a:r>
              <a:rPr sz="4800" dirty="0">
                <a:latin typeface="Gill Sans"/>
                <a:cs typeface="Gill Sans"/>
              </a:rPr>
              <a:t>ph</a:t>
            </a:r>
            <a:r>
              <a:rPr sz="4800" spc="-5" dirty="0">
                <a:latin typeface="Gill Sans"/>
                <a:cs typeface="Gill Sans"/>
              </a:rPr>
              <a:t>i</a:t>
            </a:r>
            <a:r>
              <a:rPr sz="4800" spc="-25" dirty="0">
                <a:latin typeface="Gill Sans"/>
                <a:cs typeface="Gill Sans"/>
              </a:rPr>
              <a:t>c</a:t>
            </a:r>
            <a:r>
              <a:rPr sz="4800" spc="-5" dirty="0">
                <a:latin typeface="Gill Sans"/>
                <a:cs typeface="Gill Sans"/>
              </a:rPr>
              <a:t> </a:t>
            </a:r>
            <a:r>
              <a:rPr sz="4800" spc="-25" dirty="0">
                <a:latin typeface="Gill Sans"/>
                <a:cs typeface="Gill Sans"/>
              </a:rPr>
              <a:t>ranges</a:t>
            </a:r>
            <a:r>
              <a:rPr sz="4800" spc="-5" dirty="0">
                <a:latin typeface="Gill Sans"/>
                <a:cs typeface="Gill Sans"/>
              </a:rPr>
              <a:t> </a:t>
            </a:r>
            <a:r>
              <a:rPr sz="4800" spc="-25" dirty="0">
                <a:latin typeface="Gill Sans"/>
                <a:cs typeface="Gill Sans"/>
              </a:rPr>
              <a:t>a</a:t>
            </a:r>
            <a:r>
              <a:rPr sz="4800" dirty="0">
                <a:latin typeface="Gill Sans"/>
                <a:cs typeface="Gill Sans"/>
              </a:rPr>
              <a:t>t</a:t>
            </a:r>
            <a:r>
              <a:rPr sz="4800" spc="-5" dirty="0">
                <a:latin typeface="Gill Sans"/>
                <a:cs typeface="Gill Sans"/>
              </a:rPr>
              <a:t> </a:t>
            </a:r>
            <a:r>
              <a:rPr sz="4800" dirty="0">
                <a:latin typeface="Gill Sans"/>
                <a:cs typeface="Gill Sans"/>
              </a:rPr>
              <a:t>the</a:t>
            </a:r>
            <a:r>
              <a:rPr sz="4800" spc="-5" dirty="0">
                <a:latin typeface="Gill Sans"/>
                <a:cs typeface="Gill Sans"/>
              </a:rPr>
              <a:t> </a:t>
            </a:r>
            <a:r>
              <a:rPr sz="4800" dirty="0">
                <a:latin typeface="Gill Sans"/>
                <a:cs typeface="Gill Sans"/>
              </a:rPr>
              <a:t>t</a:t>
            </a:r>
            <a:r>
              <a:rPr sz="4800" spc="-5" dirty="0">
                <a:latin typeface="Gill Sans"/>
                <a:cs typeface="Gill Sans"/>
              </a:rPr>
              <a:t>i</a:t>
            </a:r>
            <a:r>
              <a:rPr sz="4800" spc="-25" dirty="0">
                <a:latin typeface="Gill Sans"/>
                <a:cs typeface="Gill Sans"/>
              </a:rPr>
              <a:t>ps</a:t>
            </a:r>
            <a:endParaRPr sz="4800">
              <a:latin typeface="Gill Sans"/>
              <a:cs typeface="Gill Sans"/>
            </a:endParaRPr>
          </a:p>
          <a:p>
            <a:pPr>
              <a:lnSpc>
                <a:spcPct val="100000"/>
              </a:lnSpc>
              <a:spcBef>
                <a:spcPts val="7"/>
              </a:spcBef>
              <a:buFont typeface="Gill Sans"/>
              <a:buAutoNum type="arabicPeriod"/>
            </a:pPr>
            <a:endParaRPr sz="4550">
              <a:latin typeface="Times New Roman"/>
              <a:cs typeface="Times New Roman"/>
            </a:endParaRPr>
          </a:p>
          <a:p>
            <a:pPr marL="497840" indent="-485140">
              <a:lnSpc>
                <a:spcPct val="100000"/>
              </a:lnSpc>
              <a:buFont typeface="Gill Sans"/>
              <a:buAutoNum type="arabicPeriod"/>
              <a:tabLst>
                <a:tab pos="498475" algn="l"/>
              </a:tabLst>
            </a:pPr>
            <a:r>
              <a:rPr sz="4800" spc="-25" dirty="0">
                <a:latin typeface="Gill Sans"/>
                <a:cs typeface="Gill Sans"/>
              </a:rPr>
              <a:t>Ass</a:t>
            </a:r>
            <a:r>
              <a:rPr sz="4800" dirty="0">
                <a:latin typeface="Gill Sans"/>
                <a:cs typeface="Gill Sans"/>
              </a:rPr>
              <a:t>ume</a:t>
            </a:r>
            <a:r>
              <a:rPr sz="4800" spc="-5" dirty="0">
                <a:latin typeface="Gill Sans"/>
                <a:cs typeface="Gill Sans"/>
              </a:rPr>
              <a:t> </a:t>
            </a:r>
            <a:r>
              <a:rPr sz="4800" spc="-25" dirty="0">
                <a:latin typeface="Gill Sans"/>
                <a:cs typeface="Gill Sans"/>
              </a:rPr>
              <a:t>so</a:t>
            </a:r>
            <a:r>
              <a:rPr sz="4800" dirty="0">
                <a:latin typeface="Gill Sans"/>
                <a:cs typeface="Gill Sans"/>
              </a:rPr>
              <a:t>me</a:t>
            </a:r>
            <a:r>
              <a:rPr sz="4800" spc="-5" dirty="0">
                <a:latin typeface="Gill Sans"/>
                <a:cs typeface="Gill Sans"/>
              </a:rPr>
              <a:t> </a:t>
            </a:r>
            <a:r>
              <a:rPr sz="4800" dirty="0">
                <a:latin typeface="Gill Sans"/>
                <a:cs typeface="Gill Sans"/>
              </a:rPr>
              <a:t>p</a:t>
            </a:r>
            <a:r>
              <a:rPr sz="4800" spc="-140" dirty="0">
                <a:latin typeface="Gill Sans"/>
                <a:cs typeface="Gill Sans"/>
              </a:rPr>
              <a:t>r</a:t>
            </a:r>
            <a:r>
              <a:rPr sz="4800" spc="-25" dirty="0">
                <a:latin typeface="Gill Sans"/>
                <a:cs typeface="Gill Sans"/>
              </a:rPr>
              <a:t>ocess</a:t>
            </a:r>
            <a:r>
              <a:rPr sz="4800" spc="-5" dirty="0">
                <a:latin typeface="Gill Sans"/>
                <a:cs typeface="Gill Sans"/>
              </a:rPr>
              <a:t>(</a:t>
            </a:r>
            <a:r>
              <a:rPr sz="4800" spc="-25" dirty="0">
                <a:latin typeface="Gill Sans"/>
                <a:cs typeface="Gill Sans"/>
              </a:rPr>
              <a:t>es</a:t>
            </a:r>
            <a:r>
              <a:rPr sz="4800" dirty="0">
                <a:latin typeface="Gill Sans"/>
                <a:cs typeface="Gill Sans"/>
              </a:rPr>
              <a:t>)</a:t>
            </a:r>
            <a:endParaRPr sz="4800">
              <a:latin typeface="Gill Sans"/>
              <a:cs typeface="Gill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1000" y="707868"/>
            <a:ext cx="10318750" cy="62217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800" b="1" spc="-45" dirty="0">
                <a:latin typeface="Gill Sans"/>
                <a:cs typeface="Gill Sans"/>
              </a:rPr>
              <a:t>Hi</a:t>
            </a:r>
            <a:r>
              <a:rPr sz="4800" b="1" spc="-25" dirty="0">
                <a:latin typeface="Gill Sans"/>
                <a:cs typeface="Gill Sans"/>
              </a:rPr>
              <a:t>s</a:t>
            </a:r>
            <a:r>
              <a:rPr sz="4800" b="1" spc="-5" dirty="0">
                <a:latin typeface="Gill Sans"/>
                <a:cs typeface="Gill Sans"/>
              </a:rPr>
              <a:t>to</a:t>
            </a:r>
            <a:r>
              <a:rPr sz="4800" b="1" spc="-210" dirty="0">
                <a:latin typeface="Gill Sans"/>
                <a:cs typeface="Gill Sans"/>
              </a:rPr>
              <a:t>r</a:t>
            </a:r>
            <a:r>
              <a:rPr sz="4800" b="1" dirty="0">
                <a:latin typeface="Gill Sans"/>
                <a:cs typeface="Gill Sans"/>
              </a:rPr>
              <a:t>i</a:t>
            </a:r>
            <a:r>
              <a:rPr sz="4800" b="1" spc="-5" dirty="0">
                <a:latin typeface="Gill Sans"/>
                <a:cs typeface="Gill Sans"/>
              </a:rPr>
              <a:t>c</a:t>
            </a:r>
            <a:r>
              <a:rPr sz="4800" b="1" spc="-30" dirty="0">
                <a:latin typeface="Gill Sans"/>
                <a:cs typeface="Gill Sans"/>
              </a:rPr>
              <a:t>a</a:t>
            </a:r>
            <a:r>
              <a:rPr sz="4800" b="1" dirty="0">
                <a:latin typeface="Gill Sans"/>
                <a:cs typeface="Gill Sans"/>
              </a:rPr>
              <a:t>l</a:t>
            </a:r>
            <a:r>
              <a:rPr sz="4800" b="1" spc="-5" dirty="0">
                <a:latin typeface="Gill Sans"/>
                <a:cs typeface="Gill Sans"/>
              </a:rPr>
              <a:t> </a:t>
            </a:r>
            <a:r>
              <a:rPr sz="4800" b="1" dirty="0">
                <a:latin typeface="Gill Sans"/>
                <a:cs typeface="Gill Sans"/>
              </a:rPr>
              <a:t>bi</a:t>
            </a:r>
            <a:r>
              <a:rPr sz="4800" b="1" spc="-5" dirty="0">
                <a:latin typeface="Gill Sans"/>
                <a:cs typeface="Gill Sans"/>
              </a:rPr>
              <a:t>o</a:t>
            </a:r>
            <a:r>
              <a:rPr sz="4800" b="1" dirty="0">
                <a:latin typeface="Gill Sans"/>
                <a:cs typeface="Gill Sans"/>
              </a:rPr>
              <a:t>ge</a:t>
            </a:r>
            <a:r>
              <a:rPr sz="4800" b="1" spc="-5" dirty="0">
                <a:latin typeface="Gill Sans"/>
                <a:cs typeface="Gill Sans"/>
              </a:rPr>
              <a:t>o</a:t>
            </a:r>
            <a:r>
              <a:rPr sz="4800" b="1" spc="175" dirty="0">
                <a:latin typeface="Gill Sans"/>
                <a:cs typeface="Gill Sans"/>
              </a:rPr>
              <a:t>g</a:t>
            </a:r>
            <a:r>
              <a:rPr sz="4800" b="1" spc="-70" dirty="0">
                <a:latin typeface="Gill Sans"/>
                <a:cs typeface="Gill Sans"/>
              </a:rPr>
              <a:t>r</a:t>
            </a:r>
            <a:r>
              <a:rPr sz="4800" b="1" spc="30" dirty="0">
                <a:latin typeface="Gill Sans"/>
                <a:cs typeface="Gill Sans"/>
              </a:rPr>
              <a:t>a</a:t>
            </a:r>
            <a:r>
              <a:rPr sz="4800" b="1" dirty="0">
                <a:latin typeface="Gill Sans"/>
                <a:cs typeface="Gill Sans"/>
              </a:rPr>
              <a:t>p</a:t>
            </a:r>
            <a:r>
              <a:rPr sz="4800" b="1" spc="-5" dirty="0">
                <a:latin typeface="Gill Sans"/>
                <a:cs typeface="Gill Sans"/>
              </a:rPr>
              <a:t>h</a:t>
            </a:r>
            <a:r>
              <a:rPr sz="4800" b="1" dirty="0">
                <a:latin typeface="Gill Sans"/>
                <a:cs typeface="Gill Sans"/>
              </a:rPr>
              <a:t>y</a:t>
            </a:r>
            <a:r>
              <a:rPr sz="4800" b="1" spc="-5" dirty="0">
                <a:latin typeface="Gill Sans"/>
                <a:cs typeface="Gill Sans"/>
              </a:rPr>
              <a:t> m</a:t>
            </a:r>
            <a:r>
              <a:rPr sz="4800" b="1" dirty="0">
                <a:latin typeface="Gill Sans"/>
                <a:cs typeface="Gill Sans"/>
              </a:rPr>
              <a:t>e</a:t>
            </a:r>
            <a:r>
              <a:rPr sz="4800" b="1" spc="-5" dirty="0">
                <a:latin typeface="Gill Sans"/>
                <a:cs typeface="Gill Sans"/>
              </a:rPr>
              <a:t>tho</a:t>
            </a:r>
            <a:r>
              <a:rPr sz="4800" b="1" dirty="0">
                <a:latin typeface="Gill Sans"/>
                <a:cs typeface="Gill Sans"/>
              </a:rPr>
              <a:t>d</a:t>
            </a:r>
            <a:r>
              <a:rPr sz="4800" b="1" spc="-25" dirty="0">
                <a:latin typeface="Gill Sans"/>
                <a:cs typeface="Gill Sans"/>
              </a:rPr>
              <a:t>s</a:t>
            </a:r>
            <a:endParaRPr sz="4800">
              <a:latin typeface="Gill Sans"/>
              <a:cs typeface="Gill Sans"/>
            </a:endParaRPr>
          </a:p>
          <a:p>
            <a:pPr>
              <a:lnSpc>
                <a:spcPct val="100000"/>
              </a:lnSpc>
              <a:spcBef>
                <a:spcPts val="7"/>
              </a:spcBef>
            </a:pPr>
            <a:endParaRPr sz="4550">
              <a:latin typeface="Times New Roman"/>
              <a:cs typeface="Times New Roman"/>
            </a:endParaRPr>
          </a:p>
          <a:p>
            <a:pPr marL="559435" indent="-546735">
              <a:lnSpc>
                <a:spcPct val="100000"/>
              </a:lnSpc>
              <a:buFont typeface="Gill Sans"/>
              <a:buAutoNum type="arabicPeriod"/>
              <a:tabLst>
                <a:tab pos="560070" algn="l"/>
              </a:tabLst>
            </a:pPr>
            <a:r>
              <a:rPr sz="4800" spc="-25" dirty="0">
                <a:latin typeface="Gill Sans"/>
                <a:cs typeface="Gill Sans"/>
              </a:rPr>
              <a:t>Es</a:t>
            </a:r>
            <a:r>
              <a:rPr sz="4800" dirty="0">
                <a:latin typeface="Gill Sans"/>
                <a:cs typeface="Gill Sans"/>
              </a:rPr>
              <a:t>t</a:t>
            </a:r>
            <a:r>
              <a:rPr sz="4800" spc="-5" dirty="0">
                <a:latin typeface="Gill Sans"/>
                <a:cs typeface="Gill Sans"/>
              </a:rPr>
              <a:t>i</a:t>
            </a:r>
            <a:r>
              <a:rPr sz="4800" spc="-30" dirty="0">
                <a:latin typeface="Gill Sans"/>
                <a:cs typeface="Gill Sans"/>
              </a:rPr>
              <a:t>ma</a:t>
            </a:r>
            <a:r>
              <a:rPr sz="4800" dirty="0">
                <a:latin typeface="Gill Sans"/>
                <a:cs typeface="Gill Sans"/>
              </a:rPr>
              <a:t>te</a:t>
            </a:r>
            <a:r>
              <a:rPr sz="4800" spc="-5" dirty="0">
                <a:latin typeface="Gill Sans"/>
                <a:cs typeface="Gill Sans"/>
              </a:rPr>
              <a:t> </a:t>
            </a:r>
            <a:r>
              <a:rPr sz="4800" spc="-25" dirty="0">
                <a:latin typeface="Gill Sans"/>
                <a:cs typeface="Gill Sans"/>
              </a:rPr>
              <a:t>a</a:t>
            </a:r>
            <a:r>
              <a:rPr sz="4800" spc="-5" dirty="0">
                <a:latin typeface="Gill Sans"/>
                <a:cs typeface="Gill Sans"/>
              </a:rPr>
              <a:t> </a:t>
            </a:r>
            <a:r>
              <a:rPr sz="4800" u="heavy" spc="-25" dirty="0">
                <a:latin typeface="Gill Sans"/>
                <a:cs typeface="Gill Sans"/>
              </a:rPr>
              <a:t>dated</a:t>
            </a:r>
            <a:r>
              <a:rPr sz="4800" spc="-5" dirty="0">
                <a:latin typeface="Gill Sans"/>
                <a:cs typeface="Gill Sans"/>
              </a:rPr>
              <a:t> </a:t>
            </a:r>
            <a:r>
              <a:rPr sz="4800" dirty="0">
                <a:latin typeface="Gill Sans"/>
                <a:cs typeface="Gill Sans"/>
              </a:rPr>
              <a:t>p</a:t>
            </a:r>
            <a:r>
              <a:rPr sz="4800" spc="-170" dirty="0">
                <a:latin typeface="Gill Sans"/>
                <a:cs typeface="Gill Sans"/>
              </a:rPr>
              <a:t>h</a:t>
            </a:r>
            <a:r>
              <a:rPr sz="4800" dirty="0">
                <a:latin typeface="Gill Sans"/>
                <a:cs typeface="Gill Sans"/>
              </a:rPr>
              <a:t>y</a:t>
            </a:r>
            <a:r>
              <a:rPr sz="4800" spc="-5" dirty="0">
                <a:latin typeface="Gill Sans"/>
                <a:cs typeface="Gill Sans"/>
              </a:rPr>
              <a:t>l</a:t>
            </a:r>
            <a:r>
              <a:rPr sz="4800" spc="-25" dirty="0">
                <a:latin typeface="Gill Sans"/>
                <a:cs typeface="Gill Sans"/>
              </a:rPr>
              <a:t>og</a:t>
            </a:r>
            <a:r>
              <a:rPr sz="4800" dirty="0">
                <a:latin typeface="Gill Sans"/>
                <a:cs typeface="Gill Sans"/>
              </a:rPr>
              <a:t>e</a:t>
            </a:r>
            <a:r>
              <a:rPr sz="4800" spc="-100" dirty="0">
                <a:latin typeface="Gill Sans"/>
                <a:cs typeface="Gill Sans"/>
              </a:rPr>
              <a:t>n</a:t>
            </a:r>
            <a:r>
              <a:rPr sz="4800" spc="-25" dirty="0">
                <a:latin typeface="Gill Sans"/>
                <a:cs typeface="Gill Sans"/>
              </a:rPr>
              <a:t>y</a:t>
            </a:r>
            <a:endParaRPr sz="4800">
              <a:latin typeface="Gill Sans"/>
              <a:cs typeface="Gill Sans"/>
            </a:endParaRPr>
          </a:p>
          <a:p>
            <a:pPr>
              <a:lnSpc>
                <a:spcPct val="100000"/>
              </a:lnSpc>
              <a:spcBef>
                <a:spcPts val="7"/>
              </a:spcBef>
              <a:buFont typeface="Gill Sans"/>
              <a:buAutoNum type="arabicPeriod"/>
            </a:pPr>
            <a:endParaRPr sz="4550">
              <a:latin typeface="Times New Roman"/>
              <a:cs typeface="Times New Roman"/>
            </a:endParaRPr>
          </a:p>
          <a:p>
            <a:pPr marL="559435" indent="-546735">
              <a:lnSpc>
                <a:spcPct val="100000"/>
              </a:lnSpc>
              <a:buFont typeface="Gill Sans"/>
              <a:buAutoNum type="arabicPeriod"/>
              <a:tabLst>
                <a:tab pos="560070" algn="l"/>
              </a:tabLst>
            </a:pPr>
            <a:r>
              <a:rPr sz="4800" spc="-25" dirty="0">
                <a:latin typeface="Gill Sans"/>
                <a:cs typeface="Gill Sans"/>
              </a:rPr>
              <a:t>P</a:t>
            </a:r>
            <a:r>
              <a:rPr sz="4800" dirty="0">
                <a:latin typeface="Gill Sans"/>
                <a:cs typeface="Gill Sans"/>
              </a:rPr>
              <a:t>ut</a:t>
            </a:r>
            <a:r>
              <a:rPr sz="4800" spc="-5" dirty="0">
                <a:latin typeface="Gill Sans"/>
                <a:cs typeface="Gill Sans"/>
              </a:rPr>
              <a:t> </a:t>
            </a:r>
            <a:r>
              <a:rPr sz="4800" dirty="0">
                <a:latin typeface="Gill Sans"/>
                <a:cs typeface="Gill Sans"/>
              </a:rPr>
              <a:t>the</a:t>
            </a:r>
            <a:r>
              <a:rPr sz="4800" spc="-5" dirty="0">
                <a:latin typeface="Gill Sans"/>
                <a:cs typeface="Gill Sans"/>
              </a:rPr>
              <a:t> </a:t>
            </a:r>
            <a:r>
              <a:rPr sz="4800" spc="-25" dirty="0">
                <a:latin typeface="Gill Sans"/>
                <a:cs typeface="Gill Sans"/>
              </a:rPr>
              <a:t>geogr</a:t>
            </a:r>
            <a:r>
              <a:rPr sz="4800" spc="-75" dirty="0">
                <a:latin typeface="Gill Sans"/>
                <a:cs typeface="Gill Sans"/>
              </a:rPr>
              <a:t>a</a:t>
            </a:r>
            <a:r>
              <a:rPr sz="4800" dirty="0">
                <a:latin typeface="Gill Sans"/>
                <a:cs typeface="Gill Sans"/>
              </a:rPr>
              <a:t>ph</a:t>
            </a:r>
            <a:r>
              <a:rPr sz="4800" spc="-5" dirty="0">
                <a:latin typeface="Gill Sans"/>
                <a:cs typeface="Gill Sans"/>
              </a:rPr>
              <a:t>i</a:t>
            </a:r>
            <a:r>
              <a:rPr sz="4800" spc="-25" dirty="0">
                <a:latin typeface="Gill Sans"/>
                <a:cs typeface="Gill Sans"/>
              </a:rPr>
              <a:t>c</a:t>
            </a:r>
            <a:r>
              <a:rPr sz="4800" spc="-5" dirty="0">
                <a:latin typeface="Gill Sans"/>
                <a:cs typeface="Gill Sans"/>
              </a:rPr>
              <a:t> </a:t>
            </a:r>
            <a:r>
              <a:rPr sz="4800" spc="-25" dirty="0">
                <a:latin typeface="Gill Sans"/>
                <a:cs typeface="Gill Sans"/>
              </a:rPr>
              <a:t>ranges</a:t>
            </a:r>
            <a:r>
              <a:rPr sz="4800" spc="-5" dirty="0">
                <a:latin typeface="Gill Sans"/>
                <a:cs typeface="Gill Sans"/>
              </a:rPr>
              <a:t> </a:t>
            </a:r>
            <a:r>
              <a:rPr sz="4800" spc="-25" dirty="0">
                <a:latin typeface="Gill Sans"/>
                <a:cs typeface="Gill Sans"/>
              </a:rPr>
              <a:t>a</a:t>
            </a:r>
            <a:r>
              <a:rPr sz="4800" dirty="0">
                <a:latin typeface="Gill Sans"/>
                <a:cs typeface="Gill Sans"/>
              </a:rPr>
              <a:t>t</a:t>
            </a:r>
            <a:r>
              <a:rPr sz="4800" spc="-5" dirty="0">
                <a:latin typeface="Gill Sans"/>
                <a:cs typeface="Gill Sans"/>
              </a:rPr>
              <a:t> </a:t>
            </a:r>
            <a:r>
              <a:rPr sz="4800" dirty="0">
                <a:latin typeface="Gill Sans"/>
                <a:cs typeface="Gill Sans"/>
              </a:rPr>
              <a:t>the</a:t>
            </a:r>
            <a:r>
              <a:rPr sz="4800" spc="-5" dirty="0">
                <a:latin typeface="Gill Sans"/>
                <a:cs typeface="Gill Sans"/>
              </a:rPr>
              <a:t> </a:t>
            </a:r>
            <a:r>
              <a:rPr sz="4800" dirty="0">
                <a:latin typeface="Gill Sans"/>
                <a:cs typeface="Gill Sans"/>
              </a:rPr>
              <a:t>t</a:t>
            </a:r>
            <a:r>
              <a:rPr sz="4800" spc="-5" dirty="0">
                <a:latin typeface="Gill Sans"/>
                <a:cs typeface="Gill Sans"/>
              </a:rPr>
              <a:t>i</a:t>
            </a:r>
            <a:r>
              <a:rPr sz="4800" spc="-25" dirty="0">
                <a:latin typeface="Gill Sans"/>
                <a:cs typeface="Gill Sans"/>
              </a:rPr>
              <a:t>ps</a:t>
            </a:r>
            <a:endParaRPr sz="4800">
              <a:latin typeface="Gill Sans"/>
              <a:cs typeface="Gill Sans"/>
            </a:endParaRPr>
          </a:p>
          <a:p>
            <a:pPr>
              <a:lnSpc>
                <a:spcPct val="100000"/>
              </a:lnSpc>
              <a:spcBef>
                <a:spcPts val="7"/>
              </a:spcBef>
              <a:buFont typeface="Gill Sans"/>
              <a:buAutoNum type="arabicPeriod"/>
            </a:pPr>
            <a:endParaRPr sz="4550">
              <a:latin typeface="Times New Roman"/>
              <a:cs typeface="Times New Roman"/>
            </a:endParaRPr>
          </a:p>
          <a:p>
            <a:pPr marL="497840" indent="-485140">
              <a:lnSpc>
                <a:spcPct val="100000"/>
              </a:lnSpc>
              <a:buFont typeface="Gill Sans"/>
              <a:buAutoNum type="arabicPeriod"/>
              <a:tabLst>
                <a:tab pos="498475" algn="l"/>
              </a:tabLst>
            </a:pPr>
            <a:r>
              <a:rPr sz="4800" spc="-25" dirty="0">
                <a:latin typeface="Gill Sans"/>
                <a:cs typeface="Gill Sans"/>
              </a:rPr>
              <a:t>Ass</a:t>
            </a:r>
            <a:r>
              <a:rPr sz="4800" dirty="0">
                <a:latin typeface="Gill Sans"/>
                <a:cs typeface="Gill Sans"/>
              </a:rPr>
              <a:t>ume</a:t>
            </a:r>
            <a:r>
              <a:rPr sz="4800" spc="-5" dirty="0">
                <a:latin typeface="Gill Sans"/>
                <a:cs typeface="Gill Sans"/>
              </a:rPr>
              <a:t> </a:t>
            </a:r>
            <a:r>
              <a:rPr sz="4800" spc="-25" dirty="0">
                <a:latin typeface="Gill Sans"/>
                <a:cs typeface="Gill Sans"/>
              </a:rPr>
              <a:t>so</a:t>
            </a:r>
            <a:r>
              <a:rPr sz="4800" dirty="0">
                <a:latin typeface="Gill Sans"/>
                <a:cs typeface="Gill Sans"/>
              </a:rPr>
              <a:t>me</a:t>
            </a:r>
            <a:r>
              <a:rPr sz="4800" spc="-5" dirty="0">
                <a:latin typeface="Gill Sans"/>
                <a:cs typeface="Gill Sans"/>
              </a:rPr>
              <a:t> </a:t>
            </a:r>
            <a:r>
              <a:rPr sz="4800" dirty="0">
                <a:latin typeface="Gill Sans"/>
                <a:cs typeface="Gill Sans"/>
              </a:rPr>
              <a:t>p</a:t>
            </a:r>
            <a:r>
              <a:rPr sz="4800" spc="-140" dirty="0">
                <a:latin typeface="Gill Sans"/>
                <a:cs typeface="Gill Sans"/>
              </a:rPr>
              <a:t>r</a:t>
            </a:r>
            <a:r>
              <a:rPr sz="4800" spc="-25" dirty="0">
                <a:latin typeface="Gill Sans"/>
                <a:cs typeface="Gill Sans"/>
              </a:rPr>
              <a:t>ocess</a:t>
            </a:r>
            <a:r>
              <a:rPr sz="4800" spc="-5" dirty="0">
                <a:latin typeface="Gill Sans"/>
                <a:cs typeface="Gill Sans"/>
              </a:rPr>
              <a:t>(</a:t>
            </a:r>
            <a:r>
              <a:rPr sz="4800" spc="-25" dirty="0">
                <a:latin typeface="Gill Sans"/>
                <a:cs typeface="Gill Sans"/>
              </a:rPr>
              <a:t>es</a:t>
            </a:r>
            <a:r>
              <a:rPr sz="4800" dirty="0">
                <a:latin typeface="Gill Sans"/>
                <a:cs typeface="Gill Sans"/>
              </a:rPr>
              <a:t>)</a:t>
            </a:r>
            <a:endParaRPr sz="4800">
              <a:latin typeface="Gill Sans"/>
              <a:cs typeface="Gill Sans"/>
            </a:endParaRPr>
          </a:p>
          <a:p>
            <a:pPr>
              <a:lnSpc>
                <a:spcPct val="100000"/>
              </a:lnSpc>
              <a:spcBef>
                <a:spcPts val="7"/>
              </a:spcBef>
              <a:buFont typeface="Gill Sans"/>
              <a:buAutoNum type="arabicPeriod"/>
            </a:pPr>
            <a:endParaRPr sz="4550">
              <a:latin typeface="Times New Roman"/>
              <a:cs typeface="Times New Roman"/>
            </a:endParaRPr>
          </a:p>
          <a:p>
            <a:pPr marL="559435" indent="-546735">
              <a:lnSpc>
                <a:spcPct val="100000"/>
              </a:lnSpc>
              <a:buFont typeface="Gill Sans"/>
              <a:buAutoNum type="arabicPeriod"/>
              <a:tabLst>
                <a:tab pos="560070" algn="l"/>
              </a:tabLst>
            </a:pPr>
            <a:r>
              <a:rPr sz="4800" spc="-25" dirty="0">
                <a:latin typeface="Gill Sans"/>
                <a:cs typeface="Gill Sans"/>
              </a:rPr>
              <a:t>Conduct</a:t>
            </a:r>
            <a:r>
              <a:rPr sz="4800" spc="-5" dirty="0">
                <a:latin typeface="Gill Sans"/>
                <a:cs typeface="Gill Sans"/>
              </a:rPr>
              <a:t> i</a:t>
            </a:r>
            <a:r>
              <a:rPr sz="4800" dirty="0">
                <a:latin typeface="Gill Sans"/>
                <a:cs typeface="Gill Sans"/>
              </a:rPr>
              <a:t>n</a:t>
            </a:r>
            <a:r>
              <a:rPr sz="4800" spc="-50" dirty="0">
                <a:latin typeface="Gill Sans"/>
                <a:cs typeface="Gill Sans"/>
              </a:rPr>
              <a:t>f</a:t>
            </a:r>
            <a:r>
              <a:rPr sz="4800" dirty="0">
                <a:latin typeface="Gill Sans"/>
                <a:cs typeface="Gill Sans"/>
              </a:rPr>
              <a:t>e</a:t>
            </a:r>
            <a:r>
              <a:rPr sz="4800" spc="-100" dirty="0">
                <a:latin typeface="Gill Sans"/>
                <a:cs typeface="Gill Sans"/>
              </a:rPr>
              <a:t>r</a:t>
            </a:r>
            <a:r>
              <a:rPr sz="4800" spc="-25" dirty="0">
                <a:latin typeface="Gill Sans"/>
                <a:cs typeface="Gill Sans"/>
              </a:rPr>
              <a:t>ence</a:t>
            </a:r>
            <a:endParaRPr sz="4800">
              <a:latin typeface="Gill Sans"/>
              <a:cs typeface="Gill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1000" y="707868"/>
            <a:ext cx="10318750" cy="62217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800" b="1" spc="-45" dirty="0">
                <a:latin typeface="Gill Sans"/>
                <a:cs typeface="Gill Sans"/>
              </a:rPr>
              <a:t>Hi</a:t>
            </a:r>
            <a:r>
              <a:rPr sz="4800" b="1" spc="-25" dirty="0">
                <a:latin typeface="Gill Sans"/>
                <a:cs typeface="Gill Sans"/>
              </a:rPr>
              <a:t>s</a:t>
            </a:r>
            <a:r>
              <a:rPr sz="4800" b="1" spc="-5" dirty="0">
                <a:latin typeface="Gill Sans"/>
                <a:cs typeface="Gill Sans"/>
              </a:rPr>
              <a:t>to</a:t>
            </a:r>
            <a:r>
              <a:rPr sz="4800" b="1" spc="-210" dirty="0">
                <a:latin typeface="Gill Sans"/>
                <a:cs typeface="Gill Sans"/>
              </a:rPr>
              <a:t>r</a:t>
            </a:r>
            <a:r>
              <a:rPr sz="4800" b="1" dirty="0">
                <a:latin typeface="Gill Sans"/>
                <a:cs typeface="Gill Sans"/>
              </a:rPr>
              <a:t>i</a:t>
            </a:r>
            <a:r>
              <a:rPr sz="4800" b="1" spc="-5" dirty="0">
                <a:latin typeface="Gill Sans"/>
                <a:cs typeface="Gill Sans"/>
              </a:rPr>
              <a:t>c</a:t>
            </a:r>
            <a:r>
              <a:rPr sz="4800" b="1" spc="-30" dirty="0">
                <a:latin typeface="Gill Sans"/>
                <a:cs typeface="Gill Sans"/>
              </a:rPr>
              <a:t>a</a:t>
            </a:r>
            <a:r>
              <a:rPr sz="4800" b="1" dirty="0">
                <a:latin typeface="Gill Sans"/>
                <a:cs typeface="Gill Sans"/>
              </a:rPr>
              <a:t>l</a:t>
            </a:r>
            <a:r>
              <a:rPr sz="4800" b="1" spc="-5" dirty="0">
                <a:latin typeface="Gill Sans"/>
                <a:cs typeface="Gill Sans"/>
              </a:rPr>
              <a:t> </a:t>
            </a:r>
            <a:r>
              <a:rPr sz="4800" b="1" dirty="0">
                <a:latin typeface="Gill Sans"/>
                <a:cs typeface="Gill Sans"/>
              </a:rPr>
              <a:t>bi</a:t>
            </a:r>
            <a:r>
              <a:rPr sz="4800" b="1" spc="-5" dirty="0">
                <a:latin typeface="Gill Sans"/>
                <a:cs typeface="Gill Sans"/>
              </a:rPr>
              <a:t>o</a:t>
            </a:r>
            <a:r>
              <a:rPr sz="4800" b="1" dirty="0">
                <a:latin typeface="Gill Sans"/>
                <a:cs typeface="Gill Sans"/>
              </a:rPr>
              <a:t>ge</a:t>
            </a:r>
            <a:r>
              <a:rPr sz="4800" b="1" spc="-5" dirty="0">
                <a:latin typeface="Gill Sans"/>
                <a:cs typeface="Gill Sans"/>
              </a:rPr>
              <a:t>o</a:t>
            </a:r>
            <a:r>
              <a:rPr sz="4800" b="1" spc="175" dirty="0">
                <a:latin typeface="Gill Sans"/>
                <a:cs typeface="Gill Sans"/>
              </a:rPr>
              <a:t>g</a:t>
            </a:r>
            <a:r>
              <a:rPr sz="4800" b="1" spc="-70" dirty="0">
                <a:latin typeface="Gill Sans"/>
                <a:cs typeface="Gill Sans"/>
              </a:rPr>
              <a:t>r</a:t>
            </a:r>
            <a:r>
              <a:rPr sz="4800" b="1" spc="30" dirty="0">
                <a:latin typeface="Gill Sans"/>
                <a:cs typeface="Gill Sans"/>
              </a:rPr>
              <a:t>a</a:t>
            </a:r>
            <a:r>
              <a:rPr sz="4800" b="1" dirty="0">
                <a:latin typeface="Gill Sans"/>
                <a:cs typeface="Gill Sans"/>
              </a:rPr>
              <a:t>p</a:t>
            </a:r>
            <a:r>
              <a:rPr sz="4800" b="1" spc="-5" dirty="0">
                <a:latin typeface="Gill Sans"/>
                <a:cs typeface="Gill Sans"/>
              </a:rPr>
              <a:t>h</a:t>
            </a:r>
            <a:r>
              <a:rPr sz="4800" b="1" dirty="0">
                <a:latin typeface="Gill Sans"/>
                <a:cs typeface="Gill Sans"/>
              </a:rPr>
              <a:t>y</a:t>
            </a:r>
            <a:r>
              <a:rPr sz="4800" b="1" spc="-5" dirty="0">
                <a:latin typeface="Gill Sans"/>
                <a:cs typeface="Gill Sans"/>
              </a:rPr>
              <a:t> m</a:t>
            </a:r>
            <a:r>
              <a:rPr sz="4800" b="1" dirty="0">
                <a:latin typeface="Gill Sans"/>
                <a:cs typeface="Gill Sans"/>
              </a:rPr>
              <a:t>e</a:t>
            </a:r>
            <a:r>
              <a:rPr sz="4800" b="1" spc="-5" dirty="0">
                <a:latin typeface="Gill Sans"/>
                <a:cs typeface="Gill Sans"/>
              </a:rPr>
              <a:t>tho</a:t>
            </a:r>
            <a:r>
              <a:rPr sz="4800" b="1" dirty="0">
                <a:latin typeface="Gill Sans"/>
                <a:cs typeface="Gill Sans"/>
              </a:rPr>
              <a:t>d</a:t>
            </a:r>
            <a:r>
              <a:rPr sz="4800" b="1" spc="-25" dirty="0">
                <a:latin typeface="Gill Sans"/>
                <a:cs typeface="Gill Sans"/>
              </a:rPr>
              <a:t>s</a:t>
            </a:r>
            <a:endParaRPr sz="4800" dirty="0">
              <a:latin typeface="Gill Sans"/>
              <a:cs typeface="Gill Sans"/>
            </a:endParaRPr>
          </a:p>
          <a:p>
            <a:pPr>
              <a:lnSpc>
                <a:spcPct val="100000"/>
              </a:lnSpc>
              <a:spcBef>
                <a:spcPts val="7"/>
              </a:spcBef>
            </a:pPr>
            <a:endParaRPr sz="4550" dirty="0">
              <a:latin typeface="Times New Roman"/>
              <a:cs typeface="Times New Roman"/>
            </a:endParaRPr>
          </a:p>
          <a:p>
            <a:pPr marL="559435" indent="-546735">
              <a:lnSpc>
                <a:spcPct val="100000"/>
              </a:lnSpc>
              <a:buFont typeface="Gill Sans"/>
              <a:buAutoNum type="arabicPeriod"/>
              <a:tabLst>
                <a:tab pos="560070" algn="l"/>
              </a:tabLst>
            </a:pPr>
            <a:r>
              <a:rPr sz="4800" spc="-25" dirty="0">
                <a:latin typeface="Gill Sans"/>
                <a:cs typeface="Gill Sans"/>
              </a:rPr>
              <a:t>Es</a:t>
            </a:r>
            <a:r>
              <a:rPr sz="4800" dirty="0">
                <a:latin typeface="Gill Sans"/>
                <a:cs typeface="Gill Sans"/>
              </a:rPr>
              <a:t>t</a:t>
            </a:r>
            <a:r>
              <a:rPr sz="4800" spc="-5" dirty="0">
                <a:latin typeface="Gill Sans"/>
                <a:cs typeface="Gill Sans"/>
              </a:rPr>
              <a:t>i</a:t>
            </a:r>
            <a:r>
              <a:rPr sz="4800" spc="-30" dirty="0">
                <a:latin typeface="Gill Sans"/>
                <a:cs typeface="Gill Sans"/>
              </a:rPr>
              <a:t>ma</a:t>
            </a:r>
            <a:r>
              <a:rPr sz="4800" dirty="0">
                <a:latin typeface="Gill Sans"/>
                <a:cs typeface="Gill Sans"/>
              </a:rPr>
              <a:t>te</a:t>
            </a:r>
            <a:r>
              <a:rPr sz="4800" spc="-5" dirty="0">
                <a:latin typeface="Gill Sans"/>
                <a:cs typeface="Gill Sans"/>
              </a:rPr>
              <a:t> </a:t>
            </a:r>
            <a:r>
              <a:rPr sz="4800" spc="-25" dirty="0">
                <a:latin typeface="Gill Sans"/>
                <a:cs typeface="Gill Sans"/>
              </a:rPr>
              <a:t>a</a:t>
            </a:r>
            <a:r>
              <a:rPr sz="4800" spc="-5" dirty="0">
                <a:latin typeface="Gill Sans"/>
                <a:cs typeface="Gill Sans"/>
              </a:rPr>
              <a:t> </a:t>
            </a:r>
            <a:r>
              <a:rPr sz="4800" u="heavy" spc="-25" dirty="0">
                <a:latin typeface="Gill Sans"/>
                <a:cs typeface="Gill Sans"/>
              </a:rPr>
              <a:t>dated</a:t>
            </a:r>
            <a:r>
              <a:rPr sz="4800" spc="-5" dirty="0">
                <a:latin typeface="Gill Sans"/>
                <a:cs typeface="Gill Sans"/>
              </a:rPr>
              <a:t> </a:t>
            </a:r>
            <a:r>
              <a:rPr sz="4800" dirty="0">
                <a:latin typeface="Gill Sans"/>
                <a:cs typeface="Gill Sans"/>
              </a:rPr>
              <a:t>p</a:t>
            </a:r>
            <a:r>
              <a:rPr sz="4800" spc="-170" dirty="0">
                <a:latin typeface="Gill Sans"/>
                <a:cs typeface="Gill Sans"/>
              </a:rPr>
              <a:t>h</a:t>
            </a:r>
            <a:r>
              <a:rPr sz="4800" dirty="0">
                <a:latin typeface="Gill Sans"/>
                <a:cs typeface="Gill Sans"/>
              </a:rPr>
              <a:t>y</a:t>
            </a:r>
            <a:r>
              <a:rPr sz="4800" spc="-5" dirty="0">
                <a:latin typeface="Gill Sans"/>
                <a:cs typeface="Gill Sans"/>
              </a:rPr>
              <a:t>l</a:t>
            </a:r>
            <a:r>
              <a:rPr sz="4800" spc="-25" dirty="0">
                <a:latin typeface="Gill Sans"/>
                <a:cs typeface="Gill Sans"/>
              </a:rPr>
              <a:t>og</a:t>
            </a:r>
            <a:r>
              <a:rPr sz="4800" dirty="0">
                <a:latin typeface="Gill Sans"/>
                <a:cs typeface="Gill Sans"/>
              </a:rPr>
              <a:t>e</a:t>
            </a:r>
            <a:r>
              <a:rPr sz="4800" spc="-100" dirty="0">
                <a:latin typeface="Gill Sans"/>
                <a:cs typeface="Gill Sans"/>
              </a:rPr>
              <a:t>n</a:t>
            </a:r>
            <a:r>
              <a:rPr sz="4800" spc="-25" dirty="0">
                <a:latin typeface="Gill Sans"/>
                <a:cs typeface="Gill Sans"/>
              </a:rPr>
              <a:t>y</a:t>
            </a:r>
            <a:endParaRPr sz="4800" dirty="0">
              <a:latin typeface="Gill Sans"/>
              <a:cs typeface="Gill Sans"/>
            </a:endParaRPr>
          </a:p>
          <a:p>
            <a:pPr>
              <a:lnSpc>
                <a:spcPct val="100000"/>
              </a:lnSpc>
              <a:spcBef>
                <a:spcPts val="7"/>
              </a:spcBef>
              <a:buFont typeface="Gill Sans"/>
              <a:buAutoNum type="arabicPeriod"/>
            </a:pPr>
            <a:endParaRPr sz="4550" dirty="0">
              <a:latin typeface="Times New Roman"/>
              <a:cs typeface="Times New Roman"/>
            </a:endParaRPr>
          </a:p>
          <a:p>
            <a:pPr marL="559435" indent="-546735">
              <a:lnSpc>
                <a:spcPct val="100000"/>
              </a:lnSpc>
              <a:buFont typeface="Gill Sans"/>
              <a:buAutoNum type="arabicPeriod"/>
              <a:tabLst>
                <a:tab pos="560070" algn="l"/>
              </a:tabLst>
            </a:pPr>
            <a:r>
              <a:rPr sz="4800" spc="-25" dirty="0">
                <a:latin typeface="Gill Sans"/>
                <a:cs typeface="Gill Sans"/>
              </a:rPr>
              <a:t>P</a:t>
            </a:r>
            <a:r>
              <a:rPr sz="4800" dirty="0">
                <a:latin typeface="Gill Sans"/>
                <a:cs typeface="Gill Sans"/>
              </a:rPr>
              <a:t>ut</a:t>
            </a:r>
            <a:r>
              <a:rPr sz="4800" spc="-5" dirty="0">
                <a:latin typeface="Gill Sans"/>
                <a:cs typeface="Gill Sans"/>
              </a:rPr>
              <a:t> </a:t>
            </a:r>
            <a:r>
              <a:rPr sz="4800" dirty="0">
                <a:latin typeface="Gill Sans"/>
                <a:cs typeface="Gill Sans"/>
              </a:rPr>
              <a:t>the</a:t>
            </a:r>
            <a:r>
              <a:rPr sz="4800" spc="-5" dirty="0">
                <a:latin typeface="Gill Sans"/>
                <a:cs typeface="Gill Sans"/>
              </a:rPr>
              <a:t> </a:t>
            </a:r>
            <a:r>
              <a:rPr sz="4800" spc="-25" dirty="0">
                <a:latin typeface="Gill Sans"/>
                <a:cs typeface="Gill Sans"/>
              </a:rPr>
              <a:t>geogr</a:t>
            </a:r>
            <a:r>
              <a:rPr sz="4800" spc="-75" dirty="0">
                <a:latin typeface="Gill Sans"/>
                <a:cs typeface="Gill Sans"/>
              </a:rPr>
              <a:t>a</a:t>
            </a:r>
            <a:r>
              <a:rPr sz="4800" dirty="0">
                <a:latin typeface="Gill Sans"/>
                <a:cs typeface="Gill Sans"/>
              </a:rPr>
              <a:t>ph</a:t>
            </a:r>
            <a:r>
              <a:rPr sz="4800" spc="-5" dirty="0">
                <a:latin typeface="Gill Sans"/>
                <a:cs typeface="Gill Sans"/>
              </a:rPr>
              <a:t>i</a:t>
            </a:r>
            <a:r>
              <a:rPr sz="4800" spc="-25" dirty="0">
                <a:latin typeface="Gill Sans"/>
                <a:cs typeface="Gill Sans"/>
              </a:rPr>
              <a:t>c</a:t>
            </a:r>
            <a:r>
              <a:rPr sz="4800" spc="-5" dirty="0">
                <a:latin typeface="Gill Sans"/>
                <a:cs typeface="Gill Sans"/>
              </a:rPr>
              <a:t> </a:t>
            </a:r>
            <a:r>
              <a:rPr sz="4800" spc="-25" dirty="0">
                <a:latin typeface="Gill Sans"/>
                <a:cs typeface="Gill Sans"/>
              </a:rPr>
              <a:t>ranges</a:t>
            </a:r>
            <a:r>
              <a:rPr sz="4800" spc="-5" dirty="0">
                <a:latin typeface="Gill Sans"/>
                <a:cs typeface="Gill Sans"/>
              </a:rPr>
              <a:t> </a:t>
            </a:r>
            <a:r>
              <a:rPr sz="4800" spc="-25" dirty="0">
                <a:latin typeface="Gill Sans"/>
                <a:cs typeface="Gill Sans"/>
              </a:rPr>
              <a:t>a</a:t>
            </a:r>
            <a:r>
              <a:rPr sz="4800" dirty="0">
                <a:latin typeface="Gill Sans"/>
                <a:cs typeface="Gill Sans"/>
              </a:rPr>
              <a:t>t</a:t>
            </a:r>
            <a:r>
              <a:rPr sz="4800" spc="-5" dirty="0">
                <a:latin typeface="Gill Sans"/>
                <a:cs typeface="Gill Sans"/>
              </a:rPr>
              <a:t> </a:t>
            </a:r>
            <a:r>
              <a:rPr sz="4800" dirty="0">
                <a:latin typeface="Gill Sans"/>
                <a:cs typeface="Gill Sans"/>
              </a:rPr>
              <a:t>the</a:t>
            </a:r>
            <a:r>
              <a:rPr sz="4800" spc="-5" dirty="0">
                <a:latin typeface="Gill Sans"/>
                <a:cs typeface="Gill Sans"/>
              </a:rPr>
              <a:t> </a:t>
            </a:r>
            <a:r>
              <a:rPr sz="4800" dirty="0">
                <a:latin typeface="Gill Sans"/>
                <a:cs typeface="Gill Sans"/>
              </a:rPr>
              <a:t>t</a:t>
            </a:r>
            <a:r>
              <a:rPr sz="4800" spc="-5" dirty="0">
                <a:latin typeface="Gill Sans"/>
                <a:cs typeface="Gill Sans"/>
              </a:rPr>
              <a:t>i</a:t>
            </a:r>
            <a:r>
              <a:rPr sz="4800" spc="-25" dirty="0">
                <a:latin typeface="Gill Sans"/>
                <a:cs typeface="Gill Sans"/>
              </a:rPr>
              <a:t>ps</a:t>
            </a:r>
            <a:endParaRPr sz="4800" dirty="0">
              <a:latin typeface="Gill Sans"/>
              <a:cs typeface="Gill Sans"/>
            </a:endParaRPr>
          </a:p>
          <a:p>
            <a:pPr>
              <a:lnSpc>
                <a:spcPct val="100000"/>
              </a:lnSpc>
              <a:spcBef>
                <a:spcPts val="7"/>
              </a:spcBef>
            </a:pPr>
            <a:endParaRPr sz="45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4800" b="1" spc="-5" dirty="0">
                <a:latin typeface="Gill Sans"/>
                <a:cs typeface="Gill Sans"/>
              </a:rPr>
              <a:t>3</a:t>
            </a:r>
            <a:r>
              <a:rPr sz="4800" b="1" spc="-15" dirty="0">
                <a:latin typeface="Gill Sans"/>
                <a:cs typeface="Gill Sans"/>
              </a:rPr>
              <a:t>.</a:t>
            </a:r>
            <a:r>
              <a:rPr sz="4800" b="1" spc="-5" dirty="0">
                <a:latin typeface="Gill Sans"/>
                <a:cs typeface="Gill Sans"/>
              </a:rPr>
              <a:t> </a:t>
            </a:r>
            <a:r>
              <a:rPr sz="4800" b="1" spc="-30" dirty="0">
                <a:latin typeface="Gill Sans"/>
                <a:cs typeface="Gill Sans"/>
              </a:rPr>
              <a:t>Ass</a:t>
            </a:r>
            <a:r>
              <a:rPr sz="4800" b="1" spc="-5" dirty="0">
                <a:latin typeface="Gill Sans"/>
                <a:cs typeface="Gill Sans"/>
              </a:rPr>
              <a:t>um</a:t>
            </a:r>
            <a:r>
              <a:rPr sz="4800" b="1" dirty="0">
                <a:latin typeface="Gill Sans"/>
                <a:cs typeface="Gill Sans"/>
              </a:rPr>
              <a:t>e</a:t>
            </a:r>
            <a:r>
              <a:rPr sz="4800" b="1" spc="-5" dirty="0">
                <a:latin typeface="Gill Sans"/>
                <a:cs typeface="Gill Sans"/>
              </a:rPr>
              <a:t> </a:t>
            </a:r>
            <a:r>
              <a:rPr sz="4800" b="1" spc="-25" dirty="0">
                <a:latin typeface="Gill Sans"/>
                <a:cs typeface="Gill Sans"/>
              </a:rPr>
              <a:t>s</a:t>
            </a:r>
            <a:r>
              <a:rPr sz="4800" b="1" spc="-5" dirty="0">
                <a:latin typeface="Gill Sans"/>
                <a:cs typeface="Gill Sans"/>
              </a:rPr>
              <a:t>om</a:t>
            </a:r>
            <a:r>
              <a:rPr sz="4800" b="1" dirty="0">
                <a:latin typeface="Gill Sans"/>
                <a:cs typeface="Gill Sans"/>
              </a:rPr>
              <a:t>e</a:t>
            </a:r>
            <a:r>
              <a:rPr sz="4800" b="1" spc="-5" dirty="0">
                <a:latin typeface="Gill Sans"/>
                <a:cs typeface="Gill Sans"/>
              </a:rPr>
              <a:t> </a:t>
            </a:r>
            <a:r>
              <a:rPr sz="4800" b="1" dirty="0">
                <a:latin typeface="Gill Sans"/>
                <a:cs typeface="Gill Sans"/>
              </a:rPr>
              <a:t>p</a:t>
            </a:r>
            <a:r>
              <a:rPr sz="4800" b="1" spc="-210" dirty="0">
                <a:latin typeface="Gill Sans"/>
                <a:cs typeface="Gill Sans"/>
              </a:rPr>
              <a:t>r</a:t>
            </a:r>
            <a:r>
              <a:rPr sz="4800" b="1" spc="-5" dirty="0">
                <a:latin typeface="Gill Sans"/>
                <a:cs typeface="Gill Sans"/>
              </a:rPr>
              <a:t>oc</a:t>
            </a:r>
            <a:r>
              <a:rPr sz="4800" b="1" dirty="0">
                <a:latin typeface="Gill Sans"/>
                <a:cs typeface="Gill Sans"/>
              </a:rPr>
              <a:t>e</a:t>
            </a:r>
            <a:r>
              <a:rPr sz="4800" b="1" spc="-25" dirty="0">
                <a:latin typeface="Gill Sans"/>
                <a:cs typeface="Gill Sans"/>
              </a:rPr>
              <a:t>ss(</a:t>
            </a:r>
            <a:r>
              <a:rPr sz="4800" b="1" dirty="0">
                <a:latin typeface="Gill Sans"/>
                <a:cs typeface="Gill Sans"/>
              </a:rPr>
              <a:t>e</a:t>
            </a:r>
            <a:r>
              <a:rPr sz="4800" b="1" spc="-25" dirty="0">
                <a:latin typeface="Gill Sans"/>
                <a:cs typeface="Gill Sans"/>
              </a:rPr>
              <a:t>s)</a:t>
            </a:r>
            <a:endParaRPr sz="4800" dirty="0">
              <a:latin typeface="Gill Sans"/>
              <a:cs typeface="Gill Sans"/>
            </a:endParaRPr>
          </a:p>
          <a:p>
            <a:pPr>
              <a:lnSpc>
                <a:spcPct val="100000"/>
              </a:lnSpc>
              <a:spcBef>
                <a:spcPts val="7"/>
              </a:spcBef>
            </a:pPr>
            <a:endParaRPr sz="45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4800" dirty="0">
                <a:latin typeface="Gill Sans"/>
                <a:cs typeface="Gill Sans"/>
              </a:rPr>
              <a:t>4.</a:t>
            </a:r>
            <a:r>
              <a:rPr sz="4800" spc="-484" dirty="0">
                <a:latin typeface="Gill Sans"/>
                <a:cs typeface="Gill Sans"/>
              </a:rPr>
              <a:t> </a:t>
            </a:r>
            <a:r>
              <a:rPr sz="4800" spc="-25" dirty="0">
                <a:latin typeface="Gill Sans"/>
                <a:cs typeface="Gill Sans"/>
              </a:rPr>
              <a:t>Conduct</a:t>
            </a:r>
            <a:r>
              <a:rPr sz="4800" spc="-5" dirty="0">
                <a:latin typeface="Gill Sans"/>
                <a:cs typeface="Gill Sans"/>
              </a:rPr>
              <a:t> i</a:t>
            </a:r>
            <a:r>
              <a:rPr sz="4800" dirty="0">
                <a:latin typeface="Gill Sans"/>
                <a:cs typeface="Gill Sans"/>
              </a:rPr>
              <a:t>n</a:t>
            </a:r>
            <a:r>
              <a:rPr sz="4800" spc="-50" dirty="0">
                <a:latin typeface="Gill Sans"/>
                <a:cs typeface="Gill Sans"/>
              </a:rPr>
              <a:t>f</a:t>
            </a:r>
            <a:r>
              <a:rPr sz="4800" dirty="0">
                <a:latin typeface="Gill Sans"/>
                <a:cs typeface="Gill Sans"/>
              </a:rPr>
              <a:t>e</a:t>
            </a:r>
            <a:r>
              <a:rPr sz="4800" spc="-100" dirty="0">
                <a:latin typeface="Gill Sans"/>
                <a:cs typeface="Gill Sans"/>
              </a:rPr>
              <a:t>r</a:t>
            </a:r>
            <a:r>
              <a:rPr sz="4800" spc="-25" dirty="0">
                <a:latin typeface="Gill Sans"/>
                <a:cs typeface="Gill Sans"/>
              </a:rPr>
              <a:t>ence</a:t>
            </a:r>
            <a:endParaRPr sz="4800" dirty="0">
              <a:latin typeface="Gill Sans"/>
              <a:cs typeface="Gill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1000" y="707868"/>
            <a:ext cx="12369800" cy="76726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4800" b="1" spc="-45" dirty="0">
                <a:latin typeface="Gill Sans"/>
                <a:cs typeface="Gill Sans"/>
              </a:rPr>
              <a:t>Summary of previous lectures:</a:t>
            </a:r>
            <a:endParaRPr sz="4800" dirty="0">
              <a:latin typeface="Gill Sans"/>
              <a:cs typeface="Gill Sans"/>
            </a:endParaRPr>
          </a:p>
          <a:p>
            <a:pPr>
              <a:lnSpc>
                <a:spcPct val="100000"/>
              </a:lnSpc>
              <a:spcBef>
                <a:spcPts val="7"/>
              </a:spcBef>
            </a:pPr>
            <a:endParaRPr lang="en-US" sz="4800" dirty="0">
              <a:latin typeface="Gill Sans"/>
              <a:cs typeface="Gill Sans"/>
            </a:endParaRPr>
          </a:p>
          <a:p>
            <a:pPr>
              <a:lnSpc>
                <a:spcPct val="100000"/>
              </a:lnSpc>
              <a:spcBef>
                <a:spcPts val="7"/>
              </a:spcBef>
            </a:pPr>
            <a:r>
              <a:rPr lang="en-US" sz="4800" dirty="0">
                <a:latin typeface="Gill Sans"/>
                <a:cs typeface="Gill Sans"/>
              </a:rPr>
              <a:t>Different authorities have different assumptions about what processes matter!</a:t>
            </a:r>
          </a:p>
          <a:p>
            <a:pPr>
              <a:lnSpc>
                <a:spcPct val="100000"/>
              </a:lnSpc>
              <a:spcBef>
                <a:spcPts val="7"/>
              </a:spcBef>
            </a:pPr>
            <a:endParaRPr lang="en-US" sz="4800" dirty="0">
              <a:latin typeface="Gill Sans"/>
              <a:cs typeface="Gill Sans"/>
            </a:endParaRPr>
          </a:p>
          <a:p>
            <a:pPr>
              <a:lnSpc>
                <a:spcPct val="100000"/>
              </a:lnSpc>
              <a:spcBef>
                <a:spcPts val="7"/>
              </a:spcBef>
            </a:pPr>
            <a:r>
              <a:rPr lang="en-US" sz="4800" dirty="0">
                <a:latin typeface="Gill Sans"/>
                <a:cs typeface="Gill Sans"/>
              </a:rPr>
              <a:t>Your inferences will depend on your assumptions</a:t>
            </a:r>
          </a:p>
          <a:p>
            <a:pPr>
              <a:lnSpc>
                <a:spcPct val="100000"/>
              </a:lnSpc>
              <a:spcBef>
                <a:spcPts val="7"/>
              </a:spcBef>
            </a:pPr>
            <a:endParaRPr lang="en-US" sz="3000" dirty="0">
              <a:latin typeface="Gill Sans"/>
              <a:cs typeface="Gill Sans"/>
            </a:endParaRPr>
          </a:p>
          <a:p>
            <a:pPr>
              <a:lnSpc>
                <a:spcPct val="100000"/>
              </a:lnSpc>
              <a:spcBef>
                <a:spcPts val="7"/>
              </a:spcBef>
            </a:pPr>
            <a:r>
              <a:rPr lang="en-US" sz="3000" dirty="0">
                <a:latin typeface="Gill Sans"/>
                <a:cs typeface="Gill Sans"/>
              </a:rPr>
              <a:t>Vicariance: deterministic vision where geology determines ranges</a:t>
            </a:r>
          </a:p>
          <a:p>
            <a:pPr>
              <a:lnSpc>
                <a:spcPct val="100000"/>
              </a:lnSpc>
              <a:spcBef>
                <a:spcPts val="7"/>
              </a:spcBef>
            </a:pPr>
            <a:endParaRPr lang="en-US" sz="3000" dirty="0">
              <a:latin typeface="Gill Sans"/>
              <a:cs typeface="Gill Sans"/>
            </a:endParaRPr>
          </a:p>
          <a:p>
            <a:pPr>
              <a:lnSpc>
                <a:spcPct val="100000"/>
              </a:lnSpc>
              <a:spcBef>
                <a:spcPts val="7"/>
              </a:spcBef>
            </a:pPr>
            <a:r>
              <a:rPr lang="en-US" sz="3000" dirty="0">
                <a:latin typeface="Gill Sans"/>
                <a:cs typeface="Gill Sans"/>
              </a:rPr>
              <a:t>Dispersal: “unpredictable” “chance events”</a:t>
            </a:r>
          </a:p>
          <a:p>
            <a:pPr>
              <a:lnSpc>
                <a:spcPct val="100000"/>
              </a:lnSpc>
              <a:spcBef>
                <a:spcPts val="7"/>
              </a:spcBef>
            </a:pPr>
            <a:endParaRPr lang="en-US" sz="3000" dirty="0">
              <a:latin typeface="Gill Sans"/>
              <a:cs typeface="Gill Sans"/>
            </a:endParaRPr>
          </a:p>
          <a:p>
            <a:pPr>
              <a:lnSpc>
                <a:spcPct val="100000"/>
              </a:lnSpc>
              <a:spcBef>
                <a:spcPts val="7"/>
              </a:spcBef>
            </a:pPr>
            <a:r>
              <a:rPr lang="en-US" sz="3000" dirty="0">
                <a:latin typeface="Gill Sans"/>
                <a:cs typeface="Gill Sans"/>
              </a:rPr>
              <a:t>Me: “Unpredictable” doesn’t mean intractable </a:t>
            </a:r>
            <a:r>
              <a:rPr lang="mr-IN" sz="3000" dirty="0">
                <a:latin typeface="Gill Sans"/>
                <a:cs typeface="Gill Sans"/>
              </a:rPr>
              <a:t>–</a:t>
            </a:r>
            <a:r>
              <a:rPr lang="en-US" sz="3000" dirty="0">
                <a:latin typeface="Gill Sans"/>
                <a:cs typeface="Gill Sans"/>
              </a:rPr>
              <a:t> we can address using probabilistic models</a:t>
            </a:r>
            <a:endParaRPr sz="3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04086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8100" y="377668"/>
            <a:ext cx="10392410" cy="1333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71600" marR="5080" indent="-1358900">
              <a:lnSpc>
                <a:spcPts val="5500"/>
              </a:lnSpc>
            </a:pPr>
            <a:r>
              <a:rPr sz="4800" b="1" spc="-70" dirty="0">
                <a:latin typeface="Gill Sans"/>
                <a:cs typeface="Gill Sans"/>
              </a:rPr>
              <a:t>R</a:t>
            </a:r>
            <a:r>
              <a:rPr sz="4800" b="1" dirty="0">
                <a:latin typeface="Gill Sans"/>
                <a:cs typeface="Gill Sans"/>
              </a:rPr>
              <a:t>e</a:t>
            </a:r>
            <a:r>
              <a:rPr sz="4800" b="1" spc="-25" dirty="0">
                <a:latin typeface="Gill Sans"/>
                <a:cs typeface="Gill Sans"/>
              </a:rPr>
              <a:t>s</a:t>
            </a:r>
            <a:r>
              <a:rPr sz="4800" b="1" spc="-5" dirty="0">
                <a:latin typeface="Gill Sans"/>
                <a:cs typeface="Gill Sans"/>
              </a:rPr>
              <a:t>u</a:t>
            </a:r>
            <a:r>
              <a:rPr sz="4800" b="1" dirty="0">
                <a:latin typeface="Gill Sans"/>
                <a:cs typeface="Gill Sans"/>
              </a:rPr>
              <a:t>l</a:t>
            </a:r>
            <a:r>
              <a:rPr sz="4800" b="1" spc="-5" dirty="0">
                <a:latin typeface="Gill Sans"/>
                <a:cs typeface="Gill Sans"/>
              </a:rPr>
              <a:t>t</a:t>
            </a:r>
            <a:r>
              <a:rPr sz="4800" b="1" spc="-25" dirty="0">
                <a:latin typeface="Gill Sans"/>
                <a:cs typeface="Gill Sans"/>
              </a:rPr>
              <a:t>s</a:t>
            </a:r>
            <a:r>
              <a:rPr sz="4800" b="1" spc="-5" dirty="0">
                <a:latin typeface="Gill Sans"/>
                <a:cs typeface="Gill Sans"/>
              </a:rPr>
              <a:t> o</a:t>
            </a:r>
            <a:r>
              <a:rPr sz="4800" b="1" dirty="0">
                <a:latin typeface="Gill Sans"/>
                <a:cs typeface="Gill Sans"/>
              </a:rPr>
              <a:t>f</a:t>
            </a:r>
            <a:r>
              <a:rPr sz="4800" b="1" spc="135" dirty="0">
                <a:latin typeface="Gill Sans"/>
                <a:cs typeface="Gill Sans"/>
              </a:rPr>
              <a:t> </a:t>
            </a:r>
            <a:r>
              <a:rPr sz="4800" b="1" dirty="0">
                <a:latin typeface="Gill Sans"/>
                <a:cs typeface="Gill Sans"/>
              </a:rPr>
              <a:t>di</a:t>
            </a:r>
            <a:r>
              <a:rPr sz="4800" b="1" spc="135" dirty="0">
                <a:latin typeface="Gill Sans"/>
                <a:cs typeface="Gill Sans"/>
              </a:rPr>
              <a:t>f</a:t>
            </a:r>
            <a:r>
              <a:rPr sz="4800" b="1" spc="-5" dirty="0">
                <a:latin typeface="Gill Sans"/>
                <a:cs typeface="Gill Sans"/>
              </a:rPr>
              <a:t>f</a:t>
            </a:r>
            <a:r>
              <a:rPr sz="4800" b="1" dirty="0">
                <a:latin typeface="Gill Sans"/>
                <a:cs typeface="Gill Sans"/>
              </a:rPr>
              <a:t>e</a:t>
            </a:r>
            <a:r>
              <a:rPr sz="4800" b="1" spc="-210" dirty="0">
                <a:latin typeface="Gill Sans"/>
                <a:cs typeface="Gill Sans"/>
              </a:rPr>
              <a:t>r</a:t>
            </a:r>
            <a:r>
              <a:rPr sz="4800" b="1" dirty="0">
                <a:latin typeface="Gill Sans"/>
                <a:cs typeface="Gill Sans"/>
              </a:rPr>
              <a:t>e</a:t>
            </a:r>
            <a:r>
              <a:rPr sz="4800" b="1" spc="-5" dirty="0">
                <a:latin typeface="Gill Sans"/>
                <a:cs typeface="Gill Sans"/>
              </a:rPr>
              <a:t>n</a:t>
            </a:r>
            <a:r>
              <a:rPr sz="4800" b="1" dirty="0">
                <a:latin typeface="Gill Sans"/>
                <a:cs typeface="Gill Sans"/>
              </a:rPr>
              <a:t>t</a:t>
            </a:r>
            <a:r>
              <a:rPr sz="4800" b="1" spc="-5" dirty="0">
                <a:latin typeface="Gill Sans"/>
                <a:cs typeface="Gill Sans"/>
              </a:rPr>
              <a:t> </a:t>
            </a:r>
            <a:r>
              <a:rPr sz="4800" b="1" dirty="0">
                <a:latin typeface="Gill Sans"/>
                <a:cs typeface="Gill Sans"/>
              </a:rPr>
              <a:t>bi</a:t>
            </a:r>
            <a:r>
              <a:rPr sz="4800" b="1" spc="-5" dirty="0">
                <a:latin typeface="Gill Sans"/>
                <a:cs typeface="Gill Sans"/>
              </a:rPr>
              <a:t>o</a:t>
            </a:r>
            <a:r>
              <a:rPr sz="4800" b="1" dirty="0">
                <a:latin typeface="Gill Sans"/>
                <a:cs typeface="Gill Sans"/>
              </a:rPr>
              <a:t>ge</a:t>
            </a:r>
            <a:r>
              <a:rPr sz="4800" b="1" spc="-5" dirty="0">
                <a:latin typeface="Gill Sans"/>
                <a:cs typeface="Gill Sans"/>
              </a:rPr>
              <a:t>o</a:t>
            </a:r>
            <a:r>
              <a:rPr sz="4800" b="1" spc="175" dirty="0">
                <a:latin typeface="Gill Sans"/>
                <a:cs typeface="Gill Sans"/>
              </a:rPr>
              <a:t>g</a:t>
            </a:r>
            <a:r>
              <a:rPr sz="4800" b="1" spc="-70" dirty="0">
                <a:latin typeface="Gill Sans"/>
                <a:cs typeface="Gill Sans"/>
              </a:rPr>
              <a:t>r</a:t>
            </a:r>
            <a:r>
              <a:rPr sz="4800" b="1" spc="30" dirty="0">
                <a:latin typeface="Gill Sans"/>
                <a:cs typeface="Gill Sans"/>
              </a:rPr>
              <a:t>a</a:t>
            </a:r>
            <a:r>
              <a:rPr sz="4800" b="1" dirty="0">
                <a:latin typeface="Gill Sans"/>
                <a:cs typeface="Gill Sans"/>
              </a:rPr>
              <a:t>p</a:t>
            </a:r>
            <a:r>
              <a:rPr sz="4800" b="1" spc="-5" dirty="0">
                <a:latin typeface="Gill Sans"/>
                <a:cs typeface="Gill Sans"/>
              </a:rPr>
              <a:t>h</a:t>
            </a:r>
            <a:r>
              <a:rPr sz="4800" b="1" dirty="0">
                <a:latin typeface="Gill Sans"/>
                <a:cs typeface="Gill Sans"/>
              </a:rPr>
              <a:t>y </a:t>
            </a:r>
            <a:r>
              <a:rPr sz="4800" b="1" spc="-5" dirty="0">
                <a:latin typeface="Gill Sans"/>
                <a:cs typeface="Gill Sans"/>
              </a:rPr>
              <a:t>model</a:t>
            </a:r>
            <a:r>
              <a:rPr sz="4800" b="1" dirty="0">
                <a:latin typeface="Gill Sans"/>
                <a:cs typeface="Gill Sans"/>
              </a:rPr>
              <a:t>s</a:t>
            </a:r>
            <a:r>
              <a:rPr sz="4800" b="1" spc="5" dirty="0">
                <a:latin typeface="Gill Sans"/>
                <a:cs typeface="Gill Sans"/>
              </a:rPr>
              <a:t> </a:t>
            </a:r>
            <a:r>
              <a:rPr sz="4800" b="1" spc="-5" dirty="0">
                <a:latin typeface="Gill Sans"/>
                <a:cs typeface="Gill Sans"/>
              </a:rPr>
              <a:t>o</a:t>
            </a:r>
            <a:r>
              <a:rPr sz="4800" b="1" dirty="0">
                <a:latin typeface="Gill Sans"/>
                <a:cs typeface="Gill Sans"/>
              </a:rPr>
              <a:t>n </a:t>
            </a:r>
            <a:r>
              <a:rPr sz="4800" b="1" spc="-25" dirty="0">
                <a:latin typeface="Gill Sans"/>
                <a:cs typeface="Gill Sans"/>
              </a:rPr>
              <a:t>s</a:t>
            </a:r>
            <a:r>
              <a:rPr sz="4800" b="1" spc="30" dirty="0">
                <a:latin typeface="Gill Sans"/>
                <a:cs typeface="Gill Sans"/>
              </a:rPr>
              <a:t>a</a:t>
            </a:r>
            <a:r>
              <a:rPr sz="4800" b="1" spc="-5" dirty="0">
                <a:latin typeface="Gill Sans"/>
                <a:cs typeface="Gill Sans"/>
              </a:rPr>
              <a:t>m</a:t>
            </a:r>
            <a:r>
              <a:rPr sz="4800" b="1" dirty="0">
                <a:latin typeface="Gill Sans"/>
                <a:cs typeface="Gill Sans"/>
              </a:rPr>
              <a:t>e dataset:</a:t>
            </a:r>
            <a:endParaRPr sz="4800">
              <a:latin typeface="Gill Sans"/>
              <a:cs typeface="Gill San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60555" y="2371538"/>
            <a:ext cx="8283688" cy="59926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60555" y="2371538"/>
            <a:ext cx="8284209" cy="5993130"/>
          </a:xfrm>
          <a:custGeom>
            <a:avLst/>
            <a:gdLst/>
            <a:ahLst/>
            <a:cxnLst/>
            <a:rect l="l" t="t" r="r" b="b"/>
            <a:pathLst>
              <a:path w="8284209" h="5993130">
                <a:moveTo>
                  <a:pt x="0" y="0"/>
                </a:moveTo>
                <a:lnTo>
                  <a:pt x="8283688" y="0"/>
                </a:lnTo>
                <a:lnTo>
                  <a:pt x="8283688" y="5992656"/>
                </a:lnTo>
                <a:lnTo>
                  <a:pt x="0" y="5992656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79906" y="6117166"/>
            <a:ext cx="3047999" cy="19812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508500" y="8102686"/>
            <a:ext cx="34156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u="sng" dirty="0">
                <a:latin typeface="Gill Sans"/>
                <a:cs typeface="Gill Sans"/>
                <a:hlinkClick r:id="rId5"/>
              </a:rPr>
              <a:t>http:</a:t>
            </a:r>
            <a:r>
              <a:rPr sz="1000" u="sng" spc="-5" dirty="0">
                <a:latin typeface="Gill Sans"/>
                <a:cs typeface="Gill Sans"/>
                <a:hlinkClick r:id="rId5"/>
              </a:rPr>
              <a:t>//farm8.stati</a:t>
            </a:r>
            <a:r>
              <a:rPr sz="1000" u="sng" spc="10" dirty="0">
                <a:latin typeface="Gill Sans"/>
                <a:cs typeface="Gill Sans"/>
                <a:hlinkClick r:id="rId5"/>
              </a:rPr>
              <a:t>c</a:t>
            </a:r>
            <a:r>
              <a:rPr sz="1000" u="sng" dirty="0">
                <a:latin typeface="Gill Sans"/>
                <a:cs typeface="Gill Sans"/>
                <a:hlinkClick r:id="rId5"/>
              </a:rPr>
              <a:t>.</a:t>
            </a:r>
            <a:r>
              <a:rPr sz="1000" u="sng" spc="5" dirty="0">
                <a:latin typeface="Gill Sans"/>
                <a:cs typeface="Gill Sans"/>
                <a:hlinkClick r:id="rId5"/>
              </a:rPr>
              <a:t>fli</a:t>
            </a:r>
            <a:r>
              <a:rPr sz="1000" u="sng" spc="-5" dirty="0">
                <a:latin typeface="Gill Sans"/>
                <a:cs typeface="Gill Sans"/>
                <a:hlinkClick r:id="rId5"/>
              </a:rPr>
              <a:t>ck</a:t>
            </a:r>
            <a:r>
              <a:rPr sz="1000" u="sng" spc="-110" dirty="0">
                <a:latin typeface="Gill Sans"/>
                <a:cs typeface="Gill Sans"/>
                <a:hlinkClick r:id="rId5"/>
              </a:rPr>
              <a:t>r</a:t>
            </a:r>
            <a:r>
              <a:rPr sz="1000" u="sng" dirty="0">
                <a:latin typeface="Gill Sans"/>
                <a:cs typeface="Gill Sans"/>
                <a:hlinkClick r:id="rId5"/>
              </a:rPr>
              <a:t>.</a:t>
            </a:r>
            <a:r>
              <a:rPr sz="1000" u="sng" spc="-5" dirty="0">
                <a:latin typeface="Gill Sans"/>
                <a:cs typeface="Gill Sans"/>
                <a:hlinkClick r:id="rId5"/>
              </a:rPr>
              <a:t>com/7446/9252634315_0ecf0ba853_</a:t>
            </a:r>
            <a:r>
              <a:rPr sz="1000" u="sng" dirty="0">
                <a:latin typeface="Gill Sans"/>
                <a:cs typeface="Gill Sans"/>
                <a:hlinkClick r:id="rId5"/>
              </a:rPr>
              <a:t>m.j</a:t>
            </a:r>
            <a:r>
              <a:rPr sz="1000" u="sng" spc="-5" dirty="0">
                <a:latin typeface="Gill Sans"/>
                <a:cs typeface="Gill Sans"/>
                <a:hlinkClick r:id="rId5"/>
              </a:rPr>
              <a:t>pg</a:t>
            </a:r>
            <a:endParaRPr sz="1000" dirty="0">
              <a:latin typeface="Gill Sans"/>
              <a:cs typeface="Gill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97400" y="5880100"/>
            <a:ext cx="131254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i="1" dirty="0">
                <a:latin typeface="Calibri"/>
                <a:cs typeface="Calibri"/>
              </a:rPr>
              <a:t>P</a:t>
            </a:r>
            <a:r>
              <a:rPr sz="1200" b="1" i="1" spc="-20" dirty="0">
                <a:latin typeface="Calibri"/>
                <a:cs typeface="Calibri"/>
              </a:rPr>
              <a:t>s</a:t>
            </a:r>
            <a:r>
              <a:rPr sz="1200" b="1" i="1" spc="-10" dirty="0">
                <a:latin typeface="Calibri"/>
                <a:cs typeface="Calibri"/>
              </a:rPr>
              <a:t>yc</a:t>
            </a:r>
            <a:r>
              <a:rPr sz="1200" b="1" i="1" spc="-5" dirty="0">
                <a:latin typeface="Calibri"/>
                <a:cs typeface="Calibri"/>
              </a:rPr>
              <a:t>hotr</a:t>
            </a:r>
            <a:r>
              <a:rPr sz="1200" b="1" i="1" spc="-10" dirty="0">
                <a:latin typeface="Calibri"/>
                <a:cs typeface="Calibri"/>
              </a:rPr>
              <a:t>ia</a:t>
            </a:r>
            <a:r>
              <a:rPr sz="1200" b="1" i="1" dirty="0">
                <a:latin typeface="Calibri"/>
                <a:cs typeface="Calibri"/>
              </a:rPr>
              <a:t> </a:t>
            </a:r>
            <a:r>
              <a:rPr sz="1200" b="1" i="1" spc="-5" dirty="0">
                <a:latin typeface="Calibri"/>
                <a:cs typeface="Calibri"/>
              </a:rPr>
              <a:t>h</a:t>
            </a:r>
            <a:r>
              <a:rPr sz="1200" b="1" i="1" spc="-30" dirty="0">
                <a:latin typeface="Calibri"/>
                <a:cs typeface="Calibri"/>
              </a:rPr>
              <a:t>e</a:t>
            </a:r>
            <a:r>
              <a:rPr sz="1200" b="1" i="1" spc="-25" dirty="0">
                <a:latin typeface="Calibri"/>
                <a:cs typeface="Calibri"/>
              </a:rPr>
              <a:t>x</a:t>
            </a:r>
            <a:r>
              <a:rPr sz="1200" b="1" i="1" spc="-10" dirty="0">
                <a:latin typeface="Calibri"/>
                <a:cs typeface="Calibri"/>
              </a:rPr>
              <a:t>andra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649507" y="6060016"/>
          <a:ext cx="1751558" cy="1885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98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9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3075"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K</a:t>
                      </a:r>
                      <a:r>
                        <a:rPr sz="2400" b="1" spc="-5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400" b="1" spc="-35" dirty="0">
                          <a:latin typeface="Calibri"/>
                          <a:cs typeface="Calibri"/>
                        </a:rPr>
                        <a:t>K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auai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0061FF"/>
                    </a:solidFill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2400" b="1" spc="-5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Oahu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53D5FD"/>
                    </a:solidFill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M=Maui-Nui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C41"/>
                    </a:solidFill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900">
                <a:tc gridSpan="2"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H</a:t>
                      </a:r>
                      <a:r>
                        <a:rPr sz="2400" b="1" spc="-5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H</a:t>
                      </a:r>
                      <a:r>
                        <a:rPr sz="2400" b="1" spc="-2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400" b="1" spc="-30" dirty="0">
                          <a:latin typeface="Calibri"/>
                          <a:cs typeface="Calibri"/>
                        </a:rPr>
                        <a:t>w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400" b="1" spc="2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2400" b="1" spc="5" dirty="0">
                          <a:latin typeface="Calibri"/>
                          <a:cs typeface="Calibri"/>
                        </a:rPr>
                        <a:t>’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i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401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64952"/>
            <a:ext cx="7925812" cy="838864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06500" y="22068"/>
            <a:ext cx="10597515" cy="133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5630"/>
              </a:lnSpc>
            </a:pPr>
            <a:r>
              <a:rPr sz="4800" b="1" dirty="0">
                <a:latin typeface="Gill Sans"/>
                <a:cs typeface="Gill Sans"/>
              </a:rPr>
              <a:t>E</a:t>
            </a:r>
            <a:r>
              <a:rPr sz="4800" b="1" spc="-5" dirty="0">
                <a:latin typeface="Gill Sans"/>
                <a:cs typeface="Gill Sans"/>
              </a:rPr>
              <a:t>x</a:t>
            </a:r>
            <a:r>
              <a:rPr sz="4800" b="1" spc="30" dirty="0">
                <a:latin typeface="Gill Sans"/>
                <a:cs typeface="Gill Sans"/>
              </a:rPr>
              <a:t>a</a:t>
            </a:r>
            <a:r>
              <a:rPr sz="4800" b="1" spc="-5" dirty="0">
                <a:latin typeface="Gill Sans"/>
                <a:cs typeface="Gill Sans"/>
              </a:rPr>
              <a:t>m</a:t>
            </a:r>
            <a:r>
              <a:rPr sz="4800" b="1" dirty="0">
                <a:latin typeface="Gill Sans"/>
                <a:cs typeface="Gill Sans"/>
              </a:rPr>
              <a:t>ple</a:t>
            </a:r>
            <a:r>
              <a:rPr sz="4800" b="1" spc="-5" dirty="0">
                <a:latin typeface="Gill Sans"/>
                <a:cs typeface="Gill Sans"/>
              </a:rPr>
              <a:t> o</a:t>
            </a:r>
            <a:r>
              <a:rPr sz="4800" b="1" dirty="0">
                <a:latin typeface="Gill Sans"/>
                <a:cs typeface="Gill Sans"/>
              </a:rPr>
              <a:t>f</a:t>
            </a:r>
            <a:r>
              <a:rPr sz="4800" b="1" spc="135" dirty="0">
                <a:latin typeface="Gill Sans"/>
                <a:cs typeface="Gill Sans"/>
              </a:rPr>
              <a:t> </a:t>
            </a:r>
            <a:r>
              <a:rPr sz="4800" b="1" dirty="0">
                <a:latin typeface="Gill Sans"/>
                <a:cs typeface="Gill Sans"/>
              </a:rPr>
              <a:t>bi</a:t>
            </a:r>
            <a:r>
              <a:rPr sz="4800" b="1" spc="-5" dirty="0">
                <a:latin typeface="Gill Sans"/>
                <a:cs typeface="Gill Sans"/>
              </a:rPr>
              <a:t>o</a:t>
            </a:r>
            <a:r>
              <a:rPr sz="4800" b="1" dirty="0">
                <a:latin typeface="Gill Sans"/>
                <a:cs typeface="Gill Sans"/>
              </a:rPr>
              <a:t>ge</a:t>
            </a:r>
            <a:r>
              <a:rPr sz="4800" b="1" spc="-5" dirty="0">
                <a:latin typeface="Gill Sans"/>
                <a:cs typeface="Gill Sans"/>
              </a:rPr>
              <a:t>o</a:t>
            </a:r>
            <a:r>
              <a:rPr sz="4800" b="1" spc="175" dirty="0">
                <a:latin typeface="Gill Sans"/>
                <a:cs typeface="Gill Sans"/>
              </a:rPr>
              <a:t>g</a:t>
            </a:r>
            <a:r>
              <a:rPr sz="4800" b="1" spc="-70" dirty="0">
                <a:latin typeface="Gill Sans"/>
                <a:cs typeface="Gill Sans"/>
              </a:rPr>
              <a:t>r</a:t>
            </a:r>
            <a:r>
              <a:rPr sz="4800" b="1" spc="30" dirty="0">
                <a:latin typeface="Gill Sans"/>
                <a:cs typeface="Gill Sans"/>
              </a:rPr>
              <a:t>a</a:t>
            </a:r>
            <a:r>
              <a:rPr sz="4800" b="1" dirty="0">
                <a:latin typeface="Gill Sans"/>
                <a:cs typeface="Gill Sans"/>
              </a:rPr>
              <a:t>p</a:t>
            </a:r>
            <a:r>
              <a:rPr sz="4800" b="1" spc="-5" dirty="0">
                <a:latin typeface="Gill Sans"/>
                <a:cs typeface="Gill Sans"/>
              </a:rPr>
              <a:t>h</a:t>
            </a:r>
            <a:r>
              <a:rPr sz="4800" b="1" dirty="0">
                <a:latin typeface="Gill Sans"/>
                <a:cs typeface="Gill Sans"/>
              </a:rPr>
              <a:t>ic</a:t>
            </a:r>
            <a:r>
              <a:rPr sz="4800" b="1" spc="-5" dirty="0">
                <a:latin typeface="Gill Sans"/>
                <a:cs typeface="Gill Sans"/>
              </a:rPr>
              <a:t> h</a:t>
            </a:r>
            <a:r>
              <a:rPr sz="4800" b="1" dirty="0">
                <a:latin typeface="Gill Sans"/>
                <a:cs typeface="Gill Sans"/>
              </a:rPr>
              <a:t>i</a:t>
            </a:r>
            <a:r>
              <a:rPr sz="4800" b="1" spc="-25" dirty="0">
                <a:latin typeface="Gill Sans"/>
                <a:cs typeface="Gill Sans"/>
              </a:rPr>
              <a:t>s</a:t>
            </a:r>
            <a:r>
              <a:rPr sz="4800" b="1" spc="-5" dirty="0">
                <a:latin typeface="Gill Sans"/>
                <a:cs typeface="Gill Sans"/>
              </a:rPr>
              <a:t>to</a:t>
            </a:r>
            <a:r>
              <a:rPr sz="4800" b="1" dirty="0">
                <a:latin typeface="Gill Sans"/>
                <a:cs typeface="Gill Sans"/>
              </a:rPr>
              <a:t>r</a:t>
            </a:r>
            <a:r>
              <a:rPr sz="4800" b="1" spc="-25" dirty="0">
                <a:latin typeface="Gill Sans"/>
                <a:cs typeface="Gill Sans"/>
              </a:rPr>
              <a:t>y:</a:t>
            </a:r>
            <a:endParaRPr sz="4800">
              <a:latin typeface="Gill Sans"/>
              <a:cs typeface="Gill Sans"/>
            </a:endParaRPr>
          </a:p>
          <a:p>
            <a:pPr algn="ctr">
              <a:lnSpc>
                <a:spcPts val="5630"/>
              </a:lnSpc>
            </a:pPr>
            <a:r>
              <a:rPr sz="4800" b="1" i="1" dirty="0">
                <a:latin typeface="Gill Sans"/>
                <a:cs typeface="Gill Sans"/>
              </a:rPr>
              <a:t>Ps</a:t>
            </a:r>
            <a:r>
              <a:rPr sz="4800" b="1" i="1" spc="65" dirty="0">
                <a:latin typeface="Gill Sans"/>
                <a:cs typeface="Gill Sans"/>
              </a:rPr>
              <a:t>y</a:t>
            </a:r>
            <a:r>
              <a:rPr sz="4800" b="1" i="1" spc="40" dirty="0">
                <a:latin typeface="Gill Sans"/>
                <a:cs typeface="Gill Sans"/>
              </a:rPr>
              <a:t>c</a:t>
            </a:r>
            <a:r>
              <a:rPr sz="4800" b="1" i="1" dirty="0">
                <a:latin typeface="Gill Sans"/>
                <a:cs typeface="Gill Sans"/>
              </a:rPr>
              <a:t>hotr</a:t>
            </a:r>
            <a:r>
              <a:rPr sz="4800" b="1" i="1" spc="-30" dirty="0">
                <a:latin typeface="Gill Sans"/>
                <a:cs typeface="Gill Sans"/>
              </a:rPr>
              <a:t>ia</a:t>
            </a:r>
            <a:endParaRPr sz="4800">
              <a:latin typeface="Gill Sans"/>
              <a:cs typeface="Gill San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44422" y="4527927"/>
            <a:ext cx="3370094" cy="243802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744422" y="4527925"/>
            <a:ext cx="3370579" cy="2438400"/>
          </a:xfrm>
          <a:custGeom>
            <a:avLst/>
            <a:gdLst/>
            <a:ahLst/>
            <a:cxnLst/>
            <a:rect l="l" t="t" r="r" b="b"/>
            <a:pathLst>
              <a:path w="3370579" h="2438400">
                <a:moveTo>
                  <a:pt x="0" y="0"/>
                </a:moveTo>
                <a:lnTo>
                  <a:pt x="3370094" y="0"/>
                </a:lnTo>
                <a:lnTo>
                  <a:pt x="3370094" y="2438022"/>
                </a:lnTo>
                <a:lnTo>
                  <a:pt x="0" y="243802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507507" y="7505700"/>
            <a:ext cx="3048000" cy="19812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436100" y="9486986"/>
            <a:ext cx="34156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u="sng" dirty="0">
                <a:latin typeface="Gill Sans"/>
                <a:cs typeface="Gill Sans"/>
                <a:hlinkClick r:id="rId6"/>
              </a:rPr>
              <a:t>http:</a:t>
            </a:r>
            <a:r>
              <a:rPr sz="1000" u="sng" spc="-5" dirty="0">
                <a:latin typeface="Gill Sans"/>
                <a:cs typeface="Gill Sans"/>
                <a:hlinkClick r:id="rId6"/>
              </a:rPr>
              <a:t>//farm8.stati</a:t>
            </a:r>
            <a:r>
              <a:rPr sz="1000" u="sng" spc="10" dirty="0">
                <a:latin typeface="Gill Sans"/>
                <a:cs typeface="Gill Sans"/>
                <a:hlinkClick r:id="rId6"/>
              </a:rPr>
              <a:t>c</a:t>
            </a:r>
            <a:r>
              <a:rPr sz="1000" u="sng" dirty="0">
                <a:latin typeface="Gill Sans"/>
                <a:cs typeface="Gill Sans"/>
                <a:hlinkClick r:id="rId6"/>
              </a:rPr>
              <a:t>.</a:t>
            </a:r>
            <a:r>
              <a:rPr sz="1000" u="sng" spc="5" dirty="0">
                <a:latin typeface="Gill Sans"/>
                <a:cs typeface="Gill Sans"/>
                <a:hlinkClick r:id="rId6"/>
              </a:rPr>
              <a:t>fli</a:t>
            </a:r>
            <a:r>
              <a:rPr sz="1000" u="sng" spc="-5" dirty="0">
                <a:latin typeface="Gill Sans"/>
                <a:cs typeface="Gill Sans"/>
                <a:hlinkClick r:id="rId6"/>
              </a:rPr>
              <a:t>ck</a:t>
            </a:r>
            <a:r>
              <a:rPr sz="1000" u="sng" spc="-110" dirty="0">
                <a:latin typeface="Gill Sans"/>
                <a:cs typeface="Gill Sans"/>
                <a:hlinkClick r:id="rId6"/>
              </a:rPr>
              <a:t>r</a:t>
            </a:r>
            <a:r>
              <a:rPr sz="1000" u="sng" dirty="0">
                <a:latin typeface="Gill Sans"/>
                <a:cs typeface="Gill Sans"/>
                <a:hlinkClick r:id="rId6"/>
              </a:rPr>
              <a:t>.</a:t>
            </a:r>
            <a:r>
              <a:rPr sz="1000" u="sng" spc="-5" dirty="0">
                <a:latin typeface="Gill Sans"/>
                <a:cs typeface="Gill Sans"/>
                <a:hlinkClick r:id="rId6"/>
              </a:rPr>
              <a:t>com/7446/9252634315_0ecf0ba853_</a:t>
            </a:r>
            <a:r>
              <a:rPr sz="1000" u="sng" dirty="0">
                <a:latin typeface="Gill Sans"/>
                <a:cs typeface="Gill Sans"/>
                <a:hlinkClick r:id="rId6"/>
              </a:rPr>
              <a:t>m.j</a:t>
            </a:r>
            <a:r>
              <a:rPr sz="1000" u="sng" spc="-5" dirty="0">
                <a:latin typeface="Gill Sans"/>
                <a:cs typeface="Gill Sans"/>
                <a:hlinkClick r:id="rId6"/>
              </a:rPr>
              <a:t>pg</a:t>
            </a:r>
            <a:endParaRPr sz="1000" dirty="0">
              <a:latin typeface="Gill Sans"/>
              <a:cs typeface="Gill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25000" y="7264400"/>
            <a:ext cx="131254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i="1" dirty="0">
                <a:latin typeface="Calibri"/>
                <a:cs typeface="Calibri"/>
              </a:rPr>
              <a:t>P</a:t>
            </a:r>
            <a:r>
              <a:rPr sz="1200" b="1" i="1" spc="-20" dirty="0">
                <a:latin typeface="Calibri"/>
                <a:cs typeface="Calibri"/>
              </a:rPr>
              <a:t>s</a:t>
            </a:r>
            <a:r>
              <a:rPr sz="1200" b="1" i="1" spc="-10" dirty="0">
                <a:latin typeface="Calibri"/>
                <a:cs typeface="Calibri"/>
              </a:rPr>
              <a:t>yc</a:t>
            </a:r>
            <a:r>
              <a:rPr sz="1200" b="1" i="1" spc="-5" dirty="0">
                <a:latin typeface="Calibri"/>
                <a:cs typeface="Calibri"/>
              </a:rPr>
              <a:t>hotr</a:t>
            </a:r>
            <a:r>
              <a:rPr sz="1200" b="1" i="1" spc="-10" dirty="0">
                <a:latin typeface="Calibri"/>
                <a:cs typeface="Calibri"/>
              </a:rPr>
              <a:t>ia</a:t>
            </a:r>
            <a:r>
              <a:rPr sz="1200" b="1" i="1" dirty="0">
                <a:latin typeface="Calibri"/>
                <a:cs typeface="Calibri"/>
              </a:rPr>
              <a:t> </a:t>
            </a:r>
            <a:r>
              <a:rPr sz="1200" b="1" i="1" spc="-5" dirty="0">
                <a:latin typeface="Calibri"/>
                <a:cs typeface="Calibri"/>
              </a:rPr>
              <a:t>h</a:t>
            </a:r>
            <a:r>
              <a:rPr sz="1200" b="1" i="1" spc="-30" dirty="0">
                <a:latin typeface="Calibri"/>
                <a:cs typeface="Calibri"/>
              </a:rPr>
              <a:t>e</a:t>
            </a:r>
            <a:r>
              <a:rPr sz="1200" b="1" i="1" spc="-25" dirty="0">
                <a:latin typeface="Calibri"/>
                <a:cs typeface="Calibri"/>
              </a:rPr>
              <a:t>x</a:t>
            </a:r>
            <a:r>
              <a:rPr sz="1200" b="1" i="1" spc="-10" dirty="0">
                <a:latin typeface="Calibri"/>
                <a:cs typeface="Calibri"/>
              </a:rPr>
              <a:t>andra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79982" y="1584457"/>
            <a:ext cx="7956550" cy="676275"/>
          </a:xfrm>
          <a:custGeom>
            <a:avLst/>
            <a:gdLst/>
            <a:ahLst/>
            <a:cxnLst/>
            <a:rect l="l" t="t" r="r" b="b"/>
            <a:pathLst>
              <a:path w="7956550" h="676275">
                <a:moveTo>
                  <a:pt x="0" y="0"/>
                </a:moveTo>
                <a:lnTo>
                  <a:pt x="7956483" y="0"/>
                </a:lnTo>
                <a:lnTo>
                  <a:pt x="7956483" y="676142"/>
                </a:lnTo>
                <a:lnTo>
                  <a:pt x="0" y="67614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435100" y="1634968"/>
            <a:ext cx="3639185" cy="635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800" b="1" dirty="0">
                <a:latin typeface="Gill Sans"/>
                <a:cs typeface="Gill Sans"/>
              </a:rPr>
              <a:t>M</a:t>
            </a:r>
            <a:r>
              <a:rPr sz="4800" b="1" spc="-5" dirty="0">
                <a:latin typeface="Gill Sans"/>
                <a:cs typeface="Gill Sans"/>
              </a:rPr>
              <a:t>o</a:t>
            </a:r>
            <a:r>
              <a:rPr sz="4800" b="1" dirty="0">
                <a:latin typeface="Gill Sans"/>
                <a:cs typeface="Gill Sans"/>
              </a:rPr>
              <a:t>del</a:t>
            </a:r>
            <a:r>
              <a:rPr sz="4800" b="1" spc="-15" dirty="0">
                <a:latin typeface="Gill Sans"/>
                <a:cs typeface="Gill Sans"/>
              </a:rPr>
              <a:t>:</a:t>
            </a:r>
            <a:r>
              <a:rPr sz="4800" b="1" spc="-5" dirty="0">
                <a:latin typeface="Gill Sans"/>
                <a:cs typeface="Gill Sans"/>
              </a:rPr>
              <a:t> </a:t>
            </a:r>
            <a:r>
              <a:rPr sz="4800" b="1" spc="-40" dirty="0">
                <a:latin typeface="Gill Sans"/>
                <a:cs typeface="Gill Sans"/>
              </a:rPr>
              <a:t>D</a:t>
            </a:r>
            <a:r>
              <a:rPr sz="4800" b="1" dirty="0">
                <a:latin typeface="Gill Sans"/>
                <a:cs typeface="Gill Sans"/>
              </a:rPr>
              <a:t>EC</a:t>
            </a:r>
            <a:endParaRPr sz="4800">
              <a:latin typeface="Gill Sans"/>
              <a:cs typeface="Gill Sans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577107" y="7448550"/>
          <a:ext cx="1751557" cy="1885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98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9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3075"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K</a:t>
                      </a:r>
                      <a:r>
                        <a:rPr sz="2400" b="1" spc="-5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400" b="1" spc="-35" dirty="0">
                          <a:latin typeface="Calibri"/>
                          <a:cs typeface="Calibri"/>
                        </a:rPr>
                        <a:t>K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auai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0061FF"/>
                    </a:solidFill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2400" b="1" spc="-5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Oahu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53D5FD"/>
                    </a:solidFill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M=Maui-Nui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C41"/>
                    </a:solidFill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900">
                <a:tc gridSpan="2"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H</a:t>
                      </a:r>
                      <a:r>
                        <a:rPr sz="2400" b="1" spc="-5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H</a:t>
                      </a:r>
                      <a:r>
                        <a:rPr sz="2400" b="1" spc="-2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400" b="1" spc="-30" dirty="0">
                          <a:latin typeface="Calibri"/>
                          <a:cs typeface="Calibri"/>
                        </a:rPr>
                        <a:t>w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400" b="1" spc="2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2400" b="1" spc="5" dirty="0">
                          <a:latin typeface="Calibri"/>
                          <a:cs typeface="Calibri"/>
                        </a:rPr>
                        <a:t>’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i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401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38307" y="1729348"/>
            <a:ext cx="4158962" cy="52196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1628708"/>
            <a:ext cx="4064615" cy="569381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1638" rIns="0" bIns="0" rtlCol="0">
            <a:spAutoFit/>
          </a:bodyPr>
          <a:lstStyle/>
          <a:p>
            <a:pPr marL="1685925">
              <a:lnSpc>
                <a:spcPct val="100000"/>
              </a:lnSpc>
            </a:pPr>
            <a:r>
              <a:rPr sz="4800" dirty="0">
                <a:latin typeface="Gill Sans"/>
                <a:cs typeface="Gill Sans"/>
              </a:rPr>
              <a:t>Comp</a:t>
            </a:r>
            <a:r>
              <a:rPr sz="4800" spc="65" dirty="0">
                <a:latin typeface="Gill Sans"/>
                <a:cs typeface="Gill Sans"/>
              </a:rPr>
              <a:t>a</a:t>
            </a:r>
            <a:r>
              <a:rPr sz="4800" spc="-210" dirty="0">
                <a:latin typeface="Gill Sans"/>
                <a:cs typeface="Gill Sans"/>
              </a:rPr>
              <a:t>r</a:t>
            </a:r>
            <a:r>
              <a:rPr sz="4800" spc="-5" dirty="0">
                <a:latin typeface="Gill Sans"/>
                <a:cs typeface="Gill Sans"/>
              </a:rPr>
              <a:t>ison</a:t>
            </a:r>
            <a:r>
              <a:rPr sz="4800" dirty="0">
                <a:latin typeface="Gill Sans"/>
                <a:cs typeface="Gill Sans"/>
              </a:rPr>
              <a:t>:</a:t>
            </a:r>
            <a:r>
              <a:rPr sz="4800" spc="5" dirty="0">
                <a:latin typeface="Gill Sans"/>
                <a:cs typeface="Gill Sans"/>
              </a:rPr>
              <a:t> </a:t>
            </a:r>
            <a:r>
              <a:rPr sz="4800" dirty="0">
                <a:latin typeface="Gill Sans"/>
                <a:cs typeface="Gill Sans"/>
              </a:rPr>
              <a:t>3 </a:t>
            </a:r>
            <a:r>
              <a:rPr sz="4800" spc="-5" dirty="0">
                <a:latin typeface="Gill Sans"/>
                <a:cs typeface="Gill Sans"/>
              </a:rPr>
              <a:t>models</a:t>
            </a:r>
            <a:endParaRPr sz="4800" dirty="0">
              <a:latin typeface="Gill Sans"/>
              <a:cs typeface="Gill San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07507" y="7505700"/>
            <a:ext cx="3048000" cy="19812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436100" y="9486986"/>
            <a:ext cx="34156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u="sng" dirty="0">
                <a:latin typeface="Gill Sans"/>
                <a:cs typeface="Gill Sans"/>
                <a:hlinkClick r:id="rId6"/>
              </a:rPr>
              <a:t>http:</a:t>
            </a:r>
            <a:r>
              <a:rPr sz="1000" u="sng" spc="-5" dirty="0">
                <a:latin typeface="Gill Sans"/>
                <a:cs typeface="Gill Sans"/>
                <a:hlinkClick r:id="rId6"/>
              </a:rPr>
              <a:t>//farm8.stati</a:t>
            </a:r>
            <a:r>
              <a:rPr sz="1000" u="sng" spc="10" dirty="0">
                <a:latin typeface="Gill Sans"/>
                <a:cs typeface="Gill Sans"/>
                <a:hlinkClick r:id="rId6"/>
              </a:rPr>
              <a:t>c</a:t>
            </a:r>
            <a:r>
              <a:rPr sz="1000" u="sng" dirty="0">
                <a:latin typeface="Gill Sans"/>
                <a:cs typeface="Gill Sans"/>
                <a:hlinkClick r:id="rId6"/>
              </a:rPr>
              <a:t>.</a:t>
            </a:r>
            <a:r>
              <a:rPr sz="1000" u="sng" spc="5" dirty="0">
                <a:latin typeface="Gill Sans"/>
                <a:cs typeface="Gill Sans"/>
                <a:hlinkClick r:id="rId6"/>
              </a:rPr>
              <a:t>fli</a:t>
            </a:r>
            <a:r>
              <a:rPr sz="1000" u="sng" spc="-5" dirty="0">
                <a:latin typeface="Gill Sans"/>
                <a:cs typeface="Gill Sans"/>
                <a:hlinkClick r:id="rId6"/>
              </a:rPr>
              <a:t>ck</a:t>
            </a:r>
            <a:r>
              <a:rPr sz="1000" u="sng" spc="-110" dirty="0">
                <a:latin typeface="Gill Sans"/>
                <a:cs typeface="Gill Sans"/>
                <a:hlinkClick r:id="rId6"/>
              </a:rPr>
              <a:t>r</a:t>
            </a:r>
            <a:r>
              <a:rPr sz="1000" u="sng" dirty="0">
                <a:latin typeface="Gill Sans"/>
                <a:cs typeface="Gill Sans"/>
                <a:hlinkClick r:id="rId6"/>
              </a:rPr>
              <a:t>.</a:t>
            </a:r>
            <a:r>
              <a:rPr sz="1000" u="sng" spc="-5" dirty="0">
                <a:latin typeface="Gill Sans"/>
                <a:cs typeface="Gill Sans"/>
                <a:hlinkClick r:id="rId6"/>
              </a:rPr>
              <a:t>com/7446/9252634315_0ecf0ba853_</a:t>
            </a:r>
            <a:r>
              <a:rPr sz="1000" u="sng" dirty="0">
                <a:latin typeface="Gill Sans"/>
                <a:cs typeface="Gill Sans"/>
                <a:hlinkClick r:id="rId6"/>
              </a:rPr>
              <a:t>m.j</a:t>
            </a:r>
            <a:r>
              <a:rPr sz="1000" u="sng" spc="-5" dirty="0">
                <a:latin typeface="Gill Sans"/>
                <a:cs typeface="Gill Sans"/>
                <a:hlinkClick r:id="rId6"/>
              </a:rPr>
              <a:t>pg</a:t>
            </a:r>
            <a:endParaRPr sz="1000" dirty="0">
              <a:latin typeface="Gill Sans"/>
              <a:cs typeface="Gill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25000" y="7264400"/>
            <a:ext cx="131254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i="1" dirty="0">
                <a:latin typeface="Calibri"/>
                <a:cs typeface="Calibri"/>
              </a:rPr>
              <a:t>P</a:t>
            </a:r>
            <a:r>
              <a:rPr sz="1200" b="1" i="1" spc="-20" dirty="0">
                <a:latin typeface="Calibri"/>
                <a:cs typeface="Calibri"/>
              </a:rPr>
              <a:t>s</a:t>
            </a:r>
            <a:r>
              <a:rPr sz="1200" b="1" i="1" spc="-10" dirty="0">
                <a:latin typeface="Calibri"/>
                <a:cs typeface="Calibri"/>
              </a:rPr>
              <a:t>yc</a:t>
            </a:r>
            <a:r>
              <a:rPr sz="1200" b="1" i="1" spc="-5" dirty="0">
                <a:latin typeface="Calibri"/>
                <a:cs typeface="Calibri"/>
              </a:rPr>
              <a:t>hotr</a:t>
            </a:r>
            <a:r>
              <a:rPr sz="1200" b="1" i="1" spc="-10" dirty="0">
                <a:latin typeface="Calibri"/>
                <a:cs typeface="Calibri"/>
              </a:rPr>
              <a:t>ia</a:t>
            </a:r>
            <a:r>
              <a:rPr sz="1200" b="1" i="1" dirty="0">
                <a:latin typeface="Calibri"/>
                <a:cs typeface="Calibri"/>
              </a:rPr>
              <a:t> </a:t>
            </a:r>
            <a:r>
              <a:rPr sz="1200" b="1" i="1" spc="-5" dirty="0">
                <a:latin typeface="Calibri"/>
                <a:cs typeface="Calibri"/>
              </a:rPr>
              <a:t>h</a:t>
            </a:r>
            <a:r>
              <a:rPr sz="1200" b="1" i="1" spc="-30" dirty="0">
                <a:latin typeface="Calibri"/>
                <a:cs typeface="Calibri"/>
              </a:rPr>
              <a:t>e</a:t>
            </a:r>
            <a:r>
              <a:rPr sz="1200" b="1" i="1" spc="-25" dirty="0">
                <a:latin typeface="Calibri"/>
                <a:cs typeface="Calibri"/>
              </a:rPr>
              <a:t>x</a:t>
            </a:r>
            <a:r>
              <a:rPr sz="1200" b="1" i="1" spc="-10" dirty="0">
                <a:latin typeface="Calibri"/>
                <a:cs typeface="Calibri"/>
              </a:rPr>
              <a:t>andra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79500" y="1357234"/>
            <a:ext cx="183261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latin typeface="Gill Sans"/>
                <a:cs typeface="Gill Sans"/>
              </a:rPr>
              <a:t>Model</a:t>
            </a:r>
            <a:r>
              <a:rPr sz="2400" b="1" spc="-10" dirty="0">
                <a:latin typeface="Gill Sans"/>
                <a:cs typeface="Gill Sans"/>
              </a:rPr>
              <a:t>:</a:t>
            </a:r>
            <a:r>
              <a:rPr sz="2400" b="1" spc="-5" dirty="0">
                <a:latin typeface="Gill Sans"/>
                <a:cs typeface="Gill Sans"/>
              </a:rPr>
              <a:t> </a:t>
            </a:r>
            <a:r>
              <a:rPr sz="2400" b="1" spc="-20" dirty="0">
                <a:latin typeface="Gill Sans"/>
                <a:cs typeface="Gill Sans"/>
              </a:rPr>
              <a:t>D</a:t>
            </a:r>
            <a:r>
              <a:rPr sz="2400" b="1" dirty="0">
                <a:latin typeface="Gill Sans"/>
                <a:cs typeface="Gill Sans"/>
              </a:rPr>
              <a:t>EC</a:t>
            </a:r>
            <a:endParaRPr sz="2400">
              <a:latin typeface="Gill Sans"/>
              <a:cs typeface="Gill San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609010" y="1739298"/>
            <a:ext cx="4132303" cy="517184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295900" y="1369934"/>
            <a:ext cx="6409055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936365" algn="l"/>
              </a:tabLst>
            </a:pPr>
            <a:r>
              <a:rPr sz="2400" b="1" dirty="0">
                <a:latin typeface="Gill Sans"/>
                <a:cs typeface="Gill Sans"/>
              </a:rPr>
              <a:t>Model</a:t>
            </a:r>
            <a:r>
              <a:rPr sz="2400" b="1" spc="-10" dirty="0">
                <a:latin typeface="Gill Sans"/>
                <a:cs typeface="Gill Sans"/>
              </a:rPr>
              <a:t>:</a:t>
            </a:r>
            <a:r>
              <a:rPr sz="2400" b="1" spc="-5" dirty="0">
                <a:latin typeface="Gill Sans"/>
                <a:cs typeface="Gill Sans"/>
              </a:rPr>
              <a:t> </a:t>
            </a:r>
            <a:r>
              <a:rPr sz="2400" b="1" spc="-15" dirty="0">
                <a:latin typeface="Gill Sans"/>
                <a:cs typeface="Gill Sans"/>
              </a:rPr>
              <a:t>DI</a:t>
            </a:r>
            <a:r>
              <a:rPr sz="2400" b="1" spc="-195" dirty="0">
                <a:latin typeface="Gill Sans"/>
                <a:cs typeface="Gill Sans"/>
              </a:rPr>
              <a:t>V</a:t>
            </a:r>
            <a:r>
              <a:rPr sz="2400" b="1" dirty="0">
                <a:latin typeface="Gill Sans"/>
                <a:cs typeface="Gill Sans"/>
              </a:rPr>
              <a:t>A	Model</a:t>
            </a:r>
            <a:r>
              <a:rPr sz="2400" b="1" spc="-10" dirty="0">
                <a:latin typeface="Gill Sans"/>
                <a:cs typeface="Gill Sans"/>
              </a:rPr>
              <a:t>:</a:t>
            </a:r>
            <a:r>
              <a:rPr sz="2400" b="1" spc="-5" dirty="0">
                <a:latin typeface="Gill Sans"/>
                <a:cs typeface="Gill Sans"/>
              </a:rPr>
              <a:t> </a:t>
            </a:r>
            <a:r>
              <a:rPr sz="2400" b="1" spc="-20" dirty="0">
                <a:latin typeface="Gill Sans"/>
                <a:cs typeface="Gill Sans"/>
              </a:rPr>
              <a:t>Ba</a:t>
            </a:r>
            <a:r>
              <a:rPr sz="2400" b="1" dirty="0">
                <a:latin typeface="Gill Sans"/>
                <a:cs typeface="Gill Sans"/>
              </a:rPr>
              <a:t>yA</a:t>
            </a:r>
            <a:r>
              <a:rPr sz="2400" b="1" spc="-105" dirty="0">
                <a:latin typeface="Gill Sans"/>
                <a:cs typeface="Gill Sans"/>
              </a:rPr>
              <a:t>r</a:t>
            </a:r>
            <a:r>
              <a:rPr sz="2400" b="1" dirty="0">
                <a:latin typeface="Gill Sans"/>
                <a:cs typeface="Gill Sans"/>
              </a:rPr>
              <a:t>e</a:t>
            </a:r>
            <a:r>
              <a:rPr sz="2400" b="1" spc="-15" dirty="0">
                <a:latin typeface="Gill Sans"/>
                <a:cs typeface="Gill Sans"/>
              </a:rPr>
              <a:t>a</a:t>
            </a:r>
            <a:endParaRPr sz="2400">
              <a:latin typeface="Gill Sans"/>
              <a:cs typeface="Gill Sans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577107" y="7448550"/>
          <a:ext cx="1751557" cy="1885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98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9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3075"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K</a:t>
                      </a:r>
                      <a:r>
                        <a:rPr sz="2400" b="1" spc="-5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400" b="1" spc="-35" dirty="0">
                          <a:latin typeface="Calibri"/>
                          <a:cs typeface="Calibri"/>
                        </a:rPr>
                        <a:t>K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auai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0061FF"/>
                    </a:solidFill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2400" b="1" spc="-5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Oahu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53D5FD"/>
                    </a:solidFill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M=Maui-Nui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C41"/>
                    </a:solidFill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900">
                <a:tc gridSpan="2"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H</a:t>
                      </a:r>
                      <a:r>
                        <a:rPr sz="2400" b="1" spc="-5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H</a:t>
                      </a:r>
                      <a:r>
                        <a:rPr sz="2400" b="1" spc="-2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400" b="1" spc="-30" dirty="0">
                          <a:latin typeface="Calibri"/>
                          <a:cs typeface="Calibri"/>
                        </a:rPr>
                        <a:t>w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400" b="1" spc="2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2400" b="1" spc="5" dirty="0">
                          <a:latin typeface="Calibri"/>
                          <a:cs typeface="Calibri"/>
                        </a:rPr>
                        <a:t>’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i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401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5500" y="3755868"/>
            <a:ext cx="10079355" cy="4826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800" b="1" dirty="0">
                <a:latin typeface="Gill Sans"/>
                <a:cs typeface="Gill Sans"/>
              </a:rPr>
              <a:t>Comp</a:t>
            </a:r>
            <a:r>
              <a:rPr sz="4800" b="1" spc="65" dirty="0">
                <a:latin typeface="Gill Sans"/>
                <a:cs typeface="Gill Sans"/>
              </a:rPr>
              <a:t>a</a:t>
            </a:r>
            <a:r>
              <a:rPr sz="4800" b="1" spc="-210" dirty="0">
                <a:latin typeface="Gill Sans"/>
                <a:cs typeface="Gill Sans"/>
              </a:rPr>
              <a:t>r</a:t>
            </a:r>
            <a:r>
              <a:rPr sz="4800" b="1" spc="-5" dirty="0">
                <a:latin typeface="Gill Sans"/>
                <a:cs typeface="Gill Sans"/>
              </a:rPr>
              <a:t>iso</a:t>
            </a:r>
            <a:r>
              <a:rPr sz="4800" b="1" dirty="0">
                <a:latin typeface="Gill Sans"/>
                <a:cs typeface="Gill Sans"/>
              </a:rPr>
              <a:t>n of</a:t>
            </a:r>
            <a:r>
              <a:rPr sz="4800" b="1" spc="140" dirty="0">
                <a:latin typeface="Gill Sans"/>
                <a:cs typeface="Gill Sans"/>
              </a:rPr>
              <a:t> </a:t>
            </a:r>
            <a:r>
              <a:rPr sz="4800" b="1" spc="-5" dirty="0">
                <a:latin typeface="Gill Sans"/>
                <a:cs typeface="Gill Sans"/>
              </a:rPr>
              <a:t>t</a:t>
            </a:r>
            <a:r>
              <a:rPr sz="4800" b="1" spc="-70" dirty="0">
                <a:latin typeface="Gill Sans"/>
                <a:cs typeface="Gill Sans"/>
              </a:rPr>
              <a:t>w</a:t>
            </a:r>
            <a:r>
              <a:rPr sz="4800" b="1" dirty="0">
                <a:latin typeface="Gill Sans"/>
                <a:cs typeface="Gill Sans"/>
              </a:rPr>
              <a:t>o </a:t>
            </a:r>
            <a:r>
              <a:rPr sz="4800" b="1" spc="-5" dirty="0">
                <a:latin typeface="Gill Sans"/>
                <a:cs typeface="Gill Sans"/>
              </a:rPr>
              <a:t>models:</a:t>
            </a:r>
            <a:endParaRPr sz="4800">
              <a:latin typeface="Gill Sans"/>
              <a:cs typeface="Gill San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4900">
              <a:latin typeface="Times New Roman"/>
              <a:cs typeface="Times New Roman"/>
            </a:endParaRPr>
          </a:p>
          <a:p>
            <a:pPr marL="863600" marR="5080" indent="-850900">
              <a:lnSpc>
                <a:spcPts val="5500"/>
              </a:lnSpc>
              <a:buFont typeface="Gill Sans"/>
              <a:buAutoNum type="arabicPeriod"/>
              <a:tabLst>
                <a:tab pos="863600" algn="l"/>
              </a:tabLst>
            </a:pPr>
            <a:r>
              <a:rPr sz="4800" b="1" spc="-5" dirty="0">
                <a:latin typeface="Gill Sans"/>
                <a:cs typeface="Gill Sans"/>
              </a:rPr>
              <a:t>mo</a:t>
            </a:r>
            <a:r>
              <a:rPr sz="4800" b="1" dirty="0">
                <a:latin typeface="Gill Sans"/>
                <a:cs typeface="Gill Sans"/>
              </a:rPr>
              <a:t>del</a:t>
            </a:r>
            <a:r>
              <a:rPr sz="4800" b="1" spc="-5" dirty="0">
                <a:latin typeface="Gill Sans"/>
                <a:cs typeface="Gill Sans"/>
              </a:rPr>
              <a:t> </a:t>
            </a:r>
            <a:r>
              <a:rPr sz="4800" b="1" dirty="0">
                <a:latin typeface="Gill Sans"/>
                <a:cs typeface="Gill Sans"/>
              </a:rPr>
              <a:t>wi</a:t>
            </a:r>
            <a:r>
              <a:rPr sz="4800" b="1" spc="-5" dirty="0">
                <a:latin typeface="Gill Sans"/>
                <a:cs typeface="Gill Sans"/>
              </a:rPr>
              <a:t>thou</a:t>
            </a:r>
            <a:r>
              <a:rPr sz="4800" b="1" dirty="0">
                <a:latin typeface="Gill Sans"/>
                <a:cs typeface="Gill Sans"/>
              </a:rPr>
              <a:t>t</a:t>
            </a:r>
            <a:r>
              <a:rPr sz="4800" b="1" spc="-5" dirty="0">
                <a:latin typeface="Gill Sans"/>
                <a:cs typeface="Gill Sans"/>
              </a:rPr>
              <a:t> foun</a:t>
            </a:r>
            <a:r>
              <a:rPr sz="4800" b="1" dirty="0">
                <a:latin typeface="Gill Sans"/>
                <a:cs typeface="Gill Sans"/>
              </a:rPr>
              <a:t>de</a:t>
            </a:r>
            <a:r>
              <a:rPr sz="4800" b="1" spc="-210" dirty="0">
                <a:latin typeface="Gill Sans"/>
                <a:cs typeface="Gill Sans"/>
              </a:rPr>
              <a:t>r</a:t>
            </a:r>
            <a:r>
              <a:rPr sz="4800" b="1" spc="-5" dirty="0">
                <a:latin typeface="Gill Sans"/>
                <a:cs typeface="Gill Sans"/>
              </a:rPr>
              <a:t>-</a:t>
            </a:r>
            <a:r>
              <a:rPr sz="4800" b="1" dirty="0">
                <a:latin typeface="Gill Sans"/>
                <a:cs typeface="Gill Sans"/>
              </a:rPr>
              <a:t>e</a:t>
            </a:r>
            <a:r>
              <a:rPr sz="4800" b="1" spc="-70" dirty="0">
                <a:latin typeface="Gill Sans"/>
                <a:cs typeface="Gill Sans"/>
              </a:rPr>
              <a:t>v</a:t>
            </a:r>
            <a:r>
              <a:rPr sz="4800" b="1" dirty="0">
                <a:latin typeface="Gill Sans"/>
                <a:cs typeface="Gill Sans"/>
              </a:rPr>
              <a:t>e</a:t>
            </a:r>
            <a:r>
              <a:rPr sz="4800" b="1" spc="-5" dirty="0">
                <a:latin typeface="Gill Sans"/>
                <a:cs typeface="Gill Sans"/>
              </a:rPr>
              <a:t>n</a:t>
            </a:r>
            <a:r>
              <a:rPr sz="4800" b="1" dirty="0">
                <a:latin typeface="Gill Sans"/>
                <a:cs typeface="Gill Sans"/>
              </a:rPr>
              <a:t>t speciation</a:t>
            </a:r>
            <a:endParaRPr sz="4800">
              <a:latin typeface="Gill Sans"/>
              <a:cs typeface="Gill Sans"/>
            </a:endParaRPr>
          </a:p>
          <a:p>
            <a:pPr>
              <a:lnSpc>
                <a:spcPct val="100000"/>
              </a:lnSpc>
              <a:spcBef>
                <a:spcPts val="37"/>
              </a:spcBef>
              <a:buFont typeface="Gill Sans"/>
              <a:buAutoNum type="arabicPeriod"/>
            </a:pPr>
            <a:endParaRPr sz="4750">
              <a:latin typeface="Times New Roman"/>
              <a:cs typeface="Times New Roman"/>
            </a:endParaRPr>
          </a:p>
          <a:p>
            <a:pPr marL="863600" marR="1068705" indent="-850900">
              <a:lnSpc>
                <a:spcPts val="5500"/>
              </a:lnSpc>
              <a:buFont typeface="Gill Sans"/>
              <a:buAutoNum type="arabicPeriod"/>
              <a:tabLst>
                <a:tab pos="863600" algn="l"/>
              </a:tabLst>
            </a:pPr>
            <a:r>
              <a:rPr sz="4800" b="1" spc="-5" dirty="0">
                <a:latin typeface="Gill Sans"/>
                <a:cs typeface="Gill Sans"/>
              </a:rPr>
              <a:t>mo</a:t>
            </a:r>
            <a:r>
              <a:rPr sz="4800" b="1" dirty="0">
                <a:latin typeface="Gill Sans"/>
                <a:cs typeface="Gill Sans"/>
              </a:rPr>
              <a:t>del</a:t>
            </a:r>
            <a:r>
              <a:rPr sz="4800" b="1" spc="-5" dirty="0">
                <a:latin typeface="Gill Sans"/>
                <a:cs typeface="Gill Sans"/>
              </a:rPr>
              <a:t> </a:t>
            </a:r>
            <a:r>
              <a:rPr sz="4800" b="1" dirty="0">
                <a:latin typeface="Gill Sans"/>
                <a:cs typeface="Gill Sans"/>
              </a:rPr>
              <a:t>wi</a:t>
            </a:r>
            <a:r>
              <a:rPr sz="4800" b="1" spc="-5" dirty="0">
                <a:latin typeface="Gill Sans"/>
                <a:cs typeface="Gill Sans"/>
              </a:rPr>
              <a:t>t</a:t>
            </a:r>
            <a:r>
              <a:rPr sz="4800" b="1" dirty="0">
                <a:latin typeface="Gill Sans"/>
                <a:cs typeface="Gill Sans"/>
              </a:rPr>
              <a:t>h</a:t>
            </a:r>
            <a:r>
              <a:rPr sz="4800" b="1" spc="-5" dirty="0">
                <a:latin typeface="Gill Sans"/>
                <a:cs typeface="Gill Sans"/>
              </a:rPr>
              <a:t> foun</a:t>
            </a:r>
            <a:r>
              <a:rPr sz="4800" b="1" dirty="0">
                <a:latin typeface="Gill Sans"/>
                <a:cs typeface="Gill Sans"/>
              </a:rPr>
              <a:t>de</a:t>
            </a:r>
            <a:r>
              <a:rPr sz="4800" b="1" spc="-210" dirty="0">
                <a:latin typeface="Gill Sans"/>
                <a:cs typeface="Gill Sans"/>
              </a:rPr>
              <a:t>r</a:t>
            </a:r>
            <a:r>
              <a:rPr sz="4800" b="1" spc="-5" dirty="0">
                <a:latin typeface="Gill Sans"/>
                <a:cs typeface="Gill Sans"/>
              </a:rPr>
              <a:t>-</a:t>
            </a:r>
            <a:r>
              <a:rPr sz="4800" b="1" dirty="0">
                <a:latin typeface="Gill Sans"/>
                <a:cs typeface="Gill Sans"/>
              </a:rPr>
              <a:t>e</a:t>
            </a:r>
            <a:r>
              <a:rPr sz="4800" b="1" spc="-70" dirty="0">
                <a:latin typeface="Gill Sans"/>
                <a:cs typeface="Gill Sans"/>
              </a:rPr>
              <a:t>v</a:t>
            </a:r>
            <a:r>
              <a:rPr sz="4800" b="1" dirty="0">
                <a:latin typeface="Gill Sans"/>
                <a:cs typeface="Gill Sans"/>
              </a:rPr>
              <a:t>e</a:t>
            </a:r>
            <a:r>
              <a:rPr sz="4800" b="1" spc="-5" dirty="0">
                <a:latin typeface="Gill Sans"/>
                <a:cs typeface="Gill Sans"/>
              </a:rPr>
              <a:t>n</a:t>
            </a:r>
            <a:r>
              <a:rPr sz="4800" b="1" dirty="0">
                <a:latin typeface="Gill Sans"/>
                <a:cs typeface="Gill Sans"/>
              </a:rPr>
              <a:t>t speciation</a:t>
            </a:r>
            <a:endParaRPr sz="4800">
              <a:latin typeface="Gill Sans"/>
              <a:cs typeface="Gill San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47900" y="385579"/>
            <a:ext cx="8493760" cy="2387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5875" algn="ctr">
              <a:lnSpc>
                <a:spcPts val="6500"/>
              </a:lnSpc>
            </a:pPr>
            <a:r>
              <a:rPr sz="5600" b="1" spc="-25" dirty="0">
                <a:latin typeface="Gill Sans"/>
                <a:cs typeface="Gill Sans"/>
              </a:rPr>
              <a:t>I</a:t>
            </a:r>
            <a:r>
              <a:rPr sz="5600" b="1" spc="-5" dirty="0">
                <a:latin typeface="Gill Sans"/>
                <a:cs typeface="Gill Sans"/>
              </a:rPr>
              <a:t> th</a:t>
            </a:r>
            <a:r>
              <a:rPr sz="5600" b="1" dirty="0">
                <a:latin typeface="Gill Sans"/>
                <a:cs typeface="Gill Sans"/>
              </a:rPr>
              <a:t>i</a:t>
            </a:r>
            <a:r>
              <a:rPr sz="5600" b="1" spc="-5" dirty="0">
                <a:latin typeface="Gill Sans"/>
                <a:cs typeface="Gill Sans"/>
              </a:rPr>
              <a:t>n</a:t>
            </a:r>
            <a:r>
              <a:rPr sz="5600" b="1" spc="-40" dirty="0">
                <a:latin typeface="Gill Sans"/>
                <a:cs typeface="Gill Sans"/>
              </a:rPr>
              <a:t>k</a:t>
            </a:r>
            <a:r>
              <a:rPr sz="5600" b="1" spc="-5" dirty="0">
                <a:latin typeface="Gill Sans"/>
                <a:cs typeface="Gill Sans"/>
              </a:rPr>
              <a:t> </a:t>
            </a:r>
            <a:r>
              <a:rPr sz="5600" b="1" spc="-80" dirty="0">
                <a:latin typeface="Gill Sans"/>
                <a:cs typeface="Gill Sans"/>
              </a:rPr>
              <a:t>w</a:t>
            </a:r>
            <a:r>
              <a:rPr sz="5600" b="1" dirty="0">
                <a:latin typeface="Gill Sans"/>
                <a:cs typeface="Gill Sans"/>
              </a:rPr>
              <a:t>e</a:t>
            </a:r>
            <a:r>
              <a:rPr sz="5600" b="1" spc="-5" dirty="0">
                <a:latin typeface="Gill Sans"/>
                <a:cs typeface="Gill Sans"/>
              </a:rPr>
              <a:t> </a:t>
            </a:r>
            <a:r>
              <a:rPr sz="5600" b="1" spc="-30" dirty="0">
                <a:latin typeface="Gill Sans"/>
                <a:cs typeface="Gill Sans"/>
              </a:rPr>
              <a:t>s</a:t>
            </a:r>
            <a:r>
              <a:rPr sz="5600" b="1" spc="-5" dirty="0">
                <a:latin typeface="Gill Sans"/>
                <a:cs typeface="Gill Sans"/>
              </a:rPr>
              <a:t>hou</a:t>
            </a:r>
            <a:r>
              <a:rPr sz="5600" b="1" dirty="0">
                <a:latin typeface="Gill Sans"/>
                <a:cs typeface="Gill Sans"/>
              </a:rPr>
              <a:t>ld</a:t>
            </a:r>
            <a:r>
              <a:rPr sz="5600" b="1" spc="-5" dirty="0">
                <a:latin typeface="Gill Sans"/>
                <a:cs typeface="Gill Sans"/>
              </a:rPr>
              <a:t> u</a:t>
            </a:r>
            <a:r>
              <a:rPr sz="5600" b="1" spc="-30" dirty="0">
                <a:latin typeface="Gill Sans"/>
                <a:cs typeface="Gill Sans"/>
              </a:rPr>
              <a:t>s</a:t>
            </a:r>
            <a:r>
              <a:rPr sz="5600" b="1" dirty="0">
                <a:latin typeface="Gill Sans"/>
                <a:cs typeface="Gill Sans"/>
              </a:rPr>
              <a:t>e </a:t>
            </a:r>
            <a:r>
              <a:rPr sz="5600" b="1" u="heavy" dirty="0">
                <a:latin typeface="Gill Sans"/>
                <a:cs typeface="Gill Sans"/>
              </a:rPr>
              <a:t>statistical</a:t>
            </a:r>
            <a:r>
              <a:rPr sz="5600" b="1" u="heavy" spc="-40" dirty="0">
                <a:latin typeface="Gill Sans"/>
                <a:cs typeface="Gill Sans"/>
              </a:rPr>
              <a:t> </a:t>
            </a:r>
            <a:r>
              <a:rPr sz="5600" b="1" u="heavy" spc="-5" dirty="0">
                <a:latin typeface="Gill Sans"/>
                <a:cs typeface="Gill Sans"/>
              </a:rPr>
              <a:t>model</a:t>
            </a:r>
            <a:r>
              <a:rPr sz="5600" b="1" u="heavy" spc="-15" dirty="0">
                <a:latin typeface="Gill Sans"/>
                <a:cs typeface="Gill Sans"/>
              </a:rPr>
              <a:t> </a:t>
            </a:r>
            <a:r>
              <a:rPr sz="5600" b="1" u="heavy" spc="-5" dirty="0">
                <a:latin typeface="Gill Sans"/>
                <a:cs typeface="Gill Sans"/>
              </a:rPr>
              <a:t>choice</a:t>
            </a:r>
            <a:r>
              <a:rPr sz="5600" b="1" spc="-5" dirty="0">
                <a:latin typeface="Gill Sans"/>
                <a:cs typeface="Gill Sans"/>
              </a:rPr>
              <a:t> </a:t>
            </a:r>
            <a:r>
              <a:rPr sz="5600" b="1" dirty="0">
                <a:latin typeface="Gill Sans"/>
                <a:cs typeface="Gill Sans"/>
              </a:rPr>
              <a:t>in</a:t>
            </a:r>
            <a:r>
              <a:rPr sz="5600" b="1" spc="-5" dirty="0">
                <a:latin typeface="Gill Sans"/>
                <a:cs typeface="Gill Sans"/>
              </a:rPr>
              <a:t> </a:t>
            </a:r>
            <a:r>
              <a:rPr sz="5600" b="1" dirty="0">
                <a:latin typeface="Gill Sans"/>
                <a:cs typeface="Gill Sans"/>
              </a:rPr>
              <a:t>bi</a:t>
            </a:r>
            <a:r>
              <a:rPr sz="5600" b="1" spc="-5" dirty="0">
                <a:latin typeface="Gill Sans"/>
                <a:cs typeface="Gill Sans"/>
              </a:rPr>
              <a:t>o</a:t>
            </a:r>
            <a:r>
              <a:rPr sz="5600" b="1" dirty="0">
                <a:latin typeface="Gill Sans"/>
                <a:cs typeface="Gill Sans"/>
              </a:rPr>
              <a:t>ge</a:t>
            </a:r>
            <a:r>
              <a:rPr sz="5600" b="1" spc="-5" dirty="0">
                <a:latin typeface="Gill Sans"/>
                <a:cs typeface="Gill Sans"/>
              </a:rPr>
              <a:t>o</a:t>
            </a:r>
            <a:r>
              <a:rPr sz="5600" b="1" spc="200" dirty="0">
                <a:latin typeface="Gill Sans"/>
                <a:cs typeface="Gill Sans"/>
              </a:rPr>
              <a:t>g</a:t>
            </a:r>
            <a:r>
              <a:rPr sz="5600" b="1" spc="-80" dirty="0">
                <a:latin typeface="Gill Sans"/>
                <a:cs typeface="Gill Sans"/>
              </a:rPr>
              <a:t>r</a:t>
            </a:r>
            <a:r>
              <a:rPr sz="5600" b="1" spc="40" dirty="0">
                <a:latin typeface="Gill Sans"/>
                <a:cs typeface="Gill Sans"/>
              </a:rPr>
              <a:t>a</a:t>
            </a:r>
            <a:r>
              <a:rPr sz="5600" b="1" dirty="0">
                <a:latin typeface="Gill Sans"/>
                <a:cs typeface="Gill Sans"/>
              </a:rPr>
              <a:t>p</a:t>
            </a:r>
            <a:r>
              <a:rPr sz="5600" b="1" spc="-5" dirty="0">
                <a:latin typeface="Gill Sans"/>
                <a:cs typeface="Gill Sans"/>
              </a:rPr>
              <a:t>h</a:t>
            </a:r>
            <a:r>
              <a:rPr sz="5600" b="1" dirty="0">
                <a:latin typeface="Gill Sans"/>
                <a:cs typeface="Gill Sans"/>
              </a:rPr>
              <a:t>y</a:t>
            </a:r>
            <a:endParaRPr sz="5600">
              <a:latin typeface="Gill Sans"/>
              <a:cs typeface="Gill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5600" y="114300"/>
            <a:ext cx="11366500" cy="93091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391400" y="9405775"/>
            <a:ext cx="428180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Gill Sans"/>
                <a:cs typeface="Gill Sans"/>
              </a:rPr>
              <a:t>Fi</a:t>
            </a:r>
            <a:r>
              <a:rPr sz="1800" spc="-10" dirty="0">
                <a:latin typeface="Gill Sans"/>
                <a:cs typeface="Gill Sans"/>
              </a:rPr>
              <a:t>gu</a:t>
            </a:r>
            <a:r>
              <a:rPr sz="1800" spc="-50" dirty="0">
                <a:latin typeface="Gill Sans"/>
                <a:cs typeface="Gill Sans"/>
              </a:rPr>
              <a:t>r</a:t>
            </a:r>
            <a:r>
              <a:rPr sz="1800" dirty="0">
                <a:latin typeface="Gill Sans"/>
                <a:cs typeface="Gill Sans"/>
              </a:rPr>
              <a:t>e</a:t>
            </a:r>
            <a:r>
              <a:rPr sz="1800" spc="-5" dirty="0">
                <a:latin typeface="Gill Sans"/>
                <a:cs typeface="Gill Sans"/>
              </a:rPr>
              <a:t> </a:t>
            </a:r>
            <a:r>
              <a:rPr sz="1800" dirty="0">
                <a:latin typeface="Gill Sans"/>
                <a:cs typeface="Gill Sans"/>
              </a:rPr>
              <a:t>1,</a:t>
            </a:r>
            <a:r>
              <a:rPr sz="1800" spc="-185" dirty="0">
                <a:latin typeface="Gill Sans"/>
                <a:cs typeface="Gill Sans"/>
              </a:rPr>
              <a:t> </a:t>
            </a:r>
            <a:r>
              <a:rPr sz="1800" spc="-15" dirty="0">
                <a:latin typeface="Gill Sans"/>
                <a:cs typeface="Gill Sans"/>
              </a:rPr>
              <a:t>Ma</a:t>
            </a:r>
            <a:r>
              <a:rPr sz="1800" dirty="0">
                <a:latin typeface="Gill Sans"/>
                <a:cs typeface="Gill Sans"/>
              </a:rPr>
              <a:t>tz</a:t>
            </a:r>
            <a:r>
              <a:rPr sz="1800" spc="-55" dirty="0">
                <a:latin typeface="Gill Sans"/>
                <a:cs typeface="Gill Sans"/>
              </a:rPr>
              <a:t>k</a:t>
            </a:r>
            <a:r>
              <a:rPr sz="1800" dirty="0">
                <a:latin typeface="Gill Sans"/>
                <a:cs typeface="Gill Sans"/>
              </a:rPr>
              <a:t>e</a:t>
            </a:r>
            <a:r>
              <a:rPr sz="1800" spc="-5" dirty="0">
                <a:latin typeface="Gill Sans"/>
                <a:cs typeface="Gill Sans"/>
              </a:rPr>
              <a:t> </a:t>
            </a:r>
            <a:r>
              <a:rPr sz="1800" dirty="0">
                <a:latin typeface="Gill Sans"/>
                <a:cs typeface="Gill Sans"/>
              </a:rPr>
              <a:t>2013,</a:t>
            </a:r>
            <a:r>
              <a:rPr sz="1800" spc="-185" dirty="0">
                <a:latin typeface="Gill Sans"/>
                <a:cs typeface="Gill Sans"/>
              </a:rPr>
              <a:t> </a:t>
            </a:r>
            <a:r>
              <a:rPr sz="1800" i="1" spc="-40" dirty="0">
                <a:latin typeface="Gill Sans"/>
                <a:cs typeface="Gill Sans"/>
              </a:rPr>
              <a:t>F</a:t>
            </a:r>
            <a:r>
              <a:rPr sz="1800" i="1" spc="-50" dirty="0">
                <a:latin typeface="Gill Sans"/>
                <a:cs typeface="Gill Sans"/>
              </a:rPr>
              <a:t>r</a:t>
            </a:r>
            <a:r>
              <a:rPr sz="1800" i="1" dirty="0">
                <a:latin typeface="Gill Sans"/>
                <a:cs typeface="Gill Sans"/>
              </a:rPr>
              <a:t>on</a:t>
            </a:r>
            <a:r>
              <a:rPr sz="1800" i="1" spc="-10" dirty="0">
                <a:latin typeface="Gill Sans"/>
                <a:cs typeface="Gill Sans"/>
              </a:rPr>
              <a:t>tie</a:t>
            </a:r>
            <a:r>
              <a:rPr sz="1800" i="1" spc="25" dirty="0">
                <a:latin typeface="Gill Sans"/>
                <a:cs typeface="Gill Sans"/>
              </a:rPr>
              <a:t>r</a:t>
            </a:r>
            <a:r>
              <a:rPr sz="1800" i="1" dirty="0">
                <a:latin typeface="Gill Sans"/>
                <a:cs typeface="Gill Sans"/>
              </a:rPr>
              <a:t>s</a:t>
            </a:r>
            <a:r>
              <a:rPr sz="1800" i="1" spc="-5" dirty="0">
                <a:latin typeface="Gill Sans"/>
                <a:cs typeface="Gill Sans"/>
              </a:rPr>
              <a:t> </a:t>
            </a:r>
            <a:r>
              <a:rPr sz="1800" i="1" dirty="0">
                <a:latin typeface="Gill Sans"/>
                <a:cs typeface="Gill Sans"/>
              </a:rPr>
              <a:t>o</a:t>
            </a:r>
            <a:r>
              <a:rPr sz="1800" i="1" spc="-5" dirty="0">
                <a:latin typeface="Gill Sans"/>
                <a:cs typeface="Gill Sans"/>
              </a:rPr>
              <a:t>f </a:t>
            </a:r>
            <a:r>
              <a:rPr sz="1800" i="1" spc="-10" dirty="0">
                <a:latin typeface="Gill Sans"/>
                <a:cs typeface="Gill Sans"/>
              </a:rPr>
              <a:t>B</a:t>
            </a:r>
            <a:r>
              <a:rPr sz="1800" i="1" dirty="0">
                <a:latin typeface="Gill Sans"/>
                <a:cs typeface="Gill Sans"/>
              </a:rPr>
              <a:t>i</a:t>
            </a:r>
            <a:r>
              <a:rPr sz="1800" i="1" spc="-20" dirty="0">
                <a:latin typeface="Gill Sans"/>
                <a:cs typeface="Gill Sans"/>
              </a:rPr>
              <a:t>o</a:t>
            </a:r>
            <a:r>
              <a:rPr sz="1800" i="1" spc="-40" dirty="0">
                <a:latin typeface="Gill Sans"/>
                <a:cs typeface="Gill Sans"/>
              </a:rPr>
              <a:t>g</a:t>
            </a:r>
            <a:r>
              <a:rPr sz="1800" i="1" dirty="0">
                <a:latin typeface="Gill Sans"/>
                <a:cs typeface="Gill Sans"/>
              </a:rPr>
              <a:t>e</a:t>
            </a:r>
            <a:r>
              <a:rPr sz="1800" i="1" spc="-20" dirty="0">
                <a:latin typeface="Gill Sans"/>
                <a:cs typeface="Gill Sans"/>
              </a:rPr>
              <a:t>o</a:t>
            </a:r>
            <a:r>
              <a:rPr sz="1800" i="1" spc="-10" dirty="0">
                <a:latin typeface="Gill Sans"/>
                <a:cs typeface="Gill Sans"/>
              </a:rPr>
              <a:t>g</a:t>
            </a:r>
            <a:r>
              <a:rPr sz="1800" i="1" spc="-50" dirty="0">
                <a:latin typeface="Gill Sans"/>
                <a:cs typeface="Gill Sans"/>
              </a:rPr>
              <a:t>r</a:t>
            </a:r>
            <a:r>
              <a:rPr sz="1800" i="1" dirty="0">
                <a:latin typeface="Gill Sans"/>
                <a:cs typeface="Gill Sans"/>
              </a:rPr>
              <a:t>ap</a:t>
            </a:r>
            <a:r>
              <a:rPr sz="1800" i="1" spc="-30" dirty="0">
                <a:latin typeface="Gill Sans"/>
                <a:cs typeface="Gill Sans"/>
              </a:rPr>
              <a:t>h</a:t>
            </a:r>
            <a:r>
              <a:rPr sz="1800" i="1" dirty="0">
                <a:latin typeface="Gill Sans"/>
                <a:cs typeface="Gill Sans"/>
              </a:rPr>
              <a:t>y</a:t>
            </a:r>
            <a:endParaRPr sz="1800" dirty="0">
              <a:latin typeface="Gill Sans"/>
              <a:cs typeface="Gill San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160000" y="12700"/>
            <a:ext cx="1701800" cy="9372600"/>
          </a:xfrm>
          <a:custGeom>
            <a:avLst/>
            <a:gdLst/>
            <a:ahLst/>
            <a:cxnLst/>
            <a:rect l="l" t="t" r="r" b="b"/>
            <a:pathLst>
              <a:path w="1701800" h="9372600">
                <a:moveTo>
                  <a:pt x="0" y="0"/>
                </a:moveTo>
                <a:lnTo>
                  <a:pt x="1701800" y="0"/>
                </a:lnTo>
                <a:lnTo>
                  <a:pt x="1701800" y="9372600"/>
                </a:lnTo>
                <a:lnTo>
                  <a:pt x="0" y="9372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160000" y="12700"/>
            <a:ext cx="1701800" cy="9372600"/>
          </a:xfrm>
          <a:custGeom>
            <a:avLst/>
            <a:gdLst/>
            <a:ahLst/>
            <a:cxnLst/>
            <a:rect l="l" t="t" r="r" b="b"/>
            <a:pathLst>
              <a:path w="1701800" h="9372600">
                <a:moveTo>
                  <a:pt x="0" y="0"/>
                </a:moveTo>
                <a:lnTo>
                  <a:pt x="1701800" y="0"/>
                </a:lnTo>
                <a:lnTo>
                  <a:pt x="1701800" y="9372600"/>
                </a:lnTo>
                <a:lnTo>
                  <a:pt x="0" y="93726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746206" y="292100"/>
            <a:ext cx="1348105" cy="508000"/>
          </a:xfrm>
          <a:custGeom>
            <a:avLst/>
            <a:gdLst/>
            <a:ahLst/>
            <a:cxnLst/>
            <a:rect l="l" t="t" r="r" b="b"/>
            <a:pathLst>
              <a:path w="1348104" h="508000">
                <a:moveTo>
                  <a:pt x="0" y="0"/>
                </a:moveTo>
                <a:lnTo>
                  <a:pt x="1347787" y="0"/>
                </a:lnTo>
                <a:lnTo>
                  <a:pt x="1347787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785100" y="353569"/>
            <a:ext cx="1259205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431800">
              <a:lnSpc>
                <a:spcPts val="1600"/>
              </a:lnSpc>
            </a:pPr>
            <a:r>
              <a:rPr sz="1400" b="1" spc="-15" dirty="0">
                <a:latin typeface="Gill Sans"/>
                <a:cs typeface="Gill Sans"/>
              </a:rPr>
              <a:t>DEC </a:t>
            </a:r>
            <a:r>
              <a:rPr sz="1400" b="1" spc="-10" dirty="0">
                <a:latin typeface="Gill Sans"/>
                <a:cs typeface="Gill Sans"/>
              </a:rPr>
              <a:t>(</a:t>
            </a:r>
            <a:r>
              <a:rPr sz="1400" b="1" spc="-30" dirty="0">
                <a:latin typeface="Gill Sans"/>
                <a:cs typeface="Gill Sans"/>
              </a:rPr>
              <a:t>L</a:t>
            </a:r>
            <a:r>
              <a:rPr sz="1400" b="1" spc="-20" dirty="0">
                <a:latin typeface="Gill Sans"/>
                <a:cs typeface="Gill Sans"/>
              </a:rPr>
              <a:t>A</a:t>
            </a:r>
            <a:r>
              <a:rPr sz="1400" b="1" spc="-15" dirty="0">
                <a:latin typeface="Gill Sans"/>
                <a:cs typeface="Gill Sans"/>
              </a:rPr>
              <a:t>GRANGE)</a:t>
            </a:r>
            <a:endParaRPr sz="1400">
              <a:latin typeface="Gill Sans"/>
              <a:cs typeface="Gill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375900" y="1311951"/>
            <a:ext cx="2344420" cy="2044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6350" algn="ctr">
              <a:lnSpc>
                <a:spcPts val="4100"/>
              </a:lnSpc>
            </a:pPr>
            <a:r>
              <a:rPr sz="3600" b="1" dirty="0">
                <a:latin typeface="Gill Sans"/>
                <a:cs typeface="Gill Sans"/>
              </a:rPr>
              <a:t>Which </a:t>
            </a:r>
            <a:r>
              <a:rPr sz="3600" b="1" spc="-5" dirty="0">
                <a:latin typeface="Gill Sans"/>
                <a:cs typeface="Gill Sans"/>
              </a:rPr>
              <a:t>model </a:t>
            </a:r>
            <a:r>
              <a:rPr sz="3600" b="1" dirty="0">
                <a:latin typeface="Gill Sans"/>
                <a:cs typeface="Gill Sans"/>
              </a:rPr>
              <a:t>should</a:t>
            </a:r>
            <a:r>
              <a:rPr sz="3600" b="1" spc="-10" dirty="0">
                <a:latin typeface="Gill Sans"/>
                <a:cs typeface="Gill Sans"/>
              </a:rPr>
              <a:t> </a:t>
            </a:r>
            <a:r>
              <a:rPr sz="3600" b="1" spc="-55" dirty="0">
                <a:latin typeface="Gill Sans"/>
                <a:cs typeface="Gill Sans"/>
              </a:rPr>
              <a:t>w</a:t>
            </a:r>
            <a:r>
              <a:rPr sz="3600" b="1" dirty="0">
                <a:latin typeface="Gill Sans"/>
                <a:cs typeface="Gill Sans"/>
              </a:rPr>
              <a:t>e </a:t>
            </a:r>
            <a:r>
              <a:rPr sz="3600" b="1" spc="-5" dirty="0">
                <a:latin typeface="Gill Sans"/>
                <a:cs typeface="Gill Sans"/>
              </a:rPr>
              <a:t>use?</a:t>
            </a:r>
            <a:endParaRPr sz="3600">
              <a:latin typeface="Gill Sans"/>
              <a:cs typeface="Gill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21900" y="6010951"/>
            <a:ext cx="2827655" cy="2044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ctr">
              <a:lnSpc>
                <a:spcPts val="4100"/>
              </a:lnSpc>
            </a:pPr>
            <a:r>
              <a:rPr sz="3600" b="1" dirty="0">
                <a:latin typeface="Gill Sans"/>
                <a:cs typeface="Gill Sans"/>
              </a:rPr>
              <a:t>What</a:t>
            </a:r>
            <a:r>
              <a:rPr sz="3600" b="1" spc="-5" dirty="0">
                <a:latin typeface="Gill Sans"/>
                <a:cs typeface="Gill Sans"/>
              </a:rPr>
              <a:t> </a:t>
            </a:r>
            <a:r>
              <a:rPr sz="3600" b="1" spc="25" dirty="0">
                <a:latin typeface="Gill Sans"/>
                <a:cs typeface="Gill Sans"/>
              </a:rPr>
              <a:t>a</a:t>
            </a:r>
            <a:r>
              <a:rPr sz="3600" b="1" spc="-5" dirty="0">
                <a:latin typeface="Gill Sans"/>
                <a:cs typeface="Gill Sans"/>
              </a:rPr>
              <a:t>bout founde</a:t>
            </a:r>
            <a:r>
              <a:rPr sz="3600" b="1" spc="-155" dirty="0">
                <a:latin typeface="Gill Sans"/>
                <a:cs typeface="Gill Sans"/>
              </a:rPr>
              <a:t>r</a:t>
            </a:r>
            <a:r>
              <a:rPr sz="3600" b="1" dirty="0">
                <a:latin typeface="Gill Sans"/>
                <a:cs typeface="Gill Sans"/>
              </a:rPr>
              <a:t>- e</a:t>
            </a:r>
            <a:r>
              <a:rPr sz="3600" b="1" spc="-50" dirty="0">
                <a:latin typeface="Gill Sans"/>
                <a:cs typeface="Gill Sans"/>
              </a:rPr>
              <a:t>v</a:t>
            </a:r>
            <a:r>
              <a:rPr sz="3600" b="1" spc="-5" dirty="0">
                <a:latin typeface="Gill Sans"/>
                <a:cs typeface="Gill Sans"/>
              </a:rPr>
              <a:t>ent </a:t>
            </a:r>
            <a:r>
              <a:rPr sz="3600" b="1" dirty="0">
                <a:latin typeface="Gill Sans"/>
                <a:cs typeface="Gill Sans"/>
              </a:rPr>
              <a:t>speciation?</a:t>
            </a:r>
            <a:endParaRPr sz="3600">
              <a:latin typeface="Gill Sans"/>
              <a:cs typeface="Gill San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358474" y="8167183"/>
            <a:ext cx="1448235" cy="114723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383005" y="8189665"/>
            <a:ext cx="1367790" cy="1064260"/>
          </a:xfrm>
          <a:custGeom>
            <a:avLst/>
            <a:gdLst/>
            <a:ahLst/>
            <a:cxnLst/>
            <a:rect l="l" t="t" r="r" b="b"/>
            <a:pathLst>
              <a:path w="1367790" h="1064259">
                <a:moveTo>
                  <a:pt x="608778" y="0"/>
                </a:moveTo>
                <a:lnTo>
                  <a:pt x="0" y="534982"/>
                </a:lnTo>
                <a:lnTo>
                  <a:pt x="613926" y="1064049"/>
                </a:lnTo>
                <a:lnTo>
                  <a:pt x="612404" y="749443"/>
                </a:lnTo>
                <a:lnTo>
                  <a:pt x="1367570" y="745788"/>
                </a:lnTo>
                <a:lnTo>
                  <a:pt x="1365483" y="314605"/>
                </a:lnTo>
                <a:lnTo>
                  <a:pt x="610299" y="314605"/>
                </a:lnTo>
                <a:lnTo>
                  <a:pt x="608778" y="0"/>
                </a:lnTo>
                <a:close/>
              </a:path>
              <a:path w="1367790" h="1064259">
                <a:moveTo>
                  <a:pt x="1365465" y="310951"/>
                </a:moveTo>
                <a:lnTo>
                  <a:pt x="610299" y="314605"/>
                </a:lnTo>
                <a:lnTo>
                  <a:pt x="1365483" y="314605"/>
                </a:lnTo>
                <a:lnTo>
                  <a:pt x="1365465" y="3109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328752" y="8011528"/>
            <a:ext cx="484485" cy="96142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350525" y="8030170"/>
            <a:ext cx="408305" cy="885825"/>
          </a:xfrm>
          <a:custGeom>
            <a:avLst/>
            <a:gdLst/>
            <a:ahLst/>
            <a:cxnLst/>
            <a:rect l="l" t="t" r="r" b="b"/>
            <a:pathLst>
              <a:path w="408304" h="885825">
                <a:moveTo>
                  <a:pt x="0" y="0"/>
                </a:moveTo>
                <a:lnTo>
                  <a:pt x="408284" y="0"/>
                </a:lnTo>
                <a:lnTo>
                  <a:pt x="408284" y="885229"/>
                </a:lnTo>
                <a:lnTo>
                  <a:pt x="0" y="885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2600" y="571500"/>
            <a:ext cx="8001000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800" b="1" spc="-85" dirty="0">
                <a:latin typeface="Calibri"/>
                <a:cs typeface="Calibri"/>
              </a:rPr>
              <a:t>F</a:t>
            </a:r>
            <a:r>
              <a:rPr sz="4800" b="1" spc="-30" dirty="0">
                <a:latin typeface="Calibri"/>
                <a:cs typeface="Calibri"/>
              </a:rPr>
              <a:t>ound</a:t>
            </a:r>
            <a:r>
              <a:rPr sz="4800" b="1" dirty="0">
                <a:latin typeface="Calibri"/>
                <a:cs typeface="Calibri"/>
              </a:rPr>
              <a:t>e</a:t>
            </a:r>
            <a:r>
              <a:rPr sz="4800" b="1" spc="-95" dirty="0">
                <a:latin typeface="Calibri"/>
                <a:cs typeface="Calibri"/>
              </a:rPr>
              <a:t>r</a:t>
            </a:r>
            <a:r>
              <a:rPr sz="4800" b="1" spc="-5" dirty="0">
                <a:latin typeface="Calibri"/>
                <a:cs typeface="Calibri"/>
              </a:rPr>
              <a:t>-</a:t>
            </a:r>
            <a:r>
              <a:rPr sz="4800" b="1" spc="-25" dirty="0">
                <a:latin typeface="Calibri"/>
                <a:cs typeface="Calibri"/>
              </a:rPr>
              <a:t>e</a:t>
            </a:r>
            <a:r>
              <a:rPr sz="4800" b="1" spc="-45" dirty="0">
                <a:latin typeface="Calibri"/>
                <a:cs typeface="Calibri"/>
              </a:rPr>
              <a:t>v</a:t>
            </a:r>
            <a:r>
              <a:rPr sz="4800" b="1" dirty="0">
                <a:latin typeface="Calibri"/>
                <a:cs typeface="Calibri"/>
              </a:rPr>
              <a:t>e</a:t>
            </a:r>
            <a:r>
              <a:rPr sz="4800" b="1" spc="-75" dirty="0">
                <a:latin typeface="Calibri"/>
                <a:cs typeface="Calibri"/>
              </a:rPr>
              <a:t>n</a:t>
            </a:r>
            <a:r>
              <a:rPr sz="4800" b="1" spc="-20" dirty="0">
                <a:latin typeface="Calibri"/>
                <a:cs typeface="Calibri"/>
              </a:rPr>
              <a:t>t</a:t>
            </a:r>
            <a:r>
              <a:rPr sz="4800" b="1" spc="-5" dirty="0">
                <a:latin typeface="Calibri"/>
                <a:cs typeface="Calibri"/>
              </a:rPr>
              <a:t> </a:t>
            </a:r>
            <a:r>
              <a:rPr sz="4800" b="1" spc="-25" dirty="0">
                <a:latin typeface="Calibri"/>
                <a:cs typeface="Calibri"/>
              </a:rPr>
              <a:t>s</a:t>
            </a:r>
            <a:r>
              <a:rPr sz="4800" b="1" spc="-30" dirty="0">
                <a:latin typeface="Calibri"/>
                <a:cs typeface="Calibri"/>
              </a:rPr>
              <a:t>p</a:t>
            </a:r>
            <a:r>
              <a:rPr sz="4800" b="1" dirty="0">
                <a:latin typeface="Calibri"/>
                <a:cs typeface="Calibri"/>
              </a:rPr>
              <a:t>ec</a:t>
            </a:r>
            <a:r>
              <a:rPr sz="4800" b="1" spc="-15" dirty="0">
                <a:latin typeface="Calibri"/>
                <a:cs typeface="Calibri"/>
              </a:rPr>
              <a:t>i</a:t>
            </a:r>
            <a:r>
              <a:rPr sz="4800" b="1" spc="-70" dirty="0">
                <a:latin typeface="Calibri"/>
                <a:cs typeface="Calibri"/>
              </a:rPr>
              <a:t>a</a:t>
            </a:r>
            <a:r>
              <a:rPr lang="en-US" sz="4800" b="1" spc="365" dirty="0">
                <a:latin typeface="Calibri"/>
                <a:cs typeface="Calibri"/>
              </a:rPr>
              <a:t>ti</a:t>
            </a:r>
            <a:r>
              <a:rPr sz="4800" b="1" spc="-30" dirty="0">
                <a:latin typeface="Calibri"/>
                <a:cs typeface="Calibri"/>
              </a:rPr>
              <a:t>on</a:t>
            </a:r>
            <a:endParaRPr sz="48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99200" y="1740288"/>
            <a:ext cx="227965" cy="596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500" dirty="0">
                <a:latin typeface="Gill Sans"/>
                <a:cs typeface="Gill Sans"/>
              </a:rPr>
              <a:t>•</a:t>
            </a:r>
            <a:endParaRPr sz="4500">
              <a:latin typeface="Gill Sans"/>
              <a:cs typeface="Gill San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109220">
              <a:lnSpc>
                <a:spcPts val="4100"/>
              </a:lnSpc>
            </a:pPr>
            <a:r>
              <a:rPr dirty="0"/>
              <a:t>In</a:t>
            </a:r>
            <a:r>
              <a:rPr spc="-5" dirty="0"/>
              <a:t> </a:t>
            </a:r>
            <a:r>
              <a:rPr spc="-40" dirty="0"/>
              <a:t>f</a:t>
            </a:r>
            <a:r>
              <a:rPr spc="-20" dirty="0"/>
              <a:t>ound</a:t>
            </a:r>
            <a:r>
              <a:rPr dirty="0"/>
              <a:t>e</a:t>
            </a:r>
            <a:r>
              <a:rPr spc="-305" dirty="0"/>
              <a:t>r</a:t>
            </a:r>
            <a:r>
              <a:rPr spc="-5" dirty="0"/>
              <a:t>-</a:t>
            </a:r>
            <a:r>
              <a:rPr spc="-55" dirty="0"/>
              <a:t>e</a:t>
            </a:r>
            <a:r>
              <a:rPr spc="-95" dirty="0"/>
              <a:t>v</a:t>
            </a:r>
            <a:r>
              <a:rPr dirty="0"/>
              <a:t>ent</a:t>
            </a:r>
            <a:r>
              <a:rPr spc="-5" dirty="0"/>
              <a:t> </a:t>
            </a:r>
            <a:r>
              <a:rPr spc="-15" dirty="0"/>
              <a:t>s</a:t>
            </a:r>
            <a:r>
              <a:rPr dirty="0"/>
              <a:t>pec</a:t>
            </a:r>
            <a:r>
              <a:rPr spc="-5" dirty="0"/>
              <a:t>i</a:t>
            </a:r>
            <a:r>
              <a:rPr spc="-20" dirty="0"/>
              <a:t>a</a:t>
            </a:r>
            <a:r>
              <a:rPr dirty="0"/>
              <a:t>t</a:t>
            </a:r>
            <a:r>
              <a:rPr spc="-5" dirty="0"/>
              <a:t>i</a:t>
            </a:r>
            <a:r>
              <a:rPr spc="-20" dirty="0"/>
              <a:t>o</a:t>
            </a:r>
            <a:r>
              <a:rPr dirty="0"/>
              <a:t>n,</a:t>
            </a:r>
            <a:r>
              <a:rPr spc="-365" dirty="0"/>
              <a:t> </a:t>
            </a:r>
            <a:r>
              <a:rPr spc="-20" dirty="0"/>
              <a:t>a</a:t>
            </a:r>
            <a:r>
              <a:rPr spc="-15" dirty="0"/>
              <a:t> ra</a:t>
            </a:r>
            <a:r>
              <a:rPr spc="-90" dirty="0"/>
              <a:t>r</a:t>
            </a:r>
            <a:r>
              <a:rPr dirty="0"/>
              <a:t>e</a:t>
            </a:r>
            <a:r>
              <a:rPr spc="-5" dirty="0"/>
              <a:t> </a:t>
            </a:r>
            <a:r>
              <a:rPr spc="-20" dirty="0"/>
              <a:t>d</a:t>
            </a:r>
            <a:r>
              <a:rPr spc="-5" dirty="0"/>
              <a:t>i</a:t>
            </a:r>
            <a:r>
              <a:rPr spc="-20" dirty="0"/>
              <a:t>spersa</a:t>
            </a:r>
            <a:r>
              <a:rPr dirty="0"/>
              <a:t>l</a:t>
            </a:r>
            <a:r>
              <a:rPr spc="-5" dirty="0"/>
              <a:t> </a:t>
            </a:r>
            <a:r>
              <a:rPr spc="-55" dirty="0"/>
              <a:t>e</a:t>
            </a:r>
            <a:r>
              <a:rPr spc="-95" dirty="0"/>
              <a:t>v</a:t>
            </a:r>
            <a:r>
              <a:rPr dirty="0"/>
              <a:t>ent </a:t>
            </a:r>
            <a:r>
              <a:rPr spc="-20" dirty="0"/>
              <a:t>“</a:t>
            </a:r>
            <a:r>
              <a:rPr spc="-5" dirty="0"/>
              <a:t>i</a:t>
            </a:r>
            <a:r>
              <a:rPr spc="-20" dirty="0"/>
              <a:t>nstantaneous</a:t>
            </a:r>
            <a:r>
              <a:rPr spc="-35" dirty="0"/>
              <a:t>l</a:t>
            </a:r>
            <a:r>
              <a:rPr spc="-20" dirty="0"/>
              <a:t>y”</a:t>
            </a:r>
            <a:r>
              <a:rPr spc="-5" dirty="0"/>
              <a:t> </a:t>
            </a:r>
            <a:r>
              <a:rPr spc="-15" dirty="0"/>
              <a:t>esta</a:t>
            </a:r>
            <a:r>
              <a:rPr dirty="0"/>
              <a:t>b</a:t>
            </a:r>
            <a:r>
              <a:rPr spc="-5" dirty="0"/>
              <a:t>li</a:t>
            </a:r>
            <a:r>
              <a:rPr spc="-20" dirty="0"/>
              <a:t>shes</a:t>
            </a:r>
            <a:r>
              <a:rPr spc="-5" dirty="0"/>
              <a:t> </a:t>
            </a:r>
            <a:r>
              <a:rPr spc="-20" dirty="0"/>
              <a:t>a geogr</a:t>
            </a:r>
            <a:r>
              <a:rPr spc="-60" dirty="0"/>
              <a:t>a</a:t>
            </a:r>
            <a:r>
              <a:rPr dirty="0"/>
              <a:t>ph</a:t>
            </a:r>
            <a:r>
              <a:rPr spc="-5" dirty="0"/>
              <a:t>i</a:t>
            </a:r>
            <a:r>
              <a:rPr spc="-20" dirty="0"/>
              <a:t>ca</a:t>
            </a:r>
            <a:r>
              <a:rPr spc="-5" dirty="0"/>
              <a:t>l</a:t>
            </a:r>
            <a:r>
              <a:rPr spc="-35" dirty="0"/>
              <a:t>l</a:t>
            </a:r>
            <a:r>
              <a:rPr spc="-20" dirty="0"/>
              <a:t>y</a:t>
            </a:r>
            <a:r>
              <a:rPr spc="-5" dirty="0"/>
              <a:t> i</a:t>
            </a:r>
            <a:r>
              <a:rPr spc="-20" dirty="0"/>
              <a:t>so</a:t>
            </a:r>
            <a:r>
              <a:rPr spc="-5" dirty="0"/>
              <a:t>l</a:t>
            </a:r>
            <a:r>
              <a:rPr spc="-20" dirty="0"/>
              <a:t>ated</a:t>
            </a:r>
            <a:r>
              <a:rPr spc="-5" dirty="0"/>
              <a:t> </a:t>
            </a:r>
            <a:r>
              <a:rPr dirty="0"/>
              <a:t>n</a:t>
            </a:r>
            <a:r>
              <a:rPr spc="-55" dirty="0"/>
              <a:t>e</a:t>
            </a:r>
            <a:r>
              <a:rPr dirty="0"/>
              <a:t>w </a:t>
            </a:r>
            <a:r>
              <a:rPr spc="-5" dirty="0"/>
              <a:t>li</a:t>
            </a:r>
            <a:r>
              <a:rPr spc="-20" dirty="0"/>
              <a:t>neag</a:t>
            </a:r>
            <a:r>
              <a:rPr dirty="0"/>
              <a:t>e</a:t>
            </a:r>
            <a:r>
              <a:rPr spc="-5" dirty="0"/>
              <a:t> wi</a:t>
            </a:r>
            <a:r>
              <a:rPr dirty="0"/>
              <a:t>th</a:t>
            </a:r>
            <a:r>
              <a:rPr spc="-5" dirty="0"/>
              <a:t> </a:t>
            </a:r>
            <a:r>
              <a:rPr spc="-20" dirty="0"/>
              <a:t>o</a:t>
            </a:r>
            <a:r>
              <a:rPr dirty="0"/>
              <a:t>ne</a:t>
            </a:r>
            <a:r>
              <a:rPr spc="-5" dirty="0"/>
              <a:t> </a:t>
            </a:r>
            <a:r>
              <a:rPr spc="-20" dirty="0"/>
              <a:t>or</a:t>
            </a:r>
            <a:r>
              <a:rPr spc="-5" dirty="0"/>
              <a:t> </a:t>
            </a:r>
            <a:r>
              <a:rPr spc="-20" dirty="0"/>
              <a:t>a</a:t>
            </a:r>
            <a:r>
              <a:rPr spc="-5" dirty="0"/>
              <a:t> </a:t>
            </a:r>
            <a:r>
              <a:rPr spc="-40" dirty="0"/>
              <a:t>f</a:t>
            </a:r>
            <a:r>
              <a:rPr spc="-55" dirty="0"/>
              <a:t>e</a:t>
            </a:r>
            <a:r>
              <a:rPr dirty="0"/>
              <a:t>w </a:t>
            </a:r>
            <a:r>
              <a:rPr spc="-5" dirty="0"/>
              <a:t>i</a:t>
            </a:r>
            <a:r>
              <a:rPr spc="-20" dirty="0"/>
              <a:t>nd</a:t>
            </a:r>
            <a:r>
              <a:rPr spc="-5" dirty="0"/>
              <a:t>i</a:t>
            </a:r>
            <a:r>
              <a:rPr dirty="0"/>
              <a:t>v</a:t>
            </a:r>
            <a:r>
              <a:rPr spc="-5" dirty="0"/>
              <a:t>i</a:t>
            </a:r>
            <a:r>
              <a:rPr spc="-20" dirty="0"/>
              <a:t>dua</a:t>
            </a:r>
            <a:r>
              <a:rPr spc="-5" dirty="0"/>
              <a:t>l</a:t>
            </a:r>
            <a:r>
              <a:rPr spc="-15" dirty="0"/>
              <a:t>s</a:t>
            </a:r>
          </a:p>
          <a:p>
            <a:pPr marL="12700" marR="5080">
              <a:lnSpc>
                <a:spcPts val="4100"/>
              </a:lnSpc>
              <a:spcBef>
                <a:spcPts val="2400"/>
              </a:spcBef>
            </a:pPr>
            <a:r>
              <a:rPr dirty="0"/>
              <a:t>W</a:t>
            </a:r>
            <a:r>
              <a:rPr spc="-5" dirty="0"/>
              <a:t>i</a:t>
            </a:r>
            <a:r>
              <a:rPr spc="-20" dirty="0"/>
              <a:t>d</a:t>
            </a:r>
            <a:r>
              <a:rPr dirty="0"/>
              <a:t>e</a:t>
            </a:r>
            <a:r>
              <a:rPr spc="-35" dirty="0"/>
              <a:t>l</a:t>
            </a:r>
            <a:r>
              <a:rPr spc="-20" dirty="0"/>
              <a:t>y</a:t>
            </a:r>
            <a:r>
              <a:rPr spc="-5" dirty="0"/>
              <a:t> </a:t>
            </a:r>
            <a:r>
              <a:rPr spc="-20" dirty="0"/>
              <a:t>d</a:t>
            </a:r>
            <a:r>
              <a:rPr spc="-5" dirty="0"/>
              <a:t>i</a:t>
            </a:r>
            <a:r>
              <a:rPr spc="-20" dirty="0"/>
              <a:t>scussed</a:t>
            </a:r>
            <a:r>
              <a:rPr spc="-5" dirty="0"/>
              <a:t> i</a:t>
            </a:r>
            <a:r>
              <a:rPr dirty="0"/>
              <a:t>n</a:t>
            </a:r>
            <a:r>
              <a:rPr spc="-5" dirty="0"/>
              <a:t> </a:t>
            </a:r>
            <a:r>
              <a:rPr spc="-20" dirty="0"/>
              <a:t>po</a:t>
            </a:r>
            <a:r>
              <a:rPr dirty="0"/>
              <a:t>pu</a:t>
            </a:r>
            <a:r>
              <a:rPr spc="-5" dirty="0"/>
              <a:t>l</a:t>
            </a:r>
            <a:r>
              <a:rPr spc="-20" dirty="0"/>
              <a:t>a</a:t>
            </a:r>
            <a:r>
              <a:rPr dirty="0"/>
              <a:t>t</a:t>
            </a:r>
            <a:r>
              <a:rPr spc="-5" dirty="0"/>
              <a:t>i</a:t>
            </a:r>
            <a:r>
              <a:rPr spc="-20" dirty="0"/>
              <a:t>o</a:t>
            </a:r>
            <a:r>
              <a:rPr dirty="0"/>
              <a:t>n </a:t>
            </a:r>
            <a:r>
              <a:rPr spc="-20" dirty="0"/>
              <a:t>g</a:t>
            </a:r>
            <a:r>
              <a:rPr dirty="0"/>
              <a:t>enet</a:t>
            </a:r>
            <a:r>
              <a:rPr spc="-5" dirty="0"/>
              <a:t>i</a:t>
            </a:r>
            <a:r>
              <a:rPr spc="-15" dirty="0"/>
              <a:t>cs</a:t>
            </a:r>
            <a:r>
              <a:rPr dirty="0"/>
              <a:t>,</a:t>
            </a:r>
            <a:r>
              <a:rPr spc="-365" dirty="0"/>
              <a:t> </a:t>
            </a:r>
            <a:r>
              <a:rPr spc="-15" dirty="0"/>
              <a:t>s</a:t>
            </a:r>
            <a:r>
              <a:rPr dirty="0"/>
              <a:t>pec</a:t>
            </a:r>
            <a:r>
              <a:rPr spc="-5" dirty="0"/>
              <a:t>i</a:t>
            </a:r>
            <a:r>
              <a:rPr spc="-20" dirty="0"/>
              <a:t>a</a:t>
            </a:r>
            <a:r>
              <a:rPr dirty="0"/>
              <a:t>t</a:t>
            </a:r>
            <a:r>
              <a:rPr spc="-5" dirty="0"/>
              <a:t>i</a:t>
            </a:r>
            <a:r>
              <a:rPr spc="-20" dirty="0"/>
              <a:t>o</a:t>
            </a:r>
            <a:r>
              <a:rPr dirty="0"/>
              <a:t>n</a:t>
            </a:r>
            <a:r>
              <a:rPr spc="-5" dirty="0"/>
              <a:t> li</a:t>
            </a:r>
            <a:r>
              <a:rPr spc="-15" dirty="0"/>
              <a:t>tera</a:t>
            </a:r>
            <a:r>
              <a:rPr dirty="0"/>
              <a:t>tu</a:t>
            </a:r>
            <a:r>
              <a:rPr spc="-75" dirty="0"/>
              <a:t>r</a:t>
            </a:r>
            <a:r>
              <a:rPr spc="70" dirty="0"/>
              <a:t>e</a:t>
            </a:r>
            <a:r>
              <a:rPr dirty="0"/>
              <a:t>, </a:t>
            </a:r>
            <a:r>
              <a:rPr spc="-5" dirty="0"/>
              <a:t>i</a:t>
            </a:r>
            <a:r>
              <a:rPr spc="-15" dirty="0"/>
              <a:t>s</a:t>
            </a:r>
            <a:r>
              <a:rPr spc="-5" dirty="0"/>
              <a:t>l</a:t>
            </a:r>
            <a:r>
              <a:rPr spc="-20" dirty="0"/>
              <a:t>and</a:t>
            </a:r>
            <a:r>
              <a:rPr spc="-5" dirty="0"/>
              <a:t> </a:t>
            </a:r>
            <a:r>
              <a:rPr dirty="0"/>
              <a:t>b</a:t>
            </a:r>
            <a:r>
              <a:rPr spc="-5" dirty="0"/>
              <a:t>i</a:t>
            </a:r>
            <a:r>
              <a:rPr spc="-20" dirty="0"/>
              <a:t>ogeogr</a:t>
            </a:r>
            <a:r>
              <a:rPr spc="-60" dirty="0"/>
              <a:t>a</a:t>
            </a:r>
            <a:r>
              <a:rPr dirty="0"/>
              <a:t>p</a:t>
            </a:r>
            <a:r>
              <a:rPr spc="-130" dirty="0"/>
              <a:t>h</a:t>
            </a:r>
            <a:r>
              <a:rPr spc="-20" dirty="0"/>
              <a:t>y</a:t>
            </a:r>
          </a:p>
          <a:p>
            <a:pPr marL="12700" marR="34925">
              <a:lnSpc>
                <a:spcPts val="4100"/>
              </a:lnSpc>
              <a:spcBef>
                <a:spcPts val="2400"/>
              </a:spcBef>
            </a:pPr>
            <a:r>
              <a:rPr spc="-30" dirty="0"/>
              <a:t>H</a:t>
            </a:r>
            <a:r>
              <a:rPr spc="-60" dirty="0"/>
              <a:t>o</a:t>
            </a:r>
            <a:r>
              <a:rPr spc="-75" dirty="0"/>
              <a:t>w</a:t>
            </a:r>
            <a:r>
              <a:rPr spc="-55" dirty="0"/>
              <a:t>e</a:t>
            </a:r>
            <a:r>
              <a:rPr spc="-95" dirty="0"/>
              <a:t>v</a:t>
            </a:r>
            <a:r>
              <a:rPr dirty="0"/>
              <a:t>e</a:t>
            </a:r>
            <a:r>
              <a:rPr spc="-380" dirty="0"/>
              <a:t>r</a:t>
            </a:r>
            <a:r>
              <a:rPr dirty="0"/>
              <a:t>,</a:t>
            </a:r>
            <a:r>
              <a:rPr spc="-365" dirty="0"/>
              <a:t> </a:t>
            </a:r>
            <a:r>
              <a:rPr spc="-5" dirty="0"/>
              <a:t>i</a:t>
            </a:r>
            <a:r>
              <a:rPr spc="-20" dirty="0"/>
              <a:t>gno</a:t>
            </a:r>
            <a:r>
              <a:rPr spc="-90" dirty="0"/>
              <a:t>r</a:t>
            </a:r>
            <a:r>
              <a:rPr spc="-20" dirty="0"/>
              <a:t>ed</a:t>
            </a:r>
            <a:r>
              <a:rPr spc="-5" dirty="0"/>
              <a:t> i</a:t>
            </a:r>
            <a:r>
              <a:rPr dirty="0"/>
              <a:t>n</a:t>
            </a:r>
            <a:r>
              <a:rPr spc="-5" dirty="0"/>
              <a:t> </a:t>
            </a:r>
            <a:r>
              <a:rPr spc="-15" dirty="0"/>
              <a:t>trad</a:t>
            </a:r>
            <a:r>
              <a:rPr spc="-5" dirty="0"/>
              <a:t>i</a:t>
            </a:r>
            <a:r>
              <a:rPr dirty="0"/>
              <a:t>t</a:t>
            </a:r>
            <a:r>
              <a:rPr spc="-5" dirty="0"/>
              <a:t>i</a:t>
            </a:r>
            <a:r>
              <a:rPr spc="-20" dirty="0"/>
              <a:t>ona</a:t>
            </a:r>
            <a:r>
              <a:rPr dirty="0"/>
              <a:t>l h</a:t>
            </a:r>
            <a:r>
              <a:rPr spc="-5" dirty="0"/>
              <a:t>i</a:t>
            </a:r>
            <a:r>
              <a:rPr spc="-20" dirty="0"/>
              <a:t>sto</a:t>
            </a:r>
            <a:r>
              <a:rPr dirty="0"/>
              <a:t>r</a:t>
            </a:r>
            <a:r>
              <a:rPr spc="-5" dirty="0"/>
              <a:t>i</a:t>
            </a:r>
            <a:r>
              <a:rPr spc="-20" dirty="0"/>
              <a:t>ca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b</a:t>
            </a:r>
            <a:r>
              <a:rPr spc="-5" dirty="0"/>
              <a:t>i</a:t>
            </a:r>
            <a:r>
              <a:rPr spc="-20" dirty="0"/>
              <a:t>ogeogr</a:t>
            </a:r>
            <a:r>
              <a:rPr spc="-60" dirty="0"/>
              <a:t>a</a:t>
            </a:r>
            <a:r>
              <a:rPr dirty="0"/>
              <a:t>p</a:t>
            </a:r>
            <a:r>
              <a:rPr spc="-130" dirty="0"/>
              <a:t>h</a:t>
            </a:r>
            <a:r>
              <a:rPr spc="-20" dirty="0"/>
              <a:t>y co</a:t>
            </a:r>
            <a:r>
              <a:rPr dirty="0"/>
              <a:t>mputer</a:t>
            </a:r>
            <a:r>
              <a:rPr spc="-5" dirty="0"/>
              <a:t> </a:t>
            </a:r>
            <a:r>
              <a:rPr spc="-25" dirty="0"/>
              <a:t>mod</a:t>
            </a:r>
            <a:r>
              <a:rPr dirty="0"/>
              <a:t>e</a:t>
            </a:r>
            <a:r>
              <a:rPr spc="-5" dirty="0"/>
              <a:t>l</a:t>
            </a:r>
            <a:r>
              <a:rPr spc="-15" dirty="0"/>
              <a:t>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299200" y="5169288"/>
            <a:ext cx="227965" cy="596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500" dirty="0">
                <a:latin typeface="Gill Sans"/>
                <a:cs typeface="Gill Sans"/>
              </a:rPr>
              <a:t>•</a:t>
            </a:r>
            <a:endParaRPr sz="4500">
              <a:latin typeface="Gill Sans"/>
              <a:cs typeface="Gill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99200" y="7036189"/>
            <a:ext cx="227965" cy="596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500" dirty="0">
                <a:latin typeface="Gill Sans"/>
                <a:cs typeface="Gill Sans"/>
              </a:rPr>
              <a:t>•</a:t>
            </a:r>
            <a:endParaRPr sz="4500">
              <a:latin typeface="Gill Sans"/>
              <a:cs typeface="Gill San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14500" y="2979058"/>
            <a:ext cx="3889493" cy="46380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65300" y="3004458"/>
            <a:ext cx="3788410" cy="4537075"/>
          </a:xfrm>
          <a:custGeom>
            <a:avLst/>
            <a:gdLst/>
            <a:ahLst/>
            <a:cxnLst/>
            <a:rect l="l" t="t" r="r" b="b"/>
            <a:pathLst>
              <a:path w="3788410" h="4537075">
                <a:moveTo>
                  <a:pt x="0" y="0"/>
                </a:moveTo>
                <a:lnTo>
                  <a:pt x="3787892" y="0"/>
                </a:lnTo>
                <a:lnTo>
                  <a:pt x="3787892" y="4536460"/>
                </a:lnTo>
                <a:lnTo>
                  <a:pt x="0" y="4536460"/>
                </a:lnTo>
                <a:lnTo>
                  <a:pt x="0" y="0"/>
                </a:lnTo>
                <a:close/>
              </a:path>
            </a:pathLst>
          </a:custGeom>
          <a:solidFill>
            <a:srgbClr val="F5D3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65300" y="3004458"/>
            <a:ext cx="3788410" cy="4537075"/>
          </a:xfrm>
          <a:custGeom>
            <a:avLst/>
            <a:gdLst/>
            <a:ahLst/>
            <a:cxnLst/>
            <a:rect l="l" t="t" r="r" b="b"/>
            <a:pathLst>
              <a:path w="3788410" h="4537075">
                <a:moveTo>
                  <a:pt x="0" y="0"/>
                </a:moveTo>
                <a:lnTo>
                  <a:pt x="3787893" y="0"/>
                </a:lnTo>
                <a:lnTo>
                  <a:pt x="3787893" y="4536460"/>
                </a:lnTo>
                <a:lnTo>
                  <a:pt x="0" y="4536460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A6AAA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487637" y="2972074"/>
            <a:ext cx="1554288" cy="465202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538437" y="2997474"/>
            <a:ext cx="1452880" cy="4551045"/>
          </a:xfrm>
          <a:custGeom>
            <a:avLst/>
            <a:gdLst/>
            <a:ahLst/>
            <a:cxnLst/>
            <a:rect l="l" t="t" r="r" b="b"/>
            <a:pathLst>
              <a:path w="1452879" h="4551045">
                <a:moveTo>
                  <a:pt x="0" y="0"/>
                </a:moveTo>
                <a:lnTo>
                  <a:pt x="1452688" y="0"/>
                </a:lnTo>
                <a:lnTo>
                  <a:pt x="1452688" y="4550426"/>
                </a:lnTo>
                <a:lnTo>
                  <a:pt x="0" y="4550426"/>
                </a:lnTo>
                <a:lnTo>
                  <a:pt x="0" y="0"/>
                </a:lnTo>
                <a:close/>
              </a:path>
            </a:pathLst>
          </a:custGeom>
          <a:solidFill>
            <a:srgbClr val="EC5D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538437" y="2997474"/>
            <a:ext cx="1452880" cy="4551045"/>
          </a:xfrm>
          <a:custGeom>
            <a:avLst/>
            <a:gdLst/>
            <a:ahLst/>
            <a:cxnLst/>
            <a:rect l="l" t="t" r="r" b="b"/>
            <a:pathLst>
              <a:path w="1452879" h="4551045">
                <a:moveTo>
                  <a:pt x="0" y="0"/>
                </a:moveTo>
                <a:lnTo>
                  <a:pt x="1452688" y="0"/>
                </a:lnTo>
                <a:lnTo>
                  <a:pt x="1452688" y="4550426"/>
                </a:lnTo>
                <a:lnTo>
                  <a:pt x="0" y="4550426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A6AAA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68375" y="2985860"/>
            <a:ext cx="4985439" cy="46244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24017" y="3017736"/>
            <a:ext cx="4872862" cy="451002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24017" y="3017610"/>
            <a:ext cx="4872990" cy="4510405"/>
          </a:xfrm>
          <a:custGeom>
            <a:avLst/>
            <a:gdLst/>
            <a:ahLst/>
            <a:cxnLst/>
            <a:rect l="l" t="t" r="r" b="b"/>
            <a:pathLst>
              <a:path w="4872990" h="4510405">
                <a:moveTo>
                  <a:pt x="1830868" y="4505787"/>
                </a:moveTo>
                <a:lnTo>
                  <a:pt x="1830999" y="4389224"/>
                </a:lnTo>
                <a:lnTo>
                  <a:pt x="1831130" y="4272661"/>
                </a:lnTo>
                <a:lnTo>
                  <a:pt x="1831261" y="4156098"/>
                </a:lnTo>
                <a:lnTo>
                  <a:pt x="1831392" y="4039535"/>
                </a:lnTo>
                <a:lnTo>
                  <a:pt x="1831523" y="3922972"/>
                </a:lnTo>
                <a:lnTo>
                  <a:pt x="1831654" y="3806409"/>
                </a:lnTo>
                <a:lnTo>
                  <a:pt x="1831785" y="3689845"/>
                </a:lnTo>
                <a:lnTo>
                  <a:pt x="1831916" y="3573282"/>
                </a:lnTo>
                <a:lnTo>
                  <a:pt x="1832047" y="3456719"/>
                </a:lnTo>
                <a:lnTo>
                  <a:pt x="1832178" y="3340156"/>
                </a:lnTo>
                <a:lnTo>
                  <a:pt x="1832308" y="3223593"/>
                </a:lnTo>
                <a:lnTo>
                  <a:pt x="1832439" y="3107029"/>
                </a:lnTo>
                <a:lnTo>
                  <a:pt x="1832570" y="2990466"/>
                </a:lnTo>
                <a:lnTo>
                  <a:pt x="1832701" y="2873903"/>
                </a:lnTo>
                <a:lnTo>
                  <a:pt x="1832832" y="2757340"/>
                </a:lnTo>
                <a:lnTo>
                  <a:pt x="1832963" y="2640777"/>
                </a:lnTo>
                <a:lnTo>
                  <a:pt x="1833094" y="2524213"/>
                </a:lnTo>
                <a:lnTo>
                  <a:pt x="1833224" y="2407650"/>
                </a:lnTo>
                <a:lnTo>
                  <a:pt x="1833355" y="2291087"/>
                </a:lnTo>
                <a:lnTo>
                  <a:pt x="1833486" y="2174524"/>
                </a:lnTo>
                <a:lnTo>
                  <a:pt x="0" y="13520"/>
                </a:lnTo>
                <a:lnTo>
                  <a:pt x="1353287" y="13520"/>
                </a:lnTo>
                <a:lnTo>
                  <a:pt x="3075000" y="2007701"/>
                </a:lnTo>
                <a:lnTo>
                  <a:pt x="3122627" y="2050560"/>
                </a:lnTo>
                <a:lnTo>
                  <a:pt x="3169483" y="2081891"/>
                </a:lnTo>
                <a:lnTo>
                  <a:pt x="3215667" y="2103468"/>
                </a:lnTo>
                <a:lnTo>
                  <a:pt x="3261275" y="2117066"/>
                </a:lnTo>
                <a:lnTo>
                  <a:pt x="3306406" y="2124459"/>
                </a:lnTo>
                <a:lnTo>
                  <a:pt x="3351159" y="2127423"/>
                </a:lnTo>
                <a:lnTo>
                  <a:pt x="3373424" y="2127798"/>
                </a:lnTo>
                <a:lnTo>
                  <a:pt x="3395632" y="2127731"/>
                </a:lnTo>
                <a:lnTo>
                  <a:pt x="3417794" y="2127444"/>
                </a:lnTo>
                <a:lnTo>
                  <a:pt x="3439922" y="2127158"/>
                </a:lnTo>
                <a:lnTo>
                  <a:pt x="3462030" y="2127097"/>
                </a:lnTo>
                <a:lnTo>
                  <a:pt x="3484129" y="2127480"/>
                </a:lnTo>
                <a:lnTo>
                  <a:pt x="3506232" y="2128531"/>
                </a:lnTo>
                <a:lnTo>
                  <a:pt x="3528350" y="2130470"/>
                </a:lnTo>
                <a:lnTo>
                  <a:pt x="3551435" y="2129400"/>
                </a:lnTo>
                <a:lnTo>
                  <a:pt x="3574021" y="2128593"/>
                </a:lnTo>
                <a:lnTo>
                  <a:pt x="3596165" y="2128033"/>
                </a:lnTo>
                <a:lnTo>
                  <a:pt x="3617925" y="2127701"/>
                </a:lnTo>
                <a:lnTo>
                  <a:pt x="3639357" y="2127579"/>
                </a:lnTo>
                <a:lnTo>
                  <a:pt x="3660518" y="2127649"/>
                </a:lnTo>
                <a:lnTo>
                  <a:pt x="3702255" y="2128292"/>
                </a:lnTo>
                <a:lnTo>
                  <a:pt x="3743592" y="2129485"/>
                </a:lnTo>
                <a:lnTo>
                  <a:pt x="3784984" y="2131082"/>
                </a:lnTo>
                <a:lnTo>
                  <a:pt x="3826888" y="2132939"/>
                </a:lnTo>
                <a:lnTo>
                  <a:pt x="3848174" y="2133920"/>
                </a:lnTo>
                <a:lnTo>
                  <a:pt x="3869759" y="2134911"/>
                </a:lnTo>
                <a:lnTo>
                  <a:pt x="3891699" y="2135895"/>
                </a:lnTo>
                <a:lnTo>
                  <a:pt x="3914052" y="2136853"/>
                </a:lnTo>
                <a:lnTo>
                  <a:pt x="3936874" y="2137767"/>
                </a:lnTo>
                <a:lnTo>
                  <a:pt x="3960223" y="2138619"/>
                </a:lnTo>
                <a:lnTo>
                  <a:pt x="3986163" y="2138486"/>
                </a:lnTo>
                <a:lnTo>
                  <a:pt x="4011861" y="2138781"/>
                </a:lnTo>
                <a:lnTo>
                  <a:pt x="4037359" y="2139321"/>
                </a:lnTo>
                <a:lnTo>
                  <a:pt x="4062700" y="2139922"/>
                </a:lnTo>
                <a:lnTo>
                  <a:pt x="4087927" y="2140401"/>
                </a:lnTo>
                <a:lnTo>
                  <a:pt x="4138210" y="2140258"/>
                </a:lnTo>
                <a:lnTo>
                  <a:pt x="4188549" y="2137427"/>
                </a:lnTo>
                <a:lnTo>
                  <a:pt x="4239288" y="2130440"/>
                </a:lnTo>
                <a:lnTo>
                  <a:pt x="4290769" y="2117830"/>
                </a:lnTo>
                <a:lnTo>
                  <a:pt x="4343333" y="2098131"/>
                </a:lnTo>
                <a:lnTo>
                  <a:pt x="4397323" y="2069875"/>
                </a:lnTo>
                <a:lnTo>
                  <a:pt x="4453081" y="2031598"/>
                </a:lnTo>
                <a:lnTo>
                  <a:pt x="4496140" y="1965762"/>
                </a:lnTo>
                <a:lnTo>
                  <a:pt x="4508509" y="1913266"/>
                </a:lnTo>
                <a:lnTo>
                  <a:pt x="4518997" y="1851939"/>
                </a:lnTo>
                <a:lnTo>
                  <a:pt x="4527761" y="1782965"/>
                </a:lnTo>
                <a:lnTo>
                  <a:pt x="4534962" y="1707530"/>
                </a:lnTo>
                <a:lnTo>
                  <a:pt x="4540758" y="1626820"/>
                </a:lnTo>
                <a:lnTo>
                  <a:pt x="4545307" y="1542019"/>
                </a:lnTo>
                <a:lnTo>
                  <a:pt x="4548768" y="1454314"/>
                </a:lnTo>
                <a:lnTo>
                  <a:pt x="4551300" y="1364888"/>
                </a:lnTo>
                <a:lnTo>
                  <a:pt x="4553061" y="1274928"/>
                </a:lnTo>
                <a:lnTo>
                  <a:pt x="4554211" y="1185618"/>
                </a:lnTo>
                <a:lnTo>
                  <a:pt x="4554907" y="1098145"/>
                </a:lnTo>
                <a:lnTo>
                  <a:pt x="4555309" y="1013692"/>
                </a:lnTo>
                <a:lnTo>
                  <a:pt x="4555576" y="933447"/>
                </a:lnTo>
                <a:lnTo>
                  <a:pt x="4555866" y="858593"/>
                </a:lnTo>
                <a:lnTo>
                  <a:pt x="4556337" y="790316"/>
                </a:lnTo>
                <a:lnTo>
                  <a:pt x="4557149" y="729801"/>
                </a:lnTo>
                <a:lnTo>
                  <a:pt x="4558461" y="678234"/>
                </a:lnTo>
                <a:lnTo>
                  <a:pt x="4560430" y="636800"/>
                </a:lnTo>
                <a:lnTo>
                  <a:pt x="4563216" y="606684"/>
                </a:lnTo>
                <a:lnTo>
                  <a:pt x="4562238" y="576488"/>
                </a:lnTo>
                <a:lnTo>
                  <a:pt x="4555002" y="516095"/>
                </a:lnTo>
                <a:lnTo>
                  <a:pt x="4541704" y="455702"/>
                </a:lnTo>
                <a:lnTo>
                  <a:pt x="4523516" y="395309"/>
                </a:lnTo>
                <a:lnTo>
                  <a:pt x="4501613" y="334916"/>
                </a:lnTo>
                <a:lnTo>
                  <a:pt x="4477168" y="274524"/>
                </a:lnTo>
                <a:lnTo>
                  <a:pt x="4451353" y="214131"/>
                </a:lnTo>
                <a:lnTo>
                  <a:pt x="4438300" y="183934"/>
                </a:lnTo>
                <a:lnTo>
                  <a:pt x="4425344" y="153738"/>
                </a:lnTo>
                <a:lnTo>
                  <a:pt x="4400312" y="93345"/>
                </a:lnTo>
                <a:lnTo>
                  <a:pt x="4377431" y="32952"/>
                </a:lnTo>
                <a:lnTo>
                  <a:pt x="4367164" y="2756"/>
                </a:lnTo>
                <a:lnTo>
                  <a:pt x="4404060" y="2048"/>
                </a:lnTo>
                <a:lnTo>
                  <a:pt x="4465875" y="974"/>
                </a:lnTo>
                <a:lnTo>
                  <a:pt x="4514978" y="316"/>
                </a:lnTo>
                <a:lnTo>
                  <a:pt x="4555281" y="24"/>
                </a:lnTo>
                <a:lnTo>
                  <a:pt x="4573355" y="1"/>
                </a:lnTo>
                <a:lnTo>
                  <a:pt x="4590695" y="51"/>
                </a:lnTo>
                <a:lnTo>
                  <a:pt x="4643204" y="580"/>
                </a:lnTo>
                <a:lnTo>
                  <a:pt x="4683507" y="1187"/>
                </a:lnTo>
                <a:lnTo>
                  <a:pt x="4706714" y="1548"/>
                </a:lnTo>
                <a:lnTo>
                  <a:pt x="4732610" y="1940"/>
                </a:lnTo>
                <a:lnTo>
                  <a:pt x="4761684" y="2357"/>
                </a:lnTo>
                <a:lnTo>
                  <a:pt x="4794425" y="2791"/>
                </a:lnTo>
                <a:lnTo>
                  <a:pt x="4831321" y="3238"/>
                </a:lnTo>
                <a:lnTo>
                  <a:pt x="4872863" y="3691"/>
                </a:lnTo>
                <a:lnTo>
                  <a:pt x="4867405" y="20686"/>
                </a:lnTo>
                <a:lnTo>
                  <a:pt x="4851243" y="56697"/>
                </a:lnTo>
                <a:lnTo>
                  <a:pt x="4829609" y="96341"/>
                </a:lnTo>
                <a:lnTo>
                  <a:pt x="4817310" y="117877"/>
                </a:lnTo>
                <a:lnTo>
                  <a:pt x="4804329" y="140743"/>
                </a:lnTo>
                <a:lnTo>
                  <a:pt x="4777230" y="191027"/>
                </a:lnTo>
                <a:lnTo>
                  <a:pt x="4750139" y="248317"/>
                </a:lnTo>
                <a:lnTo>
                  <a:pt x="4724881" y="313739"/>
                </a:lnTo>
                <a:lnTo>
                  <a:pt x="4703285" y="388416"/>
                </a:lnTo>
                <a:lnTo>
                  <a:pt x="4694430" y="429577"/>
                </a:lnTo>
                <a:lnTo>
                  <a:pt x="4687175" y="473473"/>
                </a:lnTo>
                <a:lnTo>
                  <a:pt x="4681749" y="520246"/>
                </a:lnTo>
                <a:lnTo>
                  <a:pt x="4678380" y="570035"/>
                </a:lnTo>
                <a:lnTo>
                  <a:pt x="4677295" y="622982"/>
                </a:lnTo>
                <a:lnTo>
                  <a:pt x="4677656" y="666629"/>
                </a:lnTo>
                <a:lnTo>
                  <a:pt x="4676383" y="719466"/>
                </a:lnTo>
                <a:lnTo>
                  <a:pt x="4673604" y="780452"/>
                </a:lnTo>
                <a:lnTo>
                  <a:pt x="4669452" y="848550"/>
                </a:lnTo>
                <a:lnTo>
                  <a:pt x="4664055" y="922719"/>
                </a:lnTo>
                <a:lnTo>
                  <a:pt x="4657545" y="1001920"/>
                </a:lnTo>
                <a:lnTo>
                  <a:pt x="4650051" y="1085115"/>
                </a:lnTo>
                <a:lnTo>
                  <a:pt x="4641705" y="1171263"/>
                </a:lnTo>
                <a:lnTo>
                  <a:pt x="4632636" y="1259326"/>
                </a:lnTo>
                <a:lnTo>
                  <a:pt x="4622975" y="1348264"/>
                </a:lnTo>
                <a:lnTo>
                  <a:pt x="4612852" y="1437037"/>
                </a:lnTo>
                <a:lnTo>
                  <a:pt x="4602397" y="1524608"/>
                </a:lnTo>
                <a:lnTo>
                  <a:pt x="4591742" y="1609935"/>
                </a:lnTo>
                <a:lnTo>
                  <a:pt x="4581015" y="1691981"/>
                </a:lnTo>
                <a:lnTo>
                  <a:pt x="4570349" y="1769705"/>
                </a:lnTo>
                <a:lnTo>
                  <a:pt x="4559872" y="1842069"/>
                </a:lnTo>
                <a:lnTo>
                  <a:pt x="4549716" y="1908032"/>
                </a:lnTo>
                <a:lnTo>
                  <a:pt x="4540010" y="1966557"/>
                </a:lnTo>
                <a:lnTo>
                  <a:pt x="4530885" y="2016603"/>
                </a:lnTo>
                <a:lnTo>
                  <a:pt x="4522472" y="2057132"/>
                </a:lnTo>
                <a:lnTo>
                  <a:pt x="4482180" y="2082084"/>
                </a:lnTo>
                <a:lnTo>
                  <a:pt x="4447833" y="2103392"/>
                </a:lnTo>
                <a:lnTo>
                  <a:pt x="4394627" y="2136179"/>
                </a:lnTo>
                <a:lnTo>
                  <a:pt x="4358164" y="2157699"/>
                </a:lnTo>
                <a:lnTo>
                  <a:pt x="4316688" y="2175778"/>
                </a:lnTo>
                <a:lnTo>
                  <a:pt x="4302290" y="2176753"/>
                </a:lnTo>
                <a:lnTo>
                  <a:pt x="4294622" y="2176191"/>
                </a:lnTo>
                <a:lnTo>
                  <a:pt x="4285860" y="2175297"/>
                </a:lnTo>
                <a:lnTo>
                  <a:pt x="4275418" y="2174347"/>
                </a:lnTo>
                <a:lnTo>
                  <a:pt x="4262707" y="2173617"/>
                </a:lnTo>
                <a:lnTo>
                  <a:pt x="4247143" y="2173384"/>
                </a:lnTo>
                <a:lnTo>
                  <a:pt x="4228137" y="2173924"/>
                </a:lnTo>
                <a:lnTo>
                  <a:pt x="4205105" y="2175512"/>
                </a:lnTo>
                <a:lnTo>
                  <a:pt x="4177457" y="2178424"/>
                </a:lnTo>
                <a:lnTo>
                  <a:pt x="3455010" y="2163062"/>
                </a:lnTo>
                <a:lnTo>
                  <a:pt x="3143119" y="2174524"/>
                </a:lnTo>
                <a:lnTo>
                  <a:pt x="3164946" y="4510157"/>
                </a:lnTo>
                <a:lnTo>
                  <a:pt x="1830868" y="4505787"/>
                </a:lnTo>
                <a:close/>
              </a:path>
            </a:pathLst>
          </a:custGeom>
          <a:ln w="12700">
            <a:solidFill>
              <a:srgbClr val="4A7EB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96900" y="7163528"/>
            <a:ext cx="871855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10" dirty="0">
                <a:latin typeface="Gill Sans"/>
                <a:cs typeface="Gill Sans"/>
              </a:rPr>
              <a:t>a</a:t>
            </a:r>
            <a:r>
              <a:rPr sz="2000" b="1" spc="-90" dirty="0">
                <a:latin typeface="Gill Sans"/>
                <a:cs typeface="Gill Sans"/>
              </a:rPr>
              <a:t>r</a:t>
            </a:r>
            <a:r>
              <a:rPr sz="2000" b="1" spc="-5" dirty="0">
                <a:latin typeface="Gill Sans"/>
                <a:cs typeface="Gill Sans"/>
              </a:rPr>
              <a:t>e</a:t>
            </a:r>
            <a:r>
              <a:rPr sz="2000" b="1" spc="-15" dirty="0">
                <a:latin typeface="Gill Sans"/>
                <a:cs typeface="Gill Sans"/>
              </a:rPr>
              <a:t>a</a:t>
            </a:r>
            <a:r>
              <a:rPr sz="2000" b="1" dirty="0">
                <a:latin typeface="Gill Sans"/>
                <a:cs typeface="Gill Sans"/>
              </a:rPr>
              <a:t> A</a:t>
            </a:r>
            <a:endParaRPr sz="2000">
              <a:latin typeface="Gill Sans"/>
              <a:cs typeface="Gill San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72000" y="7163528"/>
            <a:ext cx="8509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10" dirty="0">
                <a:latin typeface="Gill Sans"/>
                <a:cs typeface="Gill Sans"/>
              </a:rPr>
              <a:t>a</a:t>
            </a:r>
            <a:r>
              <a:rPr sz="2000" b="1" spc="-90" dirty="0">
                <a:latin typeface="Gill Sans"/>
                <a:cs typeface="Gill Sans"/>
              </a:rPr>
              <a:t>r</a:t>
            </a:r>
            <a:r>
              <a:rPr sz="2000" b="1" spc="-5" dirty="0">
                <a:latin typeface="Gill Sans"/>
                <a:cs typeface="Gill Sans"/>
              </a:rPr>
              <a:t>e</a:t>
            </a:r>
            <a:r>
              <a:rPr sz="2000" b="1" spc="-15" dirty="0">
                <a:latin typeface="Gill Sans"/>
                <a:cs typeface="Gill Sans"/>
              </a:rPr>
              <a:t>a</a:t>
            </a:r>
            <a:r>
              <a:rPr sz="2000" b="1" dirty="0">
                <a:latin typeface="Gill Sans"/>
                <a:cs typeface="Gill Sans"/>
              </a:rPr>
              <a:t> B</a:t>
            </a:r>
            <a:endParaRPr sz="2000">
              <a:latin typeface="Gill Sans"/>
              <a:cs typeface="Gill San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44900" y="1903334"/>
            <a:ext cx="211582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latin typeface="Gill Sans"/>
                <a:cs typeface="Gill Sans"/>
              </a:rPr>
              <a:t>“jump”</a:t>
            </a:r>
            <a:r>
              <a:rPr sz="2400" b="1" spc="-5" dirty="0">
                <a:latin typeface="Gill Sans"/>
                <a:cs typeface="Gill Sans"/>
              </a:rPr>
              <a:t> </a:t>
            </a:r>
            <a:r>
              <a:rPr sz="2400" b="1" dirty="0">
                <a:latin typeface="Gill Sans"/>
                <a:cs typeface="Gill Sans"/>
              </a:rPr>
              <a:t>e</a:t>
            </a:r>
            <a:r>
              <a:rPr sz="2400" b="1" spc="-35" dirty="0">
                <a:latin typeface="Gill Sans"/>
                <a:cs typeface="Gill Sans"/>
              </a:rPr>
              <a:t>v</a:t>
            </a:r>
            <a:r>
              <a:rPr sz="2400" b="1" dirty="0">
                <a:latin typeface="Gill Sans"/>
                <a:cs typeface="Gill Sans"/>
              </a:rPr>
              <a:t>ent</a:t>
            </a:r>
            <a:endParaRPr sz="2400">
              <a:latin typeface="Gill Sans"/>
              <a:cs typeface="Gill San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021658" y="2307158"/>
            <a:ext cx="823614" cy="70271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059758" y="2319858"/>
            <a:ext cx="748030" cy="626745"/>
          </a:xfrm>
          <a:custGeom>
            <a:avLst/>
            <a:gdLst/>
            <a:ahLst/>
            <a:cxnLst/>
            <a:rect l="l" t="t" r="r" b="b"/>
            <a:pathLst>
              <a:path w="748029" h="626744">
                <a:moveTo>
                  <a:pt x="747415" y="244078"/>
                </a:moveTo>
                <a:lnTo>
                  <a:pt x="0" y="244078"/>
                </a:lnTo>
                <a:lnTo>
                  <a:pt x="373707" y="626516"/>
                </a:lnTo>
                <a:lnTo>
                  <a:pt x="747415" y="244078"/>
                </a:lnTo>
                <a:close/>
              </a:path>
              <a:path w="748029" h="626744">
                <a:moveTo>
                  <a:pt x="521627" y="0"/>
                </a:moveTo>
                <a:lnTo>
                  <a:pt x="225788" y="0"/>
                </a:lnTo>
                <a:lnTo>
                  <a:pt x="225788" y="244078"/>
                </a:lnTo>
                <a:lnTo>
                  <a:pt x="521627" y="244078"/>
                </a:lnTo>
                <a:lnTo>
                  <a:pt x="5216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900" y="346075"/>
            <a:ext cx="7023100" cy="6924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500" b="1" dirty="0">
                <a:latin typeface="Calibri"/>
                <a:cs typeface="Calibri"/>
              </a:rPr>
              <a:t>E</a:t>
            </a:r>
            <a:r>
              <a:rPr sz="4500" b="1" spc="-75" dirty="0">
                <a:latin typeface="Calibri"/>
                <a:cs typeface="Calibri"/>
              </a:rPr>
              <a:t>x</a:t>
            </a:r>
            <a:r>
              <a:rPr sz="4500" b="1" dirty="0">
                <a:latin typeface="Calibri"/>
                <a:cs typeface="Calibri"/>
              </a:rPr>
              <a:t>am</a:t>
            </a:r>
            <a:r>
              <a:rPr sz="4500" b="1" spc="-20" dirty="0">
                <a:latin typeface="Calibri"/>
                <a:cs typeface="Calibri"/>
              </a:rPr>
              <a:t>ple</a:t>
            </a:r>
            <a:r>
              <a:rPr sz="4500" b="1" dirty="0">
                <a:latin typeface="Calibri"/>
                <a:cs typeface="Calibri"/>
              </a:rPr>
              <a:t> </a:t>
            </a:r>
            <a:r>
              <a:rPr sz="4500" b="1" spc="-70" dirty="0">
                <a:latin typeface="Calibri"/>
                <a:cs typeface="Calibri"/>
              </a:rPr>
              <a:t>s</a:t>
            </a:r>
            <a:r>
              <a:rPr sz="4500" b="1" spc="-65" dirty="0">
                <a:latin typeface="Calibri"/>
                <a:cs typeface="Calibri"/>
              </a:rPr>
              <a:t>t</a:t>
            </a:r>
            <a:r>
              <a:rPr sz="4500" b="1" dirty="0">
                <a:latin typeface="Calibri"/>
                <a:cs typeface="Calibri"/>
              </a:rPr>
              <a:t>oc</a:t>
            </a:r>
            <a:r>
              <a:rPr sz="4500" b="1" spc="-25" dirty="0">
                <a:latin typeface="Calibri"/>
                <a:cs typeface="Calibri"/>
              </a:rPr>
              <a:t>ha</a:t>
            </a:r>
            <a:r>
              <a:rPr sz="4500" b="1" spc="-75" dirty="0">
                <a:latin typeface="Calibri"/>
                <a:cs typeface="Calibri"/>
              </a:rPr>
              <a:t>s</a:t>
            </a:r>
            <a:r>
              <a:rPr lang="en-US" sz="4500" b="1" spc="340" dirty="0">
                <a:latin typeface="Calibri"/>
                <a:cs typeface="Calibri"/>
              </a:rPr>
              <a:t>ti</a:t>
            </a:r>
            <a:r>
              <a:rPr sz="4500" b="1" dirty="0">
                <a:latin typeface="Calibri"/>
                <a:cs typeface="Calibri"/>
              </a:rPr>
              <a:t>c m</a:t>
            </a:r>
            <a:r>
              <a:rPr sz="4500" b="1" spc="-25" dirty="0">
                <a:latin typeface="Calibri"/>
                <a:cs typeface="Calibri"/>
              </a:rPr>
              <a:t>ap</a:t>
            </a:r>
            <a:endParaRPr sz="45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70000" y="1336675"/>
            <a:ext cx="3465195" cy="571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500" b="1" spc="-45" dirty="0">
                <a:latin typeface="Calibri"/>
                <a:cs typeface="Calibri"/>
              </a:rPr>
              <a:t>M</a:t>
            </a:r>
            <a:r>
              <a:rPr sz="4500" b="1" spc="-20" dirty="0">
                <a:latin typeface="Calibri"/>
                <a:cs typeface="Calibri"/>
              </a:rPr>
              <a:t>L</a:t>
            </a:r>
            <a:r>
              <a:rPr sz="4500" b="1" dirty="0">
                <a:latin typeface="Calibri"/>
                <a:cs typeface="Calibri"/>
              </a:rPr>
              <a:t> D</a:t>
            </a:r>
            <a:r>
              <a:rPr sz="4500" b="1" spc="-95" dirty="0">
                <a:latin typeface="Calibri"/>
                <a:cs typeface="Calibri"/>
              </a:rPr>
              <a:t>E</a:t>
            </a:r>
            <a:r>
              <a:rPr sz="4500" b="1" dirty="0">
                <a:latin typeface="Calibri"/>
                <a:cs typeface="Calibri"/>
              </a:rPr>
              <a:t>C m</a:t>
            </a:r>
            <a:r>
              <a:rPr sz="4500" b="1" spc="-25" dirty="0">
                <a:latin typeface="Calibri"/>
                <a:cs typeface="Calibri"/>
              </a:rPr>
              <a:t>od</a:t>
            </a:r>
            <a:r>
              <a:rPr sz="4500" b="1" dirty="0">
                <a:latin typeface="Calibri"/>
                <a:cs typeface="Calibri"/>
              </a:rPr>
              <a:t>e</a:t>
            </a:r>
            <a:r>
              <a:rPr sz="4500" b="1" spc="-15" dirty="0">
                <a:latin typeface="Calibri"/>
                <a:cs typeface="Calibri"/>
              </a:rPr>
              <a:t>l</a:t>
            </a:r>
            <a:endParaRPr sz="45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99400" y="1323975"/>
            <a:ext cx="3938904" cy="596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500" b="1" spc="-45" dirty="0">
                <a:latin typeface="Calibri"/>
                <a:cs typeface="Calibri"/>
              </a:rPr>
              <a:t>M</a:t>
            </a:r>
            <a:r>
              <a:rPr sz="4500" b="1" spc="-20" dirty="0">
                <a:latin typeface="Calibri"/>
                <a:cs typeface="Calibri"/>
              </a:rPr>
              <a:t>L</a:t>
            </a:r>
            <a:r>
              <a:rPr sz="4500" b="1" dirty="0">
                <a:latin typeface="Calibri"/>
                <a:cs typeface="Calibri"/>
              </a:rPr>
              <a:t> D</a:t>
            </a:r>
            <a:r>
              <a:rPr sz="4500" b="1" spc="-95" dirty="0">
                <a:latin typeface="Calibri"/>
                <a:cs typeface="Calibri"/>
              </a:rPr>
              <a:t>E</a:t>
            </a:r>
            <a:r>
              <a:rPr sz="4500" b="1" dirty="0">
                <a:latin typeface="Calibri"/>
                <a:cs typeface="Calibri"/>
              </a:rPr>
              <a:t>C</a:t>
            </a:r>
            <a:r>
              <a:rPr sz="4500" b="1" spc="-5" dirty="0">
                <a:latin typeface="Calibri"/>
                <a:cs typeface="Calibri"/>
              </a:rPr>
              <a:t>+</a:t>
            </a:r>
            <a:r>
              <a:rPr sz="4500" b="1" dirty="0">
                <a:latin typeface="Calibri"/>
                <a:cs typeface="Calibri"/>
              </a:rPr>
              <a:t>J m</a:t>
            </a:r>
            <a:r>
              <a:rPr sz="4500" b="1" spc="-25" dirty="0">
                <a:latin typeface="Calibri"/>
                <a:cs typeface="Calibri"/>
              </a:rPr>
              <a:t>od</a:t>
            </a:r>
            <a:r>
              <a:rPr sz="4500" b="1" dirty="0">
                <a:latin typeface="Calibri"/>
                <a:cs typeface="Calibri"/>
              </a:rPr>
              <a:t>e</a:t>
            </a:r>
            <a:r>
              <a:rPr sz="4500" b="1" spc="-15" dirty="0">
                <a:latin typeface="Calibri"/>
                <a:cs typeface="Calibri"/>
              </a:rPr>
              <a:t>l</a:t>
            </a:r>
            <a:endParaRPr sz="45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224204" y="7280611"/>
            <a:ext cx="3154984" cy="22824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766300" y="8401050"/>
            <a:ext cx="290576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(under mode</a:t>
            </a:r>
            <a:r>
              <a:rPr sz="1800" b="1" spc="-5" dirty="0">
                <a:latin typeface="Calibri"/>
                <a:cs typeface="Calibri"/>
              </a:rPr>
              <a:t>l </a:t>
            </a:r>
            <a:r>
              <a:rPr sz="1800" b="1" spc="-10" dirty="0">
                <a:latin typeface="Calibri"/>
                <a:cs typeface="Calibri"/>
              </a:rPr>
              <a:t>M0: no </a:t>
            </a:r>
            <a:r>
              <a:rPr sz="1800" b="1" spc="-20" dirty="0">
                <a:latin typeface="Calibri"/>
                <a:cs typeface="Calibri"/>
              </a:rPr>
              <a:t>g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b="1" spc="-10" dirty="0">
                <a:latin typeface="Calibri"/>
                <a:cs typeface="Calibri"/>
              </a:rPr>
              <a:t>olo</a:t>
            </a:r>
            <a:r>
              <a:rPr sz="1800" b="1" dirty="0">
                <a:latin typeface="Calibri"/>
                <a:cs typeface="Calibri"/>
              </a:rPr>
              <a:t>g</a:t>
            </a:r>
            <a:r>
              <a:rPr sz="1800" b="1" spc="-10" dirty="0">
                <a:latin typeface="Calibri"/>
                <a:cs typeface="Calibri"/>
              </a:rPr>
              <a:t>y)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1905000"/>
            <a:ext cx="13004800" cy="65024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550400" y="9296400"/>
            <a:ext cx="3065145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sz="1200" spc="-10" dirty="0">
                <a:latin typeface="Calibri"/>
                <a:cs typeface="Calibri"/>
              </a:rPr>
              <a:t>Bio</a:t>
            </a:r>
            <a:r>
              <a:rPr sz="1200" spc="-20" dirty="0">
                <a:latin typeface="Calibri"/>
                <a:cs typeface="Calibri"/>
              </a:rPr>
              <a:t>g</a:t>
            </a:r>
            <a:r>
              <a:rPr sz="1200" spc="-10" dirty="0">
                <a:latin typeface="Calibri"/>
                <a:cs typeface="Calibri"/>
              </a:rPr>
              <a:t>e</a:t>
            </a:r>
            <a:r>
              <a:rPr sz="1200" dirty="0">
                <a:latin typeface="Calibri"/>
                <a:cs typeface="Calibri"/>
              </a:rPr>
              <a:t>o</a:t>
            </a:r>
            <a:r>
              <a:rPr sz="1200" spc="-10" dirty="0">
                <a:latin typeface="Calibri"/>
                <a:cs typeface="Calibri"/>
              </a:rPr>
              <a:t>g</a:t>
            </a:r>
            <a:r>
              <a:rPr sz="1200" spc="-30" dirty="0">
                <a:latin typeface="Calibri"/>
                <a:cs typeface="Calibri"/>
              </a:rPr>
              <a:t>r</a:t>
            </a:r>
            <a:r>
              <a:rPr sz="1200" dirty="0">
                <a:latin typeface="Calibri"/>
                <a:cs typeface="Calibri"/>
              </a:rPr>
              <a:t>aphi</a:t>
            </a:r>
            <a:r>
              <a:rPr sz="1200" spc="-15" dirty="0">
                <a:latin typeface="Calibri"/>
                <a:cs typeface="Calibri"/>
              </a:rPr>
              <a:t>c</a:t>
            </a:r>
            <a:r>
              <a:rPr sz="1200" dirty="0">
                <a:latin typeface="Calibri"/>
                <a:cs typeface="Calibri"/>
              </a:rPr>
              <a:t>al </a:t>
            </a:r>
            <a:r>
              <a:rPr sz="1200" spc="-15" dirty="0">
                <a:latin typeface="Calibri"/>
                <a:cs typeface="Calibri"/>
              </a:rPr>
              <a:t>s</a:t>
            </a:r>
            <a:r>
              <a:rPr sz="1200" spc="-20" dirty="0">
                <a:latin typeface="Calibri"/>
                <a:cs typeface="Calibri"/>
              </a:rPr>
              <a:t>t</a:t>
            </a:r>
            <a:r>
              <a:rPr sz="1200" dirty="0">
                <a:latin typeface="Calibri"/>
                <a:cs typeface="Calibri"/>
              </a:rPr>
              <a:t>o</a:t>
            </a:r>
            <a:r>
              <a:rPr sz="1200" spc="-5" dirty="0">
                <a:latin typeface="Calibri"/>
                <a:cs typeface="Calibri"/>
              </a:rPr>
              <a:t>c</a:t>
            </a:r>
            <a:r>
              <a:rPr sz="1200" dirty="0">
                <a:latin typeface="Calibri"/>
                <a:cs typeface="Calibri"/>
              </a:rPr>
              <a:t>ha</a:t>
            </a:r>
            <a:r>
              <a:rPr sz="1200" spc="-15" dirty="0">
                <a:latin typeface="Calibri"/>
                <a:cs typeface="Calibri"/>
              </a:rPr>
              <a:t>s</a:t>
            </a:r>
            <a:r>
              <a:rPr sz="1200" spc="25" dirty="0">
                <a:latin typeface="Calibri"/>
                <a:cs typeface="Calibri"/>
              </a:rPr>
              <a:t>C</a:t>
            </a:r>
            <a:r>
              <a:rPr sz="1200" spc="-5" dirty="0">
                <a:latin typeface="Calibri"/>
                <a:cs typeface="Calibri"/>
              </a:rPr>
              <a:t>c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</a:t>
            </a:r>
            <a:r>
              <a:rPr sz="1200" dirty="0">
                <a:latin typeface="Calibri"/>
                <a:cs typeface="Calibri"/>
              </a:rPr>
              <a:t>appin</a:t>
            </a:r>
            <a:r>
              <a:rPr sz="1200" spc="-10" dirty="0">
                <a:latin typeface="Calibri"/>
                <a:cs typeface="Calibri"/>
              </a:rPr>
              <a:t>g</a:t>
            </a:r>
            <a:r>
              <a:rPr sz="1200" dirty="0">
                <a:latin typeface="Calibri"/>
                <a:cs typeface="Calibri"/>
              </a:rPr>
              <a:t> publish</a:t>
            </a:r>
            <a:r>
              <a:rPr sz="1200" spc="-10" dirty="0">
                <a:latin typeface="Calibri"/>
                <a:cs typeface="Calibri"/>
              </a:rPr>
              <a:t>e</a:t>
            </a:r>
            <a:r>
              <a:rPr sz="1200" dirty="0">
                <a:latin typeface="Calibri"/>
                <a:cs typeface="Calibri"/>
              </a:rPr>
              <a:t>d in</a:t>
            </a:r>
            <a:r>
              <a:rPr sz="1200" spc="-5" dirty="0">
                <a:latin typeface="Calibri"/>
                <a:cs typeface="Calibri"/>
              </a:rPr>
              <a:t>: </a:t>
            </a:r>
            <a:r>
              <a:rPr sz="1200" dirty="0">
                <a:latin typeface="Calibri"/>
                <a:cs typeface="Calibri"/>
              </a:rPr>
              <a:t>Dupin</a:t>
            </a:r>
            <a:r>
              <a:rPr sz="1200" spc="-5" dirty="0">
                <a:latin typeface="Calibri"/>
                <a:cs typeface="Calibri"/>
              </a:rPr>
              <a:t>,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15" dirty="0">
                <a:latin typeface="Calibri"/>
                <a:cs typeface="Calibri"/>
              </a:rPr>
              <a:t>M</a:t>
            </a:r>
            <a:r>
              <a:rPr sz="1200" spc="-25" dirty="0">
                <a:latin typeface="Calibri"/>
                <a:cs typeface="Calibri"/>
              </a:rPr>
              <a:t>a</a:t>
            </a:r>
            <a:r>
              <a:rPr sz="1200" spc="-5" dirty="0">
                <a:latin typeface="Calibri"/>
                <a:cs typeface="Calibri"/>
              </a:rPr>
              <a:t>tz</a:t>
            </a:r>
            <a:r>
              <a:rPr sz="1200" spc="-50" dirty="0">
                <a:latin typeface="Calibri"/>
                <a:cs typeface="Calibri"/>
              </a:rPr>
              <a:t>k</a:t>
            </a:r>
            <a:r>
              <a:rPr sz="1200" spc="-10" dirty="0">
                <a:latin typeface="Calibri"/>
                <a:cs typeface="Calibri"/>
              </a:rPr>
              <a:t>e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e</a:t>
            </a:r>
            <a:r>
              <a:rPr sz="1200" spc="-5" dirty="0">
                <a:latin typeface="Calibri"/>
                <a:cs typeface="Calibri"/>
              </a:rPr>
              <a:t>t</a:t>
            </a:r>
            <a:r>
              <a:rPr sz="1200" dirty="0">
                <a:latin typeface="Calibri"/>
                <a:cs typeface="Calibri"/>
              </a:rPr>
              <a:t> al. (</a:t>
            </a:r>
            <a:r>
              <a:rPr sz="1200" spc="-10" dirty="0">
                <a:latin typeface="Calibri"/>
                <a:cs typeface="Calibri"/>
              </a:rPr>
              <a:t>2016</a:t>
            </a:r>
            <a:r>
              <a:rPr sz="1200" dirty="0">
                <a:latin typeface="Calibri"/>
                <a:cs typeface="Calibri"/>
              </a:rPr>
              <a:t>)</a:t>
            </a:r>
            <a:r>
              <a:rPr sz="1200" spc="-5" dirty="0">
                <a:latin typeface="Calibri"/>
                <a:cs typeface="Calibri"/>
              </a:rPr>
              <a:t>,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i="1" spc="-15" dirty="0">
                <a:latin typeface="Calibri"/>
                <a:cs typeface="Calibri"/>
              </a:rPr>
              <a:t>J</a:t>
            </a:r>
            <a:r>
              <a:rPr sz="1200" i="1" dirty="0">
                <a:latin typeface="Calibri"/>
                <a:cs typeface="Calibri"/>
              </a:rPr>
              <a:t>.</a:t>
            </a:r>
            <a:r>
              <a:rPr sz="1200" i="1" spc="-5" dirty="0">
                <a:latin typeface="Calibri"/>
                <a:cs typeface="Calibri"/>
              </a:rPr>
              <a:t> </a:t>
            </a:r>
            <a:r>
              <a:rPr sz="1200" i="1" spc="-10" dirty="0">
                <a:latin typeface="Calibri"/>
                <a:cs typeface="Calibri"/>
              </a:rPr>
              <a:t>B</a:t>
            </a:r>
            <a:r>
              <a:rPr sz="1200" i="1" spc="-5" dirty="0">
                <a:latin typeface="Calibri"/>
                <a:cs typeface="Calibri"/>
              </a:rPr>
              <a:t>io</a:t>
            </a:r>
            <a:r>
              <a:rPr sz="1200" i="1" dirty="0">
                <a:latin typeface="Calibri"/>
                <a:cs typeface="Calibri"/>
              </a:rPr>
              <a:t>g</a:t>
            </a:r>
            <a:r>
              <a:rPr sz="1200" i="1" spc="-15" dirty="0">
                <a:latin typeface="Calibri"/>
                <a:cs typeface="Calibri"/>
              </a:rPr>
              <a:t>e</a:t>
            </a:r>
            <a:r>
              <a:rPr sz="1200" i="1" spc="-5" dirty="0">
                <a:latin typeface="Calibri"/>
                <a:cs typeface="Calibri"/>
              </a:rPr>
              <a:t>o</a:t>
            </a:r>
            <a:r>
              <a:rPr sz="1200" i="1" dirty="0">
                <a:latin typeface="Calibri"/>
                <a:cs typeface="Calibri"/>
              </a:rPr>
              <a:t>g</a:t>
            </a:r>
            <a:r>
              <a:rPr sz="1200" i="1" spc="-5" dirty="0">
                <a:latin typeface="Calibri"/>
                <a:cs typeface="Calibri"/>
              </a:rPr>
              <a:t>r</a:t>
            </a:r>
            <a:r>
              <a:rPr sz="1200" i="1" dirty="0">
                <a:latin typeface="Calibri"/>
                <a:cs typeface="Calibri"/>
              </a:rPr>
              <a:t>ap</a:t>
            </a:r>
            <a:r>
              <a:rPr sz="1200" i="1" spc="-25" dirty="0">
                <a:latin typeface="Calibri"/>
                <a:cs typeface="Calibri"/>
              </a:rPr>
              <a:t>h</a:t>
            </a:r>
            <a:r>
              <a:rPr sz="1200" i="1" dirty="0">
                <a:latin typeface="Calibri"/>
                <a:cs typeface="Calibri"/>
              </a:rPr>
              <a:t>y</a:t>
            </a:r>
            <a:r>
              <a:rPr sz="1200" dirty="0"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900" y="346075"/>
            <a:ext cx="8089900" cy="6924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500" b="1" dirty="0">
                <a:latin typeface="Calibri"/>
                <a:cs typeface="Calibri"/>
              </a:rPr>
              <a:t>E</a:t>
            </a:r>
            <a:r>
              <a:rPr sz="4500" b="1" spc="-75" dirty="0">
                <a:latin typeface="Calibri"/>
                <a:cs typeface="Calibri"/>
              </a:rPr>
              <a:t>x</a:t>
            </a:r>
            <a:r>
              <a:rPr sz="4500" b="1" dirty="0">
                <a:latin typeface="Calibri"/>
                <a:cs typeface="Calibri"/>
              </a:rPr>
              <a:t>am</a:t>
            </a:r>
            <a:r>
              <a:rPr sz="4500" b="1" spc="-20" dirty="0">
                <a:latin typeface="Calibri"/>
                <a:cs typeface="Calibri"/>
              </a:rPr>
              <a:t>ple</a:t>
            </a:r>
            <a:r>
              <a:rPr sz="4500" b="1" dirty="0">
                <a:latin typeface="Calibri"/>
                <a:cs typeface="Calibri"/>
              </a:rPr>
              <a:t> </a:t>
            </a:r>
            <a:r>
              <a:rPr sz="4500" b="1" spc="-70" dirty="0">
                <a:latin typeface="Calibri"/>
                <a:cs typeface="Calibri"/>
              </a:rPr>
              <a:t>s</a:t>
            </a:r>
            <a:r>
              <a:rPr sz="4500" b="1" spc="-65" dirty="0">
                <a:latin typeface="Calibri"/>
                <a:cs typeface="Calibri"/>
              </a:rPr>
              <a:t>t</a:t>
            </a:r>
            <a:r>
              <a:rPr sz="4500" b="1" dirty="0">
                <a:latin typeface="Calibri"/>
                <a:cs typeface="Calibri"/>
              </a:rPr>
              <a:t>oc</a:t>
            </a:r>
            <a:r>
              <a:rPr sz="4500" b="1" spc="-25" dirty="0">
                <a:latin typeface="Calibri"/>
                <a:cs typeface="Calibri"/>
              </a:rPr>
              <a:t>ha</a:t>
            </a:r>
            <a:r>
              <a:rPr sz="4500" b="1" spc="-75" dirty="0">
                <a:latin typeface="Calibri"/>
                <a:cs typeface="Calibri"/>
              </a:rPr>
              <a:t>s</a:t>
            </a:r>
            <a:r>
              <a:rPr lang="en-US" sz="4500" b="1" spc="340" dirty="0">
                <a:latin typeface="Calibri"/>
                <a:cs typeface="Calibri"/>
              </a:rPr>
              <a:t>ti</a:t>
            </a:r>
            <a:r>
              <a:rPr sz="4500" b="1" dirty="0">
                <a:latin typeface="Calibri"/>
                <a:cs typeface="Calibri"/>
              </a:rPr>
              <a:t>c m</a:t>
            </a:r>
            <a:r>
              <a:rPr sz="4500" b="1" spc="-25" dirty="0">
                <a:latin typeface="Calibri"/>
                <a:cs typeface="Calibri"/>
              </a:rPr>
              <a:t>ap</a:t>
            </a:r>
            <a:endParaRPr sz="45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70000" y="1336675"/>
            <a:ext cx="3465195" cy="571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500" b="1" spc="-45" dirty="0">
                <a:latin typeface="Calibri"/>
                <a:cs typeface="Calibri"/>
              </a:rPr>
              <a:t>M</a:t>
            </a:r>
            <a:r>
              <a:rPr sz="4500" b="1" spc="-20" dirty="0">
                <a:latin typeface="Calibri"/>
                <a:cs typeface="Calibri"/>
              </a:rPr>
              <a:t>L</a:t>
            </a:r>
            <a:r>
              <a:rPr sz="4500" b="1" dirty="0">
                <a:latin typeface="Calibri"/>
                <a:cs typeface="Calibri"/>
              </a:rPr>
              <a:t> D</a:t>
            </a:r>
            <a:r>
              <a:rPr sz="4500" b="1" spc="-95" dirty="0">
                <a:latin typeface="Calibri"/>
                <a:cs typeface="Calibri"/>
              </a:rPr>
              <a:t>E</a:t>
            </a:r>
            <a:r>
              <a:rPr sz="4500" b="1" dirty="0">
                <a:latin typeface="Calibri"/>
                <a:cs typeface="Calibri"/>
              </a:rPr>
              <a:t>C m</a:t>
            </a:r>
            <a:r>
              <a:rPr sz="4500" b="1" spc="-25" dirty="0">
                <a:latin typeface="Calibri"/>
                <a:cs typeface="Calibri"/>
              </a:rPr>
              <a:t>od</a:t>
            </a:r>
            <a:r>
              <a:rPr sz="4500" b="1" dirty="0">
                <a:latin typeface="Calibri"/>
                <a:cs typeface="Calibri"/>
              </a:rPr>
              <a:t>e</a:t>
            </a:r>
            <a:r>
              <a:rPr sz="4500" b="1" spc="-15" dirty="0">
                <a:latin typeface="Calibri"/>
                <a:cs typeface="Calibri"/>
              </a:rPr>
              <a:t>l</a:t>
            </a:r>
            <a:endParaRPr sz="45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99400" y="1323975"/>
            <a:ext cx="3938904" cy="596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500" b="1" spc="-45" dirty="0">
                <a:latin typeface="Calibri"/>
                <a:cs typeface="Calibri"/>
              </a:rPr>
              <a:t>M</a:t>
            </a:r>
            <a:r>
              <a:rPr sz="4500" b="1" spc="-20" dirty="0">
                <a:latin typeface="Calibri"/>
                <a:cs typeface="Calibri"/>
              </a:rPr>
              <a:t>L</a:t>
            </a:r>
            <a:r>
              <a:rPr sz="4500" b="1" dirty="0">
                <a:latin typeface="Calibri"/>
                <a:cs typeface="Calibri"/>
              </a:rPr>
              <a:t> D</a:t>
            </a:r>
            <a:r>
              <a:rPr sz="4500" b="1" spc="-95" dirty="0">
                <a:latin typeface="Calibri"/>
                <a:cs typeface="Calibri"/>
              </a:rPr>
              <a:t>E</a:t>
            </a:r>
            <a:r>
              <a:rPr sz="4500" b="1" dirty="0">
                <a:latin typeface="Calibri"/>
                <a:cs typeface="Calibri"/>
              </a:rPr>
              <a:t>C</a:t>
            </a:r>
            <a:r>
              <a:rPr sz="4500" b="1" spc="-5" dirty="0">
                <a:latin typeface="Calibri"/>
                <a:cs typeface="Calibri"/>
              </a:rPr>
              <a:t>+</a:t>
            </a:r>
            <a:r>
              <a:rPr sz="4500" b="1" dirty="0">
                <a:latin typeface="Calibri"/>
                <a:cs typeface="Calibri"/>
              </a:rPr>
              <a:t>J m</a:t>
            </a:r>
            <a:r>
              <a:rPr sz="4500" b="1" spc="-25" dirty="0">
                <a:latin typeface="Calibri"/>
                <a:cs typeface="Calibri"/>
              </a:rPr>
              <a:t>od</a:t>
            </a:r>
            <a:r>
              <a:rPr sz="4500" b="1" dirty="0">
                <a:latin typeface="Calibri"/>
                <a:cs typeface="Calibri"/>
              </a:rPr>
              <a:t>e</a:t>
            </a:r>
            <a:r>
              <a:rPr sz="4500" b="1" spc="-15" dirty="0">
                <a:latin typeface="Calibri"/>
                <a:cs typeface="Calibri"/>
              </a:rPr>
              <a:t>l</a:t>
            </a:r>
            <a:endParaRPr sz="45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766300" y="8401050"/>
            <a:ext cx="290576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(under mode</a:t>
            </a:r>
            <a:r>
              <a:rPr sz="1800" b="1" spc="-5" dirty="0">
                <a:latin typeface="Calibri"/>
                <a:cs typeface="Calibri"/>
              </a:rPr>
              <a:t>l </a:t>
            </a:r>
            <a:r>
              <a:rPr sz="1800" b="1" spc="-10" dirty="0">
                <a:latin typeface="Calibri"/>
                <a:cs typeface="Calibri"/>
              </a:rPr>
              <a:t>M0: no </a:t>
            </a:r>
            <a:r>
              <a:rPr sz="1800" b="1" spc="-20" dirty="0">
                <a:latin typeface="Calibri"/>
                <a:cs typeface="Calibri"/>
              </a:rPr>
              <a:t>g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b="1" spc="-10" dirty="0">
                <a:latin typeface="Calibri"/>
                <a:cs typeface="Calibri"/>
              </a:rPr>
              <a:t>olo</a:t>
            </a:r>
            <a:r>
              <a:rPr sz="1800" b="1" dirty="0">
                <a:latin typeface="Calibri"/>
                <a:cs typeface="Calibri"/>
              </a:rPr>
              <a:t>g</a:t>
            </a:r>
            <a:r>
              <a:rPr sz="1800" b="1" spc="-10" dirty="0">
                <a:latin typeface="Calibri"/>
                <a:cs typeface="Calibri"/>
              </a:rPr>
              <a:t>y)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50400" y="9296400"/>
            <a:ext cx="3065145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4200"/>
              </a:lnSpc>
            </a:pPr>
            <a:r>
              <a:rPr sz="1200" spc="-10" dirty="0">
                <a:latin typeface="Calibri"/>
                <a:cs typeface="Calibri"/>
              </a:rPr>
              <a:t>Bio</a:t>
            </a:r>
            <a:r>
              <a:rPr sz="1200" spc="-20" dirty="0">
                <a:latin typeface="Calibri"/>
                <a:cs typeface="Calibri"/>
              </a:rPr>
              <a:t>g</a:t>
            </a:r>
            <a:r>
              <a:rPr sz="1200" spc="-10" dirty="0">
                <a:latin typeface="Calibri"/>
                <a:cs typeface="Calibri"/>
              </a:rPr>
              <a:t>e</a:t>
            </a:r>
            <a:r>
              <a:rPr sz="1200" dirty="0">
                <a:latin typeface="Calibri"/>
                <a:cs typeface="Calibri"/>
              </a:rPr>
              <a:t>o</a:t>
            </a:r>
            <a:r>
              <a:rPr sz="1200" spc="-10" dirty="0">
                <a:latin typeface="Calibri"/>
                <a:cs typeface="Calibri"/>
              </a:rPr>
              <a:t>g</a:t>
            </a:r>
            <a:r>
              <a:rPr sz="1200" spc="-30" dirty="0">
                <a:latin typeface="Calibri"/>
                <a:cs typeface="Calibri"/>
              </a:rPr>
              <a:t>r</a:t>
            </a:r>
            <a:r>
              <a:rPr sz="1200" dirty="0">
                <a:latin typeface="Calibri"/>
                <a:cs typeface="Calibri"/>
              </a:rPr>
              <a:t>aphi</a:t>
            </a:r>
            <a:r>
              <a:rPr sz="1200" spc="-15" dirty="0">
                <a:latin typeface="Calibri"/>
                <a:cs typeface="Calibri"/>
              </a:rPr>
              <a:t>c</a:t>
            </a:r>
            <a:r>
              <a:rPr sz="1200" dirty="0">
                <a:latin typeface="Calibri"/>
                <a:cs typeface="Calibri"/>
              </a:rPr>
              <a:t>al </a:t>
            </a:r>
            <a:r>
              <a:rPr sz="1200" spc="-15" dirty="0">
                <a:latin typeface="Calibri"/>
                <a:cs typeface="Calibri"/>
              </a:rPr>
              <a:t>s</a:t>
            </a:r>
            <a:r>
              <a:rPr sz="1200" spc="-20" dirty="0">
                <a:latin typeface="Calibri"/>
                <a:cs typeface="Calibri"/>
              </a:rPr>
              <a:t>t</a:t>
            </a:r>
            <a:r>
              <a:rPr sz="1200" dirty="0">
                <a:latin typeface="Calibri"/>
                <a:cs typeface="Calibri"/>
              </a:rPr>
              <a:t>o</a:t>
            </a:r>
            <a:r>
              <a:rPr sz="1200" spc="-5" dirty="0">
                <a:latin typeface="Calibri"/>
                <a:cs typeface="Calibri"/>
              </a:rPr>
              <a:t>c</a:t>
            </a:r>
            <a:r>
              <a:rPr sz="1200" dirty="0">
                <a:latin typeface="Calibri"/>
                <a:cs typeface="Calibri"/>
              </a:rPr>
              <a:t>ha</a:t>
            </a:r>
            <a:r>
              <a:rPr sz="1200" spc="-15" dirty="0">
                <a:latin typeface="Calibri"/>
                <a:cs typeface="Calibri"/>
              </a:rPr>
              <a:t>s</a:t>
            </a:r>
            <a:r>
              <a:rPr sz="1200" spc="25" dirty="0">
                <a:latin typeface="Calibri"/>
                <a:cs typeface="Calibri"/>
              </a:rPr>
              <a:t>C</a:t>
            </a:r>
            <a:r>
              <a:rPr sz="1200" spc="-5" dirty="0">
                <a:latin typeface="Calibri"/>
                <a:cs typeface="Calibri"/>
              </a:rPr>
              <a:t>c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</a:t>
            </a:r>
            <a:r>
              <a:rPr sz="1200" dirty="0">
                <a:latin typeface="Calibri"/>
                <a:cs typeface="Calibri"/>
              </a:rPr>
              <a:t>appin</a:t>
            </a:r>
            <a:r>
              <a:rPr sz="1200" spc="-10" dirty="0">
                <a:latin typeface="Calibri"/>
                <a:cs typeface="Calibri"/>
              </a:rPr>
              <a:t>g</a:t>
            </a:r>
            <a:r>
              <a:rPr sz="1200" dirty="0">
                <a:latin typeface="Calibri"/>
                <a:cs typeface="Calibri"/>
              </a:rPr>
              <a:t> publish</a:t>
            </a:r>
            <a:r>
              <a:rPr sz="1200" spc="-10" dirty="0">
                <a:latin typeface="Calibri"/>
                <a:cs typeface="Calibri"/>
              </a:rPr>
              <a:t>e</a:t>
            </a:r>
            <a:r>
              <a:rPr sz="1200" dirty="0">
                <a:latin typeface="Calibri"/>
                <a:cs typeface="Calibri"/>
              </a:rPr>
              <a:t>d in</a:t>
            </a:r>
            <a:r>
              <a:rPr sz="1200" spc="-5" dirty="0">
                <a:latin typeface="Calibri"/>
                <a:cs typeface="Calibri"/>
              </a:rPr>
              <a:t>: </a:t>
            </a:r>
            <a:r>
              <a:rPr sz="1200" dirty="0">
                <a:latin typeface="Calibri"/>
                <a:cs typeface="Calibri"/>
              </a:rPr>
              <a:t>Dupin</a:t>
            </a:r>
            <a:r>
              <a:rPr sz="1200" spc="-5" dirty="0">
                <a:latin typeface="Calibri"/>
                <a:cs typeface="Calibri"/>
              </a:rPr>
              <a:t>,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15" dirty="0">
                <a:latin typeface="Calibri"/>
                <a:cs typeface="Calibri"/>
              </a:rPr>
              <a:t>M</a:t>
            </a:r>
            <a:r>
              <a:rPr sz="1200" spc="-25" dirty="0">
                <a:latin typeface="Calibri"/>
                <a:cs typeface="Calibri"/>
              </a:rPr>
              <a:t>a</a:t>
            </a:r>
            <a:r>
              <a:rPr sz="1200" spc="-5" dirty="0">
                <a:latin typeface="Calibri"/>
                <a:cs typeface="Calibri"/>
              </a:rPr>
              <a:t>tz</a:t>
            </a:r>
            <a:r>
              <a:rPr sz="1200" spc="-50" dirty="0">
                <a:latin typeface="Calibri"/>
                <a:cs typeface="Calibri"/>
              </a:rPr>
              <a:t>k</a:t>
            </a:r>
            <a:r>
              <a:rPr sz="1200" spc="-10" dirty="0">
                <a:latin typeface="Calibri"/>
                <a:cs typeface="Calibri"/>
              </a:rPr>
              <a:t>e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e</a:t>
            </a:r>
            <a:r>
              <a:rPr sz="1200" spc="-5" dirty="0">
                <a:latin typeface="Calibri"/>
                <a:cs typeface="Calibri"/>
              </a:rPr>
              <a:t>t</a:t>
            </a:r>
            <a:r>
              <a:rPr sz="1200" dirty="0">
                <a:latin typeface="Calibri"/>
                <a:cs typeface="Calibri"/>
              </a:rPr>
              <a:t> al. (</a:t>
            </a:r>
            <a:r>
              <a:rPr sz="1200" spc="-10" dirty="0">
                <a:latin typeface="Calibri"/>
                <a:cs typeface="Calibri"/>
              </a:rPr>
              <a:t>2016</a:t>
            </a:r>
            <a:r>
              <a:rPr sz="1200" dirty="0">
                <a:latin typeface="Calibri"/>
                <a:cs typeface="Calibri"/>
              </a:rPr>
              <a:t>)</a:t>
            </a:r>
            <a:r>
              <a:rPr sz="1200" spc="-5" dirty="0">
                <a:latin typeface="Calibri"/>
                <a:cs typeface="Calibri"/>
              </a:rPr>
              <a:t>,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i="1" spc="-15" dirty="0">
                <a:latin typeface="Calibri"/>
                <a:cs typeface="Calibri"/>
              </a:rPr>
              <a:t>J</a:t>
            </a:r>
            <a:r>
              <a:rPr sz="1200" i="1" dirty="0">
                <a:latin typeface="Calibri"/>
                <a:cs typeface="Calibri"/>
              </a:rPr>
              <a:t>.</a:t>
            </a:r>
            <a:r>
              <a:rPr sz="1200" i="1" spc="-5" dirty="0">
                <a:latin typeface="Calibri"/>
                <a:cs typeface="Calibri"/>
              </a:rPr>
              <a:t> </a:t>
            </a:r>
            <a:r>
              <a:rPr sz="1200" i="1" spc="-10" dirty="0">
                <a:latin typeface="Calibri"/>
                <a:cs typeface="Calibri"/>
              </a:rPr>
              <a:t>B</a:t>
            </a:r>
            <a:r>
              <a:rPr sz="1200" i="1" spc="-5" dirty="0">
                <a:latin typeface="Calibri"/>
                <a:cs typeface="Calibri"/>
              </a:rPr>
              <a:t>io</a:t>
            </a:r>
            <a:r>
              <a:rPr sz="1200" i="1" dirty="0">
                <a:latin typeface="Calibri"/>
                <a:cs typeface="Calibri"/>
              </a:rPr>
              <a:t>g</a:t>
            </a:r>
            <a:r>
              <a:rPr sz="1200" i="1" spc="-15" dirty="0">
                <a:latin typeface="Calibri"/>
                <a:cs typeface="Calibri"/>
              </a:rPr>
              <a:t>e</a:t>
            </a:r>
            <a:r>
              <a:rPr sz="1200" i="1" spc="-5" dirty="0">
                <a:latin typeface="Calibri"/>
                <a:cs typeface="Calibri"/>
              </a:rPr>
              <a:t>o</a:t>
            </a:r>
            <a:r>
              <a:rPr sz="1200" i="1" dirty="0">
                <a:latin typeface="Calibri"/>
                <a:cs typeface="Calibri"/>
              </a:rPr>
              <a:t>g</a:t>
            </a:r>
            <a:r>
              <a:rPr sz="1200" i="1" spc="-5" dirty="0">
                <a:latin typeface="Calibri"/>
                <a:cs typeface="Calibri"/>
              </a:rPr>
              <a:t>r</a:t>
            </a:r>
            <a:r>
              <a:rPr sz="1200" i="1" dirty="0">
                <a:latin typeface="Calibri"/>
                <a:cs typeface="Calibri"/>
              </a:rPr>
              <a:t>ap</a:t>
            </a:r>
            <a:r>
              <a:rPr sz="1200" i="1" spc="-25" dirty="0">
                <a:latin typeface="Calibri"/>
                <a:cs typeface="Calibri"/>
              </a:rPr>
              <a:t>h</a:t>
            </a:r>
            <a:r>
              <a:rPr sz="1200" i="1" dirty="0">
                <a:latin typeface="Calibri"/>
                <a:cs typeface="Calibri"/>
              </a:rPr>
              <a:t>y</a:t>
            </a:r>
            <a:r>
              <a:rPr sz="1200" dirty="0"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9" name="Picture 8" descr="stochastic_maps_DEC_vs_DECj_M0_v1_WORKED_ARCHIVE_100dpi.gi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05000"/>
            <a:ext cx="13004800" cy="65024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224204" y="7280611"/>
            <a:ext cx="3154984" cy="228240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1000" y="707868"/>
            <a:ext cx="10318750" cy="635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800" b="1" spc="-45" dirty="0">
                <a:latin typeface="Gill Sans"/>
                <a:cs typeface="Gill Sans"/>
              </a:rPr>
              <a:t>Hi</a:t>
            </a:r>
            <a:r>
              <a:rPr sz="4800" b="1" spc="-25" dirty="0">
                <a:latin typeface="Gill Sans"/>
                <a:cs typeface="Gill Sans"/>
              </a:rPr>
              <a:t>s</a:t>
            </a:r>
            <a:r>
              <a:rPr sz="4800" b="1" spc="-5" dirty="0">
                <a:latin typeface="Gill Sans"/>
                <a:cs typeface="Gill Sans"/>
              </a:rPr>
              <a:t>to</a:t>
            </a:r>
            <a:r>
              <a:rPr sz="4800" b="1" spc="-210" dirty="0">
                <a:latin typeface="Gill Sans"/>
                <a:cs typeface="Gill Sans"/>
              </a:rPr>
              <a:t>r</a:t>
            </a:r>
            <a:r>
              <a:rPr sz="4800" b="1" dirty="0">
                <a:latin typeface="Gill Sans"/>
                <a:cs typeface="Gill Sans"/>
              </a:rPr>
              <a:t>i</a:t>
            </a:r>
            <a:r>
              <a:rPr sz="4800" b="1" spc="-5" dirty="0">
                <a:latin typeface="Gill Sans"/>
                <a:cs typeface="Gill Sans"/>
              </a:rPr>
              <a:t>c</a:t>
            </a:r>
            <a:r>
              <a:rPr sz="4800" b="1" spc="-30" dirty="0">
                <a:latin typeface="Gill Sans"/>
                <a:cs typeface="Gill Sans"/>
              </a:rPr>
              <a:t>a</a:t>
            </a:r>
            <a:r>
              <a:rPr sz="4800" b="1" dirty="0">
                <a:latin typeface="Gill Sans"/>
                <a:cs typeface="Gill Sans"/>
              </a:rPr>
              <a:t>l</a:t>
            </a:r>
            <a:r>
              <a:rPr sz="4800" b="1" spc="-5" dirty="0">
                <a:latin typeface="Gill Sans"/>
                <a:cs typeface="Gill Sans"/>
              </a:rPr>
              <a:t> </a:t>
            </a:r>
            <a:r>
              <a:rPr sz="4800" b="1" dirty="0">
                <a:latin typeface="Gill Sans"/>
                <a:cs typeface="Gill Sans"/>
              </a:rPr>
              <a:t>bi</a:t>
            </a:r>
            <a:r>
              <a:rPr sz="4800" b="1" spc="-5" dirty="0">
                <a:latin typeface="Gill Sans"/>
                <a:cs typeface="Gill Sans"/>
              </a:rPr>
              <a:t>o</a:t>
            </a:r>
            <a:r>
              <a:rPr sz="4800" b="1" dirty="0">
                <a:latin typeface="Gill Sans"/>
                <a:cs typeface="Gill Sans"/>
              </a:rPr>
              <a:t>ge</a:t>
            </a:r>
            <a:r>
              <a:rPr sz="4800" b="1" spc="-5" dirty="0">
                <a:latin typeface="Gill Sans"/>
                <a:cs typeface="Gill Sans"/>
              </a:rPr>
              <a:t>o</a:t>
            </a:r>
            <a:r>
              <a:rPr sz="4800" b="1" spc="175" dirty="0">
                <a:latin typeface="Gill Sans"/>
                <a:cs typeface="Gill Sans"/>
              </a:rPr>
              <a:t>g</a:t>
            </a:r>
            <a:r>
              <a:rPr sz="4800" b="1" spc="-70" dirty="0">
                <a:latin typeface="Gill Sans"/>
                <a:cs typeface="Gill Sans"/>
              </a:rPr>
              <a:t>r</a:t>
            </a:r>
            <a:r>
              <a:rPr sz="4800" b="1" spc="30" dirty="0">
                <a:latin typeface="Gill Sans"/>
                <a:cs typeface="Gill Sans"/>
              </a:rPr>
              <a:t>a</a:t>
            </a:r>
            <a:r>
              <a:rPr sz="4800" b="1" dirty="0">
                <a:latin typeface="Gill Sans"/>
                <a:cs typeface="Gill Sans"/>
              </a:rPr>
              <a:t>p</a:t>
            </a:r>
            <a:r>
              <a:rPr sz="4800" b="1" spc="-5" dirty="0">
                <a:latin typeface="Gill Sans"/>
                <a:cs typeface="Gill Sans"/>
              </a:rPr>
              <a:t>h</a:t>
            </a:r>
            <a:r>
              <a:rPr sz="4800" b="1" dirty="0">
                <a:latin typeface="Gill Sans"/>
                <a:cs typeface="Gill Sans"/>
              </a:rPr>
              <a:t>y</a:t>
            </a:r>
            <a:r>
              <a:rPr sz="4800" b="1" spc="-5" dirty="0">
                <a:latin typeface="Gill Sans"/>
                <a:cs typeface="Gill Sans"/>
              </a:rPr>
              <a:t> m</a:t>
            </a:r>
            <a:r>
              <a:rPr sz="4800" b="1" dirty="0">
                <a:latin typeface="Gill Sans"/>
                <a:cs typeface="Gill Sans"/>
              </a:rPr>
              <a:t>e</a:t>
            </a:r>
            <a:r>
              <a:rPr sz="4800" b="1" spc="-5" dirty="0">
                <a:latin typeface="Gill Sans"/>
                <a:cs typeface="Gill Sans"/>
              </a:rPr>
              <a:t>tho</a:t>
            </a:r>
            <a:r>
              <a:rPr sz="4800" b="1" dirty="0">
                <a:latin typeface="Gill Sans"/>
                <a:cs typeface="Gill Sans"/>
              </a:rPr>
              <a:t>d</a:t>
            </a:r>
            <a:r>
              <a:rPr sz="4800" b="1" spc="-25" dirty="0">
                <a:latin typeface="Gill Sans"/>
                <a:cs typeface="Gill Sans"/>
              </a:rPr>
              <a:t>s</a:t>
            </a:r>
            <a:endParaRPr sz="4800">
              <a:latin typeface="Gill Sans"/>
              <a:cs typeface="Gill San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1000" y="2103534"/>
            <a:ext cx="9593580" cy="34309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9435" indent="-546735">
              <a:lnSpc>
                <a:spcPct val="100000"/>
              </a:lnSpc>
              <a:buFont typeface="Gill Sans"/>
              <a:buAutoNum type="arabicPeriod"/>
              <a:tabLst>
                <a:tab pos="560070" algn="l"/>
              </a:tabLst>
            </a:pPr>
            <a:r>
              <a:rPr sz="4800" spc="-25" dirty="0">
                <a:latin typeface="Gill Sans"/>
                <a:cs typeface="Gill Sans"/>
              </a:rPr>
              <a:t>Es</a:t>
            </a:r>
            <a:r>
              <a:rPr sz="4800" dirty="0">
                <a:latin typeface="Gill Sans"/>
                <a:cs typeface="Gill Sans"/>
              </a:rPr>
              <a:t>t</a:t>
            </a:r>
            <a:r>
              <a:rPr sz="4800" spc="-5" dirty="0">
                <a:latin typeface="Gill Sans"/>
                <a:cs typeface="Gill Sans"/>
              </a:rPr>
              <a:t>i</a:t>
            </a:r>
            <a:r>
              <a:rPr sz="4800" spc="-30" dirty="0">
                <a:latin typeface="Gill Sans"/>
                <a:cs typeface="Gill Sans"/>
              </a:rPr>
              <a:t>ma</a:t>
            </a:r>
            <a:r>
              <a:rPr sz="4800" dirty="0">
                <a:latin typeface="Gill Sans"/>
                <a:cs typeface="Gill Sans"/>
              </a:rPr>
              <a:t>te</a:t>
            </a:r>
            <a:r>
              <a:rPr sz="4800" spc="-5" dirty="0">
                <a:latin typeface="Gill Sans"/>
                <a:cs typeface="Gill Sans"/>
              </a:rPr>
              <a:t> </a:t>
            </a:r>
            <a:r>
              <a:rPr sz="4800" spc="-25" dirty="0">
                <a:latin typeface="Gill Sans"/>
                <a:cs typeface="Gill Sans"/>
              </a:rPr>
              <a:t>a</a:t>
            </a:r>
            <a:r>
              <a:rPr sz="4800" spc="-5" dirty="0">
                <a:latin typeface="Gill Sans"/>
                <a:cs typeface="Gill Sans"/>
              </a:rPr>
              <a:t> </a:t>
            </a:r>
            <a:r>
              <a:rPr sz="4800" u="heavy" spc="-25" dirty="0">
                <a:latin typeface="Gill Sans"/>
                <a:cs typeface="Gill Sans"/>
              </a:rPr>
              <a:t>dated</a:t>
            </a:r>
            <a:r>
              <a:rPr sz="4800" spc="-5" dirty="0">
                <a:latin typeface="Gill Sans"/>
                <a:cs typeface="Gill Sans"/>
              </a:rPr>
              <a:t> </a:t>
            </a:r>
            <a:r>
              <a:rPr sz="4800" dirty="0">
                <a:latin typeface="Gill Sans"/>
                <a:cs typeface="Gill Sans"/>
              </a:rPr>
              <a:t>p</a:t>
            </a:r>
            <a:r>
              <a:rPr sz="4800" spc="-170" dirty="0">
                <a:latin typeface="Gill Sans"/>
                <a:cs typeface="Gill Sans"/>
              </a:rPr>
              <a:t>h</a:t>
            </a:r>
            <a:r>
              <a:rPr sz="4800" dirty="0">
                <a:latin typeface="Gill Sans"/>
                <a:cs typeface="Gill Sans"/>
              </a:rPr>
              <a:t>y</a:t>
            </a:r>
            <a:r>
              <a:rPr sz="4800" spc="-5" dirty="0">
                <a:latin typeface="Gill Sans"/>
                <a:cs typeface="Gill Sans"/>
              </a:rPr>
              <a:t>l</a:t>
            </a:r>
            <a:r>
              <a:rPr sz="4800" spc="-25" dirty="0">
                <a:latin typeface="Gill Sans"/>
                <a:cs typeface="Gill Sans"/>
              </a:rPr>
              <a:t>og</a:t>
            </a:r>
            <a:r>
              <a:rPr sz="4800" dirty="0">
                <a:latin typeface="Gill Sans"/>
                <a:cs typeface="Gill Sans"/>
              </a:rPr>
              <a:t>e</a:t>
            </a:r>
            <a:r>
              <a:rPr sz="4800" spc="-100" dirty="0">
                <a:latin typeface="Gill Sans"/>
                <a:cs typeface="Gill Sans"/>
              </a:rPr>
              <a:t>n</a:t>
            </a:r>
            <a:r>
              <a:rPr sz="4800" spc="-25" dirty="0">
                <a:latin typeface="Gill Sans"/>
                <a:cs typeface="Gill Sans"/>
              </a:rPr>
              <a:t>y</a:t>
            </a:r>
            <a:endParaRPr sz="4800" dirty="0">
              <a:latin typeface="Gill Sans"/>
              <a:cs typeface="Gill Sans"/>
            </a:endParaRPr>
          </a:p>
          <a:p>
            <a:pPr>
              <a:lnSpc>
                <a:spcPct val="100000"/>
              </a:lnSpc>
              <a:spcBef>
                <a:spcPts val="7"/>
              </a:spcBef>
              <a:buFont typeface="Gill Sans"/>
              <a:buAutoNum type="arabicPeriod"/>
            </a:pPr>
            <a:endParaRPr sz="4550" dirty="0">
              <a:latin typeface="Times New Roman"/>
              <a:cs typeface="Times New Roman"/>
            </a:endParaRPr>
          </a:p>
          <a:p>
            <a:pPr marL="559435" indent="-546735">
              <a:lnSpc>
                <a:spcPct val="100000"/>
              </a:lnSpc>
              <a:buFont typeface="Gill Sans"/>
              <a:buAutoNum type="arabicPeriod"/>
              <a:tabLst>
                <a:tab pos="560070" algn="l"/>
              </a:tabLst>
            </a:pPr>
            <a:r>
              <a:rPr sz="4800" spc="-25" dirty="0">
                <a:latin typeface="Gill Sans"/>
                <a:cs typeface="Gill Sans"/>
              </a:rPr>
              <a:t>P</a:t>
            </a:r>
            <a:r>
              <a:rPr sz="4800" dirty="0">
                <a:latin typeface="Gill Sans"/>
                <a:cs typeface="Gill Sans"/>
              </a:rPr>
              <a:t>ut</a:t>
            </a:r>
            <a:r>
              <a:rPr sz="4800" spc="-5" dirty="0">
                <a:latin typeface="Gill Sans"/>
                <a:cs typeface="Gill Sans"/>
              </a:rPr>
              <a:t> </a:t>
            </a:r>
            <a:r>
              <a:rPr sz="4800" dirty="0">
                <a:latin typeface="Gill Sans"/>
                <a:cs typeface="Gill Sans"/>
              </a:rPr>
              <a:t>the</a:t>
            </a:r>
            <a:r>
              <a:rPr sz="4800" spc="-5" dirty="0">
                <a:latin typeface="Gill Sans"/>
                <a:cs typeface="Gill Sans"/>
              </a:rPr>
              <a:t> </a:t>
            </a:r>
            <a:r>
              <a:rPr sz="4800" spc="-25" dirty="0">
                <a:latin typeface="Gill Sans"/>
                <a:cs typeface="Gill Sans"/>
              </a:rPr>
              <a:t>geogr</a:t>
            </a:r>
            <a:r>
              <a:rPr sz="4800" spc="-75" dirty="0">
                <a:latin typeface="Gill Sans"/>
                <a:cs typeface="Gill Sans"/>
              </a:rPr>
              <a:t>a</a:t>
            </a:r>
            <a:r>
              <a:rPr sz="4800" dirty="0">
                <a:latin typeface="Gill Sans"/>
                <a:cs typeface="Gill Sans"/>
              </a:rPr>
              <a:t>ph</a:t>
            </a:r>
            <a:r>
              <a:rPr sz="4800" spc="-5" dirty="0">
                <a:latin typeface="Gill Sans"/>
                <a:cs typeface="Gill Sans"/>
              </a:rPr>
              <a:t>i</a:t>
            </a:r>
            <a:r>
              <a:rPr sz="4800" spc="-25" dirty="0">
                <a:latin typeface="Gill Sans"/>
                <a:cs typeface="Gill Sans"/>
              </a:rPr>
              <a:t>c</a:t>
            </a:r>
            <a:r>
              <a:rPr sz="4800" spc="-5" dirty="0">
                <a:latin typeface="Gill Sans"/>
                <a:cs typeface="Gill Sans"/>
              </a:rPr>
              <a:t> </a:t>
            </a:r>
            <a:r>
              <a:rPr sz="4800" spc="-25" dirty="0">
                <a:latin typeface="Gill Sans"/>
                <a:cs typeface="Gill Sans"/>
              </a:rPr>
              <a:t>ranges</a:t>
            </a:r>
            <a:r>
              <a:rPr sz="4800" spc="-5" dirty="0">
                <a:latin typeface="Gill Sans"/>
                <a:cs typeface="Gill Sans"/>
              </a:rPr>
              <a:t> </a:t>
            </a:r>
            <a:r>
              <a:rPr sz="4800" spc="-25" dirty="0">
                <a:latin typeface="Gill Sans"/>
                <a:cs typeface="Gill Sans"/>
              </a:rPr>
              <a:t>a</a:t>
            </a:r>
            <a:r>
              <a:rPr sz="4800" dirty="0">
                <a:latin typeface="Gill Sans"/>
                <a:cs typeface="Gill Sans"/>
              </a:rPr>
              <a:t>t</a:t>
            </a:r>
            <a:r>
              <a:rPr sz="4800" spc="-5" dirty="0">
                <a:latin typeface="Gill Sans"/>
                <a:cs typeface="Gill Sans"/>
              </a:rPr>
              <a:t> </a:t>
            </a:r>
            <a:r>
              <a:rPr sz="4800" dirty="0">
                <a:latin typeface="Gill Sans"/>
                <a:cs typeface="Gill Sans"/>
              </a:rPr>
              <a:t>the</a:t>
            </a:r>
            <a:r>
              <a:rPr sz="4800" spc="-5" dirty="0">
                <a:latin typeface="Gill Sans"/>
                <a:cs typeface="Gill Sans"/>
              </a:rPr>
              <a:t> </a:t>
            </a:r>
            <a:r>
              <a:rPr sz="4800" dirty="0">
                <a:latin typeface="Gill Sans"/>
                <a:cs typeface="Gill Sans"/>
              </a:rPr>
              <a:t>t</a:t>
            </a:r>
            <a:r>
              <a:rPr sz="4800" spc="-5" dirty="0">
                <a:latin typeface="Gill Sans"/>
                <a:cs typeface="Gill Sans"/>
              </a:rPr>
              <a:t>i</a:t>
            </a:r>
            <a:r>
              <a:rPr sz="4800" spc="-25" dirty="0">
                <a:latin typeface="Gill Sans"/>
                <a:cs typeface="Gill Sans"/>
              </a:rPr>
              <a:t>ps</a:t>
            </a:r>
            <a:endParaRPr sz="4800" dirty="0">
              <a:latin typeface="Gill Sans"/>
              <a:cs typeface="Gill Sans"/>
            </a:endParaRPr>
          </a:p>
          <a:p>
            <a:pPr>
              <a:lnSpc>
                <a:spcPct val="100000"/>
              </a:lnSpc>
              <a:spcBef>
                <a:spcPts val="7"/>
              </a:spcBef>
            </a:pPr>
            <a:endParaRPr sz="45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4800" b="1" spc="-5" dirty="0">
                <a:latin typeface="Gill Sans"/>
                <a:cs typeface="Gill Sans"/>
              </a:rPr>
              <a:t>3</a:t>
            </a:r>
            <a:r>
              <a:rPr sz="4800" b="1" spc="-15" dirty="0">
                <a:latin typeface="Gill Sans"/>
                <a:cs typeface="Gill Sans"/>
              </a:rPr>
              <a:t>.</a:t>
            </a:r>
            <a:r>
              <a:rPr sz="4800" b="1" spc="-5" dirty="0">
                <a:latin typeface="Gill Sans"/>
                <a:cs typeface="Gill Sans"/>
              </a:rPr>
              <a:t> </a:t>
            </a:r>
            <a:r>
              <a:rPr sz="4800" b="1" spc="-30" dirty="0">
                <a:latin typeface="Gill Sans"/>
                <a:cs typeface="Gill Sans"/>
              </a:rPr>
              <a:t>Ass</a:t>
            </a:r>
            <a:r>
              <a:rPr sz="4800" b="1" spc="-5" dirty="0">
                <a:latin typeface="Gill Sans"/>
                <a:cs typeface="Gill Sans"/>
              </a:rPr>
              <a:t>um</a:t>
            </a:r>
            <a:r>
              <a:rPr sz="4800" b="1" dirty="0">
                <a:latin typeface="Gill Sans"/>
                <a:cs typeface="Gill Sans"/>
              </a:rPr>
              <a:t>e</a:t>
            </a:r>
            <a:r>
              <a:rPr sz="4800" b="1" spc="-5" dirty="0">
                <a:latin typeface="Gill Sans"/>
                <a:cs typeface="Gill Sans"/>
              </a:rPr>
              <a:t> </a:t>
            </a:r>
            <a:r>
              <a:rPr sz="4800" b="1" spc="-25" dirty="0">
                <a:latin typeface="Gill Sans"/>
                <a:cs typeface="Gill Sans"/>
              </a:rPr>
              <a:t>s</a:t>
            </a:r>
            <a:r>
              <a:rPr sz="4800" b="1" spc="-5" dirty="0">
                <a:latin typeface="Gill Sans"/>
                <a:cs typeface="Gill Sans"/>
              </a:rPr>
              <a:t>om</a:t>
            </a:r>
            <a:r>
              <a:rPr sz="4800" b="1" dirty="0">
                <a:latin typeface="Gill Sans"/>
                <a:cs typeface="Gill Sans"/>
              </a:rPr>
              <a:t>e</a:t>
            </a:r>
            <a:r>
              <a:rPr sz="4800" b="1" spc="-5" dirty="0">
                <a:latin typeface="Gill Sans"/>
                <a:cs typeface="Gill Sans"/>
              </a:rPr>
              <a:t> </a:t>
            </a:r>
            <a:r>
              <a:rPr sz="4800" b="1" dirty="0">
                <a:latin typeface="Gill Sans"/>
                <a:cs typeface="Gill Sans"/>
              </a:rPr>
              <a:t>p</a:t>
            </a:r>
            <a:r>
              <a:rPr sz="4800" b="1" spc="-210" dirty="0">
                <a:latin typeface="Gill Sans"/>
                <a:cs typeface="Gill Sans"/>
              </a:rPr>
              <a:t>r</a:t>
            </a:r>
            <a:r>
              <a:rPr sz="4800" b="1" spc="-5" dirty="0">
                <a:latin typeface="Gill Sans"/>
                <a:cs typeface="Gill Sans"/>
              </a:rPr>
              <a:t>oc</a:t>
            </a:r>
            <a:r>
              <a:rPr sz="4800" b="1" dirty="0">
                <a:latin typeface="Gill Sans"/>
                <a:cs typeface="Gill Sans"/>
              </a:rPr>
              <a:t>e</a:t>
            </a:r>
            <a:r>
              <a:rPr sz="4800" b="1" spc="-25" dirty="0">
                <a:latin typeface="Gill Sans"/>
                <a:cs typeface="Gill Sans"/>
              </a:rPr>
              <a:t>ss(</a:t>
            </a:r>
            <a:r>
              <a:rPr sz="4800" b="1" dirty="0">
                <a:latin typeface="Gill Sans"/>
                <a:cs typeface="Gill Sans"/>
              </a:rPr>
              <a:t>e</a:t>
            </a:r>
            <a:r>
              <a:rPr sz="4800" b="1" spc="-25" dirty="0">
                <a:latin typeface="Gill Sans"/>
                <a:cs typeface="Gill Sans"/>
              </a:rPr>
              <a:t>s)</a:t>
            </a:r>
            <a:endParaRPr sz="4800" dirty="0">
              <a:latin typeface="Gill Sans"/>
              <a:cs typeface="Gill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1000" y="6294534"/>
            <a:ext cx="5161915" cy="635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800" dirty="0">
                <a:latin typeface="Gill Sans"/>
                <a:cs typeface="Gill Sans"/>
              </a:rPr>
              <a:t>4.</a:t>
            </a:r>
            <a:r>
              <a:rPr sz="4800" spc="-484" dirty="0">
                <a:latin typeface="Gill Sans"/>
                <a:cs typeface="Gill Sans"/>
              </a:rPr>
              <a:t> </a:t>
            </a:r>
            <a:r>
              <a:rPr sz="4800" spc="-25" dirty="0">
                <a:latin typeface="Gill Sans"/>
                <a:cs typeface="Gill Sans"/>
              </a:rPr>
              <a:t>Conduct</a:t>
            </a:r>
            <a:r>
              <a:rPr sz="4800" spc="-5" dirty="0">
                <a:latin typeface="Gill Sans"/>
                <a:cs typeface="Gill Sans"/>
              </a:rPr>
              <a:t> i</a:t>
            </a:r>
            <a:r>
              <a:rPr sz="4800" dirty="0">
                <a:latin typeface="Gill Sans"/>
                <a:cs typeface="Gill Sans"/>
              </a:rPr>
              <a:t>n</a:t>
            </a:r>
            <a:r>
              <a:rPr sz="4800" spc="-50" dirty="0">
                <a:latin typeface="Gill Sans"/>
                <a:cs typeface="Gill Sans"/>
              </a:rPr>
              <a:t>f</a:t>
            </a:r>
            <a:r>
              <a:rPr sz="4800" dirty="0">
                <a:latin typeface="Gill Sans"/>
                <a:cs typeface="Gill Sans"/>
              </a:rPr>
              <a:t>e</a:t>
            </a:r>
            <a:r>
              <a:rPr sz="4800" spc="-100" dirty="0">
                <a:latin typeface="Gill Sans"/>
                <a:cs typeface="Gill Sans"/>
              </a:rPr>
              <a:t>r</a:t>
            </a:r>
            <a:r>
              <a:rPr sz="4800" spc="-25" dirty="0">
                <a:latin typeface="Gill Sans"/>
                <a:cs typeface="Gill Sans"/>
              </a:rPr>
              <a:t>ence</a:t>
            </a:r>
            <a:endParaRPr sz="4800">
              <a:latin typeface="Gill Sans"/>
              <a:cs typeface="Gill San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36569" y="6825557"/>
            <a:ext cx="2044169" cy="25655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170914" y="6776092"/>
            <a:ext cx="2031132" cy="27985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718300" y="6386434"/>
            <a:ext cx="69977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20" dirty="0">
                <a:latin typeface="Gill Sans"/>
                <a:cs typeface="Gill Sans"/>
              </a:rPr>
              <a:t>DEC</a:t>
            </a:r>
            <a:endParaRPr sz="2400">
              <a:latin typeface="Gill Sans"/>
              <a:cs typeface="Gill San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435658" y="6830448"/>
            <a:ext cx="2031067" cy="254200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928100" y="6386434"/>
            <a:ext cx="85280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latin typeface="Gill Sans"/>
                <a:cs typeface="Gill Sans"/>
              </a:rPr>
              <a:t>DI</a:t>
            </a:r>
            <a:r>
              <a:rPr sz="2400" b="1" spc="-195" dirty="0">
                <a:latin typeface="Gill Sans"/>
                <a:cs typeface="Gill Sans"/>
              </a:rPr>
              <a:t>V</a:t>
            </a:r>
            <a:r>
              <a:rPr sz="2400" b="1" dirty="0">
                <a:latin typeface="Gill Sans"/>
                <a:cs typeface="Gill Sans"/>
              </a:rPr>
              <a:t>A</a:t>
            </a:r>
            <a:endParaRPr sz="2400">
              <a:latin typeface="Gill Sans"/>
              <a:cs typeface="Gill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845800" y="6399134"/>
            <a:ext cx="135255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20" dirty="0">
                <a:latin typeface="Gill Sans"/>
                <a:cs typeface="Gill Sans"/>
              </a:rPr>
              <a:t>BayA</a:t>
            </a:r>
            <a:r>
              <a:rPr sz="2400" b="1" spc="-105" dirty="0">
                <a:latin typeface="Gill Sans"/>
                <a:cs typeface="Gill Sans"/>
              </a:rPr>
              <a:t>r</a:t>
            </a:r>
            <a:r>
              <a:rPr sz="2400" b="1" dirty="0">
                <a:latin typeface="Gill Sans"/>
                <a:cs typeface="Gill Sans"/>
              </a:rPr>
              <a:t>e</a:t>
            </a:r>
            <a:r>
              <a:rPr sz="2400" b="1" spc="-15" dirty="0">
                <a:latin typeface="Gill Sans"/>
                <a:cs typeface="Gill Sans"/>
              </a:rPr>
              <a:t>a</a:t>
            </a:r>
            <a:endParaRPr sz="2400">
              <a:latin typeface="Gill Sans"/>
              <a:cs typeface="Gill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3DCAB766-9EDF-CA4C-BD81-A6563F19C7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6868" y="6888066"/>
            <a:ext cx="2560284" cy="12694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130046" tIns="65023" rIns="130046" bIns="65023">
            <a:spAutoFit/>
          </a:bodyPr>
          <a:lstStyle/>
          <a:p>
            <a:pPr algn="ctr"/>
            <a:r>
              <a:rPr lang="en-NZ" sz="4600" b="1" dirty="0">
                <a:solidFill>
                  <a:srgbClr val="0070C0"/>
                </a:solidFill>
                <a:latin typeface="+mj-lt"/>
              </a:rPr>
              <a:t>Data</a:t>
            </a:r>
          </a:p>
          <a:p>
            <a:pPr algn="ctr"/>
            <a:r>
              <a:rPr lang="en-NZ" sz="2800" b="1" dirty="0">
                <a:solidFill>
                  <a:srgbClr val="0070C0"/>
                </a:solidFill>
                <a:latin typeface="+mj-lt"/>
              </a:rPr>
              <a:t>(observations)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E8FC1ED-F9A8-6D4C-A825-387BB7DE0101}"/>
              </a:ext>
            </a:extLst>
          </p:cNvPr>
          <p:cNvSpPr/>
          <p:nvPr/>
        </p:nvSpPr>
        <p:spPr>
          <a:xfrm>
            <a:off x="4856704" y="4739495"/>
            <a:ext cx="3686810" cy="17348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046" tIns="65023" rIns="130046" bIns="65023" rtlCol="0" anchor="ctr"/>
          <a:lstStyle/>
          <a:p>
            <a:pPr algn="ctr"/>
            <a:r>
              <a:rPr lang="en-US" sz="3400" dirty="0"/>
              <a:t>Probabilistic model</a:t>
            </a:r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E6F4EA43-D174-DE45-B2A1-E7561B6759B7}"/>
              </a:ext>
            </a:extLst>
          </p:cNvPr>
          <p:cNvSpPr/>
          <p:nvPr/>
        </p:nvSpPr>
        <p:spPr>
          <a:xfrm rot="13457578" flipV="1">
            <a:off x="4927940" y="6490724"/>
            <a:ext cx="3544341" cy="3592415"/>
          </a:xfrm>
          <a:prstGeom prst="arc">
            <a:avLst/>
          </a:prstGeom>
          <a:ln w="41275">
            <a:solidFill>
              <a:srgbClr val="0070C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30046" tIns="65023" rIns="130046" bIns="65023" rtlCol="0" anchor="ctr"/>
          <a:lstStyle/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215D978F-710D-C640-A8F1-EEE3A8C10AA7}"/>
              </a:ext>
            </a:extLst>
          </p:cNvPr>
          <p:cNvSpPr/>
          <p:nvPr/>
        </p:nvSpPr>
        <p:spPr>
          <a:xfrm rot="13457578" flipH="1">
            <a:off x="4854944" y="1171818"/>
            <a:ext cx="3544341" cy="3592415"/>
          </a:xfrm>
          <a:prstGeom prst="arc">
            <a:avLst/>
          </a:prstGeom>
          <a:ln w="41275">
            <a:solidFill>
              <a:srgbClr val="FF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30046" tIns="65023" rIns="130046" bIns="65023" rtlCol="0" anchor="ctr"/>
          <a:lstStyle/>
          <a:p>
            <a:pPr algn="ctr"/>
            <a:endParaRPr lang="en-US"/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EF274A63-51CC-6E4D-8965-4155078E0A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1474" y="6888066"/>
            <a:ext cx="5137983" cy="12694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130046" tIns="65023" rIns="130046" bIns="65023">
            <a:spAutoFit/>
          </a:bodyPr>
          <a:lstStyle/>
          <a:p>
            <a:pPr algn="ctr"/>
            <a:r>
              <a:rPr lang="en-NZ" sz="4600" b="1" dirty="0">
                <a:solidFill>
                  <a:srgbClr val="0070C0"/>
                </a:solidFill>
                <a:latin typeface="+mj-lt"/>
              </a:rPr>
              <a:t>Parameters</a:t>
            </a:r>
            <a:br>
              <a:rPr lang="en-NZ" sz="2800" b="1" dirty="0">
                <a:solidFill>
                  <a:srgbClr val="0070C0"/>
                </a:solidFill>
                <a:latin typeface="+mj-lt"/>
              </a:rPr>
            </a:br>
            <a:r>
              <a:rPr lang="en-NZ" sz="2800" b="1" dirty="0">
                <a:solidFill>
                  <a:srgbClr val="0070C0"/>
                </a:solidFill>
                <a:latin typeface="+mj-lt"/>
              </a:rPr>
              <a:t>(mean, standard deviation, etc.)</a:t>
            </a: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BF4F2A73-F14D-FD47-831E-17BC9934F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1474" y="3593639"/>
            <a:ext cx="5137983" cy="831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130046" tIns="65023" rIns="130046" bIns="65023">
            <a:spAutoFit/>
          </a:bodyPr>
          <a:lstStyle/>
          <a:p>
            <a:pPr algn="ctr"/>
            <a:r>
              <a:rPr lang="en-NZ" sz="4600" b="1" dirty="0">
                <a:solidFill>
                  <a:srgbClr val="FF0000"/>
                </a:solidFill>
                <a:latin typeface="+mj-lt"/>
              </a:rPr>
              <a:t>Parameters</a:t>
            </a:r>
            <a:endParaRPr lang="en-NZ" sz="28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B84F4950-787F-B346-B1BC-7DBF305360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3531" y="6698103"/>
            <a:ext cx="2969930" cy="481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130046" tIns="65023" rIns="130046" bIns="65023">
            <a:spAutoFit/>
          </a:bodyPr>
          <a:lstStyle/>
          <a:p>
            <a:pPr algn="ctr"/>
            <a:r>
              <a:rPr lang="en-NZ" sz="2300" b="1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“Inference”</a:t>
            </a:r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id="{4414218A-C32E-244D-B26C-2112BDA86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5527" y="3353422"/>
            <a:ext cx="4916733" cy="1547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130046" tIns="65023" rIns="130046" bIns="65023">
            <a:spAutoFit/>
          </a:bodyPr>
          <a:lstStyle/>
          <a:p>
            <a:pPr algn="ctr"/>
            <a:r>
              <a:rPr lang="en-NZ" sz="4600" b="1" dirty="0">
                <a:solidFill>
                  <a:srgbClr val="FF0000"/>
                </a:solidFill>
                <a:latin typeface="+mj-lt"/>
              </a:rPr>
              <a:t>Simulated/</a:t>
            </a:r>
            <a:br>
              <a:rPr lang="en-NZ" sz="4600" b="1" dirty="0">
                <a:solidFill>
                  <a:srgbClr val="FF0000"/>
                </a:solidFill>
                <a:latin typeface="+mj-lt"/>
              </a:rPr>
            </a:br>
            <a:r>
              <a:rPr lang="en-NZ" sz="4600" b="1" dirty="0">
                <a:solidFill>
                  <a:srgbClr val="FF0000"/>
                </a:solidFill>
                <a:latin typeface="+mj-lt"/>
              </a:rPr>
              <a:t>Predicted Data</a:t>
            </a:r>
            <a:endParaRPr lang="en-NZ" sz="28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BDFBC864-A9CF-344B-B96A-AAD70CD0F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5144" y="3777486"/>
            <a:ext cx="2969930" cy="831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130046" tIns="65023" rIns="130046" bIns="65023">
            <a:spAutoFit/>
          </a:bodyPr>
          <a:lstStyle/>
          <a:p>
            <a:pPr algn="ctr"/>
            <a:r>
              <a:rPr lang="en-NZ" sz="2300" b="1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“Simulation” or Prediction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336AB0C-4352-914C-A8E7-48CFC6D3C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648" y="330941"/>
            <a:ext cx="12458135" cy="802453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Review: Models, parameters, and data</a:t>
            </a:r>
          </a:p>
        </p:txBody>
      </p:sp>
    </p:spTree>
    <p:extLst>
      <p:ext uri="{BB962C8B-B14F-4D97-AF65-F5344CB8AC3E}">
        <p14:creationId xmlns:p14="http://schemas.microsoft.com/office/powerpoint/2010/main" val="24999314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3DCAB766-9EDF-CA4C-BD81-A6563F19C7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6868" y="6888066"/>
            <a:ext cx="2560284" cy="12694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130046" tIns="65023" rIns="130046" bIns="65023">
            <a:spAutoFit/>
          </a:bodyPr>
          <a:lstStyle/>
          <a:p>
            <a:pPr algn="ctr"/>
            <a:r>
              <a:rPr lang="en-NZ" sz="4600" b="1" dirty="0">
                <a:solidFill>
                  <a:srgbClr val="0070C0"/>
                </a:solidFill>
                <a:latin typeface="+mj-lt"/>
              </a:rPr>
              <a:t>Data</a:t>
            </a:r>
          </a:p>
          <a:p>
            <a:pPr algn="ctr"/>
            <a:r>
              <a:rPr lang="en-NZ" sz="2800" b="1" dirty="0">
                <a:solidFill>
                  <a:srgbClr val="0070C0"/>
                </a:solidFill>
                <a:latin typeface="+mj-lt"/>
              </a:rPr>
              <a:t>(observations)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E8FC1ED-F9A8-6D4C-A825-387BB7DE0101}"/>
              </a:ext>
            </a:extLst>
          </p:cNvPr>
          <p:cNvSpPr/>
          <p:nvPr/>
        </p:nvSpPr>
        <p:spPr>
          <a:xfrm>
            <a:off x="4856704" y="4739495"/>
            <a:ext cx="3686810" cy="17348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046" tIns="65023" rIns="130046" bIns="65023" rtlCol="0" anchor="ctr"/>
          <a:lstStyle/>
          <a:p>
            <a:pPr algn="ctr"/>
            <a:r>
              <a:rPr lang="en-US" sz="3400" dirty="0"/>
              <a:t>Probabilistic model</a:t>
            </a:r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E6F4EA43-D174-DE45-B2A1-E7561B6759B7}"/>
              </a:ext>
            </a:extLst>
          </p:cNvPr>
          <p:cNvSpPr/>
          <p:nvPr/>
        </p:nvSpPr>
        <p:spPr>
          <a:xfrm rot="13457578" flipV="1">
            <a:off x="4927940" y="6490724"/>
            <a:ext cx="3544341" cy="3592415"/>
          </a:xfrm>
          <a:prstGeom prst="arc">
            <a:avLst/>
          </a:prstGeom>
          <a:ln w="41275">
            <a:solidFill>
              <a:srgbClr val="0070C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30046" tIns="65023" rIns="130046" bIns="65023" rtlCol="0" anchor="ctr"/>
          <a:lstStyle/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215D978F-710D-C640-A8F1-EEE3A8C10AA7}"/>
              </a:ext>
            </a:extLst>
          </p:cNvPr>
          <p:cNvSpPr/>
          <p:nvPr/>
        </p:nvSpPr>
        <p:spPr>
          <a:xfrm rot="13457578" flipH="1">
            <a:off x="4854944" y="1171818"/>
            <a:ext cx="3544341" cy="3592415"/>
          </a:xfrm>
          <a:prstGeom prst="arc">
            <a:avLst/>
          </a:prstGeom>
          <a:ln w="41275">
            <a:solidFill>
              <a:srgbClr val="FF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30046" tIns="65023" rIns="130046" bIns="65023" rtlCol="0" anchor="ctr"/>
          <a:lstStyle/>
          <a:p>
            <a:pPr algn="ctr"/>
            <a:endParaRPr lang="en-US"/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EF274A63-51CC-6E4D-8965-4155078E0A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1474" y="6888066"/>
            <a:ext cx="5137983" cy="12694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130046" tIns="65023" rIns="130046" bIns="65023">
            <a:spAutoFit/>
          </a:bodyPr>
          <a:lstStyle/>
          <a:p>
            <a:pPr algn="ctr"/>
            <a:r>
              <a:rPr lang="en-NZ" sz="4600" b="1" dirty="0">
                <a:solidFill>
                  <a:srgbClr val="0070C0"/>
                </a:solidFill>
                <a:latin typeface="+mj-lt"/>
              </a:rPr>
              <a:t>Parameters</a:t>
            </a:r>
            <a:br>
              <a:rPr lang="en-NZ" sz="2800" b="1" dirty="0">
                <a:solidFill>
                  <a:srgbClr val="0070C0"/>
                </a:solidFill>
                <a:latin typeface="+mj-lt"/>
              </a:rPr>
            </a:br>
            <a:r>
              <a:rPr lang="en-NZ" sz="2800" b="1" dirty="0">
                <a:solidFill>
                  <a:srgbClr val="0070C0"/>
                </a:solidFill>
                <a:latin typeface="+mj-lt"/>
              </a:rPr>
              <a:t>(mean, standard deviation, etc.)</a:t>
            </a: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BF4F2A73-F14D-FD47-831E-17BC9934F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1474" y="3593639"/>
            <a:ext cx="5137983" cy="831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130046" tIns="65023" rIns="130046" bIns="65023">
            <a:spAutoFit/>
          </a:bodyPr>
          <a:lstStyle/>
          <a:p>
            <a:pPr algn="ctr"/>
            <a:r>
              <a:rPr lang="en-NZ" sz="4600" b="1" dirty="0">
                <a:solidFill>
                  <a:srgbClr val="FF0000"/>
                </a:solidFill>
                <a:latin typeface="+mj-lt"/>
              </a:rPr>
              <a:t>Parameters</a:t>
            </a:r>
            <a:endParaRPr lang="en-NZ" sz="28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B84F4950-787F-B346-B1BC-7DBF305360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3531" y="6698103"/>
            <a:ext cx="2969930" cy="481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130046" tIns="65023" rIns="130046" bIns="65023">
            <a:spAutoFit/>
          </a:bodyPr>
          <a:lstStyle/>
          <a:p>
            <a:pPr algn="ctr"/>
            <a:r>
              <a:rPr lang="en-NZ" sz="2300" b="1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“Inference”</a:t>
            </a:r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id="{4414218A-C32E-244D-B26C-2112BDA86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5527" y="3353422"/>
            <a:ext cx="4916733" cy="1547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130046" tIns="65023" rIns="130046" bIns="65023">
            <a:spAutoFit/>
          </a:bodyPr>
          <a:lstStyle/>
          <a:p>
            <a:pPr algn="ctr"/>
            <a:r>
              <a:rPr lang="en-NZ" sz="4600" b="1" dirty="0">
                <a:solidFill>
                  <a:srgbClr val="FF0000"/>
                </a:solidFill>
                <a:latin typeface="+mj-lt"/>
              </a:rPr>
              <a:t>Simulated/</a:t>
            </a:r>
            <a:br>
              <a:rPr lang="en-NZ" sz="4600" b="1" dirty="0">
                <a:solidFill>
                  <a:srgbClr val="FF0000"/>
                </a:solidFill>
                <a:latin typeface="+mj-lt"/>
              </a:rPr>
            </a:br>
            <a:r>
              <a:rPr lang="en-NZ" sz="4600" b="1" dirty="0">
                <a:solidFill>
                  <a:srgbClr val="FF0000"/>
                </a:solidFill>
                <a:latin typeface="+mj-lt"/>
              </a:rPr>
              <a:t>Predicted Data</a:t>
            </a:r>
            <a:endParaRPr lang="en-NZ" sz="28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BDFBC864-A9CF-344B-B96A-AAD70CD0F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5144" y="3777486"/>
            <a:ext cx="2969930" cy="831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130046" tIns="65023" rIns="130046" bIns="65023">
            <a:spAutoFit/>
          </a:bodyPr>
          <a:lstStyle/>
          <a:p>
            <a:pPr algn="ctr"/>
            <a:r>
              <a:rPr lang="en-NZ" sz="2300" b="1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“Simulation” or Prediction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336AB0C-4352-914C-A8E7-48CFC6D3C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648" y="330941"/>
            <a:ext cx="12458135" cy="802453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Review: Models, parameters, and data</a:t>
            </a:r>
          </a:p>
        </p:txBody>
      </p:sp>
      <p:sp>
        <p:nvSpPr>
          <p:cNvPr id="2" name="Rectangle 1"/>
          <p:cNvSpPr/>
          <p:nvPr/>
        </p:nvSpPr>
        <p:spPr>
          <a:xfrm>
            <a:off x="4590287" y="8895643"/>
            <a:ext cx="3806408" cy="408315"/>
          </a:xfrm>
          <a:prstGeom prst="rect">
            <a:avLst/>
          </a:prstGeom>
        </p:spPr>
        <p:txBody>
          <a:bodyPr wrap="none" lIns="130046" tIns="65023" rIns="130046" bIns="65023">
            <a:spAutoFit/>
          </a:bodyPr>
          <a:lstStyle/>
          <a:p>
            <a:r>
              <a:rPr lang="en-US" dirty="0"/>
              <a:t>Major way to do inference: </a:t>
            </a:r>
            <a:r>
              <a:rPr lang="en-US" i="1" dirty="0"/>
              <a:t>likelihood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 flipH="1" flipV="1">
            <a:off x="6784623" y="7270045"/>
            <a:ext cx="169333" cy="162559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85761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965931" y="643029"/>
            <a:ext cx="11398613" cy="2062606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dirty="0"/>
              <a:t>Likelihood: the key concept</a:t>
            </a:r>
            <a:endParaRPr dirty="0"/>
          </a:p>
        </p:txBody>
      </p:sp>
      <p:sp>
        <p:nvSpPr>
          <p:cNvPr id="3" name="Likelihood = probability of the data, assuming a model…"/>
          <p:cNvSpPr txBox="1">
            <a:spLocks noGrp="1"/>
          </p:cNvSpPr>
          <p:nvPr>
            <p:ph type="body" sz="half" idx="1"/>
          </p:nvPr>
        </p:nvSpPr>
        <p:spPr>
          <a:xfrm>
            <a:off x="1725838" y="3465543"/>
            <a:ext cx="9878798" cy="2931072"/>
          </a:xfrm>
          <a:prstGeom prst="rect">
            <a:avLst/>
          </a:prstGeom>
        </p:spPr>
        <p:txBody>
          <a:bodyPr/>
          <a:lstStyle/>
          <a:p>
            <a:r>
              <a:rPr lang="en-US" sz="3700" dirty="0"/>
              <a:t>Likelihood = probability of the data, given a model</a:t>
            </a:r>
          </a:p>
          <a:p>
            <a:endParaRPr lang="en-US" sz="3700" dirty="0"/>
          </a:p>
          <a:p>
            <a:r>
              <a:rPr lang="en-US" sz="3700" dirty="0"/>
              <a:t>Likelihood = P(data | model)</a:t>
            </a:r>
          </a:p>
          <a:p>
            <a:endParaRPr lang="en-US" sz="3700" dirty="0"/>
          </a:p>
          <a:p>
            <a:r>
              <a:rPr lang="en-US" sz="3700" dirty="0"/>
              <a:t>L = P(D | M)</a:t>
            </a:r>
          </a:p>
          <a:p>
            <a:endParaRPr lang="en-US" sz="3700" dirty="0"/>
          </a:p>
          <a:p>
            <a:r>
              <a:rPr lang="en-US" sz="3700" dirty="0"/>
              <a:t>lnL = log(P(D|M))</a:t>
            </a:r>
          </a:p>
          <a:p>
            <a:endParaRPr lang="en-US" sz="3700" dirty="0"/>
          </a:p>
          <a:p>
            <a:r>
              <a:rPr lang="en-US" sz="3700" dirty="0"/>
              <a:t>lnL = natural logarithm of the likelihood</a:t>
            </a:r>
            <a:endParaRPr sz="3700" dirty="0"/>
          </a:p>
        </p:txBody>
      </p:sp>
    </p:spTree>
    <p:extLst>
      <p:ext uri="{BB962C8B-B14F-4D97-AF65-F5344CB8AC3E}">
        <p14:creationId xmlns:p14="http://schemas.microsoft.com/office/powerpoint/2010/main" val="1032064639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988D3-5259-B841-A4B5-4AEA363D9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838200"/>
            <a:ext cx="10229850" cy="615553"/>
          </a:xfrm>
        </p:spPr>
        <p:txBody>
          <a:bodyPr/>
          <a:lstStyle/>
          <a:p>
            <a:r>
              <a:rPr lang="en-US" b="1" dirty="0"/>
              <a:t>What is likelihood?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9316C-A8C3-9A41-A968-DAA9D0C65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981200"/>
            <a:ext cx="11168380" cy="6771084"/>
          </a:xfrm>
        </p:spPr>
        <p:txBody>
          <a:bodyPr/>
          <a:lstStyle/>
          <a:p>
            <a:r>
              <a:rPr lang="en-US" dirty="0">
                <a:latin typeface="Calibri"/>
                <a:cs typeface="Calibri"/>
              </a:rPr>
              <a:t>Likelihood = </a:t>
            </a:r>
            <a:r>
              <a:rPr lang="en-US" dirty="0" err="1">
                <a:latin typeface="Calibri"/>
                <a:cs typeface="Calibri"/>
              </a:rPr>
              <a:t>Prob</a:t>
            </a:r>
            <a:r>
              <a:rPr lang="en-US" dirty="0">
                <a:latin typeface="Calibri"/>
                <a:cs typeface="Calibri"/>
              </a:rPr>
              <a:t>(</a:t>
            </a:r>
            <a:r>
              <a:rPr lang="en-US" dirty="0" err="1">
                <a:latin typeface="Calibri"/>
                <a:cs typeface="Calibri"/>
              </a:rPr>
              <a:t>data|model</a:t>
            </a:r>
            <a:r>
              <a:rPr lang="en-US" dirty="0">
                <a:latin typeface="Calibri"/>
                <a:cs typeface="Calibri"/>
              </a:rPr>
              <a:t>)</a:t>
            </a:r>
          </a:p>
          <a:p>
            <a:pPr lvl="1"/>
            <a:r>
              <a:rPr lang="en-US" sz="4000" dirty="0">
                <a:latin typeface="Calibri"/>
                <a:cs typeface="Calibri"/>
              </a:rPr>
              <a:t>A conditional probability</a:t>
            </a:r>
          </a:p>
          <a:p>
            <a:pPr lvl="1"/>
            <a:endParaRPr lang="en-US" sz="4000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Likelihood is a fundamental concept in statistics and inference</a:t>
            </a:r>
          </a:p>
          <a:p>
            <a:endParaRPr lang="en-US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The inference method of Maximum Likelihood is ubiquitous in parametric statistics</a:t>
            </a:r>
          </a:p>
          <a:p>
            <a:endParaRPr lang="en-US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Statistics like the mean, or linear regression, can be justified through ML</a:t>
            </a:r>
          </a:p>
        </p:txBody>
      </p:sp>
    </p:spTree>
    <p:extLst>
      <p:ext uri="{BB962C8B-B14F-4D97-AF65-F5344CB8AC3E}">
        <p14:creationId xmlns:p14="http://schemas.microsoft.com/office/powerpoint/2010/main" val="36265538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988D3-5259-B841-A4B5-4AEA363D9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7475" y="27930"/>
            <a:ext cx="10229850" cy="615553"/>
          </a:xfrm>
        </p:spPr>
        <p:txBody>
          <a:bodyPr/>
          <a:lstStyle/>
          <a:p>
            <a:r>
              <a:rPr lang="en-US" b="1" dirty="0"/>
              <a:t>Key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9316C-A8C3-9A41-A968-DAA9D0C65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219200"/>
            <a:ext cx="11582400" cy="3721100"/>
          </a:xfrm>
        </p:spPr>
        <p:txBody>
          <a:bodyPr>
            <a:noAutofit/>
          </a:bodyPr>
          <a:lstStyle/>
          <a:p>
            <a:r>
              <a:rPr lang="en-US" sz="3500" b="1" dirty="0">
                <a:latin typeface="Calibri"/>
                <a:cs typeface="Calibri"/>
              </a:rPr>
              <a:t>Likelihood =</a:t>
            </a:r>
            <a:r>
              <a:rPr lang="en-US" sz="3500" dirty="0">
                <a:latin typeface="Calibri"/>
                <a:cs typeface="Calibri"/>
              </a:rPr>
              <a:t> </a:t>
            </a:r>
            <a:r>
              <a:rPr lang="en-US" sz="3500" dirty="0" err="1">
                <a:latin typeface="Calibri"/>
                <a:cs typeface="Calibri"/>
              </a:rPr>
              <a:t>Prob</a:t>
            </a:r>
            <a:r>
              <a:rPr lang="en-US" sz="3500" dirty="0">
                <a:latin typeface="Calibri"/>
                <a:cs typeface="Calibri"/>
              </a:rPr>
              <a:t>(</a:t>
            </a:r>
            <a:r>
              <a:rPr lang="en-US" sz="3500" dirty="0" err="1">
                <a:latin typeface="Calibri"/>
                <a:cs typeface="Calibri"/>
              </a:rPr>
              <a:t>data|model</a:t>
            </a:r>
            <a:r>
              <a:rPr lang="en-US" sz="3500" dirty="0">
                <a:latin typeface="Calibri"/>
                <a:cs typeface="Calibri"/>
              </a:rPr>
              <a:t>)</a:t>
            </a:r>
          </a:p>
          <a:p>
            <a:pPr lvl="1"/>
            <a:r>
              <a:rPr lang="en-US" sz="3500" dirty="0">
                <a:latin typeface="Calibri"/>
                <a:cs typeface="Calibri"/>
              </a:rPr>
              <a:t>A conditional probability</a:t>
            </a:r>
          </a:p>
          <a:p>
            <a:endParaRPr lang="en-US" sz="3500" b="1" dirty="0">
              <a:latin typeface="Calibri"/>
              <a:cs typeface="Calibri"/>
            </a:endParaRPr>
          </a:p>
          <a:p>
            <a:r>
              <a:rPr lang="en-US" sz="3500" b="1" dirty="0">
                <a:latin typeface="Calibri"/>
                <a:cs typeface="Calibri"/>
              </a:rPr>
              <a:t>Data:</a:t>
            </a:r>
            <a:r>
              <a:rPr lang="en-US" sz="3500" dirty="0">
                <a:latin typeface="Calibri"/>
                <a:cs typeface="Calibri"/>
              </a:rPr>
              <a:t> some observations (numbers) you have collected </a:t>
            </a:r>
            <a:r>
              <a:rPr lang="mr-IN" sz="3500" dirty="0">
                <a:latin typeface="Calibri"/>
                <a:cs typeface="Calibri"/>
              </a:rPr>
              <a:t>–</a:t>
            </a:r>
            <a:r>
              <a:rPr lang="en-US" sz="3500" dirty="0">
                <a:latin typeface="Calibri"/>
                <a:cs typeface="Calibri"/>
              </a:rPr>
              <a:t> considered unchanging for the purposes of your statistical analysis</a:t>
            </a:r>
          </a:p>
          <a:p>
            <a:endParaRPr lang="en-US" sz="3500" dirty="0">
              <a:latin typeface="Calibri"/>
              <a:cs typeface="Calibri"/>
            </a:endParaRPr>
          </a:p>
          <a:p>
            <a:r>
              <a:rPr lang="en-US" sz="3500" b="1" dirty="0">
                <a:latin typeface="Calibri"/>
                <a:cs typeface="Calibri"/>
              </a:rPr>
              <a:t>Model:</a:t>
            </a:r>
            <a:r>
              <a:rPr lang="en-US" sz="3500" dirty="0">
                <a:latin typeface="Calibri"/>
                <a:cs typeface="Calibri"/>
              </a:rPr>
              <a:t> some process that you postulate could have produced the data; it is an equation giving the </a:t>
            </a:r>
            <a:r>
              <a:rPr lang="en-US" sz="3500" b="1" dirty="0">
                <a:latin typeface="Calibri"/>
                <a:cs typeface="Calibri"/>
              </a:rPr>
              <a:t>likelihood</a:t>
            </a:r>
            <a:br>
              <a:rPr lang="en-US" sz="3500" b="1" dirty="0">
                <a:latin typeface="Calibri"/>
                <a:cs typeface="Calibri"/>
              </a:rPr>
            </a:br>
            <a:br>
              <a:rPr lang="en-US" sz="3500" b="1" dirty="0">
                <a:latin typeface="Calibri"/>
                <a:cs typeface="Calibri"/>
              </a:rPr>
            </a:br>
            <a:r>
              <a:rPr lang="en-US" sz="3500" b="1" dirty="0">
                <a:latin typeface="Calibri"/>
                <a:cs typeface="Calibri"/>
              </a:rPr>
              <a:t>“Models put probabilities on data.”</a:t>
            </a:r>
            <a:br>
              <a:rPr lang="en-US" sz="3500" b="1" dirty="0">
                <a:latin typeface="Calibri"/>
                <a:cs typeface="Calibri"/>
              </a:rPr>
            </a:br>
            <a:endParaRPr lang="en-US" sz="3500" b="1" dirty="0">
              <a:latin typeface="Calibri"/>
              <a:cs typeface="Calibri"/>
            </a:endParaRPr>
          </a:p>
          <a:p>
            <a:r>
              <a:rPr lang="en-US" sz="3500" b="1" dirty="0">
                <a:latin typeface="Calibri"/>
                <a:cs typeface="Calibri"/>
              </a:rPr>
              <a:t>Parameters:</a:t>
            </a:r>
            <a:r>
              <a:rPr lang="en-US" sz="3500" dirty="0">
                <a:latin typeface="Calibri"/>
                <a:cs typeface="Calibri"/>
              </a:rPr>
              <a:t> Numbers in the model that can be changed / learned (e.g., the probability of heads, the rate of change)</a:t>
            </a:r>
            <a:endParaRPr lang="en-US" sz="3500" b="1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61550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1270001" y="546100"/>
            <a:ext cx="10464801" cy="1511300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t>Maximum Likelihood</a:t>
            </a:r>
          </a:p>
          <a:p>
            <a:pPr>
              <a:defRPr sz="4800" b="1"/>
            </a:pPr>
            <a:r>
              <a:t>Inference</a:t>
            </a:r>
          </a:p>
        </p:txBody>
      </p:sp>
      <p:sp>
        <p:nvSpPr>
          <p:cNvPr id="129" name="Likelihood = probability of the data, assuming a model…"/>
          <p:cNvSpPr txBox="1">
            <a:spLocks noGrp="1"/>
          </p:cNvSpPr>
          <p:nvPr>
            <p:ph type="body" sz="half" idx="1"/>
          </p:nvPr>
        </p:nvSpPr>
        <p:spPr>
          <a:xfrm>
            <a:off x="1270001" y="2641601"/>
            <a:ext cx="10464801" cy="2578101"/>
          </a:xfrm>
          <a:prstGeom prst="rect">
            <a:avLst/>
          </a:prstGeom>
        </p:spPr>
        <p:txBody>
          <a:bodyPr/>
          <a:lstStyle/>
          <a:p>
            <a:r>
              <a:t>Likelihood = probability of the data, assuming a model</a:t>
            </a:r>
          </a:p>
          <a:p>
            <a:endParaRPr/>
          </a:p>
          <a:p>
            <a:r>
              <a:t>Maximum Likelihood (ML): find the parameter values that maximize the probability of the data</a:t>
            </a:r>
          </a:p>
        </p:txBody>
      </p:sp>
    </p:spTree>
    <p:extLst>
      <p:ext uri="{BB962C8B-B14F-4D97-AF65-F5344CB8AC3E}">
        <p14:creationId xmlns:p14="http://schemas.microsoft.com/office/powerpoint/2010/main" val="2821112871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1270001" y="546100"/>
            <a:ext cx="10464801" cy="1511300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t>Maximum Likelihood</a:t>
            </a:r>
          </a:p>
          <a:p>
            <a:pPr>
              <a:defRPr sz="4800" b="1"/>
            </a:pPr>
            <a:r>
              <a:t>Inference</a:t>
            </a:r>
          </a:p>
        </p:txBody>
      </p:sp>
      <p:sp>
        <p:nvSpPr>
          <p:cNvPr id="132" name="Likelihood = probability of the data, assuming a model…"/>
          <p:cNvSpPr txBox="1">
            <a:spLocks noGrp="1"/>
          </p:cNvSpPr>
          <p:nvPr>
            <p:ph type="body" sz="half" idx="1"/>
          </p:nvPr>
        </p:nvSpPr>
        <p:spPr>
          <a:xfrm>
            <a:off x="330201" y="2641601"/>
            <a:ext cx="11404602" cy="2578101"/>
          </a:xfrm>
          <a:prstGeom prst="rect">
            <a:avLst/>
          </a:prstGeom>
        </p:spPr>
        <p:txBody>
          <a:bodyPr/>
          <a:lstStyle/>
          <a:p>
            <a:r>
              <a:rPr dirty="0">
                <a:latin typeface="Calibri"/>
                <a:cs typeface="Calibri"/>
              </a:rPr>
              <a:t>Likelihood = probability of the data, assuming a model</a:t>
            </a:r>
          </a:p>
          <a:p>
            <a:endParaRPr dirty="0">
              <a:latin typeface="Calibri"/>
              <a:cs typeface="Calibri"/>
            </a:endParaRPr>
          </a:p>
          <a:p>
            <a:r>
              <a:rPr dirty="0">
                <a:latin typeface="Calibri"/>
                <a:cs typeface="Calibri"/>
              </a:rPr>
              <a:t>Maximum Likelihood (ML): find the parameter values that maximize the probability of the data</a:t>
            </a:r>
          </a:p>
        </p:txBody>
      </p:sp>
      <p:sp>
        <p:nvSpPr>
          <p:cNvPr id="133" name="For example: coin-flipping…"/>
          <p:cNvSpPr txBox="1"/>
          <p:nvPr/>
        </p:nvSpPr>
        <p:spPr>
          <a:xfrm>
            <a:off x="641548" y="4779507"/>
            <a:ext cx="8701776" cy="1210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3600" b="0">
                <a:latin typeface="Gill Sans"/>
                <a:ea typeface="Gill Sans"/>
                <a:cs typeface="Gill Sans"/>
                <a:sym typeface="Gill Sans"/>
              </a:defRPr>
            </a:pPr>
            <a:r>
              <a:rPr sz="3600"/>
              <a:t>For example: coin-flipping</a:t>
            </a:r>
          </a:p>
          <a:p>
            <a:pPr lvl="1">
              <a:defRPr sz="3600" b="0">
                <a:latin typeface="Gill Sans"/>
                <a:ea typeface="Gill Sans"/>
                <a:cs typeface="Gill Sans"/>
                <a:sym typeface="Gill Sans"/>
              </a:defRPr>
            </a:pPr>
            <a:r>
              <a:rPr sz="3600"/>
              <a:t>Data: HHHHHHHTTT -- 7 Heads, then 3 Tails</a:t>
            </a:r>
          </a:p>
        </p:txBody>
      </p:sp>
      <p:pic>
        <p:nvPicPr>
          <p:cNvPr id="134" name="droppedImage.png" descr="dropped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331236" y="5962382"/>
            <a:ext cx="3632540" cy="270833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954073991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1270001" y="546100"/>
            <a:ext cx="10464801" cy="1511300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t>Maximum Likelihood</a:t>
            </a:r>
          </a:p>
          <a:p>
            <a:pPr>
              <a:defRPr sz="4800" b="1"/>
            </a:pPr>
            <a:r>
              <a:t>Inference</a:t>
            </a:r>
          </a:p>
        </p:txBody>
      </p:sp>
      <p:sp>
        <p:nvSpPr>
          <p:cNvPr id="133" name="For example: coin-flipping…"/>
          <p:cNvSpPr txBox="1"/>
          <p:nvPr/>
        </p:nvSpPr>
        <p:spPr>
          <a:xfrm>
            <a:off x="641548" y="4779507"/>
            <a:ext cx="8701776" cy="1210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3600" b="0">
                <a:latin typeface="Gill Sans"/>
                <a:ea typeface="Gill Sans"/>
                <a:cs typeface="Gill Sans"/>
                <a:sym typeface="Gill Sans"/>
              </a:defRPr>
            </a:pPr>
            <a:r>
              <a:rPr sz="3600"/>
              <a:t>For example: coin-flipping</a:t>
            </a:r>
          </a:p>
          <a:p>
            <a:pPr lvl="1">
              <a:defRPr sz="3600" b="0">
                <a:latin typeface="Gill Sans"/>
                <a:ea typeface="Gill Sans"/>
                <a:cs typeface="Gill Sans"/>
                <a:sym typeface="Gill Sans"/>
              </a:defRPr>
            </a:pPr>
            <a:r>
              <a:rPr sz="3600"/>
              <a:t>Data: HHHHHHHTTT -- 7 Heads, then 3 Tails</a:t>
            </a:r>
          </a:p>
        </p:txBody>
      </p:sp>
      <p:pic>
        <p:nvPicPr>
          <p:cNvPr id="134" name="droppedImage.png" descr="dropped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331236" y="5962382"/>
            <a:ext cx="3632540" cy="2708332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Likelihood = probability of the data, assuming a model…"/>
          <p:cNvSpPr txBox="1">
            <a:spLocks/>
          </p:cNvSpPr>
          <p:nvPr/>
        </p:nvSpPr>
        <p:spPr>
          <a:xfrm>
            <a:off x="330201" y="2641601"/>
            <a:ext cx="11404602" cy="2578101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buSzTx/>
              <a:buNone/>
              <a:defRPr sz="3600" b="1" i="0">
                <a:solidFill>
                  <a:schemeClr val="tx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indent="0" algn="ctr">
              <a:spcBef>
                <a:spcPts val="0"/>
              </a:spcBef>
              <a:buSzTx/>
              <a:buNone/>
              <a:defRPr sz="3600">
                <a:latin typeface="Gill Sans"/>
                <a:ea typeface="Gill Sans"/>
                <a:cs typeface="Gill Sans"/>
                <a:sym typeface="Gill Sans"/>
              </a:defRPr>
            </a:lvl2pPr>
            <a:lvl3pPr marL="0" indent="0" algn="ctr">
              <a:spcBef>
                <a:spcPts val="0"/>
              </a:spcBef>
              <a:buSzTx/>
              <a:buNone/>
              <a:defRPr sz="3600">
                <a:latin typeface="Gill Sans"/>
                <a:ea typeface="Gill Sans"/>
                <a:cs typeface="Gill Sans"/>
                <a:sym typeface="Gill Sans"/>
              </a:defRPr>
            </a:lvl3pPr>
            <a:lvl4pPr marL="0" indent="0" algn="ctr">
              <a:spcBef>
                <a:spcPts val="0"/>
              </a:spcBef>
              <a:buSzTx/>
              <a:buNone/>
              <a:defRPr sz="3600">
                <a:latin typeface="Gill Sans"/>
                <a:ea typeface="Gill Sans"/>
                <a:cs typeface="Gill Sans"/>
                <a:sym typeface="Gill Sans"/>
              </a:defRPr>
            </a:lvl4pPr>
            <a:lvl5pPr marL="0" indent="0" algn="ctr">
              <a:spcBef>
                <a:spcPts val="0"/>
              </a:spcBef>
              <a:buSzTx/>
              <a:buNone/>
              <a:defRPr sz="3600">
                <a:latin typeface="Gill Sans"/>
                <a:ea typeface="Gill Sans"/>
                <a:cs typeface="Gill Sans"/>
                <a:sym typeface="Gill San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Calibri"/>
                <a:cs typeface="Calibri"/>
              </a:rPr>
              <a:t>Likelihood = probability of the data, assuming a model</a:t>
            </a:r>
          </a:p>
          <a:p>
            <a:endParaRPr lang="en-US">
              <a:latin typeface="Calibri"/>
              <a:cs typeface="Calibri"/>
            </a:endParaRPr>
          </a:p>
          <a:p>
            <a:r>
              <a:rPr lang="en-US">
                <a:latin typeface="Calibri"/>
                <a:cs typeface="Calibri"/>
              </a:rPr>
              <a:t>Maximum Likelihood (ML): find the parameter values that maximize the probability of the data</a:t>
            </a:r>
            <a:endParaRPr lang="en-US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302629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1270001" y="546100"/>
            <a:ext cx="10464801" cy="1511300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t>Maximum Likelihood</a:t>
            </a:r>
          </a:p>
          <a:p>
            <a:pPr>
              <a:defRPr sz="4800" b="1"/>
            </a:pPr>
            <a:r>
              <a:t>Inference</a:t>
            </a:r>
          </a:p>
        </p:txBody>
      </p:sp>
      <p:sp>
        <p:nvSpPr>
          <p:cNvPr id="139" name="For example: coin-flipping…"/>
          <p:cNvSpPr txBox="1"/>
          <p:nvPr/>
        </p:nvSpPr>
        <p:spPr>
          <a:xfrm>
            <a:off x="641548" y="4779507"/>
            <a:ext cx="8701776" cy="1210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3600" b="0">
                <a:latin typeface="Gill Sans"/>
                <a:ea typeface="Gill Sans"/>
                <a:cs typeface="Gill Sans"/>
                <a:sym typeface="Gill Sans"/>
              </a:defRPr>
            </a:pPr>
            <a:r>
              <a:rPr sz="3600"/>
              <a:t>For example: coin-flipping</a:t>
            </a:r>
          </a:p>
          <a:p>
            <a:pPr lvl="1">
              <a:defRPr sz="3600" b="0">
                <a:latin typeface="Gill Sans"/>
                <a:ea typeface="Gill Sans"/>
                <a:cs typeface="Gill Sans"/>
                <a:sym typeface="Gill Sans"/>
              </a:defRPr>
            </a:pPr>
            <a:r>
              <a:rPr sz="3600"/>
              <a:t>Data: HHHHHHHTTT -- 7 Heads, then 3 Tails</a:t>
            </a:r>
          </a:p>
        </p:txBody>
      </p:sp>
      <p:graphicFrame>
        <p:nvGraphicFramePr>
          <p:cNvPr id="140" name="Table"/>
          <p:cNvGraphicFramePr/>
          <p:nvPr/>
        </p:nvGraphicFramePr>
        <p:xfrm>
          <a:off x="546101" y="6019800"/>
          <a:ext cx="11785599" cy="3619500"/>
        </p:xfrm>
        <a:graphic>
          <a:graphicData uri="http://schemas.openxmlformats.org/drawingml/2006/table">
            <a:tbl>
              <a:tblPr/>
              <a:tblGrid>
                <a:gridCol w="1683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3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3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3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3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83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836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206500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3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Model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0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Parameter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0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Calculation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0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Prob(data)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4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Ln(prob)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3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Prob. ratio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3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ML says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6500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6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Fair coin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4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4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4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36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36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36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6500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6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Biased coin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4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4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4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36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36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36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droppedImage.png" descr="droppedImage.png">
            <a:extLst>
              <a:ext uri="{FF2B5EF4-FFF2-40B4-BE49-F238E27FC236}">
                <a16:creationId xmlns:a16="http://schemas.microsoft.com/office/drawing/2014/main" id="{B5A5A9F6-0B8F-5E4D-B5D3-152796C3B9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301938" y="899340"/>
            <a:ext cx="2336801" cy="1742261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Likelihood = probability of the data, assuming a model…"/>
          <p:cNvSpPr txBox="1">
            <a:spLocks/>
          </p:cNvSpPr>
          <p:nvPr/>
        </p:nvSpPr>
        <p:spPr>
          <a:xfrm>
            <a:off x="330201" y="2641601"/>
            <a:ext cx="11404602" cy="2578101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buSzTx/>
              <a:buNone/>
              <a:defRPr sz="3600" b="1" i="0">
                <a:solidFill>
                  <a:schemeClr val="tx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indent="0" algn="ctr">
              <a:spcBef>
                <a:spcPts val="0"/>
              </a:spcBef>
              <a:buSzTx/>
              <a:buNone/>
              <a:defRPr sz="3600">
                <a:latin typeface="Gill Sans"/>
                <a:ea typeface="Gill Sans"/>
                <a:cs typeface="Gill Sans"/>
                <a:sym typeface="Gill Sans"/>
              </a:defRPr>
            </a:lvl2pPr>
            <a:lvl3pPr marL="0" indent="0" algn="ctr">
              <a:spcBef>
                <a:spcPts val="0"/>
              </a:spcBef>
              <a:buSzTx/>
              <a:buNone/>
              <a:defRPr sz="3600">
                <a:latin typeface="Gill Sans"/>
                <a:ea typeface="Gill Sans"/>
                <a:cs typeface="Gill Sans"/>
                <a:sym typeface="Gill Sans"/>
              </a:defRPr>
            </a:lvl3pPr>
            <a:lvl4pPr marL="0" indent="0" algn="ctr">
              <a:spcBef>
                <a:spcPts val="0"/>
              </a:spcBef>
              <a:buSzTx/>
              <a:buNone/>
              <a:defRPr sz="3600">
                <a:latin typeface="Gill Sans"/>
                <a:ea typeface="Gill Sans"/>
                <a:cs typeface="Gill Sans"/>
                <a:sym typeface="Gill Sans"/>
              </a:defRPr>
            </a:lvl4pPr>
            <a:lvl5pPr marL="0" indent="0" algn="ctr">
              <a:spcBef>
                <a:spcPts val="0"/>
              </a:spcBef>
              <a:buSzTx/>
              <a:buNone/>
              <a:defRPr sz="3600">
                <a:latin typeface="Gill Sans"/>
                <a:ea typeface="Gill Sans"/>
                <a:cs typeface="Gill Sans"/>
                <a:sym typeface="Gill San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Calibri"/>
                <a:cs typeface="Calibri"/>
              </a:rPr>
              <a:t>Likelihood = probability of the data, assuming a model</a:t>
            </a:r>
          </a:p>
          <a:p>
            <a:endParaRPr lang="en-US">
              <a:latin typeface="Calibri"/>
              <a:cs typeface="Calibri"/>
            </a:endParaRPr>
          </a:p>
          <a:p>
            <a:r>
              <a:rPr lang="en-US">
                <a:latin typeface="Calibri"/>
                <a:cs typeface="Calibri"/>
              </a:rPr>
              <a:t>Maximum Likelihood (ML): find the parameter values that maximize the probability of the data</a:t>
            </a:r>
            <a:endParaRPr lang="en-US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53817919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1270001" y="546100"/>
            <a:ext cx="10464801" cy="1511300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t>Maximum Likelihood</a:t>
            </a:r>
          </a:p>
          <a:p>
            <a:pPr>
              <a:defRPr sz="4800" b="1"/>
            </a:pPr>
            <a:r>
              <a:t>Inference</a:t>
            </a:r>
          </a:p>
        </p:txBody>
      </p:sp>
      <p:sp>
        <p:nvSpPr>
          <p:cNvPr id="145" name="For example: coin-flipping…"/>
          <p:cNvSpPr txBox="1"/>
          <p:nvPr/>
        </p:nvSpPr>
        <p:spPr>
          <a:xfrm>
            <a:off x="641548" y="4779507"/>
            <a:ext cx="8701776" cy="1210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3600" b="0">
                <a:latin typeface="Gill Sans"/>
                <a:ea typeface="Gill Sans"/>
                <a:cs typeface="Gill Sans"/>
                <a:sym typeface="Gill Sans"/>
              </a:defRPr>
            </a:pPr>
            <a:r>
              <a:rPr sz="3600" dirty="0"/>
              <a:t>For example: coin-flipping</a:t>
            </a:r>
          </a:p>
          <a:p>
            <a:pPr lvl="1">
              <a:defRPr sz="3600" b="0">
                <a:latin typeface="Gill Sans"/>
                <a:ea typeface="Gill Sans"/>
                <a:cs typeface="Gill Sans"/>
                <a:sym typeface="Gill Sans"/>
              </a:defRPr>
            </a:pPr>
            <a:r>
              <a:rPr sz="3600" dirty="0"/>
              <a:t>Data: HHHHHHHTTT -- 7 Heads, then 3 Tails</a:t>
            </a:r>
          </a:p>
        </p:txBody>
      </p:sp>
      <p:graphicFrame>
        <p:nvGraphicFramePr>
          <p:cNvPr id="146" name="Table"/>
          <p:cNvGraphicFramePr/>
          <p:nvPr/>
        </p:nvGraphicFramePr>
        <p:xfrm>
          <a:off x="546101" y="6019800"/>
          <a:ext cx="11785599" cy="3619500"/>
        </p:xfrm>
        <a:graphic>
          <a:graphicData uri="http://schemas.openxmlformats.org/drawingml/2006/table">
            <a:tbl>
              <a:tblPr/>
              <a:tblGrid>
                <a:gridCol w="1683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3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3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3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3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83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836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206500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3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Model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0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Parameter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0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Calculation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0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Prob(data)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4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Ln(prob)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3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Prob. ratio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3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ML says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6500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6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Fair coin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4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prob(Heads)=0.5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4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4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36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36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36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6500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6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Biased coin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4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4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4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36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36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36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droppedImage.png" descr="droppedImage.png">
            <a:extLst>
              <a:ext uri="{FF2B5EF4-FFF2-40B4-BE49-F238E27FC236}">
                <a16:creationId xmlns:a16="http://schemas.microsoft.com/office/drawing/2014/main" id="{76E43FE0-59A2-7849-AD4C-7044D74DD2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301938" y="899340"/>
            <a:ext cx="2336801" cy="1742261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Likelihood = probability of the data, assuming a model…"/>
          <p:cNvSpPr txBox="1">
            <a:spLocks noGrp="1"/>
          </p:cNvSpPr>
          <p:nvPr>
            <p:ph type="body" sz="half" idx="1"/>
          </p:nvPr>
        </p:nvSpPr>
        <p:spPr>
          <a:xfrm>
            <a:off x="330201" y="2641601"/>
            <a:ext cx="11404602" cy="2578101"/>
          </a:xfrm>
          <a:prstGeom prst="rect">
            <a:avLst/>
          </a:prstGeom>
        </p:spPr>
        <p:txBody>
          <a:bodyPr/>
          <a:lstStyle/>
          <a:p>
            <a:r>
              <a:rPr dirty="0">
                <a:latin typeface="Calibri"/>
                <a:cs typeface="Calibri"/>
              </a:rPr>
              <a:t>Likelihood = probability of the data, assuming a model</a:t>
            </a:r>
          </a:p>
          <a:p>
            <a:endParaRPr dirty="0">
              <a:latin typeface="Calibri"/>
              <a:cs typeface="Calibri"/>
            </a:endParaRPr>
          </a:p>
          <a:p>
            <a:r>
              <a:rPr dirty="0">
                <a:latin typeface="Calibri"/>
                <a:cs typeface="Calibri"/>
              </a:rPr>
              <a:t>Maximum Likelihood (ML): find the parameter values that maximize the probability of the data</a:t>
            </a:r>
          </a:p>
        </p:txBody>
      </p:sp>
    </p:spTree>
    <p:extLst>
      <p:ext uri="{BB962C8B-B14F-4D97-AF65-F5344CB8AC3E}">
        <p14:creationId xmlns:p14="http://schemas.microsoft.com/office/powerpoint/2010/main" val="618209204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1270001" y="546100"/>
            <a:ext cx="10464801" cy="1511300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t>Maximum Likelihood</a:t>
            </a:r>
          </a:p>
          <a:p>
            <a:pPr>
              <a:defRPr sz="4800" b="1"/>
            </a:pPr>
            <a:r>
              <a:t>Inference</a:t>
            </a:r>
          </a:p>
        </p:txBody>
      </p:sp>
      <p:sp>
        <p:nvSpPr>
          <p:cNvPr id="151" name="For example: coin-flipping…"/>
          <p:cNvSpPr txBox="1"/>
          <p:nvPr/>
        </p:nvSpPr>
        <p:spPr>
          <a:xfrm>
            <a:off x="641548" y="4779507"/>
            <a:ext cx="8701776" cy="1210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3600" b="0">
                <a:latin typeface="Gill Sans"/>
                <a:ea typeface="Gill Sans"/>
                <a:cs typeface="Gill Sans"/>
                <a:sym typeface="Gill Sans"/>
              </a:defRPr>
            </a:pPr>
            <a:r>
              <a:rPr sz="3600" dirty="0"/>
              <a:t>For example: coin-flipping</a:t>
            </a:r>
          </a:p>
          <a:p>
            <a:pPr lvl="1">
              <a:defRPr sz="3600" b="0">
                <a:latin typeface="Gill Sans"/>
                <a:ea typeface="Gill Sans"/>
                <a:cs typeface="Gill Sans"/>
                <a:sym typeface="Gill Sans"/>
              </a:defRPr>
            </a:pPr>
            <a:r>
              <a:rPr sz="3600" dirty="0"/>
              <a:t>Data: HHHHHHHTTT -- 7 Heads, then 3 Tails</a:t>
            </a:r>
          </a:p>
        </p:txBody>
      </p:sp>
      <p:graphicFrame>
        <p:nvGraphicFramePr>
          <p:cNvPr id="152" name="Table"/>
          <p:cNvGraphicFramePr/>
          <p:nvPr/>
        </p:nvGraphicFramePr>
        <p:xfrm>
          <a:off x="546101" y="6019800"/>
          <a:ext cx="11785599" cy="3619500"/>
        </p:xfrm>
        <a:graphic>
          <a:graphicData uri="http://schemas.openxmlformats.org/drawingml/2006/table">
            <a:tbl>
              <a:tblPr/>
              <a:tblGrid>
                <a:gridCol w="1683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3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3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3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3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83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836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206500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3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Model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0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Parameter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0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Calculation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0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Prob(data)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4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Ln(prob)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3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Prob. ratio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3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ML says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6500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6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Fair coin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4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prob(Heads)=0.5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4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4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36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36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36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6500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6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Biased coin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4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prob(Heads)=0.7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4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4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36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36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36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droppedImage.png" descr="droppedImage.png">
            <a:extLst>
              <a:ext uri="{FF2B5EF4-FFF2-40B4-BE49-F238E27FC236}">
                <a16:creationId xmlns:a16="http://schemas.microsoft.com/office/drawing/2014/main" id="{FE194AE2-05E1-DD4A-ADB0-11FACED8FE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301938" y="899340"/>
            <a:ext cx="2336801" cy="1742261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Likelihood = probability of the data, assuming a model…"/>
          <p:cNvSpPr txBox="1">
            <a:spLocks noGrp="1"/>
          </p:cNvSpPr>
          <p:nvPr>
            <p:ph type="body" sz="half" idx="1"/>
          </p:nvPr>
        </p:nvSpPr>
        <p:spPr>
          <a:xfrm>
            <a:off x="330201" y="2641601"/>
            <a:ext cx="11404602" cy="2578101"/>
          </a:xfrm>
          <a:prstGeom prst="rect">
            <a:avLst/>
          </a:prstGeom>
        </p:spPr>
        <p:txBody>
          <a:bodyPr/>
          <a:lstStyle/>
          <a:p>
            <a:r>
              <a:rPr dirty="0">
                <a:latin typeface="Calibri"/>
                <a:cs typeface="Calibri"/>
              </a:rPr>
              <a:t>Likelihood = probability of the data, assuming a model</a:t>
            </a:r>
          </a:p>
          <a:p>
            <a:endParaRPr dirty="0">
              <a:latin typeface="Calibri"/>
              <a:cs typeface="Calibri"/>
            </a:endParaRPr>
          </a:p>
          <a:p>
            <a:r>
              <a:rPr dirty="0">
                <a:latin typeface="Calibri"/>
                <a:cs typeface="Calibri"/>
              </a:rPr>
              <a:t>Maximum Likelihood (ML): find the parameter values that maximize the probability of the data</a:t>
            </a:r>
          </a:p>
        </p:txBody>
      </p:sp>
    </p:spTree>
    <p:extLst>
      <p:ext uri="{BB962C8B-B14F-4D97-AF65-F5344CB8AC3E}">
        <p14:creationId xmlns:p14="http://schemas.microsoft.com/office/powerpoint/2010/main" val="2967035596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1270001" y="546100"/>
            <a:ext cx="10464801" cy="1511300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t>Maximum Likelihood</a:t>
            </a:r>
          </a:p>
          <a:p>
            <a:pPr>
              <a:defRPr sz="4800" b="1"/>
            </a:pPr>
            <a:r>
              <a:t>Inference</a:t>
            </a:r>
          </a:p>
        </p:txBody>
      </p:sp>
      <p:sp>
        <p:nvSpPr>
          <p:cNvPr id="157" name="For example: coin-flipping…"/>
          <p:cNvSpPr txBox="1"/>
          <p:nvPr/>
        </p:nvSpPr>
        <p:spPr>
          <a:xfrm>
            <a:off x="641548" y="4779507"/>
            <a:ext cx="8701776" cy="1210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3600" b="0">
                <a:latin typeface="Gill Sans"/>
                <a:ea typeface="Gill Sans"/>
                <a:cs typeface="Gill Sans"/>
                <a:sym typeface="Gill Sans"/>
              </a:defRPr>
            </a:pPr>
            <a:r>
              <a:rPr sz="3600"/>
              <a:t>For example: coin-flipping</a:t>
            </a:r>
          </a:p>
          <a:p>
            <a:pPr lvl="1">
              <a:defRPr sz="3600" b="0">
                <a:latin typeface="Gill Sans"/>
                <a:ea typeface="Gill Sans"/>
                <a:cs typeface="Gill Sans"/>
                <a:sym typeface="Gill Sans"/>
              </a:defRPr>
            </a:pPr>
            <a:r>
              <a:rPr sz="3600"/>
              <a:t>Data: HHHHHHHTTT -- 7 Heads, then 3 Tails</a:t>
            </a:r>
          </a:p>
        </p:txBody>
      </p:sp>
      <p:graphicFrame>
        <p:nvGraphicFramePr>
          <p:cNvPr id="158" name="Table"/>
          <p:cNvGraphicFramePr/>
          <p:nvPr/>
        </p:nvGraphicFramePr>
        <p:xfrm>
          <a:off x="546101" y="6019800"/>
          <a:ext cx="11785599" cy="3619500"/>
        </p:xfrm>
        <a:graphic>
          <a:graphicData uri="http://schemas.openxmlformats.org/drawingml/2006/table">
            <a:tbl>
              <a:tblPr/>
              <a:tblGrid>
                <a:gridCol w="1683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3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3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3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3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83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836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206500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3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Model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0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Parameter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0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Calculation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0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Prob(data)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4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Ln(prob)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3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Prob. ratio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3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ML says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6500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6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Fair coin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4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prob(Heads)=0.5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r>
                        <a:rPr sz="2400"/>
                        <a:t>0.5</a:t>
                      </a:r>
                      <a:r>
                        <a:rPr sz="2400" baseline="31999"/>
                        <a:t>7</a:t>
                      </a:r>
                      <a:r>
                        <a:rPr sz="2400"/>
                        <a:t>x0.5</a:t>
                      </a:r>
                      <a:r>
                        <a:rPr sz="2400" baseline="31999"/>
                        <a:t>3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4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36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36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36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6500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6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Biased coin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4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prob(Heads)=0.7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4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4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36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36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36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droppedImage.png" descr="droppedImage.png">
            <a:extLst>
              <a:ext uri="{FF2B5EF4-FFF2-40B4-BE49-F238E27FC236}">
                <a16:creationId xmlns:a16="http://schemas.microsoft.com/office/drawing/2014/main" id="{A830089A-EEC2-5048-AAE6-CC11EBD058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301938" y="899340"/>
            <a:ext cx="2336801" cy="1742261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Likelihood = probability of the data, assuming a model…"/>
          <p:cNvSpPr txBox="1">
            <a:spLocks noGrp="1"/>
          </p:cNvSpPr>
          <p:nvPr>
            <p:ph type="body" sz="half" idx="1"/>
          </p:nvPr>
        </p:nvSpPr>
        <p:spPr>
          <a:xfrm>
            <a:off x="330201" y="2641601"/>
            <a:ext cx="11404602" cy="2578101"/>
          </a:xfrm>
          <a:prstGeom prst="rect">
            <a:avLst/>
          </a:prstGeom>
        </p:spPr>
        <p:txBody>
          <a:bodyPr/>
          <a:lstStyle/>
          <a:p>
            <a:r>
              <a:rPr dirty="0">
                <a:latin typeface="Calibri"/>
                <a:cs typeface="Calibri"/>
              </a:rPr>
              <a:t>Likelihood = probability of the data, assuming a model</a:t>
            </a:r>
          </a:p>
          <a:p>
            <a:endParaRPr dirty="0">
              <a:latin typeface="Calibri"/>
              <a:cs typeface="Calibri"/>
            </a:endParaRPr>
          </a:p>
          <a:p>
            <a:r>
              <a:rPr dirty="0">
                <a:latin typeface="Calibri"/>
                <a:cs typeface="Calibri"/>
              </a:rPr>
              <a:t>Maximum Likelihood (ML): find the parameter values that maximize the probability of the data</a:t>
            </a:r>
          </a:p>
        </p:txBody>
      </p:sp>
    </p:spTree>
    <p:extLst>
      <p:ext uri="{BB962C8B-B14F-4D97-AF65-F5344CB8AC3E}">
        <p14:creationId xmlns:p14="http://schemas.microsoft.com/office/powerpoint/2010/main" val="2751646325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1270001" y="546100"/>
            <a:ext cx="10464801" cy="1511300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t>Maximum Likelihood</a:t>
            </a:r>
          </a:p>
          <a:p>
            <a:pPr>
              <a:defRPr sz="4800" b="1"/>
            </a:pPr>
            <a:r>
              <a:t>Inference</a:t>
            </a:r>
          </a:p>
        </p:txBody>
      </p:sp>
      <p:sp>
        <p:nvSpPr>
          <p:cNvPr id="163" name="For example: coin-flipping…"/>
          <p:cNvSpPr txBox="1"/>
          <p:nvPr/>
        </p:nvSpPr>
        <p:spPr>
          <a:xfrm>
            <a:off x="641548" y="4779507"/>
            <a:ext cx="8701776" cy="1210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3600" b="0">
                <a:latin typeface="Gill Sans"/>
                <a:ea typeface="Gill Sans"/>
                <a:cs typeface="Gill Sans"/>
                <a:sym typeface="Gill Sans"/>
              </a:defRPr>
            </a:pPr>
            <a:r>
              <a:rPr sz="3600"/>
              <a:t>For example: coin-flipping</a:t>
            </a:r>
          </a:p>
          <a:p>
            <a:pPr lvl="1">
              <a:defRPr sz="3600" b="0">
                <a:latin typeface="Gill Sans"/>
                <a:ea typeface="Gill Sans"/>
                <a:cs typeface="Gill Sans"/>
                <a:sym typeface="Gill Sans"/>
              </a:defRPr>
            </a:pPr>
            <a:r>
              <a:rPr sz="3600"/>
              <a:t>Data: HHHHHHHTTT -- 7 Heads, then 3 Tails</a:t>
            </a:r>
          </a:p>
        </p:txBody>
      </p:sp>
      <p:graphicFrame>
        <p:nvGraphicFramePr>
          <p:cNvPr id="164" name="Table"/>
          <p:cNvGraphicFramePr/>
          <p:nvPr/>
        </p:nvGraphicFramePr>
        <p:xfrm>
          <a:off x="546101" y="6019800"/>
          <a:ext cx="11785599" cy="3619500"/>
        </p:xfrm>
        <a:graphic>
          <a:graphicData uri="http://schemas.openxmlformats.org/drawingml/2006/table">
            <a:tbl>
              <a:tblPr/>
              <a:tblGrid>
                <a:gridCol w="1683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3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3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3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3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83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836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206500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3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Model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0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Parameter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0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Calculation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0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Prob(data)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4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Ln(prob)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3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Prob. ratio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3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ML says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6500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6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Fair coin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4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prob(Heads)=0.5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r>
                        <a:rPr sz="2400"/>
                        <a:t>0.5</a:t>
                      </a:r>
                      <a:r>
                        <a:rPr sz="2400" baseline="31999"/>
                        <a:t>7</a:t>
                      </a:r>
                      <a:r>
                        <a:rPr sz="2400"/>
                        <a:t>x0.5</a:t>
                      </a:r>
                      <a:r>
                        <a:rPr sz="2400" baseline="31999"/>
                        <a:t>3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4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36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36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36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6500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6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Biased coin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4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prob(Heads)=0.7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r>
                        <a:rPr sz="2400"/>
                        <a:t>0.7</a:t>
                      </a:r>
                      <a:r>
                        <a:rPr sz="2400" baseline="31999"/>
                        <a:t>7</a:t>
                      </a:r>
                      <a:r>
                        <a:rPr sz="2400"/>
                        <a:t>x0.3</a:t>
                      </a:r>
                      <a:r>
                        <a:rPr sz="2400" baseline="31999"/>
                        <a:t>3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400" dirty="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36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36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3600" dirty="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droppedImage.png" descr="droppedImage.png">
            <a:extLst>
              <a:ext uri="{FF2B5EF4-FFF2-40B4-BE49-F238E27FC236}">
                <a16:creationId xmlns:a16="http://schemas.microsoft.com/office/drawing/2014/main" id="{130FCF3E-B86C-DB42-A665-621D23BF55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301938" y="899340"/>
            <a:ext cx="2336801" cy="1742261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Likelihood = probability of the data, assuming a model…"/>
          <p:cNvSpPr txBox="1">
            <a:spLocks noGrp="1"/>
          </p:cNvSpPr>
          <p:nvPr>
            <p:ph type="body" sz="half" idx="1"/>
          </p:nvPr>
        </p:nvSpPr>
        <p:spPr>
          <a:xfrm>
            <a:off x="330201" y="2641601"/>
            <a:ext cx="11404602" cy="2578101"/>
          </a:xfrm>
          <a:prstGeom prst="rect">
            <a:avLst/>
          </a:prstGeom>
        </p:spPr>
        <p:txBody>
          <a:bodyPr/>
          <a:lstStyle/>
          <a:p>
            <a:r>
              <a:rPr dirty="0">
                <a:latin typeface="Calibri"/>
                <a:cs typeface="Calibri"/>
              </a:rPr>
              <a:t>Likelihood = probability of the data, assuming a model</a:t>
            </a:r>
          </a:p>
          <a:p>
            <a:endParaRPr dirty="0">
              <a:latin typeface="Calibri"/>
              <a:cs typeface="Calibri"/>
            </a:endParaRPr>
          </a:p>
          <a:p>
            <a:r>
              <a:rPr dirty="0">
                <a:latin typeface="Calibri"/>
                <a:cs typeface="Calibri"/>
              </a:rPr>
              <a:t>Maximum Likelihood (ML): find the parameter values that maximize the probability of the data</a:t>
            </a:r>
          </a:p>
        </p:txBody>
      </p:sp>
    </p:spTree>
    <p:extLst>
      <p:ext uri="{BB962C8B-B14F-4D97-AF65-F5344CB8AC3E}">
        <p14:creationId xmlns:p14="http://schemas.microsoft.com/office/powerpoint/2010/main" val="3188321179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1270001" y="546100"/>
            <a:ext cx="10464801" cy="1511300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t>Maximum Likelihood</a:t>
            </a:r>
          </a:p>
          <a:p>
            <a:pPr>
              <a:defRPr sz="4800" b="1"/>
            </a:pPr>
            <a:r>
              <a:t>Inference</a:t>
            </a:r>
          </a:p>
        </p:txBody>
      </p:sp>
      <p:sp>
        <p:nvSpPr>
          <p:cNvPr id="169" name="For example: coin-flipping…"/>
          <p:cNvSpPr txBox="1"/>
          <p:nvPr/>
        </p:nvSpPr>
        <p:spPr>
          <a:xfrm>
            <a:off x="641548" y="4779507"/>
            <a:ext cx="8701776" cy="1210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3600" b="0">
                <a:latin typeface="Gill Sans"/>
                <a:ea typeface="Gill Sans"/>
                <a:cs typeface="Gill Sans"/>
                <a:sym typeface="Gill Sans"/>
              </a:defRPr>
            </a:pPr>
            <a:r>
              <a:rPr sz="3600" dirty="0"/>
              <a:t>For example: coin-flipping</a:t>
            </a:r>
          </a:p>
          <a:p>
            <a:pPr lvl="1">
              <a:defRPr sz="3600" b="0">
                <a:latin typeface="Gill Sans"/>
                <a:ea typeface="Gill Sans"/>
                <a:cs typeface="Gill Sans"/>
                <a:sym typeface="Gill Sans"/>
              </a:defRPr>
            </a:pPr>
            <a:r>
              <a:rPr sz="3600" dirty="0"/>
              <a:t>Data: HHHHHHHTTT -- 7 Heads, then 3 Tails</a:t>
            </a:r>
          </a:p>
        </p:txBody>
      </p:sp>
      <p:graphicFrame>
        <p:nvGraphicFramePr>
          <p:cNvPr id="170" name="Table"/>
          <p:cNvGraphicFramePr/>
          <p:nvPr/>
        </p:nvGraphicFramePr>
        <p:xfrm>
          <a:off x="546101" y="6019800"/>
          <a:ext cx="11785599" cy="3619500"/>
        </p:xfrm>
        <a:graphic>
          <a:graphicData uri="http://schemas.openxmlformats.org/drawingml/2006/table">
            <a:tbl>
              <a:tblPr/>
              <a:tblGrid>
                <a:gridCol w="1683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3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3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3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3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83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836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206500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3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Model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0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Parameter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0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Calculation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0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Prob(data)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4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Ln(prob)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3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Prob. ratio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3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ML says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6500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6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Fair coin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4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prob(Heads)=0.5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r>
                        <a:rPr sz="2400"/>
                        <a:t>0.5</a:t>
                      </a:r>
                      <a:r>
                        <a:rPr sz="2400" baseline="31999"/>
                        <a:t>7</a:t>
                      </a:r>
                      <a:r>
                        <a:rPr sz="2400"/>
                        <a:t>x0.5</a:t>
                      </a:r>
                      <a:r>
                        <a:rPr sz="2400" baseline="31999"/>
                        <a:t>3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4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0.000977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36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36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36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6500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6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Biased coin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4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prob(Heads)=0.7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r>
                        <a:rPr sz="2400"/>
                        <a:t>0.7</a:t>
                      </a:r>
                      <a:r>
                        <a:rPr sz="2400" baseline="31999"/>
                        <a:t>7</a:t>
                      </a:r>
                      <a:r>
                        <a:rPr sz="2400"/>
                        <a:t>x0.3</a:t>
                      </a:r>
                      <a:r>
                        <a:rPr sz="2400" baseline="31999"/>
                        <a:t>3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4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0.00222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36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36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36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droppedImage.png" descr="droppedImage.png">
            <a:extLst>
              <a:ext uri="{FF2B5EF4-FFF2-40B4-BE49-F238E27FC236}">
                <a16:creationId xmlns:a16="http://schemas.microsoft.com/office/drawing/2014/main" id="{CCA0208A-BA2C-3E47-B525-214C643EB5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301938" y="899340"/>
            <a:ext cx="2336801" cy="1742261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Likelihood = probability of the data, assuming a model…"/>
          <p:cNvSpPr txBox="1">
            <a:spLocks noGrp="1"/>
          </p:cNvSpPr>
          <p:nvPr>
            <p:ph type="body" sz="half" idx="1"/>
          </p:nvPr>
        </p:nvSpPr>
        <p:spPr>
          <a:xfrm>
            <a:off x="330201" y="2641601"/>
            <a:ext cx="11404602" cy="2578101"/>
          </a:xfrm>
          <a:prstGeom prst="rect">
            <a:avLst/>
          </a:prstGeom>
        </p:spPr>
        <p:txBody>
          <a:bodyPr/>
          <a:lstStyle/>
          <a:p>
            <a:r>
              <a:rPr dirty="0">
                <a:latin typeface="Calibri"/>
                <a:cs typeface="Calibri"/>
              </a:rPr>
              <a:t>Likelihood = probability of the data, assuming a model</a:t>
            </a:r>
          </a:p>
          <a:p>
            <a:endParaRPr dirty="0">
              <a:latin typeface="Calibri"/>
              <a:cs typeface="Calibri"/>
            </a:endParaRPr>
          </a:p>
          <a:p>
            <a:r>
              <a:rPr dirty="0">
                <a:latin typeface="Calibri"/>
                <a:cs typeface="Calibri"/>
              </a:rPr>
              <a:t>Maximum Likelihood (ML): find the parameter values that maximize the probability of the data</a:t>
            </a:r>
          </a:p>
        </p:txBody>
      </p:sp>
    </p:spTree>
    <p:extLst>
      <p:ext uri="{BB962C8B-B14F-4D97-AF65-F5344CB8AC3E}">
        <p14:creationId xmlns:p14="http://schemas.microsoft.com/office/powerpoint/2010/main" val="137828400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1270001" y="546100"/>
            <a:ext cx="10464801" cy="1511300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t>Maximum Likelihood</a:t>
            </a:r>
          </a:p>
          <a:p>
            <a:pPr>
              <a:defRPr sz="4800" b="1"/>
            </a:pPr>
            <a:r>
              <a:t>Inference</a:t>
            </a:r>
          </a:p>
        </p:txBody>
      </p:sp>
      <p:sp>
        <p:nvSpPr>
          <p:cNvPr id="175" name="For example: coin-flipping…"/>
          <p:cNvSpPr txBox="1"/>
          <p:nvPr/>
        </p:nvSpPr>
        <p:spPr>
          <a:xfrm>
            <a:off x="641548" y="4779507"/>
            <a:ext cx="8701776" cy="1210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3600" b="0">
                <a:latin typeface="Gill Sans"/>
                <a:ea typeface="Gill Sans"/>
                <a:cs typeface="Gill Sans"/>
                <a:sym typeface="Gill Sans"/>
              </a:defRPr>
            </a:pPr>
            <a:r>
              <a:rPr sz="3600"/>
              <a:t>For example: coin-flipping</a:t>
            </a:r>
          </a:p>
          <a:p>
            <a:pPr lvl="1">
              <a:defRPr sz="3600" b="0">
                <a:latin typeface="Gill Sans"/>
                <a:ea typeface="Gill Sans"/>
                <a:cs typeface="Gill Sans"/>
                <a:sym typeface="Gill Sans"/>
              </a:defRPr>
            </a:pPr>
            <a:r>
              <a:rPr sz="3600"/>
              <a:t>Data: HHHHHHHTTT -- 7 Heads, then 3 Tails</a:t>
            </a:r>
          </a:p>
        </p:txBody>
      </p:sp>
      <p:graphicFrame>
        <p:nvGraphicFramePr>
          <p:cNvPr id="176" name="Table"/>
          <p:cNvGraphicFramePr/>
          <p:nvPr/>
        </p:nvGraphicFramePr>
        <p:xfrm>
          <a:off x="546101" y="6019800"/>
          <a:ext cx="11785599" cy="3619500"/>
        </p:xfrm>
        <a:graphic>
          <a:graphicData uri="http://schemas.openxmlformats.org/drawingml/2006/table">
            <a:tbl>
              <a:tblPr/>
              <a:tblGrid>
                <a:gridCol w="1683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3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3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3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3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83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836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206500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3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Model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0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Parameter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0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Calculation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0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Prob(data)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4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Ln(prob)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3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Prob. ratio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3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ML says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6500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6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Fair coin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4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prob(Heads)=0.5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r>
                        <a:rPr sz="2400"/>
                        <a:t>0.5</a:t>
                      </a:r>
                      <a:r>
                        <a:rPr sz="2400" baseline="31999"/>
                        <a:t>7</a:t>
                      </a:r>
                      <a:r>
                        <a:rPr sz="2400"/>
                        <a:t>x0.5</a:t>
                      </a:r>
                      <a:r>
                        <a:rPr sz="2400" baseline="31999"/>
                        <a:t>3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4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0.000977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6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-6.93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36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36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6500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6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Biased coin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4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prob(Heads)=0.7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r>
                        <a:rPr sz="2400"/>
                        <a:t>0.7</a:t>
                      </a:r>
                      <a:r>
                        <a:rPr sz="2400" baseline="31999"/>
                        <a:t>7</a:t>
                      </a:r>
                      <a:r>
                        <a:rPr sz="2400"/>
                        <a:t>x0.3</a:t>
                      </a:r>
                      <a:r>
                        <a:rPr sz="2400" baseline="31999"/>
                        <a:t>3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400" dirty="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0.00222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6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-6.11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36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3600" dirty="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droppedImage.png" descr="droppedImage.png">
            <a:extLst>
              <a:ext uri="{FF2B5EF4-FFF2-40B4-BE49-F238E27FC236}">
                <a16:creationId xmlns:a16="http://schemas.microsoft.com/office/drawing/2014/main" id="{FFB07A93-6150-9C4E-8E4B-C768B5E059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301938" y="899340"/>
            <a:ext cx="2336801" cy="1742261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Likelihood = probability of the data, assuming a model…"/>
          <p:cNvSpPr txBox="1">
            <a:spLocks noGrp="1"/>
          </p:cNvSpPr>
          <p:nvPr>
            <p:ph type="body" sz="half" idx="1"/>
          </p:nvPr>
        </p:nvSpPr>
        <p:spPr>
          <a:xfrm>
            <a:off x="330201" y="2641601"/>
            <a:ext cx="11404602" cy="2578101"/>
          </a:xfrm>
          <a:prstGeom prst="rect">
            <a:avLst/>
          </a:prstGeom>
        </p:spPr>
        <p:txBody>
          <a:bodyPr/>
          <a:lstStyle/>
          <a:p>
            <a:r>
              <a:rPr dirty="0">
                <a:latin typeface="Calibri"/>
                <a:cs typeface="Calibri"/>
              </a:rPr>
              <a:t>Likelihood = probability of the data, assuming a model</a:t>
            </a:r>
          </a:p>
          <a:p>
            <a:endParaRPr dirty="0">
              <a:latin typeface="Calibri"/>
              <a:cs typeface="Calibri"/>
            </a:endParaRPr>
          </a:p>
          <a:p>
            <a:r>
              <a:rPr dirty="0">
                <a:latin typeface="Calibri"/>
                <a:cs typeface="Calibri"/>
              </a:rPr>
              <a:t>Maximum Likelihood (ML): find the parameter values that maximize the probability of the data</a:t>
            </a:r>
          </a:p>
        </p:txBody>
      </p:sp>
    </p:spTree>
    <p:extLst>
      <p:ext uri="{BB962C8B-B14F-4D97-AF65-F5344CB8AC3E}">
        <p14:creationId xmlns:p14="http://schemas.microsoft.com/office/powerpoint/2010/main" val="110448923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1270001" y="546100"/>
            <a:ext cx="10464801" cy="1511300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t>Maximum Likelihood</a:t>
            </a:r>
          </a:p>
          <a:p>
            <a:pPr>
              <a:defRPr sz="4800" b="1"/>
            </a:pPr>
            <a:r>
              <a:t>Inference</a:t>
            </a:r>
          </a:p>
        </p:txBody>
      </p:sp>
      <p:sp>
        <p:nvSpPr>
          <p:cNvPr id="181" name="For example: coin-flipping…"/>
          <p:cNvSpPr txBox="1"/>
          <p:nvPr/>
        </p:nvSpPr>
        <p:spPr>
          <a:xfrm>
            <a:off x="641548" y="4779507"/>
            <a:ext cx="8701776" cy="1210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3600" b="0">
                <a:latin typeface="Gill Sans"/>
                <a:ea typeface="Gill Sans"/>
                <a:cs typeface="Gill Sans"/>
                <a:sym typeface="Gill Sans"/>
              </a:defRPr>
            </a:pPr>
            <a:r>
              <a:rPr sz="3600"/>
              <a:t>For example: coin-flipping</a:t>
            </a:r>
          </a:p>
          <a:p>
            <a:pPr lvl="1">
              <a:defRPr sz="3600" b="0">
                <a:latin typeface="Gill Sans"/>
                <a:ea typeface="Gill Sans"/>
                <a:cs typeface="Gill Sans"/>
                <a:sym typeface="Gill Sans"/>
              </a:defRPr>
            </a:pPr>
            <a:r>
              <a:rPr sz="3600"/>
              <a:t>Data: HHHHHHHTTT -- 7 Heads, then 3 Tails</a:t>
            </a:r>
          </a:p>
        </p:txBody>
      </p:sp>
      <p:graphicFrame>
        <p:nvGraphicFramePr>
          <p:cNvPr id="182" name="Table"/>
          <p:cNvGraphicFramePr/>
          <p:nvPr/>
        </p:nvGraphicFramePr>
        <p:xfrm>
          <a:off x="546101" y="6019800"/>
          <a:ext cx="11785599" cy="3619500"/>
        </p:xfrm>
        <a:graphic>
          <a:graphicData uri="http://schemas.openxmlformats.org/drawingml/2006/table">
            <a:tbl>
              <a:tblPr/>
              <a:tblGrid>
                <a:gridCol w="1683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3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3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3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3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83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836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206500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3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Model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0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Parameter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0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Calculation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0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Prob(data)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4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Ln(prob)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3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Prob. ratio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3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ML says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6500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6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Fair coin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4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prob(Heads)=0.5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r>
                        <a:rPr sz="2400"/>
                        <a:t>0.5</a:t>
                      </a:r>
                      <a:r>
                        <a:rPr sz="2400" baseline="31999"/>
                        <a:t>7</a:t>
                      </a:r>
                      <a:r>
                        <a:rPr sz="2400"/>
                        <a:t>x0.5</a:t>
                      </a:r>
                      <a:r>
                        <a:rPr sz="2400" baseline="31999"/>
                        <a:t>3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4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0.000977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6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-6.93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6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36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6500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6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Biased coin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4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prob(Heads)=0.7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r>
                        <a:rPr sz="2400"/>
                        <a:t>0.7</a:t>
                      </a:r>
                      <a:r>
                        <a:rPr sz="2400" baseline="31999"/>
                        <a:t>7</a:t>
                      </a:r>
                      <a:r>
                        <a:rPr sz="2400"/>
                        <a:t>x0.3</a:t>
                      </a:r>
                      <a:r>
                        <a:rPr sz="2400" baseline="31999"/>
                        <a:t>3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400" dirty="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0.00222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6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-6.11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6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2.28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3600" dirty="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droppedImage.png" descr="droppedImage.png">
            <a:extLst>
              <a:ext uri="{FF2B5EF4-FFF2-40B4-BE49-F238E27FC236}">
                <a16:creationId xmlns:a16="http://schemas.microsoft.com/office/drawing/2014/main" id="{B1D43974-3233-D146-89D7-76A0C14C94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301938" y="899340"/>
            <a:ext cx="2336801" cy="1742261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Likelihood = probability of the data, assuming a model…"/>
          <p:cNvSpPr txBox="1">
            <a:spLocks noGrp="1"/>
          </p:cNvSpPr>
          <p:nvPr>
            <p:ph type="body" sz="half" idx="1"/>
          </p:nvPr>
        </p:nvSpPr>
        <p:spPr>
          <a:xfrm>
            <a:off x="330201" y="2641601"/>
            <a:ext cx="11404602" cy="2578101"/>
          </a:xfrm>
          <a:prstGeom prst="rect">
            <a:avLst/>
          </a:prstGeom>
        </p:spPr>
        <p:txBody>
          <a:bodyPr/>
          <a:lstStyle/>
          <a:p>
            <a:r>
              <a:rPr dirty="0">
                <a:latin typeface="Calibri"/>
                <a:cs typeface="Calibri"/>
              </a:rPr>
              <a:t>Likelihood = probability of the data, assuming a model</a:t>
            </a:r>
          </a:p>
          <a:p>
            <a:endParaRPr dirty="0">
              <a:latin typeface="Calibri"/>
              <a:cs typeface="Calibri"/>
            </a:endParaRPr>
          </a:p>
          <a:p>
            <a:r>
              <a:rPr dirty="0">
                <a:latin typeface="Calibri"/>
                <a:cs typeface="Calibri"/>
              </a:rPr>
              <a:t>Maximum Likelihood (ML): find the parameter values that maximize the probability of the data</a:t>
            </a:r>
          </a:p>
        </p:txBody>
      </p:sp>
    </p:spTree>
    <p:extLst>
      <p:ext uri="{BB962C8B-B14F-4D97-AF65-F5344CB8AC3E}">
        <p14:creationId xmlns:p14="http://schemas.microsoft.com/office/powerpoint/2010/main" val="2832329203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1270001" y="546100"/>
            <a:ext cx="10464801" cy="1511300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t>Maximum Likelihood</a:t>
            </a:r>
          </a:p>
          <a:p>
            <a:pPr>
              <a:defRPr sz="4800" b="1"/>
            </a:pPr>
            <a:r>
              <a:t>Inference</a:t>
            </a:r>
          </a:p>
        </p:txBody>
      </p:sp>
      <p:sp>
        <p:nvSpPr>
          <p:cNvPr id="187" name="For example: coin-flipping…"/>
          <p:cNvSpPr txBox="1"/>
          <p:nvPr/>
        </p:nvSpPr>
        <p:spPr>
          <a:xfrm>
            <a:off x="641548" y="4779507"/>
            <a:ext cx="8701776" cy="1210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3600" b="0">
                <a:latin typeface="Gill Sans"/>
                <a:ea typeface="Gill Sans"/>
                <a:cs typeface="Gill Sans"/>
                <a:sym typeface="Gill Sans"/>
              </a:defRPr>
            </a:pPr>
            <a:r>
              <a:rPr sz="3600"/>
              <a:t>For example: coin-flipping</a:t>
            </a:r>
          </a:p>
          <a:p>
            <a:pPr lvl="1">
              <a:defRPr sz="3600" b="0">
                <a:latin typeface="Gill Sans"/>
                <a:ea typeface="Gill Sans"/>
                <a:cs typeface="Gill Sans"/>
                <a:sym typeface="Gill Sans"/>
              </a:defRPr>
            </a:pPr>
            <a:r>
              <a:rPr sz="3600"/>
              <a:t>Data: HHHHHHHTTT -- 7 Heads, then 3 Tails</a:t>
            </a:r>
          </a:p>
        </p:txBody>
      </p:sp>
      <p:graphicFrame>
        <p:nvGraphicFramePr>
          <p:cNvPr id="188" name="Table"/>
          <p:cNvGraphicFramePr/>
          <p:nvPr/>
        </p:nvGraphicFramePr>
        <p:xfrm>
          <a:off x="546101" y="6019800"/>
          <a:ext cx="11785599" cy="3619500"/>
        </p:xfrm>
        <a:graphic>
          <a:graphicData uri="http://schemas.openxmlformats.org/drawingml/2006/table">
            <a:tbl>
              <a:tblPr/>
              <a:tblGrid>
                <a:gridCol w="1683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3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3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3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3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83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836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206500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3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Model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0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Parameter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0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Calculation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0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Prob(data)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4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Ln(prob)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3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Prob. ratio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3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ML says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6500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6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Fair coin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4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prob(Heads)=0.5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r>
                        <a:rPr sz="2400"/>
                        <a:t>0.5</a:t>
                      </a:r>
                      <a:r>
                        <a:rPr sz="2400" baseline="31999"/>
                        <a:t>7</a:t>
                      </a:r>
                      <a:r>
                        <a:rPr sz="2400"/>
                        <a:t>x0.5</a:t>
                      </a:r>
                      <a:r>
                        <a:rPr sz="2400" baseline="31999"/>
                        <a:t>3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4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0.000977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6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-6.93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6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6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worse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6500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6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Biased coin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4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prob(Heads)=0.7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r>
                        <a:rPr sz="2400"/>
                        <a:t>0.7</a:t>
                      </a:r>
                      <a:r>
                        <a:rPr sz="2400" baseline="31999"/>
                        <a:t>7</a:t>
                      </a:r>
                      <a:r>
                        <a:rPr sz="2400"/>
                        <a:t>x0.3</a:t>
                      </a:r>
                      <a:r>
                        <a:rPr sz="2400" baseline="31999"/>
                        <a:t>3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400" dirty="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0.00222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6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-6.11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6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2.28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3600" dirty="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droppedImage.png" descr="droppedImage.png">
            <a:extLst>
              <a:ext uri="{FF2B5EF4-FFF2-40B4-BE49-F238E27FC236}">
                <a16:creationId xmlns:a16="http://schemas.microsoft.com/office/drawing/2014/main" id="{B2B8BBE9-1721-D044-BB88-07B15E380C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301938" y="899340"/>
            <a:ext cx="2336801" cy="1742261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Likelihood = probability of the data, assuming a model…"/>
          <p:cNvSpPr txBox="1">
            <a:spLocks noGrp="1"/>
          </p:cNvSpPr>
          <p:nvPr>
            <p:ph type="body" sz="half" idx="1"/>
          </p:nvPr>
        </p:nvSpPr>
        <p:spPr>
          <a:xfrm>
            <a:off x="330201" y="2641601"/>
            <a:ext cx="11404602" cy="2578101"/>
          </a:xfrm>
          <a:prstGeom prst="rect">
            <a:avLst/>
          </a:prstGeom>
        </p:spPr>
        <p:txBody>
          <a:bodyPr/>
          <a:lstStyle/>
          <a:p>
            <a:r>
              <a:rPr dirty="0">
                <a:latin typeface="Calibri"/>
                <a:cs typeface="Calibri"/>
              </a:rPr>
              <a:t>Likelihood = probability of the data, assuming a model</a:t>
            </a:r>
          </a:p>
          <a:p>
            <a:endParaRPr dirty="0">
              <a:latin typeface="Calibri"/>
              <a:cs typeface="Calibri"/>
            </a:endParaRPr>
          </a:p>
          <a:p>
            <a:r>
              <a:rPr dirty="0">
                <a:latin typeface="Calibri"/>
                <a:cs typeface="Calibri"/>
              </a:rPr>
              <a:t>Maximum Likelihood (ML): find the parameter values that maximize the probability of the data</a:t>
            </a:r>
          </a:p>
        </p:txBody>
      </p:sp>
    </p:spTree>
    <p:extLst>
      <p:ext uri="{BB962C8B-B14F-4D97-AF65-F5344CB8AC3E}">
        <p14:creationId xmlns:p14="http://schemas.microsoft.com/office/powerpoint/2010/main" val="1265922876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1270001" y="546100"/>
            <a:ext cx="10464801" cy="1511300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dirty="0"/>
              <a:t>Maximum Likelihood</a:t>
            </a:r>
          </a:p>
          <a:p>
            <a:pPr>
              <a:defRPr sz="4800" b="1"/>
            </a:pPr>
            <a:r>
              <a:rPr dirty="0"/>
              <a:t>Inference</a:t>
            </a:r>
          </a:p>
        </p:txBody>
      </p:sp>
      <p:sp>
        <p:nvSpPr>
          <p:cNvPr id="193" name="For example: coin-flipping…"/>
          <p:cNvSpPr txBox="1"/>
          <p:nvPr/>
        </p:nvSpPr>
        <p:spPr>
          <a:xfrm>
            <a:off x="641548" y="4779507"/>
            <a:ext cx="8701776" cy="1210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3600" b="0">
                <a:latin typeface="Gill Sans"/>
                <a:ea typeface="Gill Sans"/>
                <a:cs typeface="Gill Sans"/>
                <a:sym typeface="Gill Sans"/>
              </a:defRPr>
            </a:pPr>
            <a:r>
              <a:rPr sz="3600"/>
              <a:t>For example: coin-flipping</a:t>
            </a:r>
          </a:p>
          <a:p>
            <a:pPr lvl="1">
              <a:defRPr sz="3600" b="0">
                <a:latin typeface="Gill Sans"/>
                <a:ea typeface="Gill Sans"/>
                <a:cs typeface="Gill Sans"/>
                <a:sym typeface="Gill Sans"/>
              </a:defRPr>
            </a:pPr>
            <a:r>
              <a:rPr sz="3600"/>
              <a:t>Data: HHHHHHHTTT -- 7 Heads, then 3 Tails</a:t>
            </a:r>
          </a:p>
        </p:txBody>
      </p:sp>
      <p:graphicFrame>
        <p:nvGraphicFramePr>
          <p:cNvPr id="194" name="Table"/>
          <p:cNvGraphicFramePr/>
          <p:nvPr/>
        </p:nvGraphicFramePr>
        <p:xfrm>
          <a:off x="546101" y="6019800"/>
          <a:ext cx="11785599" cy="3619500"/>
        </p:xfrm>
        <a:graphic>
          <a:graphicData uri="http://schemas.openxmlformats.org/drawingml/2006/table">
            <a:tbl>
              <a:tblPr/>
              <a:tblGrid>
                <a:gridCol w="1683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3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3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3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3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83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836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206500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3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Model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0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Parameter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0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Calculation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0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Prob(data)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4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Ln(prob)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3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Prob. ratio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3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ML says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6500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6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Fair coin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4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prob(Heads)=0.5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r>
                        <a:rPr sz="2400"/>
                        <a:t>0.5</a:t>
                      </a:r>
                      <a:r>
                        <a:rPr sz="2400" baseline="31999"/>
                        <a:t>7</a:t>
                      </a:r>
                      <a:r>
                        <a:rPr sz="2400"/>
                        <a:t>x0.5</a:t>
                      </a:r>
                      <a:r>
                        <a:rPr sz="2400" baseline="31999"/>
                        <a:t>3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4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0.000977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6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-6.93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6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6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worse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6500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6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Biased coin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4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prob(Heads)=0.7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r>
                        <a:rPr sz="2400"/>
                        <a:t>0.7</a:t>
                      </a:r>
                      <a:r>
                        <a:rPr sz="2400" baseline="31999"/>
                        <a:t>7</a:t>
                      </a:r>
                      <a:r>
                        <a:rPr sz="2400"/>
                        <a:t>x0.3</a:t>
                      </a:r>
                      <a:r>
                        <a:rPr sz="2400" baseline="31999"/>
                        <a:t>3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400" dirty="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0.00222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6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-6.11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6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2.28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3600" dirty="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better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droppedImage.png" descr="droppedImage.png">
            <a:extLst>
              <a:ext uri="{FF2B5EF4-FFF2-40B4-BE49-F238E27FC236}">
                <a16:creationId xmlns:a16="http://schemas.microsoft.com/office/drawing/2014/main" id="{B2B8BBE9-1721-D044-BB88-07B15E380C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301938" y="899340"/>
            <a:ext cx="2336801" cy="1742261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Likelihood = probability of the data, assuming a model…"/>
          <p:cNvSpPr txBox="1">
            <a:spLocks noGrp="1"/>
          </p:cNvSpPr>
          <p:nvPr>
            <p:ph type="body" sz="half" idx="1"/>
          </p:nvPr>
        </p:nvSpPr>
        <p:spPr>
          <a:xfrm>
            <a:off x="330201" y="2641601"/>
            <a:ext cx="11404602" cy="2578101"/>
          </a:xfrm>
          <a:prstGeom prst="rect">
            <a:avLst/>
          </a:prstGeom>
        </p:spPr>
        <p:txBody>
          <a:bodyPr/>
          <a:lstStyle/>
          <a:p>
            <a:r>
              <a:rPr dirty="0">
                <a:latin typeface="Calibri"/>
                <a:cs typeface="Calibri"/>
              </a:rPr>
              <a:t>Likelihood = probability of the data, assuming a model</a:t>
            </a:r>
          </a:p>
          <a:p>
            <a:endParaRPr dirty="0">
              <a:latin typeface="Calibri"/>
              <a:cs typeface="Calibri"/>
            </a:endParaRPr>
          </a:p>
          <a:p>
            <a:r>
              <a:rPr dirty="0">
                <a:latin typeface="Calibri"/>
                <a:cs typeface="Calibri"/>
              </a:rPr>
              <a:t>Maximum Likelihood (ML): find the parameter values that maximize the probability of the data</a:t>
            </a:r>
          </a:p>
        </p:txBody>
      </p:sp>
    </p:spTree>
    <p:extLst>
      <p:ext uri="{BB962C8B-B14F-4D97-AF65-F5344CB8AC3E}">
        <p14:creationId xmlns:p14="http://schemas.microsoft.com/office/powerpoint/2010/main" val="3911609658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1052885" y="208798"/>
            <a:ext cx="11311660" cy="1055559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sz="3400" dirty="0"/>
              <a:t>We can calculate likelihood or lnL for many different possible parameter values</a:t>
            </a:r>
            <a:endParaRPr sz="3400" dirty="0"/>
          </a:p>
        </p:txBody>
      </p:sp>
      <p:sp>
        <p:nvSpPr>
          <p:cNvPr id="4" name="Rectangle 3"/>
          <p:cNvSpPr/>
          <p:nvPr/>
        </p:nvSpPr>
        <p:spPr>
          <a:xfrm>
            <a:off x="2540000" y="1752600"/>
            <a:ext cx="7361660" cy="900757"/>
          </a:xfrm>
          <a:prstGeom prst="rect">
            <a:avLst/>
          </a:prstGeom>
        </p:spPr>
        <p:txBody>
          <a:bodyPr wrap="square" lIns="130046" tIns="65023" rIns="130046" bIns="65023">
            <a:spAutoFit/>
          </a:bodyPr>
          <a:lstStyle/>
          <a:p>
            <a:pPr algn="ctr"/>
            <a:r>
              <a:rPr lang="en-US" sz="2500" dirty="0"/>
              <a:t>Data/observations are fixed: we observed </a:t>
            </a:r>
            <a:r>
              <a:rPr lang="en-US" sz="2500" u="sng" dirty="0"/>
              <a:t>7 Heads, 3 Tails</a:t>
            </a:r>
            <a:r>
              <a:rPr lang="en-US" sz="2500" dirty="0"/>
              <a:t>. Which parameter value is best? </a:t>
            </a:r>
          </a:p>
        </p:txBody>
      </p:sp>
    </p:spTree>
    <p:extLst>
      <p:ext uri="{BB962C8B-B14F-4D97-AF65-F5344CB8AC3E}">
        <p14:creationId xmlns:p14="http://schemas.microsoft.com/office/powerpoint/2010/main" val="3563526563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1052885" y="208798"/>
            <a:ext cx="11311660" cy="1055559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sz="3400" dirty="0"/>
              <a:t>We can calculate likelihood or lnL for many different possible parameter values</a:t>
            </a:r>
            <a:endParaRPr sz="3400" dirty="0"/>
          </a:p>
        </p:txBody>
      </p:sp>
      <p:grpSp>
        <p:nvGrpSpPr>
          <p:cNvPr id="10" name="Group 9"/>
          <p:cNvGrpSpPr/>
          <p:nvPr/>
        </p:nvGrpSpPr>
        <p:grpSpPr>
          <a:xfrm>
            <a:off x="1254372" y="3093632"/>
            <a:ext cx="11623993" cy="6303716"/>
            <a:chOff x="437480" y="2365710"/>
            <a:chExt cx="8173120" cy="4432300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7480" y="2365710"/>
              <a:ext cx="8089900" cy="4241800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3"/>
            <a:srcRect t="11825" b="-11825"/>
            <a:stretch/>
          </p:blipFill>
          <p:spPr>
            <a:xfrm>
              <a:off x="558800" y="6188410"/>
              <a:ext cx="8051800" cy="609600"/>
            </a:xfrm>
            <a:prstGeom prst="rect">
              <a:avLst/>
            </a:prstGeom>
          </p:spPr>
        </p:pic>
      </p:grpSp>
      <p:sp>
        <p:nvSpPr>
          <p:cNvPr id="2" name="Rectangle 1"/>
          <p:cNvSpPr/>
          <p:nvPr/>
        </p:nvSpPr>
        <p:spPr>
          <a:xfrm>
            <a:off x="2540000" y="1752600"/>
            <a:ext cx="7361660" cy="900757"/>
          </a:xfrm>
          <a:prstGeom prst="rect">
            <a:avLst/>
          </a:prstGeom>
        </p:spPr>
        <p:txBody>
          <a:bodyPr wrap="square" lIns="130046" tIns="65023" rIns="130046" bIns="65023">
            <a:spAutoFit/>
          </a:bodyPr>
          <a:lstStyle/>
          <a:p>
            <a:pPr algn="ctr"/>
            <a:r>
              <a:rPr lang="en-US" sz="2500" dirty="0"/>
              <a:t>Data/observations are fixed: we observed </a:t>
            </a:r>
            <a:r>
              <a:rPr lang="en-US" sz="2500" u="sng" dirty="0"/>
              <a:t>7 Heads, 3 Tails</a:t>
            </a:r>
            <a:r>
              <a:rPr lang="en-US" sz="2500" dirty="0"/>
              <a:t>. Which parameter value is best? </a:t>
            </a:r>
          </a:p>
        </p:txBody>
      </p:sp>
    </p:spTree>
    <p:extLst>
      <p:ext uri="{BB962C8B-B14F-4D97-AF65-F5344CB8AC3E}">
        <p14:creationId xmlns:p14="http://schemas.microsoft.com/office/powerpoint/2010/main" val="875631337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1052885" y="208798"/>
            <a:ext cx="11311660" cy="1055559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sz="3400" dirty="0"/>
              <a:t>We can calculate likelihood or lnL for many different possible parameter values</a:t>
            </a:r>
            <a:endParaRPr sz="3400" dirty="0"/>
          </a:p>
        </p:txBody>
      </p:sp>
      <p:grpSp>
        <p:nvGrpSpPr>
          <p:cNvPr id="10" name="Group 9"/>
          <p:cNvGrpSpPr/>
          <p:nvPr/>
        </p:nvGrpSpPr>
        <p:grpSpPr>
          <a:xfrm>
            <a:off x="1254372" y="3093632"/>
            <a:ext cx="11623993" cy="6303716"/>
            <a:chOff x="437480" y="2365710"/>
            <a:chExt cx="8173120" cy="4432300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7480" y="2365710"/>
              <a:ext cx="8089900" cy="4241800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3"/>
            <a:srcRect t="11825" b="-11825"/>
            <a:stretch/>
          </p:blipFill>
          <p:spPr>
            <a:xfrm>
              <a:off x="558800" y="6188410"/>
              <a:ext cx="8051800" cy="609600"/>
            </a:xfrm>
            <a:prstGeom prst="rect">
              <a:avLst/>
            </a:prstGeom>
          </p:spPr>
        </p:pic>
      </p:grpSp>
      <p:sp>
        <p:nvSpPr>
          <p:cNvPr id="6" name="Rectangle 5"/>
          <p:cNvSpPr/>
          <p:nvPr/>
        </p:nvSpPr>
        <p:spPr>
          <a:xfrm>
            <a:off x="1" y="5606129"/>
            <a:ext cx="1801707" cy="685314"/>
          </a:xfrm>
          <a:prstGeom prst="rect">
            <a:avLst/>
          </a:prstGeom>
        </p:spPr>
        <p:txBody>
          <a:bodyPr wrap="square" lIns="130046" tIns="65023" rIns="130046" bIns="65023">
            <a:spAutoFit/>
          </a:bodyPr>
          <a:lstStyle/>
          <a:p>
            <a:pPr algn="ctr"/>
            <a:r>
              <a:rPr lang="en-US" dirty="0">
                <a:solidFill>
                  <a:srgbClr val="3366FF"/>
                </a:solidFill>
              </a:rPr>
              <a:t>Parameter values to try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1603023" y="5418667"/>
            <a:ext cx="519289" cy="711201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1603023" y="6485469"/>
            <a:ext cx="519289" cy="886177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540000" y="1752600"/>
            <a:ext cx="7361660" cy="900757"/>
          </a:xfrm>
          <a:prstGeom prst="rect">
            <a:avLst/>
          </a:prstGeom>
        </p:spPr>
        <p:txBody>
          <a:bodyPr wrap="square" lIns="130046" tIns="65023" rIns="130046" bIns="65023">
            <a:spAutoFit/>
          </a:bodyPr>
          <a:lstStyle/>
          <a:p>
            <a:pPr algn="ctr"/>
            <a:r>
              <a:rPr lang="en-US" sz="2500" dirty="0"/>
              <a:t>Data/observations are fixed: we observed </a:t>
            </a:r>
            <a:r>
              <a:rPr lang="en-US" sz="2500" u="sng" dirty="0"/>
              <a:t>7 Heads, 3 Tails</a:t>
            </a:r>
            <a:r>
              <a:rPr lang="en-US" sz="2500" dirty="0"/>
              <a:t>. Which parameter value is best? </a:t>
            </a:r>
          </a:p>
        </p:txBody>
      </p:sp>
    </p:spTree>
    <p:extLst>
      <p:ext uri="{BB962C8B-B14F-4D97-AF65-F5344CB8AC3E}">
        <p14:creationId xmlns:p14="http://schemas.microsoft.com/office/powerpoint/2010/main" val="1042747597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1052885" y="208798"/>
            <a:ext cx="11311660" cy="1055559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sz="3400" dirty="0"/>
              <a:t>We can calculate likelihood or lnL for many different possible parameter values</a:t>
            </a:r>
            <a:endParaRPr sz="3400" dirty="0"/>
          </a:p>
        </p:txBody>
      </p:sp>
      <p:grpSp>
        <p:nvGrpSpPr>
          <p:cNvPr id="10" name="Group 9"/>
          <p:cNvGrpSpPr/>
          <p:nvPr/>
        </p:nvGrpSpPr>
        <p:grpSpPr>
          <a:xfrm>
            <a:off x="1254372" y="3093632"/>
            <a:ext cx="11623993" cy="6303716"/>
            <a:chOff x="437480" y="2365710"/>
            <a:chExt cx="8173120" cy="4432300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7480" y="2365710"/>
              <a:ext cx="8089900" cy="4241800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3"/>
            <a:srcRect t="11825" b="-11825"/>
            <a:stretch/>
          </p:blipFill>
          <p:spPr>
            <a:xfrm>
              <a:off x="558800" y="6188410"/>
              <a:ext cx="8051800" cy="609600"/>
            </a:xfrm>
            <a:prstGeom prst="rect">
              <a:avLst/>
            </a:prstGeom>
          </p:spPr>
        </p:pic>
      </p:grpSp>
      <p:sp>
        <p:nvSpPr>
          <p:cNvPr id="6" name="Rectangle 5"/>
          <p:cNvSpPr/>
          <p:nvPr/>
        </p:nvSpPr>
        <p:spPr>
          <a:xfrm>
            <a:off x="1" y="5606129"/>
            <a:ext cx="1801707" cy="685314"/>
          </a:xfrm>
          <a:prstGeom prst="rect">
            <a:avLst/>
          </a:prstGeom>
        </p:spPr>
        <p:txBody>
          <a:bodyPr wrap="square" lIns="130046" tIns="65023" rIns="130046" bIns="65023">
            <a:spAutoFit/>
          </a:bodyPr>
          <a:lstStyle/>
          <a:p>
            <a:pPr algn="ctr"/>
            <a:r>
              <a:rPr lang="en-US" dirty="0">
                <a:solidFill>
                  <a:srgbClr val="3366FF"/>
                </a:solidFill>
              </a:rPr>
              <a:t>Parameter values to try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1603023" y="5418667"/>
            <a:ext cx="519289" cy="711201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1603023" y="6485469"/>
            <a:ext cx="519289" cy="886177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54000" y="2590800"/>
            <a:ext cx="2763166" cy="685314"/>
          </a:xfrm>
          <a:prstGeom prst="rect">
            <a:avLst/>
          </a:prstGeom>
        </p:spPr>
        <p:txBody>
          <a:bodyPr wrap="square" lIns="130046" tIns="65023" rIns="130046" bIns="65023">
            <a:spAutoFit/>
          </a:bodyPr>
          <a:lstStyle/>
          <a:p>
            <a:r>
              <a:rPr lang="en-US" dirty="0">
                <a:solidFill>
                  <a:srgbClr val="3366FF"/>
                </a:solidFill>
              </a:rPr>
              <a:t>Name of free parameter is “</a:t>
            </a:r>
            <a:r>
              <a:rPr lang="en-US" i="1" dirty="0">
                <a:solidFill>
                  <a:srgbClr val="3366FF"/>
                </a:solidFill>
              </a:rPr>
              <a:t>ProbHeads</a:t>
            </a:r>
            <a:r>
              <a:rPr lang="en-US" dirty="0">
                <a:solidFill>
                  <a:srgbClr val="3366FF"/>
                </a:solidFill>
              </a:rPr>
              <a:t>” 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540000" y="1752600"/>
            <a:ext cx="7361660" cy="900757"/>
          </a:xfrm>
          <a:prstGeom prst="rect">
            <a:avLst/>
          </a:prstGeom>
        </p:spPr>
        <p:txBody>
          <a:bodyPr wrap="square" lIns="130046" tIns="65023" rIns="130046" bIns="65023">
            <a:spAutoFit/>
          </a:bodyPr>
          <a:lstStyle/>
          <a:p>
            <a:pPr algn="ctr"/>
            <a:r>
              <a:rPr lang="en-US" sz="2500" dirty="0"/>
              <a:t>Data/observations are fixed: we observed </a:t>
            </a:r>
            <a:r>
              <a:rPr lang="en-US" sz="2500" u="sng" dirty="0"/>
              <a:t>7 Heads, 3 Tails</a:t>
            </a:r>
            <a:r>
              <a:rPr lang="en-US" sz="2500" dirty="0"/>
              <a:t>. Which parameter value is best? </a:t>
            </a:r>
          </a:p>
        </p:txBody>
      </p:sp>
    </p:spTree>
    <p:extLst>
      <p:ext uri="{BB962C8B-B14F-4D97-AF65-F5344CB8AC3E}">
        <p14:creationId xmlns:p14="http://schemas.microsoft.com/office/powerpoint/2010/main" val="3127414872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1052885" y="208798"/>
            <a:ext cx="11311660" cy="1055559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sz="3400" dirty="0"/>
              <a:t>We can calculate likelihood or lnL for many different possible parameter values</a:t>
            </a:r>
            <a:endParaRPr sz="3400" dirty="0"/>
          </a:p>
        </p:txBody>
      </p:sp>
      <p:grpSp>
        <p:nvGrpSpPr>
          <p:cNvPr id="10" name="Group 9"/>
          <p:cNvGrpSpPr/>
          <p:nvPr/>
        </p:nvGrpSpPr>
        <p:grpSpPr>
          <a:xfrm>
            <a:off x="1254372" y="3093632"/>
            <a:ext cx="11623993" cy="6303716"/>
            <a:chOff x="437480" y="2365710"/>
            <a:chExt cx="8173120" cy="4432300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7480" y="2365710"/>
              <a:ext cx="8089900" cy="4241800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3"/>
            <a:srcRect t="11825" b="-11825"/>
            <a:stretch/>
          </p:blipFill>
          <p:spPr>
            <a:xfrm>
              <a:off x="558800" y="6188410"/>
              <a:ext cx="8051800" cy="609600"/>
            </a:xfrm>
            <a:prstGeom prst="rect">
              <a:avLst/>
            </a:prstGeom>
          </p:spPr>
        </p:pic>
      </p:grpSp>
      <p:sp>
        <p:nvSpPr>
          <p:cNvPr id="6" name="Rectangle 5"/>
          <p:cNvSpPr/>
          <p:nvPr/>
        </p:nvSpPr>
        <p:spPr>
          <a:xfrm>
            <a:off x="1" y="5606129"/>
            <a:ext cx="1801707" cy="685314"/>
          </a:xfrm>
          <a:prstGeom prst="rect">
            <a:avLst/>
          </a:prstGeom>
        </p:spPr>
        <p:txBody>
          <a:bodyPr wrap="square" lIns="130046" tIns="65023" rIns="130046" bIns="65023">
            <a:spAutoFit/>
          </a:bodyPr>
          <a:lstStyle/>
          <a:p>
            <a:pPr algn="ctr"/>
            <a:r>
              <a:rPr lang="en-US" dirty="0">
                <a:solidFill>
                  <a:srgbClr val="3366FF"/>
                </a:solidFill>
              </a:rPr>
              <a:t>Parameter values to try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1603023" y="5418667"/>
            <a:ext cx="519289" cy="711201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1603023" y="6485469"/>
            <a:ext cx="519289" cy="886177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0" y="2590800"/>
            <a:ext cx="2763166" cy="685314"/>
          </a:xfrm>
          <a:prstGeom prst="rect">
            <a:avLst/>
          </a:prstGeom>
        </p:spPr>
        <p:txBody>
          <a:bodyPr wrap="square" lIns="130046" tIns="65023" rIns="130046" bIns="65023">
            <a:spAutoFit/>
          </a:bodyPr>
          <a:lstStyle/>
          <a:p>
            <a:r>
              <a:rPr lang="en-US" dirty="0">
                <a:solidFill>
                  <a:srgbClr val="3366FF"/>
                </a:solidFill>
              </a:rPr>
              <a:t>Name of free parameter is “</a:t>
            </a:r>
            <a:r>
              <a:rPr lang="en-US" i="1" dirty="0">
                <a:solidFill>
                  <a:srgbClr val="3366FF"/>
                </a:solidFill>
              </a:rPr>
              <a:t>ProbHeads</a:t>
            </a:r>
            <a:r>
              <a:rPr lang="en-US" dirty="0">
                <a:solidFill>
                  <a:srgbClr val="3366FF"/>
                </a:solidFill>
              </a:rPr>
              <a:t>” 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4064000" y="2895600"/>
            <a:ext cx="2000215" cy="408315"/>
          </a:xfrm>
          <a:prstGeom prst="rect">
            <a:avLst/>
          </a:prstGeom>
        </p:spPr>
        <p:txBody>
          <a:bodyPr wrap="square" lIns="130046" tIns="65023" rIns="130046" bIns="65023">
            <a:spAutoFit/>
          </a:bodyPr>
          <a:lstStyle/>
          <a:p>
            <a:pPr algn="ctr"/>
            <a:r>
              <a:rPr lang="en-US" dirty="0">
                <a:solidFill>
                  <a:srgbClr val="3366FF"/>
                </a:solidFill>
              </a:rPr>
              <a:t>“raw likelihood”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2540000" y="1752600"/>
            <a:ext cx="7361660" cy="900757"/>
          </a:xfrm>
          <a:prstGeom prst="rect">
            <a:avLst/>
          </a:prstGeom>
        </p:spPr>
        <p:txBody>
          <a:bodyPr wrap="square" lIns="130046" tIns="65023" rIns="130046" bIns="65023">
            <a:spAutoFit/>
          </a:bodyPr>
          <a:lstStyle/>
          <a:p>
            <a:pPr algn="ctr"/>
            <a:r>
              <a:rPr lang="en-US" sz="2500" dirty="0"/>
              <a:t>Data/observations are fixed: we observed </a:t>
            </a:r>
            <a:r>
              <a:rPr lang="en-US" sz="2500" u="sng" dirty="0"/>
              <a:t>7 Heads, 3 Tails</a:t>
            </a:r>
            <a:r>
              <a:rPr lang="en-US" sz="2500" dirty="0"/>
              <a:t>. Which parameter value is best? </a:t>
            </a:r>
          </a:p>
        </p:txBody>
      </p:sp>
    </p:spTree>
    <p:extLst>
      <p:ext uri="{BB962C8B-B14F-4D97-AF65-F5344CB8AC3E}">
        <p14:creationId xmlns:p14="http://schemas.microsoft.com/office/powerpoint/2010/main" val="2012603462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1052885" y="208798"/>
            <a:ext cx="11311660" cy="1055559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sz="3400" dirty="0"/>
              <a:t>We can calculate likelihood or lnL for many different possible parameter values</a:t>
            </a:r>
            <a:endParaRPr sz="3400" dirty="0"/>
          </a:p>
        </p:txBody>
      </p:sp>
      <p:grpSp>
        <p:nvGrpSpPr>
          <p:cNvPr id="10" name="Group 9"/>
          <p:cNvGrpSpPr/>
          <p:nvPr/>
        </p:nvGrpSpPr>
        <p:grpSpPr>
          <a:xfrm>
            <a:off x="1254372" y="3093632"/>
            <a:ext cx="11623993" cy="6303716"/>
            <a:chOff x="437480" y="2365710"/>
            <a:chExt cx="8173120" cy="4432300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7480" y="2365710"/>
              <a:ext cx="8089900" cy="4241800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3"/>
            <a:srcRect t="11825" b="-11825"/>
            <a:stretch/>
          </p:blipFill>
          <p:spPr>
            <a:xfrm>
              <a:off x="558800" y="6188410"/>
              <a:ext cx="8051800" cy="609600"/>
            </a:xfrm>
            <a:prstGeom prst="rect">
              <a:avLst/>
            </a:prstGeom>
          </p:spPr>
        </p:pic>
      </p:grpSp>
      <p:sp>
        <p:nvSpPr>
          <p:cNvPr id="6" name="Rectangle 5"/>
          <p:cNvSpPr/>
          <p:nvPr/>
        </p:nvSpPr>
        <p:spPr>
          <a:xfrm>
            <a:off x="1" y="5606129"/>
            <a:ext cx="1801707" cy="685314"/>
          </a:xfrm>
          <a:prstGeom prst="rect">
            <a:avLst/>
          </a:prstGeom>
        </p:spPr>
        <p:txBody>
          <a:bodyPr wrap="square" lIns="130046" tIns="65023" rIns="130046" bIns="65023">
            <a:spAutoFit/>
          </a:bodyPr>
          <a:lstStyle/>
          <a:p>
            <a:pPr algn="ctr"/>
            <a:r>
              <a:rPr lang="en-US" dirty="0">
                <a:solidFill>
                  <a:srgbClr val="3366FF"/>
                </a:solidFill>
              </a:rPr>
              <a:t>Parameter values to try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1603023" y="5418667"/>
            <a:ext cx="519289" cy="711201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1603023" y="6485469"/>
            <a:ext cx="519289" cy="886177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77800" y="2667000"/>
            <a:ext cx="2763166" cy="685314"/>
          </a:xfrm>
          <a:prstGeom prst="rect">
            <a:avLst/>
          </a:prstGeom>
        </p:spPr>
        <p:txBody>
          <a:bodyPr wrap="square" lIns="130046" tIns="65023" rIns="130046" bIns="65023">
            <a:spAutoFit/>
          </a:bodyPr>
          <a:lstStyle/>
          <a:p>
            <a:r>
              <a:rPr lang="en-US" dirty="0">
                <a:solidFill>
                  <a:srgbClr val="3366FF"/>
                </a:solidFill>
              </a:rPr>
              <a:t>Name of free parameter is “</a:t>
            </a:r>
            <a:r>
              <a:rPr lang="en-US" i="1" dirty="0">
                <a:solidFill>
                  <a:srgbClr val="3366FF"/>
                </a:solidFill>
              </a:rPr>
              <a:t>ProbHeads</a:t>
            </a:r>
            <a:r>
              <a:rPr lang="en-US" dirty="0">
                <a:solidFill>
                  <a:srgbClr val="3366FF"/>
                </a:solidFill>
              </a:rPr>
              <a:t>” 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4064000" y="2895600"/>
            <a:ext cx="2000215" cy="408315"/>
          </a:xfrm>
          <a:prstGeom prst="rect">
            <a:avLst/>
          </a:prstGeom>
        </p:spPr>
        <p:txBody>
          <a:bodyPr wrap="square" lIns="130046" tIns="65023" rIns="130046" bIns="65023">
            <a:spAutoFit/>
          </a:bodyPr>
          <a:lstStyle/>
          <a:p>
            <a:pPr algn="ctr"/>
            <a:r>
              <a:rPr lang="en-US" dirty="0">
                <a:solidFill>
                  <a:srgbClr val="3366FF"/>
                </a:solidFill>
              </a:rPr>
              <a:t>“raw likelihood”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10306757" y="2686026"/>
            <a:ext cx="2372925" cy="408315"/>
          </a:xfrm>
          <a:prstGeom prst="rect">
            <a:avLst/>
          </a:prstGeom>
        </p:spPr>
        <p:txBody>
          <a:bodyPr wrap="square" lIns="130046" tIns="65023" rIns="130046" bIns="65023">
            <a:spAutoFit/>
          </a:bodyPr>
          <a:lstStyle/>
          <a:p>
            <a:pPr algn="ctr"/>
            <a:r>
              <a:rPr lang="en-US" dirty="0">
                <a:solidFill>
                  <a:srgbClr val="3366FF"/>
                </a:solidFill>
              </a:rPr>
              <a:t>log-likelihood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2540000" y="1752600"/>
            <a:ext cx="7361660" cy="900757"/>
          </a:xfrm>
          <a:prstGeom prst="rect">
            <a:avLst/>
          </a:prstGeom>
        </p:spPr>
        <p:txBody>
          <a:bodyPr wrap="square" lIns="130046" tIns="65023" rIns="130046" bIns="65023">
            <a:spAutoFit/>
          </a:bodyPr>
          <a:lstStyle/>
          <a:p>
            <a:pPr algn="ctr"/>
            <a:r>
              <a:rPr lang="en-US" sz="2500" dirty="0"/>
              <a:t>Data/observations are fixed: we observed </a:t>
            </a:r>
            <a:r>
              <a:rPr lang="en-US" sz="2500" u="sng" dirty="0"/>
              <a:t>7 Heads, 3 Tails</a:t>
            </a:r>
            <a:r>
              <a:rPr lang="en-US" sz="2500" dirty="0"/>
              <a:t>. Which parameter value is best? </a:t>
            </a:r>
          </a:p>
        </p:txBody>
      </p:sp>
    </p:spTree>
    <p:extLst>
      <p:ext uri="{BB962C8B-B14F-4D97-AF65-F5344CB8AC3E}">
        <p14:creationId xmlns:p14="http://schemas.microsoft.com/office/powerpoint/2010/main" val="2625872752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1052885" y="208798"/>
            <a:ext cx="11311660" cy="1055559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sz="3400" dirty="0"/>
              <a:t>We can calculate likelihood or lnL for many different possible parameter values</a:t>
            </a:r>
            <a:endParaRPr sz="3400" dirty="0"/>
          </a:p>
        </p:txBody>
      </p:sp>
      <p:grpSp>
        <p:nvGrpSpPr>
          <p:cNvPr id="10" name="Group 9"/>
          <p:cNvGrpSpPr/>
          <p:nvPr/>
        </p:nvGrpSpPr>
        <p:grpSpPr>
          <a:xfrm>
            <a:off x="1254372" y="3093632"/>
            <a:ext cx="11623993" cy="6303716"/>
            <a:chOff x="437480" y="2365710"/>
            <a:chExt cx="8173120" cy="4432300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7480" y="2365710"/>
              <a:ext cx="8089900" cy="4241800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3"/>
            <a:srcRect t="11825" b="-11825"/>
            <a:stretch/>
          </p:blipFill>
          <p:spPr>
            <a:xfrm>
              <a:off x="558800" y="6188410"/>
              <a:ext cx="8051800" cy="609600"/>
            </a:xfrm>
            <a:prstGeom prst="rect">
              <a:avLst/>
            </a:prstGeom>
          </p:spPr>
        </p:pic>
      </p:grpSp>
      <p:sp>
        <p:nvSpPr>
          <p:cNvPr id="6" name="Rectangle 5"/>
          <p:cNvSpPr/>
          <p:nvPr/>
        </p:nvSpPr>
        <p:spPr>
          <a:xfrm>
            <a:off x="1" y="5606129"/>
            <a:ext cx="1801707" cy="685314"/>
          </a:xfrm>
          <a:prstGeom prst="rect">
            <a:avLst/>
          </a:prstGeom>
        </p:spPr>
        <p:txBody>
          <a:bodyPr wrap="square" lIns="130046" tIns="65023" rIns="130046" bIns="65023">
            <a:spAutoFit/>
          </a:bodyPr>
          <a:lstStyle/>
          <a:p>
            <a:pPr algn="ctr"/>
            <a:r>
              <a:rPr lang="en-US" dirty="0">
                <a:solidFill>
                  <a:srgbClr val="3366FF"/>
                </a:solidFill>
              </a:rPr>
              <a:t>Parameter values to try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1603023" y="5418667"/>
            <a:ext cx="519289" cy="711201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1603023" y="6485469"/>
            <a:ext cx="519289" cy="886177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77800" y="2667000"/>
            <a:ext cx="2763166" cy="685314"/>
          </a:xfrm>
          <a:prstGeom prst="rect">
            <a:avLst/>
          </a:prstGeom>
        </p:spPr>
        <p:txBody>
          <a:bodyPr wrap="square" lIns="130046" tIns="65023" rIns="130046" bIns="65023">
            <a:spAutoFit/>
          </a:bodyPr>
          <a:lstStyle/>
          <a:p>
            <a:r>
              <a:rPr lang="en-US" dirty="0">
                <a:solidFill>
                  <a:srgbClr val="3366FF"/>
                </a:solidFill>
              </a:rPr>
              <a:t>Name of free parameter is “</a:t>
            </a:r>
            <a:r>
              <a:rPr lang="en-US" i="1" dirty="0">
                <a:solidFill>
                  <a:srgbClr val="3366FF"/>
                </a:solidFill>
              </a:rPr>
              <a:t>ProbHeads</a:t>
            </a:r>
            <a:r>
              <a:rPr lang="en-US" dirty="0">
                <a:solidFill>
                  <a:srgbClr val="3366FF"/>
                </a:solidFill>
              </a:rPr>
              <a:t>” 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4064000" y="2971800"/>
            <a:ext cx="2000215" cy="408315"/>
          </a:xfrm>
          <a:prstGeom prst="rect">
            <a:avLst/>
          </a:prstGeom>
        </p:spPr>
        <p:txBody>
          <a:bodyPr wrap="square" lIns="130046" tIns="65023" rIns="130046" bIns="65023">
            <a:spAutoFit/>
          </a:bodyPr>
          <a:lstStyle/>
          <a:p>
            <a:pPr algn="ctr"/>
            <a:r>
              <a:rPr lang="en-US" dirty="0">
                <a:solidFill>
                  <a:srgbClr val="3366FF"/>
                </a:solidFill>
              </a:rPr>
              <a:t>“raw likelihood”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10306757" y="2686026"/>
            <a:ext cx="2372925" cy="408315"/>
          </a:xfrm>
          <a:prstGeom prst="rect">
            <a:avLst/>
          </a:prstGeom>
        </p:spPr>
        <p:txBody>
          <a:bodyPr wrap="square" lIns="130046" tIns="65023" rIns="130046" bIns="65023">
            <a:spAutoFit/>
          </a:bodyPr>
          <a:lstStyle/>
          <a:p>
            <a:pPr algn="ctr"/>
            <a:r>
              <a:rPr lang="en-US" dirty="0">
                <a:solidFill>
                  <a:srgbClr val="3366FF"/>
                </a:solidFill>
              </a:rPr>
              <a:t>log-likelihood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860800" y="3367489"/>
            <a:ext cx="2619022" cy="5758925"/>
          </a:xfrm>
          <a:prstGeom prst="rect">
            <a:avLst/>
          </a:prstGeom>
          <a:noFill/>
          <a:ln w="381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0046" tIns="65023" rIns="130046" bIns="65023"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259342" y="3367489"/>
            <a:ext cx="2619022" cy="5758925"/>
          </a:xfrm>
          <a:prstGeom prst="rect">
            <a:avLst/>
          </a:prstGeom>
          <a:noFill/>
          <a:ln w="381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0046" tIns="65023" rIns="130046" bIns="65023"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/>
          <p:cNvCxnSpPr/>
          <p:nvPr/>
        </p:nvCxnSpPr>
        <p:spPr>
          <a:xfrm rot="16200000" flipV="1">
            <a:off x="6086970" y="8770814"/>
            <a:ext cx="519289" cy="711201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rot="16200000">
            <a:off x="9891326" y="8694615"/>
            <a:ext cx="519289" cy="886177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6217353" y="9262845"/>
            <a:ext cx="3417192" cy="408315"/>
          </a:xfrm>
          <a:prstGeom prst="rect">
            <a:avLst/>
          </a:prstGeom>
        </p:spPr>
        <p:txBody>
          <a:bodyPr wrap="none" lIns="130046" tIns="65023" rIns="130046" bIns="65023">
            <a:spAutoFit/>
          </a:bodyPr>
          <a:lstStyle/>
          <a:p>
            <a:r>
              <a:rPr lang="en-US" dirty="0">
                <a:solidFill>
                  <a:srgbClr val="3366FF"/>
                </a:solidFill>
              </a:rPr>
              <a:t>Plot a likelihood curve from these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2540000" y="1752600"/>
            <a:ext cx="7361660" cy="900757"/>
          </a:xfrm>
          <a:prstGeom prst="rect">
            <a:avLst/>
          </a:prstGeom>
        </p:spPr>
        <p:txBody>
          <a:bodyPr wrap="square" lIns="130046" tIns="65023" rIns="130046" bIns="65023">
            <a:spAutoFit/>
          </a:bodyPr>
          <a:lstStyle/>
          <a:p>
            <a:pPr algn="ctr"/>
            <a:r>
              <a:rPr lang="en-US" sz="2500" dirty="0"/>
              <a:t>Data/observations are fixed: we observed </a:t>
            </a:r>
            <a:r>
              <a:rPr lang="en-US" sz="2500" u="sng" dirty="0"/>
              <a:t>7 Heads, 3 Tails</a:t>
            </a:r>
            <a:r>
              <a:rPr lang="en-US" sz="2500" dirty="0"/>
              <a:t>. Which parameter value is best? </a:t>
            </a:r>
          </a:p>
        </p:txBody>
      </p:sp>
    </p:spTree>
    <p:extLst>
      <p:ext uri="{BB962C8B-B14F-4D97-AF65-F5344CB8AC3E}">
        <p14:creationId xmlns:p14="http://schemas.microsoft.com/office/powerpoint/2010/main" val="2031977968"/>
      </p:ext>
    </p:ext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48427"/>
            <a:ext cx="13004800" cy="5886141"/>
          </a:xfrm>
          <a:prstGeom prst="rect">
            <a:avLst/>
          </a:prstGeom>
        </p:spPr>
      </p:pic>
      <p:sp>
        <p:nvSpPr>
          <p:cNvPr id="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965931" y="208797"/>
            <a:ext cx="11311660" cy="1511300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dirty="0"/>
              <a:t>Likelihood profile curve</a:t>
            </a:r>
            <a:endParaRPr dirty="0"/>
          </a:p>
        </p:txBody>
      </p:sp>
      <p:sp>
        <p:nvSpPr>
          <p:cNvPr id="6" name="Oval 5"/>
          <p:cNvSpPr/>
          <p:nvPr/>
        </p:nvSpPr>
        <p:spPr>
          <a:xfrm>
            <a:off x="7670800" y="3727592"/>
            <a:ext cx="146755" cy="155787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0046" tIns="65023" rIns="130046" bIns="65023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945784"/>
      </p:ext>
    </p:extLst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965931" y="207096"/>
            <a:ext cx="11311660" cy="834190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sz="5100" dirty="0"/>
              <a:t>Log-likelihood (lnL)</a:t>
            </a:r>
            <a:endParaRPr sz="5100" dirty="0"/>
          </a:p>
        </p:txBody>
      </p:sp>
      <p:sp>
        <p:nvSpPr>
          <p:cNvPr id="2" name="Rectangle 1"/>
          <p:cNvSpPr/>
          <p:nvPr/>
        </p:nvSpPr>
        <p:spPr>
          <a:xfrm>
            <a:off x="1074490" y="1265433"/>
            <a:ext cx="8247991" cy="4840298"/>
          </a:xfrm>
          <a:prstGeom prst="rect">
            <a:avLst/>
          </a:prstGeom>
        </p:spPr>
        <p:txBody>
          <a:bodyPr wrap="none" lIns="130046" tIns="65023" rIns="130046" bIns="65023">
            <a:spAutoFit/>
          </a:bodyPr>
          <a:lstStyle/>
          <a:p>
            <a:r>
              <a:rPr lang="en-US" dirty="0"/>
              <a:t>The log-likelihood (always the NATURAL log) is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1. An easy way to represent very small numbers</a:t>
            </a:r>
          </a:p>
          <a:p>
            <a:endParaRPr lang="en-US" dirty="0"/>
          </a:p>
          <a:p>
            <a:r>
              <a:rPr lang="en-US" dirty="0"/>
              <a:t>2. Helps the computers avoid numeric underflow problems</a:t>
            </a:r>
          </a:p>
          <a:p>
            <a:r>
              <a:rPr lang="en-US" dirty="0"/>
              <a:t>	- Multiplication in becomes addition in log-space</a:t>
            </a:r>
            <a:br>
              <a:rPr lang="en-US" dirty="0"/>
            </a:br>
            <a:r>
              <a:rPr lang="en-US" dirty="0"/>
              <a:t>          (also makes calculus easier)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- E.g., in R, 0.1 times itself 300 times: 0.1^300 = 1e-300</a:t>
            </a:r>
          </a:p>
          <a:p>
            <a:r>
              <a:rPr lang="en-US" dirty="0"/>
              <a:t>           But (0.1^300)*(0.1^300) = 0.0 , which is wrong (underflow rounds down to 0.0)</a:t>
            </a:r>
            <a:br>
              <a:rPr lang="en-US" dirty="0"/>
            </a:br>
            <a:r>
              <a:rPr lang="en-US" dirty="0"/>
              <a:t>	- In log space: log(0.1^300) = 300*log(0.1) = 300*-2.3026 = -690.78</a:t>
            </a:r>
            <a:br>
              <a:rPr lang="en-US" dirty="0"/>
            </a:br>
            <a:r>
              <a:rPr lang="en-US" dirty="0"/>
              <a:t>           log((0.1^300)*(0.1^300) ) =  300*log(0.1)  + 300*log(0.1) = 600*log(0.1) = </a:t>
            </a:r>
            <a:br>
              <a:rPr lang="en-US" dirty="0"/>
            </a:br>
            <a:r>
              <a:rPr lang="en-US" dirty="0"/>
              <a:t>		= </a:t>
            </a:r>
            <a:r>
              <a:rPr lang="hr-HR" dirty="0"/>
              <a:t>1381.55 = 2 * </a:t>
            </a:r>
            <a:r>
              <a:rPr lang="en-US" dirty="0"/>
              <a:t>-690.78</a:t>
            </a:r>
          </a:p>
          <a:p>
            <a:endParaRPr lang="en-US" dirty="0"/>
          </a:p>
          <a:p>
            <a:r>
              <a:rPr lang="en-US" dirty="0"/>
              <a:t>3. Important in Information Theory</a:t>
            </a:r>
          </a:p>
          <a:p>
            <a:endParaRPr lang="en-US" dirty="0"/>
          </a:p>
          <a:p>
            <a:r>
              <a:rPr lang="en-US" dirty="0"/>
              <a:t>4. Maximizing the lnL finds the same parameters as maximizing the likelihood</a:t>
            </a:r>
          </a:p>
        </p:txBody>
      </p:sp>
      <p:sp>
        <p:nvSpPr>
          <p:cNvPr id="4" name="Rectangle 3"/>
          <p:cNvSpPr/>
          <p:nvPr/>
        </p:nvSpPr>
        <p:spPr>
          <a:xfrm>
            <a:off x="1830135" y="8395239"/>
            <a:ext cx="8344657" cy="656590"/>
          </a:xfrm>
          <a:prstGeom prst="rect">
            <a:avLst/>
          </a:prstGeom>
        </p:spPr>
        <p:txBody>
          <a:bodyPr wrap="none" lIns="130046" tIns="65023" rIns="130046" bIns="65023">
            <a:spAutoFit/>
          </a:bodyPr>
          <a:lstStyle/>
          <a:p>
            <a:r>
              <a:rPr lang="en-US" sz="1700" dirty="0"/>
              <a:t>Note: reverse the log() operation with </a:t>
            </a:r>
            <a:r>
              <a:rPr lang="en-US" sz="1700" dirty="0" err="1"/>
              <a:t>exp</a:t>
            </a:r>
            <a:r>
              <a:rPr lang="en-US" sz="1700" dirty="0"/>
              <a:t>(): log(0.1) = -2.3026, </a:t>
            </a:r>
            <a:r>
              <a:rPr lang="en-US" sz="1700" dirty="0" err="1"/>
              <a:t>exp</a:t>
            </a:r>
            <a:r>
              <a:rPr lang="en-US" sz="1700" dirty="0"/>
              <a:t>(-2.3026) = 0.1</a:t>
            </a:r>
          </a:p>
          <a:p>
            <a:r>
              <a:rPr lang="en-US" sz="1700" dirty="0"/>
              <a:t>           </a:t>
            </a:r>
            <a:r>
              <a:rPr lang="en-US" sz="1700" dirty="0" err="1"/>
              <a:t>exp</a:t>
            </a:r>
            <a:r>
              <a:rPr lang="en-US" sz="1700" dirty="0"/>
              <a:t>(1) = </a:t>
            </a:r>
            <a:r>
              <a:rPr lang="is-IS" sz="1700" dirty="0"/>
              <a:t>2.718282..., which is known as Euler’s number, </a:t>
            </a:r>
            <a:r>
              <a:rPr lang="is-IS" sz="1700" i="1" dirty="0"/>
              <a:t>e</a:t>
            </a:r>
            <a:r>
              <a:rPr lang="is-IS" sz="1700" dirty="0"/>
              <a:t>, the base of the natural log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229636497"/>
      </p:ext>
    </p:extLst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965931" y="208797"/>
            <a:ext cx="11615730" cy="1511300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sz="4000" dirty="0"/>
              <a:t>The maximum likelihood and log-likelihood (lnL) give the same parameter estimate</a:t>
            </a:r>
            <a:endParaRPr sz="4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372" y="2162845"/>
            <a:ext cx="10736171" cy="6940167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8144934" y="2598703"/>
            <a:ext cx="146755" cy="155787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0046" tIns="65023" rIns="130046" bIns="65023"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8144934" y="4881317"/>
            <a:ext cx="146755" cy="155787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0046" tIns="65023" rIns="130046" bIns="65023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297773"/>
      </p:ext>
    </p:extLst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32659"/>
            <a:ext cx="13004800" cy="5886141"/>
          </a:xfrm>
          <a:prstGeom prst="rect">
            <a:avLst/>
          </a:prstGeom>
        </p:spPr>
      </p:pic>
      <p:sp>
        <p:nvSpPr>
          <p:cNvPr id="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965931" y="208797"/>
            <a:ext cx="11311660" cy="1511300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sz="5100" dirty="0"/>
              <a:t>What is our best estimate of the parameter?</a:t>
            </a:r>
            <a:endParaRPr sz="5100" dirty="0"/>
          </a:p>
        </p:txBody>
      </p:sp>
    </p:spTree>
    <p:extLst>
      <p:ext uri="{BB962C8B-B14F-4D97-AF65-F5344CB8AC3E}">
        <p14:creationId xmlns:p14="http://schemas.microsoft.com/office/powerpoint/2010/main" val="325573318"/>
      </p:ext>
    </p:extLst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32659"/>
            <a:ext cx="13004800" cy="5886141"/>
          </a:xfrm>
          <a:prstGeom prst="rect">
            <a:avLst/>
          </a:prstGeom>
        </p:spPr>
      </p:pic>
      <p:sp>
        <p:nvSpPr>
          <p:cNvPr id="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965931" y="208797"/>
            <a:ext cx="11311660" cy="1511300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sz="5100" dirty="0"/>
              <a:t>What is our best estimate of the parameter?</a:t>
            </a:r>
            <a:endParaRPr sz="5100" dirty="0"/>
          </a:p>
        </p:txBody>
      </p:sp>
      <p:sp>
        <p:nvSpPr>
          <p:cNvPr id="7" name="Oval 6"/>
          <p:cNvSpPr/>
          <p:nvPr/>
        </p:nvSpPr>
        <p:spPr>
          <a:xfrm>
            <a:off x="7670800" y="2429369"/>
            <a:ext cx="146755" cy="155787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0046" tIns="65023" rIns="130046" bIns="65023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467308"/>
      </p:ext>
    </p:extLst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32659"/>
            <a:ext cx="13004800" cy="5886141"/>
          </a:xfrm>
          <a:prstGeom prst="rect">
            <a:avLst/>
          </a:prstGeom>
        </p:spPr>
      </p:pic>
      <p:sp>
        <p:nvSpPr>
          <p:cNvPr id="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965931" y="208797"/>
            <a:ext cx="11311660" cy="1511300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sz="5100" dirty="0"/>
              <a:t>What is our best estimate of the parameter?</a:t>
            </a:r>
            <a:endParaRPr sz="5100" dirty="0"/>
          </a:p>
        </p:txBody>
      </p:sp>
      <p:cxnSp>
        <p:nvCxnSpPr>
          <p:cNvPr id="3" name="Straight Arrow Connector 2"/>
          <p:cNvCxnSpPr/>
          <p:nvPr/>
        </p:nvCxnSpPr>
        <p:spPr>
          <a:xfrm flipV="1">
            <a:off x="7089423" y="2585156"/>
            <a:ext cx="654756" cy="5599289"/>
          </a:xfrm>
          <a:prstGeom prst="straightConnector1">
            <a:avLst/>
          </a:prstGeom>
          <a:ln w="41275">
            <a:solidFill>
              <a:srgbClr val="0000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7670800" y="2429369"/>
            <a:ext cx="146755" cy="155787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0046" tIns="65023" rIns="130046" bIns="65023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549643"/>
      </p:ext>
    </p:extLst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32659"/>
            <a:ext cx="13004800" cy="5886141"/>
          </a:xfrm>
          <a:prstGeom prst="rect">
            <a:avLst/>
          </a:prstGeom>
        </p:spPr>
      </p:pic>
      <p:sp>
        <p:nvSpPr>
          <p:cNvPr id="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965931" y="208797"/>
            <a:ext cx="11311660" cy="1511300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sz="5100" dirty="0"/>
              <a:t>What is our best estimate of the parameter?</a:t>
            </a:r>
            <a:endParaRPr sz="5100" dirty="0"/>
          </a:p>
        </p:txBody>
      </p:sp>
      <p:sp>
        <p:nvSpPr>
          <p:cNvPr id="6" name="Maximum Likelihood Inference"/>
          <p:cNvSpPr txBox="1">
            <a:spLocks/>
          </p:cNvSpPr>
          <p:nvPr/>
        </p:nvSpPr>
        <p:spPr>
          <a:xfrm>
            <a:off x="606945" y="8101988"/>
            <a:ext cx="11311660" cy="1511300"/>
          </a:xfrm>
          <a:prstGeom prst="rect">
            <a:avLst/>
          </a:prstGeom>
        </p:spPr>
        <p:txBody>
          <a:bodyPr vert="horz" lIns="130046" tIns="65023" rIns="130046" bIns="65023" rtlCol="0" anchor="b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5906" kern="1200">
                <a:solidFill>
                  <a:schemeClr val="tx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>
              <a:defRPr sz="4800" b="1"/>
            </a:pPr>
            <a:r>
              <a:rPr lang="en-US" sz="5100" b="1" dirty="0">
                <a:solidFill>
                  <a:srgbClr val="3366FF"/>
                </a:solidFill>
              </a:rPr>
              <a:t>The parameter value that Maximizes the Likelihood (ML)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 flipV="1">
            <a:off x="7089423" y="2585156"/>
            <a:ext cx="654756" cy="5599289"/>
          </a:xfrm>
          <a:prstGeom prst="straightConnector1">
            <a:avLst/>
          </a:prstGeom>
          <a:ln w="41275">
            <a:solidFill>
              <a:srgbClr val="0000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7670800" y="2429369"/>
            <a:ext cx="146755" cy="155787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0046" tIns="65023" rIns="130046" bIns="65023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757754"/>
      </p:ext>
    </p:extLst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1289" y="4916565"/>
            <a:ext cx="10487377" cy="4746724"/>
          </a:xfrm>
          <a:prstGeom prst="rect">
            <a:avLst/>
          </a:prstGeom>
        </p:spPr>
      </p:pic>
      <p:sp>
        <p:nvSpPr>
          <p:cNvPr id="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2024380" y="322148"/>
            <a:ext cx="9917662" cy="1511300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sz="5100" dirty="0"/>
              <a:t>How to find the maximum of the likelihood?</a:t>
            </a:r>
            <a:endParaRPr sz="5100" dirty="0"/>
          </a:p>
        </p:txBody>
      </p:sp>
      <p:sp>
        <p:nvSpPr>
          <p:cNvPr id="2" name="Rectangle 1"/>
          <p:cNvSpPr/>
          <p:nvPr/>
        </p:nvSpPr>
        <p:spPr>
          <a:xfrm>
            <a:off x="878017" y="1721375"/>
            <a:ext cx="5071641" cy="3085971"/>
          </a:xfrm>
          <a:prstGeom prst="rect">
            <a:avLst/>
          </a:prstGeom>
        </p:spPr>
        <p:txBody>
          <a:bodyPr wrap="none" lIns="130046" tIns="65023" rIns="130046" bIns="65023">
            <a:spAutoFit/>
          </a:bodyPr>
          <a:lstStyle/>
          <a:p>
            <a:r>
              <a:rPr lang="en-US" sz="2400" dirty="0"/>
              <a:t>Several possible methods:</a:t>
            </a:r>
          </a:p>
          <a:p>
            <a:endParaRPr lang="en-US" sz="2400" dirty="0"/>
          </a:p>
          <a:p>
            <a:pPr marL="487672" indent="-487672">
              <a:buAutoNum type="arabicPeriod"/>
            </a:pPr>
            <a:r>
              <a:rPr lang="en-US" sz="2400" dirty="0"/>
              <a:t>Intuition</a:t>
            </a:r>
          </a:p>
          <a:p>
            <a:pPr marL="487672" indent="-487672">
              <a:buAutoNum type="arabicPeriod"/>
            </a:pPr>
            <a:r>
              <a:rPr lang="en-US" sz="2400" dirty="0"/>
              <a:t>Calculus to get an analytic solution</a:t>
            </a:r>
          </a:p>
          <a:p>
            <a:pPr marL="487672" indent="-487672">
              <a:buAutoNum type="arabicPeriod"/>
            </a:pPr>
            <a:r>
              <a:rPr lang="en-US" sz="2400" dirty="0"/>
              <a:t>Exhaustive search “grid search”</a:t>
            </a:r>
          </a:p>
          <a:p>
            <a:pPr marL="487672" indent="-487672">
              <a:buAutoNum type="arabicPeriod"/>
            </a:pPr>
            <a:r>
              <a:rPr lang="en-US" sz="2400" dirty="0"/>
              <a:t>Optimization / hill-climbing</a:t>
            </a:r>
          </a:p>
          <a:p>
            <a:pPr marL="487672" indent="-487672">
              <a:buAutoNum type="arabicPeriod"/>
            </a:pPr>
            <a:endParaRPr lang="en-US" sz="2400" dirty="0"/>
          </a:p>
          <a:p>
            <a:pPr marL="487672" indent="-487672">
              <a:buAutoNum type="arabicPeriod"/>
            </a:pPr>
            <a:endParaRPr lang="en-US" sz="2400" dirty="0"/>
          </a:p>
        </p:txBody>
      </p:sp>
      <p:sp>
        <p:nvSpPr>
          <p:cNvPr id="6" name="Oval 5"/>
          <p:cNvSpPr/>
          <p:nvPr/>
        </p:nvSpPr>
        <p:spPr>
          <a:xfrm>
            <a:off x="11294830" y="5282678"/>
            <a:ext cx="146755" cy="155787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0046" tIns="65023" rIns="130046" bIns="65023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190026"/>
      </p:ext>
    </p:extLst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70" y="3826424"/>
            <a:ext cx="13004800" cy="5886141"/>
          </a:xfrm>
          <a:prstGeom prst="rect">
            <a:avLst/>
          </a:prstGeom>
        </p:spPr>
      </p:pic>
      <p:sp>
        <p:nvSpPr>
          <p:cNvPr id="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965931" y="208797"/>
            <a:ext cx="11311660" cy="1511300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sz="5100" dirty="0"/>
              <a:t>How to find this maximum?</a:t>
            </a:r>
            <a:endParaRPr sz="5100" dirty="0"/>
          </a:p>
        </p:txBody>
      </p:sp>
      <p:sp>
        <p:nvSpPr>
          <p:cNvPr id="2" name="Rectangle 1"/>
          <p:cNvSpPr/>
          <p:nvPr/>
        </p:nvSpPr>
        <p:spPr>
          <a:xfrm>
            <a:off x="131671" y="2051666"/>
            <a:ext cx="2098696" cy="408315"/>
          </a:xfrm>
          <a:prstGeom prst="rect">
            <a:avLst/>
          </a:prstGeom>
        </p:spPr>
        <p:txBody>
          <a:bodyPr wrap="none" lIns="130046" tIns="65023" rIns="130046" bIns="65023">
            <a:spAutoFit/>
          </a:bodyPr>
          <a:lstStyle/>
          <a:p>
            <a:r>
              <a:rPr lang="en-US" dirty="0"/>
              <a:t>Method 1: intuition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861456" y="1949830"/>
            <a:ext cx="7878990" cy="1516311"/>
          </a:xfrm>
          <a:prstGeom prst="rect">
            <a:avLst/>
          </a:prstGeom>
        </p:spPr>
        <p:txBody>
          <a:bodyPr wrap="square" lIns="130046" tIns="65023" rIns="130046" bIns="65023">
            <a:spAutoFit/>
          </a:bodyPr>
          <a:lstStyle/>
          <a:p>
            <a:r>
              <a:rPr lang="en-US" dirty="0"/>
              <a:t>In very simple cases, like coin-flipping, you can guess that the average of your data provides the best estimate.</a:t>
            </a:r>
          </a:p>
          <a:p>
            <a:endParaRPr lang="en-US" dirty="0"/>
          </a:p>
          <a:p>
            <a:r>
              <a:rPr lang="en-US" dirty="0"/>
              <a:t>(But: your intuition can betray you, e.g. if you think about your prior experience that most coins are fair)</a:t>
            </a:r>
          </a:p>
        </p:txBody>
      </p:sp>
      <p:sp>
        <p:nvSpPr>
          <p:cNvPr id="7" name="Oval 6"/>
          <p:cNvSpPr/>
          <p:nvPr/>
        </p:nvSpPr>
        <p:spPr>
          <a:xfrm>
            <a:off x="7744177" y="4303325"/>
            <a:ext cx="146755" cy="155787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0046" tIns="65023" rIns="130046" bIns="65023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467212"/>
      </p:ext>
    </p:extLst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965931" y="208797"/>
            <a:ext cx="11311660" cy="1511300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sz="5100" dirty="0"/>
              <a:t>The parameter value that Maximizes the Likelihood (ML)</a:t>
            </a:r>
            <a:endParaRPr sz="51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794" y="3583902"/>
            <a:ext cx="8565006" cy="588747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03895" y="1589739"/>
            <a:ext cx="11988106" cy="5117297"/>
          </a:xfrm>
          <a:prstGeom prst="rect">
            <a:avLst/>
          </a:prstGeom>
        </p:spPr>
        <p:txBody>
          <a:bodyPr wrap="square" lIns="130046" tIns="65023" rIns="130046" bIns="65023">
            <a:spAutoFit/>
          </a:bodyPr>
          <a:lstStyle/>
          <a:p>
            <a:r>
              <a:rPr lang="en-US" dirty="0"/>
              <a:t>Method 2: calculus</a:t>
            </a:r>
          </a:p>
          <a:p>
            <a:r>
              <a:rPr lang="en-US" dirty="0"/>
              <a:t>Short-short version:</a:t>
            </a:r>
          </a:p>
          <a:p>
            <a:pPr marL="487672" indent="-487672">
              <a:buAutoNum type="arabicParenBoth"/>
            </a:pPr>
            <a:r>
              <a:rPr lang="en-US" dirty="0"/>
              <a:t>Taking the first derivative of a function provides an equation giving the slope at each point</a:t>
            </a:r>
          </a:p>
          <a:p>
            <a:pPr marL="487672" indent="-487672">
              <a:buAutoNum type="arabicParenBoth"/>
            </a:pPr>
            <a:r>
              <a:rPr lang="en-US" dirty="0"/>
              <a:t>The slope will be 0.0 at the maximum of the curve</a:t>
            </a:r>
          </a:p>
          <a:p>
            <a:pPr marL="487672" indent="-487672">
              <a:buAutoNum type="arabicParenBoth"/>
            </a:pPr>
            <a:r>
              <a:rPr lang="en-US" dirty="0"/>
              <a:t>Setting the derivative to 0.0 and</a:t>
            </a:r>
            <a:br>
              <a:rPr lang="en-US" dirty="0"/>
            </a:br>
            <a:r>
              <a:rPr lang="en-US" dirty="0"/>
              <a:t>solving gives a formula for the</a:t>
            </a:r>
            <a:br>
              <a:rPr lang="en-US" dirty="0"/>
            </a:br>
            <a:r>
              <a:rPr lang="en-US" dirty="0"/>
              <a:t>Maximum Likelihood.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This is known as an </a:t>
            </a:r>
            <a:br>
              <a:rPr lang="en-US" dirty="0"/>
            </a:br>
            <a:r>
              <a:rPr lang="en-US" dirty="0"/>
              <a:t>“analytic solution”.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Analytic solutions are very fast,</a:t>
            </a:r>
            <a:br>
              <a:rPr lang="en-US" dirty="0"/>
            </a:br>
            <a:r>
              <a:rPr lang="en-US" dirty="0"/>
              <a:t>and are the basics of a lot of the</a:t>
            </a:r>
            <a:br>
              <a:rPr lang="en-US" dirty="0"/>
            </a:br>
            <a:r>
              <a:rPr lang="en-US" dirty="0"/>
              <a:t>“cookbook” formulas that get</a:t>
            </a:r>
            <a:br>
              <a:rPr lang="en-US" dirty="0"/>
            </a:br>
            <a:r>
              <a:rPr lang="en-US" dirty="0"/>
              <a:t>taught.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But they often aren’t available for complex models.</a:t>
            </a:r>
          </a:p>
          <a:p>
            <a:pPr marL="487672" indent="-487672">
              <a:buAutoNum type="arabicParenBoth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330359"/>
      </p:ext>
    </p:extLst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794" y="3583902"/>
            <a:ext cx="8565006" cy="5887477"/>
          </a:xfrm>
          <a:prstGeom prst="rect">
            <a:avLst/>
          </a:prstGeom>
        </p:spPr>
      </p:pic>
      <p:sp>
        <p:nvSpPr>
          <p:cNvPr id="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965931" y="208797"/>
            <a:ext cx="11311660" cy="1511300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sz="5100" dirty="0"/>
              <a:t>The parameter value that Maximizes the Likelihood (ML)</a:t>
            </a:r>
            <a:endParaRPr sz="5100" dirty="0"/>
          </a:p>
        </p:txBody>
      </p:sp>
      <p:sp>
        <p:nvSpPr>
          <p:cNvPr id="6" name="Rectangle 5"/>
          <p:cNvSpPr/>
          <p:nvPr/>
        </p:nvSpPr>
        <p:spPr>
          <a:xfrm>
            <a:off x="-44455" y="1576455"/>
            <a:ext cx="5000284" cy="3455303"/>
          </a:xfrm>
          <a:prstGeom prst="rect">
            <a:avLst/>
          </a:prstGeom>
        </p:spPr>
        <p:txBody>
          <a:bodyPr wrap="square" lIns="130046" tIns="65023" rIns="130046" bIns="65023">
            <a:spAutoFit/>
          </a:bodyPr>
          <a:lstStyle/>
          <a:p>
            <a:r>
              <a:rPr lang="en-US" dirty="0"/>
              <a:t>Method 2: calculus</a:t>
            </a:r>
          </a:p>
          <a:p>
            <a:endParaRPr lang="en-US" dirty="0"/>
          </a:p>
          <a:p>
            <a:r>
              <a:rPr lang="en-US" dirty="0"/>
              <a:t>E.g., here’s the proof (not examinable) showing that the likelihood is maximized at</a:t>
            </a:r>
            <a:br>
              <a:rPr lang="en-US" dirty="0"/>
            </a:br>
            <a:br>
              <a:rPr lang="en-US" dirty="0"/>
            </a:br>
            <a:r>
              <a:rPr lang="en-US" dirty="0"/>
              <a:t>(Number of Heads) / (Total number of </a:t>
            </a:r>
            <a:r>
              <a:rPr lang="en-US" dirty="0" err="1"/>
              <a:t>coinflips</a:t>
            </a:r>
            <a:r>
              <a:rPr lang="en-US" dirty="0"/>
              <a:t>)</a:t>
            </a:r>
            <a:br>
              <a:rPr lang="en-US" dirty="0"/>
            </a:br>
            <a:br>
              <a:rPr lang="en-US" dirty="0"/>
            </a:br>
            <a:r>
              <a:rPr lang="en-US" dirty="0">
                <a:hlinkClick r:id="rId3"/>
              </a:rPr>
              <a:t>https://stats.stackexchange.com/questions/181035/how-to-derive-the-likelihood-function-for-binomial-distribution-for-parameter-es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(not examinable)</a:t>
            </a:r>
          </a:p>
        </p:txBody>
      </p:sp>
    </p:spTree>
    <p:extLst>
      <p:ext uri="{BB962C8B-B14F-4D97-AF65-F5344CB8AC3E}">
        <p14:creationId xmlns:p14="http://schemas.microsoft.com/office/powerpoint/2010/main" val="1499311519"/>
      </p:ext>
    </p:extLst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70" y="3826424"/>
            <a:ext cx="13004800" cy="5886141"/>
          </a:xfrm>
          <a:prstGeom prst="rect">
            <a:avLst/>
          </a:prstGeom>
        </p:spPr>
      </p:pic>
      <p:sp>
        <p:nvSpPr>
          <p:cNvPr id="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965931" y="208797"/>
            <a:ext cx="11311660" cy="1511300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sz="5100" dirty="0"/>
              <a:t>How to find this maximum?</a:t>
            </a:r>
            <a:endParaRPr sz="5100" dirty="0"/>
          </a:p>
        </p:txBody>
      </p:sp>
      <p:sp>
        <p:nvSpPr>
          <p:cNvPr id="2" name="Rectangle 1"/>
          <p:cNvSpPr/>
          <p:nvPr/>
        </p:nvSpPr>
        <p:spPr>
          <a:xfrm>
            <a:off x="1074490" y="1945729"/>
            <a:ext cx="6693141" cy="1239312"/>
          </a:xfrm>
          <a:prstGeom prst="rect">
            <a:avLst/>
          </a:prstGeom>
        </p:spPr>
        <p:txBody>
          <a:bodyPr wrap="none" lIns="130046" tIns="65023" rIns="130046" bIns="65023">
            <a:spAutoFit/>
          </a:bodyPr>
          <a:lstStyle/>
          <a:p>
            <a:r>
              <a:rPr lang="en-US" dirty="0"/>
              <a:t>Method 3: exhaustive search (or “gridded search”).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(1) pick a bunch of parameter values that cover the parameter space</a:t>
            </a:r>
          </a:p>
          <a:p>
            <a:r>
              <a:rPr lang="en-US" dirty="0"/>
              <a:t>(2) choose the parameter value that maximizes the likelihood</a:t>
            </a:r>
          </a:p>
        </p:txBody>
      </p:sp>
      <p:sp>
        <p:nvSpPr>
          <p:cNvPr id="3" name="Rectangle 2"/>
          <p:cNvSpPr/>
          <p:nvPr/>
        </p:nvSpPr>
        <p:spPr>
          <a:xfrm>
            <a:off x="230377" y="4410965"/>
            <a:ext cx="2772469" cy="2070308"/>
          </a:xfrm>
          <a:prstGeom prst="rect">
            <a:avLst/>
          </a:prstGeom>
        </p:spPr>
        <p:txBody>
          <a:bodyPr wrap="square" lIns="130046" tIns="65023" rIns="130046" bIns="65023">
            <a:spAutoFit/>
          </a:bodyPr>
          <a:lstStyle/>
          <a:p>
            <a:r>
              <a:rPr lang="en-US" dirty="0"/>
              <a:t>Problem: can only be done easily for 1 or 2 parameters.</a:t>
            </a:r>
          </a:p>
          <a:p>
            <a:endParaRPr lang="en-US" dirty="0"/>
          </a:p>
          <a:p>
            <a:r>
              <a:rPr lang="en-US" dirty="0"/>
              <a:t>More parameters = more “dimensions” = explosion of number of calculations</a:t>
            </a:r>
          </a:p>
        </p:txBody>
      </p:sp>
    </p:spTree>
    <p:extLst>
      <p:ext uri="{BB962C8B-B14F-4D97-AF65-F5344CB8AC3E}">
        <p14:creationId xmlns:p14="http://schemas.microsoft.com/office/powerpoint/2010/main" val="1516406969"/>
      </p:ext>
    </p:extLst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70" y="3826424"/>
            <a:ext cx="13004800" cy="5886141"/>
          </a:xfrm>
          <a:prstGeom prst="rect">
            <a:avLst/>
          </a:prstGeom>
        </p:spPr>
      </p:pic>
      <p:sp>
        <p:nvSpPr>
          <p:cNvPr id="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965931" y="208797"/>
            <a:ext cx="11311660" cy="1511300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sz="5100" dirty="0"/>
              <a:t>How to find this maximum?</a:t>
            </a:r>
            <a:endParaRPr sz="5100" dirty="0"/>
          </a:p>
        </p:txBody>
      </p:sp>
      <p:sp>
        <p:nvSpPr>
          <p:cNvPr id="2" name="Rectangle 1"/>
          <p:cNvSpPr/>
          <p:nvPr/>
        </p:nvSpPr>
        <p:spPr>
          <a:xfrm>
            <a:off x="1074489" y="1945728"/>
            <a:ext cx="8598247" cy="2070308"/>
          </a:xfrm>
          <a:prstGeom prst="rect">
            <a:avLst/>
          </a:prstGeom>
        </p:spPr>
        <p:txBody>
          <a:bodyPr wrap="none" lIns="130046" tIns="65023" rIns="130046" bIns="65023">
            <a:spAutoFit/>
          </a:bodyPr>
          <a:lstStyle/>
          <a:p>
            <a:r>
              <a:rPr lang="en-US" dirty="0"/>
              <a:t>Method 4: optimization, i.e. use the computer to iteratively search</a:t>
            </a:r>
          </a:p>
          <a:p>
            <a:pPr marL="406394" indent="-406394">
              <a:buFont typeface="Wingdings" charset="0"/>
              <a:buChar char="à"/>
            </a:pPr>
            <a:r>
              <a:rPr lang="en-US" dirty="0">
                <a:sym typeface="Wingdings"/>
              </a:rPr>
              <a:t>Very flexible, works on very complex models</a:t>
            </a:r>
          </a:p>
          <a:p>
            <a:pPr marL="406394" indent="-406394">
              <a:buFont typeface="Wingdings" charset="0"/>
              <a:buChar char="à"/>
            </a:pPr>
            <a:r>
              <a:rPr lang="en-US" dirty="0">
                <a:sym typeface="Wingdings"/>
              </a:rPr>
              <a:t>Involves some heuristic “hill-climbing” algorithm</a:t>
            </a:r>
          </a:p>
          <a:p>
            <a:pPr marL="406394" indent="-406394">
              <a:buFont typeface="Wingdings" charset="0"/>
              <a:buChar char="à"/>
            </a:pPr>
            <a:r>
              <a:rPr lang="en-US" dirty="0">
                <a:sym typeface="Wingdings"/>
              </a:rPr>
              <a:t>We use the “optim()”, in R</a:t>
            </a:r>
          </a:p>
          <a:p>
            <a:pPr marL="406394" indent="-406394">
              <a:buFont typeface="Wingdings" charset="0"/>
              <a:buChar char="à"/>
            </a:pPr>
            <a:r>
              <a:rPr lang="en-US" dirty="0">
                <a:sym typeface="Wingdings"/>
              </a:rPr>
              <a:t>Known as a “numerical solution” or “numerical optimization”, instead of an “analytic</a:t>
            </a:r>
            <a:br>
              <a:rPr lang="en-US" dirty="0">
                <a:sym typeface="Wingdings"/>
              </a:rPr>
            </a:br>
            <a:r>
              <a:rPr lang="en-US" dirty="0">
                <a:sym typeface="Wingdings"/>
              </a:rPr>
              <a:t>solution”</a:t>
            </a:r>
            <a:endParaRPr lang="en-US" dirty="0"/>
          </a:p>
          <a:p>
            <a:pPr marL="406394" indent="-406394">
              <a:buFont typeface="Wingdings" charset="0"/>
              <a:buChar char="à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076696"/>
      </p:ext>
    </p:extLst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70" y="3826424"/>
            <a:ext cx="13004800" cy="5886141"/>
          </a:xfrm>
          <a:prstGeom prst="rect">
            <a:avLst/>
          </a:prstGeom>
        </p:spPr>
      </p:pic>
      <p:sp>
        <p:nvSpPr>
          <p:cNvPr id="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965931" y="208797"/>
            <a:ext cx="11311660" cy="1511300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sz="5100" dirty="0"/>
              <a:t>How to find this maximum?</a:t>
            </a:r>
            <a:endParaRPr sz="5100" dirty="0"/>
          </a:p>
        </p:txBody>
      </p:sp>
      <p:sp>
        <p:nvSpPr>
          <p:cNvPr id="2" name="Rectangle 1"/>
          <p:cNvSpPr/>
          <p:nvPr/>
        </p:nvSpPr>
        <p:spPr>
          <a:xfrm>
            <a:off x="1074489" y="1945728"/>
            <a:ext cx="8598247" cy="2070308"/>
          </a:xfrm>
          <a:prstGeom prst="rect">
            <a:avLst/>
          </a:prstGeom>
        </p:spPr>
        <p:txBody>
          <a:bodyPr wrap="none" lIns="130046" tIns="65023" rIns="130046" bIns="65023">
            <a:spAutoFit/>
          </a:bodyPr>
          <a:lstStyle/>
          <a:p>
            <a:r>
              <a:rPr lang="en-US" dirty="0"/>
              <a:t>Method 4: optimization, i.e. use the computer to iteratively search</a:t>
            </a:r>
          </a:p>
          <a:p>
            <a:pPr marL="406394" indent="-406394">
              <a:buFont typeface="Wingdings" charset="0"/>
              <a:buChar char="à"/>
            </a:pPr>
            <a:r>
              <a:rPr lang="en-US" dirty="0">
                <a:sym typeface="Wingdings"/>
              </a:rPr>
              <a:t>Very flexible, works on very complex models</a:t>
            </a:r>
          </a:p>
          <a:p>
            <a:pPr marL="406394" indent="-406394">
              <a:buFont typeface="Wingdings" charset="0"/>
              <a:buChar char="à"/>
            </a:pPr>
            <a:r>
              <a:rPr lang="en-US" dirty="0">
                <a:sym typeface="Wingdings"/>
              </a:rPr>
              <a:t>Involves some heuristic “hill-climbing” algorithm</a:t>
            </a:r>
          </a:p>
          <a:p>
            <a:pPr marL="406394" indent="-406394">
              <a:buFont typeface="Wingdings" charset="0"/>
              <a:buChar char="à"/>
            </a:pPr>
            <a:r>
              <a:rPr lang="en-US" dirty="0">
                <a:sym typeface="Wingdings"/>
              </a:rPr>
              <a:t>We use the “optim()”, in R</a:t>
            </a:r>
          </a:p>
          <a:p>
            <a:pPr marL="406394" indent="-406394">
              <a:buFont typeface="Wingdings" charset="0"/>
              <a:buChar char="à"/>
            </a:pPr>
            <a:r>
              <a:rPr lang="en-US" dirty="0">
                <a:sym typeface="Wingdings"/>
              </a:rPr>
              <a:t>Known as a “numerical solution” or “numerical optimization”, instead of an “analytic</a:t>
            </a:r>
            <a:br>
              <a:rPr lang="en-US" dirty="0">
                <a:sym typeface="Wingdings"/>
              </a:rPr>
            </a:br>
            <a:r>
              <a:rPr lang="en-US" dirty="0">
                <a:sym typeface="Wingdings"/>
              </a:rPr>
              <a:t>solution”</a:t>
            </a:r>
            <a:endParaRPr lang="en-US" dirty="0"/>
          </a:p>
          <a:p>
            <a:pPr marL="406394" indent="-406394">
              <a:buFont typeface="Wingdings" charset="0"/>
              <a:buChar char="à"/>
            </a:pP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4989688" y="7125547"/>
            <a:ext cx="146755" cy="155787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0046" tIns="65023" rIns="130046" bIns="65023"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5136442" y="5996658"/>
            <a:ext cx="259647" cy="1128889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339240" y="5122588"/>
            <a:ext cx="2603428" cy="685314"/>
          </a:xfrm>
          <a:prstGeom prst="rect">
            <a:avLst/>
          </a:prstGeom>
        </p:spPr>
        <p:txBody>
          <a:bodyPr wrap="square" lIns="130046" tIns="65023" rIns="130046" bIns="65023">
            <a:spAutoFit/>
          </a:bodyPr>
          <a:lstStyle/>
          <a:p>
            <a:pPr algn="ctr"/>
            <a:r>
              <a:rPr lang="en-US" dirty="0">
                <a:solidFill>
                  <a:srgbClr val="3366FF"/>
                </a:solidFill>
                <a:sym typeface="Wingdings"/>
              </a:rPr>
              <a:t>Starting guess at parameter</a:t>
            </a:r>
            <a:endParaRPr lang="en-US" dirty="0">
              <a:solidFill>
                <a:srgbClr val="33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2900438"/>
      </p:ext>
    </p:extLst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70" y="3826424"/>
            <a:ext cx="13004800" cy="5886141"/>
          </a:xfrm>
          <a:prstGeom prst="rect">
            <a:avLst/>
          </a:prstGeom>
        </p:spPr>
      </p:pic>
      <p:sp>
        <p:nvSpPr>
          <p:cNvPr id="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965931" y="208797"/>
            <a:ext cx="11311660" cy="1511300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sz="5100" dirty="0"/>
              <a:t>How to find this maximum?</a:t>
            </a:r>
            <a:endParaRPr sz="5100" dirty="0"/>
          </a:p>
        </p:txBody>
      </p:sp>
      <p:sp>
        <p:nvSpPr>
          <p:cNvPr id="2" name="Rectangle 1"/>
          <p:cNvSpPr/>
          <p:nvPr/>
        </p:nvSpPr>
        <p:spPr>
          <a:xfrm>
            <a:off x="1074489" y="1945728"/>
            <a:ext cx="8598247" cy="2070308"/>
          </a:xfrm>
          <a:prstGeom prst="rect">
            <a:avLst/>
          </a:prstGeom>
        </p:spPr>
        <p:txBody>
          <a:bodyPr wrap="none" lIns="130046" tIns="65023" rIns="130046" bIns="65023">
            <a:spAutoFit/>
          </a:bodyPr>
          <a:lstStyle/>
          <a:p>
            <a:r>
              <a:rPr lang="en-US" dirty="0"/>
              <a:t>Method 4: optimization, i.e. use the computer to iteratively search</a:t>
            </a:r>
          </a:p>
          <a:p>
            <a:pPr marL="406394" indent="-406394">
              <a:buFont typeface="Wingdings" charset="0"/>
              <a:buChar char="à"/>
            </a:pPr>
            <a:r>
              <a:rPr lang="en-US" dirty="0">
                <a:sym typeface="Wingdings"/>
              </a:rPr>
              <a:t>Very flexible, works on very complex models</a:t>
            </a:r>
          </a:p>
          <a:p>
            <a:pPr marL="406394" indent="-406394">
              <a:buFont typeface="Wingdings" charset="0"/>
              <a:buChar char="à"/>
            </a:pPr>
            <a:r>
              <a:rPr lang="en-US" dirty="0">
                <a:sym typeface="Wingdings"/>
              </a:rPr>
              <a:t>Involves some heuristic “hill-climbing” algorithm</a:t>
            </a:r>
          </a:p>
          <a:p>
            <a:pPr marL="406394" indent="-406394">
              <a:buFont typeface="Wingdings" charset="0"/>
              <a:buChar char="à"/>
            </a:pPr>
            <a:r>
              <a:rPr lang="en-US" dirty="0">
                <a:sym typeface="Wingdings"/>
              </a:rPr>
              <a:t>We use the “optim()”, in R</a:t>
            </a:r>
          </a:p>
          <a:p>
            <a:pPr marL="406394" indent="-406394">
              <a:buFont typeface="Wingdings" charset="0"/>
              <a:buChar char="à"/>
            </a:pPr>
            <a:r>
              <a:rPr lang="en-US" dirty="0">
                <a:sym typeface="Wingdings"/>
              </a:rPr>
              <a:t>Known as a “numerical solution” or “numerical optimization”, instead of an “analytic</a:t>
            </a:r>
            <a:br>
              <a:rPr lang="en-US" dirty="0">
                <a:sym typeface="Wingdings"/>
              </a:rPr>
            </a:br>
            <a:r>
              <a:rPr lang="en-US" dirty="0">
                <a:sym typeface="Wingdings"/>
              </a:rPr>
              <a:t>solution”</a:t>
            </a:r>
            <a:endParaRPr lang="en-US" dirty="0"/>
          </a:p>
          <a:p>
            <a:pPr marL="406394" indent="-406394">
              <a:buFont typeface="Wingdings" charset="0"/>
              <a:buChar char="à"/>
            </a:pPr>
            <a:endParaRPr lang="en-US" dirty="0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5113867" y="7010402"/>
            <a:ext cx="722489" cy="158044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989688" y="7125547"/>
            <a:ext cx="146755" cy="155787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0046" tIns="65023" rIns="130046" bIns="65023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527170"/>
      </p:ext>
    </p:extLst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70" y="3826424"/>
            <a:ext cx="13004800" cy="5886141"/>
          </a:xfrm>
          <a:prstGeom prst="rect">
            <a:avLst/>
          </a:prstGeom>
        </p:spPr>
      </p:pic>
      <p:sp>
        <p:nvSpPr>
          <p:cNvPr id="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965931" y="208797"/>
            <a:ext cx="11311660" cy="1511300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sz="5100" dirty="0"/>
              <a:t>How to find this maximum?</a:t>
            </a:r>
            <a:endParaRPr sz="5100" dirty="0"/>
          </a:p>
        </p:txBody>
      </p:sp>
      <p:sp>
        <p:nvSpPr>
          <p:cNvPr id="2" name="Rectangle 1"/>
          <p:cNvSpPr/>
          <p:nvPr/>
        </p:nvSpPr>
        <p:spPr>
          <a:xfrm>
            <a:off x="1074489" y="1945728"/>
            <a:ext cx="8598247" cy="2070308"/>
          </a:xfrm>
          <a:prstGeom prst="rect">
            <a:avLst/>
          </a:prstGeom>
        </p:spPr>
        <p:txBody>
          <a:bodyPr wrap="none" lIns="130046" tIns="65023" rIns="130046" bIns="65023">
            <a:spAutoFit/>
          </a:bodyPr>
          <a:lstStyle/>
          <a:p>
            <a:r>
              <a:rPr lang="en-US" dirty="0"/>
              <a:t>Method 4: optimization, i.e. use the computer to iteratively search</a:t>
            </a:r>
          </a:p>
          <a:p>
            <a:pPr marL="406394" indent="-406394">
              <a:buFont typeface="Wingdings" charset="0"/>
              <a:buChar char="à"/>
            </a:pPr>
            <a:r>
              <a:rPr lang="en-US" dirty="0">
                <a:sym typeface="Wingdings"/>
              </a:rPr>
              <a:t>Very flexible, works on very complex models</a:t>
            </a:r>
          </a:p>
          <a:p>
            <a:pPr marL="406394" indent="-406394">
              <a:buFont typeface="Wingdings" charset="0"/>
              <a:buChar char="à"/>
            </a:pPr>
            <a:r>
              <a:rPr lang="en-US" dirty="0">
                <a:sym typeface="Wingdings"/>
              </a:rPr>
              <a:t>Involves some heuristic “hill-climbing” algorithm</a:t>
            </a:r>
          </a:p>
          <a:p>
            <a:pPr marL="406394" indent="-406394">
              <a:buFont typeface="Wingdings" charset="0"/>
              <a:buChar char="à"/>
            </a:pPr>
            <a:r>
              <a:rPr lang="en-US" dirty="0">
                <a:sym typeface="Wingdings"/>
              </a:rPr>
              <a:t>We use the “optim()”, in R</a:t>
            </a:r>
          </a:p>
          <a:p>
            <a:pPr marL="406394" indent="-406394">
              <a:buFont typeface="Wingdings" charset="0"/>
              <a:buChar char="à"/>
            </a:pPr>
            <a:r>
              <a:rPr lang="en-US" dirty="0">
                <a:sym typeface="Wingdings"/>
              </a:rPr>
              <a:t>Known as a “numerical solution” or “numerical optimization”, instead of an “analytic</a:t>
            </a:r>
            <a:br>
              <a:rPr lang="en-US" dirty="0">
                <a:sym typeface="Wingdings"/>
              </a:rPr>
            </a:br>
            <a:r>
              <a:rPr lang="en-US" dirty="0">
                <a:sym typeface="Wingdings"/>
              </a:rPr>
              <a:t>solution”</a:t>
            </a:r>
            <a:endParaRPr lang="en-US" dirty="0"/>
          </a:p>
          <a:p>
            <a:pPr marL="406394" indent="-406394">
              <a:buFont typeface="Wingdings" charset="0"/>
              <a:buChar char="à"/>
            </a:pPr>
            <a:endParaRPr lang="en-US" dirty="0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5113867" y="7010402"/>
            <a:ext cx="722489" cy="158044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5858934" y="6536269"/>
            <a:ext cx="722489" cy="474132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4989688" y="7125547"/>
            <a:ext cx="146755" cy="155787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0046" tIns="65023" rIns="130046" bIns="65023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764951"/>
      </p:ext>
    </p:extLst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70" y="3826424"/>
            <a:ext cx="13004800" cy="5886141"/>
          </a:xfrm>
          <a:prstGeom prst="rect">
            <a:avLst/>
          </a:prstGeom>
        </p:spPr>
      </p:pic>
      <p:sp>
        <p:nvSpPr>
          <p:cNvPr id="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965931" y="208797"/>
            <a:ext cx="11311660" cy="1511300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sz="5100" dirty="0"/>
              <a:t>How to find this maximum?</a:t>
            </a:r>
            <a:endParaRPr sz="5100" dirty="0"/>
          </a:p>
        </p:txBody>
      </p:sp>
      <p:sp>
        <p:nvSpPr>
          <p:cNvPr id="2" name="Rectangle 1"/>
          <p:cNvSpPr/>
          <p:nvPr/>
        </p:nvSpPr>
        <p:spPr>
          <a:xfrm>
            <a:off x="1074489" y="1945728"/>
            <a:ext cx="8598247" cy="2070308"/>
          </a:xfrm>
          <a:prstGeom prst="rect">
            <a:avLst/>
          </a:prstGeom>
        </p:spPr>
        <p:txBody>
          <a:bodyPr wrap="none" lIns="130046" tIns="65023" rIns="130046" bIns="65023">
            <a:spAutoFit/>
          </a:bodyPr>
          <a:lstStyle/>
          <a:p>
            <a:r>
              <a:rPr lang="en-US" dirty="0"/>
              <a:t>Method 4: optimization, i.e. use the computer to iteratively search</a:t>
            </a:r>
          </a:p>
          <a:p>
            <a:pPr marL="406394" indent="-406394">
              <a:buFont typeface="Wingdings" charset="0"/>
              <a:buChar char="à"/>
            </a:pPr>
            <a:r>
              <a:rPr lang="en-US" dirty="0">
                <a:sym typeface="Wingdings"/>
              </a:rPr>
              <a:t>Very flexible, works on very complex models</a:t>
            </a:r>
          </a:p>
          <a:p>
            <a:pPr marL="406394" indent="-406394">
              <a:buFont typeface="Wingdings" charset="0"/>
              <a:buChar char="à"/>
            </a:pPr>
            <a:r>
              <a:rPr lang="en-US" dirty="0">
                <a:sym typeface="Wingdings"/>
              </a:rPr>
              <a:t>Involves some heuristic “hill-climbing” algorithm</a:t>
            </a:r>
          </a:p>
          <a:p>
            <a:pPr marL="406394" indent="-406394">
              <a:buFont typeface="Wingdings" charset="0"/>
              <a:buChar char="à"/>
            </a:pPr>
            <a:r>
              <a:rPr lang="en-US" dirty="0">
                <a:sym typeface="Wingdings"/>
              </a:rPr>
              <a:t>We use the “optim()”, in R</a:t>
            </a:r>
          </a:p>
          <a:p>
            <a:pPr marL="406394" indent="-406394">
              <a:buFont typeface="Wingdings" charset="0"/>
              <a:buChar char="à"/>
            </a:pPr>
            <a:r>
              <a:rPr lang="en-US" dirty="0">
                <a:sym typeface="Wingdings"/>
              </a:rPr>
              <a:t>Known as a “numerical solution” or “numerical optimization”, instead of an “analytic</a:t>
            </a:r>
            <a:br>
              <a:rPr lang="en-US" dirty="0">
                <a:sym typeface="Wingdings"/>
              </a:rPr>
            </a:br>
            <a:r>
              <a:rPr lang="en-US" dirty="0">
                <a:sym typeface="Wingdings"/>
              </a:rPr>
              <a:t>solution”</a:t>
            </a:r>
            <a:endParaRPr lang="en-US" dirty="0"/>
          </a:p>
          <a:p>
            <a:pPr marL="406394" indent="-406394">
              <a:buFont typeface="Wingdings" charset="0"/>
              <a:buChar char="à"/>
            </a:pPr>
            <a:endParaRPr lang="en-US" dirty="0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5113867" y="7010402"/>
            <a:ext cx="722489" cy="158044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5858934" y="6536269"/>
            <a:ext cx="722489" cy="474132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4910470"/>
      </p:ext>
    </p:extLst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70" y="3826424"/>
            <a:ext cx="13004800" cy="5886141"/>
          </a:xfrm>
          <a:prstGeom prst="rect">
            <a:avLst/>
          </a:prstGeom>
        </p:spPr>
      </p:pic>
      <p:sp>
        <p:nvSpPr>
          <p:cNvPr id="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965931" y="208797"/>
            <a:ext cx="11311660" cy="1511300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sz="5100" dirty="0"/>
              <a:t>How to find this maximum?</a:t>
            </a:r>
            <a:endParaRPr sz="5100" dirty="0"/>
          </a:p>
        </p:txBody>
      </p:sp>
      <p:sp>
        <p:nvSpPr>
          <p:cNvPr id="2" name="Rectangle 1"/>
          <p:cNvSpPr/>
          <p:nvPr/>
        </p:nvSpPr>
        <p:spPr>
          <a:xfrm>
            <a:off x="1074489" y="1945728"/>
            <a:ext cx="8598247" cy="2070308"/>
          </a:xfrm>
          <a:prstGeom prst="rect">
            <a:avLst/>
          </a:prstGeom>
        </p:spPr>
        <p:txBody>
          <a:bodyPr wrap="none" lIns="130046" tIns="65023" rIns="130046" bIns="65023">
            <a:spAutoFit/>
          </a:bodyPr>
          <a:lstStyle/>
          <a:p>
            <a:r>
              <a:rPr lang="en-US" dirty="0"/>
              <a:t>Method 4: optimization, i.e. use the computer to iteratively search</a:t>
            </a:r>
          </a:p>
          <a:p>
            <a:pPr marL="406394" indent="-406394">
              <a:buFont typeface="Wingdings" charset="0"/>
              <a:buChar char="à"/>
            </a:pPr>
            <a:r>
              <a:rPr lang="en-US" dirty="0">
                <a:sym typeface="Wingdings"/>
              </a:rPr>
              <a:t>Very flexible, works on very complex models</a:t>
            </a:r>
          </a:p>
          <a:p>
            <a:pPr marL="406394" indent="-406394">
              <a:buFont typeface="Wingdings" charset="0"/>
              <a:buChar char="à"/>
            </a:pPr>
            <a:r>
              <a:rPr lang="en-US" dirty="0">
                <a:sym typeface="Wingdings"/>
              </a:rPr>
              <a:t>Involves some heuristic “hill-climbing” algorithm</a:t>
            </a:r>
          </a:p>
          <a:p>
            <a:pPr marL="406394" indent="-406394">
              <a:buFont typeface="Wingdings" charset="0"/>
              <a:buChar char="à"/>
            </a:pPr>
            <a:r>
              <a:rPr lang="en-US" dirty="0">
                <a:sym typeface="Wingdings"/>
              </a:rPr>
              <a:t>We use the “optim()”, in R</a:t>
            </a:r>
          </a:p>
          <a:p>
            <a:pPr marL="406394" indent="-406394">
              <a:buFont typeface="Wingdings" charset="0"/>
              <a:buChar char="à"/>
            </a:pPr>
            <a:r>
              <a:rPr lang="en-US" dirty="0">
                <a:sym typeface="Wingdings"/>
              </a:rPr>
              <a:t>Known as a “numerical solution” or “numerical optimization”, instead of an “analytic</a:t>
            </a:r>
            <a:br>
              <a:rPr lang="en-US" dirty="0">
                <a:sym typeface="Wingdings"/>
              </a:rPr>
            </a:br>
            <a:r>
              <a:rPr lang="en-US" dirty="0">
                <a:sym typeface="Wingdings"/>
              </a:rPr>
              <a:t>solution”</a:t>
            </a:r>
            <a:endParaRPr lang="en-US" dirty="0"/>
          </a:p>
          <a:p>
            <a:pPr marL="406394" indent="-406394">
              <a:buFont typeface="Wingdings" charset="0"/>
              <a:buChar char="à"/>
            </a:pPr>
            <a:endParaRPr lang="en-US" dirty="0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5113867" y="7010402"/>
            <a:ext cx="722489" cy="158044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5858934" y="6536269"/>
            <a:ext cx="722489" cy="474132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6581424" y="6197601"/>
            <a:ext cx="2190044" cy="338668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5162923"/>
      </p:ext>
    </p:extLst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70" y="3826424"/>
            <a:ext cx="13004800" cy="5886141"/>
          </a:xfrm>
          <a:prstGeom prst="rect">
            <a:avLst/>
          </a:prstGeom>
        </p:spPr>
      </p:pic>
      <p:sp>
        <p:nvSpPr>
          <p:cNvPr id="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965931" y="208797"/>
            <a:ext cx="11311660" cy="1511300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sz="5100" dirty="0"/>
              <a:t>How to find this maximum?</a:t>
            </a:r>
            <a:endParaRPr sz="5100" dirty="0"/>
          </a:p>
        </p:txBody>
      </p:sp>
      <p:sp>
        <p:nvSpPr>
          <p:cNvPr id="2" name="Rectangle 1"/>
          <p:cNvSpPr/>
          <p:nvPr/>
        </p:nvSpPr>
        <p:spPr>
          <a:xfrm>
            <a:off x="1074489" y="1945728"/>
            <a:ext cx="8598247" cy="2070308"/>
          </a:xfrm>
          <a:prstGeom prst="rect">
            <a:avLst/>
          </a:prstGeom>
        </p:spPr>
        <p:txBody>
          <a:bodyPr wrap="none" lIns="130046" tIns="65023" rIns="130046" bIns="65023">
            <a:spAutoFit/>
          </a:bodyPr>
          <a:lstStyle/>
          <a:p>
            <a:r>
              <a:rPr lang="en-US" dirty="0"/>
              <a:t>Method 4: optimization, i.e. use the computer to iteratively search</a:t>
            </a:r>
          </a:p>
          <a:p>
            <a:pPr marL="406394" indent="-406394">
              <a:buFont typeface="Wingdings" charset="0"/>
              <a:buChar char="à"/>
            </a:pPr>
            <a:r>
              <a:rPr lang="en-US" dirty="0">
                <a:sym typeface="Wingdings"/>
              </a:rPr>
              <a:t>Very flexible, works on very complex models</a:t>
            </a:r>
          </a:p>
          <a:p>
            <a:pPr marL="406394" indent="-406394">
              <a:buFont typeface="Wingdings" charset="0"/>
              <a:buChar char="à"/>
            </a:pPr>
            <a:r>
              <a:rPr lang="en-US" dirty="0">
                <a:sym typeface="Wingdings"/>
              </a:rPr>
              <a:t>Involves some heuristic “hill-climbing” algorithm</a:t>
            </a:r>
          </a:p>
          <a:p>
            <a:pPr marL="406394" indent="-406394">
              <a:buFont typeface="Wingdings" charset="0"/>
              <a:buChar char="à"/>
            </a:pPr>
            <a:r>
              <a:rPr lang="en-US" dirty="0">
                <a:sym typeface="Wingdings"/>
              </a:rPr>
              <a:t>We use the “optim()”, in R</a:t>
            </a:r>
          </a:p>
          <a:p>
            <a:pPr marL="406394" indent="-406394">
              <a:buFont typeface="Wingdings" charset="0"/>
              <a:buChar char="à"/>
            </a:pPr>
            <a:r>
              <a:rPr lang="en-US" dirty="0">
                <a:sym typeface="Wingdings"/>
              </a:rPr>
              <a:t>Known as a “numerical solution” or “numerical optimization”, instead of an “analytic</a:t>
            </a:r>
            <a:br>
              <a:rPr lang="en-US" dirty="0">
                <a:sym typeface="Wingdings"/>
              </a:rPr>
            </a:br>
            <a:r>
              <a:rPr lang="en-US" dirty="0">
                <a:sym typeface="Wingdings"/>
              </a:rPr>
              <a:t>solution”</a:t>
            </a:r>
            <a:endParaRPr lang="en-US" dirty="0"/>
          </a:p>
          <a:p>
            <a:pPr marL="406394" indent="-406394">
              <a:buFont typeface="Wingdings" charset="0"/>
              <a:buChar char="à"/>
            </a:pPr>
            <a:endParaRPr lang="en-US" dirty="0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5113867" y="7010402"/>
            <a:ext cx="722489" cy="158044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5858934" y="6536269"/>
            <a:ext cx="722489" cy="474132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6581424" y="6197601"/>
            <a:ext cx="2190044" cy="338668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 flipV="1">
            <a:off x="8450863" y="5226756"/>
            <a:ext cx="194170" cy="781193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3132258"/>
      </p:ext>
    </p:extLst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70" y="3826424"/>
            <a:ext cx="13004800" cy="5886141"/>
          </a:xfrm>
          <a:prstGeom prst="rect">
            <a:avLst/>
          </a:prstGeom>
        </p:spPr>
      </p:pic>
      <p:sp>
        <p:nvSpPr>
          <p:cNvPr id="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965931" y="208797"/>
            <a:ext cx="11311660" cy="1511300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sz="5100" dirty="0"/>
              <a:t>How to find this maximum?</a:t>
            </a:r>
            <a:endParaRPr sz="5100" dirty="0"/>
          </a:p>
        </p:txBody>
      </p:sp>
      <p:sp>
        <p:nvSpPr>
          <p:cNvPr id="2" name="Rectangle 1"/>
          <p:cNvSpPr/>
          <p:nvPr/>
        </p:nvSpPr>
        <p:spPr>
          <a:xfrm>
            <a:off x="1074489" y="1945728"/>
            <a:ext cx="8598247" cy="2070308"/>
          </a:xfrm>
          <a:prstGeom prst="rect">
            <a:avLst/>
          </a:prstGeom>
        </p:spPr>
        <p:txBody>
          <a:bodyPr wrap="none" lIns="130046" tIns="65023" rIns="130046" bIns="65023">
            <a:spAutoFit/>
          </a:bodyPr>
          <a:lstStyle/>
          <a:p>
            <a:r>
              <a:rPr lang="en-US" dirty="0"/>
              <a:t>Method 4: optimization, i.e. use the computer to iteratively search</a:t>
            </a:r>
          </a:p>
          <a:p>
            <a:pPr marL="406394" indent="-406394">
              <a:buFont typeface="Wingdings" charset="0"/>
              <a:buChar char="à"/>
            </a:pPr>
            <a:r>
              <a:rPr lang="en-US" dirty="0">
                <a:sym typeface="Wingdings"/>
              </a:rPr>
              <a:t>Very flexible, works on very complex models</a:t>
            </a:r>
          </a:p>
          <a:p>
            <a:pPr marL="406394" indent="-406394">
              <a:buFont typeface="Wingdings" charset="0"/>
              <a:buChar char="à"/>
            </a:pPr>
            <a:r>
              <a:rPr lang="en-US" dirty="0">
                <a:sym typeface="Wingdings"/>
              </a:rPr>
              <a:t>Involves some heuristic “hill-climbing” algorithm</a:t>
            </a:r>
          </a:p>
          <a:p>
            <a:pPr marL="406394" indent="-406394">
              <a:buFont typeface="Wingdings" charset="0"/>
              <a:buChar char="à"/>
            </a:pPr>
            <a:r>
              <a:rPr lang="en-US" dirty="0">
                <a:sym typeface="Wingdings"/>
              </a:rPr>
              <a:t>We use the “optim()”, in R</a:t>
            </a:r>
          </a:p>
          <a:p>
            <a:pPr marL="406394" indent="-406394">
              <a:buFont typeface="Wingdings" charset="0"/>
              <a:buChar char="à"/>
            </a:pPr>
            <a:r>
              <a:rPr lang="en-US" dirty="0">
                <a:sym typeface="Wingdings"/>
              </a:rPr>
              <a:t>Known as a “numerical solution” or “numerical optimization”, instead of an “analytic</a:t>
            </a:r>
            <a:br>
              <a:rPr lang="en-US" dirty="0">
                <a:sym typeface="Wingdings"/>
              </a:rPr>
            </a:br>
            <a:r>
              <a:rPr lang="en-US" dirty="0">
                <a:sym typeface="Wingdings"/>
              </a:rPr>
              <a:t>solution”</a:t>
            </a:r>
            <a:endParaRPr lang="en-US" dirty="0"/>
          </a:p>
          <a:p>
            <a:pPr marL="406394" indent="-406394">
              <a:buFont typeface="Wingdings" charset="0"/>
              <a:buChar char="à"/>
            </a:pPr>
            <a:endParaRPr lang="en-US" dirty="0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5113867" y="7010402"/>
            <a:ext cx="722489" cy="158044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5858934" y="6536269"/>
            <a:ext cx="722489" cy="474132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6581424" y="6197601"/>
            <a:ext cx="2190044" cy="338668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 flipV="1">
            <a:off x="8450863" y="5226756"/>
            <a:ext cx="194170" cy="781193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7292623" y="4730045"/>
            <a:ext cx="1110827" cy="361244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4761952"/>
      </p:ext>
    </p:extLst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70" y="3826424"/>
            <a:ext cx="13004800" cy="5886141"/>
          </a:xfrm>
          <a:prstGeom prst="rect">
            <a:avLst/>
          </a:prstGeom>
        </p:spPr>
      </p:pic>
      <p:sp>
        <p:nvSpPr>
          <p:cNvPr id="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965931" y="208797"/>
            <a:ext cx="11311660" cy="1511300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sz="5100" dirty="0"/>
              <a:t>How to find this maximum?</a:t>
            </a:r>
            <a:endParaRPr sz="5100" dirty="0"/>
          </a:p>
        </p:txBody>
      </p:sp>
      <p:sp>
        <p:nvSpPr>
          <p:cNvPr id="2" name="Rectangle 1"/>
          <p:cNvSpPr/>
          <p:nvPr/>
        </p:nvSpPr>
        <p:spPr>
          <a:xfrm>
            <a:off x="1074489" y="1945728"/>
            <a:ext cx="8598247" cy="2070308"/>
          </a:xfrm>
          <a:prstGeom prst="rect">
            <a:avLst/>
          </a:prstGeom>
        </p:spPr>
        <p:txBody>
          <a:bodyPr wrap="none" lIns="130046" tIns="65023" rIns="130046" bIns="65023">
            <a:spAutoFit/>
          </a:bodyPr>
          <a:lstStyle/>
          <a:p>
            <a:r>
              <a:rPr lang="en-US" dirty="0"/>
              <a:t>Method 4: optimization, i.e. use the computer to iteratively search</a:t>
            </a:r>
          </a:p>
          <a:p>
            <a:pPr marL="406394" indent="-406394">
              <a:buFont typeface="Wingdings" charset="0"/>
              <a:buChar char="à"/>
            </a:pPr>
            <a:r>
              <a:rPr lang="en-US" dirty="0">
                <a:sym typeface="Wingdings"/>
              </a:rPr>
              <a:t>Very flexible, works on very complex models</a:t>
            </a:r>
          </a:p>
          <a:p>
            <a:pPr marL="406394" indent="-406394">
              <a:buFont typeface="Wingdings" charset="0"/>
              <a:buChar char="à"/>
            </a:pPr>
            <a:r>
              <a:rPr lang="en-US" dirty="0">
                <a:sym typeface="Wingdings"/>
              </a:rPr>
              <a:t>Involves some heuristic “hill-climbing” algorithm</a:t>
            </a:r>
          </a:p>
          <a:p>
            <a:pPr marL="406394" indent="-406394">
              <a:buFont typeface="Wingdings" charset="0"/>
              <a:buChar char="à"/>
            </a:pPr>
            <a:r>
              <a:rPr lang="en-US" dirty="0">
                <a:sym typeface="Wingdings"/>
              </a:rPr>
              <a:t>We use the “optim()”, in R</a:t>
            </a:r>
          </a:p>
          <a:p>
            <a:pPr marL="406394" indent="-406394">
              <a:buFont typeface="Wingdings" charset="0"/>
              <a:buChar char="à"/>
            </a:pPr>
            <a:r>
              <a:rPr lang="en-US" dirty="0">
                <a:sym typeface="Wingdings"/>
              </a:rPr>
              <a:t>Known as a “numerical solution” or “numerical optimization”, instead of an “analytic</a:t>
            </a:r>
            <a:br>
              <a:rPr lang="en-US" dirty="0">
                <a:sym typeface="Wingdings"/>
              </a:rPr>
            </a:br>
            <a:r>
              <a:rPr lang="en-US" dirty="0">
                <a:sym typeface="Wingdings"/>
              </a:rPr>
              <a:t>solution”</a:t>
            </a:r>
            <a:endParaRPr lang="en-US" dirty="0"/>
          </a:p>
          <a:p>
            <a:pPr marL="406394" indent="-406394">
              <a:buFont typeface="Wingdings" charset="0"/>
              <a:buChar char="à"/>
            </a:pPr>
            <a:endParaRPr lang="en-US" dirty="0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5113867" y="7010402"/>
            <a:ext cx="722489" cy="158044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5858934" y="6536269"/>
            <a:ext cx="722489" cy="474132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6581424" y="6197601"/>
            <a:ext cx="2190044" cy="338668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 flipV="1">
            <a:off x="8450863" y="5226756"/>
            <a:ext cx="194170" cy="781193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7292623" y="4730045"/>
            <a:ext cx="1110827" cy="361244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7279078" y="4269459"/>
            <a:ext cx="460585" cy="361244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7422618"/>
      </p:ext>
    </p:extLst>
  </p:cSld>
  <p:clrMapOvr>
    <a:masterClrMapping/>
  </p:clrMapOvr>
  <p:transition spd="med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70" y="3826424"/>
            <a:ext cx="13004800" cy="5886141"/>
          </a:xfrm>
          <a:prstGeom prst="rect">
            <a:avLst/>
          </a:prstGeom>
        </p:spPr>
      </p:pic>
      <p:sp>
        <p:nvSpPr>
          <p:cNvPr id="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965931" y="208797"/>
            <a:ext cx="11311660" cy="1511300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sz="5100" dirty="0"/>
              <a:t>How to find this maximum?</a:t>
            </a:r>
            <a:endParaRPr sz="5100" dirty="0"/>
          </a:p>
        </p:txBody>
      </p:sp>
      <p:sp>
        <p:nvSpPr>
          <p:cNvPr id="2" name="Rectangle 1"/>
          <p:cNvSpPr/>
          <p:nvPr/>
        </p:nvSpPr>
        <p:spPr>
          <a:xfrm>
            <a:off x="1074489" y="1945728"/>
            <a:ext cx="8598247" cy="2070308"/>
          </a:xfrm>
          <a:prstGeom prst="rect">
            <a:avLst/>
          </a:prstGeom>
        </p:spPr>
        <p:txBody>
          <a:bodyPr wrap="none" lIns="130046" tIns="65023" rIns="130046" bIns="65023">
            <a:spAutoFit/>
          </a:bodyPr>
          <a:lstStyle/>
          <a:p>
            <a:r>
              <a:rPr lang="en-US" dirty="0"/>
              <a:t>Method 4: optimization, i.e. use the computer to iteratively search</a:t>
            </a:r>
          </a:p>
          <a:p>
            <a:pPr marL="406394" indent="-406394">
              <a:buFont typeface="Wingdings" charset="0"/>
              <a:buChar char="à"/>
            </a:pPr>
            <a:r>
              <a:rPr lang="en-US" dirty="0">
                <a:sym typeface="Wingdings"/>
              </a:rPr>
              <a:t>Very flexible, works on very complex models</a:t>
            </a:r>
          </a:p>
          <a:p>
            <a:pPr marL="406394" indent="-406394">
              <a:buFont typeface="Wingdings" charset="0"/>
              <a:buChar char="à"/>
            </a:pPr>
            <a:r>
              <a:rPr lang="en-US" dirty="0">
                <a:sym typeface="Wingdings"/>
              </a:rPr>
              <a:t>Involves some heuristic “hill-climbing” algorithm</a:t>
            </a:r>
          </a:p>
          <a:p>
            <a:pPr marL="406394" indent="-406394">
              <a:buFont typeface="Wingdings" charset="0"/>
              <a:buChar char="à"/>
            </a:pPr>
            <a:r>
              <a:rPr lang="en-US" dirty="0">
                <a:sym typeface="Wingdings"/>
              </a:rPr>
              <a:t>We use the “optim()”, in R</a:t>
            </a:r>
          </a:p>
          <a:p>
            <a:pPr marL="406394" indent="-406394">
              <a:buFont typeface="Wingdings" charset="0"/>
              <a:buChar char="à"/>
            </a:pPr>
            <a:r>
              <a:rPr lang="en-US" dirty="0">
                <a:sym typeface="Wingdings"/>
              </a:rPr>
              <a:t>Known as a “numerical solution” or “numerical optimization”, instead of an “analytic</a:t>
            </a:r>
            <a:br>
              <a:rPr lang="en-US" dirty="0">
                <a:sym typeface="Wingdings"/>
              </a:rPr>
            </a:br>
            <a:r>
              <a:rPr lang="en-US" dirty="0">
                <a:sym typeface="Wingdings"/>
              </a:rPr>
              <a:t>solution”</a:t>
            </a:r>
            <a:endParaRPr lang="en-US" dirty="0"/>
          </a:p>
          <a:p>
            <a:pPr marL="406394" indent="-406394">
              <a:buFont typeface="Wingdings" charset="0"/>
              <a:buChar char="à"/>
            </a:pPr>
            <a:endParaRPr lang="en-US" dirty="0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5113867" y="7010402"/>
            <a:ext cx="722489" cy="158044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5858934" y="6536269"/>
            <a:ext cx="722489" cy="474132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6581424" y="6197601"/>
            <a:ext cx="2190044" cy="338668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 flipV="1">
            <a:off x="8450863" y="5226756"/>
            <a:ext cx="194170" cy="781193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7292623" y="4730045"/>
            <a:ext cx="1110827" cy="361244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7279078" y="4269459"/>
            <a:ext cx="460585" cy="361244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744177" y="4303325"/>
            <a:ext cx="146755" cy="155787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0046" tIns="65023" rIns="130046" bIns="65023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898372"/>
      </p:ext>
    </p:extLst>
  </p:cSld>
  <p:clrMapOvr>
    <a:masterClrMapping/>
  </p:clrMapOvr>
  <p:transition spd="med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70" y="3826424"/>
            <a:ext cx="13004800" cy="5886141"/>
          </a:xfrm>
          <a:prstGeom prst="rect">
            <a:avLst/>
          </a:prstGeom>
        </p:spPr>
      </p:pic>
      <p:sp>
        <p:nvSpPr>
          <p:cNvPr id="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965931" y="208797"/>
            <a:ext cx="11311660" cy="1511300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sz="5100" dirty="0"/>
              <a:t>How to find this maximum?</a:t>
            </a:r>
            <a:endParaRPr sz="5100" dirty="0"/>
          </a:p>
        </p:txBody>
      </p:sp>
      <p:sp>
        <p:nvSpPr>
          <p:cNvPr id="2" name="Rectangle 1"/>
          <p:cNvSpPr/>
          <p:nvPr/>
        </p:nvSpPr>
        <p:spPr>
          <a:xfrm>
            <a:off x="1074490" y="1945729"/>
            <a:ext cx="11817422" cy="1516311"/>
          </a:xfrm>
          <a:prstGeom prst="rect">
            <a:avLst/>
          </a:prstGeom>
        </p:spPr>
        <p:txBody>
          <a:bodyPr wrap="square" lIns="130046" tIns="65023" rIns="130046" bIns="65023">
            <a:spAutoFit/>
          </a:bodyPr>
          <a:lstStyle/>
          <a:p>
            <a:r>
              <a:rPr lang="en-US" dirty="0"/>
              <a:t>Advantage of optimization/hill-climbing: extremely flexible, can be used on all sorts of complex models</a:t>
            </a:r>
          </a:p>
          <a:p>
            <a:endParaRPr lang="en-US" dirty="0"/>
          </a:p>
          <a:p>
            <a:r>
              <a:rPr lang="en-US" dirty="0"/>
              <a:t>Disadvantages of optimization/hill-climbing: much slower than analytic solutions; no absolute guarantee the search will actually find the true peak </a:t>
            </a:r>
          </a:p>
          <a:p>
            <a:pPr marL="406394" indent="-406394">
              <a:buFont typeface="Wingdings" charset="0"/>
              <a:buChar char="à"/>
            </a:pPr>
            <a:endParaRPr lang="en-US" dirty="0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5113867" y="7010402"/>
            <a:ext cx="722489" cy="158044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5858934" y="6536269"/>
            <a:ext cx="722489" cy="474132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6581424" y="6197601"/>
            <a:ext cx="2190044" cy="338668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 flipV="1">
            <a:off x="8450863" y="5226756"/>
            <a:ext cx="194170" cy="781193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7292623" y="4730045"/>
            <a:ext cx="1110827" cy="361244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7279078" y="4269459"/>
            <a:ext cx="460585" cy="361244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744177" y="4303325"/>
            <a:ext cx="146755" cy="155787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0046" tIns="65023" rIns="130046" bIns="65023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764704"/>
      </p:ext>
    </p:extLst>
  </p:cSld>
  <p:clrMapOvr>
    <a:masterClrMapping/>
  </p:clrMapOvr>
  <p:transition spd="med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54200" y="344721"/>
            <a:ext cx="8248015" cy="2133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5800"/>
              </a:lnSpc>
            </a:pPr>
            <a:r>
              <a:rPr sz="5000" b="1" spc="-40" dirty="0">
                <a:latin typeface="Gill Sans"/>
                <a:cs typeface="Gill Sans"/>
              </a:rPr>
              <a:t>C</a:t>
            </a:r>
            <a:r>
              <a:rPr sz="5000" b="1" spc="35" dirty="0">
                <a:latin typeface="Gill Sans"/>
                <a:cs typeface="Gill Sans"/>
              </a:rPr>
              <a:t>a</a:t>
            </a:r>
            <a:r>
              <a:rPr sz="5000" b="1" dirty="0">
                <a:latin typeface="Gill Sans"/>
                <a:cs typeface="Gill Sans"/>
              </a:rPr>
              <a:t>n </a:t>
            </a:r>
            <a:r>
              <a:rPr sz="5000" b="1" spc="-70" dirty="0">
                <a:latin typeface="Gill Sans"/>
                <a:cs typeface="Gill Sans"/>
              </a:rPr>
              <a:t>w</a:t>
            </a:r>
            <a:r>
              <a:rPr sz="5000" b="1" dirty="0">
                <a:latin typeface="Gill Sans"/>
                <a:cs typeface="Gill Sans"/>
              </a:rPr>
              <a:t>e </a:t>
            </a:r>
            <a:r>
              <a:rPr sz="5000" b="1" spc="-5" dirty="0">
                <a:latin typeface="Gill Sans"/>
                <a:cs typeface="Gill Sans"/>
              </a:rPr>
              <a:t>measu</a:t>
            </a:r>
            <a:r>
              <a:rPr sz="5000" b="1" spc="-210" dirty="0">
                <a:latin typeface="Gill Sans"/>
                <a:cs typeface="Gill Sans"/>
              </a:rPr>
              <a:t>r</a:t>
            </a:r>
            <a:r>
              <a:rPr sz="5000" b="1" dirty="0">
                <a:latin typeface="Gill Sans"/>
                <a:cs typeface="Gill Sans"/>
              </a:rPr>
              <a:t>e </a:t>
            </a:r>
            <a:r>
              <a:rPr sz="5000" b="1" spc="-5" dirty="0">
                <a:latin typeface="Gill Sans"/>
                <a:cs typeface="Gill Sans"/>
              </a:rPr>
              <a:t>the </a:t>
            </a:r>
            <a:r>
              <a:rPr sz="5000" b="1" dirty="0">
                <a:latin typeface="Gill Sans"/>
                <a:cs typeface="Gill Sans"/>
              </a:rPr>
              <a:t>impo</a:t>
            </a:r>
            <a:r>
              <a:rPr sz="5000" b="1" spc="-75" dirty="0">
                <a:latin typeface="Gill Sans"/>
                <a:cs typeface="Gill Sans"/>
              </a:rPr>
              <a:t>r</a:t>
            </a:r>
            <a:r>
              <a:rPr sz="5000" b="1" spc="-5" dirty="0">
                <a:latin typeface="Gill Sans"/>
                <a:cs typeface="Gill Sans"/>
              </a:rPr>
              <a:t>t</a:t>
            </a:r>
            <a:r>
              <a:rPr sz="5000" b="1" spc="70" dirty="0">
                <a:latin typeface="Gill Sans"/>
                <a:cs typeface="Gill Sans"/>
              </a:rPr>
              <a:t>a</a:t>
            </a:r>
            <a:r>
              <a:rPr sz="5000" b="1" spc="-5" dirty="0">
                <a:latin typeface="Gill Sans"/>
                <a:cs typeface="Gill Sans"/>
              </a:rPr>
              <a:t>nc</a:t>
            </a:r>
            <a:r>
              <a:rPr sz="5000" b="1" dirty="0">
                <a:latin typeface="Gill Sans"/>
                <a:cs typeface="Gill Sans"/>
              </a:rPr>
              <a:t>e of</a:t>
            </a:r>
            <a:r>
              <a:rPr sz="5000" b="1" spc="145" dirty="0">
                <a:latin typeface="Gill Sans"/>
                <a:cs typeface="Gill Sans"/>
              </a:rPr>
              <a:t> </a:t>
            </a:r>
            <a:r>
              <a:rPr sz="5000" b="1" dirty="0">
                <a:latin typeface="Gill Sans"/>
                <a:cs typeface="Gill Sans"/>
              </a:rPr>
              <a:t>dist</a:t>
            </a:r>
            <a:r>
              <a:rPr sz="5000" b="1" spc="70" dirty="0">
                <a:latin typeface="Gill Sans"/>
                <a:cs typeface="Gill Sans"/>
              </a:rPr>
              <a:t>a</a:t>
            </a:r>
            <a:r>
              <a:rPr sz="5000" b="1" spc="-5" dirty="0">
                <a:latin typeface="Gill Sans"/>
                <a:cs typeface="Gill Sans"/>
              </a:rPr>
              <a:t>nc</a:t>
            </a:r>
            <a:r>
              <a:rPr sz="5000" b="1" dirty="0">
                <a:latin typeface="Gill Sans"/>
                <a:cs typeface="Gill Sans"/>
              </a:rPr>
              <a:t>e </a:t>
            </a:r>
            <a:r>
              <a:rPr sz="5000" b="1" spc="-5" dirty="0">
                <a:latin typeface="Gill Sans"/>
                <a:cs typeface="Gill Sans"/>
              </a:rPr>
              <a:t>in </a:t>
            </a:r>
            <a:r>
              <a:rPr sz="5000" b="1" dirty="0">
                <a:latin typeface="Gill Sans"/>
                <a:cs typeface="Gill Sans"/>
              </a:rPr>
              <a:t>bi</a:t>
            </a:r>
            <a:r>
              <a:rPr sz="5000" b="1" spc="-5" dirty="0">
                <a:latin typeface="Gill Sans"/>
                <a:cs typeface="Gill Sans"/>
              </a:rPr>
              <a:t>o</a:t>
            </a:r>
            <a:r>
              <a:rPr sz="5000" b="1" dirty="0">
                <a:latin typeface="Gill Sans"/>
                <a:cs typeface="Gill Sans"/>
              </a:rPr>
              <a:t>ge</a:t>
            </a:r>
            <a:r>
              <a:rPr sz="5000" b="1" spc="-5" dirty="0">
                <a:latin typeface="Gill Sans"/>
                <a:cs typeface="Gill Sans"/>
              </a:rPr>
              <a:t>o</a:t>
            </a:r>
            <a:r>
              <a:rPr sz="5000" b="1" spc="180" dirty="0">
                <a:latin typeface="Gill Sans"/>
                <a:cs typeface="Gill Sans"/>
              </a:rPr>
              <a:t>g</a:t>
            </a:r>
            <a:r>
              <a:rPr sz="5000" b="1" spc="-75" dirty="0">
                <a:latin typeface="Gill Sans"/>
                <a:cs typeface="Gill Sans"/>
              </a:rPr>
              <a:t>r</a:t>
            </a:r>
            <a:r>
              <a:rPr sz="5000" b="1" spc="35" dirty="0">
                <a:latin typeface="Gill Sans"/>
                <a:cs typeface="Gill Sans"/>
              </a:rPr>
              <a:t>a</a:t>
            </a:r>
            <a:r>
              <a:rPr sz="5000" b="1" dirty="0">
                <a:latin typeface="Gill Sans"/>
                <a:cs typeface="Gill Sans"/>
              </a:rPr>
              <a:t>p</a:t>
            </a:r>
            <a:r>
              <a:rPr sz="5000" b="1" spc="-5" dirty="0">
                <a:latin typeface="Gill Sans"/>
                <a:cs typeface="Gill Sans"/>
              </a:rPr>
              <a:t>h</a:t>
            </a:r>
            <a:r>
              <a:rPr sz="5000" b="1" spc="-25" dirty="0">
                <a:latin typeface="Gill Sans"/>
                <a:cs typeface="Gill Sans"/>
              </a:rPr>
              <a:t>y?</a:t>
            </a:r>
            <a:endParaRPr sz="5000"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5133640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4800" y="179256"/>
            <a:ext cx="11650345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b="1" spc="-40" dirty="0">
                <a:latin typeface="Gill Sans"/>
                <a:cs typeface="Gill Sans"/>
              </a:rPr>
              <a:t>Hi</a:t>
            </a:r>
            <a:r>
              <a:rPr sz="4000" b="1" spc="-20" dirty="0">
                <a:latin typeface="Gill Sans"/>
                <a:cs typeface="Gill Sans"/>
              </a:rPr>
              <a:t>s</a:t>
            </a:r>
            <a:r>
              <a:rPr sz="4000" b="1" spc="-5" dirty="0">
                <a:latin typeface="Gill Sans"/>
                <a:cs typeface="Gill Sans"/>
              </a:rPr>
              <a:t>to</a:t>
            </a:r>
            <a:r>
              <a:rPr sz="4000" b="1" spc="-175" dirty="0">
                <a:latin typeface="Gill Sans"/>
                <a:cs typeface="Gill Sans"/>
              </a:rPr>
              <a:t>r</a:t>
            </a:r>
            <a:r>
              <a:rPr sz="4000" b="1" dirty="0">
                <a:latin typeface="Gill Sans"/>
                <a:cs typeface="Gill Sans"/>
              </a:rPr>
              <a:t>i</a:t>
            </a:r>
            <a:r>
              <a:rPr sz="4000" b="1" spc="-5" dirty="0">
                <a:latin typeface="Gill Sans"/>
                <a:cs typeface="Gill Sans"/>
              </a:rPr>
              <a:t>c</a:t>
            </a:r>
            <a:r>
              <a:rPr sz="4000" b="1" spc="-25" dirty="0">
                <a:latin typeface="Gill Sans"/>
                <a:cs typeface="Gill Sans"/>
              </a:rPr>
              <a:t>a</a:t>
            </a:r>
            <a:r>
              <a:rPr sz="4000" b="1" dirty="0">
                <a:latin typeface="Gill Sans"/>
                <a:cs typeface="Gill Sans"/>
              </a:rPr>
              <a:t>l</a:t>
            </a:r>
            <a:r>
              <a:rPr sz="4000" b="1" spc="-5" dirty="0">
                <a:latin typeface="Gill Sans"/>
                <a:cs typeface="Gill Sans"/>
              </a:rPr>
              <a:t> </a:t>
            </a:r>
            <a:r>
              <a:rPr sz="4000" b="1" dirty="0">
                <a:latin typeface="Gill Sans"/>
                <a:cs typeface="Gill Sans"/>
              </a:rPr>
              <a:t>bi</a:t>
            </a:r>
            <a:r>
              <a:rPr sz="4000" b="1" spc="-5" dirty="0">
                <a:latin typeface="Gill Sans"/>
                <a:cs typeface="Gill Sans"/>
              </a:rPr>
              <a:t>o</a:t>
            </a:r>
            <a:r>
              <a:rPr sz="4000" b="1" dirty="0">
                <a:latin typeface="Gill Sans"/>
                <a:cs typeface="Gill Sans"/>
              </a:rPr>
              <a:t>ge</a:t>
            </a:r>
            <a:r>
              <a:rPr sz="4000" b="1" spc="-5" dirty="0">
                <a:latin typeface="Gill Sans"/>
                <a:cs typeface="Gill Sans"/>
              </a:rPr>
              <a:t>o</a:t>
            </a:r>
            <a:r>
              <a:rPr sz="4000" b="1" spc="145" dirty="0">
                <a:latin typeface="Gill Sans"/>
                <a:cs typeface="Gill Sans"/>
              </a:rPr>
              <a:t>g</a:t>
            </a:r>
            <a:r>
              <a:rPr sz="4000" b="1" spc="-60" dirty="0">
                <a:latin typeface="Gill Sans"/>
                <a:cs typeface="Gill Sans"/>
              </a:rPr>
              <a:t>r</a:t>
            </a:r>
            <a:r>
              <a:rPr sz="4000" b="1" spc="30" dirty="0">
                <a:latin typeface="Gill Sans"/>
                <a:cs typeface="Gill Sans"/>
              </a:rPr>
              <a:t>a</a:t>
            </a:r>
            <a:r>
              <a:rPr sz="4000" b="1" dirty="0">
                <a:latin typeface="Gill Sans"/>
                <a:cs typeface="Gill Sans"/>
              </a:rPr>
              <a:t>p</a:t>
            </a:r>
            <a:r>
              <a:rPr sz="4000" b="1" spc="-5" dirty="0">
                <a:latin typeface="Gill Sans"/>
                <a:cs typeface="Gill Sans"/>
              </a:rPr>
              <a:t>h</a:t>
            </a:r>
            <a:r>
              <a:rPr sz="4000" b="1" spc="-20" dirty="0">
                <a:latin typeface="Gill Sans"/>
                <a:cs typeface="Gill Sans"/>
              </a:rPr>
              <a:t>y:</a:t>
            </a:r>
            <a:r>
              <a:rPr sz="4000" b="1" spc="-5" dirty="0">
                <a:latin typeface="Gill Sans"/>
                <a:cs typeface="Gill Sans"/>
              </a:rPr>
              <a:t> </a:t>
            </a:r>
            <a:r>
              <a:rPr sz="4000" b="1" spc="-170" dirty="0">
                <a:latin typeface="Gill Sans"/>
                <a:cs typeface="Gill Sans"/>
              </a:rPr>
              <a:t>W</a:t>
            </a:r>
            <a:r>
              <a:rPr sz="4000" b="1" spc="-25" dirty="0">
                <a:latin typeface="Gill Sans"/>
                <a:cs typeface="Gill Sans"/>
              </a:rPr>
              <a:t>a</a:t>
            </a:r>
            <a:r>
              <a:rPr sz="4000" b="1" dirty="0">
                <a:latin typeface="Gill Sans"/>
                <a:cs typeface="Gill Sans"/>
              </a:rPr>
              <a:t>ll</a:t>
            </a:r>
            <a:r>
              <a:rPr sz="4000" b="1" spc="-25" dirty="0">
                <a:latin typeface="Gill Sans"/>
                <a:cs typeface="Gill Sans"/>
              </a:rPr>
              <a:t>a</a:t>
            </a:r>
            <a:r>
              <a:rPr sz="4000" b="1" spc="-5" dirty="0">
                <a:latin typeface="Gill Sans"/>
                <a:cs typeface="Gill Sans"/>
              </a:rPr>
              <a:t>c</a:t>
            </a:r>
            <a:r>
              <a:rPr sz="4000" b="1" dirty="0">
                <a:latin typeface="Gill Sans"/>
                <a:cs typeface="Gill Sans"/>
              </a:rPr>
              <a:t>e</a:t>
            </a:r>
            <a:r>
              <a:rPr sz="4000" b="1" spc="-5" dirty="0">
                <a:latin typeface="Gill Sans"/>
                <a:cs typeface="Gill Sans"/>
              </a:rPr>
              <a:t> </a:t>
            </a:r>
            <a:r>
              <a:rPr sz="4000" b="1" spc="30" dirty="0">
                <a:latin typeface="Gill Sans"/>
                <a:cs typeface="Gill Sans"/>
              </a:rPr>
              <a:t>a</a:t>
            </a:r>
            <a:r>
              <a:rPr sz="4000" b="1" spc="-5" dirty="0">
                <a:latin typeface="Gill Sans"/>
                <a:cs typeface="Gill Sans"/>
              </a:rPr>
              <a:t>n</a:t>
            </a:r>
            <a:r>
              <a:rPr sz="4000" b="1" dirty="0">
                <a:latin typeface="Gill Sans"/>
                <a:cs typeface="Gill Sans"/>
              </a:rPr>
              <a:t>d</a:t>
            </a:r>
            <a:r>
              <a:rPr sz="4000" b="1" spc="-5" dirty="0">
                <a:latin typeface="Gill Sans"/>
                <a:cs typeface="Gill Sans"/>
              </a:rPr>
              <a:t> </a:t>
            </a:r>
            <a:r>
              <a:rPr sz="4000" b="1" spc="-35" dirty="0">
                <a:latin typeface="Gill Sans"/>
                <a:cs typeface="Gill Sans"/>
              </a:rPr>
              <a:t>D</a:t>
            </a:r>
            <a:r>
              <a:rPr sz="4000" b="1" spc="30" dirty="0">
                <a:latin typeface="Gill Sans"/>
                <a:cs typeface="Gill Sans"/>
              </a:rPr>
              <a:t>a</a:t>
            </a:r>
            <a:r>
              <a:rPr sz="4000" b="1" dirty="0">
                <a:latin typeface="Gill Sans"/>
                <a:cs typeface="Gill Sans"/>
              </a:rPr>
              <a:t>rwin</a:t>
            </a:r>
            <a:endParaRPr sz="4000">
              <a:latin typeface="Gill Sans"/>
              <a:cs typeface="Gill San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4000" y="7834234"/>
            <a:ext cx="5640705" cy="139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800"/>
              </a:lnSpc>
            </a:pPr>
            <a:r>
              <a:rPr sz="2400" b="1" spc="-100" dirty="0">
                <a:latin typeface="Gill Sans"/>
                <a:cs typeface="Gill Sans"/>
              </a:rPr>
              <a:t>W</a:t>
            </a:r>
            <a:r>
              <a:rPr sz="2400" b="1" spc="-15" dirty="0">
                <a:latin typeface="Gill Sans"/>
                <a:cs typeface="Gill Sans"/>
              </a:rPr>
              <a:t>a</a:t>
            </a:r>
            <a:r>
              <a:rPr sz="2400" b="1" dirty="0">
                <a:latin typeface="Gill Sans"/>
                <a:cs typeface="Gill Sans"/>
              </a:rPr>
              <a:t>ll</a:t>
            </a:r>
            <a:r>
              <a:rPr sz="2400" b="1" spc="-15" dirty="0">
                <a:latin typeface="Gill Sans"/>
                <a:cs typeface="Gill Sans"/>
              </a:rPr>
              <a:t>a</a:t>
            </a:r>
            <a:r>
              <a:rPr sz="2400" b="1" dirty="0">
                <a:latin typeface="Gill Sans"/>
                <a:cs typeface="Gill Sans"/>
              </a:rPr>
              <a:t>ce</a:t>
            </a:r>
            <a:r>
              <a:rPr sz="2400" b="1" spc="-5" dirty="0">
                <a:latin typeface="Gill Sans"/>
                <a:cs typeface="Gill Sans"/>
              </a:rPr>
              <a:t> </a:t>
            </a:r>
            <a:r>
              <a:rPr sz="2400" b="1" spc="-10" dirty="0">
                <a:latin typeface="Gill Sans"/>
                <a:cs typeface="Gill Sans"/>
              </a:rPr>
              <a:t>(</a:t>
            </a:r>
            <a:r>
              <a:rPr sz="2400" b="1" dirty="0">
                <a:latin typeface="Gill Sans"/>
                <a:cs typeface="Gill Sans"/>
              </a:rPr>
              <a:t>1855</a:t>
            </a:r>
            <a:r>
              <a:rPr sz="2400" b="1" spc="-10" dirty="0">
                <a:latin typeface="Gill Sans"/>
                <a:cs typeface="Gill Sans"/>
              </a:rPr>
              <a:t>):</a:t>
            </a:r>
            <a:r>
              <a:rPr sz="2400" b="1" spc="-5" dirty="0">
                <a:latin typeface="Gill Sans"/>
                <a:cs typeface="Gill Sans"/>
              </a:rPr>
              <a:t> </a:t>
            </a:r>
            <a:r>
              <a:rPr sz="2400" b="1" spc="-15" dirty="0">
                <a:latin typeface="Gill Sans"/>
                <a:cs typeface="Gill Sans"/>
              </a:rPr>
              <a:t>“E</a:t>
            </a:r>
            <a:r>
              <a:rPr sz="2400" b="1" spc="-50" dirty="0">
                <a:latin typeface="Gill Sans"/>
                <a:cs typeface="Gill Sans"/>
              </a:rPr>
              <a:t>v</a:t>
            </a:r>
            <a:r>
              <a:rPr sz="2400" b="1" dirty="0">
                <a:latin typeface="Gill Sans"/>
                <a:cs typeface="Gill Sans"/>
              </a:rPr>
              <a:t>ery</a:t>
            </a:r>
            <a:r>
              <a:rPr sz="2400" b="1" spc="-5" dirty="0">
                <a:latin typeface="Gill Sans"/>
                <a:cs typeface="Gill Sans"/>
              </a:rPr>
              <a:t> </a:t>
            </a:r>
            <a:r>
              <a:rPr sz="2400" b="1" spc="-15" dirty="0">
                <a:latin typeface="Gill Sans"/>
                <a:cs typeface="Gill Sans"/>
              </a:rPr>
              <a:t>s</a:t>
            </a:r>
            <a:r>
              <a:rPr sz="2400" b="1" dirty="0">
                <a:latin typeface="Gill Sans"/>
                <a:cs typeface="Gill Sans"/>
              </a:rPr>
              <a:t>pecie</a:t>
            </a:r>
            <a:r>
              <a:rPr sz="2400" b="1" spc="-15" dirty="0">
                <a:latin typeface="Gill Sans"/>
                <a:cs typeface="Gill Sans"/>
              </a:rPr>
              <a:t>s</a:t>
            </a:r>
            <a:r>
              <a:rPr sz="2400" b="1" spc="-5" dirty="0">
                <a:latin typeface="Gill Sans"/>
                <a:cs typeface="Gill Sans"/>
              </a:rPr>
              <a:t> </a:t>
            </a:r>
            <a:r>
              <a:rPr sz="2400" b="1" dirty="0">
                <a:latin typeface="Gill Sans"/>
                <a:cs typeface="Gill Sans"/>
              </a:rPr>
              <a:t>h</a:t>
            </a:r>
            <a:r>
              <a:rPr sz="2400" b="1" spc="-15" dirty="0">
                <a:latin typeface="Gill Sans"/>
                <a:cs typeface="Gill Sans"/>
              </a:rPr>
              <a:t>as</a:t>
            </a:r>
            <a:r>
              <a:rPr sz="2400" b="1" spc="-10" dirty="0">
                <a:latin typeface="Gill Sans"/>
                <a:cs typeface="Gill Sans"/>
              </a:rPr>
              <a:t> </a:t>
            </a:r>
            <a:r>
              <a:rPr sz="2400" b="1" spc="-5" dirty="0">
                <a:latin typeface="Gill Sans"/>
                <a:cs typeface="Gill Sans"/>
              </a:rPr>
              <a:t>com</a:t>
            </a:r>
            <a:r>
              <a:rPr sz="2400" b="1" dirty="0">
                <a:latin typeface="Gill Sans"/>
                <a:cs typeface="Gill Sans"/>
              </a:rPr>
              <a:t>e </a:t>
            </a:r>
            <a:r>
              <a:rPr sz="2400" b="1" spc="-5" dirty="0">
                <a:latin typeface="Gill Sans"/>
                <a:cs typeface="Gill Sans"/>
              </a:rPr>
              <a:t>int</a:t>
            </a:r>
            <a:r>
              <a:rPr sz="2400" b="1" dirty="0">
                <a:latin typeface="Gill Sans"/>
                <a:cs typeface="Gill Sans"/>
              </a:rPr>
              <a:t>o </a:t>
            </a:r>
            <a:r>
              <a:rPr sz="2400" b="1" spc="-5" dirty="0">
                <a:latin typeface="Gill Sans"/>
                <a:cs typeface="Gill Sans"/>
              </a:rPr>
              <a:t>existenc</a:t>
            </a:r>
            <a:r>
              <a:rPr sz="2400" b="1" dirty="0">
                <a:latin typeface="Gill Sans"/>
                <a:cs typeface="Gill Sans"/>
              </a:rPr>
              <a:t>e </a:t>
            </a:r>
            <a:r>
              <a:rPr sz="2400" b="1" spc="-5" dirty="0">
                <a:latin typeface="Gill Sans"/>
                <a:cs typeface="Gill Sans"/>
              </a:rPr>
              <a:t>coinciden</a:t>
            </a:r>
            <a:r>
              <a:rPr sz="2400" b="1" dirty="0">
                <a:latin typeface="Gill Sans"/>
                <a:cs typeface="Gill Sans"/>
              </a:rPr>
              <a:t>t</a:t>
            </a:r>
            <a:r>
              <a:rPr sz="2400" b="1" spc="5" dirty="0">
                <a:latin typeface="Gill Sans"/>
                <a:cs typeface="Gill Sans"/>
              </a:rPr>
              <a:t> </a:t>
            </a:r>
            <a:r>
              <a:rPr sz="2400" b="1" spc="-5" dirty="0">
                <a:latin typeface="Gill Sans"/>
                <a:cs typeface="Gill Sans"/>
              </a:rPr>
              <a:t>both </a:t>
            </a:r>
            <a:r>
              <a:rPr sz="2400" b="1" dirty="0">
                <a:latin typeface="Gill Sans"/>
                <a:cs typeface="Gill Sans"/>
              </a:rPr>
              <a:t>in</a:t>
            </a:r>
            <a:r>
              <a:rPr sz="2400" b="1" spc="-5" dirty="0">
                <a:latin typeface="Gill Sans"/>
                <a:cs typeface="Gill Sans"/>
              </a:rPr>
              <a:t> </a:t>
            </a:r>
            <a:r>
              <a:rPr sz="2400" b="1" spc="-15" dirty="0">
                <a:latin typeface="Gill Sans"/>
                <a:cs typeface="Gill Sans"/>
              </a:rPr>
              <a:t>s</a:t>
            </a:r>
            <a:r>
              <a:rPr sz="2400" b="1" dirty="0">
                <a:latin typeface="Gill Sans"/>
                <a:cs typeface="Gill Sans"/>
              </a:rPr>
              <a:t>p</a:t>
            </a:r>
            <a:r>
              <a:rPr sz="2400" b="1" spc="-15" dirty="0">
                <a:latin typeface="Gill Sans"/>
                <a:cs typeface="Gill Sans"/>
              </a:rPr>
              <a:t>a</a:t>
            </a:r>
            <a:r>
              <a:rPr sz="2400" b="1" dirty="0">
                <a:latin typeface="Gill Sans"/>
                <a:cs typeface="Gill Sans"/>
              </a:rPr>
              <a:t>ce</a:t>
            </a:r>
            <a:r>
              <a:rPr sz="2400" b="1" spc="-5" dirty="0">
                <a:latin typeface="Gill Sans"/>
                <a:cs typeface="Gill Sans"/>
              </a:rPr>
              <a:t> </a:t>
            </a:r>
            <a:r>
              <a:rPr sz="2400" b="1" spc="15" dirty="0">
                <a:latin typeface="Gill Sans"/>
                <a:cs typeface="Gill Sans"/>
              </a:rPr>
              <a:t>a</a:t>
            </a:r>
            <a:r>
              <a:rPr sz="2400" b="1" dirty="0">
                <a:latin typeface="Gill Sans"/>
                <a:cs typeface="Gill Sans"/>
              </a:rPr>
              <a:t>nd</a:t>
            </a:r>
            <a:r>
              <a:rPr sz="2400" b="1" spc="-5" dirty="0">
                <a:latin typeface="Gill Sans"/>
                <a:cs typeface="Gill Sans"/>
              </a:rPr>
              <a:t> </a:t>
            </a:r>
            <a:r>
              <a:rPr sz="2400" b="1" dirty="0">
                <a:latin typeface="Gill Sans"/>
                <a:cs typeface="Gill Sans"/>
              </a:rPr>
              <a:t>time</a:t>
            </a:r>
            <a:r>
              <a:rPr sz="2400" b="1" spc="-5" dirty="0">
                <a:latin typeface="Gill Sans"/>
                <a:cs typeface="Gill Sans"/>
              </a:rPr>
              <a:t> </a:t>
            </a:r>
            <a:r>
              <a:rPr sz="2400" b="1" dirty="0">
                <a:latin typeface="Gill Sans"/>
                <a:cs typeface="Gill Sans"/>
              </a:rPr>
              <a:t>with</a:t>
            </a:r>
            <a:r>
              <a:rPr sz="2400" b="1" spc="-5" dirty="0">
                <a:latin typeface="Gill Sans"/>
                <a:cs typeface="Gill Sans"/>
              </a:rPr>
              <a:t> </a:t>
            </a:r>
            <a:r>
              <a:rPr sz="2400" b="1" spc="-15" dirty="0">
                <a:latin typeface="Gill Sans"/>
                <a:cs typeface="Gill Sans"/>
              </a:rPr>
              <a:t>a</a:t>
            </a:r>
            <a:r>
              <a:rPr sz="2400" b="1" spc="-5" dirty="0">
                <a:latin typeface="Gill Sans"/>
                <a:cs typeface="Gill Sans"/>
              </a:rPr>
              <a:t> </a:t>
            </a:r>
            <a:r>
              <a:rPr sz="2400" b="1" dirty="0">
                <a:latin typeface="Gill Sans"/>
                <a:cs typeface="Gill Sans"/>
              </a:rPr>
              <a:t>p</a:t>
            </a:r>
            <a:r>
              <a:rPr sz="2400" b="1" spc="-105" dirty="0">
                <a:latin typeface="Gill Sans"/>
                <a:cs typeface="Gill Sans"/>
              </a:rPr>
              <a:t>r</a:t>
            </a:r>
            <a:r>
              <a:rPr sz="2400" b="1" dirty="0">
                <a:latin typeface="Gill Sans"/>
                <a:cs typeface="Gill Sans"/>
              </a:rPr>
              <a:t>e- exi</a:t>
            </a:r>
            <a:r>
              <a:rPr sz="2400" b="1" spc="-15" dirty="0">
                <a:latin typeface="Gill Sans"/>
                <a:cs typeface="Gill Sans"/>
              </a:rPr>
              <a:t>s</a:t>
            </a:r>
            <a:r>
              <a:rPr sz="2400" b="1" dirty="0">
                <a:latin typeface="Gill Sans"/>
                <a:cs typeface="Gill Sans"/>
              </a:rPr>
              <a:t>tin</a:t>
            </a:r>
            <a:r>
              <a:rPr sz="2400" b="1" spc="-15" dirty="0">
                <a:latin typeface="Gill Sans"/>
                <a:cs typeface="Gill Sans"/>
              </a:rPr>
              <a:t>g</a:t>
            </a:r>
            <a:r>
              <a:rPr sz="2400" b="1" spc="-5" dirty="0">
                <a:latin typeface="Gill Sans"/>
                <a:cs typeface="Gill Sans"/>
              </a:rPr>
              <a:t> </a:t>
            </a:r>
            <a:r>
              <a:rPr sz="2400" b="1" dirty="0">
                <a:latin typeface="Gill Sans"/>
                <a:cs typeface="Gill Sans"/>
              </a:rPr>
              <a:t>c</a:t>
            </a:r>
            <a:r>
              <a:rPr sz="2400" b="1" spc="-35" dirty="0">
                <a:latin typeface="Gill Sans"/>
                <a:cs typeface="Gill Sans"/>
              </a:rPr>
              <a:t>l</a:t>
            </a:r>
            <a:r>
              <a:rPr sz="2400" b="1" dirty="0">
                <a:latin typeface="Gill Sans"/>
                <a:cs typeface="Gill Sans"/>
              </a:rPr>
              <a:t>o</a:t>
            </a:r>
            <a:r>
              <a:rPr sz="2400" b="1" spc="-15" dirty="0">
                <a:latin typeface="Gill Sans"/>
                <a:cs typeface="Gill Sans"/>
              </a:rPr>
              <a:t>s</a:t>
            </a:r>
            <a:r>
              <a:rPr sz="2400" b="1" dirty="0">
                <a:latin typeface="Gill Sans"/>
                <a:cs typeface="Gill Sans"/>
              </a:rPr>
              <a:t>ely</a:t>
            </a:r>
            <a:r>
              <a:rPr sz="2400" b="1" spc="-5" dirty="0">
                <a:latin typeface="Gill Sans"/>
                <a:cs typeface="Gill Sans"/>
              </a:rPr>
              <a:t> </a:t>
            </a:r>
            <a:r>
              <a:rPr sz="2400" b="1" spc="-15" dirty="0">
                <a:latin typeface="Gill Sans"/>
                <a:cs typeface="Gill Sans"/>
              </a:rPr>
              <a:t>a</a:t>
            </a:r>
            <a:r>
              <a:rPr sz="2400" b="1" dirty="0">
                <a:latin typeface="Gill Sans"/>
                <a:cs typeface="Gill Sans"/>
              </a:rPr>
              <a:t>llied</a:t>
            </a:r>
            <a:r>
              <a:rPr sz="2400" b="1" spc="-5" dirty="0">
                <a:latin typeface="Gill Sans"/>
                <a:cs typeface="Gill Sans"/>
              </a:rPr>
              <a:t> </a:t>
            </a:r>
            <a:r>
              <a:rPr sz="2400" b="1" spc="-15" dirty="0">
                <a:latin typeface="Gill Sans"/>
                <a:cs typeface="Gill Sans"/>
              </a:rPr>
              <a:t>s</a:t>
            </a:r>
            <a:r>
              <a:rPr sz="2400" b="1" dirty="0">
                <a:latin typeface="Gill Sans"/>
                <a:cs typeface="Gill Sans"/>
              </a:rPr>
              <a:t>pecie</a:t>
            </a:r>
            <a:r>
              <a:rPr sz="2400" b="1" spc="-10" dirty="0">
                <a:latin typeface="Gill Sans"/>
                <a:cs typeface="Gill Sans"/>
              </a:rPr>
              <a:t>s.</a:t>
            </a:r>
            <a:r>
              <a:rPr sz="2400" b="1" dirty="0">
                <a:latin typeface="Gill Sans"/>
                <a:cs typeface="Gill Sans"/>
              </a:rPr>
              <a:t>”</a:t>
            </a:r>
            <a:endParaRPr sz="2400">
              <a:latin typeface="Gill Sans"/>
              <a:cs typeface="Gill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73800" y="7834234"/>
            <a:ext cx="5676265" cy="139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800"/>
              </a:lnSpc>
            </a:pPr>
            <a:r>
              <a:rPr sz="2400" b="1" spc="-20" dirty="0">
                <a:latin typeface="Gill Sans"/>
                <a:cs typeface="Gill Sans"/>
              </a:rPr>
              <a:t>D</a:t>
            </a:r>
            <a:r>
              <a:rPr sz="2400" b="1" spc="15" dirty="0">
                <a:latin typeface="Gill Sans"/>
                <a:cs typeface="Gill Sans"/>
              </a:rPr>
              <a:t>a</a:t>
            </a:r>
            <a:r>
              <a:rPr sz="2400" b="1" dirty="0">
                <a:latin typeface="Gill Sans"/>
                <a:cs typeface="Gill Sans"/>
              </a:rPr>
              <a:t>rwin</a:t>
            </a:r>
            <a:r>
              <a:rPr sz="2400" b="1" spc="-5" dirty="0">
                <a:latin typeface="Gill Sans"/>
                <a:cs typeface="Gill Sans"/>
              </a:rPr>
              <a:t> </a:t>
            </a:r>
            <a:r>
              <a:rPr sz="2400" b="1" spc="-10" dirty="0">
                <a:latin typeface="Gill Sans"/>
                <a:cs typeface="Gill Sans"/>
              </a:rPr>
              <a:t>(</a:t>
            </a:r>
            <a:r>
              <a:rPr sz="2400" b="1" dirty="0">
                <a:latin typeface="Gill Sans"/>
                <a:cs typeface="Gill Sans"/>
              </a:rPr>
              <a:t>1859</a:t>
            </a:r>
            <a:r>
              <a:rPr sz="2400" b="1" spc="-10" dirty="0">
                <a:latin typeface="Gill Sans"/>
                <a:cs typeface="Gill Sans"/>
              </a:rPr>
              <a:t>):</a:t>
            </a:r>
            <a:r>
              <a:rPr sz="2400" b="1" spc="-5" dirty="0">
                <a:latin typeface="Gill Sans"/>
                <a:cs typeface="Gill Sans"/>
              </a:rPr>
              <a:t> </a:t>
            </a:r>
            <a:r>
              <a:rPr sz="2400" b="1" dirty="0">
                <a:latin typeface="Gill Sans"/>
                <a:cs typeface="Gill Sans"/>
              </a:rPr>
              <a:t>“the</a:t>
            </a:r>
            <a:r>
              <a:rPr sz="2400" b="1" spc="-5" dirty="0">
                <a:latin typeface="Gill Sans"/>
                <a:cs typeface="Gill Sans"/>
              </a:rPr>
              <a:t> </a:t>
            </a:r>
            <a:r>
              <a:rPr sz="2400" b="1" dirty="0">
                <a:latin typeface="Gill Sans"/>
                <a:cs typeface="Gill Sans"/>
              </a:rPr>
              <a:t>mo</a:t>
            </a:r>
            <a:r>
              <a:rPr sz="2400" b="1" spc="-105" dirty="0">
                <a:latin typeface="Gill Sans"/>
                <a:cs typeface="Gill Sans"/>
              </a:rPr>
              <a:t>r</a:t>
            </a:r>
            <a:r>
              <a:rPr sz="2400" b="1" dirty="0">
                <a:latin typeface="Gill Sans"/>
                <a:cs typeface="Gill Sans"/>
              </a:rPr>
              <a:t>e</a:t>
            </a:r>
            <a:r>
              <a:rPr sz="2400" b="1" spc="-5" dirty="0">
                <a:latin typeface="Gill Sans"/>
                <a:cs typeface="Gill Sans"/>
              </a:rPr>
              <a:t> </a:t>
            </a:r>
            <a:r>
              <a:rPr sz="2400" b="1" dirty="0">
                <a:latin typeface="Gill Sans"/>
                <a:cs typeface="Gill Sans"/>
              </a:rPr>
              <a:t>ne</a:t>
            </a:r>
            <a:r>
              <a:rPr sz="2400" b="1" spc="15" dirty="0">
                <a:latin typeface="Gill Sans"/>
                <a:cs typeface="Gill Sans"/>
              </a:rPr>
              <a:t>a</a:t>
            </a:r>
            <a:r>
              <a:rPr sz="2400" b="1" spc="-35" dirty="0">
                <a:latin typeface="Gill Sans"/>
                <a:cs typeface="Gill Sans"/>
              </a:rPr>
              <a:t>r</a:t>
            </a:r>
            <a:r>
              <a:rPr sz="2400" b="1" dirty="0">
                <a:latin typeface="Gill Sans"/>
                <a:cs typeface="Gill Sans"/>
              </a:rPr>
              <a:t>ly</a:t>
            </a:r>
            <a:r>
              <a:rPr sz="2400" b="1" spc="-5" dirty="0">
                <a:latin typeface="Gill Sans"/>
                <a:cs typeface="Gill Sans"/>
              </a:rPr>
              <a:t> </a:t>
            </a:r>
            <a:r>
              <a:rPr sz="2400" b="1" spc="15" dirty="0">
                <a:latin typeface="Gill Sans"/>
                <a:cs typeface="Gill Sans"/>
              </a:rPr>
              <a:t>a</a:t>
            </a:r>
            <a:r>
              <a:rPr sz="2400" b="1" dirty="0">
                <a:latin typeface="Gill Sans"/>
                <a:cs typeface="Gill Sans"/>
              </a:rPr>
              <a:t>ny t</a:t>
            </a:r>
            <a:r>
              <a:rPr sz="2400" b="1" spc="-35" dirty="0">
                <a:latin typeface="Gill Sans"/>
                <a:cs typeface="Gill Sans"/>
              </a:rPr>
              <a:t>w</a:t>
            </a:r>
            <a:r>
              <a:rPr sz="2400" b="1" dirty="0">
                <a:latin typeface="Gill Sans"/>
                <a:cs typeface="Gill Sans"/>
              </a:rPr>
              <a:t>o </a:t>
            </a:r>
            <a:r>
              <a:rPr sz="2400" b="1" spc="-5" dirty="0">
                <a:latin typeface="Gill Sans"/>
                <a:cs typeface="Gill Sans"/>
              </a:rPr>
              <a:t>form</a:t>
            </a:r>
            <a:r>
              <a:rPr sz="2400" b="1" dirty="0">
                <a:latin typeface="Gill Sans"/>
                <a:cs typeface="Gill Sans"/>
              </a:rPr>
              <a:t>s </a:t>
            </a:r>
            <a:r>
              <a:rPr sz="2400" b="1" spc="15" dirty="0">
                <a:latin typeface="Gill Sans"/>
                <a:cs typeface="Gill Sans"/>
              </a:rPr>
              <a:t>a</a:t>
            </a:r>
            <a:r>
              <a:rPr sz="2400" b="1" spc="-105" dirty="0">
                <a:latin typeface="Gill Sans"/>
                <a:cs typeface="Gill Sans"/>
              </a:rPr>
              <a:t>r</a:t>
            </a:r>
            <a:r>
              <a:rPr sz="2400" b="1" dirty="0">
                <a:latin typeface="Gill Sans"/>
                <a:cs typeface="Gill Sans"/>
              </a:rPr>
              <a:t>e </a:t>
            </a:r>
            <a:r>
              <a:rPr sz="2400" b="1" spc="-105" dirty="0">
                <a:latin typeface="Gill Sans"/>
                <a:cs typeface="Gill Sans"/>
              </a:rPr>
              <a:t>r</a:t>
            </a:r>
            <a:r>
              <a:rPr sz="2400" b="1" spc="-5" dirty="0">
                <a:latin typeface="Gill Sans"/>
                <a:cs typeface="Gill Sans"/>
              </a:rPr>
              <a:t>elate</a:t>
            </a:r>
            <a:r>
              <a:rPr sz="2400" b="1" dirty="0">
                <a:latin typeface="Gill Sans"/>
                <a:cs typeface="Gill Sans"/>
              </a:rPr>
              <a:t>d </a:t>
            </a:r>
            <a:r>
              <a:rPr sz="2400" b="1" spc="-5" dirty="0">
                <a:latin typeface="Gill Sans"/>
                <a:cs typeface="Gill Sans"/>
              </a:rPr>
              <a:t>i</a:t>
            </a:r>
            <a:r>
              <a:rPr sz="2400" b="1" dirty="0">
                <a:latin typeface="Gill Sans"/>
                <a:cs typeface="Gill Sans"/>
              </a:rPr>
              <a:t>n </a:t>
            </a:r>
            <a:r>
              <a:rPr sz="2400" b="1" spc="-35" dirty="0">
                <a:latin typeface="Gill Sans"/>
                <a:cs typeface="Gill Sans"/>
              </a:rPr>
              <a:t>bl</a:t>
            </a:r>
            <a:r>
              <a:rPr sz="2400" b="1" spc="-5" dirty="0">
                <a:latin typeface="Gill Sans"/>
                <a:cs typeface="Gill Sans"/>
              </a:rPr>
              <a:t>ood</a:t>
            </a:r>
            <a:r>
              <a:rPr sz="2400" b="1" dirty="0">
                <a:latin typeface="Gill Sans"/>
                <a:cs typeface="Gill Sans"/>
              </a:rPr>
              <a:t>, </a:t>
            </a:r>
            <a:r>
              <a:rPr sz="2400" b="1" spc="-5" dirty="0">
                <a:latin typeface="Gill Sans"/>
                <a:cs typeface="Gill Sans"/>
              </a:rPr>
              <a:t>the </a:t>
            </a:r>
            <a:r>
              <a:rPr sz="2400" b="1" dirty="0">
                <a:latin typeface="Gill Sans"/>
                <a:cs typeface="Gill Sans"/>
              </a:rPr>
              <a:t>ne</a:t>
            </a:r>
            <a:r>
              <a:rPr sz="2400" b="1" spc="15" dirty="0">
                <a:latin typeface="Gill Sans"/>
                <a:cs typeface="Gill Sans"/>
              </a:rPr>
              <a:t>a</a:t>
            </a:r>
            <a:r>
              <a:rPr sz="2400" b="1" spc="-105" dirty="0">
                <a:latin typeface="Gill Sans"/>
                <a:cs typeface="Gill Sans"/>
              </a:rPr>
              <a:t>r</a:t>
            </a:r>
            <a:r>
              <a:rPr sz="2400" b="1" dirty="0">
                <a:latin typeface="Gill Sans"/>
                <a:cs typeface="Gill Sans"/>
              </a:rPr>
              <a:t>er</a:t>
            </a:r>
            <a:r>
              <a:rPr sz="2400" b="1" spc="-5" dirty="0">
                <a:latin typeface="Gill Sans"/>
                <a:cs typeface="Gill Sans"/>
              </a:rPr>
              <a:t> </a:t>
            </a:r>
            <a:r>
              <a:rPr sz="2400" b="1" dirty="0">
                <a:latin typeface="Gill Sans"/>
                <a:cs typeface="Gill Sans"/>
              </a:rPr>
              <a:t>they</a:t>
            </a:r>
            <a:r>
              <a:rPr sz="2400" b="1" spc="-5" dirty="0">
                <a:latin typeface="Gill Sans"/>
                <a:cs typeface="Gill Sans"/>
              </a:rPr>
              <a:t> </a:t>
            </a:r>
            <a:r>
              <a:rPr sz="2400" b="1" dirty="0">
                <a:latin typeface="Gill Sans"/>
                <a:cs typeface="Gill Sans"/>
              </a:rPr>
              <a:t>will</a:t>
            </a:r>
            <a:r>
              <a:rPr sz="2400" b="1" spc="-5" dirty="0">
                <a:latin typeface="Gill Sans"/>
                <a:cs typeface="Gill Sans"/>
              </a:rPr>
              <a:t> </a:t>
            </a:r>
            <a:r>
              <a:rPr sz="2400" b="1" dirty="0">
                <a:latin typeface="Gill Sans"/>
                <a:cs typeface="Gill Sans"/>
              </a:rPr>
              <a:t>gene</a:t>
            </a:r>
            <a:r>
              <a:rPr sz="2400" b="1" spc="-35" dirty="0">
                <a:latin typeface="Gill Sans"/>
                <a:cs typeface="Gill Sans"/>
              </a:rPr>
              <a:t>r</a:t>
            </a:r>
            <a:r>
              <a:rPr sz="2400" b="1" spc="-15" dirty="0">
                <a:latin typeface="Gill Sans"/>
                <a:cs typeface="Gill Sans"/>
              </a:rPr>
              <a:t>a</a:t>
            </a:r>
            <a:r>
              <a:rPr sz="2400" b="1" dirty="0">
                <a:latin typeface="Gill Sans"/>
                <a:cs typeface="Gill Sans"/>
              </a:rPr>
              <a:t>lly</a:t>
            </a:r>
            <a:r>
              <a:rPr sz="2400" b="1" spc="-5" dirty="0">
                <a:latin typeface="Gill Sans"/>
                <a:cs typeface="Gill Sans"/>
              </a:rPr>
              <a:t> </a:t>
            </a:r>
            <a:r>
              <a:rPr sz="2400" b="1" spc="-15" dirty="0">
                <a:latin typeface="Gill Sans"/>
                <a:cs typeface="Gill Sans"/>
              </a:rPr>
              <a:t>s</a:t>
            </a:r>
            <a:r>
              <a:rPr sz="2400" b="1" dirty="0">
                <a:latin typeface="Gill Sans"/>
                <a:cs typeface="Gill Sans"/>
              </a:rPr>
              <a:t>t</a:t>
            </a:r>
            <a:r>
              <a:rPr sz="2400" b="1" spc="15" dirty="0">
                <a:latin typeface="Gill Sans"/>
                <a:cs typeface="Gill Sans"/>
              </a:rPr>
              <a:t>a</a:t>
            </a:r>
            <a:r>
              <a:rPr sz="2400" b="1" dirty="0">
                <a:latin typeface="Gill Sans"/>
                <a:cs typeface="Gill Sans"/>
              </a:rPr>
              <a:t>nd</a:t>
            </a:r>
            <a:r>
              <a:rPr sz="2400" b="1" spc="-5" dirty="0">
                <a:latin typeface="Gill Sans"/>
                <a:cs typeface="Gill Sans"/>
              </a:rPr>
              <a:t> </a:t>
            </a:r>
            <a:r>
              <a:rPr sz="2400" b="1" dirty="0">
                <a:latin typeface="Gill Sans"/>
                <a:cs typeface="Gill Sans"/>
              </a:rPr>
              <a:t>to e</a:t>
            </a:r>
            <a:r>
              <a:rPr sz="2400" b="1" spc="-15" dirty="0">
                <a:latin typeface="Gill Sans"/>
                <a:cs typeface="Gill Sans"/>
              </a:rPr>
              <a:t>a</a:t>
            </a:r>
            <a:r>
              <a:rPr sz="2400" b="1" dirty="0">
                <a:latin typeface="Gill Sans"/>
                <a:cs typeface="Gill Sans"/>
              </a:rPr>
              <a:t>ch</a:t>
            </a:r>
            <a:r>
              <a:rPr sz="2400" b="1" spc="-5" dirty="0">
                <a:latin typeface="Gill Sans"/>
                <a:cs typeface="Gill Sans"/>
              </a:rPr>
              <a:t> </a:t>
            </a:r>
            <a:r>
              <a:rPr sz="2400" b="1" dirty="0">
                <a:latin typeface="Gill Sans"/>
                <a:cs typeface="Gill Sans"/>
              </a:rPr>
              <a:t>other</a:t>
            </a:r>
            <a:r>
              <a:rPr sz="2400" b="1" spc="-5" dirty="0">
                <a:latin typeface="Gill Sans"/>
                <a:cs typeface="Gill Sans"/>
              </a:rPr>
              <a:t> </a:t>
            </a:r>
            <a:r>
              <a:rPr sz="2400" b="1" dirty="0">
                <a:latin typeface="Gill Sans"/>
                <a:cs typeface="Gill Sans"/>
              </a:rPr>
              <a:t>in</a:t>
            </a:r>
            <a:r>
              <a:rPr sz="2400" b="1" spc="-5" dirty="0">
                <a:latin typeface="Gill Sans"/>
                <a:cs typeface="Gill Sans"/>
              </a:rPr>
              <a:t> </a:t>
            </a:r>
            <a:r>
              <a:rPr sz="2400" b="1" dirty="0">
                <a:latin typeface="Gill Sans"/>
                <a:cs typeface="Gill Sans"/>
              </a:rPr>
              <a:t>time</a:t>
            </a:r>
            <a:r>
              <a:rPr sz="2400" b="1" spc="-5" dirty="0">
                <a:latin typeface="Gill Sans"/>
                <a:cs typeface="Gill Sans"/>
              </a:rPr>
              <a:t> </a:t>
            </a:r>
            <a:r>
              <a:rPr sz="2400" b="1" spc="15" dirty="0">
                <a:latin typeface="Gill Sans"/>
                <a:cs typeface="Gill Sans"/>
              </a:rPr>
              <a:t>a</a:t>
            </a:r>
            <a:r>
              <a:rPr sz="2400" b="1" dirty="0">
                <a:latin typeface="Gill Sans"/>
                <a:cs typeface="Gill Sans"/>
              </a:rPr>
              <a:t>nd</a:t>
            </a:r>
            <a:r>
              <a:rPr sz="2400" b="1" spc="-5" dirty="0">
                <a:latin typeface="Gill Sans"/>
                <a:cs typeface="Gill Sans"/>
              </a:rPr>
              <a:t> </a:t>
            </a:r>
            <a:r>
              <a:rPr sz="2400" b="1" spc="-15" dirty="0">
                <a:latin typeface="Gill Sans"/>
                <a:cs typeface="Gill Sans"/>
              </a:rPr>
              <a:t>s</a:t>
            </a:r>
            <a:r>
              <a:rPr sz="2400" b="1" dirty="0">
                <a:latin typeface="Gill Sans"/>
                <a:cs typeface="Gill Sans"/>
              </a:rPr>
              <a:t>p</a:t>
            </a:r>
            <a:r>
              <a:rPr sz="2400" b="1" spc="-15" dirty="0">
                <a:latin typeface="Gill Sans"/>
                <a:cs typeface="Gill Sans"/>
              </a:rPr>
              <a:t>a</a:t>
            </a:r>
            <a:r>
              <a:rPr sz="2400" b="1" dirty="0">
                <a:latin typeface="Gill Sans"/>
                <a:cs typeface="Gill Sans"/>
              </a:rPr>
              <a:t>ce</a:t>
            </a:r>
            <a:r>
              <a:rPr sz="2400" b="1" spc="-15" dirty="0">
                <a:latin typeface="Gill Sans"/>
                <a:cs typeface="Gill Sans"/>
              </a:rPr>
              <a:t>”.</a:t>
            </a:r>
            <a:endParaRPr sz="2400">
              <a:latin typeface="Gill Sans"/>
              <a:cs typeface="Gill San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362119" y="1314498"/>
            <a:ext cx="5347860" cy="59308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38860" y="1025559"/>
            <a:ext cx="3986566" cy="650868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 txBox="1"/>
          <p:nvPr/>
        </p:nvSpPr>
        <p:spPr>
          <a:xfrm>
            <a:off x="190500" y="381000"/>
            <a:ext cx="12143105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dirty="0">
                <a:latin typeface="Calibri"/>
                <a:cs typeface="Calibri"/>
              </a:rPr>
              <a:t>Th</a:t>
            </a:r>
            <a:r>
              <a:rPr sz="4000" spc="-20" dirty="0">
                <a:latin typeface="Calibri"/>
                <a:cs typeface="Calibri"/>
              </a:rPr>
              <a:t>e “</a:t>
            </a:r>
            <a:r>
              <a:rPr sz="4000" spc="-5" dirty="0">
                <a:latin typeface="Calibri"/>
                <a:cs typeface="Calibri"/>
              </a:rPr>
              <a:t>+</a:t>
            </a:r>
            <a:r>
              <a:rPr sz="4000" spc="95" dirty="0">
                <a:latin typeface="Calibri"/>
                <a:cs typeface="Calibri"/>
              </a:rPr>
              <a:t>x</a:t>
            </a:r>
            <a:r>
              <a:rPr sz="4000" dirty="0">
                <a:latin typeface="Calibri"/>
                <a:cs typeface="Calibri"/>
              </a:rPr>
              <a:t>” </a:t>
            </a:r>
            <a:r>
              <a:rPr sz="4000" spc="-40" dirty="0">
                <a:latin typeface="Calibri"/>
                <a:cs typeface="Calibri"/>
              </a:rPr>
              <a:t>m</a:t>
            </a:r>
            <a:r>
              <a:rPr sz="4000" spc="-5" dirty="0">
                <a:latin typeface="Calibri"/>
                <a:cs typeface="Calibri"/>
              </a:rPr>
              <a:t>o</a:t>
            </a:r>
            <a:r>
              <a:rPr sz="4000" dirty="0">
                <a:latin typeface="Calibri"/>
                <a:cs typeface="Calibri"/>
              </a:rPr>
              <a:t>d</a:t>
            </a:r>
            <a:r>
              <a:rPr sz="4000" spc="-20" dirty="0">
                <a:latin typeface="Calibri"/>
                <a:cs typeface="Calibri"/>
              </a:rPr>
              <a:t>e</a:t>
            </a:r>
            <a:r>
              <a:rPr sz="4000" dirty="0">
                <a:latin typeface="Calibri"/>
                <a:cs typeface="Calibri"/>
              </a:rPr>
              <a:t>l</a:t>
            </a:r>
            <a:r>
              <a:rPr sz="4000" spc="-15" dirty="0">
                <a:latin typeface="Calibri"/>
                <a:cs typeface="Calibri"/>
              </a:rPr>
              <a:t>:</a:t>
            </a:r>
            <a:r>
              <a:rPr sz="4000" dirty="0">
                <a:latin typeface="Calibri"/>
                <a:cs typeface="Calibri"/>
              </a:rPr>
              <a:t> </a:t>
            </a:r>
            <a:r>
              <a:rPr sz="4000" spc="-40" dirty="0">
                <a:latin typeface="Calibri"/>
                <a:cs typeface="Calibri"/>
              </a:rPr>
              <a:t>m</a:t>
            </a:r>
            <a:r>
              <a:rPr sz="4000" spc="-5" dirty="0">
                <a:latin typeface="Calibri"/>
                <a:cs typeface="Calibri"/>
              </a:rPr>
              <a:t>o</a:t>
            </a:r>
            <a:r>
              <a:rPr sz="4000" dirty="0">
                <a:latin typeface="Calibri"/>
                <a:cs typeface="Calibri"/>
              </a:rPr>
              <a:t>di</a:t>
            </a:r>
            <a:r>
              <a:rPr sz="4000" spc="15" dirty="0">
                <a:latin typeface="Calibri"/>
                <a:cs typeface="Calibri"/>
              </a:rPr>
              <a:t>f</a:t>
            </a:r>
            <a:r>
              <a:rPr sz="4000" spc="-20" dirty="0">
                <a:latin typeface="Calibri"/>
                <a:cs typeface="Calibri"/>
              </a:rPr>
              <a:t>y</a:t>
            </a:r>
            <a:r>
              <a:rPr sz="4000" dirty="0">
                <a:latin typeface="Calibri"/>
                <a:cs typeface="Calibri"/>
              </a:rPr>
              <a:t> disp</a:t>
            </a:r>
            <a:r>
              <a:rPr sz="4000" spc="-20" dirty="0">
                <a:latin typeface="Calibri"/>
                <a:cs typeface="Calibri"/>
              </a:rPr>
              <a:t>e</a:t>
            </a:r>
            <a:r>
              <a:rPr sz="4000" spc="-85" dirty="0">
                <a:latin typeface="Calibri"/>
                <a:cs typeface="Calibri"/>
              </a:rPr>
              <a:t>r</a:t>
            </a:r>
            <a:r>
              <a:rPr sz="4000" dirty="0">
                <a:latin typeface="Calibri"/>
                <a:cs typeface="Calibri"/>
              </a:rPr>
              <a:t>sal p</a:t>
            </a:r>
            <a:r>
              <a:rPr sz="4000" spc="-80" dirty="0">
                <a:latin typeface="Calibri"/>
                <a:cs typeface="Calibri"/>
              </a:rPr>
              <a:t>r</a:t>
            </a:r>
            <a:r>
              <a:rPr sz="4000" spc="-5" dirty="0">
                <a:latin typeface="Calibri"/>
                <a:cs typeface="Calibri"/>
              </a:rPr>
              <a:t>o</a:t>
            </a:r>
            <a:r>
              <a:rPr sz="4000" dirty="0">
                <a:latin typeface="Calibri"/>
                <a:cs typeface="Calibri"/>
              </a:rPr>
              <a:t>babili</a:t>
            </a:r>
            <a:r>
              <a:rPr sz="4000" spc="-20" dirty="0">
                <a:latin typeface="Calibri"/>
                <a:cs typeface="Calibri"/>
              </a:rPr>
              <a:t>ty</a:t>
            </a:r>
            <a:r>
              <a:rPr sz="4000" dirty="0">
                <a:latin typeface="Calibri"/>
                <a:cs typeface="Calibri"/>
              </a:rPr>
              <a:t> </a:t>
            </a:r>
            <a:r>
              <a:rPr sz="4000" spc="-20" dirty="0">
                <a:latin typeface="Calibri"/>
                <a:cs typeface="Calibri"/>
              </a:rPr>
              <a:t>by</a:t>
            </a:r>
            <a:r>
              <a:rPr sz="4000" dirty="0">
                <a:latin typeface="Calibri"/>
                <a:cs typeface="Calibri"/>
              </a:rPr>
              <a:t> di</a:t>
            </a:r>
            <a:r>
              <a:rPr sz="4000" spc="-45" dirty="0">
                <a:latin typeface="Calibri"/>
                <a:cs typeface="Calibri"/>
              </a:rPr>
              <a:t>s</a:t>
            </a:r>
            <a:r>
              <a:rPr sz="4000" spc="-65" dirty="0">
                <a:latin typeface="Calibri"/>
                <a:cs typeface="Calibri"/>
              </a:rPr>
              <a:t>t</a:t>
            </a:r>
            <a:r>
              <a:rPr sz="4000" dirty="0">
                <a:latin typeface="Calibri"/>
                <a:cs typeface="Calibri"/>
              </a:rPr>
              <a:t>an</a:t>
            </a:r>
            <a:r>
              <a:rPr sz="4000" spc="-20" dirty="0">
                <a:latin typeface="Calibri"/>
                <a:cs typeface="Calibri"/>
              </a:rPr>
              <a:t>ce</a:t>
            </a:r>
            <a:r>
              <a:rPr sz="4000" spc="-5" dirty="0">
                <a:latin typeface="Calibri"/>
                <a:cs typeface="Calibri"/>
              </a:rPr>
              <a:t>^</a:t>
            </a:r>
            <a:r>
              <a:rPr sz="4000" i="1" dirty="0">
                <a:latin typeface="Calibri"/>
                <a:cs typeface="Calibri"/>
              </a:rPr>
              <a:t>x</a:t>
            </a:r>
            <a:endParaRPr sz="4000">
              <a:latin typeface="Calibri"/>
              <a:cs typeface="Calibri"/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1231900"/>
            <a:ext cx="8128000" cy="72898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9400" y="355600"/>
            <a:ext cx="609600" cy="635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19200" y="787400"/>
            <a:ext cx="3835400" cy="2133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09141" y="253369"/>
            <a:ext cx="0" cy="3141980"/>
          </a:xfrm>
          <a:custGeom>
            <a:avLst/>
            <a:gdLst/>
            <a:ahLst/>
            <a:cxnLst/>
            <a:rect l="l" t="t" r="r" b="b"/>
            <a:pathLst>
              <a:path h="3141979">
                <a:moveTo>
                  <a:pt x="0" y="3141369"/>
                </a:moveTo>
                <a:lnTo>
                  <a:pt x="0" y="0"/>
                </a:lnTo>
              </a:path>
            </a:pathLst>
          </a:custGeom>
          <a:ln w="63376">
            <a:solidFill>
              <a:srgbClr val="A3BF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7453" y="209005"/>
            <a:ext cx="735330" cy="0"/>
          </a:xfrm>
          <a:custGeom>
            <a:avLst/>
            <a:gdLst/>
            <a:ahLst/>
            <a:cxnLst/>
            <a:rect l="l" t="t" r="r" b="b"/>
            <a:pathLst>
              <a:path w="735330">
                <a:moveTo>
                  <a:pt x="0" y="0"/>
                </a:moveTo>
                <a:lnTo>
                  <a:pt x="735164" y="0"/>
                </a:lnTo>
              </a:path>
            </a:pathLst>
          </a:custGeom>
          <a:ln w="88726">
            <a:solidFill>
              <a:srgbClr val="A3BF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4778" y="3426426"/>
            <a:ext cx="748030" cy="0"/>
          </a:xfrm>
          <a:custGeom>
            <a:avLst/>
            <a:gdLst/>
            <a:ahLst/>
            <a:cxnLst/>
            <a:rect l="l" t="t" r="r" b="b"/>
            <a:pathLst>
              <a:path w="748030">
                <a:moveTo>
                  <a:pt x="0" y="0"/>
                </a:moveTo>
                <a:lnTo>
                  <a:pt x="747839" y="0"/>
                </a:lnTo>
              </a:path>
            </a:pathLst>
          </a:custGeom>
          <a:ln w="63376">
            <a:solidFill>
              <a:srgbClr val="A3BF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63318" y="164671"/>
            <a:ext cx="0" cy="3293745"/>
          </a:xfrm>
          <a:custGeom>
            <a:avLst/>
            <a:gdLst/>
            <a:ahLst/>
            <a:cxnLst/>
            <a:rect l="l" t="t" r="r" b="b"/>
            <a:pathLst>
              <a:path h="3293745">
                <a:moveTo>
                  <a:pt x="0" y="3293423"/>
                </a:moveTo>
                <a:lnTo>
                  <a:pt x="0" y="0"/>
                </a:lnTo>
              </a:path>
            </a:pathLst>
          </a:custGeom>
          <a:ln w="101401">
            <a:solidFill>
              <a:srgbClr val="A3C3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229498" y="3318757"/>
            <a:ext cx="11598275" cy="0"/>
          </a:xfrm>
          <a:custGeom>
            <a:avLst/>
            <a:gdLst/>
            <a:ahLst/>
            <a:cxnLst/>
            <a:rect l="l" t="t" r="r" b="b"/>
            <a:pathLst>
              <a:path w="11598275">
                <a:moveTo>
                  <a:pt x="0" y="0"/>
                </a:moveTo>
                <a:lnTo>
                  <a:pt x="11597844" y="0"/>
                </a:lnTo>
              </a:path>
            </a:pathLst>
          </a:custGeom>
          <a:ln w="25350">
            <a:solidFill>
              <a:srgbClr val="3F3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29473" y="153133"/>
            <a:ext cx="492442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50" i="1" spc="-95" dirty="0">
                <a:solidFill>
                  <a:srgbClr val="676470"/>
                </a:solidFill>
                <a:latin typeface="Arial"/>
                <a:cs typeface="Arial"/>
              </a:rPr>
              <a:t>J</a:t>
            </a:r>
            <a:r>
              <a:rPr sz="1550" i="1" spc="-150" dirty="0">
                <a:solidFill>
                  <a:srgbClr val="676470"/>
                </a:solidFill>
                <a:latin typeface="Arial"/>
                <a:cs typeface="Arial"/>
              </a:rPr>
              <a:t>o</a:t>
            </a:r>
            <a:r>
              <a:rPr sz="1550" i="1" spc="-30" dirty="0">
                <a:solidFill>
                  <a:srgbClr val="676470"/>
                </a:solidFill>
                <a:latin typeface="Arial"/>
                <a:cs typeface="Arial"/>
              </a:rPr>
              <a:t>urn</a:t>
            </a:r>
            <a:r>
              <a:rPr sz="1550" i="1" spc="-220" dirty="0">
                <a:solidFill>
                  <a:srgbClr val="676470"/>
                </a:solidFill>
                <a:latin typeface="Arial"/>
                <a:cs typeface="Arial"/>
              </a:rPr>
              <a:t>a</a:t>
            </a:r>
            <a:r>
              <a:rPr sz="1550" i="1" spc="114" dirty="0">
                <a:solidFill>
                  <a:srgbClr val="676470"/>
                </a:solidFill>
                <a:latin typeface="Arial"/>
                <a:cs typeface="Arial"/>
              </a:rPr>
              <a:t>l</a:t>
            </a:r>
            <a:r>
              <a:rPr sz="1550" i="1" spc="105" dirty="0">
                <a:solidFill>
                  <a:srgbClr val="676470"/>
                </a:solidFill>
                <a:latin typeface="Arial"/>
                <a:cs typeface="Arial"/>
              </a:rPr>
              <a:t> </a:t>
            </a:r>
            <a:r>
              <a:rPr sz="1550" i="1" spc="15" dirty="0">
                <a:solidFill>
                  <a:srgbClr val="797480"/>
                </a:solidFill>
                <a:latin typeface="Arial"/>
                <a:cs typeface="Arial"/>
              </a:rPr>
              <a:t>of</a:t>
            </a:r>
            <a:r>
              <a:rPr sz="1550" i="1" spc="20" dirty="0">
                <a:solidFill>
                  <a:srgbClr val="797480"/>
                </a:solidFill>
                <a:latin typeface="Arial"/>
                <a:cs typeface="Arial"/>
              </a:rPr>
              <a:t> </a:t>
            </a:r>
            <a:r>
              <a:rPr sz="1550" i="1" spc="-75" dirty="0">
                <a:solidFill>
                  <a:srgbClr val="676470"/>
                </a:solidFill>
                <a:latin typeface="Arial"/>
                <a:cs typeface="Arial"/>
              </a:rPr>
              <a:t>Biogeog</a:t>
            </a:r>
            <a:r>
              <a:rPr sz="1550" i="1" spc="-70" dirty="0">
                <a:solidFill>
                  <a:srgbClr val="676470"/>
                </a:solidFill>
                <a:latin typeface="Arial"/>
                <a:cs typeface="Arial"/>
              </a:rPr>
              <a:t>r</a:t>
            </a:r>
            <a:r>
              <a:rPr sz="1550" i="1" spc="-10" dirty="0">
                <a:solidFill>
                  <a:srgbClr val="676470"/>
                </a:solidFill>
                <a:latin typeface="Arial"/>
                <a:cs typeface="Arial"/>
              </a:rPr>
              <a:t>ap</a:t>
            </a:r>
            <a:r>
              <a:rPr sz="1550" i="1" spc="-175" dirty="0">
                <a:solidFill>
                  <a:srgbClr val="676470"/>
                </a:solidFill>
                <a:latin typeface="Arial"/>
                <a:cs typeface="Arial"/>
              </a:rPr>
              <a:t>h</a:t>
            </a:r>
            <a:r>
              <a:rPr sz="1550" i="1" spc="5" dirty="0">
                <a:solidFill>
                  <a:srgbClr val="676470"/>
                </a:solidFill>
                <a:latin typeface="Arial"/>
                <a:cs typeface="Arial"/>
              </a:rPr>
              <a:t>y</a:t>
            </a:r>
            <a:r>
              <a:rPr sz="1550" i="1" spc="80" dirty="0">
                <a:solidFill>
                  <a:srgbClr val="676470"/>
                </a:solidFill>
                <a:latin typeface="Arial"/>
                <a:cs typeface="Arial"/>
              </a:rPr>
              <a:t> </a:t>
            </a:r>
            <a:r>
              <a:rPr sz="1550" spc="-40" dirty="0">
                <a:solidFill>
                  <a:srgbClr val="797480"/>
                </a:solidFill>
                <a:latin typeface="Times New Roman"/>
                <a:cs typeface="Times New Roman"/>
              </a:rPr>
              <a:t>(</a:t>
            </a:r>
            <a:r>
              <a:rPr sz="1550" spc="-90" dirty="0">
                <a:solidFill>
                  <a:srgbClr val="797480"/>
                </a:solidFill>
                <a:latin typeface="Times New Roman"/>
                <a:cs typeface="Times New Roman"/>
              </a:rPr>
              <a:t>J</a:t>
            </a:r>
            <a:r>
              <a:rPr sz="1550" spc="65" dirty="0">
                <a:solidFill>
                  <a:srgbClr val="797480"/>
                </a:solidFill>
                <a:latin typeface="Times New Roman"/>
                <a:cs typeface="Times New Roman"/>
              </a:rPr>
              <a:t>.</a:t>
            </a:r>
            <a:r>
              <a:rPr sz="1550" spc="55" dirty="0">
                <a:solidFill>
                  <a:srgbClr val="797480"/>
                </a:solidFill>
                <a:latin typeface="Times New Roman"/>
                <a:cs typeface="Times New Roman"/>
              </a:rPr>
              <a:t> </a:t>
            </a:r>
            <a:r>
              <a:rPr sz="1550" i="1" spc="-70" dirty="0">
                <a:solidFill>
                  <a:srgbClr val="676470"/>
                </a:solidFill>
                <a:latin typeface="Arial"/>
                <a:cs typeface="Arial"/>
              </a:rPr>
              <a:t>Biogeogr.</a:t>
            </a:r>
            <a:r>
              <a:rPr sz="1550" i="1" spc="-45" dirty="0">
                <a:solidFill>
                  <a:srgbClr val="676470"/>
                </a:solidFill>
                <a:latin typeface="Arial"/>
                <a:cs typeface="Arial"/>
              </a:rPr>
              <a:t>)</a:t>
            </a:r>
            <a:r>
              <a:rPr sz="1550" i="1" spc="175" dirty="0">
                <a:solidFill>
                  <a:srgbClr val="676470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676470"/>
                </a:solidFill>
                <a:latin typeface="Times New Roman"/>
                <a:cs typeface="Times New Roman"/>
              </a:rPr>
              <a:t>(2</a:t>
            </a:r>
            <a:r>
              <a:rPr sz="1600" spc="100" dirty="0">
                <a:solidFill>
                  <a:srgbClr val="676470"/>
                </a:solidFill>
                <a:latin typeface="Times New Roman"/>
                <a:cs typeface="Times New Roman"/>
              </a:rPr>
              <a:t>0</a:t>
            </a:r>
            <a:r>
              <a:rPr sz="1600" spc="-110" dirty="0">
                <a:solidFill>
                  <a:srgbClr val="773F4D"/>
                </a:solidFill>
                <a:latin typeface="Times New Roman"/>
                <a:cs typeface="Times New Roman"/>
              </a:rPr>
              <a:t>1</a:t>
            </a:r>
            <a:r>
              <a:rPr sz="1600" spc="-105" dirty="0">
                <a:solidFill>
                  <a:srgbClr val="676470"/>
                </a:solidFill>
                <a:latin typeface="Times New Roman"/>
                <a:cs typeface="Times New Roman"/>
              </a:rPr>
              <a:t>7</a:t>
            </a:r>
            <a:r>
              <a:rPr sz="1600" spc="70" dirty="0">
                <a:solidFill>
                  <a:srgbClr val="676470"/>
                </a:solidFill>
                <a:latin typeface="Times New Roman"/>
                <a:cs typeface="Times New Roman"/>
              </a:rPr>
              <a:t>)</a:t>
            </a:r>
            <a:r>
              <a:rPr sz="1600" spc="-10" dirty="0">
                <a:solidFill>
                  <a:srgbClr val="676470"/>
                </a:solidFill>
                <a:latin typeface="Times New Roman"/>
                <a:cs typeface="Times New Roman"/>
              </a:rPr>
              <a:t> </a:t>
            </a:r>
            <a:r>
              <a:rPr sz="1600" spc="80" dirty="0">
                <a:solidFill>
                  <a:srgbClr val="3B363B"/>
                </a:solidFill>
                <a:latin typeface="Times New Roman"/>
                <a:cs typeface="Times New Roman"/>
              </a:rPr>
              <a:t>4</a:t>
            </a:r>
            <a:r>
              <a:rPr sz="1600" spc="15" dirty="0">
                <a:solidFill>
                  <a:srgbClr val="3B363B"/>
                </a:solidFill>
                <a:latin typeface="Times New Roman"/>
                <a:cs typeface="Times New Roman"/>
              </a:rPr>
              <a:t>4</a:t>
            </a:r>
            <a:r>
              <a:rPr sz="1600" spc="100" dirty="0">
                <a:solidFill>
                  <a:srgbClr val="797480"/>
                </a:solidFill>
                <a:latin typeface="Times New Roman"/>
                <a:cs typeface="Times New Roman"/>
              </a:rPr>
              <a:t>,</a:t>
            </a:r>
            <a:r>
              <a:rPr sz="1600" spc="90" dirty="0">
                <a:solidFill>
                  <a:srgbClr val="79748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676470"/>
                </a:solidFill>
                <a:latin typeface="Times New Roman"/>
                <a:cs typeface="Times New Roman"/>
              </a:rPr>
              <a:t>8</a:t>
            </a:r>
            <a:r>
              <a:rPr sz="1600" spc="125" dirty="0">
                <a:solidFill>
                  <a:srgbClr val="676470"/>
                </a:solidFill>
                <a:latin typeface="Times New Roman"/>
                <a:cs typeface="Times New Roman"/>
              </a:rPr>
              <a:t>8</a:t>
            </a:r>
            <a:r>
              <a:rPr sz="1600" spc="-135" dirty="0">
                <a:solidFill>
                  <a:srgbClr val="676470"/>
                </a:solidFill>
                <a:latin typeface="Times New Roman"/>
                <a:cs typeface="Times New Roman"/>
              </a:rPr>
              <a:t>7</a:t>
            </a:r>
            <a:r>
              <a:rPr sz="1600" spc="220" dirty="0">
                <a:solidFill>
                  <a:srgbClr val="676470"/>
                </a:solidFill>
                <a:latin typeface="Times New Roman"/>
                <a:cs typeface="Times New Roman"/>
              </a:rPr>
              <a:t>-</a:t>
            </a:r>
            <a:r>
              <a:rPr sz="1600" spc="135" dirty="0">
                <a:solidFill>
                  <a:srgbClr val="676470"/>
                </a:solidFill>
                <a:latin typeface="Times New Roman"/>
                <a:cs typeface="Times New Roman"/>
              </a:rPr>
              <a:t>8</a:t>
            </a:r>
            <a:r>
              <a:rPr sz="1600" spc="-10" dirty="0">
                <a:solidFill>
                  <a:srgbClr val="676470"/>
                </a:solidFill>
                <a:latin typeface="Times New Roman"/>
                <a:cs typeface="Times New Roman"/>
              </a:rPr>
              <a:t>9</a:t>
            </a:r>
            <a:r>
              <a:rPr sz="1600" spc="140" dirty="0">
                <a:solidFill>
                  <a:srgbClr val="676470"/>
                </a:solidFill>
                <a:latin typeface="Times New Roman"/>
                <a:cs typeface="Times New Roman"/>
              </a:rPr>
              <a:t>9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98226" y="750513"/>
            <a:ext cx="7424420" cy="837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2065">
              <a:lnSpc>
                <a:spcPct val="106900"/>
              </a:lnSpc>
            </a:pPr>
            <a:r>
              <a:rPr sz="2800" b="1" spc="-20" dirty="0">
                <a:solidFill>
                  <a:srgbClr val="232123"/>
                </a:solidFill>
                <a:latin typeface="Arial"/>
                <a:cs typeface="Arial"/>
              </a:rPr>
              <a:t>Baye</a:t>
            </a:r>
            <a:r>
              <a:rPr sz="2800" b="1" spc="-5" dirty="0">
                <a:solidFill>
                  <a:srgbClr val="232123"/>
                </a:solidFill>
                <a:latin typeface="Arial"/>
                <a:cs typeface="Arial"/>
              </a:rPr>
              <a:t>s</a:t>
            </a:r>
            <a:r>
              <a:rPr sz="2800" b="1" spc="120" dirty="0">
                <a:solidFill>
                  <a:srgbClr val="232123"/>
                </a:solidFill>
                <a:latin typeface="Arial"/>
                <a:cs typeface="Arial"/>
              </a:rPr>
              <a:t>ian</a:t>
            </a:r>
            <a:r>
              <a:rPr sz="2800" b="1" spc="165" dirty="0">
                <a:solidFill>
                  <a:srgbClr val="232123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232123"/>
                </a:solidFill>
                <a:latin typeface="Arial"/>
                <a:cs typeface="Arial"/>
              </a:rPr>
              <a:t>est</a:t>
            </a:r>
            <a:r>
              <a:rPr sz="2800" b="1" spc="120" dirty="0">
                <a:solidFill>
                  <a:srgbClr val="232123"/>
                </a:solidFill>
                <a:latin typeface="Arial"/>
                <a:cs typeface="Arial"/>
              </a:rPr>
              <a:t>i</a:t>
            </a:r>
            <a:r>
              <a:rPr sz="2800" b="1" spc="145" dirty="0">
                <a:solidFill>
                  <a:srgbClr val="232123"/>
                </a:solidFill>
                <a:latin typeface="Arial"/>
                <a:cs typeface="Arial"/>
              </a:rPr>
              <a:t>matio</a:t>
            </a:r>
            <a:r>
              <a:rPr sz="2800" b="1" spc="290" dirty="0">
                <a:solidFill>
                  <a:srgbClr val="232123"/>
                </a:solidFill>
                <a:latin typeface="Arial"/>
                <a:cs typeface="Arial"/>
              </a:rPr>
              <a:t>n</a:t>
            </a:r>
            <a:r>
              <a:rPr sz="2800" b="1" spc="100" dirty="0">
                <a:solidFill>
                  <a:srgbClr val="232123"/>
                </a:solidFill>
                <a:latin typeface="Arial"/>
                <a:cs typeface="Arial"/>
              </a:rPr>
              <a:t> </a:t>
            </a:r>
            <a:r>
              <a:rPr sz="2800" b="1" spc="105" dirty="0">
                <a:solidFill>
                  <a:srgbClr val="232123"/>
                </a:solidFill>
                <a:latin typeface="Arial"/>
                <a:cs typeface="Arial"/>
              </a:rPr>
              <a:t>of</a:t>
            </a:r>
            <a:r>
              <a:rPr sz="2800" b="1" spc="235" dirty="0">
                <a:solidFill>
                  <a:srgbClr val="232123"/>
                </a:solidFill>
                <a:latin typeface="Arial"/>
                <a:cs typeface="Arial"/>
              </a:rPr>
              <a:t> </a:t>
            </a:r>
            <a:r>
              <a:rPr sz="2800" b="1" spc="180" dirty="0">
                <a:solidFill>
                  <a:srgbClr val="232123"/>
                </a:solidFill>
                <a:latin typeface="Arial"/>
                <a:cs typeface="Arial"/>
              </a:rPr>
              <a:t>the</a:t>
            </a:r>
            <a:r>
              <a:rPr sz="2800" b="1" spc="325" dirty="0">
                <a:solidFill>
                  <a:srgbClr val="232123"/>
                </a:solidFill>
                <a:latin typeface="Arial"/>
                <a:cs typeface="Arial"/>
              </a:rPr>
              <a:t> </a:t>
            </a:r>
            <a:r>
              <a:rPr sz="2800" b="1" spc="170" dirty="0">
                <a:solidFill>
                  <a:srgbClr val="232123"/>
                </a:solidFill>
                <a:latin typeface="Arial"/>
                <a:cs typeface="Arial"/>
              </a:rPr>
              <a:t>g</a:t>
            </a:r>
            <a:r>
              <a:rPr sz="2800" b="1" spc="15" dirty="0">
                <a:solidFill>
                  <a:srgbClr val="232123"/>
                </a:solidFill>
                <a:latin typeface="Arial"/>
                <a:cs typeface="Arial"/>
              </a:rPr>
              <a:t>l</a:t>
            </a:r>
            <a:r>
              <a:rPr sz="2800" b="1" spc="150" dirty="0">
                <a:solidFill>
                  <a:srgbClr val="232123"/>
                </a:solidFill>
                <a:latin typeface="Arial"/>
                <a:cs typeface="Arial"/>
              </a:rPr>
              <a:t>o</a:t>
            </a:r>
            <a:r>
              <a:rPr sz="2800" b="1" spc="85" dirty="0">
                <a:solidFill>
                  <a:srgbClr val="232123"/>
                </a:solidFill>
                <a:latin typeface="Arial"/>
                <a:cs typeface="Arial"/>
              </a:rPr>
              <a:t>b</a:t>
            </a:r>
            <a:r>
              <a:rPr sz="2800" b="1" spc="55" dirty="0">
                <a:solidFill>
                  <a:srgbClr val="232123"/>
                </a:solidFill>
                <a:latin typeface="Arial"/>
                <a:cs typeface="Arial"/>
              </a:rPr>
              <a:t>al</a:t>
            </a:r>
            <a:r>
              <a:rPr sz="2800" b="1" spc="35" dirty="0">
                <a:solidFill>
                  <a:srgbClr val="232123"/>
                </a:solidFill>
                <a:latin typeface="Arial"/>
                <a:cs typeface="Arial"/>
              </a:rPr>
              <a:t> </a:t>
            </a:r>
            <a:r>
              <a:rPr sz="2800" b="1" spc="70" dirty="0">
                <a:solidFill>
                  <a:srgbClr val="232123"/>
                </a:solidFill>
                <a:latin typeface="Arial"/>
                <a:cs typeface="Arial"/>
              </a:rPr>
              <a:t>b</a:t>
            </a:r>
            <a:r>
              <a:rPr sz="2800" b="1" spc="-85" dirty="0">
                <a:solidFill>
                  <a:srgbClr val="232123"/>
                </a:solidFill>
                <a:latin typeface="Arial"/>
                <a:cs typeface="Arial"/>
              </a:rPr>
              <a:t>i</a:t>
            </a:r>
            <a:r>
              <a:rPr sz="2800" b="1" spc="135" dirty="0">
                <a:solidFill>
                  <a:srgbClr val="232123"/>
                </a:solidFill>
                <a:latin typeface="Arial"/>
                <a:cs typeface="Arial"/>
              </a:rPr>
              <a:t>og</a:t>
            </a:r>
            <a:r>
              <a:rPr sz="2800" b="1" spc="85" dirty="0">
                <a:solidFill>
                  <a:srgbClr val="232123"/>
                </a:solidFill>
                <a:latin typeface="Arial"/>
                <a:cs typeface="Arial"/>
              </a:rPr>
              <a:t>eo</a:t>
            </a:r>
            <a:r>
              <a:rPr sz="2800" b="1" spc="55" dirty="0">
                <a:solidFill>
                  <a:srgbClr val="232123"/>
                </a:solidFill>
                <a:latin typeface="Arial"/>
                <a:cs typeface="Arial"/>
              </a:rPr>
              <a:t>g</a:t>
            </a:r>
            <a:r>
              <a:rPr sz="2800" b="1" spc="65" dirty="0">
                <a:solidFill>
                  <a:srgbClr val="232123"/>
                </a:solidFill>
                <a:latin typeface="Arial"/>
                <a:cs typeface="Arial"/>
              </a:rPr>
              <a:t>ra</a:t>
            </a:r>
            <a:r>
              <a:rPr sz="2800" b="1" spc="60" dirty="0">
                <a:solidFill>
                  <a:srgbClr val="232123"/>
                </a:solidFill>
                <a:latin typeface="Arial"/>
                <a:cs typeface="Arial"/>
              </a:rPr>
              <a:t>p</a:t>
            </a:r>
            <a:r>
              <a:rPr sz="2800" b="1" spc="185" dirty="0">
                <a:solidFill>
                  <a:srgbClr val="232123"/>
                </a:solidFill>
                <a:latin typeface="Arial"/>
                <a:cs typeface="Arial"/>
              </a:rPr>
              <a:t>h</a:t>
            </a:r>
            <a:r>
              <a:rPr sz="2800" b="1" spc="-105" dirty="0">
                <a:solidFill>
                  <a:srgbClr val="232123"/>
                </a:solidFill>
                <a:latin typeface="Arial"/>
                <a:cs typeface="Arial"/>
              </a:rPr>
              <a:t>i</a:t>
            </a:r>
            <a:r>
              <a:rPr sz="2800" b="1" spc="-65" dirty="0">
                <a:solidFill>
                  <a:srgbClr val="232123"/>
                </a:solidFill>
                <a:latin typeface="Arial"/>
                <a:cs typeface="Arial"/>
              </a:rPr>
              <a:t>cal</a:t>
            </a:r>
            <a:r>
              <a:rPr sz="2800" b="1" spc="75" dirty="0">
                <a:solidFill>
                  <a:srgbClr val="232123"/>
                </a:solidFill>
                <a:latin typeface="Arial"/>
                <a:cs typeface="Arial"/>
              </a:rPr>
              <a:t> </a:t>
            </a:r>
            <a:r>
              <a:rPr sz="2800" b="1" spc="70" dirty="0">
                <a:solidFill>
                  <a:srgbClr val="232123"/>
                </a:solidFill>
                <a:latin typeface="Arial"/>
                <a:cs typeface="Arial"/>
              </a:rPr>
              <a:t>h</a:t>
            </a:r>
            <a:r>
              <a:rPr sz="2800" b="1" spc="-85" dirty="0">
                <a:solidFill>
                  <a:srgbClr val="232123"/>
                </a:solidFill>
                <a:latin typeface="Arial"/>
                <a:cs typeface="Arial"/>
              </a:rPr>
              <a:t>i</a:t>
            </a:r>
            <a:r>
              <a:rPr sz="2800" b="1" spc="10" dirty="0">
                <a:solidFill>
                  <a:srgbClr val="232123"/>
                </a:solidFill>
                <a:latin typeface="Arial"/>
                <a:cs typeface="Arial"/>
              </a:rPr>
              <a:t>story</a:t>
            </a:r>
            <a:r>
              <a:rPr sz="2800" b="1" spc="25" dirty="0">
                <a:solidFill>
                  <a:srgbClr val="232123"/>
                </a:solidFill>
                <a:latin typeface="Arial"/>
                <a:cs typeface="Arial"/>
              </a:rPr>
              <a:t> </a:t>
            </a:r>
            <a:r>
              <a:rPr sz="2800" b="1" spc="105" dirty="0">
                <a:solidFill>
                  <a:srgbClr val="232123"/>
                </a:solidFill>
                <a:latin typeface="Arial"/>
                <a:cs typeface="Arial"/>
              </a:rPr>
              <a:t>of</a:t>
            </a:r>
            <a:r>
              <a:rPr sz="2800" b="1" spc="35" dirty="0">
                <a:solidFill>
                  <a:srgbClr val="232123"/>
                </a:solidFill>
                <a:latin typeface="Arial"/>
                <a:cs typeface="Arial"/>
              </a:rPr>
              <a:t> </a:t>
            </a:r>
            <a:r>
              <a:rPr sz="2800" b="1" spc="260" dirty="0">
                <a:solidFill>
                  <a:srgbClr val="232123"/>
                </a:solidFill>
                <a:latin typeface="Arial"/>
                <a:cs typeface="Arial"/>
              </a:rPr>
              <a:t>t</a:t>
            </a:r>
            <a:r>
              <a:rPr sz="2800" b="1" spc="195" dirty="0">
                <a:solidFill>
                  <a:srgbClr val="232123"/>
                </a:solidFill>
                <a:latin typeface="Arial"/>
                <a:cs typeface="Arial"/>
              </a:rPr>
              <a:t>he</a:t>
            </a:r>
            <a:r>
              <a:rPr sz="2800" b="1" spc="-180" dirty="0">
                <a:solidFill>
                  <a:srgbClr val="232123"/>
                </a:solidFill>
                <a:latin typeface="Arial"/>
                <a:cs typeface="Arial"/>
              </a:rPr>
              <a:t> </a:t>
            </a:r>
            <a:r>
              <a:rPr sz="2800" b="1" spc="-150" dirty="0">
                <a:solidFill>
                  <a:srgbClr val="232123"/>
                </a:solidFill>
                <a:latin typeface="Arial"/>
                <a:cs typeface="Arial"/>
              </a:rPr>
              <a:t>S</a:t>
            </a:r>
            <a:r>
              <a:rPr sz="2800" b="1" spc="-70" dirty="0">
                <a:solidFill>
                  <a:srgbClr val="232123"/>
                </a:solidFill>
                <a:latin typeface="Arial"/>
                <a:cs typeface="Arial"/>
              </a:rPr>
              <a:t>o</a:t>
            </a:r>
            <a:r>
              <a:rPr sz="2800" b="1" spc="-85" dirty="0">
                <a:solidFill>
                  <a:srgbClr val="232123"/>
                </a:solidFill>
                <a:latin typeface="Arial"/>
                <a:cs typeface="Arial"/>
              </a:rPr>
              <a:t>l</a:t>
            </a:r>
            <a:r>
              <a:rPr sz="2800" b="1" spc="120" dirty="0">
                <a:solidFill>
                  <a:srgbClr val="232123"/>
                </a:solidFill>
                <a:latin typeface="Arial"/>
                <a:cs typeface="Arial"/>
              </a:rPr>
              <a:t>a</a:t>
            </a:r>
            <a:r>
              <a:rPr sz="2800" b="1" spc="65" dirty="0">
                <a:solidFill>
                  <a:srgbClr val="232123"/>
                </a:solidFill>
                <a:latin typeface="Arial"/>
                <a:cs typeface="Arial"/>
              </a:rPr>
              <a:t>n</a:t>
            </a:r>
            <a:r>
              <a:rPr sz="2800" b="1" spc="35" dirty="0">
                <a:solidFill>
                  <a:srgbClr val="232123"/>
                </a:solidFill>
                <a:latin typeface="Arial"/>
                <a:cs typeface="Arial"/>
              </a:rPr>
              <a:t>a</a:t>
            </a:r>
            <a:r>
              <a:rPr sz="2800" b="1" spc="-265" dirty="0">
                <a:solidFill>
                  <a:srgbClr val="232123"/>
                </a:solidFill>
                <a:latin typeface="Arial"/>
                <a:cs typeface="Arial"/>
              </a:rPr>
              <a:t>c</a:t>
            </a:r>
            <a:r>
              <a:rPr sz="2800" b="1" spc="135" dirty="0">
                <a:solidFill>
                  <a:srgbClr val="232123"/>
                </a:solidFill>
                <a:latin typeface="Arial"/>
                <a:cs typeface="Arial"/>
              </a:rPr>
              <a:t>e</a:t>
            </a:r>
            <a:r>
              <a:rPr sz="2800" b="1" spc="120" dirty="0">
                <a:solidFill>
                  <a:srgbClr val="232123"/>
                </a:solidFill>
                <a:latin typeface="Arial"/>
                <a:cs typeface="Arial"/>
              </a:rPr>
              <a:t>ae</a:t>
            </a:r>
            <a:endParaRPr sz="2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72876" y="1752052"/>
            <a:ext cx="6867525" cy="615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4"/>
              </a:lnSpc>
              <a:tabLst>
                <a:tab pos="5272405" algn="l"/>
              </a:tabLst>
            </a:pPr>
            <a:r>
              <a:rPr sz="1850" spc="5" dirty="0">
                <a:solidFill>
                  <a:srgbClr val="797480"/>
                </a:solidFill>
                <a:latin typeface="Times New Roman"/>
                <a:cs typeface="Times New Roman"/>
              </a:rPr>
              <a:t>Jul</a:t>
            </a:r>
            <a:r>
              <a:rPr sz="1850" spc="-25" dirty="0">
                <a:solidFill>
                  <a:srgbClr val="797480"/>
                </a:solidFill>
                <a:latin typeface="Times New Roman"/>
                <a:cs typeface="Times New Roman"/>
              </a:rPr>
              <a:t>i</a:t>
            </a:r>
            <a:r>
              <a:rPr sz="1850" spc="20" dirty="0">
                <a:solidFill>
                  <a:srgbClr val="797480"/>
                </a:solidFill>
                <a:latin typeface="Times New Roman"/>
                <a:cs typeface="Times New Roman"/>
              </a:rPr>
              <a:t>a</a:t>
            </a:r>
            <a:r>
              <a:rPr sz="1850" spc="180" dirty="0">
                <a:solidFill>
                  <a:srgbClr val="797480"/>
                </a:solidFill>
                <a:latin typeface="Times New Roman"/>
                <a:cs typeface="Times New Roman"/>
              </a:rPr>
              <a:t> </a:t>
            </a:r>
            <a:r>
              <a:rPr sz="1850" spc="55" dirty="0">
                <a:solidFill>
                  <a:srgbClr val="676470"/>
                </a:solidFill>
                <a:latin typeface="Times New Roman"/>
                <a:cs typeface="Times New Roman"/>
              </a:rPr>
              <a:t>Dupi</a:t>
            </a:r>
            <a:r>
              <a:rPr sz="1850" spc="195" dirty="0">
                <a:solidFill>
                  <a:srgbClr val="676470"/>
                </a:solidFill>
                <a:latin typeface="Times New Roman"/>
                <a:cs typeface="Times New Roman"/>
              </a:rPr>
              <a:t>n</a:t>
            </a:r>
            <a:r>
              <a:rPr sz="1800" spc="-7" baseline="37037" dirty="0">
                <a:solidFill>
                  <a:srgbClr val="676470"/>
                </a:solidFill>
                <a:latin typeface="Times New Roman"/>
                <a:cs typeface="Times New Roman"/>
              </a:rPr>
              <a:t>1</a:t>
            </a:r>
            <a:r>
              <a:rPr sz="2100" spc="-25" dirty="0">
                <a:solidFill>
                  <a:srgbClr val="676470"/>
                </a:solidFill>
                <a:latin typeface="Arial"/>
                <a:cs typeface="Arial"/>
              </a:rPr>
              <a:t>*</a:t>
            </a:r>
            <a:r>
              <a:rPr sz="2100" spc="500" dirty="0">
                <a:solidFill>
                  <a:srgbClr val="676470"/>
                </a:solidFill>
                <a:latin typeface="Arial"/>
                <a:cs typeface="Arial"/>
              </a:rPr>
              <a:t>,</a:t>
            </a:r>
            <a:r>
              <a:rPr sz="1850" spc="10" dirty="0">
                <a:solidFill>
                  <a:srgbClr val="676470"/>
                </a:solidFill>
                <a:latin typeface="Times New Roman"/>
                <a:cs typeface="Times New Roman"/>
              </a:rPr>
              <a:t>N</a:t>
            </a:r>
            <a:r>
              <a:rPr sz="1850" spc="15" dirty="0">
                <a:solidFill>
                  <a:srgbClr val="676470"/>
                </a:solidFill>
                <a:latin typeface="Times New Roman"/>
                <a:cs typeface="Times New Roman"/>
              </a:rPr>
              <a:t>i</a:t>
            </a:r>
            <a:r>
              <a:rPr sz="1850" spc="35" dirty="0">
                <a:solidFill>
                  <a:srgbClr val="676470"/>
                </a:solidFill>
                <a:latin typeface="Times New Roman"/>
                <a:cs typeface="Times New Roman"/>
              </a:rPr>
              <a:t>cho</a:t>
            </a:r>
            <a:r>
              <a:rPr sz="1850" spc="-30" dirty="0">
                <a:solidFill>
                  <a:srgbClr val="676470"/>
                </a:solidFill>
                <a:latin typeface="Times New Roman"/>
                <a:cs typeface="Times New Roman"/>
              </a:rPr>
              <a:t>l</a:t>
            </a:r>
            <a:r>
              <a:rPr sz="1850" spc="-35" dirty="0">
                <a:solidFill>
                  <a:srgbClr val="676470"/>
                </a:solidFill>
                <a:latin typeface="Times New Roman"/>
                <a:cs typeface="Times New Roman"/>
              </a:rPr>
              <a:t>as</a:t>
            </a:r>
            <a:r>
              <a:rPr sz="1850" spc="40" dirty="0">
                <a:solidFill>
                  <a:srgbClr val="676470"/>
                </a:solidFill>
                <a:latin typeface="Times New Roman"/>
                <a:cs typeface="Times New Roman"/>
              </a:rPr>
              <a:t> </a:t>
            </a:r>
            <a:r>
              <a:rPr sz="1850" spc="35" dirty="0">
                <a:solidFill>
                  <a:srgbClr val="676470"/>
                </a:solidFill>
                <a:latin typeface="Times New Roman"/>
                <a:cs typeface="Times New Roman"/>
              </a:rPr>
              <a:t>J.</a:t>
            </a:r>
            <a:r>
              <a:rPr sz="1850" spc="180" dirty="0">
                <a:solidFill>
                  <a:srgbClr val="676470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676470"/>
                </a:solidFill>
                <a:latin typeface="Times New Roman"/>
                <a:cs typeface="Times New Roman"/>
              </a:rPr>
              <a:t>Matzk</a:t>
            </a:r>
            <a:r>
              <a:rPr sz="1850" spc="30" dirty="0">
                <a:solidFill>
                  <a:srgbClr val="676470"/>
                </a:solidFill>
                <a:latin typeface="Times New Roman"/>
                <a:cs typeface="Times New Roman"/>
              </a:rPr>
              <a:t>e</a:t>
            </a:r>
            <a:r>
              <a:rPr sz="1800" spc="142" baseline="37037" dirty="0">
                <a:solidFill>
                  <a:srgbClr val="908A90"/>
                </a:solidFill>
                <a:latin typeface="Times New Roman"/>
                <a:cs typeface="Times New Roman"/>
              </a:rPr>
              <a:t>2</a:t>
            </a:r>
            <a:r>
              <a:rPr sz="1200" spc="375" dirty="0">
                <a:solidFill>
                  <a:srgbClr val="908A90"/>
                </a:solidFill>
                <a:latin typeface="Times New Roman"/>
                <a:cs typeface="Times New Roman"/>
              </a:rPr>
              <a:t>,</a:t>
            </a:r>
            <a:r>
              <a:rPr sz="1200" spc="20" dirty="0">
                <a:solidFill>
                  <a:srgbClr val="908A90"/>
                </a:solidFill>
                <a:latin typeface="Times New Roman"/>
                <a:cs typeface="Times New Roman"/>
              </a:rPr>
              <a:t> </a:t>
            </a:r>
            <a:r>
              <a:rPr sz="1850" spc="55" dirty="0">
                <a:solidFill>
                  <a:srgbClr val="797480"/>
                </a:solidFill>
                <a:latin typeface="Times New Roman"/>
                <a:cs typeface="Times New Roman"/>
              </a:rPr>
              <a:t>T</a:t>
            </a:r>
            <a:r>
              <a:rPr sz="1850" spc="-35" dirty="0">
                <a:solidFill>
                  <a:srgbClr val="797480"/>
                </a:solidFill>
                <a:latin typeface="Times New Roman"/>
                <a:cs typeface="Times New Roman"/>
              </a:rPr>
              <a:t>i</a:t>
            </a:r>
            <a:r>
              <a:rPr sz="1850" spc="80" dirty="0">
                <a:solidFill>
                  <a:srgbClr val="797480"/>
                </a:solidFill>
                <a:latin typeface="Times New Roman"/>
                <a:cs typeface="Times New Roman"/>
              </a:rPr>
              <a:t>i</a:t>
            </a:r>
            <a:r>
              <a:rPr sz="1850" spc="-45" dirty="0">
                <a:solidFill>
                  <a:srgbClr val="797480"/>
                </a:solidFill>
                <a:latin typeface="Times New Roman"/>
                <a:cs typeface="Times New Roman"/>
              </a:rPr>
              <a:t>na</a:t>
            </a:r>
            <a:r>
              <a:rPr sz="1850" dirty="0">
                <a:solidFill>
                  <a:srgbClr val="797480"/>
                </a:solidFill>
                <a:latin typeface="Times New Roman"/>
                <a:cs typeface="Times New Roman"/>
              </a:rPr>
              <a:t> </a:t>
            </a:r>
            <a:r>
              <a:rPr sz="1850" spc="-105" dirty="0">
                <a:solidFill>
                  <a:srgbClr val="797480"/>
                </a:solidFill>
                <a:latin typeface="Times New Roman"/>
                <a:cs typeface="Times New Roman"/>
              </a:rPr>
              <a:t> </a:t>
            </a:r>
            <a:r>
              <a:rPr sz="1850" spc="-25" dirty="0">
                <a:solidFill>
                  <a:srgbClr val="797480"/>
                </a:solidFill>
                <a:latin typeface="Times New Roman"/>
                <a:cs typeface="Times New Roman"/>
              </a:rPr>
              <a:t>Sarki</a:t>
            </a:r>
            <a:r>
              <a:rPr sz="1850" spc="125" dirty="0">
                <a:solidFill>
                  <a:srgbClr val="797480"/>
                </a:solidFill>
                <a:latin typeface="Times New Roman"/>
                <a:cs typeface="Times New Roman"/>
              </a:rPr>
              <a:t>n</a:t>
            </a:r>
            <a:r>
              <a:rPr sz="1850" spc="-10" dirty="0">
                <a:solidFill>
                  <a:srgbClr val="797480"/>
                </a:solidFill>
                <a:latin typeface="Times New Roman"/>
                <a:cs typeface="Times New Roman"/>
              </a:rPr>
              <a:t>e</a:t>
            </a:r>
            <a:r>
              <a:rPr sz="1850" spc="40" dirty="0">
                <a:solidFill>
                  <a:srgbClr val="797480"/>
                </a:solidFill>
                <a:latin typeface="Times New Roman"/>
                <a:cs typeface="Times New Roman"/>
              </a:rPr>
              <a:t>n</a:t>
            </a:r>
            <a:r>
              <a:rPr sz="1800" spc="270" baseline="32407" dirty="0">
                <a:solidFill>
                  <a:srgbClr val="797480"/>
                </a:solidFill>
                <a:latin typeface="Times New Roman"/>
                <a:cs typeface="Times New Roman"/>
              </a:rPr>
              <a:t>3</a:t>
            </a:r>
            <a:r>
              <a:rPr sz="1800" baseline="32407" dirty="0">
                <a:solidFill>
                  <a:srgbClr val="797480"/>
                </a:solidFill>
                <a:latin typeface="Times New Roman"/>
                <a:cs typeface="Times New Roman"/>
              </a:rPr>
              <a:t>	</a:t>
            </a:r>
            <a:r>
              <a:rPr sz="1850" spc="-50" dirty="0">
                <a:solidFill>
                  <a:srgbClr val="797480"/>
                </a:solidFill>
                <a:latin typeface="Times New Roman"/>
                <a:cs typeface="Times New Roman"/>
              </a:rPr>
              <a:t>Sa</a:t>
            </a:r>
            <a:r>
              <a:rPr sz="1850" spc="80" dirty="0">
                <a:solidFill>
                  <a:srgbClr val="797480"/>
                </a:solidFill>
                <a:latin typeface="Times New Roman"/>
                <a:cs typeface="Times New Roman"/>
              </a:rPr>
              <a:t>n</a:t>
            </a:r>
            <a:r>
              <a:rPr sz="1850" spc="45" dirty="0">
                <a:solidFill>
                  <a:srgbClr val="797480"/>
                </a:solidFill>
                <a:latin typeface="Times New Roman"/>
                <a:cs typeface="Times New Roman"/>
              </a:rPr>
              <a:t>dra</a:t>
            </a:r>
            <a:r>
              <a:rPr sz="1850" spc="105" dirty="0">
                <a:solidFill>
                  <a:srgbClr val="797480"/>
                </a:solidFill>
                <a:latin typeface="Times New Roman"/>
                <a:cs typeface="Times New Roman"/>
              </a:rPr>
              <a:t> </a:t>
            </a:r>
            <a:r>
              <a:rPr sz="1850" spc="20" dirty="0">
                <a:solidFill>
                  <a:srgbClr val="676470"/>
                </a:solidFill>
                <a:latin typeface="Times New Roman"/>
                <a:cs typeface="Times New Roman"/>
              </a:rPr>
              <a:t>Knap</a:t>
            </a:r>
            <a:r>
              <a:rPr sz="1850" spc="25" dirty="0">
                <a:solidFill>
                  <a:srgbClr val="676470"/>
                </a:solidFill>
                <a:latin typeface="Times New Roman"/>
                <a:cs typeface="Times New Roman"/>
              </a:rPr>
              <a:t>p</a:t>
            </a:r>
            <a:r>
              <a:rPr sz="1800" spc="412" baseline="37037" dirty="0">
                <a:solidFill>
                  <a:srgbClr val="676470"/>
                </a:solidFill>
                <a:latin typeface="Times New Roman"/>
                <a:cs typeface="Times New Roman"/>
              </a:rPr>
              <a:t>4</a:t>
            </a:r>
            <a:endParaRPr sz="1800" baseline="37037" dirty="0">
              <a:latin typeface="Times New Roman"/>
              <a:cs typeface="Times New Roman"/>
            </a:endParaRPr>
          </a:p>
          <a:p>
            <a:pPr marR="5080" algn="r">
              <a:lnSpc>
                <a:spcPts val="725"/>
              </a:lnSpc>
              <a:tabLst>
                <a:tab pos="1634489" algn="l"/>
              </a:tabLst>
            </a:pPr>
            <a:r>
              <a:rPr sz="1200" spc="375" dirty="0">
                <a:solidFill>
                  <a:srgbClr val="797480"/>
                </a:solidFill>
                <a:latin typeface="Times New Roman"/>
                <a:cs typeface="Times New Roman"/>
              </a:rPr>
              <a:t>,	</a:t>
            </a:r>
            <a:r>
              <a:rPr sz="1200" spc="375" dirty="0">
                <a:solidFill>
                  <a:srgbClr val="676470"/>
                </a:solidFill>
                <a:latin typeface="Times New Roman"/>
                <a:cs typeface="Times New Roman"/>
              </a:rPr>
              <a:t>,</a:t>
            </a:r>
            <a:endParaRPr sz="1200" dirty="0">
              <a:latin typeface="Times New Roman"/>
              <a:cs typeface="Times New Roman"/>
            </a:endParaRPr>
          </a:p>
          <a:p>
            <a:pPr marL="24765">
              <a:lnSpc>
                <a:spcPts val="1515"/>
              </a:lnSpc>
              <a:spcBef>
                <a:spcPts val="250"/>
              </a:spcBef>
              <a:tabLst>
                <a:tab pos="2344420" algn="l"/>
              </a:tabLst>
            </a:pPr>
            <a:r>
              <a:rPr sz="1850" spc="-15" dirty="0">
                <a:solidFill>
                  <a:srgbClr val="676470"/>
                </a:solidFill>
                <a:latin typeface="Times New Roman"/>
                <a:cs typeface="Times New Roman"/>
              </a:rPr>
              <a:t>R</a:t>
            </a:r>
            <a:r>
              <a:rPr sz="1850" spc="-60" dirty="0">
                <a:solidFill>
                  <a:srgbClr val="676470"/>
                </a:solidFill>
                <a:latin typeface="Times New Roman"/>
                <a:cs typeface="Times New Roman"/>
              </a:rPr>
              <a:t>i</a:t>
            </a:r>
            <a:r>
              <a:rPr sz="1850" spc="20" dirty="0">
                <a:solidFill>
                  <a:srgbClr val="676470"/>
                </a:solidFill>
                <a:latin typeface="Times New Roman"/>
                <a:cs typeface="Times New Roman"/>
              </a:rPr>
              <a:t>chard</a:t>
            </a:r>
            <a:r>
              <a:rPr sz="1850" dirty="0">
                <a:solidFill>
                  <a:srgbClr val="676470"/>
                </a:solidFill>
                <a:latin typeface="Times New Roman"/>
                <a:cs typeface="Times New Roman"/>
              </a:rPr>
              <a:t> </a:t>
            </a:r>
            <a:r>
              <a:rPr sz="1850" spc="-204" dirty="0">
                <a:solidFill>
                  <a:srgbClr val="676470"/>
                </a:solidFill>
                <a:latin typeface="Times New Roman"/>
                <a:cs typeface="Times New Roman"/>
              </a:rPr>
              <a:t> </a:t>
            </a:r>
            <a:r>
              <a:rPr sz="1850" spc="-40" dirty="0">
                <a:solidFill>
                  <a:srgbClr val="676470"/>
                </a:solidFill>
                <a:latin typeface="Times New Roman"/>
                <a:cs typeface="Times New Roman"/>
              </a:rPr>
              <a:t>G</a:t>
            </a:r>
            <a:r>
              <a:rPr sz="1850" spc="220" dirty="0">
                <a:solidFill>
                  <a:srgbClr val="54484F"/>
                </a:solidFill>
                <a:latin typeface="Times New Roman"/>
                <a:cs typeface="Times New Roman"/>
              </a:rPr>
              <a:t>.</a:t>
            </a:r>
            <a:r>
              <a:rPr sz="1850" spc="-50" dirty="0">
                <a:solidFill>
                  <a:srgbClr val="54484F"/>
                </a:solidFill>
                <a:latin typeface="Times New Roman"/>
                <a:cs typeface="Times New Roman"/>
              </a:rPr>
              <a:t> </a:t>
            </a:r>
            <a:r>
              <a:rPr sz="1850" spc="-40" dirty="0">
                <a:solidFill>
                  <a:srgbClr val="676470"/>
                </a:solidFill>
                <a:latin typeface="Times New Roman"/>
                <a:cs typeface="Times New Roman"/>
              </a:rPr>
              <a:t>O</a:t>
            </a:r>
            <a:r>
              <a:rPr sz="1850" spc="70" dirty="0">
                <a:solidFill>
                  <a:srgbClr val="676470"/>
                </a:solidFill>
                <a:latin typeface="Times New Roman"/>
                <a:cs typeface="Times New Roman"/>
              </a:rPr>
              <a:t>l</a:t>
            </a:r>
            <a:r>
              <a:rPr sz="1850" spc="150" dirty="0">
                <a:solidFill>
                  <a:srgbClr val="676470"/>
                </a:solidFill>
                <a:latin typeface="Times New Roman"/>
                <a:cs typeface="Times New Roman"/>
              </a:rPr>
              <a:t>m</a:t>
            </a:r>
            <a:r>
              <a:rPr sz="1850" spc="10" dirty="0">
                <a:solidFill>
                  <a:srgbClr val="676470"/>
                </a:solidFill>
                <a:latin typeface="Times New Roman"/>
                <a:cs typeface="Times New Roman"/>
              </a:rPr>
              <a:t>stea</a:t>
            </a:r>
            <a:r>
              <a:rPr sz="1850" spc="-5" dirty="0">
                <a:solidFill>
                  <a:srgbClr val="676470"/>
                </a:solidFill>
                <a:latin typeface="Times New Roman"/>
                <a:cs typeface="Times New Roman"/>
              </a:rPr>
              <a:t>d</a:t>
            </a:r>
            <a:r>
              <a:rPr sz="1800" spc="240" baseline="41666" dirty="0">
                <a:solidFill>
                  <a:srgbClr val="676470"/>
                </a:solidFill>
                <a:latin typeface="Times New Roman"/>
                <a:cs typeface="Times New Roman"/>
              </a:rPr>
              <a:t>5</a:t>
            </a:r>
            <a:r>
              <a:rPr sz="1800" baseline="41666" dirty="0">
                <a:solidFill>
                  <a:srgbClr val="676470"/>
                </a:solidFill>
                <a:latin typeface="Times New Roman"/>
                <a:cs typeface="Times New Roman"/>
              </a:rPr>
              <a:t>	</a:t>
            </a:r>
            <a:r>
              <a:rPr sz="1850" spc="-250" dirty="0">
                <a:solidFill>
                  <a:srgbClr val="676470"/>
                </a:solidFill>
                <a:latin typeface="Times New Roman"/>
                <a:cs typeface="Times New Roman"/>
              </a:rPr>
              <a:t>L</a:t>
            </a:r>
            <a:r>
              <a:rPr sz="1850" spc="-130" dirty="0">
                <a:solidFill>
                  <a:srgbClr val="676470"/>
                </a:solidFill>
                <a:latin typeface="Times New Roman"/>
                <a:cs typeface="Times New Roman"/>
              </a:rPr>
              <a:t>y</a:t>
            </a:r>
            <a:r>
              <a:rPr sz="1850" spc="120" dirty="0">
                <a:solidFill>
                  <a:srgbClr val="676470"/>
                </a:solidFill>
                <a:latin typeface="Times New Roman"/>
                <a:cs typeface="Times New Roman"/>
              </a:rPr>
              <a:t>nn</a:t>
            </a:r>
            <a:r>
              <a:rPr sz="1850" dirty="0">
                <a:solidFill>
                  <a:srgbClr val="676470"/>
                </a:solidFill>
                <a:latin typeface="Times New Roman"/>
                <a:cs typeface="Times New Roman"/>
              </a:rPr>
              <a:t> </a:t>
            </a:r>
            <a:r>
              <a:rPr sz="1850" spc="-225" dirty="0">
                <a:solidFill>
                  <a:srgbClr val="676470"/>
                </a:solidFill>
                <a:latin typeface="Times New Roman"/>
                <a:cs typeface="Times New Roman"/>
              </a:rPr>
              <a:t> </a:t>
            </a:r>
            <a:r>
              <a:rPr sz="1850" spc="-35" dirty="0">
                <a:solidFill>
                  <a:srgbClr val="676470"/>
                </a:solidFill>
                <a:latin typeface="Times New Roman"/>
                <a:cs typeface="Times New Roman"/>
              </a:rPr>
              <a:t>Boh</a:t>
            </a:r>
            <a:r>
              <a:rPr sz="1850" spc="-60" dirty="0">
                <a:solidFill>
                  <a:srgbClr val="676470"/>
                </a:solidFill>
                <a:latin typeface="Times New Roman"/>
                <a:cs typeface="Times New Roman"/>
              </a:rPr>
              <a:t>s</a:t>
            </a:r>
            <a:r>
              <a:rPr sz="1800" spc="330" baseline="37037" dirty="0">
                <a:solidFill>
                  <a:srgbClr val="908A90"/>
                </a:solidFill>
                <a:latin typeface="Times New Roman"/>
                <a:cs typeface="Times New Roman"/>
              </a:rPr>
              <a:t>6</a:t>
            </a:r>
            <a:r>
              <a:rPr sz="1800" baseline="37037" dirty="0">
                <a:solidFill>
                  <a:srgbClr val="908A90"/>
                </a:solidFill>
                <a:latin typeface="Times New Roman"/>
                <a:cs typeface="Times New Roman"/>
              </a:rPr>
              <a:t> </a:t>
            </a:r>
            <a:r>
              <a:rPr sz="1800" spc="-37" baseline="37037" dirty="0">
                <a:solidFill>
                  <a:srgbClr val="908A90"/>
                </a:solidFill>
                <a:latin typeface="Times New Roman"/>
                <a:cs typeface="Times New Roman"/>
              </a:rPr>
              <a:t> </a:t>
            </a:r>
            <a:r>
              <a:rPr sz="1850" spc="65" dirty="0">
                <a:solidFill>
                  <a:srgbClr val="797480"/>
                </a:solidFill>
                <a:latin typeface="Times New Roman"/>
                <a:cs typeface="Times New Roman"/>
              </a:rPr>
              <a:t>a</a:t>
            </a:r>
            <a:r>
              <a:rPr sz="1850" spc="5" dirty="0">
                <a:solidFill>
                  <a:srgbClr val="797480"/>
                </a:solidFill>
                <a:latin typeface="Times New Roman"/>
                <a:cs typeface="Times New Roman"/>
              </a:rPr>
              <a:t>nd</a:t>
            </a:r>
            <a:r>
              <a:rPr sz="1850" dirty="0">
                <a:solidFill>
                  <a:srgbClr val="797480"/>
                </a:solidFill>
                <a:latin typeface="Times New Roman"/>
                <a:cs typeface="Times New Roman"/>
              </a:rPr>
              <a:t> </a:t>
            </a:r>
            <a:r>
              <a:rPr sz="1850" spc="-100" dirty="0">
                <a:solidFill>
                  <a:srgbClr val="797480"/>
                </a:solidFill>
                <a:latin typeface="Times New Roman"/>
                <a:cs typeface="Times New Roman"/>
              </a:rPr>
              <a:t> </a:t>
            </a:r>
            <a:r>
              <a:rPr sz="2000" spc="-120" dirty="0">
                <a:solidFill>
                  <a:srgbClr val="797480"/>
                </a:solidFill>
                <a:latin typeface="Times New Roman"/>
                <a:cs typeface="Times New Roman"/>
              </a:rPr>
              <a:t>Stacey</a:t>
            </a:r>
            <a:r>
              <a:rPr sz="2000" spc="200" dirty="0">
                <a:solidFill>
                  <a:srgbClr val="797480"/>
                </a:solidFill>
                <a:latin typeface="Times New Roman"/>
                <a:cs typeface="Times New Roman"/>
              </a:rPr>
              <a:t> </a:t>
            </a:r>
            <a:r>
              <a:rPr sz="1850" spc="15" dirty="0">
                <a:solidFill>
                  <a:srgbClr val="676470"/>
                </a:solidFill>
                <a:latin typeface="Times New Roman"/>
                <a:cs typeface="Times New Roman"/>
              </a:rPr>
              <a:t>D.</a:t>
            </a:r>
            <a:r>
              <a:rPr sz="1850" spc="195" dirty="0">
                <a:solidFill>
                  <a:srgbClr val="676470"/>
                </a:solidFill>
                <a:latin typeface="Times New Roman"/>
                <a:cs typeface="Times New Roman"/>
              </a:rPr>
              <a:t> </a:t>
            </a:r>
            <a:r>
              <a:rPr sz="1850" spc="15" dirty="0">
                <a:solidFill>
                  <a:srgbClr val="797480"/>
                </a:solidFill>
                <a:latin typeface="Times New Roman"/>
                <a:cs typeface="Times New Roman"/>
              </a:rPr>
              <a:t>Smit</a:t>
            </a:r>
            <a:r>
              <a:rPr sz="1850" spc="150" dirty="0">
                <a:solidFill>
                  <a:srgbClr val="797480"/>
                </a:solidFill>
                <a:latin typeface="Times New Roman"/>
                <a:cs typeface="Times New Roman"/>
              </a:rPr>
              <a:t>h</a:t>
            </a:r>
            <a:r>
              <a:rPr sz="1800" spc="225" baseline="41666" dirty="0">
                <a:solidFill>
                  <a:srgbClr val="797480"/>
                </a:solidFill>
                <a:latin typeface="Times New Roman"/>
                <a:cs typeface="Times New Roman"/>
              </a:rPr>
              <a:t>1</a:t>
            </a:r>
            <a:endParaRPr sz="1800" baseline="41666" dirty="0">
              <a:latin typeface="Times New Roman"/>
              <a:cs typeface="Times New Roman"/>
            </a:endParaRPr>
          </a:p>
          <a:p>
            <a:pPr marL="2205355">
              <a:lnSpc>
                <a:spcPts val="725"/>
              </a:lnSpc>
            </a:pPr>
            <a:r>
              <a:rPr sz="1200" spc="375" dirty="0">
                <a:solidFill>
                  <a:srgbClr val="676470"/>
                </a:solidFill>
                <a:latin typeface="Times New Roman"/>
                <a:cs typeface="Times New Roman"/>
              </a:rPr>
              <a:t>,</a:t>
            </a:r>
            <a:endParaRPr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800" y="69593"/>
            <a:ext cx="12903200" cy="34035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900" y="9483849"/>
            <a:ext cx="288861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Helvetica"/>
                <a:cs typeface="Helvetica"/>
                <a:hlinkClick r:id="rId4"/>
              </a:rPr>
              <a:t>h</a:t>
            </a:r>
            <a:r>
              <a:rPr sz="1200" spc="-5" dirty="0">
                <a:latin typeface="Helvetica"/>
                <a:cs typeface="Helvetica"/>
                <a:hlinkClick r:id="rId4"/>
              </a:rPr>
              <a:t>ttp://solcap.msu.edu/img/germplasm2.jpg</a:t>
            </a:r>
            <a:endParaRPr sz="1200">
              <a:latin typeface="Helvetica"/>
              <a:cs typeface="Helvetic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55866" y="2625221"/>
            <a:ext cx="9486402" cy="709821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527"/>
            <a:ext cx="12903200" cy="3403600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4156" y="2339970"/>
            <a:ext cx="9702800" cy="74041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9400" y="457200"/>
            <a:ext cx="11547475" cy="14952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800" b="1" spc="-35" dirty="0">
                <a:latin typeface="Calibri"/>
                <a:cs typeface="Calibri"/>
              </a:rPr>
              <a:t>G</a:t>
            </a:r>
            <a:r>
              <a:rPr sz="4800" b="1" spc="-30" dirty="0">
                <a:latin typeface="Calibri"/>
                <a:cs typeface="Calibri"/>
              </a:rPr>
              <a:t>loba</a:t>
            </a:r>
            <a:r>
              <a:rPr sz="4800" b="1" spc="-15" dirty="0">
                <a:latin typeface="Calibri"/>
                <a:cs typeface="Calibri"/>
              </a:rPr>
              <a:t>l</a:t>
            </a:r>
            <a:r>
              <a:rPr sz="4800" b="1" spc="-5" dirty="0">
                <a:latin typeface="Calibri"/>
                <a:cs typeface="Calibri"/>
              </a:rPr>
              <a:t> </a:t>
            </a:r>
            <a:r>
              <a:rPr sz="4800" b="1" spc="-30" dirty="0">
                <a:latin typeface="Calibri"/>
                <a:cs typeface="Calibri"/>
              </a:rPr>
              <a:t>Solana</a:t>
            </a:r>
            <a:r>
              <a:rPr sz="4800" b="1" spc="-5" dirty="0">
                <a:latin typeface="Calibri"/>
                <a:cs typeface="Calibri"/>
              </a:rPr>
              <a:t>ceae:</a:t>
            </a:r>
            <a:endParaRPr sz="4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4800" b="1" spc="-35" dirty="0">
                <a:latin typeface="Calibri"/>
                <a:cs typeface="Calibri"/>
              </a:rPr>
              <a:t>d</a:t>
            </a:r>
            <a:r>
              <a:rPr sz="4800" b="1" spc="-15" dirty="0">
                <a:latin typeface="Calibri"/>
                <a:cs typeface="Calibri"/>
              </a:rPr>
              <a:t>i</a:t>
            </a:r>
            <a:r>
              <a:rPr sz="4800" b="1" spc="-75" dirty="0">
                <a:latin typeface="Calibri"/>
                <a:cs typeface="Calibri"/>
              </a:rPr>
              <a:t>s</a:t>
            </a:r>
            <a:r>
              <a:rPr sz="4800" b="1" spc="-70" dirty="0">
                <a:latin typeface="Calibri"/>
                <a:cs typeface="Calibri"/>
              </a:rPr>
              <a:t>t</a:t>
            </a:r>
            <a:r>
              <a:rPr sz="4800" b="1" spc="-25" dirty="0">
                <a:latin typeface="Calibri"/>
                <a:cs typeface="Calibri"/>
              </a:rPr>
              <a:t>a</a:t>
            </a:r>
            <a:r>
              <a:rPr sz="4800" b="1" spc="-35" dirty="0">
                <a:latin typeface="Calibri"/>
                <a:cs typeface="Calibri"/>
              </a:rPr>
              <a:t>n</a:t>
            </a:r>
            <a:r>
              <a:rPr sz="4800" b="1" dirty="0">
                <a:latin typeface="Calibri"/>
                <a:cs typeface="Calibri"/>
              </a:rPr>
              <a:t>ce</a:t>
            </a:r>
            <a:r>
              <a:rPr sz="4800" b="1" spc="-15" dirty="0">
                <a:latin typeface="Calibri"/>
                <a:cs typeface="Calibri"/>
              </a:rPr>
              <a:t>,</a:t>
            </a:r>
            <a:r>
              <a:rPr sz="4800" b="1" dirty="0">
                <a:latin typeface="Calibri"/>
                <a:cs typeface="Calibri"/>
              </a:rPr>
              <a:t> </a:t>
            </a:r>
            <a:r>
              <a:rPr sz="4800" b="1" spc="-35" dirty="0">
                <a:latin typeface="Calibri"/>
                <a:cs typeface="Calibri"/>
              </a:rPr>
              <a:t>B</a:t>
            </a:r>
            <a:r>
              <a:rPr sz="4800" b="1" spc="-20" dirty="0">
                <a:latin typeface="Calibri"/>
                <a:cs typeface="Calibri"/>
              </a:rPr>
              <a:t>io</a:t>
            </a:r>
            <a:r>
              <a:rPr sz="4800" b="1" spc="-55" dirty="0">
                <a:latin typeface="Calibri"/>
                <a:cs typeface="Calibri"/>
              </a:rPr>
              <a:t>g</a:t>
            </a:r>
            <a:r>
              <a:rPr sz="4800" b="1" dirty="0">
                <a:latin typeface="Calibri"/>
                <a:cs typeface="Calibri"/>
              </a:rPr>
              <a:t>e</a:t>
            </a:r>
            <a:r>
              <a:rPr sz="4800" b="1" spc="-30" dirty="0">
                <a:latin typeface="Calibri"/>
                <a:cs typeface="Calibri"/>
              </a:rPr>
              <a:t>o</a:t>
            </a:r>
            <a:r>
              <a:rPr sz="4800" b="1" spc="-5" dirty="0">
                <a:latin typeface="Calibri"/>
                <a:cs typeface="Calibri"/>
              </a:rPr>
              <a:t>g</a:t>
            </a:r>
            <a:r>
              <a:rPr sz="4800" b="1" spc="-110" dirty="0">
                <a:latin typeface="Calibri"/>
                <a:cs typeface="Calibri"/>
              </a:rPr>
              <a:t>r</a:t>
            </a:r>
            <a:r>
              <a:rPr sz="4800" b="1" spc="-25" dirty="0">
                <a:latin typeface="Calibri"/>
                <a:cs typeface="Calibri"/>
              </a:rPr>
              <a:t>a</a:t>
            </a:r>
            <a:r>
              <a:rPr sz="4800" b="1" spc="-35" dirty="0">
                <a:latin typeface="Calibri"/>
                <a:cs typeface="Calibri"/>
              </a:rPr>
              <a:t>ph</a:t>
            </a:r>
            <a:r>
              <a:rPr sz="4800" b="1" spc="-15" dirty="0">
                <a:latin typeface="Calibri"/>
                <a:cs typeface="Calibri"/>
              </a:rPr>
              <a:t>i</a:t>
            </a:r>
            <a:r>
              <a:rPr sz="4800" b="1" spc="-30" dirty="0">
                <a:latin typeface="Calibri"/>
                <a:cs typeface="Calibri"/>
              </a:rPr>
              <a:t>c</a:t>
            </a:r>
            <a:r>
              <a:rPr sz="4800" b="1" spc="-20" dirty="0">
                <a:latin typeface="Calibri"/>
                <a:cs typeface="Calibri"/>
              </a:rPr>
              <a:t>al</a:t>
            </a:r>
            <a:r>
              <a:rPr sz="4800" b="1" dirty="0">
                <a:latin typeface="Calibri"/>
                <a:cs typeface="Calibri"/>
              </a:rPr>
              <a:t> </a:t>
            </a:r>
            <a:r>
              <a:rPr sz="4800" b="1" spc="-25" dirty="0">
                <a:latin typeface="Calibri"/>
                <a:cs typeface="Calibri"/>
              </a:rPr>
              <a:t>S</a:t>
            </a:r>
            <a:r>
              <a:rPr sz="4800" b="1" spc="-70" dirty="0">
                <a:latin typeface="Calibri"/>
                <a:cs typeface="Calibri"/>
              </a:rPr>
              <a:t>t</a:t>
            </a:r>
            <a:r>
              <a:rPr sz="4800" b="1" spc="-30" dirty="0">
                <a:latin typeface="Calibri"/>
                <a:cs typeface="Calibri"/>
              </a:rPr>
              <a:t>o</a:t>
            </a:r>
            <a:r>
              <a:rPr sz="4800" b="1" dirty="0">
                <a:latin typeface="Calibri"/>
                <a:cs typeface="Calibri"/>
              </a:rPr>
              <a:t>c</a:t>
            </a:r>
            <a:r>
              <a:rPr sz="4800" b="1" spc="-35" dirty="0">
                <a:latin typeface="Calibri"/>
                <a:cs typeface="Calibri"/>
              </a:rPr>
              <a:t>h</a:t>
            </a:r>
            <a:r>
              <a:rPr sz="4800" b="1" spc="-25" dirty="0">
                <a:latin typeface="Calibri"/>
                <a:cs typeface="Calibri"/>
              </a:rPr>
              <a:t>a</a:t>
            </a:r>
            <a:r>
              <a:rPr sz="4800" b="1" spc="-75" dirty="0">
                <a:latin typeface="Calibri"/>
                <a:cs typeface="Calibri"/>
              </a:rPr>
              <a:t>s</a:t>
            </a:r>
            <a:r>
              <a:rPr lang="en-US" sz="4800" b="1" spc="360" dirty="0">
                <a:latin typeface="Calibri"/>
                <a:cs typeface="Calibri"/>
              </a:rPr>
              <a:t>ti</a:t>
            </a:r>
            <a:r>
              <a:rPr sz="4800" b="1" dirty="0">
                <a:latin typeface="Calibri"/>
                <a:cs typeface="Calibri"/>
              </a:rPr>
              <a:t>c </a:t>
            </a:r>
            <a:r>
              <a:rPr sz="4800" b="1" spc="-50" dirty="0">
                <a:latin typeface="Calibri"/>
                <a:cs typeface="Calibri"/>
              </a:rPr>
              <a:t>M</a:t>
            </a:r>
            <a:r>
              <a:rPr sz="4800" b="1" spc="-25" dirty="0">
                <a:latin typeface="Calibri"/>
                <a:cs typeface="Calibri"/>
              </a:rPr>
              <a:t>a</a:t>
            </a:r>
            <a:r>
              <a:rPr sz="4800" b="1" spc="-35" dirty="0">
                <a:latin typeface="Calibri"/>
                <a:cs typeface="Calibri"/>
              </a:rPr>
              <a:t>pp</a:t>
            </a:r>
            <a:r>
              <a:rPr sz="4800" b="1" spc="-15" dirty="0">
                <a:latin typeface="Calibri"/>
                <a:cs typeface="Calibri"/>
              </a:rPr>
              <a:t>i</a:t>
            </a:r>
            <a:r>
              <a:rPr sz="4800" b="1" spc="-35" dirty="0">
                <a:latin typeface="Calibri"/>
                <a:cs typeface="Calibri"/>
              </a:rPr>
              <a:t>n</a:t>
            </a:r>
            <a:r>
              <a:rPr sz="4800" b="1" dirty="0">
                <a:latin typeface="Calibri"/>
                <a:cs typeface="Calibri"/>
              </a:rPr>
              <a:t>g</a:t>
            </a:r>
            <a:endParaRPr sz="4800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134791"/>
            <a:ext cx="13004800" cy="63707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134791"/>
            <a:ext cx="13004800" cy="63707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935896" y="3226882"/>
            <a:ext cx="2026285" cy="6186805"/>
          </a:xfrm>
          <a:custGeom>
            <a:avLst/>
            <a:gdLst/>
            <a:ahLst/>
            <a:cxnLst/>
            <a:rect l="l" t="t" r="r" b="b"/>
            <a:pathLst>
              <a:path w="2026284" h="6186805">
                <a:moveTo>
                  <a:pt x="291210" y="0"/>
                </a:moveTo>
                <a:lnTo>
                  <a:pt x="1734980" y="0"/>
                </a:lnTo>
                <a:lnTo>
                  <a:pt x="1752868" y="5"/>
                </a:lnTo>
                <a:lnTo>
                  <a:pt x="1799488" y="370"/>
                </a:lnTo>
                <a:lnTo>
                  <a:pt x="1837774" y="1987"/>
                </a:lnTo>
                <a:lnTo>
                  <a:pt x="1880831" y="7712"/>
                </a:lnTo>
                <a:lnTo>
                  <a:pt x="1926342" y="23854"/>
                </a:lnTo>
                <a:lnTo>
                  <a:pt x="1959558" y="45897"/>
                </a:lnTo>
                <a:lnTo>
                  <a:pt x="1986321" y="73656"/>
                </a:lnTo>
                <a:lnTo>
                  <a:pt x="2006150" y="106336"/>
                </a:lnTo>
                <a:lnTo>
                  <a:pt x="2018984" y="148793"/>
                </a:lnTo>
                <a:lnTo>
                  <a:pt x="2024398" y="192548"/>
                </a:lnTo>
                <a:lnTo>
                  <a:pt x="2025880" y="231360"/>
                </a:lnTo>
                <a:lnTo>
                  <a:pt x="2026188" y="278555"/>
                </a:lnTo>
                <a:lnTo>
                  <a:pt x="2026191" y="5895341"/>
                </a:lnTo>
                <a:lnTo>
                  <a:pt x="2026185" y="5913230"/>
                </a:lnTo>
                <a:lnTo>
                  <a:pt x="2025820" y="5959849"/>
                </a:lnTo>
                <a:lnTo>
                  <a:pt x="2024203" y="5998135"/>
                </a:lnTo>
                <a:lnTo>
                  <a:pt x="2018478" y="6041193"/>
                </a:lnTo>
                <a:lnTo>
                  <a:pt x="2002335" y="6086704"/>
                </a:lnTo>
                <a:lnTo>
                  <a:pt x="1980293" y="6119919"/>
                </a:lnTo>
                <a:lnTo>
                  <a:pt x="1952533" y="6146683"/>
                </a:lnTo>
                <a:lnTo>
                  <a:pt x="1919854" y="6166511"/>
                </a:lnTo>
                <a:lnTo>
                  <a:pt x="1877397" y="6179345"/>
                </a:lnTo>
                <a:lnTo>
                  <a:pt x="1833641" y="6184760"/>
                </a:lnTo>
                <a:lnTo>
                  <a:pt x="1794830" y="6186242"/>
                </a:lnTo>
                <a:lnTo>
                  <a:pt x="1747635" y="6186549"/>
                </a:lnTo>
                <a:lnTo>
                  <a:pt x="291210" y="6186552"/>
                </a:lnTo>
                <a:lnTo>
                  <a:pt x="273321" y="6186546"/>
                </a:lnTo>
                <a:lnTo>
                  <a:pt x="226702" y="6186181"/>
                </a:lnTo>
                <a:lnTo>
                  <a:pt x="188416" y="6184564"/>
                </a:lnTo>
                <a:lnTo>
                  <a:pt x="145358" y="6178839"/>
                </a:lnTo>
                <a:lnTo>
                  <a:pt x="99847" y="6162696"/>
                </a:lnTo>
                <a:lnTo>
                  <a:pt x="66632" y="6140654"/>
                </a:lnTo>
                <a:lnTo>
                  <a:pt x="39868" y="6112895"/>
                </a:lnTo>
                <a:lnTo>
                  <a:pt x="20040" y="6080215"/>
                </a:lnTo>
                <a:lnTo>
                  <a:pt x="7206" y="6037758"/>
                </a:lnTo>
                <a:lnTo>
                  <a:pt x="1792" y="5994003"/>
                </a:lnTo>
                <a:lnTo>
                  <a:pt x="310" y="5955192"/>
                </a:lnTo>
                <a:lnTo>
                  <a:pt x="2" y="5907997"/>
                </a:lnTo>
                <a:lnTo>
                  <a:pt x="0" y="291210"/>
                </a:lnTo>
                <a:lnTo>
                  <a:pt x="5" y="273321"/>
                </a:lnTo>
                <a:lnTo>
                  <a:pt x="370" y="226702"/>
                </a:lnTo>
                <a:lnTo>
                  <a:pt x="1987" y="188416"/>
                </a:lnTo>
                <a:lnTo>
                  <a:pt x="7712" y="145358"/>
                </a:lnTo>
                <a:lnTo>
                  <a:pt x="23855" y="99847"/>
                </a:lnTo>
                <a:lnTo>
                  <a:pt x="45897" y="66632"/>
                </a:lnTo>
                <a:lnTo>
                  <a:pt x="73656" y="39869"/>
                </a:lnTo>
                <a:lnTo>
                  <a:pt x="106336" y="20040"/>
                </a:lnTo>
                <a:lnTo>
                  <a:pt x="148793" y="7206"/>
                </a:lnTo>
                <a:lnTo>
                  <a:pt x="192548" y="1792"/>
                </a:lnTo>
                <a:lnTo>
                  <a:pt x="231360" y="310"/>
                </a:lnTo>
                <a:lnTo>
                  <a:pt x="278555" y="2"/>
                </a:lnTo>
                <a:lnTo>
                  <a:pt x="291210" y="0"/>
                </a:lnTo>
                <a:close/>
              </a:path>
            </a:pathLst>
          </a:custGeom>
          <a:ln w="101599">
            <a:solidFill>
              <a:srgbClr val="0365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79400" y="457200"/>
            <a:ext cx="11547475" cy="138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800" b="1" spc="-35" dirty="0">
                <a:latin typeface="Calibri"/>
                <a:cs typeface="Calibri"/>
              </a:rPr>
              <a:t>G</a:t>
            </a:r>
            <a:r>
              <a:rPr sz="4800" b="1" spc="-30" dirty="0">
                <a:latin typeface="Calibri"/>
                <a:cs typeface="Calibri"/>
              </a:rPr>
              <a:t>loba</a:t>
            </a:r>
            <a:r>
              <a:rPr sz="4800" b="1" spc="-15" dirty="0">
                <a:latin typeface="Calibri"/>
                <a:cs typeface="Calibri"/>
              </a:rPr>
              <a:t>l</a:t>
            </a:r>
            <a:r>
              <a:rPr sz="4800" b="1" spc="-5" dirty="0">
                <a:latin typeface="Calibri"/>
                <a:cs typeface="Calibri"/>
              </a:rPr>
              <a:t> </a:t>
            </a:r>
            <a:r>
              <a:rPr sz="4800" b="1" spc="-30" dirty="0">
                <a:latin typeface="Calibri"/>
                <a:cs typeface="Calibri"/>
              </a:rPr>
              <a:t>Solana</a:t>
            </a:r>
            <a:r>
              <a:rPr sz="4800" b="1" spc="-5" dirty="0">
                <a:latin typeface="Calibri"/>
                <a:cs typeface="Calibri"/>
              </a:rPr>
              <a:t>ceae:</a:t>
            </a:r>
            <a:endParaRPr sz="4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4800" b="1" spc="-35" dirty="0">
                <a:latin typeface="Calibri"/>
                <a:cs typeface="Calibri"/>
              </a:rPr>
              <a:t>d</a:t>
            </a:r>
            <a:r>
              <a:rPr sz="4800" b="1" spc="-15" dirty="0">
                <a:latin typeface="Calibri"/>
                <a:cs typeface="Calibri"/>
              </a:rPr>
              <a:t>i</a:t>
            </a:r>
            <a:r>
              <a:rPr sz="4800" b="1" spc="-75" dirty="0">
                <a:latin typeface="Calibri"/>
                <a:cs typeface="Calibri"/>
              </a:rPr>
              <a:t>s</a:t>
            </a:r>
            <a:r>
              <a:rPr sz="4800" b="1" spc="-70" dirty="0">
                <a:latin typeface="Calibri"/>
                <a:cs typeface="Calibri"/>
              </a:rPr>
              <a:t>t</a:t>
            </a:r>
            <a:r>
              <a:rPr sz="4800" b="1" spc="-25" dirty="0">
                <a:latin typeface="Calibri"/>
                <a:cs typeface="Calibri"/>
              </a:rPr>
              <a:t>a</a:t>
            </a:r>
            <a:r>
              <a:rPr sz="4800" b="1" spc="-35" dirty="0">
                <a:latin typeface="Calibri"/>
                <a:cs typeface="Calibri"/>
              </a:rPr>
              <a:t>n</a:t>
            </a:r>
            <a:r>
              <a:rPr sz="4800" b="1" dirty="0">
                <a:latin typeface="Calibri"/>
                <a:cs typeface="Calibri"/>
              </a:rPr>
              <a:t>ce</a:t>
            </a:r>
            <a:r>
              <a:rPr sz="4800" b="1" spc="-15" dirty="0">
                <a:latin typeface="Calibri"/>
                <a:cs typeface="Calibri"/>
              </a:rPr>
              <a:t>,</a:t>
            </a:r>
            <a:r>
              <a:rPr sz="4800" b="1" dirty="0">
                <a:latin typeface="Calibri"/>
                <a:cs typeface="Calibri"/>
              </a:rPr>
              <a:t> </a:t>
            </a:r>
            <a:r>
              <a:rPr sz="4800" b="1" spc="-35" dirty="0">
                <a:latin typeface="Calibri"/>
                <a:cs typeface="Calibri"/>
              </a:rPr>
              <a:t>B</a:t>
            </a:r>
            <a:r>
              <a:rPr sz="4800" b="1" spc="-20" dirty="0">
                <a:latin typeface="Calibri"/>
                <a:cs typeface="Calibri"/>
              </a:rPr>
              <a:t>io</a:t>
            </a:r>
            <a:r>
              <a:rPr sz="4800" b="1" spc="-55" dirty="0">
                <a:latin typeface="Calibri"/>
                <a:cs typeface="Calibri"/>
              </a:rPr>
              <a:t>g</a:t>
            </a:r>
            <a:r>
              <a:rPr sz="4800" b="1" dirty="0">
                <a:latin typeface="Calibri"/>
                <a:cs typeface="Calibri"/>
              </a:rPr>
              <a:t>e</a:t>
            </a:r>
            <a:r>
              <a:rPr sz="4800" b="1" spc="-30" dirty="0">
                <a:latin typeface="Calibri"/>
                <a:cs typeface="Calibri"/>
              </a:rPr>
              <a:t>o</a:t>
            </a:r>
            <a:r>
              <a:rPr sz="4800" b="1" spc="-5" dirty="0">
                <a:latin typeface="Calibri"/>
                <a:cs typeface="Calibri"/>
              </a:rPr>
              <a:t>g</a:t>
            </a:r>
            <a:r>
              <a:rPr sz="4800" b="1" spc="-110" dirty="0">
                <a:latin typeface="Calibri"/>
                <a:cs typeface="Calibri"/>
              </a:rPr>
              <a:t>r</a:t>
            </a:r>
            <a:r>
              <a:rPr sz="4800" b="1" spc="-25" dirty="0">
                <a:latin typeface="Calibri"/>
                <a:cs typeface="Calibri"/>
              </a:rPr>
              <a:t>a</a:t>
            </a:r>
            <a:r>
              <a:rPr sz="4800" b="1" spc="-35" dirty="0">
                <a:latin typeface="Calibri"/>
                <a:cs typeface="Calibri"/>
              </a:rPr>
              <a:t>ph</a:t>
            </a:r>
            <a:r>
              <a:rPr sz="4800" b="1" spc="-15" dirty="0">
                <a:latin typeface="Calibri"/>
                <a:cs typeface="Calibri"/>
              </a:rPr>
              <a:t>i</a:t>
            </a:r>
            <a:r>
              <a:rPr sz="4800" b="1" spc="-30" dirty="0">
                <a:latin typeface="Calibri"/>
                <a:cs typeface="Calibri"/>
              </a:rPr>
              <a:t>c</a:t>
            </a:r>
            <a:r>
              <a:rPr sz="4800" b="1" spc="-20" dirty="0">
                <a:latin typeface="Calibri"/>
                <a:cs typeface="Calibri"/>
              </a:rPr>
              <a:t>al</a:t>
            </a:r>
            <a:r>
              <a:rPr sz="4800" b="1" dirty="0">
                <a:latin typeface="Calibri"/>
                <a:cs typeface="Calibri"/>
              </a:rPr>
              <a:t> </a:t>
            </a:r>
            <a:r>
              <a:rPr sz="4800" b="1" spc="-25" dirty="0">
                <a:latin typeface="Calibri"/>
                <a:cs typeface="Calibri"/>
              </a:rPr>
              <a:t>S</a:t>
            </a:r>
            <a:r>
              <a:rPr sz="4800" b="1" spc="-70" dirty="0">
                <a:latin typeface="Calibri"/>
                <a:cs typeface="Calibri"/>
              </a:rPr>
              <a:t>t</a:t>
            </a:r>
            <a:r>
              <a:rPr sz="4800" b="1" spc="-30" dirty="0">
                <a:latin typeface="Calibri"/>
                <a:cs typeface="Calibri"/>
              </a:rPr>
              <a:t>o</a:t>
            </a:r>
            <a:r>
              <a:rPr sz="4800" b="1" dirty="0">
                <a:latin typeface="Calibri"/>
                <a:cs typeface="Calibri"/>
              </a:rPr>
              <a:t>c</a:t>
            </a:r>
            <a:r>
              <a:rPr sz="4800" b="1" spc="-35" dirty="0">
                <a:latin typeface="Calibri"/>
                <a:cs typeface="Calibri"/>
              </a:rPr>
              <a:t>h</a:t>
            </a:r>
            <a:r>
              <a:rPr sz="4800" b="1" spc="-25" dirty="0">
                <a:latin typeface="Calibri"/>
                <a:cs typeface="Calibri"/>
              </a:rPr>
              <a:t>a</a:t>
            </a:r>
            <a:r>
              <a:rPr sz="4800" b="1" spc="-75" dirty="0">
                <a:latin typeface="Calibri"/>
                <a:cs typeface="Calibri"/>
              </a:rPr>
              <a:t>s</a:t>
            </a:r>
            <a:r>
              <a:rPr sz="4800" b="1" spc="360" dirty="0">
                <a:latin typeface="Calibri"/>
                <a:cs typeface="Calibri"/>
              </a:rPr>
              <a:t>3</a:t>
            </a:r>
            <a:r>
              <a:rPr sz="4800" b="1" dirty="0">
                <a:latin typeface="Calibri"/>
                <a:cs typeface="Calibri"/>
              </a:rPr>
              <a:t>c </a:t>
            </a:r>
            <a:r>
              <a:rPr sz="4800" b="1" spc="-50" dirty="0">
                <a:latin typeface="Calibri"/>
                <a:cs typeface="Calibri"/>
              </a:rPr>
              <a:t>M</a:t>
            </a:r>
            <a:r>
              <a:rPr sz="4800" b="1" spc="-25" dirty="0">
                <a:latin typeface="Calibri"/>
                <a:cs typeface="Calibri"/>
              </a:rPr>
              <a:t>a</a:t>
            </a:r>
            <a:r>
              <a:rPr sz="4800" b="1" spc="-35" dirty="0">
                <a:latin typeface="Calibri"/>
                <a:cs typeface="Calibri"/>
              </a:rPr>
              <a:t>pp</a:t>
            </a:r>
            <a:r>
              <a:rPr sz="4800" b="1" spc="-15" dirty="0">
                <a:latin typeface="Calibri"/>
                <a:cs typeface="Calibri"/>
              </a:rPr>
              <a:t>i</a:t>
            </a:r>
            <a:r>
              <a:rPr sz="4800" b="1" spc="-35" dirty="0">
                <a:latin typeface="Calibri"/>
                <a:cs typeface="Calibri"/>
              </a:rPr>
              <a:t>n</a:t>
            </a:r>
            <a:r>
              <a:rPr sz="4800" b="1" dirty="0">
                <a:latin typeface="Calibri"/>
                <a:cs typeface="Calibri"/>
              </a:rPr>
              <a:t>g</a:t>
            </a:r>
            <a:endParaRPr sz="4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821" rIns="0" bIns="0" rtlCol="0">
            <a:spAutoFit/>
          </a:bodyPr>
          <a:lstStyle/>
          <a:p>
            <a:pPr marL="1711325">
              <a:lnSpc>
                <a:spcPct val="100000"/>
              </a:lnSpc>
            </a:pPr>
            <a:r>
              <a:rPr sz="3600" spc="-30" dirty="0">
                <a:latin typeface="Gill Sans"/>
                <a:cs typeface="Gill Sans"/>
              </a:rPr>
              <a:t>Ak</a:t>
            </a:r>
            <a:r>
              <a:rPr sz="3600" spc="25" dirty="0">
                <a:latin typeface="Gill Sans"/>
                <a:cs typeface="Gill Sans"/>
              </a:rPr>
              <a:t>a</a:t>
            </a:r>
            <a:r>
              <a:rPr sz="3600" dirty="0">
                <a:latin typeface="Gill Sans"/>
                <a:cs typeface="Gill Sans"/>
              </a:rPr>
              <a:t>i</a:t>
            </a:r>
            <a:r>
              <a:rPr sz="3600" spc="-180" dirty="0">
                <a:latin typeface="Gill Sans"/>
                <a:cs typeface="Gill Sans"/>
              </a:rPr>
              <a:t>k</a:t>
            </a:r>
            <a:r>
              <a:rPr sz="3600" dirty="0">
                <a:latin typeface="Gill Sans"/>
                <a:cs typeface="Gill Sans"/>
              </a:rPr>
              <a:t>e</a:t>
            </a:r>
            <a:r>
              <a:rPr sz="3600" spc="-5" dirty="0">
                <a:latin typeface="Gill Sans"/>
                <a:cs typeface="Gill Sans"/>
              </a:rPr>
              <a:t> </a:t>
            </a:r>
            <a:r>
              <a:rPr sz="3600" dirty="0">
                <a:latin typeface="Gill Sans"/>
                <a:cs typeface="Gill Sans"/>
              </a:rPr>
              <a:t>I</a:t>
            </a:r>
            <a:r>
              <a:rPr sz="3600" spc="-5" dirty="0">
                <a:latin typeface="Gill Sans"/>
                <a:cs typeface="Gill Sans"/>
              </a:rPr>
              <a:t>nfo</a:t>
            </a:r>
            <a:r>
              <a:rPr sz="3600" dirty="0">
                <a:latin typeface="Gill Sans"/>
                <a:cs typeface="Gill Sans"/>
              </a:rPr>
              <a:t>r</a:t>
            </a:r>
            <a:r>
              <a:rPr sz="3600" spc="-5" dirty="0">
                <a:latin typeface="Gill Sans"/>
                <a:cs typeface="Gill Sans"/>
              </a:rPr>
              <a:t>m</a:t>
            </a:r>
            <a:r>
              <a:rPr sz="3600" spc="-25" dirty="0">
                <a:latin typeface="Gill Sans"/>
                <a:cs typeface="Gill Sans"/>
              </a:rPr>
              <a:t>a</a:t>
            </a:r>
            <a:r>
              <a:rPr sz="3600" spc="-5" dirty="0">
                <a:latin typeface="Gill Sans"/>
                <a:cs typeface="Gill Sans"/>
              </a:rPr>
              <a:t>t</a:t>
            </a:r>
            <a:r>
              <a:rPr sz="3600" dirty="0">
                <a:latin typeface="Gill Sans"/>
                <a:cs typeface="Gill Sans"/>
              </a:rPr>
              <a:t>i</a:t>
            </a:r>
            <a:r>
              <a:rPr sz="3600" spc="-5" dirty="0">
                <a:latin typeface="Gill Sans"/>
                <a:cs typeface="Gill Sans"/>
              </a:rPr>
              <a:t>o</a:t>
            </a:r>
            <a:r>
              <a:rPr sz="3600" dirty="0">
                <a:latin typeface="Gill Sans"/>
                <a:cs typeface="Gill Sans"/>
              </a:rPr>
              <a:t>n</a:t>
            </a:r>
            <a:r>
              <a:rPr sz="3600" spc="-5" dirty="0">
                <a:latin typeface="Gill Sans"/>
                <a:cs typeface="Gill Sans"/>
              </a:rPr>
              <a:t> </a:t>
            </a:r>
            <a:r>
              <a:rPr sz="3600" dirty="0">
                <a:latin typeface="Gill Sans"/>
                <a:cs typeface="Gill Sans"/>
              </a:rPr>
              <a:t>C</a:t>
            </a:r>
            <a:r>
              <a:rPr sz="3600" spc="-155" dirty="0">
                <a:latin typeface="Gill Sans"/>
                <a:cs typeface="Gill Sans"/>
              </a:rPr>
              <a:t>r</a:t>
            </a:r>
            <a:r>
              <a:rPr sz="3600" dirty="0">
                <a:latin typeface="Gill Sans"/>
                <a:cs typeface="Gill Sans"/>
              </a:rPr>
              <a:t>i</a:t>
            </a:r>
            <a:r>
              <a:rPr sz="3600" spc="-5" dirty="0">
                <a:latin typeface="Gill Sans"/>
                <a:cs typeface="Gill Sans"/>
              </a:rPr>
              <a:t>t</a:t>
            </a:r>
            <a:r>
              <a:rPr sz="3600" dirty="0">
                <a:latin typeface="Gill Sans"/>
                <a:cs typeface="Gill Sans"/>
              </a:rPr>
              <a:t>e</a:t>
            </a:r>
            <a:r>
              <a:rPr sz="3600" spc="-155" dirty="0">
                <a:latin typeface="Gill Sans"/>
                <a:cs typeface="Gill Sans"/>
              </a:rPr>
              <a:t>r</a:t>
            </a:r>
            <a:r>
              <a:rPr sz="3600" dirty="0">
                <a:latin typeface="Gill Sans"/>
                <a:cs typeface="Gill Sans"/>
              </a:rPr>
              <a:t>i</a:t>
            </a:r>
            <a:r>
              <a:rPr sz="3600" spc="-5" dirty="0">
                <a:latin typeface="Gill Sans"/>
                <a:cs typeface="Gill Sans"/>
              </a:rPr>
              <a:t>o</a:t>
            </a:r>
            <a:r>
              <a:rPr sz="3600" dirty="0">
                <a:latin typeface="Gill Sans"/>
                <a:cs typeface="Gill Sans"/>
              </a:rPr>
              <a:t>n</a:t>
            </a:r>
            <a:endParaRPr sz="3600">
              <a:latin typeface="Gill Sans"/>
              <a:cs typeface="Gill Sans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28700" y="-152400"/>
            <a:ext cx="8890635" cy="1282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057400">
              <a:lnSpc>
                <a:spcPct val="145800"/>
              </a:lnSpc>
            </a:pPr>
            <a:r>
              <a:rPr sz="3600" b="1" spc="-30" dirty="0">
                <a:latin typeface="Gill Sans"/>
                <a:cs typeface="Gill Sans"/>
              </a:rPr>
              <a:t>Ak</a:t>
            </a:r>
            <a:r>
              <a:rPr sz="3600" b="1" spc="25" dirty="0">
                <a:latin typeface="Gill Sans"/>
                <a:cs typeface="Gill Sans"/>
              </a:rPr>
              <a:t>a</a:t>
            </a:r>
            <a:r>
              <a:rPr sz="3600" b="1" dirty="0">
                <a:latin typeface="Gill Sans"/>
                <a:cs typeface="Gill Sans"/>
              </a:rPr>
              <a:t>i</a:t>
            </a:r>
            <a:r>
              <a:rPr sz="3600" b="1" spc="-180" dirty="0">
                <a:latin typeface="Gill Sans"/>
                <a:cs typeface="Gill Sans"/>
              </a:rPr>
              <a:t>k</a:t>
            </a:r>
            <a:r>
              <a:rPr sz="3600" b="1" dirty="0">
                <a:latin typeface="Gill Sans"/>
                <a:cs typeface="Gill Sans"/>
              </a:rPr>
              <a:t>e</a:t>
            </a:r>
            <a:r>
              <a:rPr sz="3600" b="1" spc="-5" dirty="0">
                <a:latin typeface="Gill Sans"/>
                <a:cs typeface="Gill Sans"/>
              </a:rPr>
              <a:t> </a:t>
            </a:r>
            <a:r>
              <a:rPr sz="3600" b="1" dirty="0">
                <a:latin typeface="Gill Sans"/>
                <a:cs typeface="Gill Sans"/>
              </a:rPr>
              <a:t>I</a:t>
            </a:r>
            <a:r>
              <a:rPr sz="3600" b="1" spc="-5" dirty="0">
                <a:latin typeface="Gill Sans"/>
                <a:cs typeface="Gill Sans"/>
              </a:rPr>
              <a:t>nfo</a:t>
            </a:r>
            <a:r>
              <a:rPr sz="3600" b="1" dirty="0">
                <a:latin typeface="Gill Sans"/>
                <a:cs typeface="Gill Sans"/>
              </a:rPr>
              <a:t>r</a:t>
            </a:r>
            <a:r>
              <a:rPr sz="3600" b="1" spc="-5" dirty="0">
                <a:latin typeface="Gill Sans"/>
                <a:cs typeface="Gill Sans"/>
              </a:rPr>
              <a:t>m</a:t>
            </a:r>
            <a:r>
              <a:rPr sz="3600" b="1" spc="-25" dirty="0">
                <a:latin typeface="Gill Sans"/>
                <a:cs typeface="Gill Sans"/>
              </a:rPr>
              <a:t>a</a:t>
            </a:r>
            <a:r>
              <a:rPr sz="3600" b="1" spc="-5" dirty="0">
                <a:latin typeface="Gill Sans"/>
                <a:cs typeface="Gill Sans"/>
              </a:rPr>
              <a:t>t</a:t>
            </a:r>
            <a:r>
              <a:rPr sz="3600" b="1" dirty="0">
                <a:latin typeface="Gill Sans"/>
                <a:cs typeface="Gill Sans"/>
              </a:rPr>
              <a:t>i</a:t>
            </a:r>
            <a:r>
              <a:rPr sz="3600" b="1" spc="-5" dirty="0">
                <a:latin typeface="Gill Sans"/>
                <a:cs typeface="Gill Sans"/>
              </a:rPr>
              <a:t>o</a:t>
            </a:r>
            <a:r>
              <a:rPr sz="3600" b="1" dirty="0">
                <a:latin typeface="Gill Sans"/>
                <a:cs typeface="Gill Sans"/>
              </a:rPr>
              <a:t>n</a:t>
            </a:r>
            <a:r>
              <a:rPr sz="3600" b="1" spc="-5" dirty="0">
                <a:latin typeface="Gill Sans"/>
                <a:cs typeface="Gill Sans"/>
              </a:rPr>
              <a:t> </a:t>
            </a:r>
            <a:r>
              <a:rPr sz="3600" b="1" dirty="0">
                <a:latin typeface="Gill Sans"/>
                <a:cs typeface="Gill Sans"/>
              </a:rPr>
              <a:t>C</a:t>
            </a:r>
            <a:r>
              <a:rPr sz="3600" b="1" spc="-155" dirty="0">
                <a:latin typeface="Gill Sans"/>
                <a:cs typeface="Gill Sans"/>
              </a:rPr>
              <a:t>r</a:t>
            </a:r>
            <a:r>
              <a:rPr sz="3600" b="1" dirty="0">
                <a:latin typeface="Gill Sans"/>
                <a:cs typeface="Gill Sans"/>
              </a:rPr>
              <a:t>i</a:t>
            </a:r>
            <a:r>
              <a:rPr sz="3600" b="1" spc="-5" dirty="0">
                <a:latin typeface="Gill Sans"/>
                <a:cs typeface="Gill Sans"/>
              </a:rPr>
              <a:t>t</a:t>
            </a:r>
            <a:r>
              <a:rPr sz="3600" b="1" dirty="0">
                <a:latin typeface="Gill Sans"/>
                <a:cs typeface="Gill Sans"/>
              </a:rPr>
              <a:t>e</a:t>
            </a:r>
            <a:r>
              <a:rPr sz="3600" b="1" spc="-155" dirty="0">
                <a:latin typeface="Gill Sans"/>
                <a:cs typeface="Gill Sans"/>
              </a:rPr>
              <a:t>r</a:t>
            </a:r>
            <a:r>
              <a:rPr sz="3600" b="1" dirty="0">
                <a:latin typeface="Gill Sans"/>
                <a:cs typeface="Gill Sans"/>
              </a:rPr>
              <a:t>i</a:t>
            </a:r>
            <a:r>
              <a:rPr sz="3600" b="1" spc="-5" dirty="0">
                <a:latin typeface="Gill Sans"/>
                <a:cs typeface="Gill Sans"/>
              </a:rPr>
              <a:t>o</a:t>
            </a:r>
            <a:r>
              <a:rPr sz="3600" b="1" dirty="0">
                <a:latin typeface="Gill Sans"/>
                <a:cs typeface="Gill Sans"/>
              </a:rPr>
              <a:t>n “</a:t>
            </a:r>
            <a:r>
              <a:rPr sz="3600" b="1" spc="-105" dirty="0">
                <a:latin typeface="Gill Sans"/>
                <a:cs typeface="Gill Sans"/>
              </a:rPr>
              <a:t>T</a:t>
            </a:r>
            <a:r>
              <a:rPr sz="3600" b="1" spc="-55" dirty="0">
                <a:latin typeface="Gill Sans"/>
                <a:cs typeface="Gill Sans"/>
              </a:rPr>
              <a:t>r</a:t>
            </a:r>
            <a:r>
              <a:rPr sz="3600" b="1" spc="-5" dirty="0">
                <a:latin typeface="Gill Sans"/>
                <a:cs typeface="Gill Sans"/>
              </a:rPr>
              <a:t>u</a:t>
            </a:r>
            <a:r>
              <a:rPr sz="3600" b="1" dirty="0">
                <a:latin typeface="Gill Sans"/>
                <a:cs typeface="Gill Sans"/>
              </a:rPr>
              <a:t>e</a:t>
            </a:r>
            <a:r>
              <a:rPr sz="3600" b="1" spc="-5" dirty="0">
                <a:latin typeface="Gill Sans"/>
                <a:cs typeface="Gill Sans"/>
              </a:rPr>
              <a:t> mo</a:t>
            </a:r>
            <a:r>
              <a:rPr sz="3600" b="1" dirty="0">
                <a:latin typeface="Gill Sans"/>
                <a:cs typeface="Gill Sans"/>
              </a:rPr>
              <a:t>del”</a:t>
            </a:r>
            <a:endParaRPr sz="3600" dirty="0">
              <a:latin typeface="Gill Sans"/>
              <a:cs typeface="Gill Sans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47180" y="2089199"/>
            <a:ext cx="0" cy="6755765"/>
          </a:xfrm>
          <a:custGeom>
            <a:avLst/>
            <a:gdLst/>
            <a:ahLst/>
            <a:cxnLst/>
            <a:rect l="l" t="t" r="r" b="b"/>
            <a:pathLst>
              <a:path h="6755765">
                <a:moveTo>
                  <a:pt x="0" y="0"/>
                </a:moveTo>
                <a:lnTo>
                  <a:pt x="0" y="6755477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422859" y="1983131"/>
            <a:ext cx="448945" cy="213995"/>
          </a:xfrm>
          <a:custGeom>
            <a:avLst/>
            <a:gdLst/>
            <a:ahLst/>
            <a:cxnLst/>
            <a:rect l="l" t="t" r="r" b="b"/>
            <a:pathLst>
              <a:path w="448944" h="213994">
                <a:moveTo>
                  <a:pt x="21537" y="0"/>
                </a:moveTo>
                <a:lnTo>
                  <a:pt x="448641" y="153991"/>
                </a:lnTo>
                <a:lnTo>
                  <a:pt x="427103" y="213727"/>
                </a:lnTo>
                <a:lnTo>
                  <a:pt x="0" y="59735"/>
                </a:lnTo>
                <a:lnTo>
                  <a:pt x="21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422859" y="1843431"/>
            <a:ext cx="448945" cy="213995"/>
          </a:xfrm>
          <a:custGeom>
            <a:avLst/>
            <a:gdLst/>
            <a:ahLst/>
            <a:cxnLst/>
            <a:rect l="l" t="t" r="r" b="b"/>
            <a:pathLst>
              <a:path w="448944" h="213994">
                <a:moveTo>
                  <a:pt x="21537" y="0"/>
                </a:moveTo>
                <a:lnTo>
                  <a:pt x="448641" y="153991"/>
                </a:lnTo>
                <a:lnTo>
                  <a:pt x="427103" y="213727"/>
                </a:lnTo>
                <a:lnTo>
                  <a:pt x="0" y="59735"/>
                </a:lnTo>
                <a:lnTo>
                  <a:pt x="21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647180" y="1424566"/>
            <a:ext cx="0" cy="508634"/>
          </a:xfrm>
          <a:custGeom>
            <a:avLst/>
            <a:gdLst/>
            <a:ahLst/>
            <a:cxnLst/>
            <a:rect l="l" t="t" r="r" b="b"/>
            <a:pathLst>
              <a:path h="508635">
                <a:moveTo>
                  <a:pt x="0" y="0"/>
                </a:moveTo>
                <a:lnTo>
                  <a:pt x="0" y="508136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334620" y="2459184"/>
            <a:ext cx="313690" cy="0"/>
          </a:xfrm>
          <a:custGeom>
            <a:avLst/>
            <a:gdLst/>
            <a:ahLst/>
            <a:cxnLst/>
            <a:rect l="l" t="t" r="r" b="b"/>
            <a:pathLst>
              <a:path w="313689">
                <a:moveTo>
                  <a:pt x="0" y="0"/>
                </a:moveTo>
                <a:lnTo>
                  <a:pt x="31353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361667" y="8668873"/>
            <a:ext cx="313690" cy="0"/>
          </a:xfrm>
          <a:custGeom>
            <a:avLst/>
            <a:gdLst/>
            <a:ahLst/>
            <a:cxnLst/>
            <a:rect l="l" t="t" r="r" b="b"/>
            <a:pathLst>
              <a:path w="313689">
                <a:moveTo>
                  <a:pt x="0" y="0"/>
                </a:moveTo>
                <a:lnTo>
                  <a:pt x="31353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028700" y="-152400"/>
            <a:ext cx="8890635" cy="1282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057400">
              <a:lnSpc>
                <a:spcPct val="145800"/>
              </a:lnSpc>
            </a:pPr>
            <a:r>
              <a:rPr sz="3600" b="1" spc="-30" dirty="0">
                <a:latin typeface="Gill Sans"/>
                <a:cs typeface="Gill Sans"/>
              </a:rPr>
              <a:t>Ak</a:t>
            </a:r>
            <a:r>
              <a:rPr sz="3600" b="1" spc="25" dirty="0">
                <a:latin typeface="Gill Sans"/>
                <a:cs typeface="Gill Sans"/>
              </a:rPr>
              <a:t>a</a:t>
            </a:r>
            <a:r>
              <a:rPr sz="3600" b="1" dirty="0">
                <a:latin typeface="Gill Sans"/>
                <a:cs typeface="Gill Sans"/>
              </a:rPr>
              <a:t>i</a:t>
            </a:r>
            <a:r>
              <a:rPr sz="3600" b="1" spc="-180" dirty="0">
                <a:latin typeface="Gill Sans"/>
                <a:cs typeface="Gill Sans"/>
              </a:rPr>
              <a:t>k</a:t>
            </a:r>
            <a:r>
              <a:rPr sz="3600" b="1" dirty="0">
                <a:latin typeface="Gill Sans"/>
                <a:cs typeface="Gill Sans"/>
              </a:rPr>
              <a:t>e</a:t>
            </a:r>
            <a:r>
              <a:rPr sz="3600" b="1" spc="-5" dirty="0">
                <a:latin typeface="Gill Sans"/>
                <a:cs typeface="Gill Sans"/>
              </a:rPr>
              <a:t> </a:t>
            </a:r>
            <a:r>
              <a:rPr sz="3600" b="1" dirty="0">
                <a:latin typeface="Gill Sans"/>
                <a:cs typeface="Gill Sans"/>
              </a:rPr>
              <a:t>I</a:t>
            </a:r>
            <a:r>
              <a:rPr sz="3600" b="1" spc="-5" dirty="0">
                <a:latin typeface="Gill Sans"/>
                <a:cs typeface="Gill Sans"/>
              </a:rPr>
              <a:t>nfo</a:t>
            </a:r>
            <a:r>
              <a:rPr sz="3600" b="1" dirty="0">
                <a:latin typeface="Gill Sans"/>
                <a:cs typeface="Gill Sans"/>
              </a:rPr>
              <a:t>r</a:t>
            </a:r>
            <a:r>
              <a:rPr sz="3600" b="1" spc="-5" dirty="0">
                <a:latin typeface="Gill Sans"/>
                <a:cs typeface="Gill Sans"/>
              </a:rPr>
              <a:t>m</a:t>
            </a:r>
            <a:r>
              <a:rPr sz="3600" b="1" spc="-25" dirty="0">
                <a:latin typeface="Gill Sans"/>
                <a:cs typeface="Gill Sans"/>
              </a:rPr>
              <a:t>a</a:t>
            </a:r>
            <a:r>
              <a:rPr sz="3600" b="1" spc="-5" dirty="0">
                <a:latin typeface="Gill Sans"/>
                <a:cs typeface="Gill Sans"/>
              </a:rPr>
              <a:t>t</a:t>
            </a:r>
            <a:r>
              <a:rPr sz="3600" b="1" dirty="0">
                <a:latin typeface="Gill Sans"/>
                <a:cs typeface="Gill Sans"/>
              </a:rPr>
              <a:t>i</a:t>
            </a:r>
            <a:r>
              <a:rPr sz="3600" b="1" spc="-5" dirty="0">
                <a:latin typeface="Gill Sans"/>
                <a:cs typeface="Gill Sans"/>
              </a:rPr>
              <a:t>o</a:t>
            </a:r>
            <a:r>
              <a:rPr sz="3600" b="1" dirty="0">
                <a:latin typeface="Gill Sans"/>
                <a:cs typeface="Gill Sans"/>
              </a:rPr>
              <a:t>n</a:t>
            </a:r>
            <a:r>
              <a:rPr sz="3600" b="1" spc="-5" dirty="0">
                <a:latin typeface="Gill Sans"/>
                <a:cs typeface="Gill Sans"/>
              </a:rPr>
              <a:t> </a:t>
            </a:r>
            <a:r>
              <a:rPr sz="3600" b="1" dirty="0">
                <a:latin typeface="Gill Sans"/>
                <a:cs typeface="Gill Sans"/>
              </a:rPr>
              <a:t>C</a:t>
            </a:r>
            <a:r>
              <a:rPr sz="3600" b="1" spc="-155" dirty="0">
                <a:latin typeface="Gill Sans"/>
                <a:cs typeface="Gill Sans"/>
              </a:rPr>
              <a:t>r</a:t>
            </a:r>
            <a:r>
              <a:rPr sz="3600" b="1" dirty="0">
                <a:latin typeface="Gill Sans"/>
                <a:cs typeface="Gill Sans"/>
              </a:rPr>
              <a:t>i</a:t>
            </a:r>
            <a:r>
              <a:rPr sz="3600" b="1" spc="-5" dirty="0">
                <a:latin typeface="Gill Sans"/>
                <a:cs typeface="Gill Sans"/>
              </a:rPr>
              <a:t>t</a:t>
            </a:r>
            <a:r>
              <a:rPr sz="3600" b="1" dirty="0">
                <a:latin typeface="Gill Sans"/>
                <a:cs typeface="Gill Sans"/>
              </a:rPr>
              <a:t>e</a:t>
            </a:r>
            <a:r>
              <a:rPr sz="3600" b="1" spc="-155" dirty="0">
                <a:latin typeface="Gill Sans"/>
                <a:cs typeface="Gill Sans"/>
              </a:rPr>
              <a:t>r</a:t>
            </a:r>
            <a:r>
              <a:rPr sz="3600" b="1" dirty="0">
                <a:latin typeface="Gill Sans"/>
                <a:cs typeface="Gill Sans"/>
              </a:rPr>
              <a:t>i</a:t>
            </a:r>
            <a:r>
              <a:rPr sz="3600" b="1" spc="-5" dirty="0">
                <a:latin typeface="Gill Sans"/>
                <a:cs typeface="Gill Sans"/>
              </a:rPr>
              <a:t>o</a:t>
            </a:r>
            <a:r>
              <a:rPr sz="3600" b="1" dirty="0">
                <a:latin typeface="Gill Sans"/>
                <a:cs typeface="Gill Sans"/>
              </a:rPr>
              <a:t>n “</a:t>
            </a:r>
            <a:r>
              <a:rPr sz="3600" b="1" spc="-105" dirty="0">
                <a:latin typeface="Gill Sans"/>
                <a:cs typeface="Gill Sans"/>
              </a:rPr>
              <a:t>T</a:t>
            </a:r>
            <a:r>
              <a:rPr sz="3600" b="1" spc="-55" dirty="0">
                <a:latin typeface="Gill Sans"/>
                <a:cs typeface="Gill Sans"/>
              </a:rPr>
              <a:t>r</a:t>
            </a:r>
            <a:r>
              <a:rPr sz="3600" b="1" spc="-5" dirty="0">
                <a:latin typeface="Gill Sans"/>
                <a:cs typeface="Gill Sans"/>
              </a:rPr>
              <a:t>u</a:t>
            </a:r>
            <a:r>
              <a:rPr sz="3600" b="1" dirty="0">
                <a:latin typeface="Gill Sans"/>
                <a:cs typeface="Gill Sans"/>
              </a:rPr>
              <a:t>e</a:t>
            </a:r>
            <a:r>
              <a:rPr sz="3600" b="1" spc="-5" dirty="0">
                <a:latin typeface="Gill Sans"/>
                <a:cs typeface="Gill Sans"/>
              </a:rPr>
              <a:t> mo</a:t>
            </a:r>
            <a:r>
              <a:rPr sz="3600" b="1" dirty="0">
                <a:latin typeface="Gill Sans"/>
                <a:cs typeface="Gill Sans"/>
              </a:rPr>
              <a:t>del”</a:t>
            </a:r>
            <a:endParaRPr sz="3600" dirty="0">
              <a:latin typeface="Gill Sans"/>
              <a:cs typeface="Gill Sans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47180" y="2089199"/>
            <a:ext cx="0" cy="6755765"/>
          </a:xfrm>
          <a:custGeom>
            <a:avLst/>
            <a:gdLst/>
            <a:ahLst/>
            <a:cxnLst/>
            <a:rect l="l" t="t" r="r" b="b"/>
            <a:pathLst>
              <a:path h="6755765">
                <a:moveTo>
                  <a:pt x="0" y="0"/>
                </a:moveTo>
                <a:lnTo>
                  <a:pt x="0" y="6755477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422859" y="1983131"/>
            <a:ext cx="448945" cy="213995"/>
          </a:xfrm>
          <a:custGeom>
            <a:avLst/>
            <a:gdLst/>
            <a:ahLst/>
            <a:cxnLst/>
            <a:rect l="l" t="t" r="r" b="b"/>
            <a:pathLst>
              <a:path w="448944" h="213994">
                <a:moveTo>
                  <a:pt x="21537" y="0"/>
                </a:moveTo>
                <a:lnTo>
                  <a:pt x="448641" y="153991"/>
                </a:lnTo>
                <a:lnTo>
                  <a:pt x="427103" y="213727"/>
                </a:lnTo>
                <a:lnTo>
                  <a:pt x="0" y="59735"/>
                </a:lnTo>
                <a:lnTo>
                  <a:pt x="21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422859" y="1843431"/>
            <a:ext cx="448945" cy="213995"/>
          </a:xfrm>
          <a:custGeom>
            <a:avLst/>
            <a:gdLst/>
            <a:ahLst/>
            <a:cxnLst/>
            <a:rect l="l" t="t" r="r" b="b"/>
            <a:pathLst>
              <a:path w="448944" h="213994">
                <a:moveTo>
                  <a:pt x="21537" y="0"/>
                </a:moveTo>
                <a:lnTo>
                  <a:pt x="448641" y="153991"/>
                </a:lnTo>
                <a:lnTo>
                  <a:pt x="427103" y="213727"/>
                </a:lnTo>
                <a:lnTo>
                  <a:pt x="0" y="59735"/>
                </a:lnTo>
                <a:lnTo>
                  <a:pt x="21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647180" y="1424566"/>
            <a:ext cx="0" cy="508634"/>
          </a:xfrm>
          <a:custGeom>
            <a:avLst/>
            <a:gdLst/>
            <a:ahLst/>
            <a:cxnLst/>
            <a:rect l="l" t="t" r="r" b="b"/>
            <a:pathLst>
              <a:path h="508635">
                <a:moveTo>
                  <a:pt x="0" y="0"/>
                </a:moveTo>
                <a:lnTo>
                  <a:pt x="0" y="508136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334620" y="2459184"/>
            <a:ext cx="313690" cy="0"/>
          </a:xfrm>
          <a:custGeom>
            <a:avLst/>
            <a:gdLst/>
            <a:ahLst/>
            <a:cxnLst/>
            <a:rect l="l" t="t" r="r" b="b"/>
            <a:pathLst>
              <a:path w="313689">
                <a:moveTo>
                  <a:pt x="0" y="0"/>
                </a:moveTo>
                <a:lnTo>
                  <a:pt x="31353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361667" y="8668873"/>
            <a:ext cx="313690" cy="0"/>
          </a:xfrm>
          <a:custGeom>
            <a:avLst/>
            <a:gdLst/>
            <a:ahLst/>
            <a:cxnLst/>
            <a:rect l="l" t="t" r="r" b="b"/>
            <a:pathLst>
              <a:path w="313689">
                <a:moveTo>
                  <a:pt x="0" y="0"/>
                </a:moveTo>
                <a:lnTo>
                  <a:pt x="31353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028700" y="-228600"/>
            <a:ext cx="8890635" cy="1282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057400">
              <a:lnSpc>
                <a:spcPct val="145800"/>
              </a:lnSpc>
            </a:pPr>
            <a:r>
              <a:rPr sz="3600" b="1" spc="-30" dirty="0">
                <a:latin typeface="Gill Sans"/>
                <a:cs typeface="Gill Sans"/>
              </a:rPr>
              <a:t>Ak</a:t>
            </a:r>
            <a:r>
              <a:rPr sz="3600" b="1" spc="25" dirty="0">
                <a:latin typeface="Gill Sans"/>
                <a:cs typeface="Gill Sans"/>
              </a:rPr>
              <a:t>a</a:t>
            </a:r>
            <a:r>
              <a:rPr sz="3600" b="1" dirty="0">
                <a:latin typeface="Gill Sans"/>
                <a:cs typeface="Gill Sans"/>
              </a:rPr>
              <a:t>i</a:t>
            </a:r>
            <a:r>
              <a:rPr sz="3600" b="1" spc="-180" dirty="0">
                <a:latin typeface="Gill Sans"/>
                <a:cs typeface="Gill Sans"/>
              </a:rPr>
              <a:t>k</a:t>
            </a:r>
            <a:r>
              <a:rPr sz="3600" b="1" dirty="0">
                <a:latin typeface="Gill Sans"/>
                <a:cs typeface="Gill Sans"/>
              </a:rPr>
              <a:t>e</a:t>
            </a:r>
            <a:r>
              <a:rPr sz="3600" b="1" spc="-5" dirty="0">
                <a:latin typeface="Gill Sans"/>
                <a:cs typeface="Gill Sans"/>
              </a:rPr>
              <a:t> </a:t>
            </a:r>
            <a:r>
              <a:rPr sz="3600" b="1" dirty="0">
                <a:latin typeface="Gill Sans"/>
                <a:cs typeface="Gill Sans"/>
              </a:rPr>
              <a:t>I</a:t>
            </a:r>
            <a:r>
              <a:rPr sz="3600" b="1" spc="-5" dirty="0">
                <a:latin typeface="Gill Sans"/>
                <a:cs typeface="Gill Sans"/>
              </a:rPr>
              <a:t>nfo</a:t>
            </a:r>
            <a:r>
              <a:rPr sz="3600" b="1" dirty="0">
                <a:latin typeface="Gill Sans"/>
                <a:cs typeface="Gill Sans"/>
              </a:rPr>
              <a:t>r</a:t>
            </a:r>
            <a:r>
              <a:rPr sz="3600" b="1" spc="-5" dirty="0">
                <a:latin typeface="Gill Sans"/>
                <a:cs typeface="Gill Sans"/>
              </a:rPr>
              <a:t>m</a:t>
            </a:r>
            <a:r>
              <a:rPr sz="3600" b="1" spc="-25" dirty="0">
                <a:latin typeface="Gill Sans"/>
                <a:cs typeface="Gill Sans"/>
              </a:rPr>
              <a:t>a</a:t>
            </a:r>
            <a:r>
              <a:rPr sz="3600" b="1" spc="-5" dirty="0">
                <a:latin typeface="Gill Sans"/>
                <a:cs typeface="Gill Sans"/>
              </a:rPr>
              <a:t>t</a:t>
            </a:r>
            <a:r>
              <a:rPr sz="3600" b="1" dirty="0">
                <a:latin typeface="Gill Sans"/>
                <a:cs typeface="Gill Sans"/>
              </a:rPr>
              <a:t>i</a:t>
            </a:r>
            <a:r>
              <a:rPr sz="3600" b="1" spc="-5" dirty="0">
                <a:latin typeface="Gill Sans"/>
                <a:cs typeface="Gill Sans"/>
              </a:rPr>
              <a:t>o</a:t>
            </a:r>
            <a:r>
              <a:rPr sz="3600" b="1" dirty="0">
                <a:latin typeface="Gill Sans"/>
                <a:cs typeface="Gill Sans"/>
              </a:rPr>
              <a:t>n</a:t>
            </a:r>
            <a:r>
              <a:rPr sz="3600" b="1" spc="-5" dirty="0">
                <a:latin typeface="Gill Sans"/>
                <a:cs typeface="Gill Sans"/>
              </a:rPr>
              <a:t> </a:t>
            </a:r>
            <a:r>
              <a:rPr sz="3600" b="1" dirty="0">
                <a:latin typeface="Gill Sans"/>
                <a:cs typeface="Gill Sans"/>
              </a:rPr>
              <a:t>C</a:t>
            </a:r>
            <a:r>
              <a:rPr sz="3600" b="1" spc="-155" dirty="0">
                <a:latin typeface="Gill Sans"/>
                <a:cs typeface="Gill Sans"/>
              </a:rPr>
              <a:t>r</a:t>
            </a:r>
            <a:r>
              <a:rPr sz="3600" b="1" dirty="0">
                <a:latin typeface="Gill Sans"/>
                <a:cs typeface="Gill Sans"/>
              </a:rPr>
              <a:t>i</a:t>
            </a:r>
            <a:r>
              <a:rPr sz="3600" b="1" spc="-5" dirty="0">
                <a:latin typeface="Gill Sans"/>
                <a:cs typeface="Gill Sans"/>
              </a:rPr>
              <a:t>t</a:t>
            </a:r>
            <a:r>
              <a:rPr sz="3600" b="1" dirty="0">
                <a:latin typeface="Gill Sans"/>
                <a:cs typeface="Gill Sans"/>
              </a:rPr>
              <a:t>e</a:t>
            </a:r>
            <a:r>
              <a:rPr sz="3600" b="1" spc="-155" dirty="0">
                <a:latin typeface="Gill Sans"/>
                <a:cs typeface="Gill Sans"/>
              </a:rPr>
              <a:t>r</a:t>
            </a:r>
            <a:r>
              <a:rPr sz="3600" b="1" dirty="0">
                <a:latin typeface="Gill Sans"/>
                <a:cs typeface="Gill Sans"/>
              </a:rPr>
              <a:t>i</a:t>
            </a:r>
            <a:r>
              <a:rPr sz="3600" b="1" spc="-5" dirty="0">
                <a:latin typeface="Gill Sans"/>
                <a:cs typeface="Gill Sans"/>
              </a:rPr>
              <a:t>o</a:t>
            </a:r>
            <a:r>
              <a:rPr sz="3600" b="1" dirty="0">
                <a:latin typeface="Gill Sans"/>
                <a:cs typeface="Gill Sans"/>
              </a:rPr>
              <a:t>n “</a:t>
            </a:r>
            <a:r>
              <a:rPr sz="3600" b="1" spc="-105" dirty="0">
                <a:latin typeface="Gill Sans"/>
                <a:cs typeface="Gill Sans"/>
              </a:rPr>
              <a:t>T</a:t>
            </a:r>
            <a:r>
              <a:rPr sz="3600" b="1" spc="-55" dirty="0">
                <a:latin typeface="Gill Sans"/>
                <a:cs typeface="Gill Sans"/>
              </a:rPr>
              <a:t>r</a:t>
            </a:r>
            <a:r>
              <a:rPr sz="3600" b="1" spc="-5" dirty="0">
                <a:latin typeface="Gill Sans"/>
                <a:cs typeface="Gill Sans"/>
              </a:rPr>
              <a:t>u</a:t>
            </a:r>
            <a:r>
              <a:rPr sz="3600" b="1" dirty="0">
                <a:latin typeface="Gill Sans"/>
                <a:cs typeface="Gill Sans"/>
              </a:rPr>
              <a:t>e</a:t>
            </a:r>
            <a:r>
              <a:rPr sz="3600" b="1" spc="-5" dirty="0">
                <a:latin typeface="Gill Sans"/>
                <a:cs typeface="Gill Sans"/>
              </a:rPr>
              <a:t> mo</a:t>
            </a:r>
            <a:r>
              <a:rPr sz="3600" b="1" dirty="0">
                <a:latin typeface="Gill Sans"/>
                <a:cs typeface="Gill Sans"/>
              </a:rPr>
              <a:t>del”</a:t>
            </a:r>
            <a:endParaRPr sz="3600" dirty="0">
              <a:latin typeface="Gill Sans"/>
              <a:cs typeface="Gill San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61568" y="6968445"/>
            <a:ext cx="63500" cy="0"/>
          </a:xfrm>
          <a:custGeom>
            <a:avLst/>
            <a:gdLst/>
            <a:ahLst/>
            <a:cxnLst/>
            <a:rect l="l" t="t" r="r" b="b"/>
            <a:pathLst>
              <a:path w="63500">
                <a:moveTo>
                  <a:pt x="0" y="0"/>
                </a:moveTo>
                <a:lnTo>
                  <a:pt x="63500" y="0"/>
                </a:lnTo>
              </a:path>
            </a:pathLst>
          </a:custGeom>
          <a:ln w="3949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163778" y="7134180"/>
            <a:ext cx="259079" cy="259079"/>
          </a:xfrm>
          <a:custGeom>
            <a:avLst/>
            <a:gdLst/>
            <a:ahLst/>
            <a:cxnLst/>
            <a:rect l="l" t="t" r="r" b="b"/>
            <a:pathLst>
              <a:path w="259080" h="259079">
                <a:moveTo>
                  <a:pt x="259080" y="0"/>
                </a:moveTo>
                <a:lnTo>
                  <a:pt x="0" y="0"/>
                </a:lnTo>
                <a:lnTo>
                  <a:pt x="129540" y="259080"/>
                </a:lnTo>
                <a:lnTo>
                  <a:pt x="2590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057659" y="3726660"/>
            <a:ext cx="406400" cy="301752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dirty="0">
                <a:latin typeface="Gill Sans"/>
                <a:cs typeface="Gill Sans"/>
              </a:rPr>
              <a:t>d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dirty="0">
                <a:latin typeface="Gill Sans"/>
                <a:cs typeface="Gill Sans"/>
              </a:rPr>
              <a:t>stance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dirty="0">
                <a:latin typeface="Gill Sans"/>
                <a:cs typeface="Gill Sans"/>
              </a:rPr>
              <a:t>f</a:t>
            </a:r>
            <a:r>
              <a:rPr sz="3000" spc="-75" dirty="0">
                <a:latin typeface="Gill Sans"/>
                <a:cs typeface="Gill Sans"/>
              </a:rPr>
              <a:t>r</a:t>
            </a:r>
            <a:r>
              <a:rPr sz="3000" dirty="0">
                <a:latin typeface="Gill Sans"/>
                <a:cs typeface="Gill Sans"/>
              </a:rPr>
              <a:t>om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dirty="0">
                <a:latin typeface="Gill Sans"/>
                <a:cs typeface="Gill Sans"/>
              </a:rPr>
              <a:t>truth</a:t>
            </a:r>
            <a:endParaRPr sz="3000">
              <a:latin typeface="Gill Sans"/>
              <a:cs typeface="Gill Sans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47180" y="2089199"/>
            <a:ext cx="0" cy="6755765"/>
          </a:xfrm>
          <a:custGeom>
            <a:avLst/>
            <a:gdLst/>
            <a:ahLst/>
            <a:cxnLst/>
            <a:rect l="l" t="t" r="r" b="b"/>
            <a:pathLst>
              <a:path h="6755765">
                <a:moveTo>
                  <a:pt x="0" y="0"/>
                </a:moveTo>
                <a:lnTo>
                  <a:pt x="0" y="6755477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422859" y="1983131"/>
            <a:ext cx="448945" cy="213995"/>
          </a:xfrm>
          <a:custGeom>
            <a:avLst/>
            <a:gdLst/>
            <a:ahLst/>
            <a:cxnLst/>
            <a:rect l="l" t="t" r="r" b="b"/>
            <a:pathLst>
              <a:path w="448944" h="213994">
                <a:moveTo>
                  <a:pt x="21537" y="0"/>
                </a:moveTo>
                <a:lnTo>
                  <a:pt x="448641" y="153991"/>
                </a:lnTo>
                <a:lnTo>
                  <a:pt x="427103" y="213727"/>
                </a:lnTo>
                <a:lnTo>
                  <a:pt x="0" y="59735"/>
                </a:lnTo>
                <a:lnTo>
                  <a:pt x="21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422859" y="1843431"/>
            <a:ext cx="448945" cy="213995"/>
          </a:xfrm>
          <a:custGeom>
            <a:avLst/>
            <a:gdLst/>
            <a:ahLst/>
            <a:cxnLst/>
            <a:rect l="l" t="t" r="r" b="b"/>
            <a:pathLst>
              <a:path w="448944" h="213994">
                <a:moveTo>
                  <a:pt x="21537" y="0"/>
                </a:moveTo>
                <a:lnTo>
                  <a:pt x="448641" y="153991"/>
                </a:lnTo>
                <a:lnTo>
                  <a:pt x="427103" y="213727"/>
                </a:lnTo>
                <a:lnTo>
                  <a:pt x="0" y="59735"/>
                </a:lnTo>
                <a:lnTo>
                  <a:pt x="21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647180" y="1424566"/>
            <a:ext cx="0" cy="508634"/>
          </a:xfrm>
          <a:custGeom>
            <a:avLst/>
            <a:gdLst/>
            <a:ahLst/>
            <a:cxnLst/>
            <a:rect l="l" t="t" r="r" b="b"/>
            <a:pathLst>
              <a:path h="508635">
                <a:moveTo>
                  <a:pt x="0" y="0"/>
                </a:moveTo>
                <a:lnTo>
                  <a:pt x="0" y="508136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334620" y="2459184"/>
            <a:ext cx="313690" cy="0"/>
          </a:xfrm>
          <a:custGeom>
            <a:avLst/>
            <a:gdLst/>
            <a:ahLst/>
            <a:cxnLst/>
            <a:rect l="l" t="t" r="r" b="b"/>
            <a:pathLst>
              <a:path w="313689">
                <a:moveTo>
                  <a:pt x="0" y="0"/>
                </a:moveTo>
                <a:lnTo>
                  <a:pt x="31353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361667" y="8668873"/>
            <a:ext cx="313690" cy="0"/>
          </a:xfrm>
          <a:custGeom>
            <a:avLst/>
            <a:gdLst/>
            <a:ahLst/>
            <a:cxnLst/>
            <a:rect l="l" t="t" r="r" b="b"/>
            <a:pathLst>
              <a:path w="313689">
                <a:moveTo>
                  <a:pt x="0" y="0"/>
                </a:moveTo>
                <a:lnTo>
                  <a:pt x="31353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44500" y="-152400"/>
            <a:ext cx="9474835" cy="2628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96900" marR="5080" indent="2057400">
              <a:lnSpc>
                <a:spcPct val="145800"/>
              </a:lnSpc>
            </a:pPr>
            <a:r>
              <a:rPr sz="3600" b="1" spc="-30" dirty="0">
                <a:latin typeface="Gill Sans"/>
                <a:cs typeface="Gill Sans"/>
              </a:rPr>
              <a:t>Ak</a:t>
            </a:r>
            <a:r>
              <a:rPr sz="3600" b="1" spc="25" dirty="0">
                <a:latin typeface="Gill Sans"/>
                <a:cs typeface="Gill Sans"/>
              </a:rPr>
              <a:t>a</a:t>
            </a:r>
            <a:r>
              <a:rPr sz="3600" b="1" dirty="0">
                <a:latin typeface="Gill Sans"/>
                <a:cs typeface="Gill Sans"/>
              </a:rPr>
              <a:t>i</a:t>
            </a:r>
            <a:r>
              <a:rPr sz="3600" b="1" spc="-180" dirty="0">
                <a:latin typeface="Gill Sans"/>
                <a:cs typeface="Gill Sans"/>
              </a:rPr>
              <a:t>k</a:t>
            </a:r>
            <a:r>
              <a:rPr sz="3600" b="1" dirty="0">
                <a:latin typeface="Gill Sans"/>
                <a:cs typeface="Gill Sans"/>
              </a:rPr>
              <a:t>e</a:t>
            </a:r>
            <a:r>
              <a:rPr sz="3600" b="1" spc="-5" dirty="0">
                <a:latin typeface="Gill Sans"/>
                <a:cs typeface="Gill Sans"/>
              </a:rPr>
              <a:t> </a:t>
            </a:r>
            <a:r>
              <a:rPr sz="3600" b="1" dirty="0">
                <a:latin typeface="Gill Sans"/>
                <a:cs typeface="Gill Sans"/>
              </a:rPr>
              <a:t>I</a:t>
            </a:r>
            <a:r>
              <a:rPr sz="3600" b="1" spc="-5" dirty="0">
                <a:latin typeface="Gill Sans"/>
                <a:cs typeface="Gill Sans"/>
              </a:rPr>
              <a:t>nfo</a:t>
            </a:r>
            <a:r>
              <a:rPr sz="3600" b="1" dirty="0">
                <a:latin typeface="Gill Sans"/>
                <a:cs typeface="Gill Sans"/>
              </a:rPr>
              <a:t>r</a:t>
            </a:r>
            <a:r>
              <a:rPr sz="3600" b="1" spc="-5" dirty="0">
                <a:latin typeface="Gill Sans"/>
                <a:cs typeface="Gill Sans"/>
              </a:rPr>
              <a:t>m</a:t>
            </a:r>
            <a:r>
              <a:rPr sz="3600" b="1" spc="-25" dirty="0">
                <a:latin typeface="Gill Sans"/>
                <a:cs typeface="Gill Sans"/>
              </a:rPr>
              <a:t>a</a:t>
            </a:r>
            <a:r>
              <a:rPr sz="3600" b="1" spc="-5" dirty="0">
                <a:latin typeface="Gill Sans"/>
                <a:cs typeface="Gill Sans"/>
              </a:rPr>
              <a:t>t</a:t>
            </a:r>
            <a:r>
              <a:rPr sz="3600" b="1" dirty="0">
                <a:latin typeface="Gill Sans"/>
                <a:cs typeface="Gill Sans"/>
              </a:rPr>
              <a:t>i</a:t>
            </a:r>
            <a:r>
              <a:rPr sz="3600" b="1" spc="-5" dirty="0">
                <a:latin typeface="Gill Sans"/>
                <a:cs typeface="Gill Sans"/>
              </a:rPr>
              <a:t>o</a:t>
            </a:r>
            <a:r>
              <a:rPr sz="3600" b="1" dirty="0">
                <a:latin typeface="Gill Sans"/>
                <a:cs typeface="Gill Sans"/>
              </a:rPr>
              <a:t>n</a:t>
            </a:r>
            <a:r>
              <a:rPr sz="3600" b="1" spc="-5" dirty="0">
                <a:latin typeface="Gill Sans"/>
                <a:cs typeface="Gill Sans"/>
              </a:rPr>
              <a:t> </a:t>
            </a:r>
            <a:r>
              <a:rPr sz="3600" b="1" dirty="0">
                <a:latin typeface="Gill Sans"/>
                <a:cs typeface="Gill Sans"/>
              </a:rPr>
              <a:t>C</a:t>
            </a:r>
            <a:r>
              <a:rPr sz="3600" b="1" spc="-155" dirty="0">
                <a:latin typeface="Gill Sans"/>
                <a:cs typeface="Gill Sans"/>
              </a:rPr>
              <a:t>r</a:t>
            </a:r>
            <a:r>
              <a:rPr sz="3600" b="1" dirty="0">
                <a:latin typeface="Gill Sans"/>
                <a:cs typeface="Gill Sans"/>
              </a:rPr>
              <a:t>i</a:t>
            </a:r>
            <a:r>
              <a:rPr sz="3600" b="1" spc="-5" dirty="0">
                <a:latin typeface="Gill Sans"/>
                <a:cs typeface="Gill Sans"/>
              </a:rPr>
              <a:t>t</a:t>
            </a:r>
            <a:r>
              <a:rPr sz="3600" b="1" dirty="0">
                <a:latin typeface="Gill Sans"/>
                <a:cs typeface="Gill Sans"/>
              </a:rPr>
              <a:t>e</a:t>
            </a:r>
            <a:r>
              <a:rPr sz="3600" b="1" spc="-155" dirty="0">
                <a:latin typeface="Gill Sans"/>
                <a:cs typeface="Gill Sans"/>
              </a:rPr>
              <a:t>r</a:t>
            </a:r>
            <a:r>
              <a:rPr sz="3600" b="1" dirty="0">
                <a:latin typeface="Gill Sans"/>
                <a:cs typeface="Gill Sans"/>
              </a:rPr>
              <a:t>i</a:t>
            </a:r>
            <a:r>
              <a:rPr sz="3600" b="1" spc="-5" dirty="0">
                <a:latin typeface="Gill Sans"/>
                <a:cs typeface="Gill Sans"/>
              </a:rPr>
              <a:t>o</a:t>
            </a:r>
            <a:r>
              <a:rPr sz="3600" b="1" dirty="0">
                <a:latin typeface="Gill Sans"/>
                <a:cs typeface="Gill Sans"/>
              </a:rPr>
              <a:t>n “</a:t>
            </a:r>
            <a:r>
              <a:rPr sz="3600" b="1" spc="-105" dirty="0">
                <a:latin typeface="Gill Sans"/>
                <a:cs typeface="Gill Sans"/>
              </a:rPr>
              <a:t>T</a:t>
            </a:r>
            <a:r>
              <a:rPr sz="3600" b="1" spc="-55" dirty="0">
                <a:latin typeface="Gill Sans"/>
                <a:cs typeface="Gill Sans"/>
              </a:rPr>
              <a:t>r</a:t>
            </a:r>
            <a:r>
              <a:rPr sz="3600" b="1" spc="-5" dirty="0">
                <a:latin typeface="Gill Sans"/>
                <a:cs typeface="Gill Sans"/>
              </a:rPr>
              <a:t>u</a:t>
            </a:r>
            <a:r>
              <a:rPr sz="3600" b="1" dirty="0">
                <a:latin typeface="Gill Sans"/>
                <a:cs typeface="Gill Sans"/>
              </a:rPr>
              <a:t>e</a:t>
            </a:r>
            <a:r>
              <a:rPr sz="3600" b="1" spc="-5" dirty="0">
                <a:latin typeface="Gill Sans"/>
                <a:cs typeface="Gill Sans"/>
              </a:rPr>
              <a:t> mo</a:t>
            </a:r>
            <a:r>
              <a:rPr sz="3600" b="1" dirty="0">
                <a:latin typeface="Gill Sans"/>
                <a:cs typeface="Gill Sans"/>
              </a:rPr>
              <a:t>del”</a:t>
            </a:r>
            <a:endParaRPr sz="3600" dirty="0">
              <a:latin typeface="Gill Sans"/>
              <a:cs typeface="Gill Sans"/>
            </a:endParaRPr>
          </a:p>
          <a:p>
            <a:pPr>
              <a:lnSpc>
                <a:spcPct val="100000"/>
              </a:lnSpc>
            </a:pPr>
            <a:endParaRPr sz="3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40"/>
              </a:spcBef>
            </a:pPr>
            <a:r>
              <a:rPr sz="3600" dirty="0">
                <a:latin typeface="Gill Sans"/>
                <a:cs typeface="Gill Sans"/>
              </a:rPr>
              <a:t>Better</a:t>
            </a:r>
            <a:r>
              <a:rPr sz="3600" spc="-5" dirty="0">
                <a:latin typeface="Gill Sans"/>
                <a:cs typeface="Gill Sans"/>
              </a:rPr>
              <a:t> </a:t>
            </a:r>
            <a:r>
              <a:rPr sz="3600" spc="25" dirty="0">
                <a:latin typeface="Gill Sans"/>
                <a:cs typeface="Gill Sans"/>
              </a:rPr>
              <a:t>fit</a:t>
            </a:r>
            <a:endParaRPr sz="3600" dirty="0">
              <a:latin typeface="Gill Sans"/>
              <a:cs typeface="Gill San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61568" y="6968445"/>
            <a:ext cx="63500" cy="0"/>
          </a:xfrm>
          <a:custGeom>
            <a:avLst/>
            <a:gdLst/>
            <a:ahLst/>
            <a:cxnLst/>
            <a:rect l="l" t="t" r="r" b="b"/>
            <a:pathLst>
              <a:path w="63500">
                <a:moveTo>
                  <a:pt x="0" y="0"/>
                </a:moveTo>
                <a:lnTo>
                  <a:pt x="63500" y="0"/>
                </a:lnTo>
              </a:path>
            </a:pathLst>
          </a:custGeom>
          <a:ln w="3949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163778" y="7134180"/>
            <a:ext cx="259079" cy="259079"/>
          </a:xfrm>
          <a:custGeom>
            <a:avLst/>
            <a:gdLst/>
            <a:ahLst/>
            <a:cxnLst/>
            <a:rect l="l" t="t" r="r" b="b"/>
            <a:pathLst>
              <a:path w="259080" h="259079">
                <a:moveTo>
                  <a:pt x="259080" y="0"/>
                </a:moveTo>
                <a:lnTo>
                  <a:pt x="0" y="0"/>
                </a:lnTo>
                <a:lnTo>
                  <a:pt x="129540" y="259080"/>
                </a:lnTo>
                <a:lnTo>
                  <a:pt x="2590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057659" y="3726660"/>
            <a:ext cx="406400" cy="301752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dirty="0">
                <a:latin typeface="Gill Sans"/>
                <a:cs typeface="Gill Sans"/>
              </a:rPr>
              <a:t>d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dirty="0">
                <a:latin typeface="Gill Sans"/>
                <a:cs typeface="Gill Sans"/>
              </a:rPr>
              <a:t>stance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dirty="0">
                <a:latin typeface="Gill Sans"/>
                <a:cs typeface="Gill Sans"/>
              </a:rPr>
              <a:t>f</a:t>
            </a:r>
            <a:r>
              <a:rPr sz="3000" spc="-75" dirty="0">
                <a:latin typeface="Gill Sans"/>
                <a:cs typeface="Gill Sans"/>
              </a:rPr>
              <a:t>r</a:t>
            </a:r>
            <a:r>
              <a:rPr sz="3000" dirty="0">
                <a:latin typeface="Gill Sans"/>
                <a:cs typeface="Gill Sans"/>
              </a:rPr>
              <a:t>om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dirty="0">
                <a:latin typeface="Gill Sans"/>
                <a:cs typeface="Gill Sans"/>
              </a:rPr>
              <a:t>truth</a:t>
            </a:r>
            <a:endParaRPr sz="3000">
              <a:latin typeface="Gill Sans"/>
              <a:cs typeface="Gill Sans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47180" y="2089199"/>
            <a:ext cx="0" cy="6755765"/>
          </a:xfrm>
          <a:custGeom>
            <a:avLst/>
            <a:gdLst/>
            <a:ahLst/>
            <a:cxnLst/>
            <a:rect l="l" t="t" r="r" b="b"/>
            <a:pathLst>
              <a:path h="6755765">
                <a:moveTo>
                  <a:pt x="0" y="0"/>
                </a:moveTo>
                <a:lnTo>
                  <a:pt x="0" y="6755477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422859" y="1983131"/>
            <a:ext cx="448945" cy="213995"/>
          </a:xfrm>
          <a:custGeom>
            <a:avLst/>
            <a:gdLst/>
            <a:ahLst/>
            <a:cxnLst/>
            <a:rect l="l" t="t" r="r" b="b"/>
            <a:pathLst>
              <a:path w="448944" h="213994">
                <a:moveTo>
                  <a:pt x="21537" y="0"/>
                </a:moveTo>
                <a:lnTo>
                  <a:pt x="448641" y="153991"/>
                </a:lnTo>
                <a:lnTo>
                  <a:pt x="427103" y="213727"/>
                </a:lnTo>
                <a:lnTo>
                  <a:pt x="0" y="59735"/>
                </a:lnTo>
                <a:lnTo>
                  <a:pt x="21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422859" y="1843431"/>
            <a:ext cx="448945" cy="213995"/>
          </a:xfrm>
          <a:custGeom>
            <a:avLst/>
            <a:gdLst/>
            <a:ahLst/>
            <a:cxnLst/>
            <a:rect l="l" t="t" r="r" b="b"/>
            <a:pathLst>
              <a:path w="448944" h="213994">
                <a:moveTo>
                  <a:pt x="21537" y="0"/>
                </a:moveTo>
                <a:lnTo>
                  <a:pt x="448641" y="153991"/>
                </a:lnTo>
                <a:lnTo>
                  <a:pt x="427103" y="213727"/>
                </a:lnTo>
                <a:lnTo>
                  <a:pt x="0" y="59735"/>
                </a:lnTo>
                <a:lnTo>
                  <a:pt x="21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647180" y="1424566"/>
            <a:ext cx="0" cy="508634"/>
          </a:xfrm>
          <a:custGeom>
            <a:avLst/>
            <a:gdLst/>
            <a:ahLst/>
            <a:cxnLst/>
            <a:rect l="l" t="t" r="r" b="b"/>
            <a:pathLst>
              <a:path h="508635">
                <a:moveTo>
                  <a:pt x="0" y="0"/>
                </a:moveTo>
                <a:lnTo>
                  <a:pt x="0" y="508136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334620" y="2459184"/>
            <a:ext cx="313690" cy="0"/>
          </a:xfrm>
          <a:custGeom>
            <a:avLst/>
            <a:gdLst/>
            <a:ahLst/>
            <a:cxnLst/>
            <a:rect l="l" t="t" r="r" b="b"/>
            <a:pathLst>
              <a:path w="313689">
                <a:moveTo>
                  <a:pt x="0" y="0"/>
                </a:moveTo>
                <a:lnTo>
                  <a:pt x="31353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361667" y="8668873"/>
            <a:ext cx="313690" cy="0"/>
          </a:xfrm>
          <a:custGeom>
            <a:avLst/>
            <a:gdLst/>
            <a:ahLst/>
            <a:cxnLst/>
            <a:rect l="l" t="t" r="r" b="b"/>
            <a:pathLst>
              <a:path w="313689">
                <a:moveTo>
                  <a:pt x="0" y="0"/>
                </a:moveTo>
                <a:lnTo>
                  <a:pt x="31353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44500" y="-113665"/>
            <a:ext cx="9474835" cy="2628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96900" marR="5080" indent="2057400">
              <a:lnSpc>
                <a:spcPct val="145800"/>
              </a:lnSpc>
            </a:pPr>
            <a:r>
              <a:rPr sz="3600" b="1" spc="-30" dirty="0">
                <a:latin typeface="Gill Sans"/>
                <a:cs typeface="Gill Sans"/>
              </a:rPr>
              <a:t>Ak</a:t>
            </a:r>
            <a:r>
              <a:rPr sz="3600" b="1" spc="25" dirty="0">
                <a:latin typeface="Gill Sans"/>
                <a:cs typeface="Gill Sans"/>
              </a:rPr>
              <a:t>a</a:t>
            </a:r>
            <a:r>
              <a:rPr sz="3600" b="1" dirty="0">
                <a:latin typeface="Gill Sans"/>
                <a:cs typeface="Gill Sans"/>
              </a:rPr>
              <a:t>i</a:t>
            </a:r>
            <a:r>
              <a:rPr sz="3600" b="1" spc="-180" dirty="0">
                <a:latin typeface="Gill Sans"/>
                <a:cs typeface="Gill Sans"/>
              </a:rPr>
              <a:t>k</a:t>
            </a:r>
            <a:r>
              <a:rPr sz="3600" b="1" dirty="0">
                <a:latin typeface="Gill Sans"/>
                <a:cs typeface="Gill Sans"/>
              </a:rPr>
              <a:t>e</a:t>
            </a:r>
            <a:r>
              <a:rPr sz="3600" b="1" spc="-5" dirty="0">
                <a:latin typeface="Gill Sans"/>
                <a:cs typeface="Gill Sans"/>
              </a:rPr>
              <a:t> </a:t>
            </a:r>
            <a:r>
              <a:rPr sz="3600" b="1" dirty="0">
                <a:latin typeface="Gill Sans"/>
                <a:cs typeface="Gill Sans"/>
              </a:rPr>
              <a:t>I</a:t>
            </a:r>
            <a:r>
              <a:rPr sz="3600" b="1" spc="-5" dirty="0">
                <a:latin typeface="Gill Sans"/>
                <a:cs typeface="Gill Sans"/>
              </a:rPr>
              <a:t>nfo</a:t>
            </a:r>
            <a:r>
              <a:rPr sz="3600" b="1" dirty="0">
                <a:latin typeface="Gill Sans"/>
                <a:cs typeface="Gill Sans"/>
              </a:rPr>
              <a:t>r</a:t>
            </a:r>
            <a:r>
              <a:rPr sz="3600" b="1" spc="-5" dirty="0">
                <a:latin typeface="Gill Sans"/>
                <a:cs typeface="Gill Sans"/>
              </a:rPr>
              <a:t>m</a:t>
            </a:r>
            <a:r>
              <a:rPr sz="3600" b="1" spc="-25" dirty="0">
                <a:latin typeface="Gill Sans"/>
                <a:cs typeface="Gill Sans"/>
              </a:rPr>
              <a:t>a</a:t>
            </a:r>
            <a:r>
              <a:rPr sz="3600" b="1" spc="-5" dirty="0">
                <a:latin typeface="Gill Sans"/>
                <a:cs typeface="Gill Sans"/>
              </a:rPr>
              <a:t>t</a:t>
            </a:r>
            <a:r>
              <a:rPr sz="3600" b="1" dirty="0">
                <a:latin typeface="Gill Sans"/>
                <a:cs typeface="Gill Sans"/>
              </a:rPr>
              <a:t>i</a:t>
            </a:r>
            <a:r>
              <a:rPr sz="3600" b="1" spc="-5" dirty="0">
                <a:latin typeface="Gill Sans"/>
                <a:cs typeface="Gill Sans"/>
              </a:rPr>
              <a:t>o</a:t>
            </a:r>
            <a:r>
              <a:rPr sz="3600" b="1" dirty="0">
                <a:latin typeface="Gill Sans"/>
                <a:cs typeface="Gill Sans"/>
              </a:rPr>
              <a:t>n</a:t>
            </a:r>
            <a:r>
              <a:rPr sz="3600" b="1" spc="-5" dirty="0">
                <a:latin typeface="Gill Sans"/>
                <a:cs typeface="Gill Sans"/>
              </a:rPr>
              <a:t> </a:t>
            </a:r>
            <a:r>
              <a:rPr sz="3600" b="1" dirty="0">
                <a:latin typeface="Gill Sans"/>
                <a:cs typeface="Gill Sans"/>
              </a:rPr>
              <a:t>C</a:t>
            </a:r>
            <a:r>
              <a:rPr sz="3600" b="1" spc="-155" dirty="0">
                <a:latin typeface="Gill Sans"/>
                <a:cs typeface="Gill Sans"/>
              </a:rPr>
              <a:t>r</a:t>
            </a:r>
            <a:r>
              <a:rPr sz="3600" b="1" dirty="0">
                <a:latin typeface="Gill Sans"/>
                <a:cs typeface="Gill Sans"/>
              </a:rPr>
              <a:t>i</a:t>
            </a:r>
            <a:r>
              <a:rPr sz="3600" b="1" spc="-5" dirty="0">
                <a:latin typeface="Gill Sans"/>
                <a:cs typeface="Gill Sans"/>
              </a:rPr>
              <a:t>t</a:t>
            </a:r>
            <a:r>
              <a:rPr sz="3600" b="1" dirty="0">
                <a:latin typeface="Gill Sans"/>
                <a:cs typeface="Gill Sans"/>
              </a:rPr>
              <a:t>e</a:t>
            </a:r>
            <a:r>
              <a:rPr sz="3600" b="1" spc="-155" dirty="0">
                <a:latin typeface="Gill Sans"/>
                <a:cs typeface="Gill Sans"/>
              </a:rPr>
              <a:t>r</a:t>
            </a:r>
            <a:r>
              <a:rPr sz="3600" b="1" dirty="0">
                <a:latin typeface="Gill Sans"/>
                <a:cs typeface="Gill Sans"/>
              </a:rPr>
              <a:t>i</a:t>
            </a:r>
            <a:r>
              <a:rPr sz="3600" b="1" spc="-5" dirty="0">
                <a:latin typeface="Gill Sans"/>
                <a:cs typeface="Gill Sans"/>
              </a:rPr>
              <a:t>o</a:t>
            </a:r>
            <a:r>
              <a:rPr sz="3600" b="1" dirty="0">
                <a:latin typeface="Gill Sans"/>
                <a:cs typeface="Gill Sans"/>
              </a:rPr>
              <a:t>n “</a:t>
            </a:r>
            <a:r>
              <a:rPr sz="3600" b="1" spc="-105" dirty="0">
                <a:latin typeface="Gill Sans"/>
                <a:cs typeface="Gill Sans"/>
              </a:rPr>
              <a:t>T</a:t>
            </a:r>
            <a:r>
              <a:rPr sz="3600" b="1" spc="-55" dirty="0">
                <a:latin typeface="Gill Sans"/>
                <a:cs typeface="Gill Sans"/>
              </a:rPr>
              <a:t>r</a:t>
            </a:r>
            <a:r>
              <a:rPr sz="3600" b="1" spc="-5" dirty="0">
                <a:latin typeface="Gill Sans"/>
                <a:cs typeface="Gill Sans"/>
              </a:rPr>
              <a:t>u</a:t>
            </a:r>
            <a:r>
              <a:rPr sz="3600" b="1" dirty="0">
                <a:latin typeface="Gill Sans"/>
                <a:cs typeface="Gill Sans"/>
              </a:rPr>
              <a:t>e</a:t>
            </a:r>
            <a:r>
              <a:rPr sz="3600" b="1" spc="-5" dirty="0">
                <a:latin typeface="Gill Sans"/>
                <a:cs typeface="Gill Sans"/>
              </a:rPr>
              <a:t> mo</a:t>
            </a:r>
            <a:r>
              <a:rPr sz="3600" b="1" dirty="0">
                <a:latin typeface="Gill Sans"/>
                <a:cs typeface="Gill Sans"/>
              </a:rPr>
              <a:t>del”</a:t>
            </a:r>
            <a:endParaRPr sz="3600" dirty="0">
              <a:latin typeface="Gill Sans"/>
              <a:cs typeface="Gill Sans"/>
            </a:endParaRPr>
          </a:p>
          <a:p>
            <a:pPr>
              <a:lnSpc>
                <a:spcPct val="100000"/>
              </a:lnSpc>
            </a:pPr>
            <a:endParaRPr sz="3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40"/>
              </a:spcBef>
            </a:pPr>
            <a:r>
              <a:rPr sz="3600" dirty="0">
                <a:latin typeface="Gill Sans"/>
                <a:cs typeface="Gill Sans"/>
              </a:rPr>
              <a:t>Better</a:t>
            </a:r>
            <a:r>
              <a:rPr sz="3600" spc="-5" dirty="0">
                <a:latin typeface="Gill Sans"/>
                <a:cs typeface="Gill Sans"/>
              </a:rPr>
              <a:t> </a:t>
            </a:r>
            <a:r>
              <a:rPr sz="3600" spc="25" dirty="0">
                <a:latin typeface="Gill Sans"/>
                <a:cs typeface="Gill Sans"/>
              </a:rPr>
              <a:t>fit</a:t>
            </a:r>
            <a:endParaRPr sz="3600" dirty="0">
              <a:latin typeface="Gill Sans"/>
              <a:cs typeface="Gill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8000" y="8422950"/>
            <a:ext cx="1797050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365" dirty="0">
                <a:latin typeface="Gill Sans"/>
                <a:cs typeface="Gill Sans"/>
              </a:rPr>
              <a:t>W</a:t>
            </a:r>
            <a:r>
              <a:rPr sz="3600" spc="-20" dirty="0">
                <a:latin typeface="Gill Sans"/>
                <a:cs typeface="Gill Sans"/>
              </a:rPr>
              <a:t>ors</a:t>
            </a:r>
            <a:r>
              <a:rPr sz="3600" dirty="0">
                <a:latin typeface="Gill Sans"/>
                <a:cs typeface="Gill Sans"/>
              </a:rPr>
              <a:t>e</a:t>
            </a:r>
            <a:r>
              <a:rPr sz="3600" spc="-5" dirty="0">
                <a:latin typeface="Gill Sans"/>
                <a:cs typeface="Gill Sans"/>
              </a:rPr>
              <a:t> </a:t>
            </a:r>
            <a:r>
              <a:rPr sz="3600" spc="25" dirty="0">
                <a:latin typeface="Gill Sans"/>
                <a:cs typeface="Gill Sans"/>
              </a:rPr>
              <a:t>fit</a:t>
            </a:r>
            <a:endParaRPr sz="3600">
              <a:latin typeface="Gill Sans"/>
              <a:cs typeface="Gill San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261568" y="6968445"/>
            <a:ext cx="63500" cy="0"/>
          </a:xfrm>
          <a:custGeom>
            <a:avLst/>
            <a:gdLst/>
            <a:ahLst/>
            <a:cxnLst/>
            <a:rect l="l" t="t" r="r" b="b"/>
            <a:pathLst>
              <a:path w="63500">
                <a:moveTo>
                  <a:pt x="0" y="0"/>
                </a:moveTo>
                <a:lnTo>
                  <a:pt x="63500" y="0"/>
                </a:lnTo>
              </a:path>
            </a:pathLst>
          </a:custGeom>
          <a:ln w="3949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163778" y="7134180"/>
            <a:ext cx="259079" cy="259079"/>
          </a:xfrm>
          <a:custGeom>
            <a:avLst/>
            <a:gdLst/>
            <a:ahLst/>
            <a:cxnLst/>
            <a:rect l="l" t="t" r="r" b="b"/>
            <a:pathLst>
              <a:path w="259080" h="259079">
                <a:moveTo>
                  <a:pt x="259080" y="0"/>
                </a:moveTo>
                <a:lnTo>
                  <a:pt x="0" y="0"/>
                </a:lnTo>
                <a:lnTo>
                  <a:pt x="129540" y="259080"/>
                </a:lnTo>
                <a:lnTo>
                  <a:pt x="2590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057659" y="3726660"/>
            <a:ext cx="406400" cy="301752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dirty="0">
                <a:latin typeface="Gill Sans"/>
                <a:cs typeface="Gill Sans"/>
              </a:rPr>
              <a:t>d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dirty="0">
                <a:latin typeface="Gill Sans"/>
                <a:cs typeface="Gill Sans"/>
              </a:rPr>
              <a:t>stance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dirty="0">
                <a:latin typeface="Gill Sans"/>
                <a:cs typeface="Gill Sans"/>
              </a:rPr>
              <a:t>f</a:t>
            </a:r>
            <a:r>
              <a:rPr sz="3000" spc="-75" dirty="0">
                <a:latin typeface="Gill Sans"/>
                <a:cs typeface="Gill Sans"/>
              </a:rPr>
              <a:t>r</a:t>
            </a:r>
            <a:r>
              <a:rPr sz="3000" dirty="0">
                <a:latin typeface="Gill Sans"/>
                <a:cs typeface="Gill Sans"/>
              </a:rPr>
              <a:t>om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dirty="0">
                <a:latin typeface="Gill Sans"/>
                <a:cs typeface="Gill Sans"/>
              </a:rPr>
              <a:t>truth</a:t>
            </a:r>
            <a:endParaRPr sz="3000">
              <a:latin typeface="Gill Sans"/>
              <a:cs typeface="Gill Sans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47180" y="2089199"/>
            <a:ext cx="0" cy="6755765"/>
          </a:xfrm>
          <a:custGeom>
            <a:avLst/>
            <a:gdLst/>
            <a:ahLst/>
            <a:cxnLst/>
            <a:rect l="l" t="t" r="r" b="b"/>
            <a:pathLst>
              <a:path h="6755765">
                <a:moveTo>
                  <a:pt x="0" y="0"/>
                </a:moveTo>
                <a:lnTo>
                  <a:pt x="0" y="6755477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422859" y="1983131"/>
            <a:ext cx="448945" cy="213995"/>
          </a:xfrm>
          <a:custGeom>
            <a:avLst/>
            <a:gdLst/>
            <a:ahLst/>
            <a:cxnLst/>
            <a:rect l="l" t="t" r="r" b="b"/>
            <a:pathLst>
              <a:path w="448944" h="213994">
                <a:moveTo>
                  <a:pt x="21537" y="0"/>
                </a:moveTo>
                <a:lnTo>
                  <a:pt x="448641" y="153991"/>
                </a:lnTo>
                <a:lnTo>
                  <a:pt x="427103" y="213727"/>
                </a:lnTo>
                <a:lnTo>
                  <a:pt x="0" y="59735"/>
                </a:lnTo>
                <a:lnTo>
                  <a:pt x="21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422859" y="1843431"/>
            <a:ext cx="448945" cy="213995"/>
          </a:xfrm>
          <a:custGeom>
            <a:avLst/>
            <a:gdLst/>
            <a:ahLst/>
            <a:cxnLst/>
            <a:rect l="l" t="t" r="r" b="b"/>
            <a:pathLst>
              <a:path w="448944" h="213994">
                <a:moveTo>
                  <a:pt x="21537" y="0"/>
                </a:moveTo>
                <a:lnTo>
                  <a:pt x="448641" y="153991"/>
                </a:lnTo>
                <a:lnTo>
                  <a:pt x="427103" y="213727"/>
                </a:lnTo>
                <a:lnTo>
                  <a:pt x="0" y="59735"/>
                </a:lnTo>
                <a:lnTo>
                  <a:pt x="21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647180" y="1424566"/>
            <a:ext cx="0" cy="508634"/>
          </a:xfrm>
          <a:custGeom>
            <a:avLst/>
            <a:gdLst/>
            <a:ahLst/>
            <a:cxnLst/>
            <a:rect l="l" t="t" r="r" b="b"/>
            <a:pathLst>
              <a:path h="508635">
                <a:moveTo>
                  <a:pt x="0" y="0"/>
                </a:moveTo>
                <a:lnTo>
                  <a:pt x="0" y="508136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44500" y="905551"/>
            <a:ext cx="3829050" cy="1815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indent="584200">
              <a:lnSpc>
                <a:spcPct val="100000"/>
              </a:lnSpc>
            </a:pPr>
            <a:r>
              <a:rPr sz="3600" b="1" dirty="0">
                <a:latin typeface="Gill Sans"/>
                <a:cs typeface="Gill Sans"/>
              </a:rPr>
              <a:t>“</a:t>
            </a:r>
            <a:r>
              <a:rPr sz="3600" b="1" spc="-105" dirty="0">
                <a:latin typeface="Gill Sans"/>
                <a:cs typeface="Gill Sans"/>
              </a:rPr>
              <a:t>T</a:t>
            </a:r>
            <a:r>
              <a:rPr sz="3600" b="1" spc="-55" dirty="0">
                <a:latin typeface="Gill Sans"/>
                <a:cs typeface="Gill Sans"/>
              </a:rPr>
              <a:t>r</a:t>
            </a:r>
            <a:r>
              <a:rPr sz="3600" b="1" spc="-5" dirty="0">
                <a:latin typeface="Gill Sans"/>
                <a:cs typeface="Gill Sans"/>
              </a:rPr>
              <a:t>u</a:t>
            </a:r>
            <a:r>
              <a:rPr sz="3600" b="1" dirty="0">
                <a:latin typeface="Gill Sans"/>
                <a:cs typeface="Gill Sans"/>
              </a:rPr>
              <a:t>e</a:t>
            </a:r>
            <a:r>
              <a:rPr sz="3600" b="1" spc="-5" dirty="0">
                <a:latin typeface="Gill Sans"/>
                <a:cs typeface="Gill Sans"/>
              </a:rPr>
              <a:t> mo</a:t>
            </a:r>
            <a:r>
              <a:rPr sz="3600" b="1" dirty="0">
                <a:latin typeface="Gill Sans"/>
                <a:cs typeface="Gill Sans"/>
              </a:rPr>
              <a:t>del”</a:t>
            </a:r>
            <a:endParaRPr sz="3600">
              <a:latin typeface="Gill Sans"/>
              <a:cs typeface="Gill Sans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40"/>
              </a:spcBef>
            </a:pPr>
            <a:r>
              <a:rPr sz="3600" dirty="0">
                <a:latin typeface="Gill Sans"/>
                <a:cs typeface="Gill Sans"/>
              </a:rPr>
              <a:t>Better</a:t>
            </a:r>
            <a:r>
              <a:rPr sz="3600" spc="-5" dirty="0">
                <a:latin typeface="Gill Sans"/>
                <a:cs typeface="Gill Sans"/>
              </a:rPr>
              <a:t> </a:t>
            </a:r>
            <a:r>
              <a:rPr sz="3600" spc="25" dirty="0">
                <a:latin typeface="Gill Sans"/>
                <a:cs typeface="Gill Sans"/>
              </a:rPr>
              <a:t>fit</a:t>
            </a:r>
            <a:endParaRPr sz="3600">
              <a:latin typeface="Gill Sans"/>
              <a:cs typeface="Gill San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34620" y="2459184"/>
            <a:ext cx="313690" cy="0"/>
          </a:xfrm>
          <a:custGeom>
            <a:avLst/>
            <a:gdLst/>
            <a:ahLst/>
            <a:cxnLst/>
            <a:rect l="l" t="t" r="r" b="b"/>
            <a:pathLst>
              <a:path w="313689">
                <a:moveTo>
                  <a:pt x="0" y="0"/>
                </a:moveTo>
                <a:lnTo>
                  <a:pt x="31353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361667" y="8668873"/>
            <a:ext cx="313690" cy="0"/>
          </a:xfrm>
          <a:custGeom>
            <a:avLst/>
            <a:gdLst/>
            <a:ahLst/>
            <a:cxnLst/>
            <a:rect l="l" t="t" r="r" b="b"/>
            <a:pathLst>
              <a:path w="313689">
                <a:moveTo>
                  <a:pt x="0" y="0"/>
                </a:moveTo>
                <a:lnTo>
                  <a:pt x="31353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521" rIns="0" bIns="0" rtlCol="0">
            <a:spAutoFit/>
          </a:bodyPr>
          <a:lstStyle/>
          <a:p>
            <a:pPr marL="1711325">
              <a:lnSpc>
                <a:spcPct val="100000"/>
              </a:lnSpc>
            </a:pPr>
            <a:r>
              <a:rPr sz="3600" spc="-30" dirty="0">
                <a:latin typeface="Gill Sans"/>
                <a:cs typeface="Gill Sans"/>
              </a:rPr>
              <a:t>Ak</a:t>
            </a:r>
            <a:r>
              <a:rPr sz="3600" spc="25" dirty="0">
                <a:latin typeface="Gill Sans"/>
                <a:cs typeface="Gill Sans"/>
              </a:rPr>
              <a:t>a</a:t>
            </a:r>
            <a:r>
              <a:rPr sz="3600" dirty="0">
                <a:latin typeface="Gill Sans"/>
                <a:cs typeface="Gill Sans"/>
              </a:rPr>
              <a:t>i</a:t>
            </a:r>
            <a:r>
              <a:rPr sz="3600" spc="-180" dirty="0">
                <a:latin typeface="Gill Sans"/>
                <a:cs typeface="Gill Sans"/>
              </a:rPr>
              <a:t>k</a:t>
            </a:r>
            <a:r>
              <a:rPr sz="3600" dirty="0">
                <a:latin typeface="Gill Sans"/>
                <a:cs typeface="Gill Sans"/>
              </a:rPr>
              <a:t>e</a:t>
            </a:r>
            <a:r>
              <a:rPr sz="3600" spc="-5" dirty="0">
                <a:latin typeface="Gill Sans"/>
                <a:cs typeface="Gill Sans"/>
              </a:rPr>
              <a:t> </a:t>
            </a:r>
            <a:r>
              <a:rPr sz="3600" dirty="0">
                <a:latin typeface="Gill Sans"/>
                <a:cs typeface="Gill Sans"/>
              </a:rPr>
              <a:t>I</a:t>
            </a:r>
            <a:r>
              <a:rPr sz="3600" spc="-5" dirty="0">
                <a:latin typeface="Gill Sans"/>
                <a:cs typeface="Gill Sans"/>
              </a:rPr>
              <a:t>nfo</a:t>
            </a:r>
            <a:r>
              <a:rPr sz="3600" dirty="0">
                <a:latin typeface="Gill Sans"/>
                <a:cs typeface="Gill Sans"/>
              </a:rPr>
              <a:t>r</a:t>
            </a:r>
            <a:r>
              <a:rPr sz="3600" spc="-5" dirty="0">
                <a:latin typeface="Gill Sans"/>
                <a:cs typeface="Gill Sans"/>
              </a:rPr>
              <a:t>m</a:t>
            </a:r>
            <a:r>
              <a:rPr sz="3600" spc="-25" dirty="0">
                <a:latin typeface="Gill Sans"/>
                <a:cs typeface="Gill Sans"/>
              </a:rPr>
              <a:t>a</a:t>
            </a:r>
            <a:r>
              <a:rPr sz="3600" spc="-5" dirty="0">
                <a:latin typeface="Gill Sans"/>
                <a:cs typeface="Gill Sans"/>
              </a:rPr>
              <a:t>t</a:t>
            </a:r>
            <a:r>
              <a:rPr sz="3600" dirty="0">
                <a:latin typeface="Gill Sans"/>
                <a:cs typeface="Gill Sans"/>
              </a:rPr>
              <a:t>i</a:t>
            </a:r>
            <a:r>
              <a:rPr sz="3600" spc="-5" dirty="0">
                <a:latin typeface="Gill Sans"/>
                <a:cs typeface="Gill Sans"/>
              </a:rPr>
              <a:t>o</a:t>
            </a:r>
            <a:r>
              <a:rPr sz="3600" dirty="0">
                <a:latin typeface="Gill Sans"/>
                <a:cs typeface="Gill Sans"/>
              </a:rPr>
              <a:t>n</a:t>
            </a:r>
            <a:r>
              <a:rPr sz="3600" spc="-5" dirty="0">
                <a:latin typeface="Gill Sans"/>
                <a:cs typeface="Gill Sans"/>
              </a:rPr>
              <a:t> </a:t>
            </a:r>
            <a:r>
              <a:rPr sz="3600" dirty="0">
                <a:latin typeface="Gill Sans"/>
                <a:cs typeface="Gill Sans"/>
              </a:rPr>
              <a:t>C</a:t>
            </a:r>
            <a:r>
              <a:rPr sz="3600" spc="-155" dirty="0">
                <a:latin typeface="Gill Sans"/>
                <a:cs typeface="Gill Sans"/>
              </a:rPr>
              <a:t>r</a:t>
            </a:r>
            <a:r>
              <a:rPr sz="3600" dirty="0">
                <a:latin typeface="Gill Sans"/>
                <a:cs typeface="Gill Sans"/>
              </a:rPr>
              <a:t>i</a:t>
            </a:r>
            <a:r>
              <a:rPr sz="3600" spc="-5" dirty="0">
                <a:latin typeface="Gill Sans"/>
                <a:cs typeface="Gill Sans"/>
              </a:rPr>
              <a:t>t</a:t>
            </a:r>
            <a:r>
              <a:rPr sz="3600" dirty="0">
                <a:latin typeface="Gill Sans"/>
                <a:cs typeface="Gill Sans"/>
              </a:rPr>
              <a:t>e</a:t>
            </a:r>
            <a:r>
              <a:rPr sz="3600" spc="-155" dirty="0">
                <a:latin typeface="Gill Sans"/>
                <a:cs typeface="Gill Sans"/>
              </a:rPr>
              <a:t>r</a:t>
            </a:r>
            <a:r>
              <a:rPr sz="3600" dirty="0">
                <a:latin typeface="Gill Sans"/>
                <a:cs typeface="Gill Sans"/>
              </a:rPr>
              <a:t>i</a:t>
            </a:r>
            <a:r>
              <a:rPr sz="3600" spc="-5" dirty="0">
                <a:latin typeface="Gill Sans"/>
                <a:cs typeface="Gill Sans"/>
              </a:rPr>
              <a:t>o</a:t>
            </a:r>
            <a:r>
              <a:rPr sz="3600" dirty="0">
                <a:latin typeface="Gill Sans"/>
                <a:cs typeface="Gill Sans"/>
              </a:rPr>
              <a:t>n</a:t>
            </a:r>
            <a:endParaRPr sz="3600">
              <a:latin typeface="Gill Sans"/>
              <a:cs typeface="Gill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8000" y="8422950"/>
            <a:ext cx="1797050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365" dirty="0">
                <a:latin typeface="Gill Sans"/>
                <a:cs typeface="Gill Sans"/>
              </a:rPr>
              <a:t>W</a:t>
            </a:r>
            <a:r>
              <a:rPr sz="3600" spc="-20" dirty="0">
                <a:latin typeface="Gill Sans"/>
                <a:cs typeface="Gill Sans"/>
              </a:rPr>
              <a:t>ors</a:t>
            </a:r>
            <a:r>
              <a:rPr sz="3600" dirty="0">
                <a:latin typeface="Gill Sans"/>
                <a:cs typeface="Gill Sans"/>
              </a:rPr>
              <a:t>e</a:t>
            </a:r>
            <a:r>
              <a:rPr sz="3600" spc="-5" dirty="0">
                <a:latin typeface="Gill Sans"/>
                <a:cs typeface="Gill Sans"/>
              </a:rPr>
              <a:t> </a:t>
            </a:r>
            <a:r>
              <a:rPr sz="3600" spc="25" dirty="0">
                <a:latin typeface="Gill Sans"/>
                <a:cs typeface="Gill Sans"/>
              </a:rPr>
              <a:t>fit</a:t>
            </a:r>
            <a:endParaRPr sz="3600">
              <a:latin typeface="Gill Sans"/>
              <a:cs typeface="Gill San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57500" y="4381759"/>
            <a:ext cx="2592705" cy="1739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550"/>
              </a:lnSpc>
            </a:pPr>
            <a:r>
              <a:rPr sz="3000" dirty="0">
                <a:latin typeface="Gill Sans"/>
                <a:cs typeface="Gill Sans"/>
              </a:rPr>
              <a:t>AIC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=</a:t>
            </a:r>
            <a:endParaRPr sz="3000">
              <a:latin typeface="Gill Sans"/>
              <a:cs typeface="Gill Sans"/>
            </a:endParaRPr>
          </a:p>
          <a:p>
            <a:pPr marL="12700" marR="5080">
              <a:lnSpc>
                <a:spcPts val="3500"/>
              </a:lnSpc>
              <a:spcBef>
                <a:spcPts val="150"/>
              </a:spcBef>
            </a:pPr>
            <a:r>
              <a:rPr sz="3000" spc="-15" dirty="0">
                <a:latin typeface="Gill Sans"/>
                <a:cs typeface="Gill Sans"/>
              </a:rPr>
              <a:t>est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spc="-15" dirty="0">
                <a:latin typeface="Gill Sans"/>
                <a:cs typeface="Gill Sans"/>
              </a:rPr>
              <a:t>mator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o</a:t>
            </a:r>
            <a:r>
              <a:rPr sz="3000" dirty="0">
                <a:latin typeface="Gill Sans"/>
                <a:cs typeface="Gill Sans"/>
              </a:rPr>
              <a:t>f </a:t>
            </a:r>
            <a:r>
              <a:rPr sz="3000" spc="-75" dirty="0">
                <a:latin typeface="Gill Sans"/>
                <a:cs typeface="Gill Sans"/>
              </a:rPr>
              <a:t>r</a:t>
            </a:r>
            <a:r>
              <a:rPr sz="3000" dirty="0">
                <a:latin typeface="Gill Sans"/>
                <a:cs typeface="Gill Sans"/>
              </a:rPr>
              <a:t>e</a:t>
            </a:r>
            <a:r>
              <a:rPr sz="3000" spc="-5" dirty="0">
                <a:latin typeface="Gill Sans"/>
                <a:cs typeface="Gill Sans"/>
              </a:rPr>
              <a:t>l</a:t>
            </a:r>
            <a:r>
              <a:rPr sz="3000" spc="-15" dirty="0">
                <a:latin typeface="Gill Sans"/>
                <a:cs typeface="Gill Sans"/>
              </a:rPr>
              <a:t>a</a:t>
            </a:r>
            <a:r>
              <a:rPr sz="3000" dirty="0">
                <a:latin typeface="Gill Sans"/>
                <a:cs typeface="Gill Sans"/>
              </a:rPr>
              <a:t>t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spc="-75" dirty="0">
                <a:latin typeface="Gill Sans"/>
                <a:cs typeface="Gill Sans"/>
              </a:rPr>
              <a:t>v</a:t>
            </a:r>
            <a:r>
              <a:rPr sz="3000" dirty="0">
                <a:latin typeface="Gill Sans"/>
                <a:cs typeface="Gill Sans"/>
              </a:rPr>
              <a:t>e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d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spc="-15" dirty="0">
                <a:latin typeface="Gill Sans"/>
                <a:cs typeface="Gill Sans"/>
              </a:rPr>
              <a:t>stance</a:t>
            </a:r>
            <a:r>
              <a:rPr sz="3000" spc="-10" dirty="0">
                <a:latin typeface="Gill Sans"/>
                <a:cs typeface="Gill Sans"/>
              </a:rPr>
              <a:t> f</a:t>
            </a:r>
            <a:r>
              <a:rPr sz="3000" spc="-90" dirty="0">
                <a:latin typeface="Gill Sans"/>
                <a:cs typeface="Gill Sans"/>
              </a:rPr>
              <a:t>r</a:t>
            </a:r>
            <a:r>
              <a:rPr sz="3000" spc="-20" dirty="0">
                <a:latin typeface="Gill Sans"/>
                <a:cs typeface="Gill Sans"/>
              </a:rPr>
              <a:t>om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dirty="0">
                <a:latin typeface="Gill Sans"/>
                <a:cs typeface="Gill Sans"/>
              </a:rPr>
              <a:t>true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mod</a:t>
            </a:r>
            <a:r>
              <a:rPr sz="3000" dirty="0">
                <a:latin typeface="Gill Sans"/>
                <a:cs typeface="Gill Sans"/>
              </a:rPr>
              <a:t>el</a:t>
            </a:r>
            <a:endParaRPr sz="3000">
              <a:latin typeface="Gill Sans"/>
              <a:cs typeface="Gill San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261568" y="6968445"/>
            <a:ext cx="63500" cy="0"/>
          </a:xfrm>
          <a:custGeom>
            <a:avLst/>
            <a:gdLst/>
            <a:ahLst/>
            <a:cxnLst/>
            <a:rect l="l" t="t" r="r" b="b"/>
            <a:pathLst>
              <a:path w="63500">
                <a:moveTo>
                  <a:pt x="0" y="0"/>
                </a:moveTo>
                <a:lnTo>
                  <a:pt x="63500" y="0"/>
                </a:lnTo>
              </a:path>
            </a:pathLst>
          </a:custGeom>
          <a:ln w="3949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163778" y="7134180"/>
            <a:ext cx="259079" cy="259079"/>
          </a:xfrm>
          <a:custGeom>
            <a:avLst/>
            <a:gdLst/>
            <a:ahLst/>
            <a:cxnLst/>
            <a:rect l="l" t="t" r="r" b="b"/>
            <a:pathLst>
              <a:path w="259080" h="259079">
                <a:moveTo>
                  <a:pt x="259080" y="0"/>
                </a:moveTo>
                <a:lnTo>
                  <a:pt x="0" y="0"/>
                </a:lnTo>
                <a:lnTo>
                  <a:pt x="129540" y="259080"/>
                </a:lnTo>
                <a:lnTo>
                  <a:pt x="2590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057659" y="3726660"/>
            <a:ext cx="406400" cy="301752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dirty="0">
                <a:latin typeface="Gill Sans"/>
                <a:cs typeface="Gill Sans"/>
              </a:rPr>
              <a:t>d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dirty="0">
                <a:latin typeface="Gill Sans"/>
                <a:cs typeface="Gill Sans"/>
              </a:rPr>
              <a:t>stance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dirty="0">
                <a:latin typeface="Gill Sans"/>
                <a:cs typeface="Gill Sans"/>
              </a:rPr>
              <a:t>f</a:t>
            </a:r>
            <a:r>
              <a:rPr sz="3000" spc="-75" dirty="0">
                <a:latin typeface="Gill Sans"/>
                <a:cs typeface="Gill Sans"/>
              </a:rPr>
              <a:t>r</a:t>
            </a:r>
            <a:r>
              <a:rPr sz="3000" dirty="0">
                <a:latin typeface="Gill Sans"/>
                <a:cs typeface="Gill Sans"/>
              </a:rPr>
              <a:t>om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dirty="0">
                <a:latin typeface="Gill Sans"/>
                <a:cs typeface="Gill Sans"/>
              </a:rPr>
              <a:t>truth</a:t>
            </a:r>
            <a:endParaRPr sz="3000">
              <a:latin typeface="Gill Sans"/>
              <a:cs typeface="Gill Sans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47180" y="2089199"/>
            <a:ext cx="0" cy="6755765"/>
          </a:xfrm>
          <a:custGeom>
            <a:avLst/>
            <a:gdLst/>
            <a:ahLst/>
            <a:cxnLst/>
            <a:rect l="l" t="t" r="r" b="b"/>
            <a:pathLst>
              <a:path h="6755765">
                <a:moveTo>
                  <a:pt x="0" y="0"/>
                </a:moveTo>
                <a:lnTo>
                  <a:pt x="0" y="6755477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422859" y="1983131"/>
            <a:ext cx="448945" cy="213995"/>
          </a:xfrm>
          <a:custGeom>
            <a:avLst/>
            <a:gdLst/>
            <a:ahLst/>
            <a:cxnLst/>
            <a:rect l="l" t="t" r="r" b="b"/>
            <a:pathLst>
              <a:path w="448944" h="213994">
                <a:moveTo>
                  <a:pt x="21537" y="0"/>
                </a:moveTo>
                <a:lnTo>
                  <a:pt x="448641" y="153991"/>
                </a:lnTo>
                <a:lnTo>
                  <a:pt x="427103" y="213727"/>
                </a:lnTo>
                <a:lnTo>
                  <a:pt x="0" y="59735"/>
                </a:lnTo>
                <a:lnTo>
                  <a:pt x="21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422859" y="1843431"/>
            <a:ext cx="448945" cy="213995"/>
          </a:xfrm>
          <a:custGeom>
            <a:avLst/>
            <a:gdLst/>
            <a:ahLst/>
            <a:cxnLst/>
            <a:rect l="l" t="t" r="r" b="b"/>
            <a:pathLst>
              <a:path w="448944" h="213994">
                <a:moveTo>
                  <a:pt x="21537" y="0"/>
                </a:moveTo>
                <a:lnTo>
                  <a:pt x="448641" y="153991"/>
                </a:lnTo>
                <a:lnTo>
                  <a:pt x="427103" y="213727"/>
                </a:lnTo>
                <a:lnTo>
                  <a:pt x="0" y="59735"/>
                </a:lnTo>
                <a:lnTo>
                  <a:pt x="21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647180" y="1424566"/>
            <a:ext cx="0" cy="508634"/>
          </a:xfrm>
          <a:custGeom>
            <a:avLst/>
            <a:gdLst/>
            <a:ahLst/>
            <a:cxnLst/>
            <a:rect l="l" t="t" r="r" b="b"/>
            <a:pathLst>
              <a:path h="508635">
                <a:moveTo>
                  <a:pt x="0" y="0"/>
                </a:moveTo>
                <a:lnTo>
                  <a:pt x="0" y="508136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28700" y="905551"/>
            <a:ext cx="3244850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b="1" dirty="0">
                <a:latin typeface="Gill Sans"/>
                <a:cs typeface="Gill Sans"/>
              </a:rPr>
              <a:t>“</a:t>
            </a:r>
            <a:r>
              <a:rPr sz="3600" b="1" spc="-105" dirty="0">
                <a:latin typeface="Gill Sans"/>
                <a:cs typeface="Gill Sans"/>
              </a:rPr>
              <a:t>T</a:t>
            </a:r>
            <a:r>
              <a:rPr sz="3600" b="1" spc="-55" dirty="0">
                <a:latin typeface="Gill Sans"/>
                <a:cs typeface="Gill Sans"/>
              </a:rPr>
              <a:t>r</a:t>
            </a:r>
            <a:r>
              <a:rPr sz="3600" b="1" spc="-5" dirty="0">
                <a:latin typeface="Gill Sans"/>
                <a:cs typeface="Gill Sans"/>
              </a:rPr>
              <a:t>u</a:t>
            </a:r>
            <a:r>
              <a:rPr sz="3600" b="1" dirty="0">
                <a:latin typeface="Gill Sans"/>
                <a:cs typeface="Gill Sans"/>
              </a:rPr>
              <a:t>e</a:t>
            </a:r>
            <a:r>
              <a:rPr sz="3600" b="1" spc="-5" dirty="0">
                <a:latin typeface="Gill Sans"/>
                <a:cs typeface="Gill Sans"/>
              </a:rPr>
              <a:t> mo</a:t>
            </a:r>
            <a:r>
              <a:rPr sz="3600" b="1" dirty="0">
                <a:latin typeface="Gill Sans"/>
                <a:cs typeface="Gill Sans"/>
              </a:rPr>
              <a:t>del”</a:t>
            </a:r>
            <a:endParaRPr sz="3600">
              <a:latin typeface="Gill Sans"/>
              <a:cs typeface="Gill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4500" y="2238050"/>
            <a:ext cx="1714500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dirty="0">
                <a:latin typeface="Gill Sans"/>
                <a:cs typeface="Gill Sans"/>
              </a:rPr>
              <a:t>Better</a:t>
            </a:r>
            <a:r>
              <a:rPr sz="3600" spc="-5" dirty="0">
                <a:latin typeface="Gill Sans"/>
                <a:cs typeface="Gill Sans"/>
              </a:rPr>
              <a:t> </a:t>
            </a:r>
            <a:r>
              <a:rPr sz="3600" spc="25" dirty="0">
                <a:latin typeface="Gill Sans"/>
                <a:cs typeface="Gill Sans"/>
              </a:rPr>
              <a:t>fit</a:t>
            </a:r>
            <a:endParaRPr sz="3600">
              <a:latin typeface="Gill Sans"/>
              <a:cs typeface="Gill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19400" y="2273559"/>
            <a:ext cx="4285615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spc="-5" dirty="0">
                <a:latin typeface="Gill Sans"/>
                <a:cs typeface="Gill Sans"/>
              </a:rPr>
              <a:t>l</a:t>
            </a:r>
            <a:r>
              <a:rPr sz="3000" spc="-50" dirty="0">
                <a:latin typeface="Gill Sans"/>
                <a:cs typeface="Gill Sans"/>
              </a:rPr>
              <a:t>o</a:t>
            </a:r>
            <a:r>
              <a:rPr sz="3000" spc="-65" dirty="0">
                <a:latin typeface="Gill Sans"/>
                <a:cs typeface="Gill Sans"/>
              </a:rPr>
              <a:t>w</a:t>
            </a:r>
            <a:r>
              <a:rPr sz="3000" dirty="0">
                <a:latin typeface="Gill Sans"/>
                <a:cs typeface="Gill Sans"/>
              </a:rPr>
              <a:t>er</a:t>
            </a:r>
            <a:r>
              <a:rPr sz="3000" spc="-305" dirty="0">
                <a:latin typeface="Gill Sans"/>
                <a:cs typeface="Gill Sans"/>
              </a:rPr>
              <a:t> </a:t>
            </a:r>
            <a:r>
              <a:rPr sz="3000" dirty="0">
                <a:latin typeface="Gill Sans"/>
                <a:cs typeface="Gill Sans"/>
              </a:rPr>
              <a:t>AIC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=</a:t>
            </a:r>
            <a:r>
              <a:rPr sz="3000" spc="-5" dirty="0">
                <a:latin typeface="Gill Sans"/>
                <a:cs typeface="Gill Sans"/>
              </a:rPr>
              <a:t> l</a:t>
            </a:r>
            <a:r>
              <a:rPr sz="3000" spc="-50" dirty="0">
                <a:latin typeface="Gill Sans"/>
                <a:cs typeface="Gill Sans"/>
              </a:rPr>
              <a:t>o</a:t>
            </a:r>
            <a:r>
              <a:rPr sz="3000" spc="-65" dirty="0">
                <a:latin typeface="Gill Sans"/>
                <a:cs typeface="Gill Sans"/>
              </a:rPr>
              <a:t>w</a:t>
            </a:r>
            <a:r>
              <a:rPr sz="3000" dirty="0">
                <a:latin typeface="Gill Sans"/>
                <a:cs typeface="Gill Sans"/>
              </a:rPr>
              <a:t>er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d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spc="-15" dirty="0">
                <a:latin typeface="Gill Sans"/>
                <a:cs typeface="Gill Sans"/>
              </a:rPr>
              <a:t>stance</a:t>
            </a:r>
            <a:endParaRPr sz="3000">
              <a:latin typeface="Gill Sans"/>
              <a:cs typeface="Gill San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334620" y="2459184"/>
            <a:ext cx="313690" cy="0"/>
          </a:xfrm>
          <a:custGeom>
            <a:avLst/>
            <a:gdLst/>
            <a:ahLst/>
            <a:cxnLst/>
            <a:rect l="l" t="t" r="r" b="b"/>
            <a:pathLst>
              <a:path w="313689">
                <a:moveTo>
                  <a:pt x="0" y="0"/>
                </a:moveTo>
                <a:lnTo>
                  <a:pt x="31353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361667" y="8668873"/>
            <a:ext cx="313690" cy="0"/>
          </a:xfrm>
          <a:custGeom>
            <a:avLst/>
            <a:gdLst/>
            <a:ahLst/>
            <a:cxnLst/>
            <a:rect l="l" t="t" r="r" b="b"/>
            <a:pathLst>
              <a:path w="313689">
                <a:moveTo>
                  <a:pt x="0" y="0"/>
                </a:moveTo>
                <a:lnTo>
                  <a:pt x="31353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521" rIns="0" bIns="0" rtlCol="0">
            <a:spAutoFit/>
          </a:bodyPr>
          <a:lstStyle/>
          <a:p>
            <a:pPr marL="1711325">
              <a:lnSpc>
                <a:spcPct val="100000"/>
              </a:lnSpc>
            </a:pPr>
            <a:r>
              <a:rPr sz="3600" spc="-30" dirty="0">
                <a:latin typeface="Gill Sans"/>
                <a:cs typeface="Gill Sans"/>
              </a:rPr>
              <a:t>Ak</a:t>
            </a:r>
            <a:r>
              <a:rPr sz="3600" spc="25" dirty="0">
                <a:latin typeface="Gill Sans"/>
                <a:cs typeface="Gill Sans"/>
              </a:rPr>
              <a:t>a</a:t>
            </a:r>
            <a:r>
              <a:rPr sz="3600" dirty="0">
                <a:latin typeface="Gill Sans"/>
                <a:cs typeface="Gill Sans"/>
              </a:rPr>
              <a:t>i</a:t>
            </a:r>
            <a:r>
              <a:rPr sz="3600" spc="-180" dirty="0">
                <a:latin typeface="Gill Sans"/>
                <a:cs typeface="Gill Sans"/>
              </a:rPr>
              <a:t>k</a:t>
            </a:r>
            <a:r>
              <a:rPr sz="3600" dirty="0">
                <a:latin typeface="Gill Sans"/>
                <a:cs typeface="Gill Sans"/>
              </a:rPr>
              <a:t>e</a:t>
            </a:r>
            <a:r>
              <a:rPr sz="3600" spc="-5" dirty="0">
                <a:latin typeface="Gill Sans"/>
                <a:cs typeface="Gill Sans"/>
              </a:rPr>
              <a:t> </a:t>
            </a:r>
            <a:r>
              <a:rPr sz="3600" dirty="0">
                <a:latin typeface="Gill Sans"/>
                <a:cs typeface="Gill Sans"/>
              </a:rPr>
              <a:t>I</a:t>
            </a:r>
            <a:r>
              <a:rPr sz="3600" spc="-5" dirty="0">
                <a:latin typeface="Gill Sans"/>
                <a:cs typeface="Gill Sans"/>
              </a:rPr>
              <a:t>nfo</a:t>
            </a:r>
            <a:r>
              <a:rPr sz="3600" dirty="0">
                <a:latin typeface="Gill Sans"/>
                <a:cs typeface="Gill Sans"/>
              </a:rPr>
              <a:t>r</a:t>
            </a:r>
            <a:r>
              <a:rPr sz="3600" spc="-5" dirty="0">
                <a:latin typeface="Gill Sans"/>
                <a:cs typeface="Gill Sans"/>
              </a:rPr>
              <a:t>m</a:t>
            </a:r>
            <a:r>
              <a:rPr sz="3600" spc="-25" dirty="0">
                <a:latin typeface="Gill Sans"/>
                <a:cs typeface="Gill Sans"/>
              </a:rPr>
              <a:t>a</a:t>
            </a:r>
            <a:r>
              <a:rPr sz="3600" spc="-5" dirty="0">
                <a:latin typeface="Gill Sans"/>
                <a:cs typeface="Gill Sans"/>
              </a:rPr>
              <a:t>t</a:t>
            </a:r>
            <a:r>
              <a:rPr sz="3600" dirty="0">
                <a:latin typeface="Gill Sans"/>
                <a:cs typeface="Gill Sans"/>
              </a:rPr>
              <a:t>i</a:t>
            </a:r>
            <a:r>
              <a:rPr sz="3600" spc="-5" dirty="0">
                <a:latin typeface="Gill Sans"/>
                <a:cs typeface="Gill Sans"/>
              </a:rPr>
              <a:t>o</a:t>
            </a:r>
            <a:r>
              <a:rPr sz="3600" dirty="0">
                <a:latin typeface="Gill Sans"/>
                <a:cs typeface="Gill Sans"/>
              </a:rPr>
              <a:t>n</a:t>
            </a:r>
            <a:r>
              <a:rPr sz="3600" spc="-5" dirty="0">
                <a:latin typeface="Gill Sans"/>
                <a:cs typeface="Gill Sans"/>
              </a:rPr>
              <a:t> </a:t>
            </a:r>
            <a:r>
              <a:rPr sz="3600" dirty="0">
                <a:latin typeface="Gill Sans"/>
                <a:cs typeface="Gill Sans"/>
              </a:rPr>
              <a:t>C</a:t>
            </a:r>
            <a:r>
              <a:rPr sz="3600" spc="-155" dirty="0">
                <a:latin typeface="Gill Sans"/>
                <a:cs typeface="Gill Sans"/>
              </a:rPr>
              <a:t>r</a:t>
            </a:r>
            <a:r>
              <a:rPr sz="3600" dirty="0">
                <a:latin typeface="Gill Sans"/>
                <a:cs typeface="Gill Sans"/>
              </a:rPr>
              <a:t>i</a:t>
            </a:r>
            <a:r>
              <a:rPr sz="3600" spc="-5" dirty="0">
                <a:latin typeface="Gill Sans"/>
                <a:cs typeface="Gill Sans"/>
              </a:rPr>
              <a:t>t</a:t>
            </a:r>
            <a:r>
              <a:rPr sz="3600" dirty="0">
                <a:latin typeface="Gill Sans"/>
                <a:cs typeface="Gill Sans"/>
              </a:rPr>
              <a:t>e</a:t>
            </a:r>
            <a:r>
              <a:rPr sz="3600" spc="-155" dirty="0">
                <a:latin typeface="Gill Sans"/>
                <a:cs typeface="Gill Sans"/>
              </a:rPr>
              <a:t>r</a:t>
            </a:r>
            <a:r>
              <a:rPr sz="3600" dirty="0">
                <a:latin typeface="Gill Sans"/>
                <a:cs typeface="Gill Sans"/>
              </a:rPr>
              <a:t>i</a:t>
            </a:r>
            <a:r>
              <a:rPr sz="3600" spc="-5" dirty="0">
                <a:latin typeface="Gill Sans"/>
                <a:cs typeface="Gill Sans"/>
              </a:rPr>
              <a:t>o</a:t>
            </a:r>
            <a:r>
              <a:rPr sz="3600" dirty="0">
                <a:latin typeface="Gill Sans"/>
                <a:cs typeface="Gill Sans"/>
              </a:rPr>
              <a:t>n</a:t>
            </a:r>
            <a:endParaRPr sz="3600">
              <a:latin typeface="Gill Sans"/>
              <a:cs typeface="Gill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8000" y="8422950"/>
            <a:ext cx="1797050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365" dirty="0">
                <a:latin typeface="Gill Sans"/>
                <a:cs typeface="Gill Sans"/>
              </a:rPr>
              <a:t>W</a:t>
            </a:r>
            <a:r>
              <a:rPr sz="3600" spc="-20" dirty="0">
                <a:latin typeface="Gill Sans"/>
                <a:cs typeface="Gill Sans"/>
              </a:rPr>
              <a:t>ors</a:t>
            </a:r>
            <a:r>
              <a:rPr sz="3600" dirty="0">
                <a:latin typeface="Gill Sans"/>
                <a:cs typeface="Gill Sans"/>
              </a:rPr>
              <a:t>e</a:t>
            </a:r>
            <a:r>
              <a:rPr sz="3600" spc="-5" dirty="0">
                <a:latin typeface="Gill Sans"/>
                <a:cs typeface="Gill Sans"/>
              </a:rPr>
              <a:t> </a:t>
            </a:r>
            <a:r>
              <a:rPr sz="3600" spc="25" dirty="0">
                <a:latin typeface="Gill Sans"/>
                <a:cs typeface="Gill Sans"/>
              </a:rPr>
              <a:t>fit</a:t>
            </a:r>
            <a:endParaRPr sz="3600">
              <a:latin typeface="Gill Sans"/>
              <a:cs typeface="Gill San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57500" y="4381759"/>
            <a:ext cx="2592705" cy="1739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550"/>
              </a:lnSpc>
            </a:pPr>
            <a:r>
              <a:rPr sz="3000" dirty="0">
                <a:latin typeface="Gill Sans"/>
                <a:cs typeface="Gill Sans"/>
              </a:rPr>
              <a:t>AIC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=</a:t>
            </a:r>
            <a:endParaRPr sz="3000">
              <a:latin typeface="Gill Sans"/>
              <a:cs typeface="Gill Sans"/>
            </a:endParaRPr>
          </a:p>
          <a:p>
            <a:pPr marL="12700" marR="5080">
              <a:lnSpc>
                <a:spcPts val="3500"/>
              </a:lnSpc>
              <a:spcBef>
                <a:spcPts val="150"/>
              </a:spcBef>
            </a:pPr>
            <a:r>
              <a:rPr sz="3000" spc="-15" dirty="0">
                <a:latin typeface="Gill Sans"/>
                <a:cs typeface="Gill Sans"/>
              </a:rPr>
              <a:t>est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spc="-15" dirty="0">
                <a:latin typeface="Gill Sans"/>
                <a:cs typeface="Gill Sans"/>
              </a:rPr>
              <a:t>mator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o</a:t>
            </a:r>
            <a:r>
              <a:rPr sz="3000" dirty="0">
                <a:latin typeface="Gill Sans"/>
                <a:cs typeface="Gill Sans"/>
              </a:rPr>
              <a:t>f </a:t>
            </a:r>
            <a:r>
              <a:rPr sz="3000" spc="-75" dirty="0">
                <a:latin typeface="Gill Sans"/>
                <a:cs typeface="Gill Sans"/>
              </a:rPr>
              <a:t>r</a:t>
            </a:r>
            <a:r>
              <a:rPr sz="3000" dirty="0">
                <a:latin typeface="Gill Sans"/>
                <a:cs typeface="Gill Sans"/>
              </a:rPr>
              <a:t>e</a:t>
            </a:r>
            <a:r>
              <a:rPr sz="3000" spc="-5" dirty="0">
                <a:latin typeface="Gill Sans"/>
                <a:cs typeface="Gill Sans"/>
              </a:rPr>
              <a:t>l</a:t>
            </a:r>
            <a:r>
              <a:rPr sz="3000" spc="-15" dirty="0">
                <a:latin typeface="Gill Sans"/>
                <a:cs typeface="Gill Sans"/>
              </a:rPr>
              <a:t>a</a:t>
            </a:r>
            <a:r>
              <a:rPr sz="3000" dirty="0">
                <a:latin typeface="Gill Sans"/>
                <a:cs typeface="Gill Sans"/>
              </a:rPr>
              <a:t>t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spc="-75" dirty="0">
                <a:latin typeface="Gill Sans"/>
                <a:cs typeface="Gill Sans"/>
              </a:rPr>
              <a:t>v</a:t>
            </a:r>
            <a:r>
              <a:rPr sz="3000" dirty="0">
                <a:latin typeface="Gill Sans"/>
                <a:cs typeface="Gill Sans"/>
              </a:rPr>
              <a:t>e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d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spc="-15" dirty="0">
                <a:latin typeface="Gill Sans"/>
                <a:cs typeface="Gill Sans"/>
              </a:rPr>
              <a:t>stance</a:t>
            </a:r>
            <a:r>
              <a:rPr sz="3000" spc="-10" dirty="0">
                <a:latin typeface="Gill Sans"/>
                <a:cs typeface="Gill Sans"/>
              </a:rPr>
              <a:t> f</a:t>
            </a:r>
            <a:r>
              <a:rPr sz="3000" spc="-90" dirty="0">
                <a:latin typeface="Gill Sans"/>
                <a:cs typeface="Gill Sans"/>
              </a:rPr>
              <a:t>r</a:t>
            </a:r>
            <a:r>
              <a:rPr sz="3000" spc="-20" dirty="0">
                <a:latin typeface="Gill Sans"/>
                <a:cs typeface="Gill Sans"/>
              </a:rPr>
              <a:t>om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dirty="0">
                <a:latin typeface="Gill Sans"/>
                <a:cs typeface="Gill Sans"/>
              </a:rPr>
              <a:t>true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mod</a:t>
            </a:r>
            <a:r>
              <a:rPr sz="3000" dirty="0">
                <a:latin typeface="Gill Sans"/>
                <a:cs typeface="Gill Sans"/>
              </a:rPr>
              <a:t>el</a:t>
            </a:r>
            <a:endParaRPr sz="3000">
              <a:latin typeface="Gill Sans"/>
              <a:cs typeface="Gill San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261568" y="6968445"/>
            <a:ext cx="63500" cy="0"/>
          </a:xfrm>
          <a:custGeom>
            <a:avLst/>
            <a:gdLst/>
            <a:ahLst/>
            <a:cxnLst/>
            <a:rect l="l" t="t" r="r" b="b"/>
            <a:pathLst>
              <a:path w="63500">
                <a:moveTo>
                  <a:pt x="0" y="0"/>
                </a:moveTo>
                <a:lnTo>
                  <a:pt x="63500" y="0"/>
                </a:lnTo>
              </a:path>
            </a:pathLst>
          </a:custGeom>
          <a:ln w="3949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163778" y="7134180"/>
            <a:ext cx="259079" cy="259079"/>
          </a:xfrm>
          <a:custGeom>
            <a:avLst/>
            <a:gdLst/>
            <a:ahLst/>
            <a:cxnLst/>
            <a:rect l="l" t="t" r="r" b="b"/>
            <a:pathLst>
              <a:path w="259080" h="259079">
                <a:moveTo>
                  <a:pt x="259080" y="0"/>
                </a:moveTo>
                <a:lnTo>
                  <a:pt x="0" y="0"/>
                </a:lnTo>
                <a:lnTo>
                  <a:pt x="129540" y="259080"/>
                </a:lnTo>
                <a:lnTo>
                  <a:pt x="2590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057659" y="3726660"/>
            <a:ext cx="406400" cy="301752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dirty="0">
                <a:latin typeface="Gill Sans"/>
                <a:cs typeface="Gill Sans"/>
              </a:rPr>
              <a:t>d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dirty="0">
                <a:latin typeface="Gill Sans"/>
                <a:cs typeface="Gill Sans"/>
              </a:rPr>
              <a:t>stance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dirty="0">
                <a:latin typeface="Gill Sans"/>
                <a:cs typeface="Gill Sans"/>
              </a:rPr>
              <a:t>f</a:t>
            </a:r>
            <a:r>
              <a:rPr sz="3000" spc="-75" dirty="0">
                <a:latin typeface="Gill Sans"/>
                <a:cs typeface="Gill Sans"/>
              </a:rPr>
              <a:t>r</a:t>
            </a:r>
            <a:r>
              <a:rPr sz="3000" dirty="0">
                <a:latin typeface="Gill Sans"/>
                <a:cs typeface="Gill Sans"/>
              </a:rPr>
              <a:t>om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dirty="0">
                <a:latin typeface="Gill Sans"/>
                <a:cs typeface="Gill Sans"/>
              </a:rPr>
              <a:t>truth</a:t>
            </a:r>
            <a:endParaRPr sz="3000">
              <a:latin typeface="Gill Sans"/>
              <a:cs typeface="Gill Sans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47180" y="2089199"/>
            <a:ext cx="0" cy="6755765"/>
          </a:xfrm>
          <a:custGeom>
            <a:avLst/>
            <a:gdLst/>
            <a:ahLst/>
            <a:cxnLst/>
            <a:rect l="l" t="t" r="r" b="b"/>
            <a:pathLst>
              <a:path h="6755765">
                <a:moveTo>
                  <a:pt x="0" y="0"/>
                </a:moveTo>
                <a:lnTo>
                  <a:pt x="0" y="6755477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422859" y="1983131"/>
            <a:ext cx="448945" cy="213995"/>
          </a:xfrm>
          <a:custGeom>
            <a:avLst/>
            <a:gdLst/>
            <a:ahLst/>
            <a:cxnLst/>
            <a:rect l="l" t="t" r="r" b="b"/>
            <a:pathLst>
              <a:path w="448944" h="213994">
                <a:moveTo>
                  <a:pt x="21537" y="0"/>
                </a:moveTo>
                <a:lnTo>
                  <a:pt x="448641" y="153991"/>
                </a:lnTo>
                <a:lnTo>
                  <a:pt x="427103" y="213727"/>
                </a:lnTo>
                <a:lnTo>
                  <a:pt x="0" y="59735"/>
                </a:lnTo>
                <a:lnTo>
                  <a:pt x="21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422859" y="1843431"/>
            <a:ext cx="448945" cy="213995"/>
          </a:xfrm>
          <a:custGeom>
            <a:avLst/>
            <a:gdLst/>
            <a:ahLst/>
            <a:cxnLst/>
            <a:rect l="l" t="t" r="r" b="b"/>
            <a:pathLst>
              <a:path w="448944" h="213994">
                <a:moveTo>
                  <a:pt x="21537" y="0"/>
                </a:moveTo>
                <a:lnTo>
                  <a:pt x="448641" y="153991"/>
                </a:lnTo>
                <a:lnTo>
                  <a:pt x="427103" y="213727"/>
                </a:lnTo>
                <a:lnTo>
                  <a:pt x="0" y="59735"/>
                </a:lnTo>
                <a:lnTo>
                  <a:pt x="21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647180" y="1424566"/>
            <a:ext cx="0" cy="508634"/>
          </a:xfrm>
          <a:custGeom>
            <a:avLst/>
            <a:gdLst/>
            <a:ahLst/>
            <a:cxnLst/>
            <a:rect l="l" t="t" r="r" b="b"/>
            <a:pathLst>
              <a:path h="508635">
                <a:moveTo>
                  <a:pt x="0" y="0"/>
                </a:moveTo>
                <a:lnTo>
                  <a:pt x="0" y="508136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28700" y="905551"/>
            <a:ext cx="3244850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b="1" dirty="0">
                <a:latin typeface="Gill Sans"/>
                <a:cs typeface="Gill Sans"/>
              </a:rPr>
              <a:t>“</a:t>
            </a:r>
            <a:r>
              <a:rPr sz="3600" b="1" spc="-105" dirty="0">
                <a:latin typeface="Gill Sans"/>
                <a:cs typeface="Gill Sans"/>
              </a:rPr>
              <a:t>T</a:t>
            </a:r>
            <a:r>
              <a:rPr sz="3600" b="1" spc="-55" dirty="0">
                <a:latin typeface="Gill Sans"/>
                <a:cs typeface="Gill Sans"/>
              </a:rPr>
              <a:t>r</a:t>
            </a:r>
            <a:r>
              <a:rPr sz="3600" b="1" spc="-5" dirty="0">
                <a:latin typeface="Gill Sans"/>
                <a:cs typeface="Gill Sans"/>
              </a:rPr>
              <a:t>u</a:t>
            </a:r>
            <a:r>
              <a:rPr sz="3600" b="1" dirty="0">
                <a:latin typeface="Gill Sans"/>
                <a:cs typeface="Gill Sans"/>
              </a:rPr>
              <a:t>e</a:t>
            </a:r>
            <a:r>
              <a:rPr sz="3600" b="1" spc="-5" dirty="0">
                <a:latin typeface="Gill Sans"/>
                <a:cs typeface="Gill Sans"/>
              </a:rPr>
              <a:t> mo</a:t>
            </a:r>
            <a:r>
              <a:rPr sz="3600" b="1" dirty="0">
                <a:latin typeface="Gill Sans"/>
                <a:cs typeface="Gill Sans"/>
              </a:rPr>
              <a:t>del”</a:t>
            </a:r>
            <a:endParaRPr sz="3600">
              <a:latin typeface="Gill Sans"/>
              <a:cs typeface="Gill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4500" y="2238050"/>
            <a:ext cx="1714500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dirty="0">
                <a:latin typeface="Gill Sans"/>
                <a:cs typeface="Gill Sans"/>
              </a:rPr>
              <a:t>Better</a:t>
            </a:r>
            <a:r>
              <a:rPr sz="3600" spc="-5" dirty="0">
                <a:latin typeface="Gill Sans"/>
                <a:cs typeface="Gill Sans"/>
              </a:rPr>
              <a:t> </a:t>
            </a:r>
            <a:r>
              <a:rPr sz="3600" spc="25" dirty="0">
                <a:latin typeface="Gill Sans"/>
                <a:cs typeface="Gill Sans"/>
              </a:rPr>
              <a:t>fit</a:t>
            </a:r>
            <a:endParaRPr sz="3600">
              <a:latin typeface="Gill Sans"/>
              <a:cs typeface="Gill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19400" y="2273559"/>
            <a:ext cx="4285615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spc="-5" dirty="0">
                <a:latin typeface="Gill Sans"/>
                <a:cs typeface="Gill Sans"/>
              </a:rPr>
              <a:t>l</a:t>
            </a:r>
            <a:r>
              <a:rPr sz="3000" spc="-50" dirty="0">
                <a:latin typeface="Gill Sans"/>
                <a:cs typeface="Gill Sans"/>
              </a:rPr>
              <a:t>o</a:t>
            </a:r>
            <a:r>
              <a:rPr sz="3000" spc="-65" dirty="0">
                <a:latin typeface="Gill Sans"/>
                <a:cs typeface="Gill Sans"/>
              </a:rPr>
              <a:t>w</a:t>
            </a:r>
            <a:r>
              <a:rPr sz="3000" dirty="0">
                <a:latin typeface="Gill Sans"/>
                <a:cs typeface="Gill Sans"/>
              </a:rPr>
              <a:t>er</a:t>
            </a:r>
            <a:r>
              <a:rPr sz="3000" spc="-305" dirty="0">
                <a:latin typeface="Gill Sans"/>
                <a:cs typeface="Gill Sans"/>
              </a:rPr>
              <a:t> </a:t>
            </a:r>
            <a:r>
              <a:rPr sz="3000" dirty="0">
                <a:latin typeface="Gill Sans"/>
                <a:cs typeface="Gill Sans"/>
              </a:rPr>
              <a:t>AIC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=</a:t>
            </a:r>
            <a:r>
              <a:rPr sz="3000" spc="-5" dirty="0">
                <a:latin typeface="Gill Sans"/>
                <a:cs typeface="Gill Sans"/>
              </a:rPr>
              <a:t> l</a:t>
            </a:r>
            <a:r>
              <a:rPr sz="3000" spc="-50" dirty="0">
                <a:latin typeface="Gill Sans"/>
                <a:cs typeface="Gill Sans"/>
              </a:rPr>
              <a:t>o</a:t>
            </a:r>
            <a:r>
              <a:rPr sz="3000" spc="-65" dirty="0">
                <a:latin typeface="Gill Sans"/>
                <a:cs typeface="Gill Sans"/>
              </a:rPr>
              <a:t>w</a:t>
            </a:r>
            <a:r>
              <a:rPr sz="3000" dirty="0">
                <a:latin typeface="Gill Sans"/>
                <a:cs typeface="Gill Sans"/>
              </a:rPr>
              <a:t>er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d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spc="-15" dirty="0">
                <a:latin typeface="Gill Sans"/>
                <a:cs typeface="Gill Sans"/>
              </a:rPr>
              <a:t>stance</a:t>
            </a:r>
            <a:endParaRPr sz="3000">
              <a:latin typeface="Gill Sans"/>
              <a:cs typeface="Gill San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334620" y="2459184"/>
            <a:ext cx="313690" cy="0"/>
          </a:xfrm>
          <a:custGeom>
            <a:avLst/>
            <a:gdLst/>
            <a:ahLst/>
            <a:cxnLst/>
            <a:rect l="l" t="t" r="r" b="b"/>
            <a:pathLst>
              <a:path w="313689">
                <a:moveTo>
                  <a:pt x="0" y="0"/>
                </a:moveTo>
                <a:lnTo>
                  <a:pt x="31353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361667" y="8668873"/>
            <a:ext cx="313690" cy="0"/>
          </a:xfrm>
          <a:custGeom>
            <a:avLst/>
            <a:gdLst/>
            <a:ahLst/>
            <a:cxnLst/>
            <a:rect l="l" t="t" r="r" b="b"/>
            <a:pathLst>
              <a:path w="313689">
                <a:moveTo>
                  <a:pt x="0" y="0"/>
                </a:moveTo>
                <a:lnTo>
                  <a:pt x="31353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521" rIns="0" bIns="0" rtlCol="0">
            <a:spAutoFit/>
          </a:bodyPr>
          <a:lstStyle/>
          <a:p>
            <a:pPr marL="1711325">
              <a:lnSpc>
                <a:spcPct val="100000"/>
              </a:lnSpc>
            </a:pPr>
            <a:r>
              <a:rPr sz="3600" spc="-30" dirty="0">
                <a:latin typeface="Gill Sans"/>
                <a:cs typeface="Gill Sans"/>
              </a:rPr>
              <a:t>Ak</a:t>
            </a:r>
            <a:r>
              <a:rPr sz="3600" spc="25" dirty="0">
                <a:latin typeface="Gill Sans"/>
                <a:cs typeface="Gill Sans"/>
              </a:rPr>
              <a:t>a</a:t>
            </a:r>
            <a:r>
              <a:rPr sz="3600" dirty="0">
                <a:latin typeface="Gill Sans"/>
                <a:cs typeface="Gill Sans"/>
              </a:rPr>
              <a:t>i</a:t>
            </a:r>
            <a:r>
              <a:rPr sz="3600" spc="-180" dirty="0">
                <a:latin typeface="Gill Sans"/>
                <a:cs typeface="Gill Sans"/>
              </a:rPr>
              <a:t>k</a:t>
            </a:r>
            <a:r>
              <a:rPr sz="3600" dirty="0">
                <a:latin typeface="Gill Sans"/>
                <a:cs typeface="Gill Sans"/>
              </a:rPr>
              <a:t>e</a:t>
            </a:r>
            <a:r>
              <a:rPr sz="3600" spc="-5" dirty="0">
                <a:latin typeface="Gill Sans"/>
                <a:cs typeface="Gill Sans"/>
              </a:rPr>
              <a:t> </a:t>
            </a:r>
            <a:r>
              <a:rPr sz="3600" dirty="0">
                <a:latin typeface="Gill Sans"/>
                <a:cs typeface="Gill Sans"/>
              </a:rPr>
              <a:t>I</a:t>
            </a:r>
            <a:r>
              <a:rPr sz="3600" spc="-5" dirty="0">
                <a:latin typeface="Gill Sans"/>
                <a:cs typeface="Gill Sans"/>
              </a:rPr>
              <a:t>nfo</a:t>
            </a:r>
            <a:r>
              <a:rPr sz="3600" dirty="0">
                <a:latin typeface="Gill Sans"/>
                <a:cs typeface="Gill Sans"/>
              </a:rPr>
              <a:t>r</a:t>
            </a:r>
            <a:r>
              <a:rPr sz="3600" spc="-5" dirty="0">
                <a:latin typeface="Gill Sans"/>
                <a:cs typeface="Gill Sans"/>
              </a:rPr>
              <a:t>m</a:t>
            </a:r>
            <a:r>
              <a:rPr sz="3600" spc="-25" dirty="0">
                <a:latin typeface="Gill Sans"/>
                <a:cs typeface="Gill Sans"/>
              </a:rPr>
              <a:t>a</a:t>
            </a:r>
            <a:r>
              <a:rPr sz="3600" spc="-5" dirty="0">
                <a:latin typeface="Gill Sans"/>
                <a:cs typeface="Gill Sans"/>
              </a:rPr>
              <a:t>t</a:t>
            </a:r>
            <a:r>
              <a:rPr sz="3600" dirty="0">
                <a:latin typeface="Gill Sans"/>
                <a:cs typeface="Gill Sans"/>
              </a:rPr>
              <a:t>i</a:t>
            </a:r>
            <a:r>
              <a:rPr sz="3600" spc="-5" dirty="0">
                <a:latin typeface="Gill Sans"/>
                <a:cs typeface="Gill Sans"/>
              </a:rPr>
              <a:t>o</a:t>
            </a:r>
            <a:r>
              <a:rPr sz="3600" dirty="0">
                <a:latin typeface="Gill Sans"/>
                <a:cs typeface="Gill Sans"/>
              </a:rPr>
              <a:t>n</a:t>
            </a:r>
            <a:r>
              <a:rPr sz="3600" spc="-5" dirty="0">
                <a:latin typeface="Gill Sans"/>
                <a:cs typeface="Gill Sans"/>
              </a:rPr>
              <a:t> </a:t>
            </a:r>
            <a:r>
              <a:rPr sz="3600" dirty="0">
                <a:latin typeface="Gill Sans"/>
                <a:cs typeface="Gill Sans"/>
              </a:rPr>
              <a:t>C</a:t>
            </a:r>
            <a:r>
              <a:rPr sz="3600" spc="-155" dirty="0">
                <a:latin typeface="Gill Sans"/>
                <a:cs typeface="Gill Sans"/>
              </a:rPr>
              <a:t>r</a:t>
            </a:r>
            <a:r>
              <a:rPr sz="3600" dirty="0">
                <a:latin typeface="Gill Sans"/>
                <a:cs typeface="Gill Sans"/>
              </a:rPr>
              <a:t>i</a:t>
            </a:r>
            <a:r>
              <a:rPr sz="3600" spc="-5" dirty="0">
                <a:latin typeface="Gill Sans"/>
                <a:cs typeface="Gill Sans"/>
              </a:rPr>
              <a:t>t</a:t>
            </a:r>
            <a:r>
              <a:rPr sz="3600" dirty="0">
                <a:latin typeface="Gill Sans"/>
                <a:cs typeface="Gill Sans"/>
              </a:rPr>
              <a:t>e</a:t>
            </a:r>
            <a:r>
              <a:rPr sz="3600" spc="-155" dirty="0">
                <a:latin typeface="Gill Sans"/>
                <a:cs typeface="Gill Sans"/>
              </a:rPr>
              <a:t>r</a:t>
            </a:r>
            <a:r>
              <a:rPr sz="3600" dirty="0">
                <a:latin typeface="Gill Sans"/>
                <a:cs typeface="Gill Sans"/>
              </a:rPr>
              <a:t>i</a:t>
            </a:r>
            <a:r>
              <a:rPr sz="3600" spc="-5" dirty="0">
                <a:latin typeface="Gill Sans"/>
                <a:cs typeface="Gill Sans"/>
              </a:rPr>
              <a:t>o</a:t>
            </a:r>
            <a:r>
              <a:rPr sz="3600" dirty="0">
                <a:latin typeface="Gill Sans"/>
                <a:cs typeface="Gill Sans"/>
              </a:rPr>
              <a:t>n</a:t>
            </a:r>
            <a:endParaRPr sz="3600">
              <a:latin typeface="Gill Sans"/>
              <a:cs typeface="Gill San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261568" y="6968445"/>
            <a:ext cx="63500" cy="0"/>
          </a:xfrm>
          <a:custGeom>
            <a:avLst/>
            <a:gdLst/>
            <a:ahLst/>
            <a:cxnLst/>
            <a:rect l="l" t="t" r="r" b="b"/>
            <a:pathLst>
              <a:path w="63500">
                <a:moveTo>
                  <a:pt x="0" y="0"/>
                </a:moveTo>
                <a:lnTo>
                  <a:pt x="63500" y="0"/>
                </a:lnTo>
              </a:path>
            </a:pathLst>
          </a:custGeom>
          <a:ln w="3949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163778" y="7134180"/>
            <a:ext cx="259079" cy="259079"/>
          </a:xfrm>
          <a:custGeom>
            <a:avLst/>
            <a:gdLst/>
            <a:ahLst/>
            <a:cxnLst/>
            <a:rect l="l" t="t" r="r" b="b"/>
            <a:pathLst>
              <a:path w="259080" h="259079">
                <a:moveTo>
                  <a:pt x="259080" y="0"/>
                </a:moveTo>
                <a:lnTo>
                  <a:pt x="0" y="0"/>
                </a:lnTo>
                <a:lnTo>
                  <a:pt x="129540" y="259080"/>
                </a:lnTo>
                <a:lnTo>
                  <a:pt x="2590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08000" y="8422950"/>
            <a:ext cx="1797050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365" dirty="0">
                <a:latin typeface="Gill Sans"/>
                <a:cs typeface="Gill Sans"/>
              </a:rPr>
              <a:t>W</a:t>
            </a:r>
            <a:r>
              <a:rPr sz="3600" spc="-20" dirty="0">
                <a:latin typeface="Gill Sans"/>
                <a:cs typeface="Gill Sans"/>
              </a:rPr>
              <a:t>ors</a:t>
            </a:r>
            <a:r>
              <a:rPr sz="3600" dirty="0">
                <a:latin typeface="Gill Sans"/>
                <a:cs typeface="Gill Sans"/>
              </a:rPr>
              <a:t>e</a:t>
            </a:r>
            <a:r>
              <a:rPr sz="3600" spc="-5" dirty="0">
                <a:latin typeface="Gill Sans"/>
                <a:cs typeface="Gill Sans"/>
              </a:rPr>
              <a:t> </a:t>
            </a:r>
            <a:r>
              <a:rPr sz="3600" spc="25" dirty="0">
                <a:latin typeface="Gill Sans"/>
                <a:cs typeface="Gill Sans"/>
              </a:rPr>
              <a:t>fit</a:t>
            </a:r>
            <a:endParaRPr sz="3600">
              <a:latin typeface="Gill Sans"/>
              <a:cs typeface="Gill San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57500" y="4381759"/>
            <a:ext cx="2592705" cy="1739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550"/>
              </a:lnSpc>
            </a:pPr>
            <a:r>
              <a:rPr sz="3000" dirty="0">
                <a:latin typeface="Gill Sans"/>
                <a:cs typeface="Gill Sans"/>
              </a:rPr>
              <a:t>AIC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=</a:t>
            </a:r>
            <a:endParaRPr sz="3000">
              <a:latin typeface="Gill Sans"/>
              <a:cs typeface="Gill Sans"/>
            </a:endParaRPr>
          </a:p>
          <a:p>
            <a:pPr marL="12700" marR="5080">
              <a:lnSpc>
                <a:spcPts val="3500"/>
              </a:lnSpc>
              <a:spcBef>
                <a:spcPts val="150"/>
              </a:spcBef>
            </a:pPr>
            <a:r>
              <a:rPr sz="3000" spc="-15" dirty="0">
                <a:latin typeface="Gill Sans"/>
                <a:cs typeface="Gill Sans"/>
              </a:rPr>
              <a:t>est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spc="-15" dirty="0">
                <a:latin typeface="Gill Sans"/>
                <a:cs typeface="Gill Sans"/>
              </a:rPr>
              <a:t>mator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o</a:t>
            </a:r>
            <a:r>
              <a:rPr sz="3000" dirty="0">
                <a:latin typeface="Gill Sans"/>
                <a:cs typeface="Gill Sans"/>
              </a:rPr>
              <a:t>f </a:t>
            </a:r>
            <a:r>
              <a:rPr sz="3000" spc="-75" dirty="0">
                <a:latin typeface="Gill Sans"/>
                <a:cs typeface="Gill Sans"/>
              </a:rPr>
              <a:t>r</a:t>
            </a:r>
            <a:r>
              <a:rPr sz="3000" dirty="0">
                <a:latin typeface="Gill Sans"/>
                <a:cs typeface="Gill Sans"/>
              </a:rPr>
              <a:t>e</a:t>
            </a:r>
            <a:r>
              <a:rPr sz="3000" spc="-5" dirty="0">
                <a:latin typeface="Gill Sans"/>
                <a:cs typeface="Gill Sans"/>
              </a:rPr>
              <a:t>l</a:t>
            </a:r>
            <a:r>
              <a:rPr sz="3000" spc="-15" dirty="0">
                <a:latin typeface="Gill Sans"/>
                <a:cs typeface="Gill Sans"/>
              </a:rPr>
              <a:t>a</a:t>
            </a:r>
            <a:r>
              <a:rPr sz="3000" dirty="0">
                <a:latin typeface="Gill Sans"/>
                <a:cs typeface="Gill Sans"/>
              </a:rPr>
              <a:t>t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spc="-75" dirty="0">
                <a:latin typeface="Gill Sans"/>
                <a:cs typeface="Gill Sans"/>
              </a:rPr>
              <a:t>v</a:t>
            </a:r>
            <a:r>
              <a:rPr sz="3000" dirty="0">
                <a:latin typeface="Gill Sans"/>
                <a:cs typeface="Gill Sans"/>
              </a:rPr>
              <a:t>e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d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spc="-15" dirty="0">
                <a:latin typeface="Gill Sans"/>
                <a:cs typeface="Gill Sans"/>
              </a:rPr>
              <a:t>stance</a:t>
            </a:r>
            <a:r>
              <a:rPr sz="3000" spc="-10" dirty="0">
                <a:latin typeface="Gill Sans"/>
                <a:cs typeface="Gill Sans"/>
              </a:rPr>
              <a:t> f</a:t>
            </a:r>
            <a:r>
              <a:rPr sz="3000" spc="-90" dirty="0">
                <a:latin typeface="Gill Sans"/>
                <a:cs typeface="Gill Sans"/>
              </a:rPr>
              <a:t>r</a:t>
            </a:r>
            <a:r>
              <a:rPr sz="3000" spc="-20" dirty="0">
                <a:latin typeface="Gill Sans"/>
                <a:cs typeface="Gill Sans"/>
              </a:rPr>
              <a:t>om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dirty="0">
                <a:latin typeface="Gill Sans"/>
                <a:cs typeface="Gill Sans"/>
              </a:rPr>
              <a:t>true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mod</a:t>
            </a:r>
            <a:r>
              <a:rPr sz="3000" dirty="0">
                <a:latin typeface="Gill Sans"/>
                <a:cs typeface="Gill Sans"/>
              </a:rPr>
              <a:t>el</a:t>
            </a:r>
            <a:endParaRPr sz="3000">
              <a:latin typeface="Gill Sans"/>
              <a:cs typeface="Gill San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08300" y="8471158"/>
            <a:ext cx="4427220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dirty="0">
                <a:latin typeface="Gill Sans"/>
                <a:cs typeface="Gill Sans"/>
              </a:rPr>
              <a:t>h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spc="-15" dirty="0">
                <a:latin typeface="Gill Sans"/>
                <a:cs typeface="Gill Sans"/>
              </a:rPr>
              <a:t>g</a:t>
            </a:r>
            <a:r>
              <a:rPr sz="3000" dirty="0">
                <a:latin typeface="Gill Sans"/>
                <a:cs typeface="Gill Sans"/>
              </a:rPr>
              <a:t>her</a:t>
            </a:r>
            <a:r>
              <a:rPr sz="3000" spc="-305" dirty="0">
                <a:latin typeface="Gill Sans"/>
                <a:cs typeface="Gill Sans"/>
              </a:rPr>
              <a:t> </a:t>
            </a:r>
            <a:r>
              <a:rPr sz="3000" dirty="0">
                <a:latin typeface="Gill Sans"/>
                <a:cs typeface="Gill Sans"/>
              </a:rPr>
              <a:t>AIC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=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dirty="0">
                <a:latin typeface="Gill Sans"/>
                <a:cs typeface="Gill Sans"/>
              </a:rPr>
              <a:t>h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spc="-15" dirty="0">
                <a:latin typeface="Gill Sans"/>
                <a:cs typeface="Gill Sans"/>
              </a:rPr>
              <a:t>g</a:t>
            </a:r>
            <a:r>
              <a:rPr sz="3000" dirty="0">
                <a:latin typeface="Gill Sans"/>
                <a:cs typeface="Gill Sans"/>
              </a:rPr>
              <a:t>her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d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spc="-15" dirty="0">
                <a:latin typeface="Gill Sans"/>
                <a:cs typeface="Gill Sans"/>
              </a:rPr>
              <a:t>stance</a:t>
            </a:r>
            <a:endParaRPr sz="3000">
              <a:latin typeface="Gill Sans"/>
              <a:cs typeface="Gill San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57659" y="3726660"/>
            <a:ext cx="406400" cy="301752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dirty="0">
                <a:latin typeface="Gill Sans"/>
                <a:cs typeface="Gill Sans"/>
              </a:rPr>
              <a:t>d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dirty="0">
                <a:latin typeface="Gill Sans"/>
                <a:cs typeface="Gill Sans"/>
              </a:rPr>
              <a:t>stance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dirty="0">
                <a:latin typeface="Gill Sans"/>
                <a:cs typeface="Gill Sans"/>
              </a:rPr>
              <a:t>f</a:t>
            </a:r>
            <a:r>
              <a:rPr sz="3000" spc="-75" dirty="0">
                <a:latin typeface="Gill Sans"/>
                <a:cs typeface="Gill Sans"/>
              </a:rPr>
              <a:t>r</a:t>
            </a:r>
            <a:r>
              <a:rPr sz="3000" dirty="0">
                <a:latin typeface="Gill Sans"/>
                <a:cs typeface="Gill Sans"/>
              </a:rPr>
              <a:t>om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dirty="0">
                <a:latin typeface="Gill Sans"/>
                <a:cs typeface="Gill Sans"/>
              </a:rPr>
              <a:t>truth</a:t>
            </a:r>
            <a:endParaRPr sz="3000">
              <a:latin typeface="Gill Sans"/>
              <a:cs typeface="Gill Sans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47180" y="2089199"/>
            <a:ext cx="0" cy="6755765"/>
          </a:xfrm>
          <a:custGeom>
            <a:avLst/>
            <a:gdLst/>
            <a:ahLst/>
            <a:cxnLst/>
            <a:rect l="l" t="t" r="r" b="b"/>
            <a:pathLst>
              <a:path h="6755765">
                <a:moveTo>
                  <a:pt x="0" y="0"/>
                </a:moveTo>
                <a:lnTo>
                  <a:pt x="0" y="6755477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422859" y="1983131"/>
            <a:ext cx="448945" cy="213995"/>
          </a:xfrm>
          <a:custGeom>
            <a:avLst/>
            <a:gdLst/>
            <a:ahLst/>
            <a:cxnLst/>
            <a:rect l="l" t="t" r="r" b="b"/>
            <a:pathLst>
              <a:path w="448944" h="213994">
                <a:moveTo>
                  <a:pt x="21537" y="0"/>
                </a:moveTo>
                <a:lnTo>
                  <a:pt x="448641" y="153991"/>
                </a:lnTo>
                <a:lnTo>
                  <a:pt x="427103" y="213727"/>
                </a:lnTo>
                <a:lnTo>
                  <a:pt x="0" y="59735"/>
                </a:lnTo>
                <a:lnTo>
                  <a:pt x="21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422859" y="1843431"/>
            <a:ext cx="448945" cy="213995"/>
          </a:xfrm>
          <a:custGeom>
            <a:avLst/>
            <a:gdLst/>
            <a:ahLst/>
            <a:cxnLst/>
            <a:rect l="l" t="t" r="r" b="b"/>
            <a:pathLst>
              <a:path w="448944" h="213994">
                <a:moveTo>
                  <a:pt x="21537" y="0"/>
                </a:moveTo>
                <a:lnTo>
                  <a:pt x="448641" y="153991"/>
                </a:lnTo>
                <a:lnTo>
                  <a:pt x="427103" y="213727"/>
                </a:lnTo>
                <a:lnTo>
                  <a:pt x="0" y="59735"/>
                </a:lnTo>
                <a:lnTo>
                  <a:pt x="21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647180" y="1424566"/>
            <a:ext cx="0" cy="508634"/>
          </a:xfrm>
          <a:custGeom>
            <a:avLst/>
            <a:gdLst/>
            <a:ahLst/>
            <a:cxnLst/>
            <a:rect l="l" t="t" r="r" b="b"/>
            <a:pathLst>
              <a:path h="508635">
                <a:moveTo>
                  <a:pt x="0" y="0"/>
                </a:moveTo>
                <a:lnTo>
                  <a:pt x="0" y="508136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28700" y="905551"/>
            <a:ext cx="3244850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b="1" dirty="0">
                <a:latin typeface="Gill Sans"/>
                <a:cs typeface="Gill Sans"/>
              </a:rPr>
              <a:t>“</a:t>
            </a:r>
            <a:r>
              <a:rPr sz="3600" b="1" spc="-105" dirty="0">
                <a:latin typeface="Gill Sans"/>
                <a:cs typeface="Gill Sans"/>
              </a:rPr>
              <a:t>T</a:t>
            </a:r>
            <a:r>
              <a:rPr sz="3600" b="1" spc="-55" dirty="0">
                <a:latin typeface="Gill Sans"/>
                <a:cs typeface="Gill Sans"/>
              </a:rPr>
              <a:t>r</a:t>
            </a:r>
            <a:r>
              <a:rPr sz="3600" b="1" spc="-5" dirty="0">
                <a:latin typeface="Gill Sans"/>
                <a:cs typeface="Gill Sans"/>
              </a:rPr>
              <a:t>u</a:t>
            </a:r>
            <a:r>
              <a:rPr sz="3600" b="1" dirty="0">
                <a:latin typeface="Gill Sans"/>
                <a:cs typeface="Gill Sans"/>
              </a:rPr>
              <a:t>e</a:t>
            </a:r>
            <a:r>
              <a:rPr sz="3600" b="1" spc="-5" dirty="0">
                <a:latin typeface="Gill Sans"/>
                <a:cs typeface="Gill Sans"/>
              </a:rPr>
              <a:t> mo</a:t>
            </a:r>
            <a:r>
              <a:rPr sz="3600" b="1" dirty="0">
                <a:latin typeface="Gill Sans"/>
                <a:cs typeface="Gill Sans"/>
              </a:rPr>
              <a:t>del”</a:t>
            </a:r>
            <a:endParaRPr sz="3600">
              <a:latin typeface="Gill Sans"/>
              <a:cs typeface="Gill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4500" y="2238050"/>
            <a:ext cx="1714500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dirty="0">
                <a:latin typeface="Gill Sans"/>
                <a:cs typeface="Gill Sans"/>
              </a:rPr>
              <a:t>Better</a:t>
            </a:r>
            <a:r>
              <a:rPr sz="3600" spc="-5" dirty="0">
                <a:latin typeface="Gill Sans"/>
                <a:cs typeface="Gill Sans"/>
              </a:rPr>
              <a:t> </a:t>
            </a:r>
            <a:r>
              <a:rPr sz="3600" spc="25" dirty="0">
                <a:latin typeface="Gill Sans"/>
                <a:cs typeface="Gill Sans"/>
              </a:rPr>
              <a:t>fit</a:t>
            </a:r>
            <a:endParaRPr sz="3600">
              <a:latin typeface="Gill Sans"/>
              <a:cs typeface="Gill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19400" y="2273559"/>
            <a:ext cx="4285615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spc="-5" dirty="0">
                <a:latin typeface="Gill Sans"/>
                <a:cs typeface="Gill Sans"/>
              </a:rPr>
              <a:t>l</a:t>
            </a:r>
            <a:r>
              <a:rPr sz="3000" spc="-50" dirty="0">
                <a:latin typeface="Gill Sans"/>
                <a:cs typeface="Gill Sans"/>
              </a:rPr>
              <a:t>o</a:t>
            </a:r>
            <a:r>
              <a:rPr sz="3000" spc="-65" dirty="0">
                <a:latin typeface="Gill Sans"/>
                <a:cs typeface="Gill Sans"/>
              </a:rPr>
              <a:t>w</a:t>
            </a:r>
            <a:r>
              <a:rPr sz="3000" dirty="0">
                <a:latin typeface="Gill Sans"/>
                <a:cs typeface="Gill Sans"/>
              </a:rPr>
              <a:t>er</a:t>
            </a:r>
            <a:r>
              <a:rPr sz="3000" spc="-305" dirty="0">
                <a:latin typeface="Gill Sans"/>
                <a:cs typeface="Gill Sans"/>
              </a:rPr>
              <a:t> </a:t>
            </a:r>
            <a:r>
              <a:rPr sz="3000" dirty="0">
                <a:latin typeface="Gill Sans"/>
                <a:cs typeface="Gill Sans"/>
              </a:rPr>
              <a:t>AIC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=</a:t>
            </a:r>
            <a:r>
              <a:rPr sz="3000" spc="-5" dirty="0">
                <a:latin typeface="Gill Sans"/>
                <a:cs typeface="Gill Sans"/>
              </a:rPr>
              <a:t> l</a:t>
            </a:r>
            <a:r>
              <a:rPr sz="3000" spc="-50" dirty="0">
                <a:latin typeface="Gill Sans"/>
                <a:cs typeface="Gill Sans"/>
              </a:rPr>
              <a:t>o</a:t>
            </a:r>
            <a:r>
              <a:rPr sz="3000" spc="-65" dirty="0">
                <a:latin typeface="Gill Sans"/>
                <a:cs typeface="Gill Sans"/>
              </a:rPr>
              <a:t>w</a:t>
            </a:r>
            <a:r>
              <a:rPr sz="3000" dirty="0">
                <a:latin typeface="Gill Sans"/>
                <a:cs typeface="Gill Sans"/>
              </a:rPr>
              <a:t>er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d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spc="-15" dirty="0">
                <a:latin typeface="Gill Sans"/>
                <a:cs typeface="Gill Sans"/>
              </a:rPr>
              <a:t>stance</a:t>
            </a:r>
            <a:endParaRPr sz="3000">
              <a:latin typeface="Gill Sans"/>
              <a:cs typeface="Gill San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334620" y="2459184"/>
            <a:ext cx="313690" cy="0"/>
          </a:xfrm>
          <a:custGeom>
            <a:avLst/>
            <a:gdLst/>
            <a:ahLst/>
            <a:cxnLst/>
            <a:rect l="l" t="t" r="r" b="b"/>
            <a:pathLst>
              <a:path w="313689">
                <a:moveTo>
                  <a:pt x="0" y="0"/>
                </a:moveTo>
                <a:lnTo>
                  <a:pt x="31353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361667" y="8668873"/>
            <a:ext cx="313690" cy="0"/>
          </a:xfrm>
          <a:custGeom>
            <a:avLst/>
            <a:gdLst/>
            <a:ahLst/>
            <a:cxnLst/>
            <a:rect l="l" t="t" r="r" b="b"/>
            <a:pathLst>
              <a:path w="313689">
                <a:moveTo>
                  <a:pt x="0" y="0"/>
                </a:moveTo>
                <a:lnTo>
                  <a:pt x="31353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521" rIns="0" bIns="0" rtlCol="0">
            <a:spAutoFit/>
          </a:bodyPr>
          <a:lstStyle/>
          <a:p>
            <a:pPr marL="1711325">
              <a:lnSpc>
                <a:spcPct val="100000"/>
              </a:lnSpc>
            </a:pPr>
            <a:r>
              <a:rPr sz="3600" spc="-30" dirty="0">
                <a:latin typeface="Gill Sans"/>
                <a:cs typeface="Gill Sans"/>
              </a:rPr>
              <a:t>Ak</a:t>
            </a:r>
            <a:r>
              <a:rPr sz="3600" spc="25" dirty="0">
                <a:latin typeface="Gill Sans"/>
                <a:cs typeface="Gill Sans"/>
              </a:rPr>
              <a:t>a</a:t>
            </a:r>
            <a:r>
              <a:rPr sz="3600" dirty="0">
                <a:latin typeface="Gill Sans"/>
                <a:cs typeface="Gill Sans"/>
              </a:rPr>
              <a:t>i</a:t>
            </a:r>
            <a:r>
              <a:rPr sz="3600" spc="-180" dirty="0">
                <a:latin typeface="Gill Sans"/>
                <a:cs typeface="Gill Sans"/>
              </a:rPr>
              <a:t>k</a:t>
            </a:r>
            <a:r>
              <a:rPr sz="3600" dirty="0">
                <a:latin typeface="Gill Sans"/>
                <a:cs typeface="Gill Sans"/>
              </a:rPr>
              <a:t>e</a:t>
            </a:r>
            <a:r>
              <a:rPr sz="3600" spc="-5" dirty="0">
                <a:latin typeface="Gill Sans"/>
                <a:cs typeface="Gill Sans"/>
              </a:rPr>
              <a:t> </a:t>
            </a:r>
            <a:r>
              <a:rPr sz="3600" dirty="0">
                <a:latin typeface="Gill Sans"/>
                <a:cs typeface="Gill Sans"/>
              </a:rPr>
              <a:t>I</a:t>
            </a:r>
            <a:r>
              <a:rPr sz="3600" spc="-5" dirty="0">
                <a:latin typeface="Gill Sans"/>
                <a:cs typeface="Gill Sans"/>
              </a:rPr>
              <a:t>nfo</a:t>
            </a:r>
            <a:r>
              <a:rPr sz="3600" dirty="0">
                <a:latin typeface="Gill Sans"/>
                <a:cs typeface="Gill Sans"/>
              </a:rPr>
              <a:t>r</a:t>
            </a:r>
            <a:r>
              <a:rPr sz="3600" spc="-5" dirty="0">
                <a:latin typeface="Gill Sans"/>
                <a:cs typeface="Gill Sans"/>
              </a:rPr>
              <a:t>m</a:t>
            </a:r>
            <a:r>
              <a:rPr sz="3600" spc="-25" dirty="0">
                <a:latin typeface="Gill Sans"/>
                <a:cs typeface="Gill Sans"/>
              </a:rPr>
              <a:t>a</a:t>
            </a:r>
            <a:r>
              <a:rPr sz="3600" spc="-5" dirty="0">
                <a:latin typeface="Gill Sans"/>
                <a:cs typeface="Gill Sans"/>
              </a:rPr>
              <a:t>t</a:t>
            </a:r>
            <a:r>
              <a:rPr sz="3600" dirty="0">
                <a:latin typeface="Gill Sans"/>
                <a:cs typeface="Gill Sans"/>
              </a:rPr>
              <a:t>i</a:t>
            </a:r>
            <a:r>
              <a:rPr sz="3600" spc="-5" dirty="0">
                <a:latin typeface="Gill Sans"/>
                <a:cs typeface="Gill Sans"/>
              </a:rPr>
              <a:t>o</a:t>
            </a:r>
            <a:r>
              <a:rPr sz="3600" dirty="0">
                <a:latin typeface="Gill Sans"/>
                <a:cs typeface="Gill Sans"/>
              </a:rPr>
              <a:t>n</a:t>
            </a:r>
            <a:r>
              <a:rPr sz="3600" spc="-5" dirty="0">
                <a:latin typeface="Gill Sans"/>
                <a:cs typeface="Gill Sans"/>
              </a:rPr>
              <a:t> </a:t>
            </a:r>
            <a:r>
              <a:rPr sz="3600" dirty="0">
                <a:latin typeface="Gill Sans"/>
                <a:cs typeface="Gill Sans"/>
              </a:rPr>
              <a:t>C</a:t>
            </a:r>
            <a:r>
              <a:rPr sz="3600" spc="-155" dirty="0">
                <a:latin typeface="Gill Sans"/>
                <a:cs typeface="Gill Sans"/>
              </a:rPr>
              <a:t>r</a:t>
            </a:r>
            <a:r>
              <a:rPr sz="3600" dirty="0">
                <a:latin typeface="Gill Sans"/>
                <a:cs typeface="Gill Sans"/>
              </a:rPr>
              <a:t>i</a:t>
            </a:r>
            <a:r>
              <a:rPr sz="3600" spc="-5" dirty="0">
                <a:latin typeface="Gill Sans"/>
                <a:cs typeface="Gill Sans"/>
              </a:rPr>
              <a:t>t</a:t>
            </a:r>
            <a:r>
              <a:rPr sz="3600" dirty="0">
                <a:latin typeface="Gill Sans"/>
                <a:cs typeface="Gill Sans"/>
              </a:rPr>
              <a:t>e</a:t>
            </a:r>
            <a:r>
              <a:rPr sz="3600" spc="-155" dirty="0">
                <a:latin typeface="Gill Sans"/>
                <a:cs typeface="Gill Sans"/>
              </a:rPr>
              <a:t>r</a:t>
            </a:r>
            <a:r>
              <a:rPr sz="3600" dirty="0">
                <a:latin typeface="Gill Sans"/>
                <a:cs typeface="Gill Sans"/>
              </a:rPr>
              <a:t>i</a:t>
            </a:r>
            <a:r>
              <a:rPr sz="3600" spc="-5" dirty="0">
                <a:latin typeface="Gill Sans"/>
                <a:cs typeface="Gill Sans"/>
              </a:rPr>
              <a:t>o</a:t>
            </a:r>
            <a:r>
              <a:rPr sz="3600" dirty="0">
                <a:latin typeface="Gill Sans"/>
                <a:cs typeface="Gill Sans"/>
              </a:rPr>
              <a:t>n</a:t>
            </a:r>
            <a:endParaRPr sz="3600">
              <a:latin typeface="Gill Sans"/>
              <a:cs typeface="Gill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8000" y="8422950"/>
            <a:ext cx="1797050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365" dirty="0">
                <a:latin typeface="Gill Sans"/>
                <a:cs typeface="Gill Sans"/>
              </a:rPr>
              <a:t>W</a:t>
            </a:r>
            <a:r>
              <a:rPr sz="3600" spc="-20" dirty="0">
                <a:latin typeface="Gill Sans"/>
                <a:cs typeface="Gill Sans"/>
              </a:rPr>
              <a:t>ors</a:t>
            </a:r>
            <a:r>
              <a:rPr sz="3600" dirty="0">
                <a:latin typeface="Gill Sans"/>
                <a:cs typeface="Gill Sans"/>
              </a:rPr>
              <a:t>e</a:t>
            </a:r>
            <a:r>
              <a:rPr sz="3600" spc="-5" dirty="0">
                <a:latin typeface="Gill Sans"/>
                <a:cs typeface="Gill Sans"/>
              </a:rPr>
              <a:t> </a:t>
            </a:r>
            <a:r>
              <a:rPr sz="3600" spc="25" dirty="0">
                <a:latin typeface="Gill Sans"/>
                <a:cs typeface="Gill Sans"/>
              </a:rPr>
              <a:t>fit</a:t>
            </a:r>
            <a:endParaRPr sz="3600">
              <a:latin typeface="Gill Sans"/>
              <a:cs typeface="Gill San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57500" y="4381759"/>
            <a:ext cx="2592705" cy="1739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550"/>
              </a:lnSpc>
            </a:pPr>
            <a:r>
              <a:rPr sz="3000" dirty="0">
                <a:latin typeface="Gill Sans"/>
                <a:cs typeface="Gill Sans"/>
              </a:rPr>
              <a:t>AIC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=</a:t>
            </a:r>
            <a:endParaRPr sz="3000">
              <a:latin typeface="Gill Sans"/>
              <a:cs typeface="Gill Sans"/>
            </a:endParaRPr>
          </a:p>
          <a:p>
            <a:pPr marL="12700" marR="5080">
              <a:lnSpc>
                <a:spcPts val="3500"/>
              </a:lnSpc>
              <a:spcBef>
                <a:spcPts val="150"/>
              </a:spcBef>
            </a:pPr>
            <a:r>
              <a:rPr sz="3000" spc="-15" dirty="0">
                <a:latin typeface="Gill Sans"/>
                <a:cs typeface="Gill Sans"/>
              </a:rPr>
              <a:t>est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spc="-15" dirty="0">
                <a:latin typeface="Gill Sans"/>
                <a:cs typeface="Gill Sans"/>
              </a:rPr>
              <a:t>mator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o</a:t>
            </a:r>
            <a:r>
              <a:rPr sz="3000" dirty="0">
                <a:latin typeface="Gill Sans"/>
                <a:cs typeface="Gill Sans"/>
              </a:rPr>
              <a:t>f </a:t>
            </a:r>
            <a:r>
              <a:rPr sz="3000" spc="-75" dirty="0">
                <a:latin typeface="Gill Sans"/>
                <a:cs typeface="Gill Sans"/>
              </a:rPr>
              <a:t>r</a:t>
            </a:r>
            <a:r>
              <a:rPr sz="3000" dirty="0">
                <a:latin typeface="Gill Sans"/>
                <a:cs typeface="Gill Sans"/>
              </a:rPr>
              <a:t>e</a:t>
            </a:r>
            <a:r>
              <a:rPr sz="3000" spc="-5" dirty="0">
                <a:latin typeface="Gill Sans"/>
                <a:cs typeface="Gill Sans"/>
              </a:rPr>
              <a:t>l</a:t>
            </a:r>
            <a:r>
              <a:rPr sz="3000" spc="-15" dirty="0">
                <a:latin typeface="Gill Sans"/>
                <a:cs typeface="Gill Sans"/>
              </a:rPr>
              <a:t>a</a:t>
            </a:r>
            <a:r>
              <a:rPr sz="3000" dirty="0">
                <a:latin typeface="Gill Sans"/>
                <a:cs typeface="Gill Sans"/>
              </a:rPr>
              <a:t>t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spc="-75" dirty="0">
                <a:latin typeface="Gill Sans"/>
                <a:cs typeface="Gill Sans"/>
              </a:rPr>
              <a:t>v</a:t>
            </a:r>
            <a:r>
              <a:rPr sz="3000" dirty="0">
                <a:latin typeface="Gill Sans"/>
                <a:cs typeface="Gill Sans"/>
              </a:rPr>
              <a:t>e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d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spc="-15" dirty="0">
                <a:latin typeface="Gill Sans"/>
                <a:cs typeface="Gill Sans"/>
              </a:rPr>
              <a:t>stance</a:t>
            </a:r>
            <a:r>
              <a:rPr sz="3000" spc="-10" dirty="0">
                <a:latin typeface="Gill Sans"/>
                <a:cs typeface="Gill Sans"/>
              </a:rPr>
              <a:t> f</a:t>
            </a:r>
            <a:r>
              <a:rPr sz="3000" spc="-90" dirty="0">
                <a:latin typeface="Gill Sans"/>
                <a:cs typeface="Gill Sans"/>
              </a:rPr>
              <a:t>r</a:t>
            </a:r>
            <a:r>
              <a:rPr sz="3000" spc="-20" dirty="0">
                <a:latin typeface="Gill Sans"/>
                <a:cs typeface="Gill Sans"/>
              </a:rPr>
              <a:t>om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dirty="0">
                <a:latin typeface="Gill Sans"/>
                <a:cs typeface="Gill Sans"/>
              </a:rPr>
              <a:t>true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mod</a:t>
            </a:r>
            <a:r>
              <a:rPr sz="3000" dirty="0">
                <a:latin typeface="Gill Sans"/>
                <a:cs typeface="Gill Sans"/>
              </a:rPr>
              <a:t>el</a:t>
            </a:r>
            <a:endParaRPr sz="3000">
              <a:latin typeface="Gill Sans"/>
              <a:cs typeface="Gill San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599122" y="4332276"/>
            <a:ext cx="5843270" cy="1511300"/>
          </a:xfrm>
          <a:prstGeom prst="rect">
            <a:avLst/>
          </a:prstGeom>
          <a:ln w="762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82344" marR="967740" algn="ctr">
              <a:lnSpc>
                <a:spcPts val="3500"/>
              </a:lnSpc>
            </a:pPr>
            <a:r>
              <a:rPr sz="3000" b="1" spc="-25" dirty="0">
                <a:latin typeface="Gill Sans"/>
                <a:cs typeface="Gill Sans"/>
              </a:rPr>
              <a:t>Ak</a:t>
            </a:r>
            <a:r>
              <a:rPr sz="3000" b="1" spc="20" dirty="0">
                <a:latin typeface="Gill Sans"/>
                <a:cs typeface="Gill Sans"/>
              </a:rPr>
              <a:t>a</a:t>
            </a:r>
            <a:r>
              <a:rPr sz="3000" b="1" dirty="0">
                <a:latin typeface="Gill Sans"/>
                <a:cs typeface="Gill Sans"/>
              </a:rPr>
              <a:t>i</a:t>
            </a:r>
            <a:r>
              <a:rPr sz="3000" b="1" spc="-150" dirty="0">
                <a:latin typeface="Gill Sans"/>
                <a:cs typeface="Gill Sans"/>
              </a:rPr>
              <a:t>k</a:t>
            </a:r>
            <a:r>
              <a:rPr sz="3000" b="1" dirty="0">
                <a:latin typeface="Gill Sans"/>
                <a:cs typeface="Gill Sans"/>
              </a:rPr>
              <a:t>e</a:t>
            </a:r>
            <a:r>
              <a:rPr sz="3000" b="1" spc="-5" dirty="0">
                <a:latin typeface="Gill Sans"/>
                <a:cs typeface="Gill Sans"/>
              </a:rPr>
              <a:t> </a:t>
            </a:r>
            <a:r>
              <a:rPr sz="3000" b="1" dirty="0">
                <a:latin typeface="Gill Sans"/>
                <a:cs typeface="Gill Sans"/>
              </a:rPr>
              <a:t>In</a:t>
            </a:r>
            <a:r>
              <a:rPr sz="3000" b="1" spc="-5" dirty="0">
                <a:latin typeface="Gill Sans"/>
                <a:cs typeface="Gill Sans"/>
              </a:rPr>
              <a:t>fo</a:t>
            </a:r>
            <a:r>
              <a:rPr sz="3000" b="1" dirty="0">
                <a:latin typeface="Gill Sans"/>
                <a:cs typeface="Gill Sans"/>
              </a:rPr>
              <a:t>r</a:t>
            </a:r>
            <a:r>
              <a:rPr sz="3000" b="1" spc="-5" dirty="0">
                <a:latin typeface="Gill Sans"/>
                <a:cs typeface="Gill Sans"/>
              </a:rPr>
              <a:t>m</a:t>
            </a:r>
            <a:r>
              <a:rPr sz="3000" b="1" spc="-20" dirty="0">
                <a:latin typeface="Gill Sans"/>
                <a:cs typeface="Gill Sans"/>
              </a:rPr>
              <a:t>a</a:t>
            </a:r>
            <a:r>
              <a:rPr sz="3000" b="1" spc="-5" dirty="0">
                <a:latin typeface="Gill Sans"/>
                <a:cs typeface="Gill Sans"/>
              </a:rPr>
              <a:t>t</a:t>
            </a:r>
            <a:r>
              <a:rPr sz="3000" b="1" dirty="0">
                <a:latin typeface="Gill Sans"/>
                <a:cs typeface="Gill Sans"/>
              </a:rPr>
              <a:t>i</a:t>
            </a:r>
            <a:r>
              <a:rPr sz="3000" b="1" spc="-5" dirty="0">
                <a:latin typeface="Gill Sans"/>
                <a:cs typeface="Gill Sans"/>
              </a:rPr>
              <a:t>o</a:t>
            </a:r>
            <a:r>
              <a:rPr sz="3000" b="1" dirty="0">
                <a:latin typeface="Gill Sans"/>
                <a:cs typeface="Gill Sans"/>
              </a:rPr>
              <a:t>n C</a:t>
            </a:r>
            <a:r>
              <a:rPr sz="3000" b="1" spc="-130" dirty="0">
                <a:latin typeface="Gill Sans"/>
                <a:cs typeface="Gill Sans"/>
              </a:rPr>
              <a:t>r</a:t>
            </a:r>
            <a:r>
              <a:rPr sz="3000" b="1" dirty="0">
                <a:latin typeface="Gill Sans"/>
                <a:cs typeface="Gill Sans"/>
              </a:rPr>
              <a:t>i</a:t>
            </a:r>
            <a:r>
              <a:rPr sz="3000" b="1" spc="-5" dirty="0">
                <a:latin typeface="Gill Sans"/>
                <a:cs typeface="Gill Sans"/>
              </a:rPr>
              <a:t>t</a:t>
            </a:r>
            <a:r>
              <a:rPr sz="3000" b="1" dirty="0">
                <a:latin typeface="Gill Sans"/>
                <a:cs typeface="Gill Sans"/>
              </a:rPr>
              <a:t>e</a:t>
            </a:r>
            <a:r>
              <a:rPr sz="3000" b="1" spc="-130" dirty="0">
                <a:latin typeface="Gill Sans"/>
                <a:cs typeface="Gill Sans"/>
              </a:rPr>
              <a:t>r</a:t>
            </a:r>
            <a:r>
              <a:rPr sz="3000" b="1" dirty="0">
                <a:latin typeface="Gill Sans"/>
                <a:cs typeface="Gill Sans"/>
              </a:rPr>
              <a:t>i</a:t>
            </a:r>
            <a:r>
              <a:rPr sz="3000" b="1" spc="-5" dirty="0">
                <a:latin typeface="Gill Sans"/>
                <a:cs typeface="Gill Sans"/>
              </a:rPr>
              <a:t>o</a:t>
            </a:r>
            <a:r>
              <a:rPr sz="3000" b="1" dirty="0">
                <a:latin typeface="Gill Sans"/>
                <a:cs typeface="Gill Sans"/>
              </a:rPr>
              <a:t>n</a:t>
            </a:r>
            <a:r>
              <a:rPr sz="3000" b="1" spc="-5" dirty="0">
                <a:latin typeface="Gill Sans"/>
                <a:cs typeface="Gill Sans"/>
              </a:rPr>
              <a:t> </a:t>
            </a:r>
            <a:r>
              <a:rPr sz="3000" b="1" spc="-15" dirty="0">
                <a:latin typeface="Gill Sans"/>
                <a:cs typeface="Gill Sans"/>
              </a:rPr>
              <a:t>(</a:t>
            </a:r>
            <a:r>
              <a:rPr sz="3000" b="1" dirty="0">
                <a:latin typeface="Gill Sans"/>
                <a:cs typeface="Gill Sans"/>
              </a:rPr>
              <a:t>AIC</a:t>
            </a:r>
            <a:r>
              <a:rPr sz="3000" b="1" spc="-15" dirty="0">
                <a:latin typeface="Gill Sans"/>
                <a:cs typeface="Gill Sans"/>
              </a:rPr>
              <a:t>)</a:t>
            </a:r>
            <a:r>
              <a:rPr sz="3000" b="1" spc="-5" dirty="0">
                <a:latin typeface="Gill Sans"/>
                <a:cs typeface="Gill Sans"/>
              </a:rPr>
              <a:t> </a:t>
            </a:r>
            <a:r>
              <a:rPr sz="3000" b="1" spc="-20" dirty="0">
                <a:latin typeface="Gill Sans"/>
                <a:cs typeface="Gill Sans"/>
              </a:rPr>
              <a:t>=</a:t>
            </a:r>
            <a:endParaRPr sz="3000">
              <a:latin typeface="Gill Sans"/>
              <a:cs typeface="Gill Sans"/>
            </a:endParaRPr>
          </a:p>
          <a:p>
            <a:pPr algn="ctr">
              <a:lnSpc>
                <a:spcPts val="3400"/>
              </a:lnSpc>
            </a:pPr>
            <a:r>
              <a:rPr sz="3000" spc="-5" dirty="0">
                <a:latin typeface="Gill Sans"/>
                <a:cs typeface="Gill Sans"/>
              </a:rPr>
              <a:t>-</a:t>
            </a:r>
            <a:r>
              <a:rPr sz="3000" dirty="0">
                <a:latin typeface="Gill Sans"/>
                <a:cs typeface="Gill Sans"/>
              </a:rPr>
              <a:t>2</a:t>
            </a:r>
            <a:r>
              <a:rPr sz="3000" spc="-5" dirty="0">
                <a:latin typeface="Gill Sans"/>
                <a:cs typeface="Gill Sans"/>
              </a:rPr>
              <a:t>(L</a:t>
            </a:r>
            <a:r>
              <a:rPr sz="3000" dirty="0">
                <a:latin typeface="Gill Sans"/>
                <a:cs typeface="Gill Sans"/>
              </a:rPr>
              <a:t>nL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dirty="0">
                <a:latin typeface="Gill Sans"/>
                <a:cs typeface="Gill Sans"/>
              </a:rPr>
              <a:t>-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#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o</a:t>
            </a:r>
            <a:r>
              <a:rPr sz="3000" dirty="0">
                <a:latin typeface="Gill Sans"/>
                <a:cs typeface="Gill Sans"/>
              </a:rPr>
              <a:t>f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15" dirty="0">
                <a:latin typeface="Gill Sans"/>
                <a:cs typeface="Gill Sans"/>
              </a:rPr>
              <a:t>parameters</a:t>
            </a:r>
            <a:r>
              <a:rPr sz="3000" dirty="0">
                <a:latin typeface="Gill Sans"/>
                <a:cs typeface="Gill Sans"/>
              </a:rPr>
              <a:t>)</a:t>
            </a:r>
            <a:endParaRPr sz="3000">
              <a:latin typeface="Gill Sans"/>
              <a:cs typeface="Gill San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08300" y="8471158"/>
            <a:ext cx="4427220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dirty="0">
                <a:latin typeface="Gill Sans"/>
                <a:cs typeface="Gill Sans"/>
              </a:rPr>
              <a:t>h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spc="-15" dirty="0">
                <a:latin typeface="Gill Sans"/>
                <a:cs typeface="Gill Sans"/>
              </a:rPr>
              <a:t>g</a:t>
            </a:r>
            <a:r>
              <a:rPr sz="3000" dirty="0">
                <a:latin typeface="Gill Sans"/>
                <a:cs typeface="Gill Sans"/>
              </a:rPr>
              <a:t>her</a:t>
            </a:r>
            <a:r>
              <a:rPr sz="3000" spc="-305" dirty="0">
                <a:latin typeface="Gill Sans"/>
                <a:cs typeface="Gill Sans"/>
              </a:rPr>
              <a:t> </a:t>
            </a:r>
            <a:r>
              <a:rPr sz="3000" dirty="0">
                <a:latin typeface="Gill Sans"/>
                <a:cs typeface="Gill Sans"/>
              </a:rPr>
              <a:t>AIC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=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dirty="0">
                <a:latin typeface="Gill Sans"/>
                <a:cs typeface="Gill Sans"/>
              </a:rPr>
              <a:t>h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spc="-15" dirty="0">
                <a:latin typeface="Gill Sans"/>
                <a:cs typeface="Gill Sans"/>
              </a:rPr>
              <a:t>g</a:t>
            </a:r>
            <a:r>
              <a:rPr sz="3000" dirty="0">
                <a:latin typeface="Gill Sans"/>
                <a:cs typeface="Gill Sans"/>
              </a:rPr>
              <a:t>her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d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spc="-15" dirty="0">
                <a:latin typeface="Gill Sans"/>
                <a:cs typeface="Gill Sans"/>
              </a:rPr>
              <a:t>stance</a:t>
            </a:r>
            <a:endParaRPr sz="3000">
              <a:latin typeface="Gill Sans"/>
              <a:cs typeface="Gill San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261568" y="6968445"/>
            <a:ext cx="63500" cy="0"/>
          </a:xfrm>
          <a:custGeom>
            <a:avLst/>
            <a:gdLst/>
            <a:ahLst/>
            <a:cxnLst/>
            <a:rect l="l" t="t" r="r" b="b"/>
            <a:pathLst>
              <a:path w="63500">
                <a:moveTo>
                  <a:pt x="0" y="0"/>
                </a:moveTo>
                <a:lnTo>
                  <a:pt x="63500" y="0"/>
                </a:lnTo>
              </a:path>
            </a:pathLst>
          </a:custGeom>
          <a:ln w="3949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163778" y="7134180"/>
            <a:ext cx="259079" cy="259079"/>
          </a:xfrm>
          <a:custGeom>
            <a:avLst/>
            <a:gdLst/>
            <a:ahLst/>
            <a:cxnLst/>
            <a:rect l="l" t="t" r="r" b="b"/>
            <a:pathLst>
              <a:path w="259080" h="259079">
                <a:moveTo>
                  <a:pt x="259080" y="0"/>
                </a:moveTo>
                <a:lnTo>
                  <a:pt x="0" y="0"/>
                </a:lnTo>
                <a:lnTo>
                  <a:pt x="129540" y="259080"/>
                </a:lnTo>
                <a:lnTo>
                  <a:pt x="2590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057659" y="3726660"/>
            <a:ext cx="406400" cy="301752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dirty="0">
                <a:latin typeface="Gill Sans"/>
                <a:cs typeface="Gill Sans"/>
              </a:rPr>
              <a:t>d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dirty="0">
                <a:latin typeface="Gill Sans"/>
                <a:cs typeface="Gill Sans"/>
              </a:rPr>
              <a:t>stance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dirty="0">
                <a:latin typeface="Gill Sans"/>
                <a:cs typeface="Gill Sans"/>
              </a:rPr>
              <a:t>f</a:t>
            </a:r>
            <a:r>
              <a:rPr sz="3000" spc="-75" dirty="0">
                <a:latin typeface="Gill Sans"/>
                <a:cs typeface="Gill Sans"/>
              </a:rPr>
              <a:t>r</a:t>
            </a:r>
            <a:r>
              <a:rPr sz="3000" dirty="0">
                <a:latin typeface="Gill Sans"/>
                <a:cs typeface="Gill Sans"/>
              </a:rPr>
              <a:t>om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dirty="0">
                <a:latin typeface="Gill Sans"/>
                <a:cs typeface="Gill Sans"/>
              </a:rPr>
              <a:t>truth</a:t>
            </a:r>
            <a:endParaRPr sz="3000">
              <a:latin typeface="Gill Sans"/>
              <a:cs typeface="Gill Sans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47180" y="2089199"/>
            <a:ext cx="0" cy="6755765"/>
          </a:xfrm>
          <a:custGeom>
            <a:avLst/>
            <a:gdLst/>
            <a:ahLst/>
            <a:cxnLst/>
            <a:rect l="l" t="t" r="r" b="b"/>
            <a:pathLst>
              <a:path h="6755765">
                <a:moveTo>
                  <a:pt x="0" y="0"/>
                </a:moveTo>
                <a:lnTo>
                  <a:pt x="0" y="6755477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422859" y="1983131"/>
            <a:ext cx="448945" cy="213995"/>
          </a:xfrm>
          <a:custGeom>
            <a:avLst/>
            <a:gdLst/>
            <a:ahLst/>
            <a:cxnLst/>
            <a:rect l="l" t="t" r="r" b="b"/>
            <a:pathLst>
              <a:path w="448944" h="213994">
                <a:moveTo>
                  <a:pt x="21537" y="0"/>
                </a:moveTo>
                <a:lnTo>
                  <a:pt x="448641" y="153991"/>
                </a:lnTo>
                <a:lnTo>
                  <a:pt x="427103" y="213727"/>
                </a:lnTo>
                <a:lnTo>
                  <a:pt x="0" y="59735"/>
                </a:lnTo>
                <a:lnTo>
                  <a:pt x="21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422859" y="1843431"/>
            <a:ext cx="448945" cy="213995"/>
          </a:xfrm>
          <a:custGeom>
            <a:avLst/>
            <a:gdLst/>
            <a:ahLst/>
            <a:cxnLst/>
            <a:rect l="l" t="t" r="r" b="b"/>
            <a:pathLst>
              <a:path w="448944" h="213994">
                <a:moveTo>
                  <a:pt x="21537" y="0"/>
                </a:moveTo>
                <a:lnTo>
                  <a:pt x="448641" y="153991"/>
                </a:lnTo>
                <a:lnTo>
                  <a:pt x="427103" y="213727"/>
                </a:lnTo>
                <a:lnTo>
                  <a:pt x="0" y="59735"/>
                </a:lnTo>
                <a:lnTo>
                  <a:pt x="21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647180" y="1424566"/>
            <a:ext cx="0" cy="508634"/>
          </a:xfrm>
          <a:custGeom>
            <a:avLst/>
            <a:gdLst/>
            <a:ahLst/>
            <a:cxnLst/>
            <a:rect l="l" t="t" r="r" b="b"/>
            <a:pathLst>
              <a:path h="508635">
                <a:moveTo>
                  <a:pt x="0" y="0"/>
                </a:moveTo>
                <a:lnTo>
                  <a:pt x="0" y="508136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28700" y="905551"/>
            <a:ext cx="3244850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b="1" dirty="0">
                <a:latin typeface="Gill Sans"/>
                <a:cs typeface="Gill Sans"/>
              </a:rPr>
              <a:t>“</a:t>
            </a:r>
            <a:r>
              <a:rPr sz="3600" b="1" spc="-105" dirty="0">
                <a:latin typeface="Gill Sans"/>
                <a:cs typeface="Gill Sans"/>
              </a:rPr>
              <a:t>T</a:t>
            </a:r>
            <a:r>
              <a:rPr sz="3600" b="1" spc="-55" dirty="0">
                <a:latin typeface="Gill Sans"/>
                <a:cs typeface="Gill Sans"/>
              </a:rPr>
              <a:t>r</a:t>
            </a:r>
            <a:r>
              <a:rPr sz="3600" b="1" spc="-5" dirty="0">
                <a:latin typeface="Gill Sans"/>
                <a:cs typeface="Gill Sans"/>
              </a:rPr>
              <a:t>u</a:t>
            </a:r>
            <a:r>
              <a:rPr sz="3600" b="1" dirty="0">
                <a:latin typeface="Gill Sans"/>
                <a:cs typeface="Gill Sans"/>
              </a:rPr>
              <a:t>e</a:t>
            </a:r>
            <a:r>
              <a:rPr sz="3600" b="1" spc="-5" dirty="0">
                <a:latin typeface="Gill Sans"/>
                <a:cs typeface="Gill Sans"/>
              </a:rPr>
              <a:t> mo</a:t>
            </a:r>
            <a:r>
              <a:rPr sz="3600" b="1" dirty="0">
                <a:latin typeface="Gill Sans"/>
                <a:cs typeface="Gill Sans"/>
              </a:rPr>
              <a:t>del”</a:t>
            </a:r>
            <a:endParaRPr sz="3600">
              <a:latin typeface="Gill Sans"/>
              <a:cs typeface="Gill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4500" y="2238050"/>
            <a:ext cx="1714500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dirty="0">
                <a:latin typeface="Gill Sans"/>
                <a:cs typeface="Gill Sans"/>
              </a:rPr>
              <a:t>Better</a:t>
            </a:r>
            <a:r>
              <a:rPr sz="3600" spc="-5" dirty="0">
                <a:latin typeface="Gill Sans"/>
                <a:cs typeface="Gill Sans"/>
              </a:rPr>
              <a:t> </a:t>
            </a:r>
            <a:r>
              <a:rPr sz="3600" spc="25" dirty="0">
                <a:latin typeface="Gill Sans"/>
                <a:cs typeface="Gill Sans"/>
              </a:rPr>
              <a:t>fit</a:t>
            </a:r>
            <a:endParaRPr sz="3600">
              <a:latin typeface="Gill Sans"/>
              <a:cs typeface="Gill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19400" y="2273559"/>
            <a:ext cx="4285615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spc="-5" dirty="0">
                <a:latin typeface="Gill Sans"/>
                <a:cs typeface="Gill Sans"/>
              </a:rPr>
              <a:t>l</a:t>
            </a:r>
            <a:r>
              <a:rPr sz="3000" spc="-50" dirty="0">
                <a:latin typeface="Gill Sans"/>
                <a:cs typeface="Gill Sans"/>
              </a:rPr>
              <a:t>o</a:t>
            </a:r>
            <a:r>
              <a:rPr sz="3000" spc="-65" dirty="0">
                <a:latin typeface="Gill Sans"/>
                <a:cs typeface="Gill Sans"/>
              </a:rPr>
              <a:t>w</a:t>
            </a:r>
            <a:r>
              <a:rPr sz="3000" dirty="0">
                <a:latin typeface="Gill Sans"/>
                <a:cs typeface="Gill Sans"/>
              </a:rPr>
              <a:t>er</a:t>
            </a:r>
            <a:r>
              <a:rPr sz="3000" spc="-305" dirty="0">
                <a:latin typeface="Gill Sans"/>
                <a:cs typeface="Gill Sans"/>
              </a:rPr>
              <a:t> </a:t>
            </a:r>
            <a:r>
              <a:rPr sz="3000" dirty="0">
                <a:latin typeface="Gill Sans"/>
                <a:cs typeface="Gill Sans"/>
              </a:rPr>
              <a:t>AIC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=</a:t>
            </a:r>
            <a:r>
              <a:rPr sz="3000" spc="-5" dirty="0">
                <a:latin typeface="Gill Sans"/>
                <a:cs typeface="Gill Sans"/>
              </a:rPr>
              <a:t> l</a:t>
            </a:r>
            <a:r>
              <a:rPr sz="3000" spc="-50" dirty="0">
                <a:latin typeface="Gill Sans"/>
                <a:cs typeface="Gill Sans"/>
              </a:rPr>
              <a:t>o</a:t>
            </a:r>
            <a:r>
              <a:rPr sz="3000" spc="-65" dirty="0">
                <a:latin typeface="Gill Sans"/>
                <a:cs typeface="Gill Sans"/>
              </a:rPr>
              <a:t>w</a:t>
            </a:r>
            <a:r>
              <a:rPr sz="3000" dirty="0">
                <a:latin typeface="Gill Sans"/>
                <a:cs typeface="Gill Sans"/>
              </a:rPr>
              <a:t>er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d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spc="-15" dirty="0">
                <a:latin typeface="Gill Sans"/>
                <a:cs typeface="Gill Sans"/>
              </a:rPr>
              <a:t>stance</a:t>
            </a:r>
            <a:endParaRPr sz="3000">
              <a:latin typeface="Gill Sans"/>
              <a:cs typeface="Gill San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334620" y="2459184"/>
            <a:ext cx="313690" cy="0"/>
          </a:xfrm>
          <a:custGeom>
            <a:avLst/>
            <a:gdLst/>
            <a:ahLst/>
            <a:cxnLst/>
            <a:rect l="l" t="t" r="r" b="b"/>
            <a:pathLst>
              <a:path w="313689">
                <a:moveTo>
                  <a:pt x="0" y="0"/>
                </a:moveTo>
                <a:lnTo>
                  <a:pt x="31353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361667" y="8668873"/>
            <a:ext cx="313690" cy="0"/>
          </a:xfrm>
          <a:custGeom>
            <a:avLst/>
            <a:gdLst/>
            <a:ahLst/>
            <a:cxnLst/>
            <a:rect l="l" t="t" r="r" b="b"/>
            <a:pathLst>
              <a:path w="313689">
                <a:moveTo>
                  <a:pt x="0" y="0"/>
                </a:moveTo>
                <a:lnTo>
                  <a:pt x="31353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521" rIns="0" bIns="0" rtlCol="0">
            <a:spAutoFit/>
          </a:bodyPr>
          <a:lstStyle/>
          <a:p>
            <a:pPr marL="1711325">
              <a:lnSpc>
                <a:spcPct val="100000"/>
              </a:lnSpc>
            </a:pPr>
            <a:r>
              <a:rPr sz="3600" spc="-30" dirty="0">
                <a:latin typeface="Gill Sans"/>
                <a:cs typeface="Gill Sans"/>
              </a:rPr>
              <a:t>Ak</a:t>
            </a:r>
            <a:r>
              <a:rPr sz="3600" spc="25" dirty="0">
                <a:latin typeface="Gill Sans"/>
                <a:cs typeface="Gill Sans"/>
              </a:rPr>
              <a:t>a</a:t>
            </a:r>
            <a:r>
              <a:rPr sz="3600" dirty="0">
                <a:latin typeface="Gill Sans"/>
                <a:cs typeface="Gill Sans"/>
              </a:rPr>
              <a:t>i</a:t>
            </a:r>
            <a:r>
              <a:rPr sz="3600" spc="-180" dirty="0">
                <a:latin typeface="Gill Sans"/>
                <a:cs typeface="Gill Sans"/>
              </a:rPr>
              <a:t>k</a:t>
            </a:r>
            <a:r>
              <a:rPr sz="3600" dirty="0">
                <a:latin typeface="Gill Sans"/>
                <a:cs typeface="Gill Sans"/>
              </a:rPr>
              <a:t>e</a:t>
            </a:r>
            <a:r>
              <a:rPr sz="3600" spc="-5" dirty="0">
                <a:latin typeface="Gill Sans"/>
                <a:cs typeface="Gill Sans"/>
              </a:rPr>
              <a:t> </a:t>
            </a:r>
            <a:r>
              <a:rPr sz="3600" dirty="0">
                <a:latin typeface="Gill Sans"/>
                <a:cs typeface="Gill Sans"/>
              </a:rPr>
              <a:t>I</a:t>
            </a:r>
            <a:r>
              <a:rPr sz="3600" spc="-5" dirty="0">
                <a:latin typeface="Gill Sans"/>
                <a:cs typeface="Gill Sans"/>
              </a:rPr>
              <a:t>nfo</a:t>
            </a:r>
            <a:r>
              <a:rPr sz="3600" dirty="0">
                <a:latin typeface="Gill Sans"/>
                <a:cs typeface="Gill Sans"/>
              </a:rPr>
              <a:t>r</a:t>
            </a:r>
            <a:r>
              <a:rPr sz="3600" spc="-5" dirty="0">
                <a:latin typeface="Gill Sans"/>
                <a:cs typeface="Gill Sans"/>
              </a:rPr>
              <a:t>m</a:t>
            </a:r>
            <a:r>
              <a:rPr sz="3600" spc="-25" dirty="0">
                <a:latin typeface="Gill Sans"/>
                <a:cs typeface="Gill Sans"/>
              </a:rPr>
              <a:t>a</a:t>
            </a:r>
            <a:r>
              <a:rPr sz="3600" spc="-5" dirty="0">
                <a:latin typeface="Gill Sans"/>
                <a:cs typeface="Gill Sans"/>
              </a:rPr>
              <a:t>t</a:t>
            </a:r>
            <a:r>
              <a:rPr sz="3600" dirty="0">
                <a:latin typeface="Gill Sans"/>
                <a:cs typeface="Gill Sans"/>
              </a:rPr>
              <a:t>i</a:t>
            </a:r>
            <a:r>
              <a:rPr sz="3600" spc="-5" dirty="0">
                <a:latin typeface="Gill Sans"/>
                <a:cs typeface="Gill Sans"/>
              </a:rPr>
              <a:t>o</a:t>
            </a:r>
            <a:r>
              <a:rPr sz="3600" dirty="0">
                <a:latin typeface="Gill Sans"/>
                <a:cs typeface="Gill Sans"/>
              </a:rPr>
              <a:t>n</a:t>
            </a:r>
            <a:r>
              <a:rPr sz="3600" spc="-5" dirty="0">
                <a:latin typeface="Gill Sans"/>
                <a:cs typeface="Gill Sans"/>
              </a:rPr>
              <a:t> </a:t>
            </a:r>
            <a:r>
              <a:rPr sz="3600" dirty="0">
                <a:latin typeface="Gill Sans"/>
                <a:cs typeface="Gill Sans"/>
              </a:rPr>
              <a:t>C</a:t>
            </a:r>
            <a:r>
              <a:rPr sz="3600" spc="-155" dirty="0">
                <a:latin typeface="Gill Sans"/>
                <a:cs typeface="Gill Sans"/>
              </a:rPr>
              <a:t>r</a:t>
            </a:r>
            <a:r>
              <a:rPr sz="3600" dirty="0">
                <a:latin typeface="Gill Sans"/>
                <a:cs typeface="Gill Sans"/>
              </a:rPr>
              <a:t>i</a:t>
            </a:r>
            <a:r>
              <a:rPr sz="3600" spc="-5" dirty="0">
                <a:latin typeface="Gill Sans"/>
                <a:cs typeface="Gill Sans"/>
              </a:rPr>
              <a:t>t</a:t>
            </a:r>
            <a:r>
              <a:rPr sz="3600" dirty="0">
                <a:latin typeface="Gill Sans"/>
                <a:cs typeface="Gill Sans"/>
              </a:rPr>
              <a:t>e</a:t>
            </a:r>
            <a:r>
              <a:rPr sz="3600" spc="-155" dirty="0">
                <a:latin typeface="Gill Sans"/>
                <a:cs typeface="Gill Sans"/>
              </a:rPr>
              <a:t>r</a:t>
            </a:r>
            <a:r>
              <a:rPr sz="3600" dirty="0">
                <a:latin typeface="Gill Sans"/>
                <a:cs typeface="Gill Sans"/>
              </a:rPr>
              <a:t>i</a:t>
            </a:r>
            <a:r>
              <a:rPr sz="3600" spc="-5" dirty="0">
                <a:latin typeface="Gill Sans"/>
                <a:cs typeface="Gill Sans"/>
              </a:rPr>
              <a:t>o</a:t>
            </a:r>
            <a:r>
              <a:rPr sz="3600" dirty="0">
                <a:latin typeface="Gill Sans"/>
                <a:cs typeface="Gill Sans"/>
              </a:rPr>
              <a:t>n</a:t>
            </a:r>
            <a:endParaRPr sz="3600">
              <a:latin typeface="Gill Sans"/>
              <a:cs typeface="Gill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8000" y="8422950"/>
            <a:ext cx="1797050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365" dirty="0">
                <a:latin typeface="Gill Sans"/>
                <a:cs typeface="Gill Sans"/>
              </a:rPr>
              <a:t>W</a:t>
            </a:r>
            <a:r>
              <a:rPr sz="3600" spc="-20" dirty="0">
                <a:latin typeface="Gill Sans"/>
                <a:cs typeface="Gill Sans"/>
              </a:rPr>
              <a:t>ors</a:t>
            </a:r>
            <a:r>
              <a:rPr sz="3600" dirty="0">
                <a:latin typeface="Gill Sans"/>
                <a:cs typeface="Gill Sans"/>
              </a:rPr>
              <a:t>e</a:t>
            </a:r>
            <a:r>
              <a:rPr sz="3600" spc="-5" dirty="0">
                <a:latin typeface="Gill Sans"/>
                <a:cs typeface="Gill Sans"/>
              </a:rPr>
              <a:t> </a:t>
            </a:r>
            <a:r>
              <a:rPr sz="3600" spc="25" dirty="0">
                <a:latin typeface="Gill Sans"/>
                <a:cs typeface="Gill Sans"/>
              </a:rPr>
              <a:t>fit</a:t>
            </a:r>
            <a:endParaRPr sz="3600">
              <a:latin typeface="Gill Sans"/>
              <a:cs typeface="Gill San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08300" y="8471158"/>
            <a:ext cx="4427220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dirty="0">
                <a:latin typeface="Gill Sans"/>
                <a:cs typeface="Gill Sans"/>
              </a:rPr>
              <a:t>h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spc="-15" dirty="0">
                <a:latin typeface="Gill Sans"/>
                <a:cs typeface="Gill Sans"/>
              </a:rPr>
              <a:t>g</a:t>
            </a:r>
            <a:r>
              <a:rPr sz="3000" dirty="0">
                <a:latin typeface="Gill Sans"/>
                <a:cs typeface="Gill Sans"/>
              </a:rPr>
              <a:t>her</a:t>
            </a:r>
            <a:r>
              <a:rPr sz="3000" spc="-305" dirty="0">
                <a:latin typeface="Gill Sans"/>
                <a:cs typeface="Gill Sans"/>
              </a:rPr>
              <a:t> </a:t>
            </a:r>
            <a:r>
              <a:rPr sz="3000" dirty="0">
                <a:latin typeface="Gill Sans"/>
                <a:cs typeface="Gill Sans"/>
              </a:rPr>
              <a:t>AIC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=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dirty="0">
                <a:latin typeface="Gill Sans"/>
                <a:cs typeface="Gill Sans"/>
              </a:rPr>
              <a:t>h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spc="-15" dirty="0">
                <a:latin typeface="Gill Sans"/>
                <a:cs typeface="Gill Sans"/>
              </a:rPr>
              <a:t>g</a:t>
            </a:r>
            <a:r>
              <a:rPr sz="3000" dirty="0">
                <a:latin typeface="Gill Sans"/>
                <a:cs typeface="Gill Sans"/>
              </a:rPr>
              <a:t>her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d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spc="-15" dirty="0">
                <a:latin typeface="Gill Sans"/>
                <a:cs typeface="Gill Sans"/>
              </a:rPr>
              <a:t>stance</a:t>
            </a:r>
            <a:endParaRPr sz="3000">
              <a:latin typeface="Gill Sans"/>
              <a:cs typeface="Gill San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57500" y="4381759"/>
            <a:ext cx="2592705" cy="1739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550"/>
              </a:lnSpc>
            </a:pPr>
            <a:r>
              <a:rPr sz="3000" dirty="0">
                <a:latin typeface="Gill Sans"/>
                <a:cs typeface="Gill Sans"/>
              </a:rPr>
              <a:t>AIC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=</a:t>
            </a:r>
            <a:endParaRPr sz="3000">
              <a:latin typeface="Gill Sans"/>
              <a:cs typeface="Gill Sans"/>
            </a:endParaRPr>
          </a:p>
          <a:p>
            <a:pPr marL="12700" marR="5080">
              <a:lnSpc>
                <a:spcPts val="3500"/>
              </a:lnSpc>
              <a:spcBef>
                <a:spcPts val="150"/>
              </a:spcBef>
            </a:pPr>
            <a:r>
              <a:rPr sz="3000" spc="-15" dirty="0">
                <a:latin typeface="Gill Sans"/>
                <a:cs typeface="Gill Sans"/>
              </a:rPr>
              <a:t>est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spc="-15" dirty="0">
                <a:latin typeface="Gill Sans"/>
                <a:cs typeface="Gill Sans"/>
              </a:rPr>
              <a:t>mator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o</a:t>
            </a:r>
            <a:r>
              <a:rPr sz="3000" dirty="0">
                <a:latin typeface="Gill Sans"/>
                <a:cs typeface="Gill Sans"/>
              </a:rPr>
              <a:t>f </a:t>
            </a:r>
            <a:r>
              <a:rPr sz="3000" spc="-75" dirty="0">
                <a:latin typeface="Gill Sans"/>
                <a:cs typeface="Gill Sans"/>
              </a:rPr>
              <a:t>r</a:t>
            </a:r>
            <a:r>
              <a:rPr sz="3000" dirty="0">
                <a:latin typeface="Gill Sans"/>
                <a:cs typeface="Gill Sans"/>
              </a:rPr>
              <a:t>e</a:t>
            </a:r>
            <a:r>
              <a:rPr sz="3000" spc="-5" dirty="0">
                <a:latin typeface="Gill Sans"/>
                <a:cs typeface="Gill Sans"/>
              </a:rPr>
              <a:t>l</a:t>
            </a:r>
            <a:r>
              <a:rPr sz="3000" spc="-15" dirty="0">
                <a:latin typeface="Gill Sans"/>
                <a:cs typeface="Gill Sans"/>
              </a:rPr>
              <a:t>a</a:t>
            </a:r>
            <a:r>
              <a:rPr sz="3000" dirty="0">
                <a:latin typeface="Gill Sans"/>
                <a:cs typeface="Gill Sans"/>
              </a:rPr>
              <a:t>t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spc="-75" dirty="0">
                <a:latin typeface="Gill Sans"/>
                <a:cs typeface="Gill Sans"/>
              </a:rPr>
              <a:t>v</a:t>
            </a:r>
            <a:r>
              <a:rPr sz="3000" dirty="0">
                <a:latin typeface="Gill Sans"/>
                <a:cs typeface="Gill Sans"/>
              </a:rPr>
              <a:t>e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d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spc="-15" dirty="0">
                <a:latin typeface="Gill Sans"/>
                <a:cs typeface="Gill Sans"/>
              </a:rPr>
              <a:t>stance</a:t>
            </a:r>
            <a:r>
              <a:rPr sz="3000" spc="-10" dirty="0">
                <a:latin typeface="Gill Sans"/>
                <a:cs typeface="Gill Sans"/>
              </a:rPr>
              <a:t> f</a:t>
            </a:r>
            <a:r>
              <a:rPr sz="3000" spc="-90" dirty="0">
                <a:latin typeface="Gill Sans"/>
                <a:cs typeface="Gill Sans"/>
              </a:rPr>
              <a:t>r</a:t>
            </a:r>
            <a:r>
              <a:rPr sz="3000" spc="-20" dirty="0">
                <a:latin typeface="Gill Sans"/>
                <a:cs typeface="Gill Sans"/>
              </a:rPr>
              <a:t>om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dirty="0">
                <a:latin typeface="Gill Sans"/>
                <a:cs typeface="Gill Sans"/>
              </a:rPr>
              <a:t>true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mod</a:t>
            </a:r>
            <a:r>
              <a:rPr sz="3000" dirty="0">
                <a:latin typeface="Gill Sans"/>
                <a:cs typeface="Gill Sans"/>
              </a:rPr>
              <a:t>el</a:t>
            </a:r>
            <a:endParaRPr sz="3000">
              <a:latin typeface="Gill Sans"/>
              <a:cs typeface="Gill San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248325" y="1757984"/>
            <a:ext cx="63500" cy="0"/>
          </a:xfrm>
          <a:custGeom>
            <a:avLst/>
            <a:gdLst/>
            <a:ahLst/>
            <a:cxnLst/>
            <a:rect l="l" t="t" r="r" b="b"/>
            <a:pathLst>
              <a:path w="63500">
                <a:moveTo>
                  <a:pt x="0" y="0"/>
                </a:moveTo>
                <a:lnTo>
                  <a:pt x="63500" y="0"/>
                </a:lnTo>
              </a:path>
            </a:pathLst>
          </a:custGeom>
          <a:ln w="406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150535" y="1370634"/>
            <a:ext cx="259079" cy="215900"/>
          </a:xfrm>
          <a:custGeom>
            <a:avLst/>
            <a:gdLst/>
            <a:ahLst/>
            <a:cxnLst/>
            <a:rect l="l" t="t" r="r" b="b"/>
            <a:pathLst>
              <a:path w="259079" h="215900">
                <a:moveTo>
                  <a:pt x="259080" y="215900"/>
                </a:moveTo>
                <a:lnTo>
                  <a:pt x="129540" y="0"/>
                </a:lnTo>
                <a:lnTo>
                  <a:pt x="0" y="215900"/>
                </a:lnTo>
              </a:path>
            </a:pathLst>
          </a:custGeom>
          <a:ln w="63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280075" y="1370634"/>
            <a:ext cx="0" cy="215900"/>
          </a:xfrm>
          <a:custGeom>
            <a:avLst/>
            <a:gdLst/>
            <a:ahLst/>
            <a:cxnLst/>
            <a:rect l="l" t="t" r="r" b="b"/>
            <a:pathLst>
              <a:path h="215900">
                <a:moveTo>
                  <a:pt x="0" y="215900"/>
                </a:moveTo>
                <a:lnTo>
                  <a:pt x="0" y="0"/>
                </a:lnTo>
              </a:path>
            </a:pathLst>
          </a:custGeom>
          <a:ln w="63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8229600" y="2057659"/>
            <a:ext cx="2098040" cy="1295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4445" algn="ctr">
              <a:lnSpc>
                <a:spcPts val="3500"/>
              </a:lnSpc>
            </a:pPr>
            <a:r>
              <a:rPr sz="3000" dirty="0">
                <a:latin typeface="Gill Sans"/>
                <a:cs typeface="Gill Sans"/>
              </a:rPr>
              <a:t>h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spc="-15" dirty="0">
                <a:latin typeface="Gill Sans"/>
                <a:cs typeface="Gill Sans"/>
              </a:rPr>
              <a:t>g</a:t>
            </a:r>
            <a:r>
              <a:rPr sz="3000" dirty="0">
                <a:latin typeface="Gill Sans"/>
                <a:cs typeface="Gill Sans"/>
              </a:rPr>
              <a:t>her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15" dirty="0">
                <a:latin typeface="Gill Sans"/>
                <a:cs typeface="Gill Sans"/>
              </a:rPr>
              <a:t>data</a:t>
            </a:r>
            <a:r>
              <a:rPr sz="3000" spc="-10" dirty="0">
                <a:latin typeface="Gill Sans"/>
                <a:cs typeface="Gill Sans"/>
              </a:rPr>
              <a:t> </a:t>
            </a:r>
            <a:r>
              <a:rPr sz="3000" spc="-5" dirty="0">
                <a:latin typeface="Gill Sans"/>
                <a:cs typeface="Gill Sans"/>
              </a:rPr>
              <a:t>l</a:t>
            </a:r>
            <a:r>
              <a:rPr sz="3000" spc="-15" dirty="0">
                <a:latin typeface="Gill Sans"/>
                <a:cs typeface="Gill Sans"/>
              </a:rPr>
              <a:t>og</a:t>
            </a:r>
            <a:r>
              <a:rPr sz="3000" spc="-5" dirty="0">
                <a:latin typeface="Gill Sans"/>
                <a:cs typeface="Gill Sans"/>
              </a:rPr>
              <a:t>-li</a:t>
            </a:r>
            <a:r>
              <a:rPr sz="3000" spc="-90" dirty="0">
                <a:latin typeface="Gill Sans"/>
                <a:cs typeface="Gill Sans"/>
              </a:rPr>
              <a:t>k</a:t>
            </a:r>
            <a:r>
              <a:rPr sz="3000" dirty="0">
                <a:latin typeface="Gill Sans"/>
                <a:cs typeface="Gill Sans"/>
              </a:rPr>
              <a:t>e</a:t>
            </a:r>
            <a:r>
              <a:rPr sz="3000" spc="-5" dirty="0">
                <a:latin typeface="Gill Sans"/>
                <a:cs typeface="Gill Sans"/>
              </a:rPr>
              <a:t>li</a:t>
            </a:r>
            <a:r>
              <a:rPr sz="3000" spc="-20" dirty="0">
                <a:latin typeface="Gill Sans"/>
                <a:cs typeface="Gill Sans"/>
              </a:rPr>
              <a:t>hood</a:t>
            </a:r>
            <a:r>
              <a:rPr sz="3000" spc="-10" dirty="0">
                <a:latin typeface="Gill Sans"/>
                <a:cs typeface="Gill Sans"/>
              </a:rPr>
              <a:t> </a:t>
            </a:r>
            <a:r>
              <a:rPr sz="3000" spc="-5" dirty="0">
                <a:latin typeface="Gill Sans"/>
                <a:cs typeface="Gill Sans"/>
              </a:rPr>
              <a:t>(L</a:t>
            </a:r>
            <a:r>
              <a:rPr sz="3000" dirty="0">
                <a:latin typeface="Gill Sans"/>
                <a:cs typeface="Gill Sans"/>
              </a:rPr>
              <a:t>n</a:t>
            </a:r>
            <a:r>
              <a:rPr sz="3000" spc="-5" dirty="0">
                <a:latin typeface="Gill Sans"/>
                <a:cs typeface="Gill Sans"/>
              </a:rPr>
              <a:t>L</a:t>
            </a:r>
            <a:r>
              <a:rPr sz="3000" dirty="0">
                <a:latin typeface="Gill Sans"/>
                <a:cs typeface="Gill Sans"/>
              </a:rPr>
              <a:t>)</a:t>
            </a:r>
            <a:endParaRPr sz="3000">
              <a:latin typeface="Gill Sans"/>
              <a:cs typeface="Gill San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599122" y="4332276"/>
            <a:ext cx="5843270" cy="1511300"/>
          </a:xfrm>
          <a:prstGeom prst="rect">
            <a:avLst/>
          </a:prstGeom>
          <a:ln w="762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82344" marR="967740" algn="ctr">
              <a:lnSpc>
                <a:spcPts val="3500"/>
              </a:lnSpc>
            </a:pPr>
            <a:r>
              <a:rPr sz="3000" b="1" spc="-25" dirty="0">
                <a:latin typeface="Gill Sans"/>
                <a:cs typeface="Gill Sans"/>
              </a:rPr>
              <a:t>Ak</a:t>
            </a:r>
            <a:r>
              <a:rPr sz="3000" b="1" spc="20" dirty="0">
                <a:latin typeface="Gill Sans"/>
                <a:cs typeface="Gill Sans"/>
              </a:rPr>
              <a:t>a</a:t>
            </a:r>
            <a:r>
              <a:rPr sz="3000" b="1" dirty="0">
                <a:latin typeface="Gill Sans"/>
                <a:cs typeface="Gill Sans"/>
              </a:rPr>
              <a:t>i</a:t>
            </a:r>
            <a:r>
              <a:rPr sz="3000" b="1" spc="-150" dirty="0">
                <a:latin typeface="Gill Sans"/>
                <a:cs typeface="Gill Sans"/>
              </a:rPr>
              <a:t>k</a:t>
            </a:r>
            <a:r>
              <a:rPr sz="3000" b="1" dirty="0">
                <a:latin typeface="Gill Sans"/>
                <a:cs typeface="Gill Sans"/>
              </a:rPr>
              <a:t>e</a:t>
            </a:r>
            <a:r>
              <a:rPr sz="3000" b="1" spc="-5" dirty="0">
                <a:latin typeface="Gill Sans"/>
                <a:cs typeface="Gill Sans"/>
              </a:rPr>
              <a:t> </a:t>
            </a:r>
            <a:r>
              <a:rPr sz="3000" b="1" dirty="0">
                <a:latin typeface="Gill Sans"/>
                <a:cs typeface="Gill Sans"/>
              </a:rPr>
              <a:t>In</a:t>
            </a:r>
            <a:r>
              <a:rPr sz="3000" b="1" spc="-5" dirty="0">
                <a:latin typeface="Gill Sans"/>
                <a:cs typeface="Gill Sans"/>
              </a:rPr>
              <a:t>fo</a:t>
            </a:r>
            <a:r>
              <a:rPr sz="3000" b="1" dirty="0">
                <a:latin typeface="Gill Sans"/>
                <a:cs typeface="Gill Sans"/>
              </a:rPr>
              <a:t>r</a:t>
            </a:r>
            <a:r>
              <a:rPr sz="3000" b="1" spc="-5" dirty="0">
                <a:latin typeface="Gill Sans"/>
                <a:cs typeface="Gill Sans"/>
              </a:rPr>
              <a:t>m</a:t>
            </a:r>
            <a:r>
              <a:rPr sz="3000" b="1" spc="-20" dirty="0">
                <a:latin typeface="Gill Sans"/>
                <a:cs typeface="Gill Sans"/>
              </a:rPr>
              <a:t>a</a:t>
            </a:r>
            <a:r>
              <a:rPr sz="3000" b="1" spc="-5" dirty="0">
                <a:latin typeface="Gill Sans"/>
                <a:cs typeface="Gill Sans"/>
              </a:rPr>
              <a:t>t</a:t>
            </a:r>
            <a:r>
              <a:rPr sz="3000" b="1" dirty="0">
                <a:latin typeface="Gill Sans"/>
                <a:cs typeface="Gill Sans"/>
              </a:rPr>
              <a:t>i</a:t>
            </a:r>
            <a:r>
              <a:rPr sz="3000" b="1" spc="-5" dirty="0">
                <a:latin typeface="Gill Sans"/>
                <a:cs typeface="Gill Sans"/>
              </a:rPr>
              <a:t>o</a:t>
            </a:r>
            <a:r>
              <a:rPr sz="3000" b="1" dirty="0">
                <a:latin typeface="Gill Sans"/>
                <a:cs typeface="Gill Sans"/>
              </a:rPr>
              <a:t>n C</a:t>
            </a:r>
            <a:r>
              <a:rPr sz="3000" b="1" spc="-130" dirty="0">
                <a:latin typeface="Gill Sans"/>
                <a:cs typeface="Gill Sans"/>
              </a:rPr>
              <a:t>r</a:t>
            </a:r>
            <a:r>
              <a:rPr sz="3000" b="1" dirty="0">
                <a:latin typeface="Gill Sans"/>
                <a:cs typeface="Gill Sans"/>
              </a:rPr>
              <a:t>i</a:t>
            </a:r>
            <a:r>
              <a:rPr sz="3000" b="1" spc="-5" dirty="0">
                <a:latin typeface="Gill Sans"/>
                <a:cs typeface="Gill Sans"/>
              </a:rPr>
              <a:t>t</a:t>
            </a:r>
            <a:r>
              <a:rPr sz="3000" b="1" dirty="0">
                <a:latin typeface="Gill Sans"/>
                <a:cs typeface="Gill Sans"/>
              </a:rPr>
              <a:t>e</a:t>
            </a:r>
            <a:r>
              <a:rPr sz="3000" b="1" spc="-130" dirty="0">
                <a:latin typeface="Gill Sans"/>
                <a:cs typeface="Gill Sans"/>
              </a:rPr>
              <a:t>r</a:t>
            </a:r>
            <a:r>
              <a:rPr sz="3000" b="1" dirty="0">
                <a:latin typeface="Gill Sans"/>
                <a:cs typeface="Gill Sans"/>
              </a:rPr>
              <a:t>i</a:t>
            </a:r>
            <a:r>
              <a:rPr sz="3000" b="1" spc="-5" dirty="0">
                <a:latin typeface="Gill Sans"/>
                <a:cs typeface="Gill Sans"/>
              </a:rPr>
              <a:t>o</a:t>
            </a:r>
            <a:r>
              <a:rPr sz="3000" b="1" dirty="0">
                <a:latin typeface="Gill Sans"/>
                <a:cs typeface="Gill Sans"/>
              </a:rPr>
              <a:t>n</a:t>
            </a:r>
            <a:r>
              <a:rPr sz="3000" b="1" spc="-5" dirty="0">
                <a:latin typeface="Gill Sans"/>
                <a:cs typeface="Gill Sans"/>
              </a:rPr>
              <a:t> </a:t>
            </a:r>
            <a:r>
              <a:rPr sz="3000" b="1" spc="-15" dirty="0">
                <a:latin typeface="Gill Sans"/>
                <a:cs typeface="Gill Sans"/>
              </a:rPr>
              <a:t>(</a:t>
            </a:r>
            <a:r>
              <a:rPr sz="3000" b="1" dirty="0">
                <a:latin typeface="Gill Sans"/>
                <a:cs typeface="Gill Sans"/>
              </a:rPr>
              <a:t>AIC</a:t>
            </a:r>
            <a:r>
              <a:rPr sz="3000" b="1" spc="-15" dirty="0">
                <a:latin typeface="Gill Sans"/>
                <a:cs typeface="Gill Sans"/>
              </a:rPr>
              <a:t>)</a:t>
            </a:r>
            <a:r>
              <a:rPr sz="3000" b="1" spc="-5" dirty="0">
                <a:latin typeface="Gill Sans"/>
                <a:cs typeface="Gill Sans"/>
              </a:rPr>
              <a:t> </a:t>
            </a:r>
            <a:r>
              <a:rPr sz="3000" b="1" spc="-20" dirty="0">
                <a:latin typeface="Gill Sans"/>
                <a:cs typeface="Gill Sans"/>
              </a:rPr>
              <a:t>=</a:t>
            </a:r>
            <a:endParaRPr sz="3000">
              <a:latin typeface="Gill Sans"/>
              <a:cs typeface="Gill Sans"/>
            </a:endParaRPr>
          </a:p>
          <a:p>
            <a:pPr algn="ctr">
              <a:lnSpc>
                <a:spcPts val="3400"/>
              </a:lnSpc>
            </a:pPr>
            <a:r>
              <a:rPr sz="3000" spc="-5" dirty="0">
                <a:latin typeface="Gill Sans"/>
                <a:cs typeface="Gill Sans"/>
              </a:rPr>
              <a:t>-</a:t>
            </a:r>
            <a:r>
              <a:rPr sz="3000" dirty="0">
                <a:latin typeface="Gill Sans"/>
                <a:cs typeface="Gill Sans"/>
              </a:rPr>
              <a:t>2</a:t>
            </a:r>
            <a:r>
              <a:rPr sz="3000" spc="-5" dirty="0">
                <a:latin typeface="Gill Sans"/>
                <a:cs typeface="Gill Sans"/>
              </a:rPr>
              <a:t>(L</a:t>
            </a:r>
            <a:r>
              <a:rPr sz="3000" dirty="0">
                <a:latin typeface="Gill Sans"/>
                <a:cs typeface="Gill Sans"/>
              </a:rPr>
              <a:t>nL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dirty="0">
                <a:latin typeface="Gill Sans"/>
                <a:cs typeface="Gill Sans"/>
              </a:rPr>
              <a:t>-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#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o</a:t>
            </a:r>
            <a:r>
              <a:rPr sz="3000" dirty="0">
                <a:latin typeface="Gill Sans"/>
                <a:cs typeface="Gill Sans"/>
              </a:rPr>
              <a:t>f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15" dirty="0">
                <a:latin typeface="Gill Sans"/>
                <a:cs typeface="Gill Sans"/>
              </a:rPr>
              <a:t>parameters</a:t>
            </a:r>
            <a:r>
              <a:rPr sz="3000" dirty="0">
                <a:latin typeface="Gill Sans"/>
                <a:cs typeface="Gill Sans"/>
              </a:rPr>
              <a:t>)</a:t>
            </a:r>
            <a:endParaRPr sz="3000">
              <a:latin typeface="Gill Sans"/>
              <a:cs typeface="Gill San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261568" y="6968445"/>
            <a:ext cx="63500" cy="0"/>
          </a:xfrm>
          <a:custGeom>
            <a:avLst/>
            <a:gdLst/>
            <a:ahLst/>
            <a:cxnLst/>
            <a:rect l="l" t="t" r="r" b="b"/>
            <a:pathLst>
              <a:path w="63500">
                <a:moveTo>
                  <a:pt x="0" y="0"/>
                </a:moveTo>
                <a:lnTo>
                  <a:pt x="63500" y="0"/>
                </a:lnTo>
              </a:path>
            </a:pathLst>
          </a:custGeom>
          <a:ln w="3949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163778" y="7134180"/>
            <a:ext cx="259079" cy="259079"/>
          </a:xfrm>
          <a:custGeom>
            <a:avLst/>
            <a:gdLst/>
            <a:ahLst/>
            <a:cxnLst/>
            <a:rect l="l" t="t" r="r" b="b"/>
            <a:pathLst>
              <a:path w="259080" h="259079">
                <a:moveTo>
                  <a:pt x="259080" y="0"/>
                </a:moveTo>
                <a:lnTo>
                  <a:pt x="0" y="0"/>
                </a:lnTo>
                <a:lnTo>
                  <a:pt x="129540" y="259080"/>
                </a:lnTo>
                <a:lnTo>
                  <a:pt x="2590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057659" y="3726660"/>
            <a:ext cx="406400" cy="301752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dirty="0">
                <a:latin typeface="Gill Sans"/>
                <a:cs typeface="Gill Sans"/>
              </a:rPr>
              <a:t>d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dirty="0">
                <a:latin typeface="Gill Sans"/>
                <a:cs typeface="Gill Sans"/>
              </a:rPr>
              <a:t>stance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dirty="0">
                <a:latin typeface="Gill Sans"/>
                <a:cs typeface="Gill Sans"/>
              </a:rPr>
              <a:t>f</a:t>
            </a:r>
            <a:r>
              <a:rPr sz="3000" spc="-75" dirty="0">
                <a:latin typeface="Gill Sans"/>
                <a:cs typeface="Gill Sans"/>
              </a:rPr>
              <a:t>r</a:t>
            </a:r>
            <a:r>
              <a:rPr sz="3000" dirty="0">
                <a:latin typeface="Gill Sans"/>
                <a:cs typeface="Gill Sans"/>
              </a:rPr>
              <a:t>om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dirty="0">
                <a:latin typeface="Gill Sans"/>
                <a:cs typeface="Gill Sans"/>
              </a:rPr>
              <a:t>truth</a:t>
            </a:r>
            <a:endParaRPr sz="3000">
              <a:latin typeface="Gill Sans"/>
              <a:cs typeface="Gill Sans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47180" y="2089199"/>
            <a:ext cx="0" cy="6755765"/>
          </a:xfrm>
          <a:custGeom>
            <a:avLst/>
            <a:gdLst/>
            <a:ahLst/>
            <a:cxnLst/>
            <a:rect l="l" t="t" r="r" b="b"/>
            <a:pathLst>
              <a:path h="6755765">
                <a:moveTo>
                  <a:pt x="0" y="0"/>
                </a:moveTo>
                <a:lnTo>
                  <a:pt x="0" y="6755477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422859" y="1983131"/>
            <a:ext cx="448945" cy="213995"/>
          </a:xfrm>
          <a:custGeom>
            <a:avLst/>
            <a:gdLst/>
            <a:ahLst/>
            <a:cxnLst/>
            <a:rect l="l" t="t" r="r" b="b"/>
            <a:pathLst>
              <a:path w="448944" h="213994">
                <a:moveTo>
                  <a:pt x="21537" y="0"/>
                </a:moveTo>
                <a:lnTo>
                  <a:pt x="448641" y="153991"/>
                </a:lnTo>
                <a:lnTo>
                  <a:pt x="427103" y="213727"/>
                </a:lnTo>
                <a:lnTo>
                  <a:pt x="0" y="59735"/>
                </a:lnTo>
                <a:lnTo>
                  <a:pt x="21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422859" y="1843431"/>
            <a:ext cx="448945" cy="213995"/>
          </a:xfrm>
          <a:custGeom>
            <a:avLst/>
            <a:gdLst/>
            <a:ahLst/>
            <a:cxnLst/>
            <a:rect l="l" t="t" r="r" b="b"/>
            <a:pathLst>
              <a:path w="448944" h="213994">
                <a:moveTo>
                  <a:pt x="21537" y="0"/>
                </a:moveTo>
                <a:lnTo>
                  <a:pt x="448641" y="153991"/>
                </a:lnTo>
                <a:lnTo>
                  <a:pt x="427103" y="213727"/>
                </a:lnTo>
                <a:lnTo>
                  <a:pt x="0" y="59735"/>
                </a:lnTo>
                <a:lnTo>
                  <a:pt x="21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647180" y="1424566"/>
            <a:ext cx="0" cy="508634"/>
          </a:xfrm>
          <a:custGeom>
            <a:avLst/>
            <a:gdLst/>
            <a:ahLst/>
            <a:cxnLst/>
            <a:rect l="l" t="t" r="r" b="b"/>
            <a:pathLst>
              <a:path h="508635">
                <a:moveTo>
                  <a:pt x="0" y="0"/>
                </a:moveTo>
                <a:lnTo>
                  <a:pt x="0" y="508136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28700" y="905551"/>
            <a:ext cx="3244850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b="1" dirty="0">
                <a:latin typeface="Gill Sans"/>
                <a:cs typeface="Gill Sans"/>
              </a:rPr>
              <a:t>“</a:t>
            </a:r>
            <a:r>
              <a:rPr sz="3600" b="1" spc="-105" dirty="0">
                <a:latin typeface="Gill Sans"/>
                <a:cs typeface="Gill Sans"/>
              </a:rPr>
              <a:t>T</a:t>
            </a:r>
            <a:r>
              <a:rPr sz="3600" b="1" spc="-55" dirty="0">
                <a:latin typeface="Gill Sans"/>
                <a:cs typeface="Gill Sans"/>
              </a:rPr>
              <a:t>r</a:t>
            </a:r>
            <a:r>
              <a:rPr sz="3600" b="1" spc="-5" dirty="0">
                <a:latin typeface="Gill Sans"/>
                <a:cs typeface="Gill Sans"/>
              </a:rPr>
              <a:t>u</a:t>
            </a:r>
            <a:r>
              <a:rPr sz="3600" b="1" dirty="0">
                <a:latin typeface="Gill Sans"/>
                <a:cs typeface="Gill Sans"/>
              </a:rPr>
              <a:t>e</a:t>
            </a:r>
            <a:r>
              <a:rPr sz="3600" b="1" spc="-5" dirty="0">
                <a:latin typeface="Gill Sans"/>
                <a:cs typeface="Gill Sans"/>
              </a:rPr>
              <a:t> mo</a:t>
            </a:r>
            <a:r>
              <a:rPr sz="3600" b="1" dirty="0">
                <a:latin typeface="Gill Sans"/>
                <a:cs typeface="Gill Sans"/>
              </a:rPr>
              <a:t>del”</a:t>
            </a:r>
            <a:endParaRPr sz="3600">
              <a:latin typeface="Gill Sans"/>
              <a:cs typeface="Gill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4500" y="2238050"/>
            <a:ext cx="1714500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dirty="0">
                <a:latin typeface="Gill Sans"/>
                <a:cs typeface="Gill Sans"/>
              </a:rPr>
              <a:t>Better</a:t>
            </a:r>
            <a:r>
              <a:rPr sz="3600" spc="-5" dirty="0">
                <a:latin typeface="Gill Sans"/>
                <a:cs typeface="Gill Sans"/>
              </a:rPr>
              <a:t> </a:t>
            </a:r>
            <a:r>
              <a:rPr sz="3600" spc="25" dirty="0">
                <a:latin typeface="Gill Sans"/>
                <a:cs typeface="Gill Sans"/>
              </a:rPr>
              <a:t>fit</a:t>
            </a:r>
            <a:endParaRPr sz="3600">
              <a:latin typeface="Gill Sans"/>
              <a:cs typeface="Gill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19400" y="2273559"/>
            <a:ext cx="4285615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spc="-5" dirty="0">
                <a:latin typeface="Gill Sans"/>
                <a:cs typeface="Gill Sans"/>
              </a:rPr>
              <a:t>l</a:t>
            </a:r>
            <a:r>
              <a:rPr sz="3000" spc="-50" dirty="0">
                <a:latin typeface="Gill Sans"/>
                <a:cs typeface="Gill Sans"/>
              </a:rPr>
              <a:t>o</a:t>
            </a:r>
            <a:r>
              <a:rPr sz="3000" spc="-65" dirty="0">
                <a:latin typeface="Gill Sans"/>
                <a:cs typeface="Gill Sans"/>
              </a:rPr>
              <a:t>w</a:t>
            </a:r>
            <a:r>
              <a:rPr sz="3000" dirty="0">
                <a:latin typeface="Gill Sans"/>
                <a:cs typeface="Gill Sans"/>
              </a:rPr>
              <a:t>er</a:t>
            </a:r>
            <a:r>
              <a:rPr sz="3000" spc="-305" dirty="0">
                <a:latin typeface="Gill Sans"/>
                <a:cs typeface="Gill Sans"/>
              </a:rPr>
              <a:t> </a:t>
            </a:r>
            <a:r>
              <a:rPr sz="3000" dirty="0">
                <a:latin typeface="Gill Sans"/>
                <a:cs typeface="Gill Sans"/>
              </a:rPr>
              <a:t>AIC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=</a:t>
            </a:r>
            <a:r>
              <a:rPr sz="3000" spc="-5" dirty="0">
                <a:latin typeface="Gill Sans"/>
                <a:cs typeface="Gill Sans"/>
              </a:rPr>
              <a:t> l</a:t>
            </a:r>
            <a:r>
              <a:rPr sz="3000" spc="-50" dirty="0">
                <a:latin typeface="Gill Sans"/>
                <a:cs typeface="Gill Sans"/>
              </a:rPr>
              <a:t>o</a:t>
            </a:r>
            <a:r>
              <a:rPr sz="3000" spc="-65" dirty="0">
                <a:latin typeface="Gill Sans"/>
                <a:cs typeface="Gill Sans"/>
              </a:rPr>
              <a:t>w</a:t>
            </a:r>
            <a:r>
              <a:rPr sz="3000" dirty="0">
                <a:latin typeface="Gill Sans"/>
                <a:cs typeface="Gill Sans"/>
              </a:rPr>
              <a:t>er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d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spc="-15" dirty="0">
                <a:latin typeface="Gill Sans"/>
                <a:cs typeface="Gill Sans"/>
              </a:rPr>
              <a:t>stance</a:t>
            </a:r>
            <a:endParaRPr sz="3000">
              <a:latin typeface="Gill Sans"/>
              <a:cs typeface="Gill San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334620" y="2459184"/>
            <a:ext cx="313690" cy="0"/>
          </a:xfrm>
          <a:custGeom>
            <a:avLst/>
            <a:gdLst/>
            <a:ahLst/>
            <a:cxnLst/>
            <a:rect l="l" t="t" r="r" b="b"/>
            <a:pathLst>
              <a:path w="313689">
                <a:moveTo>
                  <a:pt x="0" y="0"/>
                </a:moveTo>
                <a:lnTo>
                  <a:pt x="31353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361667" y="8668873"/>
            <a:ext cx="313690" cy="0"/>
          </a:xfrm>
          <a:custGeom>
            <a:avLst/>
            <a:gdLst/>
            <a:ahLst/>
            <a:cxnLst/>
            <a:rect l="l" t="t" r="r" b="b"/>
            <a:pathLst>
              <a:path w="313689">
                <a:moveTo>
                  <a:pt x="0" y="0"/>
                </a:moveTo>
                <a:lnTo>
                  <a:pt x="31353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521" rIns="0" bIns="0" rtlCol="0">
            <a:spAutoFit/>
          </a:bodyPr>
          <a:lstStyle/>
          <a:p>
            <a:pPr marL="1711325">
              <a:lnSpc>
                <a:spcPct val="100000"/>
              </a:lnSpc>
            </a:pPr>
            <a:r>
              <a:rPr sz="3600" spc="-30" dirty="0">
                <a:latin typeface="Gill Sans"/>
                <a:cs typeface="Gill Sans"/>
              </a:rPr>
              <a:t>Ak</a:t>
            </a:r>
            <a:r>
              <a:rPr sz="3600" spc="25" dirty="0">
                <a:latin typeface="Gill Sans"/>
                <a:cs typeface="Gill Sans"/>
              </a:rPr>
              <a:t>a</a:t>
            </a:r>
            <a:r>
              <a:rPr sz="3600" dirty="0">
                <a:latin typeface="Gill Sans"/>
                <a:cs typeface="Gill Sans"/>
              </a:rPr>
              <a:t>i</a:t>
            </a:r>
            <a:r>
              <a:rPr sz="3600" spc="-180" dirty="0">
                <a:latin typeface="Gill Sans"/>
                <a:cs typeface="Gill Sans"/>
              </a:rPr>
              <a:t>k</a:t>
            </a:r>
            <a:r>
              <a:rPr sz="3600" dirty="0">
                <a:latin typeface="Gill Sans"/>
                <a:cs typeface="Gill Sans"/>
              </a:rPr>
              <a:t>e</a:t>
            </a:r>
            <a:r>
              <a:rPr sz="3600" spc="-5" dirty="0">
                <a:latin typeface="Gill Sans"/>
                <a:cs typeface="Gill Sans"/>
              </a:rPr>
              <a:t> </a:t>
            </a:r>
            <a:r>
              <a:rPr sz="3600" dirty="0">
                <a:latin typeface="Gill Sans"/>
                <a:cs typeface="Gill Sans"/>
              </a:rPr>
              <a:t>I</a:t>
            </a:r>
            <a:r>
              <a:rPr sz="3600" spc="-5" dirty="0">
                <a:latin typeface="Gill Sans"/>
                <a:cs typeface="Gill Sans"/>
              </a:rPr>
              <a:t>nfo</a:t>
            </a:r>
            <a:r>
              <a:rPr sz="3600" dirty="0">
                <a:latin typeface="Gill Sans"/>
                <a:cs typeface="Gill Sans"/>
              </a:rPr>
              <a:t>r</a:t>
            </a:r>
            <a:r>
              <a:rPr sz="3600" spc="-5" dirty="0">
                <a:latin typeface="Gill Sans"/>
                <a:cs typeface="Gill Sans"/>
              </a:rPr>
              <a:t>m</a:t>
            </a:r>
            <a:r>
              <a:rPr sz="3600" spc="-25" dirty="0">
                <a:latin typeface="Gill Sans"/>
                <a:cs typeface="Gill Sans"/>
              </a:rPr>
              <a:t>a</a:t>
            </a:r>
            <a:r>
              <a:rPr sz="3600" spc="-5" dirty="0">
                <a:latin typeface="Gill Sans"/>
                <a:cs typeface="Gill Sans"/>
              </a:rPr>
              <a:t>t</a:t>
            </a:r>
            <a:r>
              <a:rPr sz="3600" dirty="0">
                <a:latin typeface="Gill Sans"/>
                <a:cs typeface="Gill Sans"/>
              </a:rPr>
              <a:t>i</a:t>
            </a:r>
            <a:r>
              <a:rPr sz="3600" spc="-5" dirty="0">
                <a:latin typeface="Gill Sans"/>
                <a:cs typeface="Gill Sans"/>
              </a:rPr>
              <a:t>o</a:t>
            </a:r>
            <a:r>
              <a:rPr sz="3600" dirty="0">
                <a:latin typeface="Gill Sans"/>
                <a:cs typeface="Gill Sans"/>
              </a:rPr>
              <a:t>n</a:t>
            </a:r>
            <a:r>
              <a:rPr sz="3600" spc="-5" dirty="0">
                <a:latin typeface="Gill Sans"/>
                <a:cs typeface="Gill Sans"/>
              </a:rPr>
              <a:t> </a:t>
            </a:r>
            <a:r>
              <a:rPr sz="3600" dirty="0">
                <a:latin typeface="Gill Sans"/>
                <a:cs typeface="Gill Sans"/>
              </a:rPr>
              <a:t>C</a:t>
            </a:r>
            <a:r>
              <a:rPr sz="3600" spc="-155" dirty="0">
                <a:latin typeface="Gill Sans"/>
                <a:cs typeface="Gill Sans"/>
              </a:rPr>
              <a:t>r</a:t>
            </a:r>
            <a:r>
              <a:rPr sz="3600" dirty="0">
                <a:latin typeface="Gill Sans"/>
                <a:cs typeface="Gill Sans"/>
              </a:rPr>
              <a:t>i</a:t>
            </a:r>
            <a:r>
              <a:rPr sz="3600" spc="-5" dirty="0">
                <a:latin typeface="Gill Sans"/>
                <a:cs typeface="Gill Sans"/>
              </a:rPr>
              <a:t>t</a:t>
            </a:r>
            <a:r>
              <a:rPr sz="3600" dirty="0">
                <a:latin typeface="Gill Sans"/>
                <a:cs typeface="Gill Sans"/>
              </a:rPr>
              <a:t>e</a:t>
            </a:r>
            <a:r>
              <a:rPr sz="3600" spc="-155" dirty="0">
                <a:latin typeface="Gill Sans"/>
                <a:cs typeface="Gill Sans"/>
              </a:rPr>
              <a:t>r</a:t>
            </a:r>
            <a:r>
              <a:rPr sz="3600" dirty="0">
                <a:latin typeface="Gill Sans"/>
                <a:cs typeface="Gill Sans"/>
              </a:rPr>
              <a:t>i</a:t>
            </a:r>
            <a:r>
              <a:rPr sz="3600" spc="-5" dirty="0">
                <a:latin typeface="Gill Sans"/>
                <a:cs typeface="Gill Sans"/>
              </a:rPr>
              <a:t>o</a:t>
            </a:r>
            <a:r>
              <a:rPr sz="3600" dirty="0">
                <a:latin typeface="Gill Sans"/>
                <a:cs typeface="Gill Sans"/>
              </a:rPr>
              <a:t>n</a:t>
            </a:r>
            <a:endParaRPr sz="3600">
              <a:latin typeface="Gill Sans"/>
              <a:cs typeface="Gill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8000" y="8422950"/>
            <a:ext cx="1797050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365" dirty="0">
                <a:latin typeface="Gill Sans"/>
                <a:cs typeface="Gill Sans"/>
              </a:rPr>
              <a:t>W</a:t>
            </a:r>
            <a:r>
              <a:rPr sz="3600" spc="-20" dirty="0">
                <a:latin typeface="Gill Sans"/>
                <a:cs typeface="Gill Sans"/>
              </a:rPr>
              <a:t>ors</a:t>
            </a:r>
            <a:r>
              <a:rPr sz="3600" dirty="0">
                <a:latin typeface="Gill Sans"/>
                <a:cs typeface="Gill Sans"/>
              </a:rPr>
              <a:t>e</a:t>
            </a:r>
            <a:r>
              <a:rPr sz="3600" spc="-5" dirty="0">
                <a:latin typeface="Gill Sans"/>
                <a:cs typeface="Gill Sans"/>
              </a:rPr>
              <a:t> </a:t>
            </a:r>
            <a:r>
              <a:rPr sz="3600" spc="25" dirty="0">
                <a:latin typeface="Gill Sans"/>
                <a:cs typeface="Gill Sans"/>
              </a:rPr>
              <a:t>fit</a:t>
            </a:r>
            <a:endParaRPr sz="3600">
              <a:latin typeface="Gill Sans"/>
              <a:cs typeface="Gill San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08300" y="8471158"/>
            <a:ext cx="4427220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dirty="0">
                <a:latin typeface="Gill Sans"/>
                <a:cs typeface="Gill Sans"/>
              </a:rPr>
              <a:t>h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spc="-15" dirty="0">
                <a:latin typeface="Gill Sans"/>
                <a:cs typeface="Gill Sans"/>
              </a:rPr>
              <a:t>g</a:t>
            </a:r>
            <a:r>
              <a:rPr sz="3000" dirty="0">
                <a:latin typeface="Gill Sans"/>
                <a:cs typeface="Gill Sans"/>
              </a:rPr>
              <a:t>her</a:t>
            </a:r>
            <a:r>
              <a:rPr sz="3000" spc="-305" dirty="0">
                <a:latin typeface="Gill Sans"/>
                <a:cs typeface="Gill Sans"/>
              </a:rPr>
              <a:t> </a:t>
            </a:r>
            <a:r>
              <a:rPr sz="3000" dirty="0">
                <a:latin typeface="Gill Sans"/>
                <a:cs typeface="Gill Sans"/>
              </a:rPr>
              <a:t>AIC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=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dirty="0">
                <a:latin typeface="Gill Sans"/>
                <a:cs typeface="Gill Sans"/>
              </a:rPr>
              <a:t>h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spc="-15" dirty="0">
                <a:latin typeface="Gill Sans"/>
                <a:cs typeface="Gill Sans"/>
              </a:rPr>
              <a:t>g</a:t>
            </a:r>
            <a:r>
              <a:rPr sz="3000" dirty="0">
                <a:latin typeface="Gill Sans"/>
                <a:cs typeface="Gill Sans"/>
              </a:rPr>
              <a:t>her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d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spc="-15" dirty="0">
                <a:latin typeface="Gill Sans"/>
                <a:cs typeface="Gill Sans"/>
              </a:rPr>
              <a:t>stance</a:t>
            </a:r>
            <a:endParaRPr sz="3000">
              <a:latin typeface="Gill Sans"/>
              <a:cs typeface="Gill San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57500" y="4381759"/>
            <a:ext cx="2592705" cy="1739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550"/>
              </a:lnSpc>
            </a:pPr>
            <a:r>
              <a:rPr sz="3000" dirty="0">
                <a:latin typeface="Gill Sans"/>
                <a:cs typeface="Gill Sans"/>
              </a:rPr>
              <a:t>AIC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=</a:t>
            </a:r>
            <a:endParaRPr sz="3000">
              <a:latin typeface="Gill Sans"/>
              <a:cs typeface="Gill Sans"/>
            </a:endParaRPr>
          </a:p>
          <a:p>
            <a:pPr marL="12700" marR="5080">
              <a:lnSpc>
                <a:spcPts val="3500"/>
              </a:lnSpc>
              <a:spcBef>
                <a:spcPts val="150"/>
              </a:spcBef>
            </a:pPr>
            <a:r>
              <a:rPr sz="3000" spc="-15" dirty="0">
                <a:latin typeface="Gill Sans"/>
                <a:cs typeface="Gill Sans"/>
              </a:rPr>
              <a:t>est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spc="-15" dirty="0">
                <a:latin typeface="Gill Sans"/>
                <a:cs typeface="Gill Sans"/>
              </a:rPr>
              <a:t>mator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o</a:t>
            </a:r>
            <a:r>
              <a:rPr sz="3000" dirty="0">
                <a:latin typeface="Gill Sans"/>
                <a:cs typeface="Gill Sans"/>
              </a:rPr>
              <a:t>f </a:t>
            </a:r>
            <a:r>
              <a:rPr sz="3000" spc="-75" dirty="0">
                <a:latin typeface="Gill Sans"/>
                <a:cs typeface="Gill Sans"/>
              </a:rPr>
              <a:t>r</a:t>
            </a:r>
            <a:r>
              <a:rPr sz="3000" dirty="0">
                <a:latin typeface="Gill Sans"/>
                <a:cs typeface="Gill Sans"/>
              </a:rPr>
              <a:t>e</a:t>
            </a:r>
            <a:r>
              <a:rPr sz="3000" spc="-5" dirty="0">
                <a:latin typeface="Gill Sans"/>
                <a:cs typeface="Gill Sans"/>
              </a:rPr>
              <a:t>l</a:t>
            </a:r>
            <a:r>
              <a:rPr sz="3000" spc="-15" dirty="0">
                <a:latin typeface="Gill Sans"/>
                <a:cs typeface="Gill Sans"/>
              </a:rPr>
              <a:t>a</a:t>
            </a:r>
            <a:r>
              <a:rPr sz="3000" dirty="0">
                <a:latin typeface="Gill Sans"/>
                <a:cs typeface="Gill Sans"/>
              </a:rPr>
              <a:t>t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spc="-75" dirty="0">
                <a:latin typeface="Gill Sans"/>
                <a:cs typeface="Gill Sans"/>
              </a:rPr>
              <a:t>v</a:t>
            </a:r>
            <a:r>
              <a:rPr sz="3000" dirty="0">
                <a:latin typeface="Gill Sans"/>
                <a:cs typeface="Gill Sans"/>
              </a:rPr>
              <a:t>e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d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spc="-15" dirty="0">
                <a:latin typeface="Gill Sans"/>
                <a:cs typeface="Gill Sans"/>
              </a:rPr>
              <a:t>stance</a:t>
            </a:r>
            <a:r>
              <a:rPr sz="3000" spc="-10" dirty="0">
                <a:latin typeface="Gill Sans"/>
                <a:cs typeface="Gill Sans"/>
              </a:rPr>
              <a:t> f</a:t>
            </a:r>
            <a:r>
              <a:rPr sz="3000" spc="-90" dirty="0">
                <a:latin typeface="Gill Sans"/>
                <a:cs typeface="Gill Sans"/>
              </a:rPr>
              <a:t>r</a:t>
            </a:r>
            <a:r>
              <a:rPr sz="3000" spc="-20" dirty="0">
                <a:latin typeface="Gill Sans"/>
                <a:cs typeface="Gill Sans"/>
              </a:rPr>
              <a:t>om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dirty="0">
                <a:latin typeface="Gill Sans"/>
                <a:cs typeface="Gill Sans"/>
              </a:rPr>
              <a:t>true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mod</a:t>
            </a:r>
            <a:r>
              <a:rPr sz="3000" dirty="0">
                <a:latin typeface="Gill Sans"/>
                <a:cs typeface="Gill Sans"/>
              </a:rPr>
              <a:t>el</a:t>
            </a:r>
            <a:endParaRPr sz="3000">
              <a:latin typeface="Gill Sans"/>
              <a:cs typeface="Gill San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248325" y="1757984"/>
            <a:ext cx="63500" cy="0"/>
          </a:xfrm>
          <a:custGeom>
            <a:avLst/>
            <a:gdLst/>
            <a:ahLst/>
            <a:cxnLst/>
            <a:rect l="l" t="t" r="r" b="b"/>
            <a:pathLst>
              <a:path w="63500">
                <a:moveTo>
                  <a:pt x="0" y="0"/>
                </a:moveTo>
                <a:lnTo>
                  <a:pt x="63500" y="0"/>
                </a:lnTo>
              </a:path>
            </a:pathLst>
          </a:custGeom>
          <a:ln w="406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150535" y="1370634"/>
            <a:ext cx="259079" cy="215900"/>
          </a:xfrm>
          <a:custGeom>
            <a:avLst/>
            <a:gdLst/>
            <a:ahLst/>
            <a:cxnLst/>
            <a:rect l="l" t="t" r="r" b="b"/>
            <a:pathLst>
              <a:path w="259079" h="215900">
                <a:moveTo>
                  <a:pt x="259080" y="215900"/>
                </a:moveTo>
                <a:lnTo>
                  <a:pt x="129540" y="0"/>
                </a:lnTo>
                <a:lnTo>
                  <a:pt x="0" y="215900"/>
                </a:lnTo>
              </a:path>
            </a:pathLst>
          </a:custGeom>
          <a:ln w="63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280075" y="1370634"/>
            <a:ext cx="0" cy="215900"/>
          </a:xfrm>
          <a:custGeom>
            <a:avLst/>
            <a:gdLst/>
            <a:ahLst/>
            <a:cxnLst/>
            <a:rect l="l" t="t" r="r" b="b"/>
            <a:pathLst>
              <a:path h="215900">
                <a:moveTo>
                  <a:pt x="0" y="215900"/>
                </a:moveTo>
                <a:lnTo>
                  <a:pt x="0" y="0"/>
                </a:lnTo>
              </a:path>
            </a:pathLst>
          </a:custGeom>
          <a:ln w="63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8229600" y="2057659"/>
            <a:ext cx="2098040" cy="1295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4445" algn="ctr">
              <a:lnSpc>
                <a:spcPts val="3500"/>
              </a:lnSpc>
            </a:pPr>
            <a:r>
              <a:rPr sz="3000" dirty="0">
                <a:latin typeface="Gill Sans"/>
                <a:cs typeface="Gill Sans"/>
              </a:rPr>
              <a:t>h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spc="-15" dirty="0">
                <a:latin typeface="Gill Sans"/>
                <a:cs typeface="Gill Sans"/>
              </a:rPr>
              <a:t>g</a:t>
            </a:r>
            <a:r>
              <a:rPr sz="3000" dirty="0">
                <a:latin typeface="Gill Sans"/>
                <a:cs typeface="Gill Sans"/>
              </a:rPr>
              <a:t>her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15" dirty="0">
                <a:latin typeface="Gill Sans"/>
                <a:cs typeface="Gill Sans"/>
              </a:rPr>
              <a:t>data</a:t>
            </a:r>
            <a:r>
              <a:rPr sz="3000" spc="-10" dirty="0">
                <a:latin typeface="Gill Sans"/>
                <a:cs typeface="Gill Sans"/>
              </a:rPr>
              <a:t> </a:t>
            </a:r>
            <a:r>
              <a:rPr sz="3000" spc="-5" dirty="0">
                <a:latin typeface="Gill Sans"/>
                <a:cs typeface="Gill Sans"/>
              </a:rPr>
              <a:t>l</a:t>
            </a:r>
            <a:r>
              <a:rPr sz="3000" spc="-15" dirty="0">
                <a:latin typeface="Gill Sans"/>
                <a:cs typeface="Gill Sans"/>
              </a:rPr>
              <a:t>og</a:t>
            </a:r>
            <a:r>
              <a:rPr sz="3000" spc="-5" dirty="0">
                <a:latin typeface="Gill Sans"/>
                <a:cs typeface="Gill Sans"/>
              </a:rPr>
              <a:t>-li</a:t>
            </a:r>
            <a:r>
              <a:rPr sz="3000" spc="-90" dirty="0">
                <a:latin typeface="Gill Sans"/>
                <a:cs typeface="Gill Sans"/>
              </a:rPr>
              <a:t>k</a:t>
            </a:r>
            <a:r>
              <a:rPr sz="3000" dirty="0">
                <a:latin typeface="Gill Sans"/>
                <a:cs typeface="Gill Sans"/>
              </a:rPr>
              <a:t>e</a:t>
            </a:r>
            <a:r>
              <a:rPr sz="3000" spc="-5" dirty="0">
                <a:latin typeface="Gill Sans"/>
                <a:cs typeface="Gill Sans"/>
              </a:rPr>
              <a:t>li</a:t>
            </a:r>
            <a:r>
              <a:rPr sz="3000" spc="-20" dirty="0">
                <a:latin typeface="Gill Sans"/>
                <a:cs typeface="Gill Sans"/>
              </a:rPr>
              <a:t>hood</a:t>
            </a:r>
            <a:r>
              <a:rPr sz="3000" spc="-10" dirty="0">
                <a:latin typeface="Gill Sans"/>
                <a:cs typeface="Gill Sans"/>
              </a:rPr>
              <a:t> </a:t>
            </a:r>
            <a:r>
              <a:rPr sz="3000" spc="-5" dirty="0">
                <a:latin typeface="Gill Sans"/>
                <a:cs typeface="Gill Sans"/>
              </a:rPr>
              <a:t>(L</a:t>
            </a:r>
            <a:r>
              <a:rPr sz="3000" dirty="0">
                <a:latin typeface="Gill Sans"/>
                <a:cs typeface="Gill Sans"/>
              </a:rPr>
              <a:t>n</a:t>
            </a:r>
            <a:r>
              <a:rPr sz="3000" spc="-5" dirty="0">
                <a:latin typeface="Gill Sans"/>
                <a:cs typeface="Gill Sans"/>
              </a:rPr>
              <a:t>L</a:t>
            </a:r>
            <a:r>
              <a:rPr sz="3000" dirty="0">
                <a:latin typeface="Gill Sans"/>
                <a:cs typeface="Gill Sans"/>
              </a:rPr>
              <a:t>)</a:t>
            </a:r>
            <a:endParaRPr sz="3000">
              <a:latin typeface="Gill Sans"/>
              <a:cs typeface="Gill San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248323" y="8341347"/>
            <a:ext cx="63500" cy="0"/>
          </a:xfrm>
          <a:custGeom>
            <a:avLst/>
            <a:gdLst/>
            <a:ahLst/>
            <a:cxnLst/>
            <a:rect l="l" t="t" r="r" b="b"/>
            <a:pathLst>
              <a:path w="63500">
                <a:moveTo>
                  <a:pt x="0" y="0"/>
                </a:moveTo>
                <a:lnTo>
                  <a:pt x="63500" y="0"/>
                </a:lnTo>
              </a:path>
            </a:pathLst>
          </a:custGeom>
          <a:ln w="406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9150534" y="8512797"/>
            <a:ext cx="259079" cy="215900"/>
          </a:xfrm>
          <a:custGeom>
            <a:avLst/>
            <a:gdLst/>
            <a:ahLst/>
            <a:cxnLst/>
            <a:rect l="l" t="t" r="r" b="b"/>
            <a:pathLst>
              <a:path w="259079" h="215900">
                <a:moveTo>
                  <a:pt x="0" y="0"/>
                </a:moveTo>
                <a:lnTo>
                  <a:pt x="129540" y="215900"/>
                </a:lnTo>
                <a:lnTo>
                  <a:pt x="259080" y="0"/>
                </a:lnTo>
              </a:path>
            </a:pathLst>
          </a:custGeom>
          <a:ln w="63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9280073" y="8512797"/>
            <a:ext cx="0" cy="215900"/>
          </a:xfrm>
          <a:custGeom>
            <a:avLst/>
            <a:gdLst/>
            <a:ahLst/>
            <a:cxnLst/>
            <a:rect l="l" t="t" r="r" b="b"/>
            <a:pathLst>
              <a:path h="215900">
                <a:moveTo>
                  <a:pt x="0" y="0"/>
                </a:moveTo>
                <a:lnTo>
                  <a:pt x="0" y="215900"/>
                </a:lnTo>
              </a:path>
            </a:pathLst>
          </a:custGeom>
          <a:ln w="63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229600" y="6782058"/>
            <a:ext cx="2098040" cy="1295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270" algn="ctr">
              <a:lnSpc>
                <a:spcPts val="3500"/>
              </a:lnSpc>
            </a:pPr>
            <a:r>
              <a:rPr sz="3000" spc="-5" dirty="0">
                <a:latin typeface="Gill Sans"/>
                <a:cs typeface="Gill Sans"/>
              </a:rPr>
              <a:t>l</a:t>
            </a:r>
            <a:r>
              <a:rPr sz="3000" spc="-50" dirty="0">
                <a:latin typeface="Gill Sans"/>
                <a:cs typeface="Gill Sans"/>
              </a:rPr>
              <a:t>o</a:t>
            </a:r>
            <a:r>
              <a:rPr sz="3000" spc="-65" dirty="0">
                <a:latin typeface="Gill Sans"/>
                <a:cs typeface="Gill Sans"/>
              </a:rPr>
              <a:t>w</a:t>
            </a:r>
            <a:r>
              <a:rPr sz="3000" dirty="0">
                <a:latin typeface="Gill Sans"/>
                <a:cs typeface="Gill Sans"/>
              </a:rPr>
              <a:t>er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15" dirty="0">
                <a:latin typeface="Gill Sans"/>
                <a:cs typeface="Gill Sans"/>
              </a:rPr>
              <a:t>data</a:t>
            </a:r>
            <a:r>
              <a:rPr sz="3000" spc="-10" dirty="0">
                <a:latin typeface="Gill Sans"/>
                <a:cs typeface="Gill Sans"/>
              </a:rPr>
              <a:t> </a:t>
            </a:r>
            <a:r>
              <a:rPr sz="3000" spc="-5" dirty="0">
                <a:latin typeface="Gill Sans"/>
                <a:cs typeface="Gill Sans"/>
              </a:rPr>
              <a:t>l</a:t>
            </a:r>
            <a:r>
              <a:rPr sz="3000" spc="-15" dirty="0">
                <a:latin typeface="Gill Sans"/>
                <a:cs typeface="Gill Sans"/>
              </a:rPr>
              <a:t>og</a:t>
            </a:r>
            <a:r>
              <a:rPr sz="3000" spc="-5" dirty="0">
                <a:latin typeface="Gill Sans"/>
                <a:cs typeface="Gill Sans"/>
              </a:rPr>
              <a:t>-li</a:t>
            </a:r>
            <a:r>
              <a:rPr sz="3000" spc="-90" dirty="0">
                <a:latin typeface="Gill Sans"/>
                <a:cs typeface="Gill Sans"/>
              </a:rPr>
              <a:t>k</a:t>
            </a:r>
            <a:r>
              <a:rPr sz="3000" dirty="0">
                <a:latin typeface="Gill Sans"/>
                <a:cs typeface="Gill Sans"/>
              </a:rPr>
              <a:t>e</a:t>
            </a:r>
            <a:r>
              <a:rPr sz="3000" spc="-5" dirty="0">
                <a:latin typeface="Gill Sans"/>
                <a:cs typeface="Gill Sans"/>
              </a:rPr>
              <a:t>li</a:t>
            </a:r>
            <a:r>
              <a:rPr sz="3000" spc="-20" dirty="0">
                <a:latin typeface="Gill Sans"/>
                <a:cs typeface="Gill Sans"/>
              </a:rPr>
              <a:t>hood</a:t>
            </a:r>
            <a:r>
              <a:rPr sz="3000" spc="-10" dirty="0">
                <a:latin typeface="Gill Sans"/>
                <a:cs typeface="Gill Sans"/>
              </a:rPr>
              <a:t> </a:t>
            </a:r>
            <a:r>
              <a:rPr sz="3000" spc="-5" dirty="0">
                <a:latin typeface="Gill Sans"/>
                <a:cs typeface="Gill Sans"/>
              </a:rPr>
              <a:t>(L</a:t>
            </a:r>
            <a:r>
              <a:rPr sz="3000" dirty="0">
                <a:latin typeface="Gill Sans"/>
                <a:cs typeface="Gill Sans"/>
              </a:rPr>
              <a:t>n</a:t>
            </a:r>
            <a:r>
              <a:rPr sz="3000" spc="-5" dirty="0">
                <a:latin typeface="Gill Sans"/>
                <a:cs typeface="Gill Sans"/>
              </a:rPr>
              <a:t>L</a:t>
            </a:r>
            <a:r>
              <a:rPr sz="3000" dirty="0">
                <a:latin typeface="Gill Sans"/>
                <a:cs typeface="Gill Sans"/>
              </a:rPr>
              <a:t>)</a:t>
            </a:r>
            <a:endParaRPr sz="3000">
              <a:latin typeface="Gill Sans"/>
              <a:cs typeface="Gill San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599122" y="4332276"/>
            <a:ext cx="5843270" cy="1511300"/>
          </a:xfrm>
          <a:prstGeom prst="rect">
            <a:avLst/>
          </a:prstGeom>
          <a:ln w="762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82344" marR="967740" algn="ctr">
              <a:lnSpc>
                <a:spcPts val="3500"/>
              </a:lnSpc>
            </a:pPr>
            <a:r>
              <a:rPr sz="3000" b="1" spc="-25" dirty="0">
                <a:latin typeface="Gill Sans"/>
                <a:cs typeface="Gill Sans"/>
              </a:rPr>
              <a:t>Ak</a:t>
            </a:r>
            <a:r>
              <a:rPr sz="3000" b="1" spc="20" dirty="0">
                <a:latin typeface="Gill Sans"/>
                <a:cs typeface="Gill Sans"/>
              </a:rPr>
              <a:t>a</a:t>
            </a:r>
            <a:r>
              <a:rPr sz="3000" b="1" dirty="0">
                <a:latin typeface="Gill Sans"/>
                <a:cs typeface="Gill Sans"/>
              </a:rPr>
              <a:t>i</a:t>
            </a:r>
            <a:r>
              <a:rPr sz="3000" b="1" spc="-150" dirty="0">
                <a:latin typeface="Gill Sans"/>
                <a:cs typeface="Gill Sans"/>
              </a:rPr>
              <a:t>k</a:t>
            </a:r>
            <a:r>
              <a:rPr sz="3000" b="1" dirty="0">
                <a:latin typeface="Gill Sans"/>
                <a:cs typeface="Gill Sans"/>
              </a:rPr>
              <a:t>e</a:t>
            </a:r>
            <a:r>
              <a:rPr sz="3000" b="1" spc="-5" dirty="0">
                <a:latin typeface="Gill Sans"/>
                <a:cs typeface="Gill Sans"/>
              </a:rPr>
              <a:t> </a:t>
            </a:r>
            <a:r>
              <a:rPr sz="3000" b="1" dirty="0">
                <a:latin typeface="Gill Sans"/>
                <a:cs typeface="Gill Sans"/>
              </a:rPr>
              <a:t>In</a:t>
            </a:r>
            <a:r>
              <a:rPr sz="3000" b="1" spc="-5" dirty="0">
                <a:latin typeface="Gill Sans"/>
                <a:cs typeface="Gill Sans"/>
              </a:rPr>
              <a:t>fo</a:t>
            </a:r>
            <a:r>
              <a:rPr sz="3000" b="1" dirty="0">
                <a:latin typeface="Gill Sans"/>
                <a:cs typeface="Gill Sans"/>
              </a:rPr>
              <a:t>r</a:t>
            </a:r>
            <a:r>
              <a:rPr sz="3000" b="1" spc="-5" dirty="0">
                <a:latin typeface="Gill Sans"/>
                <a:cs typeface="Gill Sans"/>
              </a:rPr>
              <a:t>m</a:t>
            </a:r>
            <a:r>
              <a:rPr sz="3000" b="1" spc="-20" dirty="0">
                <a:latin typeface="Gill Sans"/>
                <a:cs typeface="Gill Sans"/>
              </a:rPr>
              <a:t>a</a:t>
            </a:r>
            <a:r>
              <a:rPr sz="3000" b="1" spc="-5" dirty="0">
                <a:latin typeface="Gill Sans"/>
                <a:cs typeface="Gill Sans"/>
              </a:rPr>
              <a:t>t</a:t>
            </a:r>
            <a:r>
              <a:rPr sz="3000" b="1" dirty="0">
                <a:latin typeface="Gill Sans"/>
                <a:cs typeface="Gill Sans"/>
              </a:rPr>
              <a:t>i</a:t>
            </a:r>
            <a:r>
              <a:rPr sz="3000" b="1" spc="-5" dirty="0">
                <a:latin typeface="Gill Sans"/>
                <a:cs typeface="Gill Sans"/>
              </a:rPr>
              <a:t>o</a:t>
            </a:r>
            <a:r>
              <a:rPr sz="3000" b="1" dirty="0">
                <a:latin typeface="Gill Sans"/>
                <a:cs typeface="Gill Sans"/>
              </a:rPr>
              <a:t>n C</a:t>
            </a:r>
            <a:r>
              <a:rPr sz="3000" b="1" spc="-130" dirty="0">
                <a:latin typeface="Gill Sans"/>
                <a:cs typeface="Gill Sans"/>
              </a:rPr>
              <a:t>r</a:t>
            </a:r>
            <a:r>
              <a:rPr sz="3000" b="1" dirty="0">
                <a:latin typeface="Gill Sans"/>
                <a:cs typeface="Gill Sans"/>
              </a:rPr>
              <a:t>i</a:t>
            </a:r>
            <a:r>
              <a:rPr sz="3000" b="1" spc="-5" dirty="0">
                <a:latin typeface="Gill Sans"/>
                <a:cs typeface="Gill Sans"/>
              </a:rPr>
              <a:t>t</a:t>
            </a:r>
            <a:r>
              <a:rPr sz="3000" b="1" dirty="0">
                <a:latin typeface="Gill Sans"/>
                <a:cs typeface="Gill Sans"/>
              </a:rPr>
              <a:t>e</a:t>
            </a:r>
            <a:r>
              <a:rPr sz="3000" b="1" spc="-130" dirty="0">
                <a:latin typeface="Gill Sans"/>
                <a:cs typeface="Gill Sans"/>
              </a:rPr>
              <a:t>r</a:t>
            </a:r>
            <a:r>
              <a:rPr sz="3000" b="1" dirty="0">
                <a:latin typeface="Gill Sans"/>
                <a:cs typeface="Gill Sans"/>
              </a:rPr>
              <a:t>i</a:t>
            </a:r>
            <a:r>
              <a:rPr sz="3000" b="1" spc="-5" dirty="0">
                <a:latin typeface="Gill Sans"/>
                <a:cs typeface="Gill Sans"/>
              </a:rPr>
              <a:t>o</a:t>
            </a:r>
            <a:r>
              <a:rPr sz="3000" b="1" dirty="0">
                <a:latin typeface="Gill Sans"/>
                <a:cs typeface="Gill Sans"/>
              </a:rPr>
              <a:t>n</a:t>
            </a:r>
            <a:r>
              <a:rPr sz="3000" b="1" spc="-5" dirty="0">
                <a:latin typeface="Gill Sans"/>
                <a:cs typeface="Gill Sans"/>
              </a:rPr>
              <a:t> </a:t>
            </a:r>
            <a:r>
              <a:rPr sz="3000" b="1" spc="-15" dirty="0">
                <a:latin typeface="Gill Sans"/>
                <a:cs typeface="Gill Sans"/>
              </a:rPr>
              <a:t>(</a:t>
            </a:r>
            <a:r>
              <a:rPr sz="3000" b="1" dirty="0">
                <a:latin typeface="Gill Sans"/>
                <a:cs typeface="Gill Sans"/>
              </a:rPr>
              <a:t>AIC</a:t>
            </a:r>
            <a:r>
              <a:rPr sz="3000" b="1" spc="-15" dirty="0">
                <a:latin typeface="Gill Sans"/>
                <a:cs typeface="Gill Sans"/>
              </a:rPr>
              <a:t>)</a:t>
            </a:r>
            <a:r>
              <a:rPr sz="3000" b="1" spc="-5" dirty="0">
                <a:latin typeface="Gill Sans"/>
                <a:cs typeface="Gill Sans"/>
              </a:rPr>
              <a:t> </a:t>
            </a:r>
            <a:r>
              <a:rPr sz="3000" b="1" spc="-20" dirty="0">
                <a:latin typeface="Gill Sans"/>
                <a:cs typeface="Gill Sans"/>
              </a:rPr>
              <a:t>=</a:t>
            </a:r>
            <a:endParaRPr sz="3000">
              <a:latin typeface="Gill Sans"/>
              <a:cs typeface="Gill Sans"/>
            </a:endParaRPr>
          </a:p>
          <a:p>
            <a:pPr algn="ctr">
              <a:lnSpc>
                <a:spcPts val="3400"/>
              </a:lnSpc>
            </a:pPr>
            <a:r>
              <a:rPr sz="3000" spc="-5" dirty="0">
                <a:latin typeface="Gill Sans"/>
                <a:cs typeface="Gill Sans"/>
              </a:rPr>
              <a:t>-</a:t>
            </a:r>
            <a:r>
              <a:rPr sz="3000" dirty="0">
                <a:latin typeface="Gill Sans"/>
                <a:cs typeface="Gill Sans"/>
              </a:rPr>
              <a:t>2</a:t>
            </a:r>
            <a:r>
              <a:rPr sz="3000" spc="-5" dirty="0">
                <a:latin typeface="Gill Sans"/>
                <a:cs typeface="Gill Sans"/>
              </a:rPr>
              <a:t>(L</a:t>
            </a:r>
            <a:r>
              <a:rPr sz="3000" dirty="0">
                <a:latin typeface="Gill Sans"/>
                <a:cs typeface="Gill Sans"/>
              </a:rPr>
              <a:t>nL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dirty="0">
                <a:latin typeface="Gill Sans"/>
                <a:cs typeface="Gill Sans"/>
              </a:rPr>
              <a:t>-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#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o</a:t>
            </a:r>
            <a:r>
              <a:rPr sz="3000" dirty="0">
                <a:latin typeface="Gill Sans"/>
                <a:cs typeface="Gill Sans"/>
              </a:rPr>
              <a:t>f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15" dirty="0">
                <a:latin typeface="Gill Sans"/>
                <a:cs typeface="Gill Sans"/>
              </a:rPr>
              <a:t>parameters</a:t>
            </a:r>
            <a:r>
              <a:rPr sz="3000" dirty="0">
                <a:latin typeface="Gill Sans"/>
                <a:cs typeface="Gill Sans"/>
              </a:rPr>
              <a:t>)</a:t>
            </a:r>
            <a:endParaRPr sz="3000">
              <a:latin typeface="Gill Sans"/>
              <a:cs typeface="Gill San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261568" y="6968445"/>
            <a:ext cx="63500" cy="0"/>
          </a:xfrm>
          <a:custGeom>
            <a:avLst/>
            <a:gdLst/>
            <a:ahLst/>
            <a:cxnLst/>
            <a:rect l="l" t="t" r="r" b="b"/>
            <a:pathLst>
              <a:path w="63500">
                <a:moveTo>
                  <a:pt x="0" y="0"/>
                </a:moveTo>
                <a:lnTo>
                  <a:pt x="63500" y="0"/>
                </a:lnTo>
              </a:path>
            </a:pathLst>
          </a:custGeom>
          <a:ln w="3949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163778" y="7134180"/>
            <a:ext cx="259079" cy="259079"/>
          </a:xfrm>
          <a:custGeom>
            <a:avLst/>
            <a:gdLst/>
            <a:ahLst/>
            <a:cxnLst/>
            <a:rect l="l" t="t" r="r" b="b"/>
            <a:pathLst>
              <a:path w="259080" h="259079">
                <a:moveTo>
                  <a:pt x="259080" y="0"/>
                </a:moveTo>
                <a:lnTo>
                  <a:pt x="0" y="0"/>
                </a:lnTo>
                <a:lnTo>
                  <a:pt x="129540" y="259080"/>
                </a:lnTo>
                <a:lnTo>
                  <a:pt x="2590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2057659" y="3726660"/>
            <a:ext cx="406400" cy="301752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dirty="0">
                <a:latin typeface="Gill Sans"/>
                <a:cs typeface="Gill Sans"/>
              </a:rPr>
              <a:t>d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dirty="0">
                <a:latin typeface="Gill Sans"/>
                <a:cs typeface="Gill Sans"/>
              </a:rPr>
              <a:t>stance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dirty="0">
                <a:latin typeface="Gill Sans"/>
                <a:cs typeface="Gill Sans"/>
              </a:rPr>
              <a:t>f</a:t>
            </a:r>
            <a:r>
              <a:rPr sz="3000" spc="-75" dirty="0">
                <a:latin typeface="Gill Sans"/>
                <a:cs typeface="Gill Sans"/>
              </a:rPr>
              <a:t>r</a:t>
            </a:r>
            <a:r>
              <a:rPr sz="3000" dirty="0">
                <a:latin typeface="Gill Sans"/>
                <a:cs typeface="Gill Sans"/>
              </a:rPr>
              <a:t>om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dirty="0">
                <a:latin typeface="Gill Sans"/>
                <a:cs typeface="Gill Sans"/>
              </a:rPr>
              <a:t>truth</a:t>
            </a:r>
            <a:endParaRPr sz="3000">
              <a:latin typeface="Gill Sans"/>
              <a:cs typeface="Gill Sans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47180" y="2089199"/>
            <a:ext cx="0" cy="6755765"/>
          </a:xfrm>
          <a:custGeom>
            <a:avLst/>
            <a:gdLst/>
            <a:ahLst/>
            <a:cxnLst/>
            <a:rect l="l" t="t" r="r" b="b"/>
            <a:pathLst>
              <a:path h="6755765">
                <a:moveTo>
                  <a:pt x="0" y="0"/>
                </a:moveTo>
                <a:lnTo>
                  <a:pt x="0" y="6755477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422859" y="1983131"/>
            <a:ext cx="448945" cy="213995"/>
          </a:xfrm>
          <a:custGeom>
            <a:avLst/>
            <a:gdLst/>
            <a:ahLst/>
            <a:cxnLst/>
            <a:rect l="l" t="t" r="r" b="b"/>
            <a:pathLst>
              <a:path w="448944" h="213994">
                <a:moveTo>
                  <a:pt x="21537" y="0"/>
                </a:moveTo>
                <a:lnTo>
                  <a:pt x="448641" y="153991"/>
                </a:lnTo>
                <a:lnTo>
                  <a:pt x="427103" y="213727"/>
                </a:lnTo>
                <a:lnTo>
                  <a:pt x="0" y="59735"/>
                </a:lnTo>
                <a:lnTo>
                  <a:pt x="21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422859" y="1843431"/>
            <a:ext cx="448945" cy="213995"/>
          </a:xfrm>
          <a:custGeom>
            <a:avLst/>
            <a:gdLst/>
            <a:ahLst/>
            <a:cxnLst/>
            <a:rect l="l" t="t" r="r" b="b"/>
            <a:pathLst>
              <a:path w="448944" h="213994">
                <a:moveTo>
                  <a:pt x="21537" y="0"/>
                </a:moveTo>
                <a:lnTo>
                  <a:pt x="448641" y="153991"/>
                </a:lnTo>
                <a:lnTo>
                  <a:pt x="427103" y="213727"/>
                </a:lnTo>
                <a:lnTo>
                  <a:pt x="0" y="59735"/>
                </a:lnTo>
                <a:lnTo>
                  <a:pt x="21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647180" y="1424566"/>
            <a:ext cx="0" cy="508634"/>
          </a:xfrm>
          <a:custGeom>
            <a:avLst/>
            <a:gdLst/>
            <a:ahLst/>
            <a:cxnLst/>
            <a:rect l="l" t="t" r="r" b="b"/>
            <a:pathLst>
              <a:path h="508635">
                <a:moveTo>
                  <a:pt x="0" y="0"/>
                </a:moveTo>
                <a:lnTo>
                  <a:pt x="0" y="508136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28700" y="905551"/>
            <a:ext cx="3244850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b="1" dirty="0">
                <a:latin typeface="Gill Sans"/>
                <a:cs typeface="Gill Sans"/>
              </a:rPr>
              <a:t>“</a:t>
            </a:r>
            <a:r>
              <a:rPr sz="3600" b="1" spc="-105" dirty="0">
                <a:latin typeface="Gill Sans"/>
                <a:cs typeface="Gill Sans"/>
              </a:rPr>
              <a:t>T</a:t>
            </a:r>
            <a:r>
              <a:rPr sz="3600" b="1" spc="-55" dirty="0">
                <a:latin typeface="Gill Sans"/>
                <a:cs typeface="Gill Sans"/>
              </a:rPr>
              <a:t>r</a:t>
            </a:r>
            <a:r>
              <a:rPr sz="3600" b="1" spc="-5" dirty="0">
                <a:latin typeface="Gill Sans"/>
                <a:cs typeface="Gill Sans"/>
              </a:rPr>
              <a:t>u</a:t>
            </a:r>
            <a:r>
              <a:rPr sz="3600" b="1" dirty="0">
                <a:latin typeface="Gill Sans"/>
                <a:cs typeface="Gill Sans"/>
              </a:rPr>
              <a:t>e</a:t>
            </a:r>
            <a:r>
              <a:rPr sz="3600" b="1" spc="-5" dirty="0">
                <a:latin typeface="Gill Sans"/>
                <a:cs typeface="Gill Sans"/>
              </a:rPr>
              <a:t> mo</a:t>
            </a:r>
            <a:r>
              <a:rPr sz="3600" b="1" dirty="0">
                <a:latin typeface="Gill Sans"/>
                <a:cs typeface="Gill Sans"/>
              </a:rPr>
              <a:t>del”</a:t>
            </a:r>
            <a:endParaRPr sz="3600">
              <a:latin typeface="Gill Sans"/>
              <a:cs typeface="Gill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4500" y="2238050"/>
            <a:ext cx="1714500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dirty="0">
                <a:latin typeface="Gill Sans"/>
                <a:cs typeface="Gill Sans"/>
              </a:rPr>
              <a:t>Better</a:t>
            </a:r>
            <a:r>
              <a:rPr sz="3600" spc="-5" dirty="0">
                <a:latin typeface="Gill Sans"/>
                <a:cs typeface="Gill Sans"/>
              </a:rPr>
              <a:t> </a:t>
            </a:r>
            <a:r>
              <a:rPr sz="3600" spc="25" dirty="0">
                <a:latin typeface="Gill Sans"/>
                <a:cs typeface="Gill Sans"/>
              </a:rPr>
              <a:t>fit</a:t>
            </a:r>
            <a:endParaRPr sz="3600">
              <a:latin typeface="Gill Sans"/>
              <a:cs typeface="Gill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19400" y="2273559"/>
            <a:ext cx="4285615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spc="-5" dirty="0">
                <a:latin typeface="Gill Sans"/>
                <a:cs typeface="Gill Sans"/>
              </a:rPr>
              <a:t>l</a:t>
            </a:r>
            <a:r>
              <a:rPr sz="3000" spc="-50" dirty="0">
                <a:latin typeface="Gill Sans"/>
                <a:cs typeface="Gill Sans"/>
              </a:rPr>
              <a:t>o</a:t>
            </a:r>
            <a:r>
              <a:rPr sz="3000" spc="-65" dirty="0">
                <a:latin typeface="Gill Sans"/>
                <a:cs typeface="Gill Sans"/>
              </a:rPr>
              <a:t>w</a:t>
            </a:r>
            <a:r>
              <a:rPr sz="3000" dirty="0">
                <a:latin typeface="Gill Sans"/>
                <a:cs typeface="Gill Sans"/>
              </a:rPr>
              <a:t>er</a:t>
            </a:r>
            <a:r>
              <a:rPr sz="3000" spc="-305" dirty="0">
                <a:latin typeface="Gill Sans"/>
                <a:cs typeface="Gill Sans"/>
              </a:rPr>
              <a:t> </a:t>
            </a:r>
            <a:r>
              <a:rPr sz="3000" dirty="0">
                <a:latin typeface="Gill Sans"/>
                <a:cs typeface="Gill Sans"/>
              </a:rPr>
              <a:t>AIC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=</a:t>
            </a:r>
            <a:r>
              <a:rPr sz="3000" spc="-5" dirty="0">
                <a:latin typeface="Gill Sans"/>
                <a:cs typeface="Gill Sans"/>
              </a:rPr>
              <a:t> l</a:t>
            </a:r>
            <a:r>
              <a:rPr sz="3000" spc="-50" dirty="0">
                <a:latin typeface="Gill Sans"/>
                <a:cs typeface="Gill Sans"/>
              </a:rPr>
              <a:t>o</a:t>
            </a:r>
            <a:r>
              <a:rPr sz="3000" spc="-65" dirty="0">
                <a:latin typeface="Gill Sans"/>
                <a:cs typeface="Gill Sans"/>
              </a:rPr>
              <a:t>w</a:t>
            </a:r>
            <a:r>
              <a:rPr sz="3000" dirty="0">
                <a:latin typeface="Gill Sans"/>
                <a:cs typeface="Gill Sans"/>
              </a:rPr>
              <a:t>er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d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spc="-15" dirty="0">
                <a:latin typeface="Gill Sans"/>
                <a:cs typeface="Gill Sans"/>
              </a:rPr>
              <a:t>stance</a:t>
            </a:r>
            <a:endParaRPr sz="3000">
              <a:latin typeface="Gill Sans"/>
              <a:cs typeface="Gill San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334620" y="2459184"/>
            <a:ext cx="313690" cy="0"/>
          </a:xfrm>
          <a:custGeom>
            <a:avLst/>
            <a:gdLst/>
            <a:ahLst/>
            <a:cxnLst/>
            <a:rect l="l" t="t" r="r" b="b"/>
            <a:pathLst>
              <a:path w="313689">
                <a:moveTo>
                  <a:pt x="0" y="0"/>
                </a:moveTo>
                <a:lnTo>
                  <a:pt x="31353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361667" y="8668873"/>
            <a:ext cx="313690" cy="0"/>
          </a:xfrm>
          <a:custGeom>
            <a:avLst/>
            <a:gdLst/>
            <a:ahLst/>
            <a:cxnLst/>
            <a:rect l="l" t="t" r="r" b="b"/>
            <a:pathLst>
              <a:path w="313689">
                <a:moveTo>
                  <a:pt x="0" y="0"/>
                </a:moveTo>
                <a:lnTo>
                  <a:pt x="31353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521" rIns="0" bIns="0" rtlCol="0">
            <a:spAutoFit/>
          </a:bodyPr>
          <a:lstStyle/>
          <a:p>
            <a:pPr marL="1711325">
              <a:lnSpc>
                <a:spcPct val="100000"/>
              </a:lnSpc>
            </a:pPr>
            <a:r>
              <a:rPr sz="3600" spc="-30" dirty="0">
                <a:latin typeface="Gill Sans"/>
                <a:cs typeface="Gill Sans"/>
              </a:rPr>
              <a:t>Ak</a:t>
            </a:r>
            <a:r>
              <a:rPr sz="3600" spc="25" dirty="0">
                <a:latin typeface="Gill Sans"/>
                <a:cs typeface="Gill Sans"/>
              </a:rPr>
              <a:t>a</a:t>
            </a:r>
            <a:r>
              <a:rPr sz="3600" dirty="0">
                <a:latin typeface="Gill Sans"/>
                <a:cs typeface="Gill Sans"/>
              </a:rPr>
              <a:t>i</a:t>
            </a:r>
            <a:r>
              <a:rPr sz="3600" spc="-180" dirty="0">
                <a:latin typeface="Gill Sans"/>
                <a:cs typeface="Gill Sans"/>
              </a:rPr>
              <a:t>k</a:t>
            </a:r>
            <a:r>
              <a:rPr sz="3600" dirty="0">
                <a:latin typeface="Gill Sans"/>
                <a:cs typeface="Gill Sans"/>
              </a:rPr>
              <a:t>e</a:t>
            </a:r>
            <a:r>
              <a:rPr sz="3600" spc="-5" dirty="0">
                <a:latin typeface="Gill Sans"/>
                <a:cs typeface="Gill Sans"/>
              </a:rPr>
              <a:t> </a:t>
            </a:r>
            <a:r>
              <a:rPr sz="3600" dirty="0">
                <a:latin typeface="Gill Sans"/>
                <a:cs typeface="Gill Sans"/>
              </a:rPr>
              <a:t>I</a:t>
            </a:r>
            <a:r>
              <a:rPr sz="3600" spc="-5" dirty="0">
                <a:latin typeface="Gill Sans"/>
                <a:cs typeface="Gill Sans"/>
              </a:rPr>
              <a:t>nfo</a:t>
            </a:r>
            <a:r>
              <a:rPr sz="3600" dirty="0">
                <a:latin typeface="Gill Sans"/>
                <a:cs typeface="Gill Sans"/>
              </a:rPr>
              <a:t>r</a:t>
            </a:r>
            <a:r>
              <a:rPr sz="3600" spc="-5" dirty="0">
                <a:latin typeface="Gill Sans"/>
                <a:cs typeface="Gill Sans"/>
              </a:rPr>
              <a:t>m</a:t>
            </a:r>
            <a:r>
              <a:rPr sz="3600" spc="-25" dirty="0">
                <a:latin typeface="Gill Sans"/>
                <a:cs typeface="Gill Sans"/>
              </a:rPr>
              <a:t>a</a:t>
            </a:r>
            <a:r>
              <a:rPr sz="3600" spc="-5" dirty="0">
                <a:latin typeface="Gill Sans"/>
                <a:cs typeface="Gill Sans"/>
              </a:rPr>
              <a:t>t</a:t>
            </a:r>
            <a:r>
              <a:rPr sz="3600" dirty="0">
                <a:latin typeface="Gill Sans"/>
                <a:cs typeface="Gill Sans"/>
              </a:rPr>
              <a:t>i</a:t>
            </a:r>
            <a:r>
              <a:rPr sz="3600" spc="-5" dirty="0">
                <a:latin typeface="Gill Sans"/>
                <a:cs typeface="Gill Sans"/>
              </a:rPr>
              <a:t>o</a:t>
            </a:r>
            <a:r>
              <a:rPr sz="3600" dirty="0">
                <a:latin typeface="Gill Sans"/>
                <a:cs typeface="Gill Sans"/>
              </a:rPr>
              <a:t>n</a:t>
            </a:r>
            <a:r>
              <a:rPr sz="3600" spc="-5" dirty="0">
                <a:latin typeface="Gill Sans"/>
                <a:cs typeface="Gill Sans"/>
              </a:rPr>
              <a:t> </a:t>
            </a:r>
            <a:r>
              <a:rPr sz="3600" dirty="0">
                <a:latin typeface="Gill Sans"/>
                <a:cs typeface="Gill Sans"/>
              </a:rPr>
              <a:t>C</a:t>
            </a:r>
            <a:r>
              <a:rPr sz="3600" spc="-155" dirty="0">
                <a:latin typeface="Gill Sans"/>
                <a:cs typeface="Gill Sans"/>
              </a:rPr>
              <a:t>r</a:t>
            </a:r>
            <a:r>
              <a:rPr sz="3600" dirty="0">
                <a:latin typeface="Gill Sans"/>
                <a:cs typeface="Gill Sans"/>
              </a:rPr>
              <a:t>i</a:t>
            </a:r>
            <a:r>
              <a:rPr sz="3600" spc="-5" dirty="0">
                <a:latin typeface="Gill Sans"/>
                <a:cs typeface="Gill Sans"/>
              </a:rPr>
              <a:t>t</a:t>
            </a:r>
            <a:r>
              <a:rPr sz="3600" dirty="0">
                <a:latin typeface="Gill Sans"/>
                <a:cs typeface="Gill Sans"/>
              </a:rPr>
              <a:t>e</a:t>
            </a:r>
            <a:r>
              <a:rPr sz="3600" spc="-155" dirty="0">
                <a:latin typeface="Gill Sans"/>
                <a:cs typeface="Gill Sans"/>
              </a:rPr>
              <a:t>r</a:t>
            </a:r>
            <a:r>
              <a:rPr sz="3600" dirty="0">
                <a:latin typeface="Gill Sans"/>
                <a:cs typeface="Gill Sans"/>
              </a:rPr>
              <a:t>i</a:t>
            </a:r>
            <a:r>
              <a:rPr sz="3600" spc="-5" dirty="0">
                <a:latin typeface="Gill Sans"/>
                <a:cs typeface="Gill Sans"/>
              </a:rPr>
              <a:t>o</a:t>
            </a:r>
            <a:r>
              <a:rPr sz="3600" dirty="0">
                <a:latin typeface="Gill Sans"/>
                <a:cs typeface="Gill Sans"/>
              </a:rPr>
              <a:t>n</a:t>
            </a:r>
            <a:endParaRPr sz="3600">
              <a:latin typeface="Gill Sans"/>
              <a:cs typeface="Gill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8000" y="8422950"/>
            <a:ext cx="1797050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365" dirty="0">
                <a:latin typeface="Gill Sans"/>
                <a:cs typeface="Gill Sans"/>
              </a:rPr>
              <a:t>W</a:t>
            </a:r>
            <a:r>
              <a:rPr sz="3600" spc="-20" dirty="0">
                <a:latin typeface="Gill Sans"/>
                <a:cs typeface="Gill Sans"/>
              </a:rPr>
              <a:t>ors</a:t>
            </a:r>
            <a:r>
              <a:rPr sz="3600" dirty="0">
                <a:latin typeface="Gill Sans"/>
                <a:cs typeface="Gill Sans"/>
              </a:rPr>
              <a:t>e</a:t>
            </a:r>
            <a:r>
              <a:rPr sz="3600" spc="-5" dirty="0">
                <a:latin typeface="Gill Sans"/>
                <a:cs typeface="Gill Sans"/>
              </a:rPr>
              <a:t> </a:t>
            </a:r>
            <a:r>
              <a:rPr sz="3600" spc="25" dirty="0">
                <a:latin typeface="Gill Sans"/>
                <a:cs typeface="Gill Sans"/>
              </a:rPr>
              <a:t>fit</a:t>
            </a:r>
            <a:endParaRPr sz="3600">
              <a:latin typeface="Gill Sans"/>
              <a:cs typeface="Gill San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08300" y="8471158"/>
            <a:ext cx="4427220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dirty="0">
                <a:latin typeface="Gill Sans"/>
                <a:cs typeface="Gill Sans"/>
              </a:rPr>
              <a:t>h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spc="-15" dirty="0">
                <a:latin typeface="Gill Sans"/>
                <a:cs typeface="Gill Sans"/>
              </a:rPr>
              <a:t>g</a:t>
            </a:r>
            <a:r>
              <a:rPr sz="3000" dirty="0">
                <a:latin typeface="Gill Sans"/>
                <a:cs typeface="Gill Sans"/>
              </a:rPr>
              <a:t>her</a:t>
            </a:r>
            <a:r>
              <a:rPr sz="3000" spc="-305" dirty="0">
                <a:latin typeface="Gill Sans"/>
                <a:cs typeface="Gill Sans"/>
              </a:rPr>
              <a:t> </a:t>
            </a:r>
            <a:r>
              <a:rPr sz="3000" dirty="0">
                <a:latin typeface="Gill Sans"/>
                <a:cs typeface="Gill Sans"/>
              </a:rPr>
              <a:t>AIC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=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dirty="0">
                <a:latin typeface="Gill Sans"/>
                <a:cs typeface="Gill Sans"/>
              </a:rPr>
              <a:t>h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spc="-15" dirty="0">
                <a:latin typeface="Gill Sans"/>
                <a:cs typeface="Gill Sans"/>
              </a:rPr>
              <a:t>g</a:t>
            </a:r>
            <a:r>
              <a:rPr sz="3000" dirty="0">
                <a:latin typeface="Gill Sans"/>
                <a:cs typeface="Gill Sans"/>
              </a:rPr>
              <a:t>her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d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spc="-15" dirty="0">
                <a:latin typeface="Gill Sans"/>
                <a:cs typeface="Gill Sans"/>
              </a:rPr>
              <a:t>stance</a:t>
            </a:r>
            <a:endParaRPr sz="3000">
              <a:latin typeface="Gill Sans"/>
              <a:cs typeface="Gill San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57500" y="4381759"/>
            <a:ext cx="2592705" cy="1739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550"/>
              </a:lnSpc>
            </a:pPr>
            <a:r>
              <a:rPr sz="3000" dirty="0">
                <a:latin typeface="Gill Sans"/>
                <a:cs typeface="Gill Sans"/>
              </a:rPr>
              <a:t>AIC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=</a:t>
            </a:r>
            <a:endParaRPr sz="3000">
              <a:latin typeface="Gill Sans"/>
              <a:cs typeface="Gill Sans"/>
            </a:endParaRPr>
          </a:p>
          <a:p>
            <a:pPr marL="12700" marR="5080">
              <a:lnSpc>
                <a:spcPts val="3500"/>
              </a:lnSpc>
              <a:spcBef>
                <a:spcPts val="150"/>
              </a:spcBef>
            </a:pPr>
            <a:r>
              <a:rPr sz="3000" spc="-15" dirty="0">
                <a:latin typeface="Gill Sans"/>
                <a:cs typeface="Gill Sans"/>
              </a:rPr>
              <a:t>est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spc="-15" dirty="0">
                <a:latin typeface="Gill Sans"/>
                <a:cs typeface="Gill Sans"/>
              </a:rPr>
              <a:t>mator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o</a:t>
            </a:r>
            <a:r>
              <a:rPr sz="3000" dirty="0">
                <a:latin typeface="Gill Sans"/>
                <a:cs typeface="Gill Sans"/>
              </a:rPr>
              <a:t>f </a:t>
            </a:r>
            <a:r>
              <a:rPr sz="3000" spc="-75" dirty="0">
                <a:latin typeface="Gill Sans"/>
                <a:cs typeface="Gill Sans"/>
              </a:rPr>
              <a:t>r</a:t>
            </a:r>
            <a:r>
              <a:rPr sz="3000" dirty="0">
                <a:latin typeface="Gill Sans"/>
                <a:cs typeface="Gill Sans"/>
              </a:rPr>
              <a:t>e</a:t>
            </a:r>
            <a:r>
              <a:rPr sz="3000" spc="-5" dirty="0">
                <a:latin typeface="Gill Sans"/>
                <a:cs typeface="Gill Sans"/>
              </a:rPr>
              <a:t>l</a:t>
            </a:r>
            <a:r>
              <a:rPr sz="3000" spc="-15" dirty="0">
                <a:latin typeface="Gill Sans"/>
                <a:cs typeface="Gill Sans"/>
              </a:rPr>
              <a:t>a</a:t>
            </a:r>
            <a:r>
              <a:rPr sz="3000" dirty="0">
                <a:latin typeface="Gill Sans"/>
                <a:cs typeface="Gill Sans"/>
              </a:rPr>
              <a:t>t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spc="-75" dirty="0">
                <a:latin typeface="Gill Sans"/>
                <a:cs typeface="Gill Sans"/>
              </a:rPr>
              <a:t>v</a:t>
            </a:r>
            <a:r>
              <a:rPr sz="3000" dirty="0">
                <a:latin typeface="Gill Sans"/>
                <a:cs typeface="Gill Sans"/>
              </a:rPr>
              <a:t>e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d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spc="-15" dirty="0">
                <a:latin typeface="Gill Sans"/>
                <a:cs typeface="Gill Sans"/>
              </a:rPr>
              <a:t>stance</a:t>
            </a:r>
            <a:r>
              <a:rPr sz="3000" spc="-10" dirty="0">
                <a:latin typeface="Gill Sans"/>
                <a:cs typeface="Gill Sans"/>
              </a:rPr>
              <a:t> f</a:t>
            </a:r>
            <a:r>
              <a:rPr sz="3000" spc="-90" dirty="0">
                <a:latin typeface="Gill Sans"/>
                <a:cs typeface="Gill Sans"/>
              </a:rPr>
              <a:t>r</a:t>
            </a:r>
            <a:r>
              <a:rPr sz="3000" spc="-20" dirty="0">
                <a:latin typeface="Gill Sans"/>
                <a:cs typeface="Gill Sans"/>
              </a:rPr>
              <a:t>om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dirty="0">
                <a:latin typeface="Gill Sans"/>
                <a:cs typeface="Gill Sans"/>
              </a:rPr>
              <a:t>true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mod</a:t>
            </a:r>
            <a:r>
              <a:rPr sz="3000" dirty="0">
                <a:latin typeface="Gill Sans"/>
                <a:cs typeface="Gill Sans"/>
              </a:rPr>
              <a:t>el</a:t>
            </a:r>
            <a:endParaRPr sz="3000">
              <a:latin typeface="Gill Sans"/>
              <a:cs typeface="Gill San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248325" y="1757984"/>
            <a:ext cx="63500" cy="0"/>
          </a:xfrm>
          <a:custGeom>
            <a:avLst/>
            <a:gdLst/>
            <a:ahLst/>
            <a:cxnLst/>
            <a:rect l="l" t="t" r="r" b="b"/>
            <a:pathLst>
              <a:path w="63500">
                <a:moveTo>
                  <a:pt x="0" y="0"/>
                </a:moveTo>
                <a:lnTo>
                  <a:pt x="63500" y="0"/>
                </a:lnTo>
              </a:path>
            </a:pathLst>
          </a:custGeom>
          <a:ln w="406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150535" y="1370634"/>
            <a:ext cx="259079" cy="215900"/>
          </a:xfrm>
          <a:custGeom>
            <a:avLst/>
            <a:gdLst/>
            <a:ahLst/>
            <a:cxnLst/>
            <a:rect l="l" t="t" r="r" b="b"/>
            <a:pathLst>
              <a:path w="259079" h="215900">
                <a:moveTo>
                  <a:pt x="259080" y="215900"/>
                </a:moveTo>
                <a:lnTo>
                  <a:pt x="129540" y="0"/>
                </a:lnTo>
                <a:lnTo>
                  <a:pt x="0" y="215900"/>
                </a:lnTo>
              </a:path>
            </a:pathLst>
          </a:custGeom>
          <a:ln w="63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280075" y="1370634"/>
            <a:ext cx="0" cy="215900"/>
          </a:xfrm>
          <a:custGeom>
            <a:avLst/>
            <a:gdLst/>
            <a:ahLst/>
            <a:cxnLst/>
            <a:rect l="l" t="t" r="r" b="b"/>
            <a:pathLst>
              <a:path h="215900">
                <a:moveTo>
                  <a:pt x="0" y="215900"/>
                </a:moveTo>
                <a:lnTo>
                  <a:pt x="0" y="0"/>
                </a:lnTo>
              </a:path>
            </a:pathLst>
          </a:custGeom>
          <a:ln w="63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8229600" y="2057659"/>
            <a:ext cx="2098040" cy="1295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4445" algn="ctr">
              <a:lnSpc>
                <a:spcPts val="3500"/>
              </a:lnSpc>
            </a:pPr>
            <a:r>
              <a:rPr sz="3000" dirty="0">
                <a:latin typeface="Gill Sans"/>
                <a:cs typeface="Gill Sans"/>
              </a:rPr>
              <a:t>h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spc="-15" dirty="0">
                <a:latin typeface="Gill Sans"/>
                <a:cs typeface="Gill Sans"/>
              </a:rPr>
              <a:t>g</a:t>
            </a:r>
            <a:r>
              <a:rPr sz="3000" dirty="0">
                <a:latin typeface="Gill Sans"/>
                <a:cs typeface="Gill Sans"/>
              </a:rPr>
              <a:t>her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15" dirty="0">
                <a:latin typeface="Gill Sans"/>
                <a:cs typeface="Gill Sans"/>
              </a:rPr>
              <a:t>data</a:t>
            </a:r>
            <a:r>
              <a:rPr sz="3000" spc="-10" dirty="0">
                <a:latin typeface="Gill Sans"/>
                <a:cs typeface="Gill Sans"/>
              </a:rPr>
              <a:t> </a:t>
            </a:r>
            <a:r>
              <a:rPr sz="3000" spc="-5" dirty="0">
                <a:latin typeface="Gill Sans"/>
                <a:cs typeface="Gill Sans"/>
              </a:rPr>
              <a:t>l</a:t>
            </a:r>
            <a:r>
              <a:rPr sz="3000" spc="-15" dirty="0">
                <a:latin typeface="Gill Sans"/>
                <a:cs typeface="Gill Sans"/>
              </a:rPr>
              <a:t>og</a:t>
            </a:r>
            <a:r>
              <a:rPr sz="3000" spc="-5" dirty="0">
                <a:latin typeface="Gill Sans"/>
                <a:cs typeface="Gill Sans"/>
              </a:rPr>
              <a:t>-li</a:t>
            </a:r>
            <a:r>
              <a:rPr sz="3000" spc="-90" dirty="0">
                <a:latin typeface="Gill Sans"/>
                <a:cs typeface="Gill Sans"/>
              </a:rPr>
              <a:t>k</a:t>
            </a:r>
            <a:r>
              <a:rPr sz="3000" dirty="0">
                <a:latin typeface="Gill Sans"/>
                <a:cs typeface="Gill Sans"/>
              </a:rPr>
              <a:t>e</a:t>
            </a:r>
            <a:r>
              <a:rPr sz="3000" spc="-5" dirty="0">
                <a:latin typeface="Gill Sans"/>
                <a:cs typeface="Gill Sans"/>
              </a:rPr>
              <a:t>li</a:t>
            </a:r>
            <a:r>
              <a:rPr sz="3000" spc="-20" dirty="0">
                <a:latin typeface="Gill Sans"/>
                <a:cs typeface="Gill Sans"/>
              </a:rPr>
              <a:t>hood</a:t>
            </a:r>
            <a:r>
              <a:rPr sz="3000" spc="-10" dirty="0">
                <a:latin typeface="Gill Sans"/>
                <a:cs typeface="Gill Sans"/>
              </a:rPr>
              <a:t> </a:t>
            </a:r>
            <a:r>
              <a:rPr sz="3000" spc="-5" dirty="0">
                <a:latin typeface="Gill Sans"/>
                <a:cs typeface="Gill Sans"/>
              </a:rPr>
              <a:t>(L</a:t>
            </a:r>
            <a:r>
              <a:rPr sz="3000" dirty="0">
                <a:latin typeface="Gill Sans"/>
                <a:cs typeface="Gill Sans"/>
              </a:rPr>
              <a:t>n</a:t>
            </a:r>
            <a:r>
              <a:rPr sz="3000" spc="-5" dirty="0">
                <a:latin typeface="Gill Sans"/>
                <a:cs typeface="Gill Sans"/>
              </a:rPr>
              <a:t>L</a:t>
            </a:r>
            <a:r>
              <a:rPr sz="3000" dirty="0">
                <a:latin typeface="Gill Sans"/>
                <a:cs typeface="Gill Sans"/>
              </a:rPr>
              <a:t>)</a:t>
            </a:r>
            <a:endParaRPr sz="3000">
              <a:latin typeface="Gill Sans"/>
              <a:cs typeface="Gill San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248323" y="8341347"/>
            <a:ext cx="63500" cy="0"/>
          </a:xfrm>
          <a:custGeom>
            <a:avLst/>
            <a:gdLst/>
            <a:ahLst/>
            <a:cxnLst/>
            <a:rect l="l" t="t" r="r" b="b"/>
            <a:pathLst>
              <a:path w="63500">
                <a:moveTo>
                  <a:pt x="0" y="0"/>
                </a:moveTo>
                <a:lnTo>
                  <a:pt x="63500" y="0"/>
                </a:lnTo>
              </a:path>
            </a:pathLst>
          </a:custGeom>
          <a:ln w="406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9150534" y="8512797"/>
            <a:ext cx="259079" cy="215900"/>
          </a:xfrm>
          <a:custGeom>
            <a:avLst/>
            <a:gdLst/>
            <a:ahLst/>
            <a:cxnLst/>
            <a:rect l="l" t="t" r="r" b="b"/>
            <a:pathLst>
              <a:path w="259079" h="215900">
                <a:moveTo>
                  <a:pt x="0" y="0"/>
                </a:moveTo>
                <a:lnTo>
                  <a:pt x="129540" y="215900"/>
                </a:lnTo>
                <a:lnTo>
                  <a:pt x="259080" y="0"/>
                </a:lnTo>
              </a:path>
            </a:pathLst>
          </a:custGeom>
          <a:ln w="63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9280073" y="8512797"/>
            <a:ext cx="0" cy="215900"/>
          </a:xfrm>
          <a:custGeom>
            <a:avLst/>
            <a:gdLst/>
            <a:ahLst/>
            <a:cxnLst/>
            <a:rect l="l" t="t" r="r" b="b"/>
            <a:pathLst>
              <a:path h="215900">
                <a:moveTo>
                  <a:pt x="0" y="0"/>
                </a:moveTo>
                <a:lnTo>
                  <a:pt x="0" y="215900"/>
                </a:lnTo>
              </a:path>
            </a:pathLst>
          </a:custGeom>
          <a:ln w="63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229600" y="6782058"/>
            <a:ext cx="2098040" cy="1295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270" algn="ctr">
              <a:lnSpc>
                <a:spcPts val="3500"/>
              </a:lnSpc>
            </a:pPr>
            <a:r>
              <a:rPr sz="3000" spc="-5" dirty="0">
                <a:latin typeface="Gill Sans"/>
                <a:cs typeface="Gill Sans"/>
              </a:rPr>
              <a:t>l</a:t>
            </a:r>
            <a:r>
              <a:rPr sz="3000" spc="-50" dirty="0">
                <a:latin typeface="Gill Sans"/>
                <a:cs typeface="Gill Sans"/>
              </a:rPr>
              <a:t>o</a:t>
            </a:r>
            <a:r>
              <a:rPr sz="3000" spc="-65" dirty="0">
                <a:latin typeface="Gill Sans"/>
                <a:cs typeface="Gill Sans"/>
              </a:rPr>
              <a:t>w</a:t>
            </a:r>
            <a:r>
              <a:rPr sz="3000" dirty="0">
                <a:latin typeface="Gill Sans"/>
                <a:cs typeface="Gill Sans"/>
              </a:rPr>
              <a:t>er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15" dirty="0">
                <a:latin typeface="Gill Sans"/>
                <a:cs typeface="Gill Sans"/>
              </a:rPr>
              <a:t>data</a:t>
            </a:r>
            <a:r>
              <a:rPr sz="3000" spc="-10" dirty="0">
                <a:latin typeface="Gill Sans"/>
                <a:cs typeface="Gill Sans"/>
              </a:rPr>
              <a:t> </a:t>
            </a:r>
            <a:r>
              <a:rPr sz="3000" spc="-5" dirty="0">
                <a:latin typeface="Gill Sans"/>
                <a:cs typeface="Gill Sans"/>
              </a:rPr>
              <a:t>l</a:t>
            </a:r>
            <a:r>
              <a:rPr sz="3000" spc="-15" dirty="0">
                <a:latin typeface="Gill Sans"/>
                <a:cs typeface="Gill Sans"/>
              </a:rPr>
              <a:t>og</a:t>
            </a:r>
            <a:r>
              <a:rPr sz="3000" spc="-5" dirty="0">
                <a:latin typeface="Gill Sans"/>
                <a:cs typeface="Gill Sans"/>
              </a:rPr>
              <a:t>-li</a:t>
            </a:r>
            <a:r>
              <a:rPr sz="3000" spc="-90" dirty="0">
                <a:latin typeface="Gill Sans"/>
                <a:cs typeface="Gill Sans"/>
              </a:rPr>
              <a:t>k</a:t>
            </a:r>
            <a:r>
              <a:rPr sz="3000" dirty="0">
                <a:latin typeface="Gill Sans"/>
                <a:cs typeface="Gill Sans"/>
              </a:rPr>
              <a:t>e</a:t>
            </a:r>
            <a:r>
              <a:rPr sz="3000" spc="-5" dirty="0">
                <a:latin typeface="Gill Sans"/>
                <a:cs typeface="Gill Sans"/>
              </a:rPr>
              <a:t>li</a:t>
            </a:r>
            <a:r>
              <a:rPr sz="3000" spc="-20" dirty="0">
                <a:latin typeface="Gill Sans"/>
                <a:cs typeface="Gill Sans"/>
              </a:rPr>
              <a:t>hood</a:t>
            </a:r>
            <a:r>
              <a:rPr sz="3000" spc="-10" dirty="0">
                <a:latin typeface="Gill Sans"/>
                <a:cs typeface="Gill Sans"/>
              </a:rPr>
              <a:t> </a:t>
            </a:r>
            <a:r>
              <a:rPr sz="3000" spc="-5" dirty="0">
                <a:latin typeface="Gill Sans"/>
                <a:cs typeface="Gill Sans"/>
              </a:rPr>
              <a:t>(L</a:t>
            </a:r>
            <a:r>
              <a:rPr sz="3000" dirty="0">
                <a:latin typeface="Gill Sans"/>
                <a:cs typeface="Gill Sans"/>
              </a:rPr>
              <a:t>n</a:t>
            </a:r>
            <a:r>
              <a:rPr sz="3000" spc="-5" dirty="0">
                <a:latin typeface="Gill Sans"/>
                <a:cs typeface="Gill Sans"/>
              </a:rPr>
              <a:t>L</a:t>
            </a:r>
            <a:r>
              <a:rPr sz="3000" dirty="0">
                <a:latin typeface="Gill Sans"/>
                <a:cs typeface="Gill Sans"/>
              </a:rPr>
              <a:t>)</a:t>
            </a:r>
            <a:endParaRPr sz="3000">
              <a:latin typeface="Gill Sans"/>
              <a:cs typeface="Gill San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1466045" y="1834506"/>
            <a:ext cx="63500" cy="0"/>
          </a:xfrm>
          <a:custGeom>
            <a:avLst/>
            <a:gdLst/>
            <a:ahLst/>
            <a:cxnLst/>
            <a:rect l="l" t="t" r="r" b="b"/>
            <a:pathLst>
              <a:path w="63500">
                <a:moveTo>
                  <a:pt x="0" y="0"/>
                </a:moveTo>
                <a:lnTo>
                  <a:pt x="63500" y="0"/>
                </a:lnTo>
              </a:path>
            </a:pathLst>
          </a:custGeom>
          <a:ln w="406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1368254" y="1447156"/>
            <a:ext cx="259079" cy="215900"/>
          </a:xfrm>
          <a:custGeom>
            <a:avLst/>
            <a:gdLst/>
            <a:ahLst/>
            <a:cxnLst/>
            <a:rect l="l" t="t" r="r" b="b"/>
            <a:pathLst>
              <a:path w="259079" h="215900">
                <a:moveTo>
                  <a:pt x="259080" y="215900"/>
                </a:moveTo>
                <a:lnTo>
                  <a:pt x="129540" y="0"/>
                </a:lnTo>
                <a:lnTo>
                  <a:pt x="0" y="215900"/>
                </a:lnTo>
              </a:path>
            </a:pathLst>
          </a:custGeom>
          <a:ln w="63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1497795" y="1447156"/>
            <a:ext cx="0" cy="215900"/>
          </a:xfrm>
          <a:custGeom>
            <a:avLst/>
            <a:gdLst/>
            <a:ahLst/>
            <a:cxnLst/>
            <a:rect l="l" t="t" r="r" b="b"/>
            <a:pathLst>
              <a:path h="215900">
                <a:moveTo>
                  <a:pt x="0" y="215900"/>
                </a:moveTo>
                <a:lnTo>
                  <a:pt x="0" y="0"/>
                </a:lnTo>
              </a:path>
            </a:pathLst>
          </a:custGeom>
          <a:ln w="63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0604500" y="2057659"/>
            <a:ext cx="1775460" cy="1295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7200" marR="441959" algn="ctr">
              <a:lnSpc>
                <a:spcPts val="3500"/>
              </a:lnSpc>
            </a:pPr>
            <a:r>
              <a:rPr sz="3000" spc="-30" dirty="0">
                <a:latin typeface="Gill Sans"/>
                <a:cs typeface="Gill Sans"/>
              </a:rPr>
              <a:t>f</a:t>
            </a:r>
            <a:r>
              <a:rPr sz="3000" spc="-50" dirty="0">
                <a:latin typeface="Gill Sans"/>
                <a:cs typeface="Gill Sans"/>
              </a:rPr>
              <a:t>e</a:t>
            </a:r>
            <a:r>
              <a:rPr sz="3000" spc="-65" dirty="0">
                <a:latin typeface="Gill Sans"/>
                <a:cs typeface="Gill Sans"/>
              </a:rPr>
              <a:t>w</a:t>
            </a:r>
            <a:r>
              <a:rPr sz="3000" dirty="0">
                <a:latin typeface="Gill Sans"/>
                <a:cs typeface="Gill Sans"/>
              </a:rPr>
              <a:t>er </a:t>
            </a:r>
            <a:r>
              <a:rPr sz="3000" spc="-10" dirty="0">
                <a:latin typeface="Gill Sans"/>
                <a:cs typeface="Gill Sans"/>
              </a:rPr>
              <a:t>f</a:t>
            </a:r>
            <a:r>
              <a:rPr sz="3000" spc="-75" dirty="0">
                <a:latin typeface="Gill Sans"/>
                <a:cs typeface="Gill Sans"/>
              </a:rPr>
              <a:t>r</a:t>
            </a:r>
            <a:r>
              <a:rPr sz="3000" dirty="0">
                <a:latin typeface="Gill Sans"/>
                <a:cs typeface="Gill Sans"/>
              </a:rPr>
              <a:t>ee</a:t>
            </a:r>
            <a:endParaRPr sz="3000">
              <a:latin typeface="Gill Sans"/>
              <a:cs typeface="Gill Sans"/>
            </a:endParaRPr>
          </a:p>
          <a:p>
            <a:pPr algn="ctr">
              <a:lnSpc>
                <a:spcPts val="3400"/>
              </a:lnSpc>
            </a:pPr>
            <a:r>
              <a:rPr sz="3000" spc="-15" dirty="0">
                <a:latin typeface="Gill Sans"/>
                <a:cs typeface="Gill Sans"/>
              </a:rPr>
              <a:t>parameters</a:t>
            </a:r>
            <a:endParaRPr sz="3000">
              <a:latin typeface="Gill Sans"/>
              <a:cs typeface="Gill San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599122" y="4332276"/>
            <a:ext cx="5843270" cy="1511300"/>
          </a:xfrm>
          <a:prstGeom prst="rect">
            <a:avLst/>
          </a:prstGeom>
          <a:ln w="762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82344" marR="967740" algn="ctr">
              <a:lnSpc>
                <a:spcPts val="3500"/>
              </a:lnSpc>
            </a:pPr>
            <a:r>
              <a:rPr sz="3000" b="1" spc="-25" dirty="0">
                <a:latin typeface="Gill Sans"/>
                <a:cs typeface="Gill Sans"/>
              </a:rPr>
              <a:t>Ak</a:t>
            </a:r>
            <a:r>
              <a:rPr sz="3000" b="1" spc="20" dirty="0">
                <a:latin typeface="Gill Sans"/>
                <a:cs typeface="Gill Sans"/>
              </a:rPr>
              <a:t>a</a:t>
            </a:r>
            <a:r>
              <a:rPr sz="3000" b="1" dirty="0">
                <a:latin typeface="Gill Sans"/>
                <a:cs typeface="Gill Sans"/>
              </a:rPr>
              <a:t>i</a:t>
            </a:r>
            <a:r>
              <a:rPr sz="3000" b="1" spc="-150" dirty="0">
                <a:latin typeface="Gill Sans"/>
                <a:cs typeface="Gill Sans"/>
              </a:rPr>
              <a:t>k</a:t>
            </a:r>
            <a:r>
              <a:rPr sz="3000" b="1" dirty="0">
                <a:latin typeface="Gill Sans"/>
                <a:cs typeface="Gill Sans"/>
              </a:rPr>
              <a:t>e</a:t>
            </a:r>
            <a:r>
              <a:rPr sz="3000" b="1" spc="-5" dirty="0">
                <a:latin typeface="Gill Sans"/>
                <a:cs typeface="Gill Sans"/>
              </a:rPr>
              <a:t> </a:t>
            </a:r>
            <a:r>
              <a:rPr sz="3000" b="1" dirty="0">
                <a:latin typeface="Gill Sans"/>
                <a:cs typeface="Gill Sans"/>
              </a:rPr>
              <a:t>In</a:t>
            </a:r>
            <a:r>
              <a:rPr sz="3000" b="1" spc="-5" dirty="0">
                <a:latin typeface="Gill Sans"/>
                <a:cs typeface="Gill Sans"/>
              </a:rPr>
              <a:t>fo</a:t>
            </a:r>
            <a:r>
              <a:rPr sz="3000" b="1" dirty="0">
                <a:latin typeface="Gill Sans"/>
                <a:cs typeface="Gill Sans"/>
              </a:rPr>
              <a:t>r</a:t>
            </a:r>
            <a:r>
              <a:rPr sz="3000" b="1" spc="-5" dirty="0">
                <a:latin typeface="Gill Sans"/>
                <a:cs typeface="Gill Sans"/>
              </a:rPr>
              <a:t>m</a:t>
            </a:r>
            <a:r>
              <a:rPr sz="3000" b="1" spc="-20" dirty="0">
                <a:latin typeface="Gill Sans"/>
                <a:cs typeface="Gill Sans"/>
              </a:rPr>
              <a:t>a</a:t>
            </a:r>
            <a:r>
              <a:rPr sz="3000" b="1" spc="-5" dirty="0">
                <a:latin typeface="Gill Sans"/>
                <a:cs typeface="Gill Sans"/>
              </a:rPr>
              <a:t>t</a:t>
            </a:r>
            <a:r>
              <a:rPr sz="3000" b="1" dirty="0">
                <a:latin typeface="Gill Sans"/>
                <a:cs typeface="Gill Sans"/>
              </a:rPr>
              <a:t>i</a:t>
            </a:r>
            <a:r>
              <a:rPr sz="3000" b="1" spc="-5" dirty="0">
                <a:latin typeface="Gill Sans"/>
                <a:cs typeface="Gill Sans"/>
              </a:rPr>
              <a:t>o</a:t>
            </a:r>
            <a:r>
              <a:rPr sz="3000" b="1" dirty="0">
                <a:latin typeface="Gill Sans"/>
                <a:cs typeface="Gill Sans"/>
              </a:rPr>
              <a:t>n C</a:t>
            </a:r>
            <a:r>
              <a:rPr sz="3000" b="1" spc="-130" dirty="0">
                <a:latin typeface="Gill Sans"/>
                <a:cs typeface="Gill Sans"/>
              </a:rPr>
              <a:t>r</a:t>
            </a:r>
            <a:r>
              <a:rPr sz="3000" b="1" dirty="0">
                <a:latin typeface="Gill Sans"/>
                <a:cs typeface="Gill Sans"/>
              </a:rPr>
              <a:t>i</a:t>
            </a:r>
            <a:r>
              <a:rPr sz="3000" b="1" spc="-5" dirty="0">
                <a:latin typeface="Gill Sans"/>
                <a:cs typeface="Gill Sans"/>
              </a:rPr>
              <a:t>t</a:t>
            </a:r>
            <a:r>
              <a:rPr sz="3000" b="1" dirty="0">
                <a:latin typeface="Gill Sans"/>
                <a:cs typeface="Gill Sans"/>
              </a:rPr>
              <a:t>e</a:t>
            </a:r>
            <a:r>
              <a:rPr sz="3000" b="1" spc="-130" dirty="0">
                <a:latin typeface="Gill Sans"/>
                <a:cs typeface="Gill Sans"/>
              </a:rPr>
              <a:t>r</a:t>
            </a:r>
            <a:r>
              <a:rPr sz="3000" b="1" dirty="0">
                <a:latin typeface="Gill Sans"/>
                <a:cs typeface="Gill Sans"/>
              </a:rPr>
              <a:t>i</a:t>
            </a:r>
            <a:r>
              <a:rPr sz="3000" b="1" spc="-5" dirty="0">
                <a:latin typeface="Gill Sans"/>
                <a:cs typeface="Gill Sans"/>
              </a:rPr>
              <a:t>o</a:t>
            </a:r>
            <a:r>
              <a:rPr sz="3000" b="1" dirty="0">
                <a:latin typeface="Gill Sans"/>
                <a:cs typeface="Gill Sans"/>
              </a:rPr>
              <a:t>n</a:t>
            </a:r>
            <a:r>
              <a:rPr sz="3000" b="1" spc="-5" dirty="0">
                <a:latin typeface="Gill Sans"/>
                <a:cs typeface="Gill Sans"/>
              </a:rPr>
              <a:t> </a:t>
            </a:r>
            <a:r>
              <a:rPr sz="3000" b="1" spc="-15" dirty="0">
                <a:latin typeface="Gill Sans"/>
                <a:cs typeface="Gill Sans"/>
              </a:rPr>
              <a:t>(</a:t>
            </a:r>
            <a:r>
              <a:rPr sz="3000" b="1" dirty="0">
                <a:latin typeface="Gill Sans"/>
                <a:cs typeface="Gill Sans"/>
              </a:rPr>
              <a:t>AIC</a:t>
            </a:r>
            <a:r>
              <a:rPr sz="3000" b="1" spc="-15" dirty="0">
                <a:latin typeface="Gill Sans"/>
                <a:cs typeface="Gill Sans"/>
              </a:rPr>
              <a:t>)</a:t>
            </a:r>
            <a:r>
              <a:rPr sz="3000" b="1" spc="-5" dirty="0">
                <a:latin typeface="Gill Sans"/>
                <a:cs typeface="Gill Sans"/>
              </a:rPr>
              <a:t> </a:t>
            </a:r>
            <a:r>
              <a:rPr sz="3000" b="1" spc="-20" dirty="0">
                <a:latin typeface="Gill Sans"/>
                <a:cs typeface="Gill Sans"/>
              </a:rPr>
              <a:t>=</a:t>
            </a:r>
            <a:endParaRPr sz="3000">
              <a:latin typeface="Gill Sans"/>
              <a:cs typeface="Gill Sans"/>
            </a:endParaRPr>
          </a:p>
          <a:p>
            <a:pPr algn="ctr">
              <a:lnSpc>
                <a:spcPts val="3400"/>
              </a:lnSpc>
            </a:pPr>
            <a:r>
              <a:rPr sz="3000" spc="-5" dirty="0">
                <a:latin typeface="Gill Sans"/>
                <a:cs typeface="Gill Sans"/>
              </a:rPr>
              <a:t>-</a:t>
            </a:r>
            <a:r>
              <a:rPr sz="3000" dirty="0">
                <a:latin typeface="Gill Sans"/>
                <a:cs typeface="Gill Sans"/>
              </a:rPr>
              <a:t>2</a:t>
            </a:r>
            <a:r>
              <a:rPr sz="3000" spc="-5" dirty="0">
                <a:latin typeface="Gill Sans"/>
                <a:cs typeface="Gill Sans"/>
              </a:rPr>
              <a:t>(L</a:t>
            </a:r>
            <a:r>
              <a:rPr sz="3000" dirty="0">
                <a:latin typeface="Gill Sans"/>
                <a:cs typeface="Gill Sans"/>
              </a:rPr>
              <a:t>nL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dirty="0">
                <a:latin typeface="Gill Sans"/>
                <a:cs typeface="Gill Sans"/>
              </a:rPr>
              <a:t>-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#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o</a:t>
            </a:r>
            <a:r>
              <a:rPr sz="3000" dirty="0">
                <a:latin typeface="Gill Sans"/>
                <a:cs typeface="Gill Sans"/>
              </a:rPr>
              <a:t>f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15" dirty="0">
                <a:latin typeface="Gill Sans"/>
                <a:cs typeface="Gill Sans"/>
              </a:rPr>
              <a:t>parameters</a:t>
            </a:r>
            <a:r>
              <a:rPr sz="3000" dirty="0">
                <a:latin typeface="Gill Sans"/>
                <a:cs typeface="Gill Sans"/>
              </a:rPr>
              <a:t>)</a:t>
            </a:r>
            <a:endParaRPr sz="3000">
              <a:latin typeface="Gill Sans"/>
              <a:cs typeface="Gill Sans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261568" y="6968445"/>
            <a:ext cx="63500" cy="0"/>
          </a:xfrm>
          <a:custGeom>
            <a:avLst/>
            <a:gdLst/>
            <a:ahLst/>
            <a:cxnLst/>
            <a:rect l="l" t="t" r="r" b="b"/>
            <a:pathLst>
              <a:path w="63500">
                <a:moveTo>
                  <a:pt x="0" y="0"/>
                </a:moveTo>
                <a:lnTo>
                  <a:pt x="63500" y="0"/>
                </a:lnTo>
              </a:path>
            </a:pathLst>
          </a:custGeom>
          <a:ln w="3949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163778" y="7134180"/>
            <a:ext cx="259079" cy="259079"/>
          </a:xfrm>
          <a:custGeom>
            <a:avLst/>
            <a:gdLst/>
            <a:ahLst/>
            <a:cxnLst/>
            <a:rect l="l" t="t" r="r" b="b"/>
            <a:pathLst>
              <a:path w="259080" h="259079">
                <a:moveTo>
                  <a:pt x="259080" y="0"/>
                </a:moveTo>
                <a:lnTo>
                  <a:pt x="0" y="0"/>
                </a:lnTo>
                <a:lnTo>
                  <a:pt x="129540" y="259080"/>
                </a:lnTo>
                <a:lnTo>
                  <a:pt x="2590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2057659" y="3726660"/>
            <a:ext cx="406400" cy="301752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dirty="0">
                <a:latin typeface="Gill Sans"/>
                <a:cs typeface="Gill Sans"/>
              </a:rPr>
              <a:t>d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dirty="0">
                <a:latin typeface="Gill Sans"/>
                <a:cs typeface="Gill Sans"/>
              </a:rPr>
              <a:t>stance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dirty="0">
                <a:latin typeface="Gill Sans"/>
                <a:cs typeface="Gill Sans"/>
              </a:rPr>
              <a:t>f</a:t>
            </a:r>
            <a:r>
              <a:rPr sz="3000" spc="-75" dirty="0">
                <a:latin typeface="Gill Sans"/>
                <a:cs typeface="Gill Sans"/>
              </a:rPr>
              <a:t>r</a:t>
            </a:r>
            <a:r>
              <a:rPr sz="3000" dirty="0">
                <a:latin typeface="Gill Sans"/>
                <a:cs typeface="Gill Sans"/>
              </a:rPr>
              <a:t>om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dirty="0">
                <a:latin typeface="Gill Sans"/>
                <a:cs typeface="Gill Sans"/>
              </a:rPr>
              <a:t>truth</a:t>
            </a:r>
            <a:endParaRPr sz="3000">
              <a:latin typeface="Gill Sans"/>
              <a:cs typeface="Gill Sans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47180" y="2089199"/>
            <a:ext cx="0" cy="6755765"/>
          </a:xfrm>
          <a:custGeom>
            <a:avLst/>
            <a:gdLst/>
            <a:ahLst/>
            <a:cxnLst/>
            <a:rect l="l" t="t" r="r" b="b"/>
            <a:pathLst>
              <a:path h="6755765">
                <a:moveTo>
                  <a:pt x="0" y="0"/>
                </a:moveTo>
                <a:lnTo>
                  <a:pt x="0" y="6755477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422859" y="1983131"/>
            <a:ext cx="448945" cy="213995"/>
          </a:xfrm>
          <a:custGeom>
            <a:avLst/>
            <a:gdLst/>
            <a:ahLst/>
            <a:cxnLst/>
            <a:rect l="l" t="t" r="r" b="b"/>
            <a:pathLst>
              <a:path w="448944" h="213994">
                <a:moveTo>
                  <a:pt x="21537" y="0"/>
                </a:moveTo>
                <a:lnTo>
                  <a:pt x="448641" y="153991"/>
                </a:lnTo>
                <a:lnTo>
                  <a:pt x="427103" y="213727"/>
                </a:lnTo>
                <a:lnTo>
                  <a:pt x="0" y="59735"/>
                </a:lnTo>
                <a:lnTo>
                  <a:pt x="21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422859" y="1843431"/>
            <a:ext cx="448945" cy="213995"/>
          </a:xfrm>
          <a:custGeom>
            <a:avLst/>
            <a:gdLst/>
            <a:ahLst/>
            <a:cxnLst/>
            <a:rect l="l" t="t" r="r" b="b"/>
            <a:pathLst>
              <a:path w="448944" h="213994">
                <a:moveTo>
                  <a:pt x="21537" y="0"/>
                </a:moveTo>
                <a:lnTo>
                  <a:pt x="448641" y="153991"/>
                </a:lnTo>
                <a:lnTo>
                  <a:pt x="427103" y="213727"/>
                </a:lnTo>
                <a:lnTo>
                  <a:pt x="0" y="59735"/>
                </a:lnTo>
                <a:lnTo>
                  <a:pt x="21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647180" y="1424566"/>
            <a:ext cx="0" cy="508634"/>
          </a:xfrm>
          <a:custGeom>
            <a:avLst/>
            <a:gdLst/>
            <a:ahLst/>
            <a:cxnLst/>
            <a:rect l="l" t="t" r="r" b="b"/>
            <a:pathLst>
              <a:path h="508635">
                <a:moveTo>
                  <a:pt x="0" y="0"/>
                </a:moveTo>
                <a:lnTo>
                  <a:pt x="0" y="508136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28700" y="905551"/>
            <a:ext cx="3244850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b="1" dirty="0">
                <a:latin typeface="Gill Sans"/>
                <a:cs typeface="Gill Sans"/>
              </a:rPr>
              <a:t>“</a:t>
            </a:r>
            <a:r>
              <a:rPr sz="3600" b="1" spc="-105" dirty="0">
                <a:latin typeface="Gill Sans"/>
                <a:cs typeface="Gill Sans"/>
              </a:rPr>
              <a:t>T</a:t>
            </a:r>
            <a:r>
              <a:rPr sz="3600" b="1" spc="-55" dirty="0">
                <a:latin typeface="Gill Sans"/>
                <a:cs typeface="Gill Sans"/>
              </a:rPr>
              <a:t>r</a:t>
            </a:r>
            <a:r>
              <a:rPr sz="3600" b="1" spc="-5" dirty="0">
                <a:latin typeface="Gill Sans"/>
                <a:cs typeface="Gill Sans"/>
              </a:rPr>
              <a:t>u</a:t>
            </a:r>
            <a:r>
              <a:rPr sz="3600" b="1" dirty="0">
                <a:latin typeface="Gill Sans"/>
                <a:cs typeface="Gill Sans"/>
              </a:rPr>
              <a:t>e</a:t>
            </a:r>
            <a:r>
              <a:rPr sz="3600" b="1" spc="-5" dirty="0">
                <a:latin typeface="Gill Sans"/>
                <a:cs typeface="Gill Sans"/>
              </a:rPr>
              <a:t> mo</a:t>
            </a:r>
            <a:r>
              <a:rPr sz="3600" b="1" dirty="0">
                <a:latin typeface="Gill Sans"/>
                <a:cs typeface="Gill Sans"/>
              </a:rPr>
              <a:t>del”</a:t>
            </a:r>
            <a:endParaRPr sz="3600">
              <a:latin typeface="Gill Sans"/>
              <a:cs typeface="Gill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4500" y="2238050"/>
            <a:ext cx="1714500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dirty="0">
                <a:latin typeface="Gill Sans"/>
                <a:cs typeface="Gill Sans"/>
              </a:rPr>
              <a:t>Better</a:t>
            </a:r>
            <a:r>
              <a:rPr sz="3600" spc="-5" dirty="0">
                <a:latin typeface="Gill Sans"/>
                <a:cs typeface="Gill Sans"/>
              </a:rPr>
              <a:t> </a:t>
            </a:r>
            <a:r>
              <a:rPr sz="3600" spc="25" dirty="0">
                <a:latin typeface="Gill Sans"/>
                <a:cs typeface="Gill Sans"/>
              </a:rPr>
              <a:t>fit</a:t>
            </a:r>
            <a:endParaRPr sz="3600">
              <a:latin typeface="Gill Sans"/>
              <a:cs typeface="Gill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19400" y="2273559"/>
            <a:ext cx="4285615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spc="-5" dirty="0">
                <a:latin typeface="Gill Sans"/>
                <a:cs typeface="Gill Sans"/>
              </a:rPr>
              <a:t>l</a:t>
            </a:r>
            <a:r>
              <a:rPr sz="3000" spc="-50" dirty="0">
                <a:latin typeface="Gill Sans"/>
                <a:cs typeface="Gill Sans"/>
              </a:rPr>
              <a:t>o</a:t>
            </a:r>
            <a:r>
              <a:rPr sz="3000" spc="-65" dirty="0">
                <a:latin typeface="Gill Sans"/>
                <a:cs typeface="Gill Sans"/>
              </a:rPr>
              <a:t>w</a:t>
            </a:r>
            <a:r>
              <a:rPr sz="3000" dirty="0">
                <a:latin typeface="Gill Sans"/>
                <a:cs typeface="Gill Sans"/>
              </a:rPr>
              <a:t>er</a:t>
            </a:r>
            <a:r>
              <a:rPr sz="3000" spc="-305" dirty="0">
                <a:latin typeface="Gill Sans"/>
                <a:cs typeface="Gill Sans"/>
              </a:rPr>
              <a:t> </a:t>
            </a:r>
            <a:r>
              <a:rPr sz="3000" dirty="0">
                <a:latin typeface="Gill Sans"/>
                <a:cs typeface="Gill Sans"/>
              </a:rPr>
              <a:t>AIC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=</a:t>
            </a:r>
            <a:r>
              <a:rPr sz="3000" spc="-5" dirty="0">
                <a:latin typeface="Gill Sans"/>
                <a:cs typeface="Gill Sans"/>
              </a:rPr>
              <a:t> l</a:t>
            </a:r>
            <a:r>
              <a:rPr sz="3000" spc="-50" dirty="0">
                <a:latin typeface="Gill Sans"/>
                <a:cs typeface="Gill Sans"/>
              </a:rPr>
              <a:t>o</a:t>
            </a:r>
            <a:r>
              <a:rPr sz="3000" spc="-65" dirty="0">
                <a:latin typeface="Gill Sans"/>
                <a:cs typeface="Gill Sans"/>
              </a:rPr>
              <a:t>w</a:t>
            </a:r>
            <a:r>
              <a:rPr sz="3000" dirty="0">
                <a:latin typeface="Gill Sans"/>
                <a:cs typeface="Gill Sans"/>
              </a:rPr>
              <a:t>er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d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spc="-15" dirty="0">
                <a:latin typeface="Gill Sans"/>
                <a:cs typeface="Gill Sans"/>
              </a:rPr>
              <a:t>stance</a:t>
            </a:r>
            <a:endParaRPr sz="3000">
              <a:latin typeface="Gill Sans"/>
              <a:cs typeface="Gill San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334620" y="2459184"/>
            <a:ext cx="313690" cy="0"/>
          </a:xfrm>
          <a:custGeom>
            <a:avLst/>
            <a:gdLst/>
            <a:ahLst/>
            <a:cxnLst/>
            <a:rect l="l" t="t" r="r" b="b"/>
            <a:pathLst>
              <a:path w="313689">
                <a:moveTo>
                  <a:pt x="0" y="0"/>
                </a:moveTo>
                <a:lnTo>
                  <a:pt x="31353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361667" y="8668873"/>
            <a:ext cx="313690" cy="0"/>
          </a:xfrm>
          <a:custGeom>
            <a:avLst/>
            <a:gdLst/>
            <a:ahLst/>
            <a:cxnLst/>
            <a:rect l="l" t="t" r="r" b="b"/>
            <a:pathLst>
              <a:path w="313689">
                <a:moveTo>
                  <a:pt x="0" y="0"/>
                </a:moveTo>
                <a:lnTo>
                  <a:pt x="31353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521" rIns="0" bIns="0" rtlCol="0">
            <a:spAutoFit/>
          </a:bodyPr>
          <a:lstStyle/>
          <a:p>
            <a:pPr marL="1711325">
              <a:lnSpc>
                <a:spcPct val="100000"/>
              </a:lnSpc>
            </a:pPr>
            <a:r>
              <a:rPr sz="3600" spc="-30" dirty="0">
                <a:latin typeface="Gill Sans"/>
                <a:cs typeface="Gill Sans"/>
              </a:rPr>
              <a:t>Ak</a:t>
            </a:r>
            <a:r>
              <a:rPr sz="3600" spc="25" dirty="0">
                <a:latin typeface="Gill Sans"/>
                <a:cs typeface="Gill Sans"/>
              </a:rPr>
              <a:t>a</a:t>
            </a:r>
            <a:r>
              <a:rPr sz="3600" dirty="0">
                <a:latin typeface="Gill Sans"/>
                <a:cs typeface="Gill Sans"/>
              </a:rPr>
              <a:t>i</a:t>
            </a:r>
            <a:r>
              <a:rPr sz="3600" spc="-180" dirty="0">
                <a:latin typeface="Gill Sans"/>
                <a:cs typeface="Gill Sans"/>
              </a:rPr>
              <a:t>k</a:t>
            </a:r>
            <a:r>
              <a:rPr sz="3600" dirty="0">
                <a:latin typeface="Gill Sans"/>
                <a:cs typeface="Gill Sans"/>
              </a:rPr>
              <a:t>e</a:t>
            </a:r>
            <a:r>
              <a:rPr sz="3600" spc="-5" dirty="0">
                <a:latin typeface="Gill Sans"/>
                <a:cs typeface="Gill Sans"/>
              </a:rPr>
              <a:t> </a:t>
            </a:r>
            <a:r>
              <a:rPr sz="3600" dirty="0">
                <a:latin typeface="Gill Sans"/>
                <a:cs typeface="Gill Sans"/>
              </a:rPr>
              <a:t>I</a:t>
            </a:r>
            <a:r>
              <a:rPr sz="3600" spc="-5" dirty="0">
                <a:latin typeface="Gill Sans"/>
                <a:cs typeface="Gill Sans"/>
              </a:rPr>
              <a:t>nfo</a:t>
            </a:r>
            <a:r>
              <a:rPr sz="3600" dirty="0">
                <a:latin typeface="Gill Sans"/>
                <a:cs typeface="Gill Sans"/>
              </a:rPr>
              <a:t>r</a:t>
            </a:r>
            <a:r>
              <a:rPr sz="3600" spc="-5" dirty="0">
                <a:latin typeface="Gill Sans"/>
                <a:cs typeface="Gill Sans"/>
              </a:rPr>
              <a:t>m</a:t>
            </a:r>
            <a:r>
              <a:rPr sz="3600" spc="-25" dirty="0">
                <a:latin typeface="Gill Sans"/>
                <a:cs typeface="Gill Sans"/>
              </a:rPr>
              <a:t>a</a:t>
            </a:r>
            <a:r>
              <a:rPr sz="3600" spc="-5" dirty="0">
                <a:latin typeface="Gill Sans"/>
                <a:cs typeface="Gill Sans"/>
              </a:rPr>
              <a:t>t</a:t>
            </a:r>
            <a:r>
              <a:rPr sz="3600" dirty="0">
                <a:latin typeface="Gill Sans"/>
                <a:cs typeface="Gill Sans"/>
              </a:rPr>
              <a:t>i</a:t>
            </a:r>
            <a:r>
              <a:rPr sz="3600" spc="-5" dirty="0">
                <a:latin typeface="Gill Sans"/>
                <a:cs typeface="Gill Sans"/>
              </a:rPr>
              <a:t>o</a:t>
            </a:r>
            <a:r>
              <a:rPr sz="3600" dirty="0">
                <a:latin typeface="Gill Sans"/>
                <a:cs typeface="Gill Sans"/>
              </a:rPr>
              <a:t>n</a:t>
            </a:r>
            <a:r>
              <a:rPr sz="3600" spc="-5" dirty="0">
                <a:latin typeface="Gill Sans"/>
                <a:cs typeface="Gill Sans"/>
              </a:rPr>
              <a:t> </a:t>
            </a:r>
            <a:r>
              <a:rPr sz="3600" dirty="0">
                <a:latin typeface="Gill Sans"/>
                <a:cs typeface="Gill Sans"/>
              </a:rPr>
              <a:t>C</a:t>
            </a:r>
            <a:r>
              <a:rPr sz="3600" spc="-155" dirty="0">
                <a:latin typeface="Gill Sans"/>
                <a:cs typeface="Gill Sans"/>
              </a:rPr>
              <a:t>r</a:t>
            </a:r>
            <a:r>
              <a:rPr sz="3600" dirty="0">
                <a:latin typeface="Gill Sans"/>
                <a:cs typeface="Gill Sans"/>
              </a:rPr>
              <a:t>i</a:t>
            </a:r>
            <a:r>
              <a:rPr sz="3600" spc="-5" dirty="0">
                <a:latin typeface="Gill Sans"/>
                <a:cs typeface="Gill Sans"/>
              </a:rPr>
              <a:t>t</a:t>
            </a:r>
            <a:r>
              <a:rPr sz="3600" dirty="0">
                <a:latin typeface="Gill Sans"/>
                <a:cs typeface="Gill Sans"/>
              </a:rPr>
              <a:t>e</a:t>
            </a:r>
            <a:r>
              <a:rPr sz="3600" spc="-155" dirty="0">
                <a:latin typeface="Gill Sans"/>
                <a:cs typeface="Gill Sans"/>
              </a:rPr>
              <a:t>r</a:t>
            </a:r>
            <a:r>
              <a:rPr sz="3600" dirty="0">
                <a:latin typeface="Gill Sans"/>
                <a:cs typeface="Gill Sans"/>
              </a:rPr>
              <a:t>i</a:t>
            </a:r>
            <a:r>
              <a:rPr sz="3600" spc="-5" dirty="0">
                <a:latin typeface="Gill Sans"/>
                <a:cs typeface="Gill Sans"/>
              </a:rPr>
              <a:t>o</a:t>
            </a:r>
            <a:r>
              <a:rPr sz="3600" dirty="0">
                <a:latin typeface="Gill Sans"/>
                <a:cs typeface="Gill Sans"/>
              </a:rPr>
              <a:t>n</a:t>
            </a:r>
            <a:endParaRPr sz="3600">
              <a:latin typeface="Gill Sans"/>
              <a:cs typeface="Gill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8000" y="8422950"/>
            <a:ext cx="1797050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365" dirty="0">
                <a:latin typeface="Gill Sans"/>
                <a:cs typeface="Gill Sans"/>
              </a:rPr>
              <a:t>W</a:t>
            </a:r>
            <a:r>
              <a:rPr sz="3600" spc="-20" dirty="0">
                <a:latin typeface="Gill Sans"/>
                <a:cs typeface="Gill Sans"/>
              </a:rPr>
              <a:t>ors</a:t>
            </a:r>
            <a:r>
              <a:rPr sz="3600" dirty="0">
                <a:latin typeface="Gill Sans"/>
                <a:cs typeface="Gill Sans"/>
              </a:rPr>
              <a:t>e</a:t>
            </a:r>
            <a:r>
              <a:rPr sz="3600" spc="-5" dirty="0">
                <a:latin typeface="Gill Sans"/>
                <a:cs typeface="Gill Sans"/>
              </a:rPr>
              <a:t> </a:t>
            </a:r>
            <a:r>
              <a:rPr sz="3600" spc="25" dirty="0">
                <a:latin typeface="Gill Sans"/>
                <a:cs typeface="Gill Sans"/>
              </a:rPr>
              <a:t>fit</a:t>
            </a:r>
            <a:endParaRPr sz="3600">
              <a:latin typeface="Gill Sans"/>
              <a:cs typeface="Gill San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08300" y="8471158"/>
            <a:ext cx="4427220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dirty="0">
                <a:latin typeface="Gill Sans"/>
                <a:cs typeface="Gill Sans"/>
              </a:rPr>
              <a:t>h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spc="-15" dirty="0">
                <a:latin typeface="Gill Sans"/>
                <a:cs typeface="Gill Sans"/>
              </a:rPr>
              <a:t>g</a:t>
            </a:r>
            <a:r>
              <a:rPr sz="3000" dirty="0">
                <a:latin typeface="Gill Sans"/>
                <a:cs typeface="Gill Sans"/>
              </a:rPr>
              <a:t>her</a:t>
            </a:r>
            <a:r>
              <a:rPr sz="3000" spc="-305" dirty="0">
                <a:latin typeface="Gill Sans"/>
                <a:cs typeface="Gill Sans"/>
              </a:rPr>
              <a:t> </a:t>
            </a:r>
            <a:r>
              <a:rPr sz="3000" dirty="0">
                <a:latin typeface="Gill Sans"/>
                <a:cs typeface="Gill Sans"/>
              </a:rPr>
              <a:t>AIC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=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dirty="0">
                <a:latin typeface="Gill Sans"/>
                <a:cs typeface="Gill Sans"/>
              </a:rPr>
              <a:t>h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spc="-15" dirty="0">
                <a:latin typeface="Gill Sans"/>
                <a:cs typeface="Gill Sans"/>
              </a:rPr>
              <a:t>g</a:t>
            </a:r>
            <a:r>
              <a:rPr sz="3000" dirty="0">
                <a:latin typeface="Gill Sans"/>
                <a:cs typeface="Gill Sans"/>
              </a:rPr>
              <a:t>her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d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spc="-15" dirty="0">
                <a:latin typeface="Gill Sans"/>
                <a:cs typeface="Gill Sans"/>
              </a:rPr>
              <a:t>stance</a:t>
            </a:r>
            <a:endParaRPr sz="3000">
              <a:latin typeface="Gill Sans"/>
              <a:cs typeface="Gill San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57500" y="4381759"/>
            <a:ext cx="2592705" cy="1739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550"/>
              </a:lnSpc>
            </a:pPr>
            <a:r>
              <a:rPr sz="3000" dirty="0">
                <a:latin typeface="Gill Sans"/>
                <a:cs typeface="Gill Sans"/>
              </a:rPr>
              <a:t>AIC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=</a:t>
            </a:r>
            <a:endParaRPr sz="3000">
              <a:latin typeface="Gill Sans"/>
              <a:cs typeface="Gill Sans"/>
            </a:endParaRPr>
          </a:p>
          <a:p>
            <a:pPr marL="12700" marR="5080">
              <a:lnSpc>
                <a:spcPts val="3500"/>
              </a:lnSpc>
              <a:spcBef>
                <a:spcPts val="150"/>
              </a:spcBef>
            </a:pPr>
            <a:r>
              <a:rPr sz="3000" spc="-15" dirty="0">
                <a:latin typeface="Gill Sans"/>
                <a:cs typeface="Gill Sans"/>
              </a:rPr>
              <a:t>est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spc="-15" dirty="0">
                <a:latin typeface="Gill Sans"/>
                <a:cs typeface="Gill Sans"/>
              </a:rPr>
              <a:t>mator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o</a:t>
            </a:r>
            <a:r>
              <a:rPr sz="3000" dirty="0">
                <a:latin typeface="Gill Sans"/>
                <a:cs typeface="Gill Sans"/>
              </a:rPr>
              <a:t>f </a:t>
            </a:r>
            <a:r>
              <a:rPr sz="3000" spc="-75" dirty="0">
                <a:latin typeface="Gill Sans"/>
                <a:cs typeface="Gill Sans"/>
              </a:rPr>
              <a:t>r</a:t>
            </a:r>
            <a:r>
              <a:rPr sz="3000" dirty="0">
                <a:latin typeface="Gill Sans"/>
                <a:cs typeface="Gill Sans"/>
              </a:rPr>
              <a:t>e</a:t>
            </a:r>
            <a:r>
              <a:rPr sz="3000" spc="-5" dirty="0">
                <a:latin typeface="Gill Sans"/>
                <a:cs typeface="Gill Sans"/>
              </a:rPr>
              <a:t>l</a:t>
            </a:r>
            <a:r>
              <a:rPr sz="3000" spc="-15" dirty="0">
                <a:latin typeface="Gill Sans"/>
                <a:cs typeface="Gill Sans"/>
              </a:rPr>
              <a:t>a</a:t>
            </a:r>
            <a:r>
              <a:rPr sz="3000" dirty="0">
                <a:latin typeface="Gill Sans"/>
                <a:cs typeface="Gill Sans"/>
              </a:rPr>
              <a:t>t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spc="-75" dirty="0">
                <a:latin typeface="Gill Sans"/>
                <a:cs typeface="Gill Sans"/>
              </a:rPr>
              <a:t>v</a:t>
            </a:r>
            <a:r>
              <a:rPr sz="3000" dirty="0">
                <a:latin typeface="Gill Sans"/>
                <a:cs typeface="Gill Sans"/>
              </a:rPr>
              <a:t>e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d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spc="-15" dirty="0">
                <a:latin typeface="Gill Sans"/>
                <a:cs typeface="Gill Sans"/>
              </a:rPr>
              <a:t>stance</a:t>
            </a:r>
            <a:r>
              <a:rPr sz="3000" spc="-10" dirty="0">
                <a:latin typeface="Gill Sans"/>
                <a:cs typeface="Gill Sans"/>
              </a:rPr>
              <a:t> f</a:t>
            </a:r>
            <a:r>
              <a:rPr sz="3000" spc="-90" dirty="0">
                <a:latin typeface="Gill Sans"/>
                <a:cs typeface="Gill Sans"/>
              </a:rPr>
              <a:t>r</a:t>
            </a:r>
            <a:r>
              <a:rPr sz="3000" spc="-20" dirty="0">
                <a:latin typeface="Gill Sans"/>
                <a:cs typeface="Gill Sans"/>
              </a:rPr>
              <a:t>om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dirty="0">
                <a:latin typeface="Gill Sans"/>
                <a:cs typeface="Gill Sans"/>
              </a:rPr>
              <a:t>true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mod</a:t>
            </a:r>
            <a:r>
              <a:rPr sz="3000" dirty="0">
                <a:latin typeface="Gill Sans"/>
                <a:cs typeface="Gill Sans"/>
              </a:rPr>
              <a:t>el</a:t>
            </a:r>
            <a:endParaRPr sz="3000">
              <a:latin typeface="Gill Sans"/>
              <a:cs typeface="Gill San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248325" y="1757984"/>
            <a:ext cx="63500" cy="0"/>
          </a:xfrm>
          <a:custGeom>
            <a:avLst/>
            <a:gdLst/>
            <a:ahLst/>
            <a:cxnLst/>
            <a:rect l="l" t="t" r="r" b="b"/>
            <a:pathLst>
              <a:path w="63500">
                <a:moveTo>
                  <a:pt x="0" y="0"/>
                </a:moveTo>
                <a:lnTo>
                  <a:pt x="63500" y="0"/>
                </a:lnTo>
              </a:path>
            </a:pathLst>
          </a:custGeom>
          <a:ln w="406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150535" y="1370634"/>
            <a:ext cx="259079" cy="215900"/>
          </a:xfrm>
          <a:custGeom>
            <a:avLst/>
            <a:gdLst/>
            <a:ahLst/>
            <a:cxnLst/>
            <a:rect l="l" t="t" r="r" b="b"/>
            <a:pathLst>
              <a:path w="259079" h="215900">
                <a:moveTo>
                  <a:pt x="259080" y="215900"/>
                </a:moveTo>
                <a:lnTo>
                  <a:pt x="129540" y="0"/>
                </a:lnTo>
                <a:lnTo>
                  <a:pt x="0" y="215900"/>
                </a:lnTo>
              </a:path>
            </a:pathLst>
          </a:custGeom>
          <a:ln w="63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280075" y="1370634"/>
            <a:ext cx="0" cy="215900"/>
          </a:xfrm>
          <a:custGeom>
            <a:avLst/>
            <a:gdLst/>
            <a:ahLst/>
            <a:cxnLst/>
            <a:rect l="l" t="t" r="r" b="b"/>
            <a:pathLst>
              <a:path h="215900">
                <a:moveTo>
                  <a:pt x="0" y="215900"/>
                </a:moveTo>
                <a:lnTo>
                  <a:pt x="0" y="0"/>
                </a:lnTo>
              </a:path>
            </a:pathLst>
          </a:custGeom>
          <a:ln w="63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8229600" y="2057659"/>
            <a:ext cx="2098040" cy="1295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4445" algn="ctr">
              <a:lnSpc>
                <a:spcPts val="3500"/>
              </a:lnSpc>
            </a:pPr>
            <a:r>
              <a:rPr sz="3000" dirty="0">
                <a:latin typeface="Gill Sans"/>
                <a:cs typeface="Gill Sans"/>
              </a:rPr>
              <a:t>h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spc="-15" dirty="0">
                <a:latin typeface="Gill Sans"/>
                <a:cs typeface="Gill Sans"/>
              </a:rPr>
              <a:t>g</a:t>
            </a:r>
            <a:r>
              <a:rPr sz="3000" dirty="0">
                <a:latin typeface="Gill Sans"/>
                <a:cs typeface="Gill Sans"/>
              </a:rPr>
              <a:t>her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15" dirty="0">
                <a:latin typeface="Gill Sans"/>
                <a:cs typeface="Gill Sans"/>
              </a:rPr>
              <a:t>data</a:t>
            </a:r>
            <a:r>
              <a:rPr sz="3000" spc="-10" dirty="0">
                <a:latin typeface="Gill Sans"/>
                <a:cs typeface="Gill Sans"/>
              </a:rPr>
              <a:t> </a:t>
            </a:r>
            <a:r>
              <a:rPr sz="3000" spc="-5" dirty="0">
                <a:latin typeface="Gill Sans"/>
                <a:cs typeface="Gill Sans"/>
              </a:rPr>
              <a:t>l</a:t>
            </a:r>
            <a:r>
              <a:rPr sz="3000" spc="-15" dirty="0">
                <a:latin typeface="Gill Sans"/>
                <a:cs typeface="Gill Sans"/>
              </a:rPr>
              <a:t>og</a:t>
            </a:r>
            <a:r>
              <a:rPr sz="3000" spc="-5" dirty="0">
                <a:latin typeface="Gill Sans"/>
                <a:cs typeface="Gill Sans"/>
              </a:rPr>
              <a:t>-li</a:t>
            </a:r>
            <a:r>
              <a:rPr sz="3000" spc="-90" dirty="0">
                <a:latin typeface="Gill Sans"/>
                <a:cs typeface="Gill Sans"/>
              </a:rPr>
              <a:t>k</a:t>
            </a:r>
            <a:r>
              <a:rPr sz="3000" dirty="0">
                <a:latin typeface="Gill Sans"/>
                <a:cs typeface="Gill Sans"/>
              </a:rPr>
              <a:t>e</a:t>
            </a:r>
            <a:r>
              <a:rPr sz="3000" spc="-5" dirty="0">
                <a:latin typeface="Gill Sans"/>
                <a:cs typeface="Gill Sans"/>
              </a:rPr>
              <a:t>li</a:t>
            </a:r>
            <a:r>
              <a:rPr sz="3000" spc="-20" dirty="0">
                <a:latin typeface="Gill Sans"/>
                <a:cs typeface="Gill Sans"/>
              </a:rPr>
              <a:t>hood</a:t>
            </a:r>
            <a:r>
              <a:rPr sz="3000" spc="-10" dirty="0">
                <a:latin typeface="Gill Sans"/>
                <a:cs typeface="Gill Sans"/>
              </a:rPr>
              <a:t> </a:t>
            </a:r>
            <a:r>
              <a:rPr sz="3000" spc="-5" dirty="0">
                <a:latin typeface="Gill Sans"/>
                <a:cs typeface="Gill Sans"/>
              </a:rPr>
              <a:t>(L</a:t>
            </a:r>
            <a:r>
              <a:rPr sz="3000" dirty="0">
                <a:latin typeface="Gill Sans"/>
                <a:cs typeface="Gill Sans"/>
              </a:rPr>
              <a:t>n</a:t>
            </a:r>
            <a:r>
              <a:rPr sz="3000" spc="-5" dirty="0">
                <a:latin typeface="Gill Sans"/>
                <a:cs typeface="Gill Sans"/>
              </a:rPr>
              <a:t>L</a:t>
            </a:r>
            <a:r>
              <a:rPr sz="3000" dirty="0">
                <a:latin typeface="Gill Sans"/>
                <a:cs typeface="Gill Sans"/>
              </a:rPr>
              <a:t>)</a:t>
            </a:r>
            <a:endParaRPr sz="3000">
              <a:latin typeface="Gill Sans"/>
              <a:cs typeface="Gill San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248323" y="8341347"/>
            <a:ext cx="63500" cy="0"/>
          </a:xfrm>
          <a:custGeom>
            <a:avLst/>
            <a:gdLst/>
            <a:ahLst/>
            <a:cxnLst/>
            <a:rect l="l" t="t" r="r" b="b"/>
            <a:pathLst>
              <a:path w="63500">
                <a:moveTo>
                  <a:pt x="0" y="0"/>
                </a:moveTo>
                <a:lnTo>
                  <a:pt x="63500" y="0"/>
                </a:lnTo>
              </a:path>
            </a:pathLst>
          </a:custGeom>
          <a:ln w="406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9150534" y="8512797"/>
            <a:ext cx="259079" cy="215900"/>
          </a:xfrm>
          <a:custGeom>
            <a:avLst/>
            <a:gdLst/>
            <a:ahLst/>
            <a:cxnLst/>
            <a:rect l="l" t="t" r="r" b="b"/>
            <a:pathLst>
              <a:path w="259079" h="215900">
                <a:moveTo>
                  <a:pt x="0" y="0"/>
                </a:moveTo>
                <a:lnTo>
                  <a:pt x="129540" y="215900"/>
                </a:lnTo>
                <a:lnTo>
                  <a:pt x="259080" y="0"/>
                </a:lnTo>
              </a:path>
            </a:pathLst>
          </a:custGeom>
          <a:ln w="63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9280073" y="8512797"/>
            <a:ext cx="0" cy="215900"/>
          </a:xfrm>
          <a:custGeom>
            <a:avLst/>
            <a:gdLst/>
            <a:ahLst/>
            <a:cxnLst/>
            <a:rect l="l" t="t" r="r" b="b"/>
            <a:pathLst>
              <a:path h="215900">
                <a:moveTo>
                  <a:pt x="0" y="0"/>
                </a:moveTo>
                <a:lnTo>
                  <a:pt x="0" y="215900"/>
                </a:lnTo>
              </a:path>
            </a:pathLst>
          </a:custGeom>
          <a:ln w="63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229600" y="6782058"/>
            <a:ext cx="2098040" cy="1295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270" algn="ctr">
              <a:lnSpc>
                <a:spcPts val="3500"/>
              </a:lnSpc>
            </a:pPr>
            <a:r>
              <a:rPr sz="3000" spc="-5" dirty="0">
                <a:latin typeface="Gill Sans"/>
                <a:cs typeface="Gill Sans"/>
              </a:rPr>
              <a:t>l</a:t>
            </a:r>
            <a:r>
              <a:rPr sz="3000" spc="-50" dirty="0">
                <a:latin typeface="Gill Sans"/>
                <a:cs typeface="Gill Sans"/>
              </a:rPr>
              <a:t>o</a:t>
            </a:r>
            <a:r>
              <a:rPr sz="3000" spc="-65" dirty="0">
                <a:latin typeface="Gill Sans"/>
                <a:cs typeface="Gill Sans"/>
              </a:rPr>
              <a:t>w</a:t>
            </a:r>
            <a:r>
              <a:rPr sz="3000" dirty="0">
                <a:latin typeface="Gill Sans"/>
                <a:cs typeface="Gill Sans"/>
              </a:rPr>
              <a:t>er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15" dirty="0">
                <a:latin typeface="Gill Sans"/>
                <a:cs typeface="Gill Sans"/>
              </a:rPr>
              <a:t>data</a:t>
            </a:r>
            <a:r>
              <a:rPr sz="3000" spc="-10" dirty="0">
                <a:latin typeface="Gill Sans"/>
                <a:cs typeface="Gill Sans"/>
              </a:rPr>
              <a:t> </a:t>
            </a:r>
            <a:r>
              <a:rPr sz="3000" spc="-5" dirty="0">
                <a:latin typeface="Gill Sans"/>
                <a:cs typeface="Gill Sans"/>
              </a:rPr>
              <a:t>l</a:t>
            </a:r>
            <a:r>
              <a:rPr sz="3000" spc="-15" dirty="0">
                <a:latin typeface="Gill Sans"/>
                <a:cs typeface="Gill Sans"/>
              </a:rPr>
              <a:t>og</a:t>
            </a:r>
            <a:r>
              <a:rPr sz="3000" spc="-5" dirty="0">
                <a:latin typeface="Gill Sans"/>
                <a:cs typeface="Gill Sans"/>
              </a:rPr>
              <a:t>-li</a:t>
            </a:r>
            <a:r>
              <a:rPr sz="3000" spc="-90" dirty="0">
                <a:latin typeface="Gill Sans"/>
                <a:cs typeface="Gill Sans"/>
              </a:rPr>
              <a:t>k</a:t>
            </a:r>
            <a:r>
              <a:rPr sz="3000" dirty="0">
                <a:latin typeface="Gill Sans"/>
                <a:cs typeface="Gill Sans"/>
              </a:rPr>
              <a:t>e</a:t>
            </a:r>
            <a:r>
              <a:rPr sz="3000" spc="-5" dirty="0">
                <a:latin typeface="Gill Sans"/>
                <a:cs typeface="Gill Sans"/>
              </a:rPr>
              <a:t>li</a:t>
            </a:r>
            <a:r>
              <a:rPr sz="3000" spc="-20" dirty="0">
                <a:latin typeface="Gill Sans"/>
                <a:cs typeface="Gill Sans"/>
              </a:rPr>
              <a:t>hood</a:t>
            </a:r>
            <a:r>
              <a:rPr sz="3000" spc="-10" dirty="0">
                <a:latin typeface="Gill Sans"/>
                <a:cs typeface="Gill Sans"/>
              </a:rPr>
              <a:t> </a:t>
            </a:r>
            <a:r>
              <a:rPr sz="3000" spc="-5" dirty="0">
                <a:latin typeface="Gill Sans"/>
                <a:cs typeface="Gill Sans"/>
              </a:rPr>
              <a:t>(L</a:t>
            </a:r>
            <a:r>
              <a:rPr sz="3000" dirty="0">
                <a:latin typeface="Gill Sans"/>
                <a:cs typeface="Gill Sans"/>
              </a:rPr>
              <a:t>n</a:t>
            </a:r>
            <a:r>
              <a:rPr sz="3000" spc="-5" dirty="0">
                <a:latin typeface="Gill Sans"/>
                <a:cs typeface="Gill Sans"/>
              </a:rPr>
              <a:t>L</a:t>
            </a:r>
            <a:r>
              <a:rPr sz="3000" dirty="0">
                <a:latin typeface="Gill Sans"/>
                <a:cs typeface="Gill Sans"/>
              </a:rPr>
              <a:t>)</a:t>
            </a:r>
            <a:endParaRPr sz="3000">
              <a:latin typeface="Gill Sans"/>
              <a:cs typeface="Gill San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1466045" y="1834506"/>
            <a:ext cx="63500" cy="0"/>
          </a:xfrm>
          <a:custGeom>
            <a:avLst/>
            <a:gdLst/>
            <a:ahLst/>
            <a:cxnLst/>
            <a:rect l="l" t="t" r="r" b="b"/>
            <a:pathLst>
              <a:path w="63500">
                <a:moveTo>
                  <a:pt x="0" y="0"/>
                </a:moveTo>
                <a:lnTo>
                  <a:pt x="63500" y="0"/>
                </a:lnTo>
              </a:path>
            </a:pathLst>
          </a:custGeom>
          <a:ln w="406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1368254" y="1447156"/>
            <a:ext cx="259079" cy="215900"/>
          </a:xfrm>
          <a:custGeom>
            <a:avLst/>
            <a:gdLst/>
            <a:ahLst/>
            <a:cxnLst/>
            <a:rect l="l" t="t" r="r" b="b"/>
            <a:pathLst>
              <a:path w="259079" h="215900">
                <a:moveTo>
                  <a:pt x="259080" y="215900"/>
                </a:moveTo>
                <a:lnTo>
                  <a:pt x="129540" y="0"/>
                </a:lnTo>
                <a:lnTo>
                  <a:pt x="0" y="215900"/>
                </a:lnTo>
              </a:path>
            </a:pathLst>
          </a:custGeom>
          <a:ln w="63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1497795" y="1447156"/>
            <a:ext cx="0" cy="215900"/>
          </a:xfrm>
          <a:custGeom>
            <a:avLst/>
            <a:gdLst/>
            <a:ahLst/>
            <a:cxnLst/>
            <a:rect l="l" t="t" r="r" b="b"/>
            <a:pathLst>
              <a:path h="215900">
                <a:moveTo>
                  <a:pt x="0" y="215900"/>
                </a:moveTo>
                <a:lnTo>
                  <a:pt x="0" y="0"/>
                </a:lnTo>
              </a:path>
            </a:pathLst>
          </a:custGeom>
          <a:ln w="63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0604500" y="2057659"/>
            <a:ext cx="1775460" cy="1295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7200" marR="441959" algn="ctr">
              <a:lnSpc>
                <a:spcPts val="3500"/>
              </a:lnSpc>
            </a:pPr>
            <a:r>
              <a:rPr sz="3000" spc="-30" dirty="0">
                <a:latin typeface="Gill Sans"/>
                <a:cs typeface="Gill Sans"/>
              </a:rPr>
              <a:t>f</a:t>
            </a:r>
            <a:r>
              <a:rPr sz="3000" spc="-50" dirty="0">
                <a:latin typeface="Gill Sans"/>
                <a:cs typeface="Gill Sans"/>
              </a:rPr>
              <a:t>e</a:t>
            </a:r>
            <a:r>
              <a:rPr sz="3000" spc="-65" dirty="0">
                <a:latin typeface="Gill Sans"/>
                <a:cs typeface="Gill Sans"/>
              </a:rPr>
              <a:t>w</a:t>
            </a:r>
            <a:r>
              <a:rPr sz="3000" dirty="0">
                <a:latin typeface="Gill Sans"/>
                <a:cs typeface="Gill Sans"/>
              </a:rPr>
              <a:t>er </a:t>
            </a:r>
            <a:r>
              <a:rPr sz="3000" spc="-10" dirty="0">
                <a:latin typeface="Gill Sans"/>
                <a:cs typeface="Gill Sans"/>
              </a:rPr>
              <a:t>f</a:t>
            </a:r>
            <a:r>
              <a:rPr sz="3000" spc="-75" dirty="0">
                <a:latin typeface="Gill Sans"/>
                <a:cs typeface="Gill Sans"/>
              </a:rPr>
              <a:t>r</a:t>
            </a:r>
            <a:r>
              <a:rPr sz="3000" dirty="0">
                <a:latin typeface="Gill Sans"/>
                <a:cs typeface="Gill Sans"/>
              </a:rPr>
              <a:t>ee</a:t>
            </a:r>
            <a:endParaRPr sz="3000">
              <a:latin typeface="Gill Sans"/>
              <a:cs typeface="Gill Sans"/>
            </a:endParaRPr>
          </a:p>
          <a:p>
            <a:pPr algn="ctr">
              <a:lnSpc>
                <a:spcPts val="3400"/>
              </a:lnSpc>
            </a:pPr>
            <a:r>
              <a:rPr sz="3000" spc="-15" dirty="0">
                <a:latin typeface="Gill Sans"/>
                <a:cs typeface="Gill Sans"/>
              </a:rPr>
              <a:t>parameters</a:t>
            </a:r>
            <a:endParaRPr sz="3000">
              <a:latin typeface="Gill Sans"/>
              <a:cs typeface="Gill San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1516845" y="8341347"/>
            <a:ext cx="63500" cy="0"/>
          </a:xfrm>
          <a:custGeom>
            <a:avLst/>
            <a:gdLst/>
            <a:ahLst/>
            <a:cxnLst/>
            <a:rect l="l" t="t" r="r" b="b"/>
            <a:pathLst>
              <a:path w="63500">
                <a:moveTo>
                  <a:pt x="0" y="0"/>
                </a:moveTo>
                <a:lnTo>
                  <a:pt x="63500" y="0"/>
                </a:lnTo>
              </a:path>
            </a:pathLst>
          </a:custGeom>
          <a:ln w="406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1419054" y="8512797"/>
            <a:ext cx="259079" cy="215900"/>
          </a:xfrm>
          <a:custGeom>
            <a:avLst/>
            <a:gdLst/>
            <a:ahLst/>
            <a:cxnLst/>
            <a:rect l="l" t="t" r="r" b="b"/>
            <a:pathLst>
              <a:path w="259079" h="215900">
                <a:moveTo>
                  <a:pt x="0" y="0"/>
                </a:moveTo>
                <a:lnTo>
                  <a:pt x="129540" y="215900"/>
                </a:lnTo>
                <a:lnTo>
                  <a:pt x="259080" y="0"/>
                </a:lnTo>
              </a:path>
            </a:pathLst>
          </a:custGeom>
          <a:ln w="63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1548595" y="8512797"/>
            <a:ext cx="0" cy="215900"/>
          </a:xfrm>
          <a:custGeom>
            <a:avLst/>
            <a:gdLst/>
            <a:ahLst/>
            <a:cxnLst/>
            <a:rect l="l" t="t" r="r" b="b"/>
            <a:pathLst>
              <a:path h="215900">
                <a:moveTo>
                  <a:pt x="0" y="0"/>
                </a:moveTo>
                <a:lnTo>
                  <a:pt x="0" y="215900"/>
                </a:lnTo>
              </a:path>
            </a:pathLst>
          </a:custGeom>
          <a:ln w="63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0655300" y="6782058"/>
            <a:ext cx="1775460" cy="1295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82600" marR="454659" algn="ctr">
              <a:lnSpc>
                <a:spcPts val="3500"/>
              </a:lnSpc>
            </a:pPr>
            <a:r>
              <a:rPr sz="3000" spc="-20" dirty="0">
                <a:latin typeface="Gill Sans"/>
                <a:cs typeface="Gill Sans"/>
              </a:rPr>
              <a:t>mo</a:t>
            </a:r>
            <a:r>
              <a:rPr sz="3000" spc="-75" dirty="0">
                <a:latin typeface="Gill Sans"/>
                <a:cs typeface="Gill Sans"/>
              </a:rPr>
              <a:t>r</a:t>
            </a:r>
            <a:r>
              <a:rPr sz="3000" dirty="0">
                <a:latin typeface="Gill Sans"/>
                <a:cs typeface="Gill Sans"/>
              </a:rPr>
              <a:t>e </a:t>
            </a:r>
            <a:r>
              <a:rPr sz="3000" spc="-10" dirty="0">
                <a:latin typeface="Gill Sans"/>
                <a:cs typeface="Gill Sans"/>
              </a:rPr>
              <a:t>f</a:t>
            </a:r>
            <a:r>
              <a:rPr sz="3000" spc="-75" dirty="0">
                <a:latin typeface="Gill Sans"/>
                <a:cs typeface="Gill Sans"/>
              </a:rPr>
              <a:t>r</a:t>
            </a:r>
            <a:r>
              <a:rPr sz="3000" dirty="0">
                <a:latin typeface="Gill Sans"/>
                <a:cs typeface="Gill Sans"/>
              </a:rPr>
              <a:t>ee</a:t>
            </a:r>
            <a:endParaRPr sz="3000">
              <a:latin typeface="Gill Sans"/>
              <a:cs typeface="Gill Sans"/>
            </a:endParaRPr>
          </a:p>
          <a:p>
            <a:pPr algn="ctr">
              <a:lnSpc>
                <a:spcPts val="3400"/>
              </a:lnSpc>
            </a:pPr>
            <a:r>
              <a:rPr sz="3000" spc="-15" dirty="0">
                <a:latin typeface="Gill Sans"/>
                <a:cs typeface="Gill Sans"/>
              </a:rPr>
              <a:t>parameters</a:t>
            </a:r>
            <a:endParaRPr sz="3000">
              <a:latin typeface="Gill Sans"/>
              <a:cs typeface="Gill San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599122" y="4332276"/>
            <a:ext cx="5843270" cy="1511300"/>
          </a:xfrm>
          <a:prstGeom prst="rect">
            <a:avLst/>
          </a:prstGeom>
          <a:ln w="762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82344" marR="967740" algn="ctr">
              <a:lnSpc>
                <a:spcPts val="3500"/>
              </a:lnSpc>
            </a:pPr>
            <a:r>
              <a:rPr sz="3000" b="1" spc="-25" dirty="0">
                <a:latin typeface="Gill Sans"/>
                <a:cs typeface="Gill Sans"/>
              </a:rPr>
              <a:t>Ak</a:t>
            </a:r>
            <a:r>
              <a:rPr sz="3000" b="1" spc="20" dirty="0">
                <a:latin typeface="Gill Sans"/>
                <a:cs typeface="Gill Sans"/>
              </a:rPr>
              <a:t>a</a:t>
            </a:r>
            <a:r>
              <a:rPr sz="3000" b="1" dirty="0">
                <a:latin typeface="Gill Sans"/>
                <a:cs typeface="Gill Sans"/>
              </a:rPr>
              <a:t>i</a:t>
            </a:r>
            <a:r>
              <a:rPr sz="3000" b="1" spc="-150" dirty="0">
                <a:latin typeface="Gill Sans"/>
                <a:cs typeface="Gill Sans"/>
              </a:rPr>
              <a:t>k</a:t>
            </a:r>
            <a:r>
              <a:rPr sz="3000" b="1" dirty="0">
                <a:latin typeface="Gill Sans"/>
                <a:cs typeface="Gill Sans"/>
              </a:rPr>
              <a:t>e</a:t>
            </a:r>
            <a:r>
              <a:rPr sz="3000" b="1" spc="-5" dirty="0">
                <a:latin typeface="Gill Sans"/>
                <a:cs typeface="Gill Sans"/>
              </a:rPr>
              <a:t> </a:t>
            </a:r>
            <a:r>
              <a:rPr sz="3000" b="1" dirty="0">
                <a:latin typeface="Gill Sans"/>
                <a:cs typeface="Gill Sans"/>
              </a:rPr>
              <a:t>In</a:t>
            </a:r>
            <a:r>
              <a:rPr sz="3000" b="1" spc="-5" dirty="0">
                <a:latin typeface="Gill Sans"/>
                <a:cs typeface="Gill Sans"/>
              </a:rPr>
              <a:t>fo</a:t>
            </a:r>
            <a:r>
              <a:rPr sz="3000" b="1" dirty="0">
                <a:latin typeface="Gill Sans"/>
                <a:cs typeface="Gill Sans"/>
              </a:rPr>
              <a:t>r</a:t>
            </a:r>
            <a:r>
              <a:rPr sz="3000" b="1" spc="-5" dirty="0">
                <a:latin typeface="Gill Sans"/>
                <a:cs typeface="Gill Sans"/>
              </a:rPr>
              <a:t>m</a:t>
            </a:r>
            <a:r>
              <a:rPr sz="3000" b="1" spc="-20" dirty="0">
                <a:latin typeface="Gill Sans"/>
                <a:cs typeface="Gill Sans"/>
              </a:rPr>
              <a:t>a</a:t>
            </a:r>
            <a:r>
              <a:rPr sz="3000" b="1" spc="-5" dirty="0">
                <a:latin typeface="Gill Sans"/>
                <a:cs typeface="Gill Sans"/>
              </a:rPr>
              <a:t>t</a:t>
            </a:r>
            <a:r>
              <a:rPr sz="3000" b="1" dirty="0">
                <a:latin typeface="Gill Sans"/>
                <a:cs typeface="Gill Sans"/>
              </a:rPr>
              <a:t>i</a:t>
            </a:r>
            <a:r>
              <a:rPr sz="3000" b="1" spc="-5" dirty="0">
                <a:latin typeface="Gill Sans"/>
                <a:cs typeface="Gill Sans"/>
              </a:rPr>
              <a:t>o</a:t>
            </a:r>
            <a:r>
              <a:rPr sz="3000" b="1" dirty="0">
                <a:latin typeface="Gill Sans"/>
                <a:cs typeface="Gill Sans"/>
              </a:rPr>
              <a:t>n C</a:t>
            </a:r>
            <a:r>
              <a:rPr sz="3000" b="1" spc="-130" dirty="0">
                <a:latin typeface="Gill Sans"/>
                <a:cs typeface="Gill Sans"/>
              </a:rPr>
              <a:t>r</a:t>
            </a:r>
            <a:r>
              <a:rPr sz="3000" b="1" dirty="0">
                <a:latin typeface="Gill Sans"/>
                <a:cs typeface="Gill Sans"/>
              </a:rPr>
              <a:t>i</a:t>
            </a:r>
            <a:r>
              <a:rPr sz="3000" b="1" spc="-5" dirty="0">
                <a:latin typeface="Gill Sans"/>
                <a:cs typeface="Gill Sans"/>
              </a:rPr>
              <a:t>t</a:t>
            </a:r>
            <a:r>
              <a:rPr sz="3000" b="1" dirty="0">
                <a:latin typeface="Gill Sans"/>
                <a:cs typeface="Gill Sans"/>
              </a:rPr>
              <a:t>e</a:t>
            </a:r>
            <a:r>
              <a:rPr sz="3000" b="1" spc="-130" dirty="0">
                <a:latin typeface="Gill Sans"/>
                <a:cs typeface="Gill Sans"/>
              </a:rPr>
              <a:t>r</a:t>
            </a:r>
            <a:r>
              <a:rPr sz="3000" b="1" dirty="0">
                <a:latin typeface="Gill Sans"/>
                <a:cs typeface="Gill Sans"/>
              </a:rPr>
              <a:t>i</a:t>
            </a:r>
            <a:r>
              <a:rPr sz="3000" b="1" spc="-5" dirty="0">
                <a:latin typeface="Gill Sans"/>
                <a:cs typeface="Gill Sans"/>
              </a:rPr>
              <a:t>o</a:t>
            </a:r>
            <a:r>
              <a:rPr sz="3000" b="1" dirty="0">
                <a:latin typeface="Gill Sans"/>
                <a:cs typeface="Gill Sans"/>
              </a:rPr>
              <a:t>n</a:t>
            </a:r>
            <a:r>
              <a:rPr sz="3000" b="1" spc="-5" dirty="0">
                <a:latin typeface="Gill Sans"/>
                <a:cs typeface="Gill Sans"/>
              </a:rPr>
              <a:t> </a:t>
            </a:r>
            <a:r>
              <a:rPr sz="3000" b="1" spc="-15" dirty="0">
                <a:latin typeface="Gill Sans"/>
                <a:cs typeface="Gill Sans"/>
              </a:rPr>
              <a:t>(</a:t>
            </a:r>
            <a:r>
              <a:rPr sz="3000" b="1" dirty="0">
                <a:latin typeface="Gill Sans"/>
                <a:cs typeface="Gill Sans"/>
              </a:rPr>
              <a:t>AIC</a:t>
            </a:r>
            <a:r>
              <a:rPr sz="3000" b="1" spc="-15" dirty="0">
                <a:latin typeface="Gill Sans"/>
                <a:cs typeface="Gill Sans"/>
              </a:rPr>
              <a:t>)</a:t>
            </a:r>
            <a:r>
              <a:rPr sz="3000" b="1" spc="-5" dirty="0">
                <a:latin typeface="Gill Sans"/>
                <a:cs typeface="Gill Sans"/>
              </a:rPr>
              <a:t> </a:t>
            </a:r>
            <a:r>
              <a:rPr sz="3000" b="1" spc="-20" dirty="0">
                <a:latin typeface="Gill Sans"/>
                <a:cs typeface="Gill Sans"/>
              </a:rPr>
              <a:t>=</a:t>
            </a:r>
            <a:endParaRPr sz="3000">
              <a:latin typeface="Gill Sans"/>
              <a:cs typeface="Gill Sans"/>
            </a:endParaRPr>
          </a:p>
          <a:p>
            <a:pPr algn="ctr">
              <a:lnSpc>
                <a:spcPts val="3400"/>
              </a:lnSpc>
            </a:pPr>
            <a:r>
              <a:rPr sz="3000" spc="-5" dirty="0">
                <a:latin typeface="Gill Sans"/>
                <a:cs typeface="Gill Sans"/>
              </a:rPr>
              <a:t>-</a:t>
            </a:r>
            <a:r>
              <a:rPr sz="3000" dirty="0">
                <a:latin typeface="Gill Sans"/>
                <a:cs typeface="Gill Sans"/>
              </a:rPr>
              <a:t>2</a:t>
            </a:r>
            <a:r>
              <a:rPr sz="3000" spc="-5" dirty="0">
                <a:latin typeface="Gill Sans"/>
                <a:cs typeface="Gill Sans"/>
              </a:rPr>
              <a:t>(L</a:t>
            </a:r>
            <a:r>
              <a:rPr sz="3000" dirty="0">
                <a:latin typeface="Gill Sans"/>
                <a:cs typeface="Gill Sans"/>
              </a:rPr>
              <a:t>nL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dirty="0">
                <a:latin typeface="Gill Sans"/>
                <a:cs typeface="Gill Sans"/>
              </a:rPr>
              <a:t>-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#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20" dirty="0">
                <a:latin typeface="Gill Sans"/>
                <a:cs typeface="Gill Sans"/>
              </a:rPr>
              <a:t>o</a:t>
            </a:r>
            <a:r>
              <a:rPr sz="3000" dirty="0">
                <a:latin typeface="Gill Sans"/>
                <a:cs typeface="Gill Sans"/>
              </a:rPr>
              <a:t>f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spc="-15" dirty="0">
                <a:latin typeface="Gill Sans"/>
                <a:cs typeface="Gill Sans"/>
              </a:rPr>
              <a:t>parameters</a:t>
            </a:r>
            <a:r>
              <a:rPr sz="3000" dirty="0">
                <a:latin typeface="Gill Sans"/>
                <a:cs typeface="Gill Sans"/>
              </a:rPr>
              <a:t>)</a:t>
            </a:r>
            <a:endParaRPr sz="3000">
              <a:latin typeface="Gill Sans"/>
              <a:cs typeface="Gill Sans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261568" y="6968445"/>
            <a:ext cx="63500" cy="0"/>
          </a:xfrm>
          <a:custGeom>
            <a:avLst/>
            <a:gdLst/>
            <a:ahLst/>
            <a:cxnLst/>
            <a:rect l="l" t="t" r="r" b="b"/>
            <a:pathLst>
              <a:path w="63500">
                <a:moveTo>
                  <a:pt x="0" y="0"/>
                </a:moveTo>
                <a:lnTo>
                  <a:pt x="63500" y="0"/>
                </a:lnTo>
              </a:path>
            </a:pathLst>
          </a:custGeom>
          <a:ln w="3949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163778" y="7134180"/>
            <a:ext cx="259079" cy="259079"/>
          </a:xfrm>
          <a:custGeom>
            <a:avLst/>
            <a:gdLst/>
            <a:ahLst/>
            <a:cxnLst/>
            <a:rect l="l" t="t" r="r" b="b"/>
            <a:pathLst>
              <a:path w="259080" h="259079">
                <a:moveTo>
                  <a:pt x="259080" y="0"/>
                </a:moveTo>
                <a:lnTo>
                  <a:pt x="0" y="0"/>
                </a:lnTo>
                <a:lnTo>
                  <a:pt x="129540" y="259080"/>
                </a:lnTo>
                <a:lnTo>
                  <a:pt x="2590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2057659" y="3726660"/>
            <a:ext cx="406400" cy="301752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dirty="0">
                <a:latin typeface="Gill Sans"/>
                <a:cs typeface="Gill Sans"/>
              </a:rPr>
              <a:t>d</a:t>
            </a:r>
            <a:r>
              <a:rPr sz="3000" spc="-5" dirty="0">
                <a:latin typeface="Gill Sans"/>
                <a:cs typeface="Gill Sans"/>
              </a:rPr>
              <a:t>i</a:t>
            </a:r>
            <a:r>
              <a:rPr sz="3000" dirty="0">
                <a:latin typeface="Gill Sans"/>
                <a:cs typeface="Gill Sans"/>
              </a:rPr>
              <a:t>stance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dirty="0">
                <a:latin typeface="Gill Sans"/>
                <a:cs typeface="Gill Sans"/>
              </a:rPr>
              <a:t>f</a:t>
            </a:r>
            <a:r>
              <a:rPr sz="3000" spc="-75" dirty="0">
                <a:latin typeface="Gill Sans"/>
                <a:cs typeface="Gill Sans"/>
              </a:rPr>
              <a:t>r</a:t>
            </a:r>
            <a:r>
              <a:rPr sz="3000" dirty="0">
                <a:latin typeface="Gill Sans"/>
                <a:cs typeface="Gill Sans"/>
              </a:rPr>
              <a:t>om</a:t>
            </a:r>
            <a:r>
              <a:rPr sz="3000" spc="-5" dirty="0">
                <a:latin typeface="Gill Sans"/>
                <a:cs typeface="Gill Sans"/>
              </a:rPr>
              <a:t> </a:t>
            </a:r>
            <a:r>
              <a:rPr sz="3000" dirty="0">
                <a:latin typeface="Gill Sans"/>
                <a:cs typeface="Gill Sans"/>
              </a:rPr>
              <a:t>truth</a:t>
            </a:r>
            <a:endParaRPr sz="3000">
              <a:latin typeface="Gill Sans"/>
              <a:cs typeface="Gill Sans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134791"/>
            <a:ext cx="13004800" cy="63707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935896" y="3226882"/>
            <a:ext cx="2026285" cy="6186805"/>
          </a:xfrm>
          <a:custGeom>
            <a:avLst/>
            <a:gdLst/>
            <a:ahLst/>
            <a:cxnLst/>
            <a:rect l="l" t="t" r="r" b="b"/>
            <a:pathLst>
              <a:path w="2026284" h="6186805">
                <a:moveTo>
                  <a:pt x="291210" y="0"/>
                </a:moveTo>
                <a:lnTo>
                  <a:pt x="1734980" y="0"/>
                </a:lnTo>
                <a:lnTo>
                  <a:pt x="1752868" y="5"/>
                </a:lnTo>
                <a:lnTo>
                  <a:pt x="1799488" y="370"/>
                </a:lnTo>
                <a:lnTo>
                  <a:pt x="1837774" y="1987"/>
                </a:lnTo>
                <a:lnTo>
                  <a:pt x="1880831" y="7712"/>
                </a:lnTo>
                <a:lnTo>
                  <a:pt x="1926342" y="23854"/>
                </a:lnTo>
                <a:lnTo>
                  <a:pt x="1959558" y="45897"/>
                </a:lnTo>
                <a:lnTo>
                  <a:pt x="1986321" y="73656"/>
                </a:lnTo>
                <a:lnTo>
                  <a:pt x="2006150" y="106336"/>
                </a:lnTo>
                <a:lnTo>
                  <a:pt x="2018984" y="148793"/>
                </a:lnTo>
                <a:lnTo>
                  <a:pt x="2024398" y="192548"/>
                </a:lnTo>
                <a:lnTo>
                  <a:pt x="2025880" y="231360"/>
                </a:lnTo>
                <a:lnTo>
                  <a:pt x="2026188" y="278555"/>
                </a:lnTo>
                <a:lnTo>
                  <a:pt x="2026191" y="5895341"/>
                </a:lnTo>
                <a:lnTo>
                  <a:pt x="2026185" y="5913230"/>
                </a:lnTo>
                <a:lnTo>
                  <a:pt x="2025820" y="5959849"/>
                </a:lnTo>
                <a:lnTo>
                  <a:pt x="2024203" y="5998135"/>
                </a:lnTo>
                <a:lnTo>
                  <a:pt x="2018478" y="6041193"/>
                </a:lnTo>
                <a:lnTo>
                  <a:pt x="2002335" y="6086704"/>
                </a:lnTo>
                <a:lnTo>
                  <a:pt x="1980293" y="6119919"/>
                </a:lnTo>
                <a:lnTo>
                  <a:pt x="1952533" y="6146683"/>
                </a:lnTo>
                <a:lnTo>
                  <a:pt x="1919854" y="6166511"/>
                </a:lnTo>
                <a:lnTo>
                  <a:pt x="1877397" y="6179345"/>
                </a:lnTo>
                <a:lnTo>
                  <a:pt x="1833641" y="6184760"/>
                </a:lnTo>
                <a:lnTo>
                  <a:pt x="1794830" y="6186242"/>
                </a:lnTo>
                <a:lnTo>
                  <a:pt x="1747635" y="6186549"/>
                </a:lnTo>
                <a:lnTo>
                  <a:pt x="291210" y="6186552"/>
                </a:lnTo>
                <a:lnTo>
                  <a:pt x="273321" y="6186546"/>
                </a:lnTo>
                <a:lnTo>
                  <a:pt x="226702" y="6186181"/>
                </a:lnTo>
                <a:lnTo>
                  <a:pt x="188416" y="6184564"/>
                </a:lnTo>
                <a:lnTo>
                  <a:pt x="145358" y="6178839"/>
                </a:lnTo>
                <a:lnTo>
                  <a:pt x="99847" y="6162696"/>
                </a:lnTo>
                <a:lnTo>
                  <a:pt x="66632" y="6140654"/>
                </a:lnTo>
                <a:lnTo>
                  <a:pt x="39868" y="6112895"/>
                </a:lnTo>
                <a:lnTo>
                  <a:pt x="20040" y="6080215"/>
                </a:lnTo>
                <a:lnTo>
                  <a:pt x="7206" y="6037758"/>
                </a:lnTo>
                <a:lnTo>
                  <a:pt x="1792" y="5994003"/>
                </a:lnTo>
                <a:lnTo>
                  <a:pt x="310" y="5955192"/>
                </a:lnTo>
                <a:lnTo>
                  <a:pt x="2" y="5907997"/>
                </a:lnTo>
                <a:lnTo>
                  <a:pt x="0" y="291210"/>
                </a:lnTo>
                <a:lnTo>
                  <a:pt x="5" y="273321"/>
                </a:lnTo>
                <a:lnTo>
                  <a:pt x="370" y="226702"/>
                </a:lnTo>
                <a:lnTo>
                  <a:pt x="1987" y="188416"/>
                </a:lnTo>
                <a:lnTo>
                  <a:pt x="7712" y="145358"/>
                </a:lnTo>
                <a:lnTo>
                  <a:pt x="23855" y="99847"/>
                </a:lnTo>
                <a:lnTo>
                  <a:pt x="45897" y="66632"/>
                </a:lnTo>
                <a:lnTo>
                  <a:pt x="73656" y="39869"/>
                </a:lnTo>
                <a:lnTo>
                  <a:pt x="106336" y="20040"/>
                </a:lnTo>
                <a:lnTo>
                  <a:pt x="148793" y="7206"/>
                </a:lnTo>
                <a:lnTo>
                  <a:pt x="192548" y="1792"/>
                </a:lnTo>
                <a:lnTo>
                  <a:pt x="231360" y="310"/>
                </a:lnTo>
                <a:lnTo>
                  <a:pt x="278555" y="2"/>
                </a:lnTo>
                <a:lnTo>
                  <a:pt x="291210" y="0"/>
                </a:lnTo>
                <a:close/>
              </a:path>
            </a:pathLst>
          </a:custGeom>
          <a:ln w="101599">
            <a:solidFill>
              <a:srgbClr val="0365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79400" y="457200"/>
            <a:ext cx="11547475" cy="14952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800" b="1" spc="-35" dirty="0">
                <a:latin typeface="Calibri"/>
                <a:cs typeface="Calibri"/>
              </a:rPr>
              <a:t>G</a:t>
            </a:r>
            <a:r>
              <a:rPr sz="4800" b="1" spc="-30" dirty="0">
                <a:latin typeface="Calibri"/>
                <a:cs typeface="Calibri"/>
              </a:rPr>
              <a:t>loba</a:t>
            </a:r>
            <a:r>
              <a:rPr sz="4800" b="1" spc="-15" dirty="0">
                <a:latin typeface="Calibri"/>
                <a:cs typeface="Calibri"/>
              </a:rPr>
              <a:t>l</a:t>
            </a:r>
            <a:r>
              <a:rPr sz="4800" b="1" spc="-5" dirty="0">
                <a:latin typeface="Calibri"/>
                <a:cs typeface="Calibri"/>
              </a:rPr>
              <a:t> </a:t>
            </a:r>
            <a:r>
              <a:rPr sz="4800" b="1" spc="-30" dirty="0">
                <a:latin typeface="Calibri"/>
                <a:cs typeface="Calibri"/>
              </a:rPr>
              <a:t>Solana</a:t>
            </a:r>
            <a:r>
              <a:rPr sz="4800" b="1" spc="-5" dirty="0">
                <a:latin typeface="Calibri"/>
                <a:cs typeface="Calibri"/>
              </a:rPr>
              <a:t>ceae:</a:t>
            </a:r>
            <a:endParaRPr sz="4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4800" b="1" spc="-35" dirty="0">
                <a:latin typeface="Calibri"/>
                <a:cs typeface="Calibri"/>
              </a:rPr>
              <a:t>d</a:t>
            </a:r>
            <a:r>
              <a:rPr sz="4800" b="1" spc="-15" dirty="0">
                <a:latin typeface="Calibri"/>
                <a:cs typeface="Calibri"/>
              </a:rPr>
              <a:t>i</a:t>
            </a:r>
            <a:r>
              <a:rPr sz="4800" b="1" spc="-75" dirty="0">
                <a:latin typeface="Calibri"/>
                <a:cs typeface="Calibri"/>
              </a:rPr>
              <a:t>s</a:t>
            </a:r>
            <a:r>
              <a:rPr sz="4800" b="1" spc="-70" dirty="0">
                <a:latin typeface="Calibri"/>
                <a:cs typeface="Calibri"/>
              </a:rPr>
              <a:t>t</a:t>
            </a:r>
            <a:r>
              <a:rPr sz="4800" b="1" spc="-25" dirty="0">
                <a:latin typeface="Calibri"/>
                <a:cs typeface="Calibri"/>
              </a:rPr>
              <a:t>a</a:t>
            </a:r>
            <a:r>
              <a:rPr sz="4800" b="1" spc="-35" dirty="0">
                <a:latin typeface="Calibri"/>
                <a:cs typeface="Calibri"/>
              </a:rPr>
              <a:t>n</a:t>
            </a:r>
            <a:r>
              <a:rPr sz="4800" b="1" dirty="0">
                <a:latin typeface="Calibri"/>
                <a:cs typeface="Calibri"/>
              </a:rPr>
              <a:t>ce</a:t>
            </a:r>
            <a:r>
              <a:rPr sz="4800" b="1" spc="-15" dirty="0">
                <a:latin typeface="Calibri"/>
                <a:cs typeface="Calibri"/>
              </a:rPr>
              <a:t>,</a:t>
            </a:r>
            <a:r>
              <a:rPr sz="4800" b="1" dirty="0">
                <a:latin typeface="Calibri"/>
                <a:cs typeface="Calibri"/>
              </a:rPr>
              <a:t> </a:t>
            </a:r>
            <a:r>
              <a:rPr sz="4800" b="1" spc="-35" dirty="0">
                <a:latin typeface="Calibri"/>
                <a:cs typeface="Calibri"/>
              </a:rPr>
              <a:t>B</a:t>
            </a:r>
            <a:r>
              <a:rPr sz="4800" b="1" spc="-20" dirty="0">
                <a:latin typeface="Calibri"/>
                <a:cs typeface="Calibri"/>
              </a:rPr>
              <a:t>io</a:t>
            </a:r>
            <a:r>
              <a:rPr sz="4800" b="1" spc="-55" dirty="0">
                <a:latin typeface="Calibri"/>
                <a:cs typeface="Calibri"/>
              </a:rPr>
              <a:t>g</a:t>
            </a:r>
            <a:r>
              <a:rPr sz="4800" b="1" dirty="0">
                <a:latin typeface="Calibri"/>
                <a:cs typeface="Calibri"/>
              </a:rPr>
              <a:t>e</a:t>
            </a:r>
            <a:r>
              <a:rPr sz="4800" b="1" spc="-30" dirty="0">
                <a:latin typeface="Calibri"/>
                <a:cs typeface="Calibri"/>
              </a:rPr>
              <a:t>o</a:t>
            </a:r>
            <a:r>
              <a:rPr sz="4800" b="1" spc="-5" dirty="0">
                <a:latin typeface="Calibri"/>
                <a:cs typeface="Calibri"/>
              </a:rPr>
              <a:t>g</a:t>
            </a:r>
            <a:r>
              <a:rPr sz="4800" b="1" spc="-110" dirty="0">
                <a:latin typeface="Calibri"/>
                <a:cs typeface="Calibri"/>
              </a:rPr>
              <a:t>r</a:t>
            </a:r>
            <a:r>
              <a:rPr sz="4800" b="1" spc="-25" dirty="0">
                <a:latin typeface="Calibri"/>
                <a:cs typeface="Calibri"/>
              </a:rPr>
              <a:t>a</a:t>
            </a:r>
            <a:r>
              <a:rPr sz="4800" b="1" spc="-35" dirty="0">
                <a:latin typeface="Calibri"/>
                <a:cs typeface="Calibri"/>
              </a:rPr>
              <a:t>ph</a:t>
            </a:r>
            <a:r>
              <a:rPr sz="4800" b="1" spc="-15" dirty="0">
                <a:latin typeface="Calibri"/>
                <a:cs typeface="Calibri"/>
              </a:rPr>
              <a:t>i</a:t>
            </a:r>
            <a:r>
              <a:rPr sz="4800" b="1" spc="-30" dirty="0">
                <a:latin typeface="Calibri"/>
                <a:cs typeface="Calibri"/>
              </a:rPr>
              <a:t>c</a:t>
            </a:r>
            <a:r>
              <a:rPr sz="4800" b="1" spc="-20" dirty="0">
                <a:latin typeface="Calibri"/>
                <a:cs typeface="Calibri"/>
              </a:rPr>
              <a:t>al</a:t>
            </a:r>
            <a:r>
              <a:rPr sz="4800" b="1" dirty="0">
                <a:latin typeface="Calibri"/>
                <a:cs typeface="Calibri"/>
              </a:rPr>
              <a:t> </a:t>
            </a:r>
            <a:r>
              <a:rPr sz="4800" b="1" spc="-25" dirty="0">
                <a:latin typeface="Calibri"/>
                <a:cs typeface="Calibri"/>
              </a:rPr>
              <a:t>S</a:t>
            </a:r>
            <a:r>
              <a:rPr sz="4800" b="1" spc="-70" dirty="0">
                <a:latin typeface="Calibri"/>
                <a:cs typeface="Calibri"/>
              </a:rPr>
              <a:t>t</a:t>
            </a:r>
            <a:r>
              <a:rPr sz="4800" b="1" spc="-30" dirty="0">
                <a:latin typeface="Calibri"/>
                <a:cs typeface="Calibri"/>
              </a:rPr>
              <a:t>o</a:t>
            </a:r>
            <a:r>
              <a:rPr sz="4800" b="1" dirty="0">
                <a:latin typeface="Calibri"/>
                <a:cs typeface="Calibri"/>
              </a:rPr>
              <a:t>c</a:t>
            </a:r>
            <a:r>
              <a:rPr sz="4800" b="1" spc="-35" dirty="0">
                <a:latin typeface="Calibri"/>
                <a:cs typeface="Calibri"/>
              </a:rPr>
              <a:t>h</a:t>
            </a:r>
            <a:r>
              <a:rPr sz="4800" b="1" spc="-25" dirty="0">
                <a:latin typeface="Calibri"/>
                <a:cs typeface="Calibri"/>
              </a:rPr>
              <a:t>a</a:t>
            </a:r>
            <a:r>
              <a:rPr sz="4800" b="1" spc="-75" dirty="0">
                <a:latin typeface="Calibri"/>
                <a:cs typeface="Calibri"/>
              </a:rPr>
              <a:t>s</a:t>
            </a:r>
            <a:r>
              <a:rPr lang="en-US" sz="4800" b="1" spc="360" dirty="0">
                <a:latin typeface="Calibri"/>
                <a:cs typeface="Calibri"/>
              </a:rPr>
              <a:t>ti</a:t>
            </a:r>
            <a:r>
              <a:rPr sz="4800" b="1" dirty="0">
                <a:latin typeface="Calibri"/>
                <a:cs typeface="Calibri"/>
              </a:rPr>
              <a:t>c </a:t>
            </a:r>
            <a:r>
              <a:rPr sz="4800" b="1" spc="-50" dirty="0">
                <a:latin typeface="Calibri"/>
                <a:cs typeface="Calibri"/>
              </a:rPr>
              <a:t>M</a:t>
            </a:r>
            <a:r>
              <a:rPr sz="4800" b="1" spc="-25" dirty="0">
                <a:latin typeface="Calibri"/>
                <a:cs typeface="Calibri"/>
              </a:rPr>
              <a:t>a</a:t>
            </a:r>
            <a:r>
              <a:rPr sz="4800" b="1" spc="-35" dirty="0">
                <a:latin typeface="Calibri"/>
                <a:cs typeface="Calibri"/>
              </a:rPr>
              <a:t>pp</a:t>
            </a:r>
            <a:r>
              <a:rPr sz="4800" b="1" spc="-15" dirty="0">
                <a:latin typeface="Calibri"/>
                <a:cs typeface="Calibri"/>
              </a:rPr>
              <a:t>i</a:t>
            </a:r>
            <a:r>
              <a:rPr sz="4800" b="1" spc="-35" dirty="0">
                <a:latin typeface="Calibri"/>
                <a:cs typeface="Calibri"/>
              </a:rPr>
              <a:t>n</a:t>
            </a:r>
            <a:r>
              <a:rPr sz="4800" b="1" dirty="0">
                <a:latin typeface="Calibri"/>
                <a:cs typeface="Calibri"/>
              </a:rPr>
              <a:t>g</a:t>
            </a:r>
            <a:endParaRPr sz="4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134791"/>
            <a:ext cx="13004800" cy="63707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935896" y="3226882"/>
            <a:ext cx="2026285" cy="6186805"/>
          </a:xfrm>
          <a:custGeom>
            <a:avLst/>
            <a:gdLst/>
            <a:ahLst/>
            <a:cxnLst/>
            <a:rect l="l" t="t" r="r" b="b"/>
            <a:pathLst>
              <a:path w="2026284" h="6186805">
                <a:moveTo>
                  <a:pt x="291210" y="0"/>
                </a:moveTo>
                <a:lnTo>
                  <a:pt x="1734980" y="0"/>
                </a:lnTo>
                <a:lnTo>
                  <a:pt x="1752868" y="5"/>
                </a:lnTo>
                <a:lnTo>
                  <a:pt x="1799488" y="370"/>
                </a:lnTo>
                <a:lnTo>
                  <a:pt x="1837774" y="1987"/>
                </a:lnTo>
                <a:lnTo>
                  <a:pt x="1880831" y="7712"/>
                </a:lnTo>
                <a:lnTo>
                  <a:pt x="1926342" y="23854"/>
                </a:lnTo>
                <a:lnTo>
                  <a:pt x="1959558" y="45897"/>
                </a:lnTo>
                <a:lnTo>
                  <a:pt x="1986321" y="73656"/>
                </a:lnTo>
                <a:lnTo>
                  <a:pt x="2006150" y="106336"/>
                </a:lnTo>
                <a:lnTo>
                  <a:pt x="2018984" y="148793"/>
                </a:lnTo>
                <a:lnTo>
                  <a:pt x="2024398" y="192548"/>
                </a:lnTo>
                <a:lnTo>
                  <a:pt x="2025880" y="231360"/>
                </a:lnTo>
                <a:lnTo>
                  <a:pt x="2026188" y="278555"/>
                </a:lnTo>
                <a:lnTo>
                  <a:pt x="2026191" y="5895341"/>
                </a:lnTo>
                <a:lnTo>
                  <a:pt x="2026185" y="5913230"/>
                </a:lnTo>
                <a:lnTo>
                  <a:pt x="2025820" y="5959849"/>
                </a:lnTo>
                <a:lnTo>
                  <a:pt x="2024203" y="5998135"/>
                </a:lnTo>
                <a:lnTo>
                  <a:pt x="2018478" y="6041193"/>
                </a:lnTo>
                <a:lnTo>
                  <a:pt x="2002335" y="6086704"/>
                </a:lnTo>
                <a:lnTo>
                  <a:pt x="1980293" y="6119919"/>
                </a:lnTo>
                <a:lnTo>
                  <a:pt x="1952533" y="6146683"/>
                </a:lnTo>
                <a:lnTo>
                  <a:pt x="1919854" y="6166511"/>
                </a:lnTo>
                <a:lnTo>
                  <a:pt x="1877397" y="6179345"/>
                </a:lnTo>
                <a:lnTo>
                  <a:pt x="1833641" y="6184760"/>
                </a:lnTo>
                <a:lnTo>
                  <a:pt x="1794830" y="6186242"/>
                </a:lnTo>
                <a:lnTo>
                  <a:pt x="1747635" y="6186549"/>
                </a:lnTo>
                <a:lnTo>
                  <a:pt x="291210" y="6186552"/>
                </a:lnTo>
                <a:lnTo>
                  <a:pt x="273321" y="6186546"/>
                </a:lnTo>
                <a:lnTo>
                  <a:pt x="226702" y="6186181"/>
                </a:lnTo>
                <a:lnTo>
                  <a:pt x="188416" y="6184564"/>
                </a:lnTo>
                <a:lnTo>
                  <a:pt x="145358" y="6178839"/>
                </a:lnTo>
                <a:lnTo>
                  <a:pt x="99847" y="6162696"/>
                </a:lnTo>
                <a:lnTo>
                  <a:pt x="66632" y="6140654"/>
                </a:lnTo>
                <a:lnTo>
                  <a:pt x="39868" y="6112895"/>
                </a:lnTo>
                <a:lnTo>
                  <a:pt x="20040" y="6080215"/>
                </a:lnTo>
                <a:lnTo>
                  <a:pt x="7206" y="6037758"/>
                </a:lnTo>
                <a:lnTo>
                  <a:pt x="1792" y="5994003"/>
                </a:lnTo>
                <a:lnTo>
                  <a:pt x="310" y="5955192"/>
                </a:lnTo>
                <a:lnTo>
                  <a:pt x="2" y="5907997"/>
                </a:lnTo>
                <a:lnTo>
                  <a:pt x="0" y="291210"/>
                </a:lnTo>
                <a:lnTo>
                  <a:pt x="5" y="273321"/>
                </a:lnTo>
                <a:lnTo>
                  <a:pt x="370" y="226702"/>
                </a:lnTo>
                <a:lnTo>
                  <a:pt x="1987" y="188416"/>
                </a:lnTo>
                <a:lnTo>
                  <a:pt x="7712" y="145358"/>
                </a:lnTo>
                <a:lnTo>
                  <a:pt x="23855" y="99847"/>
                </a:lnTo>
                <a:lnTo>
                  <a:pt x="45897" y="66632"/>
                </a:lnTo>
                <a:lnTo>
                  <a:pt x="73656" y="39869"/>
                </a:lnTo>
                <a:lnTo>
                  <a:pt x="106336" y="20040"/>
                </a:lnTo>
                <a:lnTo>
                  <a:pt x="148793" y="7206"/>
                </a:lnTo>
                <a:lnTo>
                  <a:pt x="192548" y="1792"/>
                </a:lnTo>
                <a:lnTo>
                  <a:pt x="231360" y="310"/>
                </a:lnTo>
                <a:lnTo>
                  <a:pt x="278555" y="2"/>
                </a:lnTo>
                <a:lnTo>
                  <a:pt x="291210" y="0"/>
                </a:lnTo>
                <a:close/>
              </a:path>
            </a:pathLst>
          </a:custGeom>
          <a:ln w="101599">
            <a:solidFill>
              <a:srgbClr val="0365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45125" y="3885677"/>
            <a:ext cx="9689231" cy="422524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14975" y="3930127"/>
            <a:ext cx="9549765" cy="4085590"/>
          </a:xfrm>
          <a:custGeom>
            <a:avLst/>
            <a:gdLst/>
            <a:ahLst/>
            <a:cxnLst/>
            <a:rect l="l" t="t" r="r" b="b"/>
            <a:pathLst>
              <a:path w="9549765" h="4085590">
                <a:moveTo>
                  <a:pt x="0" y="0"/>
                </a:moveTo>
                <a:lnTo>
                  <a:pt x="9549530" y="0"/>
                </a:lnTo>
                <a:lnTo>
                  <a:pt x="9549530" y="4085546"/>
                </a:lnTo>
                <a:lnTo>
                  <a:pt x="0" y="4085546"/>
                </a:lnTo>
                <a:lnTo>
                  <a:pt x="0" y="0"/>
                </a:lnTo>
                <a:close/>
              </a:path>
            </a:pathLst>
          </a:custGeom>
          <a:solidFill>
            <a:srgbClr val="51A7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14975" y="3930127"/>
            <a:ext cx="9549765" cy="4085590"/>
          </a:xfrm>
          <a:custGeom>
            <a:avLst/>
            <a:gdLst/>
            <a:ahLst/>
            <a:cxnLst/>
            <a:rect l="l" t="t" r="r" b="b"/>
            <a:pathLst>
              <a:path w="9549765" h="4085590">
                <a:moveTo>
                  <a:pt x="0" y="0"/>
                </a:moveTo>
                <a:lnTo>
                  <a:pt x="9549531" y="0"/>
                </a:lnTo>
                <a:lnTo>
                  <a:pt x="9549531" y="4085546"/>
                </a:lnTo>
                <a:lnTo>
                  <a:pt x="0" y="4085546"/>
                </a:lnTo>
                <a:lnTo>
                  <a:pt x="0" y="0"/>
                </a:lnTo>
                <a:close/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473200" y="4165600"/>
            <a:ext cx="8382000" cy="3632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162560">
              <a:lnSpc>
                <a:spcPct val="102400"/>
              </a:lnSpc>
            </a:pPr>
            <a:r>
              <a:rPr sz="4800" b="1" spc="-35" dirty="0">
                <a:latin typeface="Calibri"/>
                <a:cs typeface="Calibri"/>
              </a:rPr>
              <a:t>B</a:t>
            </a:r>
            <a:r>
              <a:rPr sz="4800" b="1" dirty="0">
                <a:latin typeface="Calibri"/>
                <a:cs typeface="Calibri"/>
              </a:rPr>
              <a:t>e</a:t>
            </a:r>
            <a:r>
              <a:rPr sz="4800" b="1" spc="-75" dirty="0">
                <a:latin typeface="Calibri"/>
                <a:cs typeface="Calibri"/>
              </a:rPr>
              <a:t>s</a:t>
            </a:r>
            <a:r>
              <a:rPr sz="4800" b="1" spc="-20" dirty="0">
                <a:latin typeface="Calibri"/>
                <a:cs typeface="Calibri"/>
              </a:rPr>
              <a:t>t</a:t>
            </a:r>
            <a:r>
              <a:rPr sz="4800" b="1" dirty="0">
                <a:latin typeface="Calibri"/>
                <a:cs typeface="Calibri"/>
              </a:rPr>
              <a:t> m</a:t>
            </a:r>
            <a:r>
              <a:rPr sz="4800" b="1" spc="-30" dirty="0">
                <a:latin typeface="Calibri"/>
                <a:cs typeface="Calibri"/>
              </a:rPr>
              <a:t>o</a:t>
            </a:r>
            <a:r>
              <a:rPr sz="4800" b="1" spc="-35" dirty="0">
                <a:latin typeface="Calibri"/>
                <a:cs typeface="Calibri"/>
              </a:rPr>
              <a:t>d</a:t>
            </a:r>
            <a:r>
              <a:rPr sz="4800" b="1" dirty="0">
                <a:latin typeface="Calibri"/>
                <a:cs typeface="Calibri"/>
              </a:rPr>
              <a:t>e</a:t>
            </a:r>
            <a:r>
              <a:rPr sz="4800" b="1" spc="-15" dirty="0">
                <a:latin typeface="Calibri"/>
                <a:cs typeface="Calibri"/>
              </a:rPr>
              <a:t>l:</a:t>
            </a:r>
            <a:r>
              <a:rPr sz="4800" b="1" dirty="0">
                <a:latin typeface="Calibri"/>
                <a:cs typeface="Calibri"/>
              </a:rPr>
              <a:t> </a:t>
            </a:r>
            <a:r>
              <a:rPr sz="4800" b="1" spc="-30" dirty="0">
                <a:latin typeface="Calibri"/>
                <a:cs typeface="Calibri"/>
              </a:rPr>
              <a:t>99</a:t>
            </a:r>
            <a:r>
              <a:rPr sz="4800" b="1" dirty="0">
                <a:latin typeface="Calibri"/>
                <a:cs typeface="Calibri"/>
              </a:rPr>
              <a:t>.</a:t>
            </a:r>
            <a:r>
              <a:rPr sz="4800" b="1" spc="-30" dirty="0">
                <a:latin typeface="Calibri"/>
                <a:cs typeface="Calibri"/>
              </a:rPr>
              <a:t>9</a:t>
            </a:r>
            <a:r>
              <a:rPr sz="4800" b="1" dirty="0">
                <a:latin typeface="Calibri"/>
                <a:cs typeface="Calibri"/>
              </a:rPr>
              <a:t>% </a:t>
            </a:r>
            <a:r>
              <a:rPr sz="4800" b="1" spc="-30" dirty="0">
                <a:latin typeface="Calibri"/>
                <a:cs typeface="Calibri"/>
              </a:rPr>
              <a:t>o</a:t>
            </a:r>
            <a:r>
              <a:rPr sz="4800" b="1" dirty="0">
                <a:latin typeface="Calibri"/>
                <a:cs typeface="Calibri"/>
              </a:rPr>
              <a:t>f </a:t>
            </a:r>
            <a:r>
              <a:rPr sz="4800" b="1" spc="-25" dirty="0">
                <a:latin typeface="Calibri"/>
                <a:cs typeface="Calibri"/>
              </a:rPr>
              <a:t>AI</a:t>
            </a:r>
            <a:r>
              <a:rPr sz="4800" b="1" dirty="0">
                <a:latin typeface="Calibri"/>
                <a:cs typeface="Calibri"/>
              </a:rPr>
              <a:t>C </a:t>
            </a:r>
            <a:r>
              <a:rPr sz="4800" b="1" spc="-40" dirty="0">
                <a:latin typeface="Calibri"/>
                <a:cs typeface="Calibri"/>
              </a:rPr>
              <a:t>w</a:t>
            </a:r>
            <a:r>
              <a:rPr sz="4800" b="1" dirty="0">
                <a:latin typeface="Calibri"/>
                <a:cs typeface="Calibri"/>
              </a:rPr>
              <a:t>e</a:t>
            </a:r>
            <a:r>
              <a:rPr sz="4800" b="1" spc="-15" dirty="0">
                <a:latin typeface="Calibri"/>
                <a:cs typeface="Calibri"/>
              </a:rPr>
              <a:t>i</a:t>
            </a:r>
            <a:r>
              <a:rPr sz="4800" b="1" spc="-5" dirty="0">
                <a:latin typeface="Calibri"/>
                <a:cs typeface="Calibri"/>
              </a:rPr>
              <a:t>g</a:t>
            </a:r>
            <a:r>
              <a:rPr sz="4800" b="1" spc="-75" dirty="0">
                <a:latin typeface="Calibri"/>
                <a:cs typeface="Calibri"/>
              </a:rPr>
              <a:t>h</a:t>
            </a:r>
            <a:r>
              <a:rPr sz="4800" b="1" spc="-20" dirty="0">
                <a:latin typeface="Calibri"/>
                <a:cs typeface="Calibri"/>
              </a:rPr>
              <a:t>t</a:t>
            </a:r>
            <a:r>
              <a:rPr sz="4800" b="1" spc="-15" dirty="0">
                <a:latin typeface="Calibri"/>
                <a:cs typeface="Calibri"/>
              </a:rPr>
              <a:t> </a:t>
            </a:r>
            <a:r>
              <a:rPr sz="4800" b="1" dirty="0">
                <a:latin typeface="Calibri"/>
                <a:cs typeface="Calibri"/>
              </a:rPr>
              <a:t>D</a:t>
            </a:r>
            <a:r>
              <a:rPr sz="4800" b="1" spc="-70" dirty="0">
                <a:latin typeface="Calibri"/>
                <a:cs typeface="Calibri"/>
              </a:rPr>
              <a:t>E</a:t>
            </a:r>
            <a:r>
              <a:rPr sz="4800" b="1" dirty="0">
                <a:latin typeface="Calibri"/>
                <a:cs typeface="Calibri"/>
              </a:rPr>
              <a:t>C</a:t>
            </a:r>
            <a:endParaRPr sz="4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4800" b="1" dirty="0">
                <a:latin typeface="Calibri"/>
                <a:cs typeface="Calibri"/>
              </a:rPr>
              <a:t>+ J </a:t>
            </a:r>
            <a:r>
              <a:rPr sz="4800" b="1" spc="100" dirty="0">
                <a:latin typeface="Calibri"/>
                <a:cs typeface="Calibri"/>
              </a:rPr>
              <a:t>(</a:t>
            </a:r>
            <a:r>
              <a:rPr sz="4800" b="1" dirty="0">
                <a:latin typeface="Calibri"/>
                <a:cs typeface="Calibri"/>
              </a:rPr>
              <a:t>j</a:t>
            </a:r>
            <a:r>
              <a:rPr sz="4800" b="1" spc="-35" dirty="0">
                <a:latin typeface="Calibri"/>
                <a:cs typeface="Calibri"/>
              </a:rPr>
              <a:t>u</a:t>
            </a:r>
            <a:r>
              <a:rPr sz="4800" b="1" dirty="0">
                <a:latin typeface="Calibri"/>
                <a:cs typeface="Calibri"/>
              </a:rPr>
              <a:t>m</a:t>
            </a:r>
            <a:r>
              <a:rPr sz="4800" b="1" spc="-30" dirty="0">
                <a:latin typeface="Calibri"/>
                <a:cs typeface="Calibri"/>
              </a:rPr>
              <a:t>p</a:t>
            </a:r>
            <a:r>
              <a:rPr sz="4800" b="1" dirty="0">
                <a:latin typeface="Calibri"/>
                <a:cs typeface="Calibri"/>
              </a:rPr>
              <a:t> </a:t>
            </a:r>
            <a:r>
              <a:rPr sz="4800" b="1" spc="-35" dirty="0">
                <a:latin typeface="Calibri"/>
                <a:cs typeface="Calibri"/>
              </a:rPr>
              <a:t>d</a:t>
            </a:r>
            <a:r>
              <a:rPr sz="4800" b="1" spc="-15" dirty="0">
                <a:latin typeface="Calibri"/>
                <a:cs typeface="Calibri"/>
              </a:rPr>
              <a:t>i</a:t>
            </a:r>
            <a:r>
              <a:rPr sz="4800" b="1" spc="-30" dirty="0">
                <a:latin typeface="Calibri"/>
                <a:cs typeface="Calibri"/>
              </a:rPr>
              <a:t>sp</a:t>
            </a:r>
            <a:r>
              <a:rPr sz="4800" b="1" dirty="0">
                <a:latin typeface="Calibri"/>
                <a:cs typeface="Calibri"/>
              </a:rPr>
              <a:t>e</a:t>
            </a:r>
            <a:r>
              <a:rPr sz="4800" b="1" spc="-60" dirty="0">
                <a:latin typeface="Calibri"/>
                <a:cs typeface="Calibri"/>
              </a:rPr>
              <a:t>r</a:t>
            </a:r>
            <a:r>
              <a:rPr sz="4800" b="1" spc="-25" dirty="0">
                <a:latin typeface="Calibri"/>
                <a:cs typeface="Calibri"/>
              </a:rPr>
              <a:t>s</a:t>
            </a:r>
            <a:r>
              <a:rPr sz="4800" b="1" spc="-20" dirty="0">
                <a:latin typeface="Calibri"/>
                <a:cs typeface="Calibri"/>
              </a:rPr>
              <a:t>al)</a:t>
            </a:r>
            <a:endParaRPr sz="4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4800" b="1" dirty="0">
                <a:latin typeface="Calibri"/>
                <a:cs typeface="Calibri"/>
              </a:rPr>
              <a:t>+ c</a:t>
            </a:r>
            <a:r>
              <a:rPr sz="4800" b="1" spc="-35" dirty="0">
                <a:latin typeface="Calibri"/>
                <a:cs typeface="Calibri"/>
              </a:rPr>
              <a:t>h</a:t>
            </a:r>
            <a:r>
              <a:rPr sz="4800" b="1" spc="-25" dirty="0">
                <a:latin typeface="Calibri"/>
                <a:cs typeface="Calibri"/>
              </a:rPr>
              <a:t>a</a:t>
            </a:r>
            <a:r>
              <a:rPr sz="4800" b="1" spc="-35" dirty="0">
                <a:latin typeface="Calibri"/>
                <a:cs typeface="Calibri"/>
              </a:rPr>
              <a:t>n</a:t>
            </a:r>
            <a:r>
              <a:rPr sz="4800" b="1" spc="-5" dirty="0">
                <a:latin typeface="Calibri"/>
                <a:cs typeface="Calibri"/>
              </a:rPr>
              <a:t>g</a:t>
            </a:r>
            <a:r>
              <a:rPr sz="4800" b="1" spc="-15" dirty="0">
                <a:latin typeface="Calibri"/>
                <a:cs typeface="Calibri"/>
              </a:rPr>
              <a:t>i</a:t>
            </a:r>
            <a:r>
              <a:rPr sz="4800" b="1" spc="-35" dirty="0">
                <a:latin typeface="Calibri"/>
                <a:cs typeface="Calibri"/>
              </a:rPr>
              <a:t>n</a:t>
            </a:r>
            <a:r>
              <a:rPr sz="4800" b="1" dirty="0">
                <a:latin typeface="Calibri"/>
                <a:cs typeface="Calibri"/>
              </a:rPr>
              <a:t>g </a:t>
            </a:r>
            <a:r>
              <a:rPr sz="4800" b="1" spc="-55" dirty="0">
                <a:latin typeface="Calibri"/>
                <a:cs typeface="Calibri"/>
              </a:rPr>
              <a:t>g</a:t>
            </a:r>
            <a:r>
              <a:rPr sz="4800" b="1" dirty="0">
                <a:latin typeface="Calibri"/>
                <a:cs typeface="Calibri"/>
              </a:rPr>
              <a:t>e</a:t>
            </a:r>
            <a:r>
              <a:rPr sz="4800" b="1" spc="-30" dirty="0">
                <a:latin typeface="Calibri"/>
                <a:cs typeface="Calibri"/>
              </a:rPr>
              <a:t>o</a:t>
            </a:r>
            <a:r>
              <a:rPr sz="4800" b="1" spc="-5" dirty="0">
                <a:latin typeface="Calibri"/>
                <a:cs typeface="Calibri"/>
              </a:rPr>
              <a:t>g</a:t>
            </a:r>
            <a:r>
              <a:rPr sz="4800" b="1" spc="-110" dirty="0">
                <a:latin typeface="Calibri"/>
                <a:cs typeface="Calibri"/>
              </a:rPr>
              <a:t>r</a:t>
            </a:r>
            <a:r>
              <a:rPr sz="4800" b="1" spc="-25" dirty="0">
                <a:latin typeface="Calibri"/>
                <a:cs typeface="Calibri"/>
              </a:rPr>
              <a:t>a</a:t>
            </a:r>
            <a:r>
              <a:rPr sz="4800" b="1" spc="-35" dirty="0">
                <a:latin typeface="Calibri"/>
                <a:cs typeface="Calibri"/>
              </a:rPr>
              <a:t>p</a:t>
            </a:r>
            <a:r>
              <a:rPr sz="4800" b="1" spc="-120" dirty="0">
                <a:latin typeface="Calibri"/>
                <a:cs typeface="Calibri"/>
              </a:rPr>
              <a:t>h</a:t>
            </a:r>
            <a:r>
              <a:rPr sz="4800" b="1" spc="-25" dirty="0">
                <a:latin typeface="Calibri"/>
                <a:cs typeface="Calibri"/>
              </a:rPr>
              <a:t>y</a:t>
            </a:r>
            <a:r>
              <a:rPr sz="4800" b="1" dirty="0">
                <a:latin typeface="Calibri"/>
                <a:cs typeface="Calibri"/>
              </a:rPr>
              <a:t> </a:t>
            </a:r>
            <a:r>
              <a:rPr sz="4800" b="1" spc="-30" dirty="0">
                <a:latin typeface="Calibri"/>
                <a:cs typeface="Calibri"/>
              </a:rPr>
              <a:t>(d</a:t>
            </a:r>
            <a:r>
              <a:rPr sz="4800" b="1" spc="-15" dirty="0">
                <a:latin typeface="Calibri"/>
                <a:cs typeface="Calibri"/>
              </a:rPr>
              <a:t>i</a:t>
            </a:r>
            <a:r>
              <a:rPr sz="4800" b="1" spc="-75" dirty="0">
                <a:latin typeface="Calibri"/>
                <a:cs typeface="Calibri"/>
              </a:rPr>
              <a:t>s</a:t>
            </a:r>
            <a:r>
              <a:rPr sz="4800" b="1" spc="-70" dirty="0">
                <a:latin typeface="Calibri"/>
                <a:cs typeface="Calibri"/>
              </a:rPr>
              <a:t>t</a:t>
            </a:r>
            <a:r>
              <a:rPr sz="4800" b="1" spc="-25" dirty="0">
                <a:latin typeface="Calibri"/>
                <a:cs typeface="Calibri"/>
              </a:rPr>
              <a:t>a</a:t>
            </a:r>
            <a:r>
              <a:rPr sz="4800" b="1" spc="-35" dirty="0">
                <a:latin typeface="Calibri"/>
                <a:cs typeface="Calibri"/>
              </a:rPr>
              <a:t>n</a:t>
            </a:r>
            <a:r>
              <a:rPr sz="4800" b="1" dirty="0">
                <a:latin typeface="Calibri"/>
                <a:cs typeface="Calibri"/>
              </a:rPr>
              <a:t>ce</a:t>
            </a:r>
            <a:r>
              <a:rPr sz="4800" b="1" spc="-25" dirty="0">
                <a:latin typeface="Calibri"/>
                <a:cs typeface="Calibri"/>
              </a:rPr>
              <a:t>s</a:t>
            </a:r>
            <a:r>
              <a:rPr sz="4800" b="1" spc="-15" dirty="0">
                <a:latin typeface="Calibri"/>
                <a:cs typeface="Calibri"/>
              </a:rPr>
              <a:t>)</a:t>
            </a:r>
            <a:endParaRPr sz="4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4800" b="1" dirty="0">
                <a:latin typeface="Calibri"/>
                <a:cs typeface="Calibri"/>
              </a:rPr>
              <a:t>+ </a:t>
            </a:r>
            <a:r>
              <a:rPr sz="4800" b="1" spc="-35" dirty="0">
                <a:latin typeface="Calibri"/>
                <a:cs typeface="Calibri"/>
              </a:rPr>
              <a:t>p</a:t>
            </a:r>
            <a:r>
              <a:rPr sz="4800" b="1" spc="-25" dirty="0">
                <a:latin typeface="Calibri"/>
                <a:cs typeface="Calibri"/>
              </a:rPr>
              <a:t>a</a:t>
            </a:r>
            <a:r>
              <a:rPr sz="4800" b="1" spc="-110" dirty="0">
                <a:latin typeface="Calibri"/>
                <a:cs typeface="Calibri"/>
              </a:rPr>
              <a:t>r</a:t>
            </a:r>
            <a:r>
              <a:rPr sz="4800" b="1" spc="-25" dirty="0">
                <a:latin typeface="Calibri"/>
                <a:cs typeface="Calibri"/>
              </a:rPr>
              <a:t>a</a:t>
            </a:r>
            <a:r>
              <a:rPr sz="4800" b="1" dirty="0">
                <a:latin typeface="Calibri"/>
                <a:cs typeface="Calibri"/>
              </a:rPr>
              <a:t>m</a:t>
            </a:r>
            <a:r>
              <a:rPr sz="4800" b="1" spc="-35" dirty="0">
                <a:latin typeface="Calibri"/>
                <a:cs typeface="Calibri"/>
              </a:rPr>
              <a:t>e</a:t>
            </a:r>
            <a:r>
              <a:rPr sz="4800" b="1" spc="-80" dirty="0">
                <a:latin typeface="Calibri"/>
                <a:cs typeface="Calibri"/>
              </a:rPr>
              <a:t>t</a:t>
            </a:r>
            <a:r>
              <a:rPr sz="4800" b="1" dirty="0">
                <a:latin typeface="Calibri"/>
                <a:cs typeface="Calibri"/>
              </a:rPr>
              <a:t>er </a:t>
            </a:r>
            <a:r>
              <a:rPr sz="4800" b="1" spc="-40" dirty="0">
                <a:latin typeface="Calibri"/>
                <a:cs typeface="Calibri"/>
              </a:rPr>
              <a:t>w</a:t>
            </a:r>
            <a:r>
              <a:rPr sz="4800" b="1" dirty="0">
                <a:latin typeface="Calibri"/>
                <a:cs typeface="Calibri"/>
              </a:rPr>
              <a:t>e</a:t>
            </a:r>
            <a:r>
              <a:rPr sz="4800" b="1" spc="-15" dirty="0">
                <a:latin typeface="Calibri"/>
                <a:cs typeface="Calibri"/>
              </a:rPr>
              <a:t>i</a:t>
            </a:r>
            <a:r>
              <a:rPr sz="4800" b="1" spc="-5" dirty="0">
                <a:latin typeface="Calibri"/>
                <a:cs typeface="Calibri"/>
              </a:rPr>
              <a:t>g</a:t>
            </a:r>
            <a:r>
              <a:rPr sz="4800" b="1" spc="-75" dirty="0">
                <a:latin typeface="Calibri"/>
                <a:cs typeface="Calibri"/>
              </a:rPr>
              <a:t>h</a:t>
            </a:r>
            <a:r>
              <a:rPr sz="4800" b="1" spc="360" dirty="0">
                <a:latin typeface="Calibri"/>
                <a:cs typeface="Calibri"/>
              </a:rPr>
              <a:t>3</a:t>
            </a:r>
            <a:r>
              <a:rPr sz="4800" b="1" spc="-35" dirty="0">
                <a:latin typeface="Calibri"/>
                <a:cs typeface="Calibri"/>
              </a:rPr>
              <a:t>n</a:t>
            </a:r>
            <a:r>
              <a:rPr sz="4800" b="1" dirty="0">
                <a:latin typeface="Calibri"/>
                <a:cs typeface="Calibri"/>
              </a:rPr>
              <a:t>g </a:t>
            </a:r>
            <a:r>
              <a:rPr sz="4800" b="1" spc="-35" dirty="0">
                <a:latin typeface="Calibri"/>
                <a:cs typeface="Calibri"/>
              </a:rPr>
              <a:t>d</a:t>
            </a:r>
            <a:r>
              <a:rPr sz="4800" b="1" spc="-15" dirty="0">
                <a:latin typeface="Calibri"/>
                <a:cs typeface="Calibri"/>
              </a:rPr>
              <a:t>i</a:t>
            </a:r>
            <a:r>
              <a:rPr sz="4800" b="1" spc="-75" dirty="0">
                <a:latin typeface="Calibri"/>
                <a:cs typeface="Calibri"/>
              </a:rPr>
              <a:t>s</a:t>
            </a:r>
            <a:r>
              <a:rPr sz="4800" b="1" spc="-70" dirty="0">
                <a:latin typeface="Calibri"/>
                <a:cs typeface="Calibri"/>
              </a:rPr>
              <a:t>t</a:t>
            </a:r>
            <a:r>
              <a:rPr sz="4800" b="1" spc="-25" dirty="0">
                <a:latin typeface="Calibri"/>
                <a:cs typeface="Calibri"/>
              </a:rPr>
              <a:t>a</a:t>
            </a:r>
            <a:r>
              <a:rPr sz="4800" b="1" spc="-35" dirty="0">
                <a:latin typeface="Calibri"/>
                <a:cs typeface="Calibri"/>
              </a:rPr>
              <a:t>n</a:t>
            </a:r>
            <a:r>
              <a:rPr sz="4800" b="1" dirty="0">
                <a:latin typeface="Calibri"/>
                <a:cs typeface="Calibri"/>
              </a:rPr>
              <a:t>ce</a:t>
            </a:r>
            <a:endParaRPr sz="4800" dirty="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68630" y="8523408"/>
            <a:ext cx="12836525" cy="123825"/>
          </a:xfrm>
          <a:custGeom>
            <a:avLst/>
            <a:gdLst/>
            <a:ahLst/>
            <a:cxnLst/>
            <a:rect l="l" t="t" r="r" b="b"/>
            <a:pathLst>
              <a:path w="12836525" h="123825">
                <a:moveTo>
                  <a:pt x="0" y="0"/>
                </a:moveTo>
                <a:lnTo>
                  <a:pt x="12667541" y="0"/>
                </a:lnTo>
                <a:lnTo>
                  <a:pt x="12682269" y="604"/>
                </a:lnTo>
                <a:lnTo>
                  <a:pt x="12724257" y="9297"/>
                </a:lnTo>
                <a:lnTo>
                  <a:pt x="12761950" y="27304"/>
                </a:lnTo>
                <a:lnTo>
                  <a:pt x="12794058" y="53335"/>
                </a:lnTo>
                <a:lnTo>
                  <a:pt x="12819292" y="86103"/>
                </a:lnTo>
                <a:lnTo>
                  <a:pt x="12831659" y="111053"/>
                </a:lnTo>
                <a:lnTo>
                  <a:pt x="12836169" y="123769"/>
                </a:lnTo>
              </a:path>
            </a:pathLst>
          </a:custGeom>
          <a:ln w="101599">
            <a:solidFill>
              <a:srgbClr val="0365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8752746"/>
            <a:ext cx="13004800" cy="124460"/>
          </a:xfrm>
          <a:custGeom>
            <a:avLst/>
            <a:gdLst/>
            <a:ahLst/>
            <a:cxnLst/>
            <a:rect l="l" t="t" r="r" b="b"/>
            <a:pathLst>
              <a:path w="13004800" h="124459">
                <a:moveTo>
                  <a:pt x="13004799" y="0"/>
                </a:moveTo>
                <a:lnTo>
                  <a:pt x="12985587" y="41788"/>
                </a:lnTo>
                <a:lnTo>
                  <a:pt x="12959555" y="73895"/>
                </a:lnTo>
                <a:lnTo>
                  <a:pt x="12926787" y="99129"/>
                </a:lnTo>
                <a:lnTo>
                  <a:pt x="12888573" y="116200"/>
                </a:lnTo>
                <a:lnTo>
                  <a:pt x="12846201" y="123818"/>
                </a:lnTo>
                <a:lnTo>
                  <a:pt x="12836172" y="124098"/>
                </a:lnTo>
                <a:lnTo>
                  <a:pt x="168630" y="124098"/>
                </a:lnTo>
                <a:lnTo>
                  <a:pt x="125497" y="118796"/>
                </a:lnTo>
                <a:lnTo>
                  <a:pt x="86229" y="103751"/>
                </a:lnTo>
                <a:lnTo>
                  <a:pt x="52117" y="80251"/>
                </a:lnTo>
                <a:lnTo>
                  <a:pt x="24449" y="49585"/>
                </a:lnTo>
                <a:lnTo>
                  <a:pt x="4514" y="13043"/>
                </a:lnTo>
                <a:lnTo>
                  <a:pt x="0" y="313"/>
                </a:lnTo>
              </a:path>
            </a:pathLst>
          </a:custGeom>
          <a:ln w="101600">
            <a:solidFill>
              <a:srgbClr val="0365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0" y="8523408"/>
            <a:ext cx="168910" cy="124460"/>
          </a:xfrm>
          <a:custGeom>
            <a:avLst/>
            <a:gdLst/>
            <a:ahLst/>
            <a:cxnLst/>
            <a:rect l="l" t="t" r="r" b="b"/>
            <a:pathLst>
              <a:path w="168910" h="124459">
                <a:moveTo>
                  <a:pt x="0" y="124116"/>
                </a:moveTo>
                <a:lnTo>
                  <a:pt x="19217" y="82309"/>
                </a:lnTo>
                <a:lnTo>
                  <a:pt x="45249" y="50201"/>
                </a:lnTo>
                <a:lnTo>
                  <a:pt x="78017" y="24968"/>
                </a:lnTo>
                <a:lnTo>
                  <a:pt x="116231" y="7897"/>
                </a:lnTo>
                <a:lnTo>
                  <a:pt x="158603" y="279"/>
                </a:lnTo>
                <a:lnTo>
                  <a:pt x="168630" y="0"/>
                </a:lnTo>
              </a:path>
            </a:pathLst>
          </a:custGeom>
          <a:ln w="101600">
            <a:solidFill>
              <a:srgbClr val="0365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79400" y="457200"/>
            <a:ext cx="11547475" cy="14952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800" b="1" spc="-35" dirty="0">
                <a:latin typeface="Calibri"/>
                <a:cs typeface="Calibri"/>
              </a:rPr>
              <a:t>G</a:t>
            </a:r>
            <a:r>
              <a:rPr sz="4800" b="1" spc="-30" dirty="0">
                <a:latin typeface="Calibri"/>
                <a:cs typeface="Calibri"/>
              </a:rPr>
              <a:t>loba</a:t>
            </a:r>
            <a:r>
              <a:rPr sz="4800" b="1" spc="-15" dirty="0">
                <a:latin typeface="Calibri"/>
                <a:cs typeface="Calibri"/>
              </a:rPr>
              <a:t>l</a:t>
            </a:r>
            <a:r>
              <a:rPr sz="4800" b="1" spc="-5" dirty="0">
                <a:latin typeface="Calibri"/>
                <a:cs typeface="Calibri"/>
              </a:rPr>
              <a:t> </a:t>
            </a:r>
            <a:r>
              <a:rPr sz="4800" b="1" spc="-30" dirty="0">
                <a:latin typeface="Calibri"/>
                <a:cs typeface="Calibri"/>
              </a:rPr>
              <a:t>Solana</a:t>
            </a:r>
            <a:r>
              <a:rPr sz="4800" b="1" spc="-5" dirty="0">
                <a:latin typeface="Calibri"/>
                <a:cs typeface="Calibri"/>
              </a:rPr>
              <a:t>ceae:</a:t>
            </a:r>
            <a:endParaRPr sz="4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4800" b="1" spc="-35" dirty="0">
                <a:latin typeface="Calibri"/>
                <a:cs typeface="Calibri"/>
              </a:rPr>
              <a:t>d</a:t>
            </a:r>
            <a:r>
              <a:rPr sz="4800" b="1" spc="-15" dirty="0">
                <a:latin typeface="Calibri"/>
                <a:cs typeface="Calibri"/>
              </a:rPr>
              <a:t>i</a:t>
            </a:r>
            <a:r>
              <a:rPr sz="4800" b="1" spc="-75" dirty="0">
                <a:latin typeface="Calibri"/>
                <a:cs typeface="Calibri"/>
              </a:rPr>
              <a:t>s</a:t>
            </a:r>
            <a:r>
              <a:rPr sz="4800" b="1" spc="-70" dirty="0">
                <a:latin typeface="Calibri"/>
                <a:cs typeface="Calibri"/>
              </a:rPr>
              <a:t>t</a:t>
            </a:r>
            <a:r>
              <a:rPr sz="4800" b="1" spc="-25" dirty="0">
                <a:latin typeface="Calibri"/>
                <a:cs typeface="Calibri"/>
              </a:rPr>
              <a:t>a</a:t>
            </a:r>
            <a:r>
              <a:rPr sz="4800" b="1" spc="-35" dirty="0">
                <a:latin typeface="Calibri"/>
                <a:cs typeface="Calibri"/>
              </a:rPr>
              <a:t>n</a:t>
            </a:r>
            <a:r>
              <a:rPr sz="4800" b="1" dirty="0">
                <a:latin typeface="Calibri"/>
                <a:cs typeface="Calibri"/>
              </a:rPr>
              <a:t>ce</a:t>
            </a:r>
            <a:r>
              <a:rPr sz="4800" b="1" spc="-15" dirty="0">
                <a:latin typeface="Calibri"/>
                <a:cs typeface="Calibri"/>
              </a:rPr>
              <a:t>,</a:t>
            </a:r>
            <a:r>
              <a:rPr sz="4800" b="1" dirty="0">
                <a:latin typeface="Calibri"/>
                <a:cs typeface="Calibri"/>
              </a:rPr>
              <a:t> </a:t>
            </a:r>
            <a:r>
              <a:rPr sz="4800" b="1" spc="-35" dirty="0">
                <a:latin typeface="Calibri"/>
                <a:cs typeface="Calibri"/>
              </a:rPr>
              <a:t>B</a:t>
            </a:r>
            <a:r>
              <a:rPr sz="4800" b="1" spc="-20" dirty="0">
                <a:latin typeface="Calibri"/>
                <a:cs typeface="Calibri"/>
              </a:rPr>
              <a:t>io</a:t>
            </a:r>
            <a:r>
              <a:rPr sz="4800" b="1" spc="-55" dirty="0">
                <a:latin typeface="Calibri"/>
                <a:cs typeface="Calibri"/>
              </a:rPr>
              <a:t>g</a:t>
            </a:r>
            <a:r>
              <a:rPr sz="4800" b="1" dirty="0">
                <a:latin typeface="Calibri"/>
                <a:cs typeface="Calibri"/>
              </a:rPr>
              <a:t>e</a:t>
            </a:r>
            <a:r>
              <a:rPr sz="4800" b="1" spc="-30" dirty="0">
                <a:latin typeface="Calibri"/>
                <a:cs typeface="Calibri"/>
              </a:rPr>
              <a:t>o</a:t>
            </a:r>
            <a:r>
              <a:rPr sz="4800" b="1" spc="-5" dirty="0">
                <a:latin typeface="Calibri"/>
                <a:cs typeface="Calibri"/>
              </a:rPr>
              <a:t>g</a:t>
            </a:r>
            <a:r>
              <a:rPr sz="4800" b="1" spc="-110" dirty="0">
                <a:latin typeface="Calibri"/>
                <a:cs typeface="Calibri"/>
              </a:rPr>
              <a:t>r</a:t>
            </a:r>
            <a:r>
              <a:rPr sz="4800" b="1" spc="-25" dirty="0">
                <a:latin typeface="Calibri"/>
                <a:cs typeface="Calibri"/>
              </a:rPr>
              <a:t>a</a:t>
            </a:r>
            <a:r>
              <a:rPr sz="4800" b="1" spc="-35" dirty="0">
                <a:latin typeface="Calibri"/>
                <a:cs typeface="Calibri"/>
              </a:rPr>
              <a:t>ph</a:t>
            </a:r>
            <a:r>
              <a:rPr sz="4800" b="1" spc="-15" dirty="0">
                <a:latin typeface="Calibri"/>
                <a:cs typeface="Calibri"/>
              </a:rPr>
              <a:t>i</a:t>
            </a:r>
            <a:r>
              <a:rPr sz="4800" b="1" spc="-30" dirty="0">
                <a:latin typeface="Calibri"/>
                <a:cs typeface="Calibri"/>
              </a:rPr>
              <a:t>c</a:t>
            </a:r>
            <a:r>
              <a:rPr sz="4800" b="1" spc="-20" dirty="0">
                <a:latin typeface="Calibri"/>
                <a:cs typeface="Calibri"/>
              </a:rPr>
              <a:t>al</a:t>
            </a:r>
            <a:r>
              <a:rPr sz="4800" b="1" dirty="0">
                <a:latin typeface="Calibri"/>
                <a:cs typeface="Calibri"/>
              </a:rPr>
              <a:t> </a:t>
            </a:r>
            <a:r>
              <a:rPr sz="4800" b="1" spc="-25" dirty="0">
                <a:latin typeface="Calibri"/>
                <a:cs typeface="Calibri"/>
              </a:rPr>
              <a:t>S</a:t>
            </a:r>
            <a:r>
              <a:rPr sz="4800" b="1" spc="-70" dirty="0">
                <a:latin typeface="Calibri"/>
                <a:cs typeface="Calibri"/>
              </a:rPr>
              <a:t>t</a:t>
            </a:r>
            <a:r>
              <a:rPr sz="4800" b="1" spc="-30" dirty="0">
                <a:latin typeface="Calibri"/>
                <a:cs typeface="Calibri"/>
              </a:rPr>
              <a:t>o</a:t>
            </a:r>
            <a:r>
              <a:rPr sz="4800" b="1" dirty="0">
                <a:latin typeface="Calibri"/>
                <a:cs typeface="Calibri"/>
              </a:rPr>
              <a:t>c</a:t>
            </a:r>
            <a:r>
              <a:rPr sz="4800" b="1" spc="-35" dirty="0">
                <a:latin typeface="Calibri"/>
                <a:cs typeface="Calibri"/>
              </a:rPr>
              <a:t>h</a:t>
            </a:r>
            <a:r>
              <a:rPr sz="4800" b="1" spc="-25" dirty="0">
                <a:latin typeface="Calibri"/>
                <a:cs typeface="Calibri"/>
              </a:rPr>
              <a:t>a</a:t>
            </a:r>
            <a:r>
              <a:rPr sz="4800" b="1" spc="-75" dirty="0">
                <a:latin typeface="Calibri"/>
                <a:cs typeface="Calibri"/>
              </a:rPr>
              <a:t>s</a:t>
            </a:r>
            <a:r>
              <a:rPr lang="en-US" sz="4800" b="1" spc="360" dirty="0">
                <a:latin typeface="Calibri"/>
                <a:cs typeface="Calibri"/>
              </a:rPr>
              <a:t>ti</a:t>
            </a:r>
            <a:r>
              <a:rPr sz="4800" b="1" dirty="0">
                <a:latin typeface="Calibri"/>
                <a:cs typeface="Calibri"/>
              </a:rPr>
              <a:t>c </a:t>
            </a:r>
            <a:r>
              <a:rPr sz="4800" b="1" spc="-50" dirty="0">
                <a:latin typeface="Calibri"/>
                <a:cs typeface="Calibri"/>
              </a:rPr>
              <a:t>M</a:t>
            </a:r>
            <a:r>
              <a:rPr sz="4800" b="1" spc="-25" dirty="0">
                <a:latin typeface="Calibri"/>
                <a:cs typeface="Calibri"/>
              </a:rPr>
              <a:t>a</a:t>
            </a:r>
            <a:r>
              <a:rPr sz="4800" b="1" spc="-35" dirty="0">
                <a:latin typeface="Calibri"/>
                <a:cs typeface="Calibri"/>
              </a:rPr>
              <a:t>pp</a:t>
            </a:r>
            <a:r>
              <a:rPr sz="4800" b="1" spc="-15" dirty="0">
                <a:latin typeface="Calibri"/>
                <a:cs typeface="Calibri"/>
              </a:rPr>
              <a:t>i</a:t>
            </a:r>
            <a:r>
              <a:rPr sz="4800" b="1" spc="-35" dirty="0">
                <a:latin typeface="Calibri"/>
                <a:cs typeface="Calibri"/>
              </a:rPr>
              <a:t>n</a:t>
            </a:r>
            <a:r>
              <a:rPr sz="4800" b="1" dirty="0">
                <a:latin typeface="Calibri"/>
                <a:cs typeface="Calibri"/>
              </a:rPr>
              <a:t>g</a:t>
            </a:r>
            <a:endParaRPr sz="4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9400" y="457200"/>
            <a:ext cx="11547475" cy="14952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800" b="1" spc="-35" dirty="0">
                <a:latin typeface="Calibri"/>
                <a:cs typeface="Calibri"/>
              </a:rPr>
              <a:t>G</a:t>
            </a:r>
            <a:r>
              <a:rPr sz="4800" b="1" spc="-30" dirty="0">
                <a:latin typeface="Calibri"/>
                <a:cs typeface="Calibri"/>
              </a:rPr>
              <a:t>loba</a:t>
            </a:r>
            <a:r>
              <a:rPr sz="4800" b="1" spc="-15" dirty="0">
                <a:latin typeface="Calibri"/>
                <a:cs typeface="Calibri"/>
              </a:rPr>
              <a:t>l</a:t>
            </a:r>
            <a:r>
              <a:rPr sz="4800" b="1" spc="-5" dirty="0">
                <a:latin typeface="Calibri"/>
                <a:cs typeface="Calibri"/>
              </a:rPr>
              <a:t> </a:t>
            </a:r>
            <a:r>
              <a:rPr sz="4800" b="1" spc="-30" dirty="0">
                <a:latin typeface="Calibri"/>
                <a:cs typeface="Calibri"/>
              </a:rPr>
              <a:t>Solana</a:t>
            </a:r>
            <a:r>
              <a:rPr sz="4800" b="1" spc="-5" dirty="0">
                <a:latin typeface="Calibri"/>
                <a:cs typeface="Calibri"/>
              </a:rPr>
              <a:t>ceae:</a:t>
            </a:r>
            <a:endParaRPr sz="4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4800" b="1" spc="-35" dirty="0">
                <a:latin typeface="Calibri"/>
                <a:cs typeface="Calibri"/>
              </a:rPr>
              <a:t>d</a:t>
            </a:r>
            <a:r>
              <a:rPr sz="4800" b="1" spc="-15" dirty="0">
                <a:latin typeface="Calibri"/>
                <a:cs typeface="Calibri"/>
              </a:rPr>
              <a:t>i</a:t>
            </a:r>
            <a:r>
              <a:rPr sz="4800" b="1" spc="-75" dirty="0">
                <a:latin typeface="Calibri"/>
                <a:cs typeface="Calibri"/>
              </a:rPr>
              <a:t>s</a:t>
            </a:r>
            <a:r>
              <a:rPr sz="4800" b="1" spc="-70" dirty="0">
                <a:latin typeface="Calibri"/>
                <a:cs typeface="Calibri"/>
              </a:rPr>
              <a:t>t</a:t>
            </a:r>
            <a:r>
              <a:rPr sz="4800" b="1" spc="-25" dirty="0">
                <a:latin typeface="Calibri"/>
                <a:cs typeface="Calibri"/>
              </a:rPr>
              <a:t>a</a:t>
            </a:r>
            <a:r>
              <a:rPr sz="4800" b="1" spc="-35" dirty="0">
                <a:latin typeface="Calibri"/>
                <a:cs typeface="Calibri"/>
              </a:rPr>
              <a:t>n</a:t>
            </a:r>
            <a:r>
              <a:rPr sz="4800" b="1" dirty="0">
                <a:latin typeface="Calibri"/>
                <a:cs typeface="Calibri"/>
              </a:rPr>
              <a:t>ce</a:t>
            </a:r>
            <a:r>
              <a:rPr sz="4800" b="1" spc="-15" dirty="0">
                <a:latin typeface="Calibri"/>
                <a:cs typeface="Calibri"/>
              </a:rPr>
              <a:t>,</a:t>
            </a:r>
            <a:r>
              <a:rPr sz="4800" b="1" dirty="0">
                <a:latin typeface="Calibri"/>
                <a:cs typeface="Calibri"/>
              </a:rPr>
              <a:t> </a:t>
            </a:r>
            <a:r>
              <a:rPr sz="4800" b="1" spc="-35" dirty="0">
                <a:latin typeface="Calibri"/>
                <a:cs typeface="Calibri"/>
              </a:rPr>
              <a:t>B</a:t>
            </a:r>
            <a:r>
              <a:rPr sz="4800" b="1" spc="-20" dirty="0">
                <a:latin typeface="Calibri"/>
                <a:cs typeface="Calibri"/>
              </a:rPr>
              <a:t>io</a:t>
            </a:r>
            <a:r>
              <a:rPr sz="4800" b="1" spc="-55" dirty="0">
                <a:latin typeface="Calibri"/>
                <a:cs typeface="Calibri"/>
              </a:rPr>
              <a:t>g</a:t>
            </a:r>
            <a:r>
              <a:rPr sz="4800" b="1" dirty="0">
                <a:latin typeface="Calibri"/>
                <a:cs typeface="Calibri"/>
              </a:rPr>
              <a:t>e</a:t>
            </a:r>
            <a:r>
              <a:rPr sz="4800" b="1" spc="-30" dirty="0">
                <a:latin typeface="Calibri"/>
                <a:cs typeface="Calibri"/>
              </a:rPr>
              <a:t>o</a:t>
            </a:r>
            <a:r>
              <a:rPr sz="4800" b="1" spc="-5" dirty="0">
                <a:latin typeface="Calibri"/>
                <a:cs typeface="Calibri"/>
              </a:rPr>
              <a:t>g</a:t>
            </a:r>
            <a:r>
              <a:rPr sz="4800" b="1" spc="-110" dirty="0">
                <a:latin typeface="Calibri"/>
                <a:cs typeface="Calibri"/>
              </a:rPr>
              <a:t>r</a:t>
            </a:r>
            <a:r>
              <a:rPr sz="4800" b="1" spc="-25" dirty="0">
                <a:latin typeface="Calibri"/>
                <a:cs typeface="Calibri"/>
              </a:rPr>
              <a:t>a</a:t>
            </a:r>
            <a:r>
              <a:rPr sz="4800" b="1" spc="-35" dirty="0">
                <a:latin typeface="Calibri"/>
                <a:cs typeface="Calibri"/>
              </a:rPr>
              <a:t>ph</a:t>
            </a:r>
            <a:r>
              <a:rPr sz="4800" b="1" spc="-15" dirty="0">
                <a:latin typeface="Calibri"/>
                <a:cs typeface="Calibri"/>
              </a:rPr>
              <a:t>i</a:t>
            </a:r>
            <a:r>
              <a:rPr sz="4800" b="1" spc="-30" dirty="0">
                <a:latin typeface="Calibri"/>
                <a:cs typeface="Calibri"/>
              </a:rPr>
              <a:t>c</a:t>
            </a:r>
            <a:r>
              <a:rPr sz="4800" b="1" spc="-20" dirty="0">
                <a:latin typeface="Calibri"/>
                <a:cs typeface="Calibri"/>
              </a:rPr>
              <a:t>al</a:t>
            </a:r>
            <a:r>
              <a:rPr sz="4800" b="1" dirty="0">
                <a:latin typeface="Calibri"/>
                <a:cs typeface="Calibri"/>
              </a:rPr>
              <a:t> </a:t>
            </a:r>
            <a:r>
              <a:rPr sz="4800" b="1" spc="-25" dirty="0">
                <a:latin typeface="Calibri"/>
                <a:cs typeface="Calibri"/>
              </a:rPr>
              <a:t>S</a:t>
            </a:r>
            <a:r>
              <a:rPr sz="4800" b="1" spc="-70" dirty="0">
                <a:latin typeface="Calibri"/>
                <a:cs typeface="Calibri"/>
              </a:rPr>
              <a:t>t</a:t>
            </a:r>
            <a:r>
              <a:rPr sz="4800" b="1" spc="-30" dirty="0">
                <a:latin typeface="Calibri"/>
                <a:cs typeface="Calibri"/>
              </a:rPr>
              <a:t>o</a:t>
            </a:r>
            <a:r>
              <a:rPr sz="4800" b="1" dirty="0">
                <a:latin typeface="Calibri"/>
                <a:cs typeface="Calibri"/>
              </a:rPr>
              <a:t>c</a:t>
            </a:r>
            <a:r>
              <a:rPr sz="4800" b="1" spc="-35" dirty="0">
                <a:latin typeface="Calibri"/>
                <a:cs typeface="Calibri"/>
              </a:rPr>
              <a:t>h</a:t>
            </a:r>
            <a:r>
              <a:rPr sz="4800" b="1" spc="-25" dirty="0">
                <a:latin typeface="Calibri"/>
                <a:cs typeface="Calibri"/>
              </a:rPr>
              <a:t>a</a:t>
            </a:r>
            <a:r>
              <a:rPr sz="4800" b="1" spc="-75" dirty="0">
                <a:latin typeface="Calibri"/>
                <a:cs typeface="Calibri"/>
              </a:rPr>
              <a:t>s</a:t>
            </a:r>
            <a:r>
              <a:rPr lang="en-US" sz="4800" b="1" spc="360" dirty="0">
                <a:latin typeface="Calibri"/>
                <a:cs typeface="Calibri"/>
              </a:rPr>
              <a:t>ti</a:t>
            </a:r>
            <a:r>
              <a:rPr sz="4800" b="1" dirty="0">
                <a:latin typeface="Calibri"/>
                <a:cs typeface="Calibri"/>
              </a:rPr>
              <a:t>c </a:t>
            </a:r>
            <a:r>
              <a:rPr sz="4800" b="1" spc="-50" dirty="0">
                <a:latin typeface="Calibri"/>
                <a:cs typeface="Calibri"/>
              </a:rPr>
              <a:t>M</a:t>
            </a:r>
            <a:r>
              <a:rPr sz="4800" b="1" spc="-25" dirty="0">
                <a:latin typeface="Calibri"/>
                <a:cs typeface="Calibri"/>
              </a:rPr>
              <a:t>a</a:t>
            </a:r>
            <a:r>
              <a:rPr sz="4800" b="1" spc="-35" dirty="0">
                <a:latin typeface="Calibri"/>
                <a:cs typeface="Calibri"/>
              </a:rPr>
              <a:t>pp</a:t>
            </a:r>
            <a:r>
              <a:rPr sz="4800" b="1" spc="-15" dirty="0">
                <a:latin typeface="Calibri"/>
                <a:cs typeface="Calibri"/>
              </a:rPr>
              <a:t>i</a:t>
            </a:r>
            <a:r>
              <a:rPr sz="4800" b="1" spc="-35" dirty="0">
                <a:latin typeface="Calibri"/>
                <a:cs typeface="Calibri"/>
              </a:rPr>
              <a:t>n</a:t>
            </a:r>
            <a:r>
              <a:rPr sz="4800" b="1" dirty="0">
                <a:latin typeface="Calibri"/>
                <a:cs typeface="Calibri"/>
              </a:rPr>
              <a:t>g</a:t>
            </a:r>
            <a:endParaRPr sz="4800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903490"/>
            <a:ext cx="7643773" cy="38880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9400" y="457200"/>
            <a:ext cx="11547475" cy="14952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800" b="1" spc="-35" dirty="0">
                <a:latin typeface="Calibri"/>
                <a:cs typeface="Calibri"/>
              </a:rPr>
              <a:t>G</a:t>
            </a:r>
            <a:r>
              <a:rPr sz="4800" b="1" spc="-30" dirty="0">
                <a:latin typeface="Calibri"/>
                <a:cs typeface="Calibri"/>
              </a:rPr>
              <a:t>loba</a:t>
            </a:r>
            <a:r>
              <a:rPr sz="4800" b="1" spc="-15" dirty="0">
                <a:latin typeface="Calibri"/>
                <a:cs typeface="Calibri"/>
              </a:rPr>
              <a:t>l</a:t>
            </a:r>
            <a:r>
              <a:rPr sz="4800" b="1" spc="-5" dirty="0">
                <a:latin typeface="Calibri"/>
                <a:cs typeface="Calibri"/>
              </a:rPr>
              <a:t> </a:t>
            </a:r>
            <a:r>
              <a:rPr sz="4800" b="1" spc="-30" dirty="0">
                <a:latin typeface="Calibri"/>
                <a:cs typeface="Calibri"/>
              </a:rPr>
              <a:t>Solana</a:t>
            </a:r>
            <a:r>
              <a:rPr sz="4800" b="1" spc="-5" dirty="0">
                <a:latin typeface="Calibri"/>
                <a:cs typeface="Calibri"/>
              </a:rPr>
              <a:t>ceae:</a:t>
            </a:r>
            <a:endParaRPr sz="4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4800" b="1" spc="-35" dirty="0">
                <a:latin typeface="Calibri"/>
                <a:cs typeface="Calibri"/>
              </a:rPr>
              <a:t>d</a:t>
            </a:r>
            <a:r>
              <a:rPr sz="4800" b="1" spc="-15" dirty="0">
                <a:latin typeface="Calibri"/>
                <a:cs typeface="Calibri"/>
              </a:rPr>
              <a:t>i</a:t>
            </a:r>
            <a:r>
              <a:rPr sz="4800" b="1" spc="-75" dirty="0">
                <a:latin typeface="Calibri"/>
                <a:cs typeface="Calibri"/>
              </a:rPr>
              <a:t>s</a:t>
            </a:r>
            <a:r>
              <a:rPr sz="4800" b="1" spc="-70" dirty="0">
                <a:latin typeface="Calibri"/>
                <a:cs typeface="Calibri"/>
              </a:rPr>
              <a:t>t</a:t>
            </a:r>
            <a:r>
              <a:rPr sz="4800" b="1" spc="-25" dirty="0">
                <a:latin typeface="Calibri"/>
                <a:cs typeface="Calibri"/>
              </a:rPr>
              <a:t>a</a:t>
            </a:r>
            <a:r>
              <a:rPr sz="4800" b="1" spc="-35" dirty="0">
                <a:latin typeface="Calibri"/>
                <a:cs typeface="Calibri"/>
              </a:rPr>
              <a:t>n</a:t>
            </a:r>
            <a:r>
              <a:rPr sz="4800" b="1" dirty="0">
                <a:latin typeface="Calibri"/>
                <a:cs typeface="Calibri"/>
              </a:rPr>
              <a:t>ce</a:t>
            </a:r>
            <a:r>
              <a:rPr sz="4800" b="1" spc="-15" dirty="0">
                <a:latin typeface="Calibri"/>
                <a:cs typeface="Calibri"/>
              </a:rPr>
              <a:t>,</a:t>
            </a:r>
            <a:r>
              <a:rPr sz="4800" b="1" dirty="0">
                <a:latin typeface="Calibri"/>
                <a:cs typeface="Calibri"/>
              </a:rPr>
              <a:t> </a:t>
            </a:r>
            <a:r>
              <a:rPr sz="4800" b="1" spc="-35" dirty="0">
                <a:latin typeface="Calibri"/>
                <a:cs typeface="Calibri"/>
              </a:rPr>
              <a:t>B</a:t>
            </a:r>
            <a:r>
              <a:rPr sz="4800" b="1" spc="-20" dirty="0">
                <a:latin typeface="Calibri"/>
                <a:cs typeface="Calibri"/>
              </a:rPr>
              <a:t>io</a:t>
            </a:r>
            <a:r>
              <a:rPr sz="4800" b="1" spc="-55" dirty="0">
                <a:latin typeface="Calibri"/>
                <a:cs typeface="Calibri"/>
              </a:rPr>
              <a:t>g</a:t>
            </a:r>
            <a:r>
              <a:rPr sz="4800" b="1" dirty="0">
                <a:latin typeface="Calibri"/>
                <a:cs typeface="Calibri"/>
              </a:rPr>
              <a:t>e</a:t>
            </a:r>
            <a:r>
              <a:rPr sz="4800" b="1" spc="-30" dirty="0">
                <a:latin typeface="Calibri"/>
                <a:cs typeface="Calibri"/>
              </a:rPr>
              <a:t>o</a:t>
            </a:r>
            <a:r>
              <a:rPr sz="4800" b="1" spc="-5" dirty="0">
                <a:latin typeface="Calibri"/>
                <a:cs typeface="Calibri"/>
              </a:rPr>
              <a:t>g</a:t>
            </a:r>
            <a:r>
              <a:rPr sz="4800" b="1" spc="-110" dirty="0">
                <a:latin typeface="Calibri"/>
                <a:cs typeface="Calibri"/>
              </a:rPr>
              <a:t>r</a:t>
            </a:r>
            <a:r>
              <a:rPr sz="4800" b="1" spc="-25" dirty="0">
                <a:latin typeface="Calibri"/>
                <a:cs typeface="Calibri"/>
              </a:rPr>
              <a:t>a</a:t>
            </a:r>
            <a:r>
              <a:rPr sz="4800" b="1" spc="-35" dirty="0">
                <a:latin typeface="Calibri"/>
                <a:cs typeface="Calibri"/>
              </a:rPr>
              <a:t>ph</a:t>
            </a:r>
            <a:r>
              <a:rPr sz="4800" b="1" spc="-15" dirty="0">
                <a:latin typeface="Calibri"/>
                <a:cs typeface="Calibri"/>
              </a:rPr>
              <a:t>i</a:t>
            </a:r>
            <a:r>
              <a:rPr sz="4800" b="1" spc="-30" dirty="0">
                <a:latin typeface="Calibri"/>
                <a:cs typeface="Calibri"/>
              </a:rPr>
              <a:t>c</a:t>
            </a:r>
            <a:r>
              <a:rPr sz="4800" b="1" spc="-20" dirty="0">
                <a:latin typeface="Calibri"/>
                <a:cs typeface="Calibri"/>
              </a:rPr>
              <a:t>al</a:t>
            </a:r>
            <a:r>
              <a:rPr sz="4800" b="1" dirty="0">
                <a:latin typeface="Calibri"/>
                <a:cs typeface="Calibri"/>
              </a:rPr>
              <a:t> </a:t>
            </a:r>
            <a:r>
              <a:rPr sz="4800" b="1" spc="-25" dirty="0">
                <a:latin typeface="Calibri"/>
                <a:cs typeface="Calibri"/>
              </a:rPr>
              <a:t>S</a:t>
            </a:r>
            <a:r>
              <a:rPr sz="4800" b="1" spc="-70" dirty="0">
                <a:latin typeface="Calibri"/>
                <a:cs typeface="Calibri"/>
              </a:rPr>
              <a:t>t</a:t>
            </a:r>
            <a:r>
              <a:rPr sz="4800" b="1" spc="-30" dirty="0">
                <a:latin typeface="Calibri"/>
                <a:cs typeface="Calibri"/>
              </a:rPr>
              <a:t>o</a:t>
            </a:r>
            <a:r>
              <a:rPr sz="4800" b="1" dirty="0">
                <a:latin typeface="Calibri"/>
                <a:cs typeface="Calibri"/>
              </a:rPr>
              <a:t>c</a:t>
            </a:r>
            <a:r>
              <a:rPr sz="4800" b="1" spc="-35" dirty="0">
                <a:latin typeface="Calibri"/>
                <a:cs typeface="Calibri"/>
              </a:rPr>
              <a:t>h</a:t>
            </a:r>
            <a:r>
              <a:rPr sz="4800" b="1" spc="-25" dirty="0">
                <a:latin typeface="Calibri"/>
                <a:cs typeface="Calibri"/>
              </a:rPr>
              <a:t>a</a:t>
            </a:r>
            <a:r>
              <a:rPr sz="4800" b="1" spc="-75" dirty="0">
                <a:latin typeface="Calibri"/>
                <a:cs typeface="Calibri"/>
              </a:rPr>
              <a:t>s</a:t>
            </a:r>
            <a:r>
              <a:rPr lang="en-US" sz="4800" b="1" spc="360" dirty="0">
                <a:latin typeface="Calibri"/>
                <a:cs typeface="Calibri"/>
              </a:rPr>
              <a:t>ti</a:t>
            </a:r>
            <a:r>
              <a:rPr sz="4800" b="1" dirty="0">
                <a:latin typeface="Calibri"/>
                <a:cs typeface="Calibri"/>
              </a:rPr>
              <a:t>c </a:t>
            </a:r>
            <a:r>
              <a:rPr sz="4800" b="1" spc="-50" dirty="0">
                <a:latin typeface="Calibri"/>
                <a:cs typeface="Calibri"/>
              </a:rPr>
              <a:t>M</a:t>
            </a:r>
            <a:r>
              <a:rPr sz="4800" b="1" spc="-25" dirty="0">
                <a:latin typeface="Calibri"/>
                <a:cs typeface="Calibri"/>
              </a:rPr>
              <a:t>a</a:t>
            </a:r>
            <a:r>
              <a:rPr sz="4800" b="1" spc="-35" dirty="0">
                <a:latin typeface="Calibri"/>
                <a:cs typeface="Calibri"/>
              </a:rPr>
              <a:t>pp</a:t>
            </a:r>
            <a:r>
              <a:rPr sz="4800" b="1" spc="-15" dirty="0">
                <a:latin typeface="Calibri"/>
                <a:cs typeface="Calibri"/>
              </a:rPr>
              <a:t>i</a:t>
            </a:r>
            <a:r>
              <a:rPr sz="4800" b="1" spc="-35" dirty="0">
                <a:latin typeface="Calibri"/>
                <a:cs typeface="Calibri"/>
              </a:rPr>
              <a:t>n</a:t>
            </a:r>
            <a:r>
              <a:rPr sz="4800" b="1" dirty="0">
                <a:latin typeface="Calibri"/>
                <a:cs typeface="Calibri"/>
              </a:rPr>
              <a:t>g</a:t>
            </a:r>
            <a:endParaRPr sz="4800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903490"/>
            <a:ext cx="7643773" cy="38880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772800" y="4916088"/>
            <a:ext cx="6942250" cy="474157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300" y="485775"/>
            <a:ext cx="12763500" cy="596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135754" algn="l"/>
                <a:tab pos="8644255" algn="l"/>
                <a:tab pos="9361805" algn="l"/>
              </a:tabLst>
            </a:pPr>
            <a:r>
              <a:rPr sz="4500" b="1" spc="-45" dirty="0">
                <a:latin typeface="Calibri"/>
                <a:cs typeface="Calibri"/>
              </a:rPr>
              <a:t>W</a:t>
            </a:r>
            <a:r>
              <a:rPr sz="4500" b="1" spc="-30" dirty="0">
                <a:latin typeface="Calibri"/>
                <a:cs typeface="Calibri"/>
              </a:rPr>
              <a:t>h</a:t>
            </a:r>
            <a:r>
              <a:rPr sz="4500" b="1" spc="-70" dirty="0">
                <a:latin typeface="Calibri"/>
                <a:cs typeface="Calibri"/>
              </a:rPr>
              <a:t>a</a:t>
            </a:r>
            <a:r>
              <a:rPr sz="4500" b="1" spc="-20" dirty="0">
                <a:latin typeface="Calibri"/>
                <a:cs typeface="Calibri"/>
              </a:rPr>
              <a:t>t</a:t>
            </a:r>
            <a:r>
              <a:rPr sz="4500" b="1" spc="-5" dirty="0">
                <a:latin typeface="Calibri"/>
                <a:cs typeface="Calibri"/>
              </a:rPr>
              <a:t> </a:t>
            </a:r>
            <a:r>
              <a:rPr sz="4500" b="1" spc="-20" dirty="0">
                <a:latin typeface="Calibri"/>
                <a:cs typeface="Calibri"/>
              </a:rPr>
              <a:t>i</a:t>
            </a:r>
            <a:r>
              <a:rPr sz="4500" b="1" dirty="0">
                <a:latin typeface="Calibri"/>
                <a:cs typeface="Calibri"/>
              </a:rPr>
              <a:t>f </a:t>
            </a:r>
            <a:r>
              <a:rPr sz="4500" b="1" spc="-25" dirty="0">
                <a:latin typeface="Calibri"/>
                <a:cs typeface="Calibri"/>
              </a:rPr>
              <a:t>di</a:t>
            </a:r>
            <a:r>
              <a:rPr sz="4500" b="1" spc="-20" dirty="0">
                <a:latin typeface="Calibri"/>
                <a:cs typeface="Calibri"/>
              </a:rPr>
              <a:t>s</a:t>
            </a:r>
            <a:r>
              <a:rPr sz="4500" b="1" spc="-30" dirty="0">
                <a:latin typeface="Calibri"/>
                <a:cs typeface="Calibri"/>
              </a:rPr>
              <a:t>p</a:t>
            </a:r>
            <a:r>
              <a:rPr sz="4500" b="1" spc="-5" dirty="0">
                <a:latin typeface="Calibri"/>
                <a:cs typeface="Calibri"/>
              </a:rPr>
              <a:t>e</a:t>
            </a:r>
            <a:r>
              <a:rPr sz="4500" b="1" spc="-55" dirty="0">
                <a:latin typeface="Calibri"/>
                <a:cs typeface="Calibri"/>
              </a:rPr>
              <a:t>r</a:t>
            </a:r>
            <a:r>
              <a:rPr sz="4500" b="1" spc="-20" dirty="0">
                <a:latin typeface="Calibri"/>
                <a:cs typeface="Calibri"/>
              </a:rPr>
              <a:t>s</a:t>
            </a:r>
            <a:r>
              <a:rPr sz="4500" b="1" spc="-30" dirty="0">
                <a:latin typeface="Calibri"/>
                <a:cs typeface="Calibri"/>
              </a:rPr>
              <a:t>a</a:t>
            </a:r>
            <a:r>
              <a:rPr sz="4500" b="1" spc="-15" dirty="0">
                <a:latin typeface="Calibri"/>
                <a:cs typeface="Calibri"/>
              </a:rPr>
              <a:t>l</a:t>
            </a:r>
            <a:r>
              <a:rPr sz="4500" b="1" dirty="0">
                <a:latin typeface="Calibri"/>
                <a:cs typeface="Calibri"/>
              </a:rPr>
              <a:t>	</a:t>
            </a:r>
            <a:r>
              <a:rPr sz="4500" b="1" spc="-25" dirty="0">
                <a:latin typeface="Calibri"/>
                <a:cs typeface="Calibri"/>
              </a:rPr>
              <a:t>ability</a:t>
            </a:r>
            <a:r>
              <a:rPr sz="4500" b="1" spc="-5" dirty="0">
                <a:latin typeface="Calibri"/>
                <a:cs typeface="Calibri"/>
              </a:rPr>
              <a:t> </a:t>
            </a:r>
            <a:r>
              <a:rPr sz="4500" b="1" spc="-30" dirty="0">
                <a:latin typeface="Calibri"/>
                <a:cs typeface="Calibri"/>
              </a:rPr>
              <a:t>d</a:t>
            </a:r>
            <a:r>
              <a:rPr sz="4500" b="1" spc="-5" dirty="0">
                <a:latin typeface="Calibri"/>
                <a:cs typeface="Calibri"/>
              </a:rPr>
              <a:t>epen</a:t>
            </a:r>
            <a:r>
              <a:rPr sz="4500" b="1" spc="-30" dirty="0">
                <a:latin typeface="Calibri"/>
                <a:cs typeface="Calibri"/>
              </a:rPr>
              <a:t>d</a:t>
            </a:r>
            <a:r>
              <a:rPr sz="4500" b="1" spc="-20" dirty="0">
                <a:latin typeface="Calibri"/>
                <a:cs typeface="Calibri"/>
              </a:rPr>
              <a:t>s</a:t>
            </a:r>
            <a:r>
              <a:rPr sz="4500" b="1" dirty="0">
                <a:latin typeface="Calibri"/>
                <a:cs typeface="Calibri"/>
              </a:rPr>
              <a:t> </a:t>
            </a:r>
            <a:r>
              <a:rPr sz="4500" b="1" spc="-30" dirty="0">
                <a:latin typeface="Calibri"/>
                <a:cs typeface="Calibri"/>
              </a:rPr>
              <a:t>o</a:t>
            </a:r>
            <a:r>
              <a:rPr sz="4500" b="1" spc="-25" dirty="0">
                <a:latin typeface="Calibri"/>
                <a:cs typeface="Calibri"/>
              </a:rPr>
              <a:t>n</a:t>
            </a:r>
            <a:r>
              <a:rPr sz="4500" b="1" dirty="0">
                <a:latin typeface="Calibri"/>
                <a:cs typeface="Calibri"/>
              </a:rPr>
              <a:t>	</a:t>
            </a:r>
            <a:r>
              <a:rPr sz="4500" b="1" spc="-30" dirty="0">
                <a:latin typeface="Calibri"/>
                <a:cs typeface="Calibri"/>
              </a:rPr>
              <a:t>a</a:t>
            </a:r>
            <a:r>
              <a:rPr sz="4500" b="1" spc="-25" dirty="0">
                <a:latin typeface="Calibri"/>
                <a:cs typeface="Calibri"/>
              </a:rPr>
              <a:t>n</a:t>
            </a:r>
            <a:r>
              <a:rPr sz="4500" b="1" dirty="0">
                <a:latin typeface="Calibri"/>
                <a:cs typeface="Calibri"/>
              </a:rPr>
              <a:t>	</a:t>
            </a:r>
            <a:r>
              <a:rPr sz="4500" b="1" spc="-25" dirty="0">
                <a:latin typeface="Calibri"/>
                <a:cs typeface="Calibri"/>
              </a:rPr>
              <a:t>e</a:t>
            </a:r>
            <a:r>
              <a:rPr sz="4500" b="1" spc="-40" dirty="0">
                <a:latin typeface="Calibri"/>
                <a:cs typeface="Calibri"/>
              </a:rPr>
              <a:t>v</a:t>
            </a:r>
            <a:r>
              <a:rPr sz="4500" b="1" spc="-25" dirty="0">
                <a:latin typeface="Calibri"/>
                <a:cs typeface="Calibri"/>
              </a:rPr>
              <a:t>olvin</a:t>
            </a:r>
            <a:r>
              <a:rPr sz="4500" b="1" dirty="0">
                <a:latin typeface="Calibri"/>
                <a:cs typeface="Calibri"/>
              </a:rPr>
              <a:t>g </a:t>
            </a:r>
            <a:r>
              <a:rPr sz="4500" b="1" spc="-25" dirty="0">
                <a:latin typeface="Calibri"/>
                <a:cs typeface="Calibri"/>
              </a:rPr>
              <a:t>t</a:t>
            </a:r>
            <a:r>
              <a:rPr sz="4500" b="1" spc="-100" dirty="0">
                <a:latin typeface="Calibri"/>
                <a:cs typeface="Calibri"/>
              </a:rPr>
              <a:t>r</a:t>
            </a:r>
            <a:r>
              <a:rPr sz="4500" b="1" spc="-25" dirty="0">
                <a:latin typeface="Calibri"/>
                <a:cs typeface="Calibri"/>
              </a:rPr>
              <a:t>ait</a:t>
            </a:r>
            <a:r>
              <a:rPr sz="4500" b="1" dirty="0">
                <a:latin typeface="Calibri"/>
                <a:cs typeface="Calibri"/>
              </a:rPr>
              <a:t>?</a:t>
            </a:r>
            <a:endParaRPr sz="4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706879"/>
            <a:ext cx="13004800" cy="63398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184900" y="8315449"/>
            <a:ext cx="6524625" cy="469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444500">
              <a:lnSpc>
                <a:spcPct val="159700"/>
              </a:lnSpc>
            </a:pPr>
            <a:r>
              <a:rPr sz="1200" spc="-10" dirty="0">
                <a:latin typeface="Helvetica"/>
                <a:cs typeface="Helvetica"/>
              </a:rPr>
              <a:t>Fence</a:t>
            </a:r>
            <a:r>
              <a:rPr sz="1200" spc="-5" dirty="0">
                <a:latin typeface="Helvetica"/>
                <a:cs typeface="Helvetica"/>
              </a:rPr>
              <a:t> </a:t>
            </a:r>
            <a:r>
              <a:rPr sz="1200" dirty="0">
                <a:latin typeface="Helvetica"/>
                <a:cs typeface="Helvetica"/>
              </a:rPr>
              <a:t>or</a:t>
            </a:r>
            <a:r>
              <a:rPr sz="1200" spc="-5" dirty="0">
                <a:latin typeface="Helvetica"/>
                <a:cs typeface="Helvetica"/>
              </a:rPr>
              <a:t> </a:t>
            </a:r>
            <a:r>
              <a:rPr sz="1200" dirty="0">
                <a:latin typeface="Helvetica"/>
                <a:cs typeface="Helvetica"/>
              </a:rPr>
              <a:t>snake-eyed</a:t>
            </a:r>
            <a:r>
              <a:rPr sz="1200" spc="-5" dirty="0">
                <a:latin typeface="Helvetica"/>
                <a:cs typeface="Helvetica"/>
              </a:rPr>
              <a:t> </a:t>
            </a:r>
            <a:r>
              <a:rPr sz="1200" dirty="0">
                <a:latin typeface="Helvetica"/>
                <a:cs typeface="Helvetica"/>
              </a:rPr>
              <a:t>skink</a:t>
            </a:r>
            <a:r>
              <a:rPr sz="1200" spc="-5" dirty="0">
                <a:latin typeface="Helvetica"/>
                <a:cs typeface="Helvetica"/>
              </a:rPr>
              <a:t> (</a:t>
            </a:r>
            <a:r>
              <a:rPr sz="1200" i="1" dirty="0">
                <a:latin typeface="Helvetica"/>
                <a:cs typeface="Helvetica"/>
              </a:rPr>
              <a:t>Cryp</a:t>
            </a:r>
            <a:r>
              <a:rPr sz="1200" i="1" spc="-5" dirty="0">
                <a:latin typeface="Helvetica"/>
                <a:cs typeface="Helvetica"/>
              </a:rPr>
              <a:t>t</a:t>
            </a:r>
            <a:r>
              <a:rPr sz="1200" i="1" dirty="0">
                <a:latin typeface="Helvetica"/>
                <a:cs typeface="Helvetica"/>
              </a:rPr>
              <a:t>oblepharus</a:t>
            </a:r>
            <a:r>
              <a:rPr sz="1200" i="1" spc="-5" dirty="0">
                <a:latin typeface="Helvetica"/>
                <a:cs typeface="Helvetica"/>
              </a:rPr>
              <a:t> </a:t>
            </a:r>
            <a:r>
              <a:rPr sz="1200" i="1" dirty="0">
                <a:latin typeface="Helvetica"/>
                <a:cs typeface="Helvetica"/>
              </a:rPr>
              <a:t>virga</a:t>
            </a:r>
            <a:r>
              <a:rPr sz="1200" i="1" spc="-5" dirty="0">
                <a:latin typeface="Helvetica"/>
                <a:cs typeface="Helvetica"/>
              </a:rPr>
              <a:t>t</a:t>
            </a:r>
            <a:r>
              <a:rPr sz="1200" i="1" dirty="0">
                <a:latin typeface="Helvetica"/>
                <a:cs typeface="Helvetica"/>
              </a:rPr>
              <a:t>u</a:t>
            </a:r>
            <a:r>
              <a:rPr sz="1200" i="1" spc="-5" dirty="0">
                <a:latin typeface="Helvetica"/>
                <a:cs typeface="Helvetica"/>
              </a:rPr>
              <a:t>s</a:t>
            </a:r>
            <a:r>
              <a:rPr sz="1200" dirty="0">
                <a:latin typeface="Helvetica"/>
                <a:cs typeface="Helvetica"/>
              </a:rPr>
              <a:t>)</a:t>
            </a:r>
            <a:r>
              <a:rPr sz="1200" spc="-5" dirty="0">
                <a:latin typeface="Helvetica"/>
                <a:cs typeface="Helvetica"/>
              </a:rPr>
              <a:t> </a:t>
            </a:r>
            <a:r>
              <a:rPr sz="1200" dirty="0">
                <a:latin typeface="Helvetica"/>
                <a:cs typeface="Helvetica"/>
              </a:rPr>
              <a:t>pho</a:t>
            </a:r>
            <a:r>
              <a:rPr sz="1200" spc="-5" dirty="0">
                <a:latin typeface="Helvetica"/>
                <a:cs typeface="Helvetica"/>
              </a:rPr>
              <a:t>t</a:t>
            </a:r>
            <a:r>
              <a:rPr sz="1200" dirty="0">
                <a:latin typeface="Helvetica"/>
                <a:cs typeface="Helvetica"/>
              </a:rPr>
              <a:t>ographed</a:t>
            </a:r>
            <a:r>
              <a:rPr sz="1200" spc="-5" dirty="0">
                <a:latin typeface="Helvetica"/>
                <a:cs typeface="Helvetica"/>
              </a:rPr>
              <a:t> </a:t>
            </a:r>
            <a:r>
              <a:rPr sz="1200" dirty="0">
                <a:latin typeface="Helvetica"/>
                <a:cs typeface="Helvetica"/>
              </a:rPr>
              <a:t>in</a:t>
            </a:r>
            <a:r>
              <a:rPr sz="1200" spc="-5" dirty="0">
                <a:latin typeface="Helvetica"/>
                <a:cs typeface="Helvetica"/>
              </a:rPr>
              <a:t> </a:t>
            </a:r>
            <a:r>
              <a:rPr sz="1200" dirty="0">
                <a:latin typeface="Helvetica"/>
                <a:cs typeface="Helvetica"/>
              </a:rPr>
              <a:t>Sydne</a:t>
            </a:r>
            <a:r>
              <a:rPr sz="1200" spc="-90" dirty="0">
                <a:latin typeface="Helvetica"/>
                <a:cs typeface="Helvetica"/>
              </a:rPr>
              <a:t>y</a:t>
            </a:r>
            <a:r>
              <a:rPr sz="1200" spc="-5" dirty="0">
                <a:latin typeface="Helvetica"/>
                <a:cs typeface="Helvetica"/>
              </a:rPr>
              <a:t>,</a:t>
            </a:r>
            <a:r>
              <a:rPr sz="1200" spc="-70" dirty="0">
                <a:latin typeface="Helvetica"/>
                <a:cs typeface="Helvetica"/>
              </a:rPr>
              <a:t> </a:t>
            </a:r>
            <a:r>
              <a:rPr sz="1200" dirty="0">
                <a:latin typeface="Helvetica"/>
                <a:cs typeface="Helvetica"/>
              </a:rPr>
              <a:t>Au</a:t>
            </a:r>
            <a:r>
              <a:rPr sz="1200" spc="-5" dirty="0">
                <a:latin typeface="Helvetica"/>
                <a:cs typeface="Helvetica"/>
              </a:rPr>
              <a:t>st</a:t>
            </a:r>
            <a:r>
              <a:rPr sz="1200" dirty="0">
                <a:latin typeface="Helvetica"/>
                <a:cs typeface="Helvetica"/>
              </a:rPr>
              <a:t>ralia</a:t>
            </a:r>
            <a:r>
              <a:rPr sz="1200" spc="-5" dirty="0">
                <a:latin typeface="Helvetica"/>
                <a:cs typeface="Helvetica"/>
              </a:rPr>
              <a:t>. </a:t>
            </a:r>
            <a:r>
              <a:rPr sz="1200" dirty="0">
                <a:latin typeface="Helvetica"/>
                <a:cs typeface="Helvetica"/>
              </a:rPr>
              <a:t>h</a:t>
            </a:r>
            <a:r>
              <a:rPr sz="1200" spc="-5" dirty="0">
                <a:latin typeface="Helvetica"/>
                <a:cs typeface="Helvetica"/>
              </a:rPr>
              <a:t>tt</a:t>
            </a:r>
            <a:r>
              <a:rPr sz="1200" dirty="0">
                <a:latin typeface="Helvetica"/>
                <a:cs typeface="Helvetica"/>
              </a:rPr>
              <a:t>p</a:t>
            </a:r>
            <a:r>
              <a:rPr sz="1200" spc="-5" dirty="0">
                <a:latin typeface="Helvetica"/>
                <a:cs typeface="Helvetica"/>
              </a:rPr>
              <a:t>s://</a:t>
            </a:r>
            <a:r>
              <a:rPr sz="1200" dirty="0">
                <a:latin typeface="Helvetica"/>
                <a:cs typeface="Helvetica"/>
              </a:rPr>
              <a:t>en</a:t>
            </a:r>
            <a:r>
              <a:rPr sz="1200" spc="-5" dirty="0">
                <a:latin typeface="Helvetica"/>
                <a:cs typeface="Helvetica"/>
              </a:rPr>
              <a:t>.</a:t>
            </a:r>
            <a:r>
              <a:rPr sz="1200" dirty="0">
                <a:latin typeface="Helvetica"/>
                <a:cs typeface="Helvetica"/>
              </a:rPr>
              <a:t>wikipedia</a:t>
            </a:r>
            <a:r>
              <a:rPr sz="1200" spc="-5" dirty="0">
                <a:latin typeface="Helvetica"/>
                <a:cs typeface="Helvetica"/>
              </a:rPr>
              <a:t>.</a:t>
            </a:r>
            <a:r>
              <a:rPr sz="1200" dirty="0">
                <a:latin typeface="Helvetica"/>
                <a:cs typeface="Helvetica"/>
              </a:rPr>
              <a:t>org</a:t>
            </a:r>
            <a:r>
              <a:rPr sz="1200" spc="-5" dirty="0">
                <a:latin typeface="Helvetica"/>
                <a:cs typeface="Helvetica"/>
              </a:rPr>
              <a:t>/</a:t>
            </a:r>
            <a:r>
              <a:rPr sz="1200" dirty="0">
                <a:latin typeface="Helvetica"/>
                <a:cs typeface="Helvetica"/>
              </a:rPr>
              <a:t>wiki</a:t>
            </a:r>
            <a:r>
              <a:rPr sz="1200" spc="-5" dirty="0">
                <a:latin typeface="Helvetica"/>
                <a:cs typeface="Helvetica"/>
              </a:rPr>
              <a:t>/</a:t>
            </a:r>
            <a:r>
              <a:rPr sz="1200" dirty="0">
                <a:latin typeface="Helvetica"/>
                <a:cs typeface="Helvetica"/>
              </a:rPr>
              <a:t>Cryp</a:t>
            </a:r>
            <a:r>
              <a:rPr sz="1200" spc="-5" dirty="0">
                <a:latin typeface="Helvetica"/>
                <a:cs typeface="Helvetica"/>
              </a:rPr>
              <a:t>t</a:t>
            </a:r>
            <a:r>
              <a:rPr sz="1200" dirty="0">
                <a:latin typeface="Helvetica"/>
                <a:cs typeface="Helvetica"/>
              </a:rPr>
              <a:t>oblepharus_virga</a:t>
            </a:r>
            <a:r>
              <a:rPr sz="1200" spc="-5" dirty="0">
                <a:latin typeface="Helvetica"/>
                <a:cs typeface="Helvetica"/>
              </a:rPr>
              <a:t>t</a:t>
            </a:r>
            <a:r>
              <a:rPr sz="1200" dirty="0">
                <a:latin typeface="Helvetica"/>
                <a:cs typeface="Helvetica"/>
              </a:rPr>
              <a:t>us#</a:t>
            </a:r>
            <a:r>
              <a:rPr sz="1200" spc="-5" dirty="0">
                <a:latin typeface="Helvetica"/>
                <a:cs typeface="Helvetica"/>
              </a:rPr>
              <a:t>/</a:t>
            </a:r>
            <a:r>
              <a:rPr sz="1200" dirty="0">
                <a:latin typeface="Helvetica"/>
                <a:cs typeface="Helvetica"/>
              </a:rPr>
              <a:t>media</a:t>
            </a:r>
            <a:r>
              <a:rPr sz="1200" spc="-10" dirty="0">
                <a:latin typeface="Helvetica"/>
                <a:cs typeface="Helvetica"/>
              </a:rPr>
              <a:t>/F</a:t>
            </a:r>
            <a:r>
              <a:rPr sz="1200" dirty="0">
                <a:latin typeface="Helvetica"/>
                <a:cs typeface="Helvetica"/>
              </a:rPr>
              <a:t>ile</a:t>
            </a:r>
            <a:r>
              <a:rPr sz="1200" spc="-5" dirty="0">
                <a:latin typeface="Helvetica"/>
                <a:cs typeface="Helvetica"/>
              </a:rPr>
              <a:t>:</a:t>
            </a:r>
            <a:r>
              <a:rPr sz="1200" dirty="0">
                <a:latin typeface="Helvetica"/>
                <a:cs typeface="Helvetica"/>
              </a:rPr>
              <a:t>Cryp</a:t>
            </a:r>
            <a:r>
              <a:rPr sz="1200" spc="-5" dirty="0">
                <a:latin typeface="Helvetica"/>
                <a:cs typeface="Helvetica"/>
              </a:rPr>
              <a:t>t</a:t>
            </a:r>
            <a:r>
              <a:rPr sz="1200" dirty="0">
                <a:latin typeface="Helvetica"/>
                <a:cs typeface="Helvetica"/>
              </a:rPr>
              <a:t>oblepharus_virga</a:t>
            </a:r>
            <a:r>
              <a:rPr sz="1200" spc="-5" dirty="0">
                <a:latin typeface="Helvetica"/>
                <a:cs typeface="Helvetica"/>
              </a:rPr>
              <a:t>t</a:t>
            </a:r>
            <a:r>
              <a:rPr sz="1200" dirty="0">
                <a:latin typeface="Helvetica"/>
                <a:cs typeface="Helvetica"/>
              </a:rPr>
              <a:t>u</a:t>
            </a:r>
            <a:r>
              <a:rPr sz="1200" spc="-5" dirty="0">
                <a:latin typeface="Helvetica"/>
                <a:cs typeface="Helvetica"/>
              </a:rPr>
              <a:t>s.</a:t>
            </a:r>
            <a:r>
              <a:rPr sz="1200" dirty="0">
                <a:latin typeface="Helvetica"/>
                <a:cs typeface="Helvetica"/>
              </a:rPr>
              <a:t>jpg</a:t>
            </a:r>
            <a:endParaRPr sz="1200">
              <a:latin typeface="Helvetica"/>
              <a:cs typeface="Helvetic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300" y="485775"/>
            <a:ext cx="12763500" cy="596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135754" algn="l"/>
                <a:tab pos="8644255" algn="l"/>
                <a:tab pos="9361805" algn="l"/>
              </a:tabLst>
            </a:pPr>
            <a:r>
              <a:rPr sz="4500" b="1" spc="-45" dirty="0">
                <a:latin typeface="Calibri"/>
                <a:cs typeface="Calibri"/>
              </a:rPr>
              <a:t>W</a:t>
            </a:r>
            <a:r>
              <a:rPr sz="4500" b="1" spc="-30" dirty="0">
                <a:latin typeface="Calibri"/>
                <a:cs typeface="Calibri"/>
              </a:rPr>
              <a:t>h</a:t>
            </a:r>
            <a:r>
              <a:rPr sz="4500" b="1" spc="-70" dirty="0">
                <a:latin typeface="Calibri"/>
                <a:cs typeface="Calibri"/>
              </a:rPr>
              <a:t>a</a:t>
            </a:r>
            <a:r>
              <a:rPr sz="4500" b="1" spc="-20" dirty="0">
                <a:latin typeface="Calibri"/>
                <a:cs typeface="Calibri"/>
              </a:rPr>
              <a:t>t</a:t>
            </a:r>
            <a:r>
              <a:rPr sz="4500" b="1" spc="-5" dirty="0">
                <a:latin typeface="Calibri"/>
                <a:cs typeface="Calibri"/>
              </a:rPr>
              <a:t> </a:t>
            </a:r>
            <a:r>
              <a:rPr sz="4500" b="1" spc="-20" dirty="0">
                <a:latin typeface="Calibri"/>
                <a:cs typeface="Calibri"/>
              </a:rPr>
              <a:t>i</a:t>
            </a:r>
            <a:r>
              <a:rPr sz="4500" b="1" dirty="0">
                <a:latin typeface="Calibri"/>
                <a:cs typeface="Calibri"/>
              </a:rPr>
              <a:t>f </a:t>
            </a:r>
            <a:r>
              <a:rPr sz="4500" b="1" spc="-25" dirty="0">
                <a:latin typeface="Calibri"/>
                <a:cs typeface="Calibri"/>
              </a:rPr>
              <a:t>di</a:t>
            </a:r>
            <a:r>
              <a:rPr sz="4500" b="1" spc="-20" dirty="0">
                <a:latin typeface="Calibri"/>
                <a:cs typeface="Calibri"/>
              </a:rPr>
              <a:t>s</a:t>
            </a:r>
            <a:r>
              <a:rPr sz="4500" b="1" spc="-30" dirty="0">
                <a:latin typeface="Calibri"/>
                <a:cs typeface="Calibri"/>
              </a:rPr>
              <a:t>p</a:t>
            </a:r>
            <a:r>
              <a:rPr sz="4500" b="1" spc="-5" dirty="0">
                <a:latin typeface="Calibri"/>
                <a:cs typeface="Calibri"/>
              </a:rPr>
              <a:t>e</a:t>
            </a:r>
            <a:r>
              <a:rPr sz="4500" b="1" spc="-55" dirty="0">
                <a:latin typeface="Calibri"/>
                <a:cs typeface="Calibri"/>
              </a:rPr>
              <a:t>r</a:t>
            </a:r>
            <a:r>
              <a:rPr sz="4500" b="1" spc="-20" dirty="0">
                <a:latin typeface="Calibri"/>
                <a:cs typeface="Calibri"/>
              </a:rPr>
              <a:t>s</a:t>
            </a:r>
            <a:r>
              <a:rPr sz="4500" b="1" spc="-30" dirty="0">
                <a:latin typeface="Calibri"/>
                <a:cs typeface="Calibri"/>
              </a:rPr>
              <a:t>a</a:t>
            </a:r>
            <a:r>
              <a:rPr sz="4500" b="1" spc="-15" dirty="0">
                <a:latin typeface="Calibri"/>
                <a:cs typeface="Calibri"/>
              </a:rPr>
              <a:t>l</a:t>
            </a:r>
            <a:r>
              <a:rPr sz="4500" b="1" dirty="0">
                <a:latin typeface="Calibri"/>
                <a:cs typeface="Calibri"/>
              </a:rPr>
              <a:t>	</a:t>
            </a:r>
            <a:r>
              <a:rPr sz="4500" b="1" spc="-25" dirty="0">
                <a:latin typeface="Calibri"/>
                <a:cs typeface="Calibri"/>
              </a:rPr>
              <a:t>ability</a:t>
            </a:r>
            <a:r>
              <a:rPr sz="4500" b="1" spc="-5" dirty="0">
                <a:latin typeface="Calibri"/>
                <a:cs typeface="Calibri"/>
              </a:rPr>
              <a:t> </a:t>
            </a:r>
            <a:r>
              <a:rPr sz="4500" b="1" spc="-30" dirty="0">
                <a:latin typeface="Calibri"/>
                <a:cs typeface="Calibri"/>
              </a:rPr>
              <a:t>d</a:t>
            </a:r>
            <a:r>
              <a:rPr sz="4500" b="1" spc="-5" dirty="0">
                <a:latin typeface="Calibri"/>
                <a:cs typeface="Calibri"/>
              </a:rPr>
              <a:t>epen</a:t>
            </a:r>
            <a:r>
              <a:rPr sz="4500" b="1" spc="-30" dirty="0">
                <a:latin typeface="Calibri"/>
                <a:cs typeface="Calibri"/>
              </a:rPr>
              <a:t>d</a:t>
            </a:r>
            <a:r>
              <a:rPr sz="4500" b="1" spc="-20" dirty="0">
                <a:latin typeface="Calibri"/>
                <a:cs typeface="Calibri"/>
              </a:rPr>
              <a:t>s</a:t>
            </a:r>
            <a:r>
              <a:rPr sz="4500" b="1" dirty="0">
                <a:latin typeface="Calibri"/>
                <a:cs typeface="Calibri"/>
              </a:rPr>
              <a:t> </a:t>
            </a:r>
            <a:r>
              <a:rPr sz="4500" b="1" spc="-30" dirty="0">
                <a:latin typeface="Calibri"/>
                <a:cs typeface="Calibri"/>
              </a:rPr>
              <a:t>o</a:t>
            </a:r>
            <a:r>
              <a:rPr sz="4500" b="1" spc="-25" dirty="0">
                <a:latin typeface="Calibri"/>
                <a:cs typeface="Calibri"/>
              </a:rPr>
              <a:t>n</a:t>
            </a:r>
            <a:r>
              <a:rPr sz="4500" b="1" dirty="0">
                <a:latin typeface="Calibri"/>
                <a:cs typeface="Calibri"/>
              </a:rPr>
              <a:t>	</a:t>
            </a:r>
            <a:r>
              <a:rPr sz="4500" b="1" spc="-30" dirty="0">
                <a:latin typeface="Calibri"/>
                <a:cs typeface="Calibri"/>
              </a:rPr>
              <a:t>a</a:t>
            </a:r>
            <a:r>
              <a:rPr sz="4500" b="1" spc="-25" dirty="0">
                <a:latin typeface="Calibri"/>
                <a:cs typeface="Calibri"/>
              </a:rPr>
              <a:t>n</a:t>
            </a:r>
            <a:r>
              <a:rPr sz="4500" b="1" dirty="0">
                <a:latin typeface="Calibri"/>
                <a:cs typeface="Calibri"/>
              </a:rPr>
              <a:t>	</a:t>
            </a:r>
            <a:r>
              <a:rPr sz="4500" b="1" spc="-25" dirty="0">
                <a:latin typeface="Calibri"/>
                <a:cs typeface="Calibri"/>
              </a:rPr>
              <a:t>e</a:t>
            </a:r>
            <a:r>
              <a:rPr sz="4500" b="1" spc="-40" dirty="0">
                <a:latin typeface="Calibri"/>
                <a:cs typeface="Calibri"/>
              </a:rPr>
              <a:t>v</a:t>
            </a:r>
            <a:r>
              <a:rPr sz="4500" b="1" spc="-25" dirty="0">
                <a:latin typeface="Calibri"/>
                <a:cs typeface="Calibri"/>
              </a:rPr>
              <a:t>olvin</a:t>
            </a:r>
            <a:r>
              <a:rPr sz="4500" b="1" dirty="0">
                <a:latin typeface="Calibri"/>
                <a:cs typeface="Calibri"/>
              </a:rPr>
              <a:t>g </a:t>
            </a:r>
            <a:r>
              <a:rPr sz="4500" b="1" spc="-25" dirty="0">
                <a:latin typeface="Calibri"/>
                <a:cs typeface="Calibri"/>
              </a:rPr>
              <a:t>t</a:t>
            </a:r>
            <a:r>
              <a:rPr sz="4500" b="1" spc="-100" dirty="0">
                <a:latin typeface="Calibri"/>
                <a:cs typeface="Calibri"/>
              </a:rPr>
              <a:t>r</a:t>
            </a:r>
            <a:r>
              <a:rPr sz="4500" b="1" spc="-25" dirty="0">
                <a:latin typeface="Calibri"/>
                <a:cs typeface="Calibri"/>
              </a:rPr>
              <a:t>ait</a:t>
            </a:r>
            <a:r>
              <a:rPr sz="4500" b="1" dirty="0">
                <a:latin typeface="Calibri"/>
                <a:cs typeface="Calibri"/>
              </a:rPr>
              <a:t>?</a:t>
            </a:r>
            <a:endParaRPr sz="4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706879"/>
            <a:ext cx="13004800" cy="63398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184900" y="8315449"/>
            <a:ext cx="6524625" cy="469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444500">
              <a:lnSpc>
                <a:spcPct val="159700"/>
              </a:lnSpc>
            </a:pPr>
            <a:r>
              <a:rPr sz="1200" spc="-10" dirty="0">
                <a:latin typeface="Helvetica"/>
                <a:cs typeface="Helvetica"/>
              </a:rPr>
              <a:t>Fence</a:t>
            </a:r>
            <a:r>
              <a:rPr sz="1200" spc="-5" dirty="0">
                <a:latin typeface="Helvetica"/>
                <a:cs typeface="Helvetica"/>
              </a:rPr>
              <a:t> </a:t>
            </a:r>
            <a:r>
              <a:rPr sz="1200" dirty="0">
                <a:latin typeface="Helvetica"/>
                <a:cs typeface="Helvetica"/>
              </a:rPr>
              <a:t>or</a:t>
            </a:r>
            <a:r>
              <a:rPr sz="1200" spc="-5" dirty="0">
                <a:latin typeface="Helvetica"/>
                <a:cs typeface="Helvetica"/>
              </a:rPr>
              <a:t> </a:t>
            </a:r>
            <a:r>
              <a:rPr sz="1200" dirty="0">
                <a:latin typeface="Helvetica"/>
                <a:cs typeface="Helvetica"/>
              </a:rPr>
              <a:t>snake-eyed</a:t>
            </a:r>
            <a:r>
              <a:rPr sz="1200" spc="-5" dirty="0">
                <a:latin typeface="Helvetica"/>
                <a:cs typeface="Helvetica"/>
              </a:rPr>
              <a:t> </a:t>
            </a:r>
            <a:r>
              <a:rPr sz="1200" dirty="0">
                <a:latin typeface="Helvetica"/>
                <a:cs typeface="Helvetica"/>
              </a:rPr>
              <a:t>skink</a:t>
            </a:r>
            <a:r>
              <a:rPr sz="1200" spc="-5" dirty="0">
                <a:latin typeface="Helvetica"/>
                <a:cs typeface="Helvetica"/>
              </a:rPr>
              <a:t> (</a:t>
            </a:r>
            <a:r>
              <a:rPr sz="1200" i="1" dirty="0">
                <a:latin typeface="Helvetica"/>
                <a:cs typeface="Helvetica"/>
              </a:rPr>
              <a:t>Cryp</a:t>
            </a:r>
            <a:r>
              <a:rPr sz="1200" i="1" spc="-5" dirty="0">
                <a:latin typeface="Helvetica"/>
                <a:cs typeface="Helvetica"/>
              </a:rPr>
              <a:t>t</a:t>
            </a:r>
            <a:r>
              <a:rPr sz="1200" i="1" dirty="0">
                <a:latin typeface="Helvetica"/>
                <a:cs typeface="Helvetica"/>
              </a:rPr>
              <a:t>oblepharus</a:t>
            </a:r>
            <a:r>
              <a:rPr sz="1200" i="1" spc="-5" dirty="0">
                <a:latin typeface="Helvetica"/>
                <a:cs typeface="Helvetica"/>
              </a:rPr>
              <a:t> </a:t>
            </a:r>
            <a:r>
              <a:rPr sz="1200" i="1" dirty="0">
                <a:latin typeface="Helvetica"/>
                <a:cs typeface="Helvetica"/>
              </a:rPr>
              <a:t>virga</a:t>
            </a:r>
            <a:r>
              <a:rPr sz="1200" i="1" spc="-5" dirty="0">
                <a:latin typeface="Helvetica"/>
                <a:cs typeface="Helvetica"/>
              </a:rPr>
              <a:t>t</a:t>
            </a:r>
            <a:r>
              <a:rPr sz="1200" i="1" dirty="0">
                <a:latin typeface="Helvetica"/>
                <a:cs typeface="Helvetica"/>
              </a:rPr>
              <a:t>u</a:t>
            </a:r>
            <a:r>
              <a:rPr sz="1200" i="1" spc="-5" dirty="0">
                <a:latin typeface="Helvetica"/>
                <a:cs typeface="Helvetica"/>
              </a:rPr>
              <a:t>s</a:t>
            </a:r>
            <a:r>
              <a:rPr sz="1200" dirty="0">
                <a:latin typeface="Helvetica"/>
                <a:cs typeface="Helvetica"/>
              </a:rPr>
              <a:t>)</a:t>
            </a:r>
            <a:r>
              <a:rPr sz="1200" spc="-5" dirty="0">
                <a:latin typeface="Helvetica"/>
                <a:cs typeface="Helvetica"/>
              </a:rPr>
              <a:t> </a:t>
            </a:r>
            <a:r>
              <a:rPr sz="1200" dirty="0">
                <a:latin typeface="Helvetica"/>
                <a:cs typeface="Helvetica"/>
              </a:rPr>
              <a:t>pho</a:t>
            </a:r>
            <a:r>
              <a:rPr sz="1200" spc="-5" dirty="0">
                <a:latin typeface="Helvetica"/>
                <a:cs typeface="Helvetica"/>
              </a:rPr>
              <a:t>t</a:t>
            </a:r>
            <a:r>
              <a:rPr sz="1200" dirty="0">
                <a:latin typeface="Helvetica"/>
                <a:cs typeface="Helvetica"/>
              </a:rPr>
              <a:t>ographed</a:t>
            </a:r>
            <a:r>
              <a:rPr sz="1200" spc="-5" dirty="0">
                <a:latin typeface="Helvetica"/>
                <a:cs typeface="Helvetica"/>
              </a:rPr>
              <a:t> </a:t>
            </a:r>
            <a:r>
              <a:rPr sz="1200" dirty="0">
                <a:latin typeface="Helvetica"/>
                <a:cs typeface="Helvetica"/>
              </a:rPr>
              <a:t>in</a:t>
            </a:r>
            <a:r>
              <a:rPr sz="1200" spc="-5" dirty="0">
                <a:latin typeface="Helvetica"/>
                <a:cs typeface="Helvetica"/>
              </a:rPr>
              <a:t> </a:t>
            </a:r>
            <a:r>
              <a:rPr sz="1200" dirty="0">
                <a:latin typeface="Helvetica"/>
                <a:cs typeface="Helvetica"/>
              </a:rPr>
              <a:t>Sydne</a:t>
            </a:r>
            <a:r>
              <a:rPr sz="1200" spc="-90" dirty="0">
                <a:latin typeface="Helvetica"/>
                <a:cs typeface="Helvetica"/>
              </a:rPr>
              <a:t>y</a:t>
            </a:r>
            <a:r>
              <a:rPr sz="1200" spc="-5" dirty="0">
                <a:latin typeface="Helvetica"/>
                <a:cs typeface="Helvetica"/>
              </a:rPr>
              <a:t>,</a:t>
            </a:r>
            <a:r>
              <a:rPr sz="1200" spc="-70" dirty="0">
                <a:latin typeface="Helvetica"/>
                <a:cs typeface="Helvetica"/>
              </a:rPr>
              <a:t> </a:t>
            </a:r>
            <a:r>
              <a:rPr sz="1200" dirty="0">
                <a:latin typeface="Helvetica"/>
                <a:cs typeface="Helvetica"/>
              </a:rPr>
              <a:t>Au</a:t>
            </a:r>
            <a:r>
              <a:rPr sz="1200" spc="-5" dirty="0">
                <a:latin typeface="Helvetica"/>
                <a:cs typeface="Helvetica"/>
              </a:rPr>
              <a:t>st</a:t>
            </a:r>
            <a:r>
              <a:rPr sz="1200" dirty="0">
                <a:latin typeface="Helvetica"/>
                <a:cs typeface="Helvetica"/>
              </a:rPr>
              <a:t>ralia</a:t>
            </a:r>
            <a:r>
              <a:rPr sz="1200" spc="-5" dirty="0">
                <a:latin typeface="Helvetica"/>
                <a:cs typeface="Helvetica"/>
              </a:rPr>
              <a:t>. </a:t>
            </a:r>
            <a:r>
              <a:rPr sz="1200" dirty="0">
                <a:latin typeface="Helvetica"/>
                <a:cs typeface="Helvetica"/>
              </a:rPr>
              <a:t>h</a:t>
            </a:r>
            <a:r>
              <a:rPr sz="1200" spc="-5" dirty="0">
                <a:latin typeface="Helvetica"/>
                <a:cs typeface="Helvetica"/>
              </a:rPr>
              <a:t>tt</a:t>
            </a:r>
            <a:r>
              <a:rPr sz="1200" dirty="0">
                <a:latin typeface="Helvetica"/>
                <a:cs typeface="Helvetica"/>
              </a:rPr>
              <a:t>p</a:t>
            </a:r>
            <a:r>
              <a:rPr sz="1200" spc="-5" dirty="0">
                <a:latin typeface="Helvetica"/>
                <a:cs typeface="Helvetica"/>
              </a:rPr>
              <a:t>s://</a:t>
            </a:r>
            <a:r>
              <a:rPr sz="1200" dirty="0">
                <a:latin typeface="Helvetica"/>
                <a:cs typeface="Helvetica"/>
              </a:rPr>
              <a:t>en</a:t>
            </a:r>
            <a:r>
              <a:rPr sz="1200" spc="-5" dirty="0">
                <a:latin typeface="Helvetica"/>
                <a:cs typeface="Helvetica"/>
              </a:rPr>
              <a:t>.</a:t>
            </a:r>
            <a:r>
              <a:rPr sz="1200" dirty="0">
                <a:latin typeface="Helvetica"/>
                <a:cs typeface="Helvetica"/>
              </a:rPr>
              <a:t>wikipedia</a:t>
            </a:r>
            <a:r>
              <a:rPr sz="1200" spc="-5" dirty="0">
                <a:latin typeface="Helvetica"/>
                <a:cs typeface="Helvetica"/>
              </a:rPr>
              <a:t>.</a:t>
            </a:r>
            <a:r>
              <a:rPr sz="1200" dirty="0">
                <a:latin typeface="Helvetica"/>
                <a:cs typeface="Helvetica"/>
              </a:rPr>
              <a:t>org</a:t>
            </a:r>
            <a:r>
              <a:rPr sz="1200" spc="-5" dirty="0">
                <a:latin typeface="Helvetica"/>
                <a:cs typeface="Helvetica"/>
              </a:rPr>
              <a:t>/</a:t>
            </a:r>
            <a:r>
              <a:rPr sz="1200" dirty="0">
                <a:latin typeface="Helvetica"/>
                <a:cs typeface="Helvetica"/>
              </a:rPr>
              <a:t>wiki</a:t>
            </a:r>
            <a:r>
              <a:rPr sz="1200" spc="-5" dirty="0">
                <a:latin typeface="Helvetica"/>
                <a:cs typeface="Helvetica"/>
              </a:rPr>
              <a:t>/</a:t>
            </a:r>
            <a:r>
              <a:rPr sz="1200" dirty="0">
                <a:latin typeface="Helvetica"/>
                <a:cs typeface="Helvetica"/>
              </a:rPr>
              <a:t>Cryp</a:t>
            </a:r>
            <a:r>
              <a:rPr sz="1200" spc="-5" dirty="0">
                <a:latin typeface="Helvetica"/>
                <a:cs typeface="Helvetica"/>
              </a:rPr>
              <a:t>t</a:t>
            </a:r>
            <a:r>
              <a:rPr sz="1200" dirty="0">
                <a:latin typeface="Helvetica"/>
                <a:cs typeface="Helvetica"/>
              </a:rPr>
              <a:t>oblepharus_virga</a:t>
            </a:r>
            <a:r>
              <a:rPr sz="1200" spc="-5" dirty="0">
                <a:latin typeface="Helvetica"/>
                <a:cs typeface="Helvetica"/>
              </a:rPr>
              <a:t>t</a:t>
            </a:r>
            <a:r>
              <a:rPr sz="1200" dirty="0">
                <a:latin typeface="Helvetica"/>
                <a:cs typeface="Helvetica"/>
              </a:rPr>
              <a:t>us#</a:t>
            </a:r>
            <a:r>
              <a:rPr sz="1200" spc="-5" dirty="0">
                <a:latin typeface="Helvetica"/>
                <a:cs typeface="Helvetica"/>
              </a:rPr>
              <a:t>/</a:t>
            </a:r>
            <a:r>
              <a:rPr sz="1200" dirty="0">
                <a:latin typeface="Helvetica"/>
                <a:cs typeface="Helvetica"/>
              </a:rPr>
              <a:t>media</a:t>
            </a:r>
            <a:r>
              <a:rPr sz="1200" spc="-10" dirty="0">
                <a:latin typeface="Helvetica"/>
                <a:cs typeface="Helvetica"/>
              </a:rPr>
              <a:t>/F</a:t>
            </a:r>
            <a:r>
              <a:rPr sz="1200" dirty="0">
                <a:latin typeface="Helvetica"/>
                <a:cs typeface="Helvetica"/>
              </a:rPr>
              <a:t>ile</a:t>
            </a:r>
            <a:r>
              <a:rPr sz="1200" spc="-5" dirty="0">
                <a:latin typeface="Helvetica"/>
                <a:cs typeface="Helvetica"/>
              </a:rPr>
              <a:t>:</a:t>
            </a:r>
            <a:r>
              <a:rPr sz="1200" dirty="0">
                <a:latin typeface="Helvetica"/>
                <a:cs typeface="Helvetica"/>
              </a:rPr>
              <a:t>Cryp</a:t>
            </a:r>
            <a:r>
              <a:rPr sz="1200" spc="-5" dirty="0">
                <a:latin typeface="Helvetica"/>
                <a:cs typeface="Helvetica"/>
              </a:rPr>
              <a:t>t</a:t>
            </a:r>
            <a:r>
              <a:rPr sz="1200" dirty="0">
                <a:latin typeface="Helvetica"/>
                <a:cs typeface="Helvetica"/>
              </a:rPr>
              <a:t>oblepharus_virga</a:t>
            </a:r>
            <a:r>
              <a:rPr sz="1200" spc="-5" dirty="0">
                <a:latin typeface="Helvetica"/>
                <a:cs typeface="Helvetica"/>
              </a:rPr>
              <a:t>t</a:t>
            </a:r>
            <a:r>
              <a:rPr sz="1200" dirty="0">
                <a:latin typeface="Helvetica"/>
                <a:cs typeface="Helvetica"/>
              </a:rPr>
              <a:t>u</a:t>
            </a:r>
            <a:r>
              <a:rPr sz="1200" spc="-5" dirty="0">
                <a:latin typeface="Helvetica"/>
                <a:cs typeface="Helvetica"/>
              </a:rPr>
              <a:t>s.</a:t>
            </a:r>
            <a:r>
              <a:rPr sz="1200" dirty="0">
                <a:latin typeface="Helvetica"/>
                <a:cs typeface="Helvetica"/>
              </a:rPr>
              <a:t>jpg</a:t>
            </a:r>
            <a:endParaRPr sz="1200">
              <a:latin typeface="Helvetica"/>
              <a:cs typeface="Helvetic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43300" y="332730"/>
            <a:ext cx="5840730" cy="11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4000" b="1" i="1" dirty="0">
                <a:latin typeface="Helvetica"/>
                <a:cs typeface="Helvetica"/>
              </a:rPr>
              <a:t>Cry</a:t>
            </a:r>
            <a:r>
              <a:rPr sz="4000" b="1" i="1" spc="-30" dirty="0">
                <a:latin typeface="Helvetica"/>
                <a:cs typeface="Helvetica"/>
              </a:rPr>
              <a:t>p</a:t>
            </a:r>
            <a:r>
              <a:rPr sz="4000" b="1" i="1" spc="-15" dirty="0">
                <a:latin typeface="Helvetica"/>
                <a:cs typeface="Helvetica"/>
              </a:rPr>
              <a:t>t</a:t>
            </a:r>
            <a:r>
              <a:rPr sz="4000" b="1" i="1" spc="-25" dirty="0">
                <a:latin typeface="Helvetica"/>
                <a:cs typeface="Helvetica"/>
              </a:rPr>
              <a:t>obl</a:t>
            </a:r>
            <a:r>
              <a:rPr sz="4000" b="1" i="1" dirty="0">
                <a:latin typeface="Helvetica"/>
                <a:cs typeface="Helvetica"/>
              </a:rPr>
              <a:t>e</a:t>
            </a:r>
            <a:r>
              <a:rPr sz="4000" b="1" i="1" spc="-30" dirty="0">
                <a:latin typeface="Helvetica"/>
                <a:cs typeface="Helvetica"/>
              </a:rPr>
              <a:t>ph</a:t>
            </a:r>
            <a:r>
              <a:rPr sz="4000" b="1" i="1" dirty="0">
                <a:latin typeface="Helvetica"/>
                <a:cs typeface="Helvetica"/>
              </a:rPr>
              <a:t>ar</a:t>
            </a:r>
            <a:r>
              <a:rPr sz="4000" b="1" i="1" spc="-30" dirty="0">
                <a:latin typeface="Helvetica"/>
                <a:cs typeface="Helvetica"/>
              </a:rPr>
              <a:t>u</a:t>
            </a:r>
            <a:r>
              <a:rPr sz="4000" b="1" i="1" dirty="0">
                <a:latin typeface="Helvetica"/>
                <a:cs typeface="Helvetica"/>
              </a:rPr>
              <a:t>s</a:t>
            </a:r>
            <a:r>
              <a:rPr sz="4000" b="1" i="1" spc="-5" dirty="0">
                <a:latin typeface="Helvetica"/>
                <a:cs typeface="Helvetica"/>
              </a:rPr>
              <a:t> </a:t>
            </a:r>
            <a:r>
              <a:rPr sz="4000" b="1" spc="-20" dirty="0">
                <a:latin typeface="Helvetica"/>
                <a:cs typeface="Helvetica"/>
              </a:rPr>
              <a:t>li</a:t>
            </a:r>
            <a:r>
              <a:rPr sz="4000" b="1" dirty="0">
                <a:latin typeface="Helvetica"/>
                <a:cs typeface="Helvetica"/>
              </a:rPr>
              <a:t>zar</a:t>
            </a:r>
            <a:r>
              <a:rPr sz="4000" b="1" spc="-30" dirty="0">
                <a:latin typeface="Helvetica"/>
                <a:cs typeface="Helvetica"/>
              </a:rPr>
              <a:t>d</a:t>
            </a:r>
            <a:r>
              <a:rPr sz="4000" b="1" dirty="0">
                <a:latin typeface="Helvetica"/>
                <a:cs typeface="Helvetica"/>
              </a:rPr>
              <a:t>s </a:t>
            </a:r>
            <a:r>
              <a:rPr sz="4000" b="1" spc="-15" dirty="0">
                <a:latin typeface="Helvetica"/>
                <a:cs typeface="Helvetica"/>
              </a:rPr>
              <a:t>(</a:t>
            </a:r>
            <a:r>
              <a:rPr sz="4000" b="1" spc="-30" dirty="0">
                <a:latin typeface="Helvetica"/>
                <a:cs typeface="Helvetica"/>
              </a:rPr>
              <a:t>wi</a:t>
            </a:r>
            <a:r>
              <a:rPr sz="4000" b="1" spc="-20" dirty="0">
                <a:latin typeface="Helvetica"/>
                <a:cs typeface="Helvetica"/>
              </a:rPr>
              <a:t>th</a:t>
            </a:r>
            <a:r>
              <a:rPr sz="4000" b="1" spc="-5" dirty="0">
                <a:latin typeface="Helvetica"/>
                <a:cs typeface="Helvetica"/>
              </a:rPr>
              <a:t> </a:t>
            </a:r>
            <a:r>
              <a:rPr sz="4000" b="1" spc="-35" dirty="0">
                <a:latin typeface="Helvetica"/>
                <a:cs typeface="Helvetica"/>
              </a:rPr>
              <a:t>M</a:t>
            </a:r>
            <a:r>
              <a:rPr sz="4000" b="1" spc="-30" dirty="0">
                <a:latin typeface="Helvetica"/>
                <a:cs typeface="Helvetica"/>
              </a:rPr>
              <a:t>oo</a:t>
            </a:r>
            <a:r>
              <a:rPr sz="4000" b="1" dirty="0">
                <a:latin typeface="Helvetica"/>
                <a:cs typeface="Helvetica"/>
              </a:rPr>
              <a:t>s</a:t>
            </a:r>
            <a:r>
              <a:rPr sz="4000" b="1" spc="-5" dirty="0">
                <a:latin typeface="Helvetica"/>
                <a:cs typeface="Helvetica"/>
              </a:rPr>
              <a:t> </a:t>
            </a:r>
            <a:r>
              <a:rPr sz="4000" b="1" dirty="0">
                <a:latin typeface="Helvetica"/>
                <a:cs typeface="Helvetica"/>
              </a:rPr>
              <a:t>B</a:t>
            </a:r>
            <a:r>
              <a:rPr sz="4000" b="1" spc="-25" dirty="0">
                <a:latin typeface="Helvetica"/>
                <a:cs typeface="Helvetica"/>
              </a:rPr>
              <a:t>lo</a:t>
            </a:r>
            <a:r>
              <a:rPr sz="4000" b="1" dirty="0">
                <a:latin typeface="Helvetica"/>
                <a:cs typeface="Helvetica"/>
              </a:rPr>
              <a:t>m</a:t>
            </a:r>
            <a:r>
              <a:rPr sz="4000" b="1" spc="-15" dirty="0">
                <a:latin typeface="Helvetica"/>
                <a:cs typeface="Helvetica"/>
              </a:rPr>
              <a:t>,</a:t>
            </a:r>
            <a:r>
              <a:rPr sz="4000" b="1" spc="-150" dirty="0">
                <a:latin typeface="Helvetica"/>
                <a:cs typeface="Helvetica"/>
              </a:rPr>
              <a:t> </a:t>
            </a:r>
            <a:r>
              <a:rPr sz="4000" b="1" dirty="0">
                <a:latin typeface="Helvetica"/>
                <a:cs typeface="Helvetica"/>
              </a:rPr>
              <a:t>ANU)</a:t>
            </a:r>
            <a:endParaRPr sz="400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51900" y="9331449"/>
            <a:ext cx="372745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Helvetica"/>
                <a:cs typeface="Helvetica"/>
              </a:rPr>
              <a:t>Pho</a:t>
            </a:r>
            <a:r>
              <a:rPr sz="1200" spc="-5" dirty="0">
                <a:latin typeface="Helvetica"/>
                <a:cs typeface="Helvetica"/>
              </a:rPr>
              <a:t>tos </a:t>
            </a:r>
            <a:r>
              <a:rPr sz="1200" dirty="0">
                <a:latin typeface="Helvetica"/>
                <a:cs typeface="Helvetica"/>
              </a:rPr>
              <a:t>by</a:t>
            </a:r>
            <a:r>
              <a:rPr sz="1200" spc="-5" dirty="0">
                <a:latin typeface="Helvetica"/>
                <a:cs typeface="Helvetica"/>
              </a:rPr>
              <a:t> </a:t>
            </a:r>
            <a:r>
              <a:rPr sz="1200" spc="-10" dirty="0">
                <a:latin typeface="Helvetica"/>
                <a:cs typeface="Helvetica"/>
              </a:rPr>
              <a:t>St</a:t>
            </a:r>
            <a:r>
              <a:rPr sz="1200" dirty="0">
                <a:latin typeface="Helvetica"/>
                <a:cs typeface="Helvetica"/>
              </a:rPr>
              <a:t>ewa</a:t>
            </a:r>
            <a:r>
              <a:rPr sz="1200" spc="-5" dirty="0">
                <a:latin typeface="Helvetica"/>
                <a:cs typeface="Helvetica"/>
              </a:rPr>
              <a:t>rt </a:t>
            </a:r>
            <a:r>
              <a:rPr sz="1200" dirty="0">
                <a:latin typeface="Helvetica"/>
                <a:cs typeface="Helvetica"/>
              </a:rPr>
              <a:t>Macdonald</a:t>
            </a:r>
            <a:r>
              <a:rPr sz="1200" spc="-5" dirty="0">
                <a:latin typeface="Helvetica"/>
                <a:cs typeface="Helvetica"/>
              </a:rPr>
              <a:t>, </a:t>
            </a:r>
            <a:r>
              <a:rPr sz="1200" dirty="0">
                <a:latin typeface="Helvetica"/>
                <a:cs typeface="Helvetica"/>
              </a:rPr>
              <a:t>provided</a:t>
            </a:r>
            <a:r>
              <a:rPr sz="1200" spc="-5" dirty="0">
                <a:latin typeface="Helvetica"/>
                <a:cs typeface="Helvetica"/>
              </a:rPr>
              <a:t> </a:t>
            </a:r>
            <a:r>
              <a:rPr sz="1200" dirty="0">
                <a:latin typeface="Helvetica"/>
                <a:cs typeface="Helvetica"/>
              </a:rPr>
              <a:t>by</a:t>
            </a:r>
            <a:r>
              <a:rPr sz="1200" spc="-5" dirty="0">
                <a:latin typeface="Helvetica"/>
                <a:cs typeface="Helvetica"/>
              </a:rPr>
              <a:t> </a:t>
            </a:r>
            <a:r>
              <a:rPr sz="1200" dirty="0">
                <a:latin typeface="Helvetica"/>
                <a:cs typeface="Helvetica"/>
              </a:rPr>
              <a:t>Moos</a:t>
            </a:r>
            <a:r>
              <a:rPr sz="1200" spc="-5" dirty="0">
                <a:latin typeface="Helvetica"/>
                <a:cs typeface="Helvetica"/>
              </a:rPr>
              <a:t> </a:t>
            </a:r>
            <a:r>
              <a:rPr sz="1200" dirty="0">
                <a:latin typeface="Helvetica"/>
                <a:cs typeface="Helvetica"/>
              </a:rPr>
              <a:t>Blom</a:t>
            </a:r>
            <a:endParaRPr sz="1200">
              <a:latin typeface="Helvetica"/>
              <a:cs typeface="Helvetic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43300" y="332730"/>
            <a:ext cx="5840730" cy="11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4000" b="1" i="1" dirty="0">
                <a:latin typeface="Helvetica"/>
                <a:cs typeface="Helvetica"/>
              </a:rPr>
              <a:t>Cry</a:t>
            </a:r>
            <a:r>
              <a:rPr sz="4000" b="1" i="1" spc="-30" dirty="0">
                <a:latin typeface="Helvetica"/>
                <a:cs typeface="Helvetica"/>
              </a:rPr>
              <a:t>p</a:t>
            </a:r>
            <a:r>
              <a:rPr sz="4000" b="1" i="1" spc="-15" dirty="0">
                <a:latin typeface="Helvetica"/>
                <a:cs typeface="Helvetica"/>
              </a:rPr>
              <a:t>t</a:t>
            </a:r>
            <a:r>
              <a:rPr sz="4000" b="1" i="1" spc="-25" dirty="0">
                <a:latin typeface="Helvetica"/>
                <a:cs typeface="Helvetica"/>
              </a:rPr>
              <a:t>obl</a:t>
            </a:r>
            <a:r>
              <a:rPr sz="4000" b="1" i="1" dirty="0">
                <a:latin typeface="Helvetica"/>
                <a:cs typeface="Helvetica"/>
              </a:rPr>
              <a:t>e</a:t>
            </a:r>
            <a:r>
              <a:rPr sz="4000" b="1" i="1" spc="-30" dirty="0">
                <a:latin typeface="Helvetica"/>
                <a:cs typeface="Helvetica"/>
              </a:rPr>
              <a:t>ph</a:t>
            </a:r>
            <a:r>
              <a:rPr sz="4000" b="1" i="1" dirty="0">
                <a:latin typeface="Helvetica"/>
                <a:cs typeface="Helvetica"/>
              </a:rPr>
              <a:t>ar</a:t>
            </a:r>
            <a:r>
              <a:rPr sz="4000" b="1" i="1" spc="-30" dirty="0">
                <a:latin typeface="Helvetica"/>
                <a:cs typeface="Helvetica"/>
              </a:rPr>
              <a:t>u</a:t>
            </a:r>
            <a:r>
              <a:rPr sz="4000" b="1" i="1" dirty="0">
                <a:latin typeface="Helvetica"/>
                <a:cs typeface="Helvetica"/>
              </a:rPr>
              <a:t>s</a:t>
            </a:r>
            <a:r>
              <a:rPr sz="4000" b="1" i="1" spc="-5" dirty="0">
                <a:latin typeface="Helvetica"/>
                <a:cs typeface="Helvetica"/>
              </a:rPr>
              <a:t> </a:t>
            </a:r>
            <a:r>
              <a:rPr sz="4000" b="1" spc="-20" dirty="0">
                <a:latin typeface="Helvetica"/>
                <a:cs typeface="Helvetica"/>
              </a:rPr>
              <a:t>li</a:t>
            </a:r>
            <a:r>
              <a:rPr sz="4000" b="1" dirty="0">
                <a:latin typeface="Helvetica"/>
                <a:cs typeface="Helvetica"/>
              </a:rPr>
              <a:t>zar</a:t>
            </a:r>
            <a:r>
              <a:rPr sz="4000" b="1" spc="-30" dirty="0">
                <a:latin typeface="Helvetica"/>
                <a:cs typeface="Helvetica"/>
              </a:rPr>
              <a:t>d</a:t>
            </a:r>
            <a:r>
              <a:rPr sz="4000" b="1" dirty="0">
                <a:latin typeface="Helvetica"/>
                <a:cs typeface="Helvetica"/>
              </a:rPr>
              <a:t>s </a:t>
            </a:r>
            <a:r>
              <a:rPr sz="4000" b="1" spc="-15" dirty="0">
                <a:latin typeface="Helvetica"/>
                <a:cs typeface="Helvetica"/>
              </a:rPr>
              <a:t>(</a:t>
            </a:r>
            <a:r>
              <a:rPr sz="4000" b="1" spc="-30" dirty="0">
                <a:latin typeface="Helvetica"/>
                <a:cs typeface="Helvetica"/>
              </a:rPr>
              <a:t>wi</a:t>
            </a:r>
            <a:r>
              <a:rPr sz="4000" b="1" spc="-20" dirty="0">
                <a:latin typeface="Helvetica"/>
                <a:cs typeface="Helvetica"/>
              </a:rPr>
              <a:t>th</a:t>
            </a:r>
            <a:r>
              <a:rPr sz="4000" b="1" spc="-5" dirty="0">
                <a:latin typeface="Helvetica"/>
                <a:cs typeface="Helvetica"/>
              </a:rPr>
              <a:t> </a:t>
            </a:r>
            <a:r>
              <a:rPr sz="4000" b="1" spc="-35" dirty="0">
                <a:latin typeface="Helvetica"/>
                <a:cs typeface="Helvetica"/>
              </a:rPr>
              <a:t>M</a:t>
            </a:r>
            <a:r>
              <a:rPr sz="4000" b="1" spc="-30" dirty="0">
                <a:latin typeface="Helvetica"/>
                <a:cs typeface="Helvetica"/>
              </a:rPr>
              <a:t>oo</a:t>
            </a:r>
            <a:r>
              <a:rPr sz="4000" b="1" dirty="0">
                <a:latin typeface="Helvetica"/>
                <a:cs typeface="Helvetica"/>
              </a:rPr>
              <a:t>s</a:t>
            </a:r>
            <a:r>
              <a:rPr sz="4000" b="1" spc="-5" dirty="0">
                <a:latin typeface="Helvetica"/>
                <a:cs typeface="Helvetica"/>
              </a:rPr>
              <a:t> </a:t>
            </a:r>
            <a:r>
              <a:rPr sz="4000" b="1" dirty="0">
                <a:latin typeface="Helvetica"/>
                <a:cs typeface="Helvetica"/>
              </a:rPr>
              <a:t>B</a:t>
            </a:r>
            <a:r>
              <a:rPr sz="4000" b="1" spc="-25" dirty="0">
                <a:latin typeface="Helvetica"/>
                <a:cs typeface="Helvetica"/>
              </a:rPr>
              <a:t>lo</a:t>
            </a:r>
            <a:r>
              <a:rPr sz="4000" b="1" dirty="0">
                <a:latin typeface="Helvetica"/>
                <a:cs typeface="Helvetica"/>
              </a:rPr>
              <a:t>m</a:t>
            </a:r>
            <a:r>
              <a:rPr sz="4000" b="1" spc="-15" dirty="0">
                <a:latin typeface="Helvetica"/>
                <a:cs typeface="Helvetica"/>
              </a:rPr>
              <a:t>,</a:t>
            </a:r>
            <a:r>
              <a:rPr sz="4000" b="1" spc="-150" dirty="0">
                <a:latin typeface="Helvetica"/>
                <a:cs typeface="Helvetica"/>
              </a:rPr>
              <a:t> </a:t>
            </a:r>
            <a:r>
              <a:rPr sz="4000" b="1" dirty="0">
                <a:latin typeface="Helvetica"/>
                <a:cs typeface="Helvetica"/>
              </a:rPr>
              <a:t>ANU)</a:t>
            </a:r>
            <a:endParaRPr sz="4000">
              <a:latin typeface="Helvetica"/>
              <a:cs typeface="Helvetic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9345" y="1590988"/>
            <a:ext cx="4675921" cy="690720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321471" y="4787469"/>
            <a:ext cx="6987562" cy="421629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003586" y="1612666"/>
            <a:ext cx="5301554" cy="352808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17500" y="8533122"/>
            <a:ext cx="3985260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b="1" dirty="0">
                <a:latin typeface="Helvetica"/>
                <a:cs typeface="Helvetica"/>
              </a:rPr>
              <a:t>r</a:t>
            </a:r>
            <a:r>
              <a:rPr sz="3000" b="1" spc="-25" dirty="0">
                <a:latin typeface="Helvetica"/>
                <a:cs typeface="Helvetica"/>
              </a:rPr>
              <a:t>o</a:t>
            </a:r>
            <a:r>
              <a:rPr sz="3000" b="1" dirty="0">
                <a:latin typeface="Helvetica"/>
                <a:cs typeface="Helvetica"/>
              </a:rPr>
              <a:t>ck</a:t>
            </a:r>
            <a:r>
              <a:rPr sz="3000" b="1" spc="-10" dirty="0">
                <a:latin typeface="Helvetica"/>
                <a:cs typeface="Helvetica"/>
              </a:rPr>
              <a:t>-</a:t>
            </a:r>
            <a:r>
              <a:rPr sz="3000" b="1" spc="-25" dirty="0">
                <a:latin typeface="Helvetica"/>
                <a:cs typeface="Helvetica"/>
              </a:rPr>
              <a:t>dw</a:t>
            </a:r>
            <a:r>
              <a:rPr sz="3000" b="1" dirty="0">
                <a:latin typeface="Helvetica"/>
                <a:cs typeface="Helvetica"/>
              </a:rPr>
              <a:t>e</a:t>
            </a:r>
            <a:r>
              <a:rPr sz="3000" b="1" spc="-10" dirty="0">
                <a:latin typeface="Helvetica"/>
                <a:cs typeface="Helvetica"/>
              </a:rPr>
              <a:t>lli</a:t>
            </a:r>
            <a:r>
              <a:rPr sz="3000" b="1" spc="-25" dirty="0">
                <a:latin typeface="Helvetica"/>
                <a:cs typeface="Helvetica"/>
              </a:rPr>
              <a:t>n</a:t>
            </a:r>
            <a:r>
              <a:rPr sz="3000" b="1" spc="-20" dirty="0">
                <a:latin typeface="Helvetica"/>
                <a:cs typeface="Helvetica"/>
              </a:rPr>
              <a:t>g</a:t>
            </a:r>
            <a:r>
              <a:rPr sz="3000" b="1" spc="-5" dirty="0">
                <a:latin typeface="Helvetica"/>
                <a:cs typeface="Helvetica"/>
              </a:rPr>
              <a:t> </a:t>
            </a:r>
            <a:r>
              <a:rPr sz="3000" b="1" dirty="0">
                <a:latin typeface="Helvetica"/>
                <a:cs typeface="Helvetica"/>
              </a:rPr>
              <a:t>s</a:t>
            </a:r>
            <a:r>
              <a:rPr sz="3000" b="1" spc="-25" dirty="0">
                <a:latin typeface="Helvetica"/>
                <a:cs typeface="Helvetica"/>
              </a:rPr>
              <a:t>p</a:t>
            </a:r>
            <a:r>
              <a:rPr sz="3000" b="1" dirty="0">
                <a:latin typeface="Helvetica"/>
                <a:cs typeface="Helvetica"/>
              </a:rPr>
              <a:t>ec</a:t>
            </a:r>
            <a:r>
              <a:rPr sz="3000" b="1" spc="-10" dirty="0">
                <a:latin typeface="Helvetica"/>
                <a:cs typeface="Helvetica"/>
              </a:rPr>
              <a:t>i</a:t>
            </a:r>
            <a:r>
              <a:rPr sz="3000" b="1" dirty="0">
                <a:latin typeface="Helvetica"/>
                <a:cs typeface="Helvetica"/>
              </a:rPr>
              <a:t>es</a:t>
            </a:r>
            <a:endParaRPr sz="3000">
              <a:latin typeface="Helvetica"/>
              <a:cs typeface="Helvetic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363200" y="1725922"/>
            <a:ext cx="1529080" cy="863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3000" b="1" dirty="0">
                <a:latin typeface="Helvetica"/>
                <a:cs typeface="Helvetica"/>
              </a:rPr>
              <a:t>arboreal species</a:t>
            </a:r>
            <a:endParaRPr sz="3000">
              <a:latin typeface="Helvetica"/>
              <a:cs typeface="Helvetic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401300" y="3935722"/>
            <a:ext cx="2650490" cy="863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3000" b="1" spc="-10" dirty="0">
                <a:latin typeface="Helvetica"/>
                <a:cs typeface="Helvetica"/>
              </a:rPr>
              <a:t>litt</a:t>
            </a:r>
            <a:r>
              <a:rPr sz="3000" b="1" spc="-25" dirty="0">
                <a:latin typeface="Helvetica"/>
                <a:cs typeface="Helvetica"/>
              </a:rPr>
              <a:t>o</a:t>
            </a:r>
            <a:r>
              <a:rPr sz="3000" b="1" dirty="0">
                <a:latin typeface="Helvetica"/>
                <a:cs typeface="Helvetica"/>
              </a:rPr>
              <a:t>ra</a:t>
            </a:r>
            <a:r>
              <a:rPr sz="3000" b="1" spc="-10" dirty="0">
                <a:latin typeface="Helvetica"/>
                <a:cs typeface="Helvetica"/>
              </a:rPr>
              <a:t>l</a:t>
            </a:r>
            <a:r>
              <a:rPr sz="3000" b="1" spc="-5" dirty="0">
                <a:latin typeface="Helvetica"/>
                <a:cs typeface="Helvetica"/>
              </a:rPr>
              <a:t> </a:t>
            </a:r>
            <a:r>
              <a:rPr sz="3000" b="1" spc="-10" dirty="0">
                <a:latin typeface="Helvetica"/>
                <a:cs typeface="Helvetica"/>
              </a:rPr>
              <a:t>(</a:t>
            </a:r>
            <a:r>
              <a:rPr sz="3000" b="1" spc="-25" dirty="0">
                <a:latin typeface="Helvetica"/>
                <a:cs typeface="Helvetica"/>
              </a:rPr>
              <a:t>b</a:t>
            </a:r>
            <a:r>
              <a:rPr sz="3000" b="1" dirty="0">
                <a:latin typeface="Helvetica"/>
                <a:cs typeface="Helvetica"/>
              </a:rPr>
              <a:t>eac</a:t>
            </a:r>
            <a:r>
              <a:rPr sz="3000" b="1" spc="-25" dirty="0">
                <a:latin typeface="Helvetica"/>
                <a:cs typeface="Helvetica"/>
              </a:rPr>
              <a:t>h</a:t>
            </a:r>
            <a:r>
              <a:rPr sz="3000" b="1" dirty="0">
                <a:latin typeface="Helvetica"/>
                <a:cs typeface="Helvetica"/>
              </a:rPr>
              <a:t>) species</a:t>
            </a:r>
            <a:endParaRPr sz="300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83417" y="4213715"/>
            <a:ext cx="0" cy="927100"/>
          </a:xfrm>
          <a:custGeom>
            <a:avLst/>
            <a:gdLst/>
            <a:ahLst/>
            <a:cxnLst/>
            <a:rect l="l" t="t" r="r" b="b"/>
            <a:pathLst>
              <a:path h="927100">
                <a:moveTo>
                  <a:pt x="0" y="926820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080611" y="3732607"/>
            <a:ext cx="0" cy="307975"/>
          </a:xfrm>
          <a:custGeom>
            <a:avLst/>
            <a:gdLst/>
            <a:ahLst/>
            <a:cxnLst/>
            <a:rect l="l" t="t" r="r" b="b"/>
            <a:pathLst>
              <a:path h="307975">
                <a:moveTo>
                  <a:pt x="0" y="307400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772035" y="3338064"/>
            <a:ext cx="0" cy="130810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130616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941295" y="1917631"/>
            <a:ext cx="0" cy="1247140"/>
          </a:xfrm>
          <a:custGeom>
            <a:avLst/>
            <a:gdLst/>
            <a:ahLst/>
            <a:cxnLst/>
            <a:rect l="l" t="t" r="r" b="b"/>
            <a:pathLst>
              <a:path h="1247139">
                <a:moveTo>
                  <a:pt x="0" y="1246725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602583" y="2644006"/>
            <a:ext cx="0" cy="520700"/>
          </a:xfrm>
          <a:custGeom>
            <a:avLst/>
            <a:gdLst/>
            <a:ahLst/>
            <a:cxnLst/>
            <a:rect l="l" t="t" r="r" b="b"/>
            <a:pathLst>
              <a:path h="520700">
                <a:moveTo>
                  <a:pt x="0" y="520350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715487" y="1917631"/>
            <a:ext cx="0" cy="553085"/>
          </a:xfrm>
          <a:custGeom>
            <a:avLst/>
            <a:gdLst/>
            <a:ahLst/>
            <a:cxnLst/>
            <a:rect l="l" t="t" r="r" b="b"/>
            <a:pathLst>
              <a:path h="553085">
                <a:moveTo>
                  <a:pt x="0" y="552860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489679" y="1917631"/>
            <a:ext cx="0" cy="553085"/>
          </a:xfrm>
          <a:custGeom>
            <a:avLst/>
            <a:gdLst/>
            <a:ahLst/>
            <a:cxnLst/>
            <a:rect l="l" t="t" r="r" b="b"/>
            <a:pathLst>
              <a:path h="553085">
                <a:moveTo>
                  <a:pt x="0" y="552860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094226" y="3197444"/>
            <a:ext cx="0" cy="271780"/>
          </a:xfrm>
          <a:custGeom>
            <a:avLst/>
            <a:gdLst/>
            <a:ahLst/>
            <a:cxnLst/>
            <a:rect l="l" t="t" r="r" b="b"/>
            <a:pathLst>
              <a:path h="271779">
                <a:moveTo>
                  <a:pt x="0" y="271236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263679" y="1917631"/>
            <a:ext cx="0" cy="1106805"/>
          </a:xfrm>
          <a:custGeom>
            <a:avLst/>
            <a:gdLst/>
            <a:ahLst/>
            <a:cxnLst/>
            <a:rect l="l" t="t" r="r" b="b"/>
            <a:pathLst>
              <a:path h="1106805">
                <a:moveTo>
                  <a:pt x="0" y="1106297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924967" y="2911010"/>
            <a:ext cx="0" cy="113030"/>
          </a:xfrm>
          <a:custGeom>
            <a:avLst/>
            <a:gdLst/>
            <a:ahLst/>
            <a:cxnLst/>
            <a:rect l="l" t="t" r="r" b="b"/>
            <a:pathLst>
              <a:path h="113030">
                <a:moveTo>
                  <a:pt x="0" y="112918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037871" y="1917631"/>
            <a:ext cx="0" cy="820419"/>
          </a:xfrm>
          <a:custGeom>
            <a:avLst/>
            <a:gdLst/>
            <a:ahLst/>
            <a:cxnLst/>
            <a:rect l="l" t="t" r="r" b="b"/>
            <a:pathLst>
              <a:path h="820419">
                <a:moveTo>
                  <a:pt x="0" y="819864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0812062" y="1917631"/>
            <a:ext cx="0" cy="820419"/>
          </a:xfrm>
          <a:custGeom>
            <a:avLst/>
            <a:gdLst/>
            <a:ahLst/>
            <a:cxnLst/>
            <a:rect l="l" t="t" r="r" b="b"/>
            <a:pathLst>
              <a:path h="820419">
                <a:moveTo>
                  <a:pt x="0" y="819864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728092" y="3511193"/>
            <a:ext cx="0" cy="48260"/>
          </a:xfrm>
          <a:custGeom>
            <a:avLst/>
            <a:gdLst/>
            <a:ahLst/>
            <a:cxnLst/>
            <a:rect l="l" t="t" r="r" b="b"/>
            <a:pathLst>
              <a:path h="48260">
                <a:moveTo>
                  <a:pt x="0" y="47898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814625" y="2906201"/>
            <a:ext cx="0" cy="431800"/>
          </a:xfrm>
          <a:custGeom>
            <a:avLst/>
            <a:gdLst/>
            <a:ahLst/>
            <a:cxnLst/>
            <a:rect l="l" t="t" r="r" b="b"/>
            <a:pathLst>
              <a:path h="431800">
                <a:moveTo>
                  <a:pt x="0" y="431477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416610" y="2421823"/>
            <a:ext cx="0" cy="19685"/>
          </a:xfrm>
          <a:custGeom>
            <a:avLst/>
            <a:gdLst/>
            <a:ahLst/>
            <a:cxnLst/>
            <a:rect l="l" t="t" r="r" b="b"/>
            <a:pathLst>
              <a:path h="19685">
                <a:moveTo>
                  <a:pt x="0" y="19620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0586062" y="1901665"/>
            <a:ext cx="0" cy="377190"/>
          </a:xfrm>
          <a:custGeom>
            <a:avLst/>
            <a:gdLst/>
            <a:ahLst/>
            <a:cxnLst/>
            <a:rect l="l" t="t" r="r" b="b"/>
            <a:pathLst>
              <a:path h="377189">
                <a:moveTo>
                  <a:pt x="0" y="377037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360254" y="1901665"/>
            <a:ext cx="0" cy="286385"/>
          </a:xfrm>
          <a:custGeom>
            <a:avLst/>
            <a:gdLst/>
            <a:ahLst/>
            <a:cxnLst/>
            <a:rect l="l" t="t" r="r" b="b"/>
            <a:pathLst>
              <a:path h="286385">
                <a:moveTo>
                  <a:pt x="0" y="286048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0134254" y="1901665"/>
            <a:ext cx="0" cy="286385"/>
          </a:xfrm>
          <a:custGeom>
            <a:avLst/>
            <a:gdLst/>
            <a:ahLst/>
            <a:cxnLst/>
            <a:rect l="l" t="t" r="r" b="b"/>
            <a:pathLst>
              <a:path h="286385">
                <a:moveTo>
                  <a:pt x="0" y="286048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9908446" y="1901665"/>
            <a:ext cx="0" cy="540385"/>
          </a:xfrm>
          <a:custGeom>
            <a:avLst/>
            <a:gdLst/>
            <a:ahLst/>
            <a:cxnLst/>
            <a:rect l="l" t="t" r="r" b="b"/>
            <a:pathLst>
              <a:path h="540385">
                <a:moveTo>
                  <a:pt x="0" y="539779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9682638" y="1901665"/>
            <a:ext cx="0" cy="394970"/>
          </a:xfrm>
          <a:custGeom>
            <a:avLst/>
            <a:gdLst/>
            <a:ahLst/>
            <a:cxnLst/>
            <a:rect l="l" t="t" r="r" b="b"/>
            <a:pathLst>
              <a:path h="394969">
                <a:moveTo>
                  <a:pt x="0" y="394927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9456637" y="1901665"/>
            <a:ext cx="0" cy="394970"/>
          </a:xfrm>
          <a:custGeom>
            <a:avLst/>
            <a:gdLst/>
            <a:ahLst/>
            <a:cxnLst/>
            <a:rect l="l" t="t" r="r" b="b"/>
            <a:pathLst>
              <a:path h="394969">
                <a:moveTo>
                  <a:pt x="0" y="394927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9230829" y="1901665"/>
            <a:ext cx="0" cy="530860"/>
          </a:xfrm>
          <a:custGeom>
            <a:avLst/>
            <a:gdLst/>
            <a:ahLst/>
            <a:cxnLst/>
            <a:rect l="l" t="t" r="r" b="b"/>
            <a:pathLst>
              <a:path h="530860">
                <a:moveTo>
                  <a:pt x="0" y="530353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517726" y="2443175"/>
            <a:ext cx="14604" cy="0"/>
          </a:xfrm>
          <a:custGeom>
            <a:avLst/>
            <a:gdLst/>
            <a:ahLst/>
            <a:cxnLst/>
            <a:rect l="l" t="t" r="r" b="b"/>
            <a:pathLst>
              <a:path w="14604">
                <a:moveTo>
                  <a:pt x="0" y="0"/>
                </a:moveTo>
                <a:lnTo>
                  <a:pt x="14425" y="0"/>
                </a:lnTo>
              </a:path>
            </a:pathLst>
          </a:custGeom>
          <a:ln w="144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9005021" y="1901665"/>
            <a:ext cx="0" cy="282575"/>
          </a:xfrm>
          <a:custGeom>
            <a:avLst/>
            <a:gdLst/>
            <a:ahLst/>
            <a:cxnLst/>
            <a:rect l="l" t="t" r="r" b="b"/>
            <a:pathLst>
              <a:path h="282575">
                <a:moveTo>
                  <a:pt x="0" y="282585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779021" y="1901665"/>
            <a:ext cx="0" cy="229870"/>
          </a:xfrm>
          <a:custGeom>
            <a:avLst/>
            <a:gdLst/>
            <a:ahLst/>
            <a:cxnLst/>
            <a:rect l="l" t="t" r="r" b="b"/>
            <a:pathLst>
              <a:path h="229869">
                <a:moveTo>
                  <a:pt x="0" y="229492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553213" y="1901665"/>
            <a:ext cx="0" cy="229870"/>
          </a:xfrm>
          <a:custGeom>
            <a:avLst/>
            <a:gdLst/>
            <a:ahLst/>
            <a:cxnLst/>
            <a:rect l="l" t="t" r="r" b="b"/>
            <a:pathLst>
              <a:path h="229869">
                <a:moveTo>
                  <a:pt x="0" y="229492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327405" y="1901665"/>
            <a:ext cx="0" cy="322580"/>
          </a:xfrm>
          <a:custGeom>
            <a:avLst/>
            <a:gdLst/>
            <a:ahLst/>
            <a:cxnLst/>
            <a:rect l="l" t="t" r="r" b="b"/>
            <a:pathLst>
              <a:path h="322580">
                <a:moveTo>
                  <a:pt x="0" y="322405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101405" y="1901665"/>
            <a:ext cx="0" cy="322580"/>
          </a:xfrm>
          <a:custGeom>
            <a:avLst/>
            <a:gdLst/>
            <a:ahLst/>
            <a:cxnLst/>
            <a:rect l="l" t="t" r="r" b="b"/>
            <a:pathLst>
              <a:path h="322580">
                <a:moveTo>
                  <a:pt x="0" y="322405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875596" y="1901665"/>
            <a:ext cx="0" cy="547370"/>
          </a:xfrm>
          <a:custGeom>
            <a:avLst/>
            <a:gdLst/>
            <a:ahLst/>
            <a:cxnLst/>
            <a:rect l="l" t="t" r="r" b="b"/>
            <a:pathLst>
              <a:path h="547369">
                <a:moveTo>
                  <a:pt x="0" y="547089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649788" y="1901665"/>
            <a:ext cx="0" cy="530225"/>
          </a:xfrm>
          <a:custGeom>
            <a:avLst/>
            <a:gdLst/>
            <a:ahLst/>
            <a:cxnLst/>
            <a:rect l="l" t="t" r="r" b="b"/>
            <a:pathLst>
              <a:path h="530225">
                <a:moveTo>
                  <a:pt x="0" y="529776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423788" y="1901665"/>
            <a:ext cx="0" cy="530225"/>
          </a:xfrm>
          <a:custGeom>
            <a:avLst/>
            <a:gdLst/>
            <a:ahLst/>
            <a:cxnLst/>
            <a:rect l="l" t="t" r="r" b="b"/>
            <a:pathLst>
              <a:path h="530225">
                <a:moveTo>
                  <a:pt x="0" y="529776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197980" y="1901665"/>
            <a:ext cx="0" cy="666115"/>
          </a:xfrm>
          <a:custGeom>
            <a:avLst/>
            <a:gdLst/>
            <a:ahLst/>
            <a:cxnLst/>
            <a:rect l="l" t="t" r="r" b="b"/>
            <a:pathLst>
              <a:path h="666114">
                <a:moveTo>
                  <a:pt x="0" y="665586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971980" y="1901665"/>
            <a:ext cx="0" cy="861694"/>
          </a:xfrm>
          <a:custGeom>
            <a:avLst/>
            <a:gdLst/>
            <a:ahLst/>
            <a:cxnLst/>
            <a:rect l="l" t="t" r="r" b="b"/>
            <a:pathLst>
              <a:path h="861694">
                <a:moveTo>
                  <a:pt x="0" y="861608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892179" y="3125114"/>
            <a:ext cx="0" cy="79375"/>
          </a:xfrm>
          <a:custGeom>
            <a:avLst/>
            <a:gdLst/>
            <a:ahLst/>
            <a:cxnLst/>
            <a:rect l="l" t="t" r="r" b="b"/>
            <a:pathLst>
              <a:path h="79375">
                <a:moveTo>
                  <a:pt x="0" y="79254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746172" y="1917631"/>
            <a:ext cx="0" cy="812800"/>
          </a:xfrm>
          <a:custGeom>
            <a:avLst/>
            <a:gdLst/>
            <a:ahLst/>
            <a:cxnLst/>
            <a:rect l="l" t="t" r="r" b="b"/>
            <a:pathLst>
              <a:path h="812800">
                <a:moveTo>
                  <a:pt x="0" y="812554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520364" y="1917631"/>
            <a:ext cx="0" cy="591185"/>
          </a:xfrm>
          <a:custGeom>
            <a:avLst/>
            <a:gdLst/>
            <a:ahLst/>
            <a:cxnLst/>
            <a:rect l="l" t="t" r="r" b="b"/>
            <a:pathLst>
              <a:path h="591185">
                <a:moveTo>
                  <a:pt x="0" y="590756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294364" y="1917631"/>
            <a:ext cx="0" cy="591185"/>
          </a:xfrm>
          <a:custGeom>
            <a:avLst/>
            <a:gdLst/>
            <a:ahLst/>
            <a:cxnLst/>
            <a:rect l="l" t="t" r="r" b="b"/>
            <a:pathLst>
              <a:path h="591185">
                <a:moveTo>
                  <a:pt x="0" y="590756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068555" y="1917631"/>
            <a:ext cx="0" cy="751205"/>
          </a:xfrm>
          <a:custGeom>
            <a:avLst/>
            <a:gdLst/>
            <a:ahLst/>
            <a:cxnLst/>
            <a:rect l="l" t="t" r="r" b="b"/>
            <a:pathLst>
              <a:path h="751205">
                <a:moveTo>
                  <a:pt x="0" y="750612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842748" y="1917631"/>
            <a:ext cx="0" cy="932180"/>
          </a:xfrm>
          <a:custGeom>
            <a:avLst/>
            <a:gdLst/>
            <a:ahLst/>
            <a:cxnLst/>
            <a:rect l="l" t="t" r="r" b="b"/>
            <a:pathLst>
              <a:path h="932180">
                <a:moveTo>
                  <a:pt x="0" y="932014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616747" y="1917631"/>
            <a:ext cx="0" cy="1034415"/>
          </a:xfrm>
          <a:custGeom>
            <a:avLst/>
            <a:gdLst/>
            <a:ahLst/>
            <a:cxnLst/>
            <a:rect l="l" t="t" r="r" b="b"/>
            <a:pathLst>
              <a:path h="1034414">
                <a:moveTo>
                  <a:pt x="0" y="1033968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390939" y="1917631"/>
            <a:ext cx="0" cy="1287145"/>
          </a:xfrm>
          <a:custGeom>
            <a:avLst/>
            <a:gdLst/>
            <a:ahLst/>
            <a:cxnLst/>
            <a:rect l="l" t="t" r="r" b="b"/>
            <a:pathLst>
              <a:path h="1287145">
                <a:moveTo>
                  <a:pt x="0" y="1286737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686223" y="3711254"/>
            <a:ext cx="0" cy="328930"/>
          </a:xfrm>
          <a:custGeom>
            <a:avLst/>
            <a:gdLst/>
            <a:ahLst/>
            <a:cxnLst/>
            <a:rect l="l" t="t" r="r" b="b"/>
            <a:pathLst>
              <a:path h="328929">
                <a:moveTo>
                  <a:pt x="0" y="328753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254398" y="3158201"/>
            <a:ext cx="0" cy="379730"/>
          </a:xfrm>
          <a:custGeom>
            <a:avLst/>
            <a:gdLst/>
            <a:ahLst/>
            <a:cxnLst/>
            <a:rect l="l" t="t" r="r" b="b"/>
            <a:pathLst>
              <a:path h="379729">
                <a:moveTo>
                  <a:pt x="0" y="379538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473281" y="2939096"/>
            <a:ext cx="0" cy="45720"/>
          </a:xfrm>
          <a:custGeom>
            <a:avLst/>
            <a:gdLst/>
            <a:ahLst/>
            <a:cxnLst/>
            <a:rect l="l" t="t" r="r" b="b"/>
            <a:pathLst>
              <a:path h="45719">
                <a:moveTo>
                  <a:pt x="0" y="45590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4823871" y="2606110"/>
            <a:ext cx="0" cy="48895"/>
          </a:xfrm>
          <a:custGeom>
            <a:avLst/>
            <a:gdLst/>
            <a:ahLst/>
            <a:cxnLst/>
            <a:rect l="l" t="t" r="r" b="b"/>
            <a:pathLst>
              <a:path h="48894">
                <a:moveTo>
                  <a:pt x="0" y="48860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052035" y="2446253"/>
            <a:ext cx="0" cy="97790"/>
          </a:xfrm>
          <a:custGeom>
            <a:avLst/>
            <a:gdLst/>
            <a:ahLst/>
            <a:cxnLst/>
            <a:rect l="l" t="t" r="r" b="b"/>
            <a:pathLst>
              <a:path h="97789">
                <a:moveTo>
                  <a:pt x="0" y="97336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165131" y="1917631"/>
            <a:ext cx="0" cy="355600"/>
          </a:xfrm>
          <a:custGeom>
            <a:avLst/>
            <a:gdLst/>
            <a:ahLst/>
            <a:cxnLst/>
            <a:rect l="l" t="t" r="r" b="b"/>
            <a:pathLst>
              <a:path h="355600">
                <a:moveTo>
                  <a:pt x="0" y="355107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939131" y="1917631"/>
            <a:ext cx="0" cy="355600"/>
          </a:xfrm>
          <a:custGeom>
            <a:avLst/>
            <a:gdLst/>
            <a:ahLst/>
            <a:cxnLst/>
            <a:rect l="l" t="t" r="r" b="b"/>
            <a:pathLst>
              <a:path h="355600">
                <a:moveTo>
                  <a:pt x="0" y="355107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713323" y="1917631"/>
            <a:ext cx="0" cy="626110"/>
          </a:xfrm>
          <a:custGeom>
            <a:avLst/>
            <a:gdLst/>
            <a:ahLst/>
            <a:cxnLst/>
            <a:rect l="l" t="t" r="r" b="b"/>
            <a:pathLst>
              <a:path h="626110">
                <a:moveTo>
                  <a:pt x="0" y="625959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487322" y="1917631"/>
            <a:ext cx="0" cy="737870"/>
          </a:xfrm>
          <a:custGeom>
            <a:avLst/>
            <a:gdLst/>
            <a:ahLst/>
            <a:cxnLst/>
            <a:rect l="l" t="t" r="r" b="b"/>
            <a:pathLst>
              <a:path h="737869">
                <a:moveTo>
                  <a:pt x="0" y="737339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4261515" y="1917631"/>
            <a:ext cx="0" cy="848360"/>
          </a:xfrm>
          <a:custGeom>
            <a:avLst/>
            <a:gdLst/>
            <a:ahLst/>
            <a:cxnLst/>
            <a:rect l="l" t="t" r="r" b="b"/>
            <a:pathLst>
              <a:path h="848360">
                <a:moveTo>
                  <a:pt x="0" y="847950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4035707" y="1917631"/>
            <a:ext cx="0" cy="1067435"/>
          </a:xfrm>
          <a:custGeom>
            <a:avLst/>
            <a:gdLst/>
            <a:ahLst/>
            <a:cxnLst/>
            <a:rect l="l" t="t" r="r" b="b"/>
            <a:pathLst>
              <a:path h="1067435">
                <a:moveTo>
                  <a:pt x="0" y="1067055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3118049" y="3149160"/>
            <a:ext cx="0" cy="388620"/>
          </a:xfrm>
          <a:custGeom>
            <a:avLst/>
            <a:gdLst/>
            <a:ahLst/>
            <a:cxnLst/>
            <a:rect l="l" t="t" r="r" b="b"/>
            <a:pathLst>
              <a:path h="388620">
                <a:moveTo>
                  <a:pt x="0" y="388579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329816" y="2765389"/>
            <a:ext cx="0" cy="210820"/>
          </a:xfrm>
          <a:custGeom>
            <a:avLst/>
            <a:gdLst/>
            <a:ahLst/>
            <a:cxnLst/>
            <a:rect l="l" t="t" r="r" b="b"/>
            <a:pathLst>
              <a:path h="210819">
                <a:moveTo>
                  <a:pt x="0" y="210255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809706" y="1917631"/>
            <a:ext cx="0" cy="441325"/>
          </a:xfrm>
          <a:custGeom>
            <a:avLst/>
            <a:gdLst/>
            <a:ahLst/>
            <a:cxnLst/>
            <a:rect l="l" t="t" r="r" b="b"/>
            <a:pathLst>
              <a:path h="441325">
                <a:moveTo>
                  <a:pt x="0" y="440710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3583898" y="1917631"/>
            <a:ext cx="0" cy="441325"/>
          </a:xfrm>
          <a:custGeom>
            <a:avLst/>
            <a:gdLst/>
            <a:ahLst/>
            <a:cxnLst/>
            <a:rect l="l" t="t" r="r" b="b"/>
            <a:pathLst>
              <a:path h="441325">
                <a:moveTo>
                  <a:pt x="0" y="440710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358090" y="1917631"/>
            <a:ext cx="0" cy="548640"/>
          </a:xfrm>
          <a:custGeom>
            <a:avLst/>
            <a:gdLst/>
            <a:ahLst/>
            <a:cxnLst/>
            <a:rect l="l" t="t" r="r" b="b"/>
            <a:pathLst>
              <a:path h="548639">
                <a:moveTo>
                  <a:pt x="0" y="548051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132090" y="1917631"/>
            <a:ext cx="0" cy="674370"/>
          </a:xfrm>
          <a:custGeom>
            <a:avLst/>
            <a:gdLst/>
            <a:ahLst/>
            <a:cxnLst/>
            <a:rect l="l" t="t" r="r" b="b"/>
            <a:pathLst>
              <a:path h="674369">
                <a:moveTo>
                  <a:pt x="0" y="674243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2906282" y="1917631"/>
            <a:ext cx="0" cy="1058545"/>
          </a:xfrm>
          <a:custGeom>
            <a:avLst/>
            <a:gdLst/>
            <a:ahLst/>
            <a:cxnLst/>
            <a:rect l="l" t="t" r="r" b="b"/>
            <a:pathLst>
              <a:path h="1058545">
                <a:moveTo>
                  <a:pt x="0" y="1058014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772838" y="4032698"/>
            <a:ext cx="0" cy="1108075"/>
          </a:xfrm>
          <a:custGeom>
            <a:avLst/>
            <a:gdLst/>
            <a:ahLst/>
            <a:cxnLst/>
            <a:rect l="l" t="t" r="r" b="b"/>
            <a:pathLst>
              <a:path h="1108075">
                <a:moveTo>
                  <a:pt x="0" y="1107837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2567377" y="2899084"/>
            <a:ext cx="0" cy="532765"/>
          </a:xfrm>
          <a:custGeom>
            <a:avLst/>
            <a:gdLst/>
            <a:ahLst/>
            <a:cxnLst/>
            <a:rect l="l" t="t" r="r" b="b"/>
            <a:pathLst>
              <a:path h="532764">
                <a:moveTo>
                  <a:pt x="0" y="532661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2680474" y="1917631"/>
            <a:ext cx="0" cy="808355"/>
          </a:xfrm>
          <a:custGeom>
            <a:avLst/>
            <a:gdLst/>
            <a:ahLst/>
            <a:cxnLst/>
            <a:rect l="l" t="t" r="r" b="b"/>
            <a:pathLst>
              <a:path h="808355">
                <a:moveTo>
                  <a:pt x="0" y="807937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2454473" y="1917631"/>
            <a:ext cx="0" cy="808355"/>
          </a:xfrm>
          <a:custGeom>
            <a:avLst/>
            <a:gdLst/>
            <a:ahLst/>
            <a:cxnLst/>
            <a:rect l="l" t="t" r="r" b="b"/>
            <a:pathLst>
              <a:path h="808355">
                <a:moveTo>
                  <a:pt x="0" y="807937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974583" y="3124922"/>
            <a:ext cx="0" cy="307340"/>
          </a:xfrm>
          <a:custGeom>
            <a:avLst/>
            <a:gdLst/>
            <a:ahLst/>
            <a:cxnLst/>
            <a:rect l="l" t="t" r="r" b="b"/>
            <a:pathLst>
              <a:path h="307339">
                <a:moveTo>
                  <a:pt x="0" y="306823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2228665" y="1917631"/>
            <a:ext cx="0" cy="1033780"/>
          </a:xfrm>
          <a:custGeom>
            <a:avLst/>
            <a:gdLst/>
            <a:ahLst/>
            <a:cxnLst/>
            <a:rect l="l" t="t" r="r" b="b"/>
            <a:pathLst>
              <a:path h="1033780">
                <a:moveTo>
                  <a:pt x="0" y="1033775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2002857" y="1917631"/>
            <a:ext cx="0" cy="781050"/>
          </a:xfrm>
          <a:custGeom>
            <a:avLst/>
            <a:gdLst/>
            <a:ahLst/>
            <a:cxnLst/>
            <a:rect l="l" t="t" r="r" b="b"/>
            <a:pathLst>
              <a:path h="781050">
                <a:moveTo>
                  <a:pt x="0" y="781006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776857" y="1917631"/>
            <a:ext cx="0" cy="781050"/>
          </a:xfrm>
          <a:custGeom>
            <a:avLst/>
            <a:gdLst/>
            <a:ahLst/>
            <a:cxnLst/>
            <a:rect l="l" t="t" r="r" b="b"/>
            <a:pathLst>
              <a:path h="781050">
                <a:moveTo>
                  <a:pt x="0" y="781006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551049" y="1917631"/>
            <a:ext cx="0" cy="898525"/>
          </a:xfrm>
          <a:custGeom>
            <a:avLst/>
            <a:gdLst/>
            <a:ahLst/>
            <a:cxnLst/>
            <a:rect l="l" t="t" r="r" b="b"/>
            <a:pathLst>
              <a:path h="898525">
                <a:moveTo>
                  <a:pt x="0" y="897965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325049" y="1917631"/>
            <a:ext cx="0" cy="1681480"/>
          </a:xfrm>
          <a:custGeom>
            <a:avLst/>
            <a:gdLst/>
            <a:ahLst/>
            <a:cxnLst/>
            <a:rect l="l" t="t" r="r" b="b"/>
            <a:pathLst>
              <a:path h="1681479">
                <a:moveTo>
                  <a:pt x="0" y="1680896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901707" y="3570827"/>
            <a:ext cx="0" cy="123825"/>
          </a:xfrm>
          <a:custGeom>
            <a:avLst/>
            <a:gdLst/>
            <a:ahLst/>
            <a:cxnLst/>
            <a:rect l="l" t="t" r="r" b="b"/>
            <a:pathLst>
              <a:path h="123825">
                <a:moveTo>
                  <a:pt x="0" y="123498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1099241" y="1917631"/>
            <a:ext cx="0" cy="1480185"/>
          </a:xfrm>
          <a:custGeom>
            <a:avLst/>
            <a:gdLst/>
            <a:ahLst/>
            <a:cxnLst/>
            <a:rect l="l" t="t" r="r" b="b"/>
            <a:pathLst>
              <a:path h="1480185">
                <a:moveTo>
                  <a:pt x="0" y="1479680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703981" y="2989688"/>
            <a:ext cx="0" cy="407670"/>
          </a:xfrm>
          <a:custGeom>
            <a:avLst/>
            <a:gdLst/>
            <a:ahLst/>
            <a:cxnLst/>
            <a:rect l="l" t="t" r="r" b="b"/>
            <a:pathLst>
              <a:path h="407670">
                <a:moveTo>
                  <a:pt x="0" y="407623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873433" y="1917631"/>
            <a:ext cx="0" cy="899160"/>
          </a:xfrm>
          <a:custGeom>
            <a:avLst/>
            <a:gdLst/>
            <a:ahLst/>
            <a:cxnLst/>
            <a:rect l="l" t="t" r="r" b="b"/>
            <a:pathLst>
              <a:path h="899160">
                <a:moveTo>
                  <a:pt x="0" y="898542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647432" y="1917631"/>
            <a:ext cx="0" cy="738505"/>
          </a:xfrm>
          <a:custGeom>
            <a:avLst/>
            <a:gdLst/>
            <a:ahLst/>
            <a:cxnLst/>
            <a:rect l="l" t="t" r="r" b="b"/>
            <a:pathLst>
              <a:path h="738505">
                <a:moveTo>
                  <a:pt x="0" y="738493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421624" y="1917631"/>
            <a:ext cx="0" cy="738505"/>
          </a:xfrm>
          <a:custGeom>
            <a:avLst/>
            <a:gdLst/>
            <a:ahLst/>
            <a:cxnLst/>
            <a:rect l="l" t="t" r="r" b="b"/>
            <a:pathLst>
              <a:path h="738505">
                <a:moveTo>
                  <a:pt x="0" y="738493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195816" y="1917631"/>
            <a:ext cx="0" cy="1941830"/>
          </a:xfrm>
          <a:custGeom>
            <a:avLst/>
            <a:gdLst/>
            <a:ahLst/>
            <a:cxnLst/>
            <a:rect l="l" t="t" r="r" b="b"/>
            <a:pathLst>
              <a:path h="1941829">
                <a:moveTo>
                  <a:pt x="0" y="1941552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3674875" y="5203054"/>
            <a:ext cx="2605405" cy="0"/>
          </a:xfrm>
          <a:custGeom>
            <a:avLst/>
            <a:gdLst/>
            <a:ahLst/>
            <a:cxnLst/>
            <a:rect l="l" t="t" r="r" b="b"/>
            <a:pathLst>
              <a:path w="2605404">
                <a:moveTo>
                  <a:pt x="0" y="0"/>
                </a:moveTo>
                <a:lnTo>
                  <a:pt x="2604870" y="0"/>
                </a:lnTo>
              </a:path>
            </a:pathLst>
          </a:custGeom>
          <a:ln w="144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862661" y="5203054"/>
            <a:ext cx="2605405" cy="0"/>
          </a:xfrm>
          <a:custGeom>
            <a:avLst/>
            <a:gdLst/>
            <a:ahLst/>
            <a:cxnLst/>
            <a:rect l="l" t="t" r="r" b="b"/>
            <a:pathLst>
              <a:path w="2605404">
                <a:moveTo>
                  <a:pt x="0" y="0"/>
                </a:moveTo>
                <a:lnTo>
                  <a:pt x="2604870" y="0"/>
                </a:lnTo>
              </a:path>
            </a:pathLst>
          </a:custGeom>
          <a:ln w="144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6480165" y="4102719"/>
            <a:ext cx="2496820" cy="0"/>
          </a:xfrm>
          <a:custGeom>
            <a:avLst/>
            <a:gdLst/>
            <a:ahLst/>
            <a:cxnLst/>
            <a:rect l="l" t="t" r="r" b="b"/>
            <a:pathLst>
              <a:path w="2496820">
                <a:moveTo>
                  <a:pt x="0" y="0"/>
                </a:moveTo>
                <a:lnTo>
                  <a:pt x="2496774" y="0"/>
                </a:lnTo>
              </a:path>
            </a:pathLst>
          </a:custGeom>
          <a:ln w="144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3776046" y="4102719"/>
            <a:ext cx="2496820" cy="0"/>
          </a:xfrm>
          <a:custGeom>
            <a:avLst/>
            <a:gdLst/>
            <a:ahLst/>
            <a:cxnLst/>
            <a:rect l="l" t="t" r="r" b="b"/>
            <a:pathLst>
              <a:path w="2496820">
                <a:moveTo>
                  <a:pt x="0" y="0"/>
                </a:moveTo>
                <a:lnTo>
                  <a:pt x="2496775" y="0"/>
                </a:lnTo>
              </a:path>
            </a:pathLst>
          </a:custGeom>
          <a:ln w="144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11184242" y="3621612"/>
            <a:ext cx="138430" cy="0"/>
          </a:xfrm>
          <a:custGeom>
            <a:avLst/>
            <a:gdLst/>
            <a:ahLst/>
            <a:cxnLst/>
            <a:rect l="l" t="t" r="r" b="b"/>
            <a:pathLst>
              <a:path w="138429">
                <a:moveTo>
                  <a:pt x="0" y="0"/>
                </a:moveTo>
                <a:lnTo>
                  <a:pt x="138292" y="0"/>
                </a:lnTo>
              </a:path>
            </a:pathLst>
          </a:custGeom>
          <a:ln w="144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9177359" y="3621612"/>
            <a:ext cx="1813560" cy="0"/>
          </a:xfrm>
          <a:custGeom>
            <a:avLst/>
            <a:gdLst/>
            <a:ahLst/>
            <a:cxnLst/>
            <a:rect l="l" t="t" r="r" b="b"/>
            <a:pathLst>
              <a:path w="1813559">
                <a:moveTo>
                  <a:pt x="0" y="0"/>
                </a:moveTo>
                <a:lnTo>
                  <a:pt x="1813388" y="0"/>
                </a:lnTo>
              </a:path>
            </a:pathLst>
          </a:custGeom>
          <a:ln w="144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6817915" y="3621611"/>
            <a:ext cx="2152650" cy="0"/>
          </a:xfrm>
          <a:custGeom>
            <a:avLst/>
            <a:gdLst/>
            <a:ahLst/>
            <a:cxnLst/>
            <a:rect l="l" t="t" r="r" b="b"/>
            <a:pathLst>
              <a:path w="2152650">
                <a:moveTo>
                  <a:pt x="0" y="0"/>
                </a:moveTo>
                <a:lnTo>
                  <a:pt x="2152100" y="0"/>
                </a:lnTo>
              </a:path>
            </a:pathLst>
          </a:custGeom>
          <a:ln w="144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11529878" y="3531199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5">
                <a:moveTo>
                  <a:pt x="0" y="0"/>
                </a:moveTo>
                <a:lnTo>
                  <a:pt x="138485" y="0"/>
                </a:lnTo>
              </a:path>
            </a:pathLst>
          </a:custGeom>
          <a:ln w="144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11184242" y="3531199"/>
            <a:ext cx="138430" cy="0"/>
          </a:xfrm>
          <a:custGeom>
            <a:avLst/>
            <a:gdLst/>
            <a:ahLst/>
            <a:cxnLst/>
            <a:rect l="l" t="t" r="r" b="b"/>
            <a:pathLst>
              <a:path w="138429">
                <a:moveTo>
                  <a:pt x="0" y="0"/>
                </a:moveTo>
                <a:lnTo>
                  <a:pt x="138292" y="0"/>
                </a:lnTo>
              </a:path>
            </a:pathLst>
          </a:custGeom>
          <a:ln w="144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6824840" y="3400198"/>
            <a:ext cx="886460" cy="0"/>
          </a:xfrm>
          <a:custGeom>
            <a:avLst/>
            <a:gdLst/>
            <a:ahLst/>
            <a:cxnLst/>
            <a:rect l="l" t="t" r="r" b="b"/>
            <a:pathLst>
              <a:path w="886459">
                <a:moveTo>
                  <a:pt x="0" y="0"/>
                </a:moveTo>
                <a:lnTo>
                  <a:pt x="886113" y="0"/>
                </a:lnTo>
              </a:path>
            </a:pathLst>
          </a:custGeom>
          <a:ln w="144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5731382" y="3400198"/>
            <a:ext cx="886460" cy="0"/>
          </a:xfrm>
          <a:custGeom>
            <a:avLst/>
            <a:gdLst/>
            <a:ahLst/>
            <a:cxnLst/>
            <a:rect l="l" t="t" r="r" b="b"/>
            <a:pathLst>
              <a:path w="886459">
                <a:moveTo>
                  <a:pt x="0" y="0"/>
                </a:moveTo>
                <a:lnTo>
                  <a:pt x="886113" y="0"/>
                </a:lnTo>
              </a:path>
            </a:pathLst>
          </a:custGeom>
          <a:ln w="144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7911372" y="2811172"/>
            <a:ext cx="642620" cy="0"/>
          </a:xfrm>
          <a:custGeom>
            <a:avLst/>
            <a:gdLst/>
            <a:ahLst/>
            <a:cxnLst/>
            <a:rect l="l" t="t" r="r" b="b"/>
            <a:pathLst>
              <a:path w="642620">
                <a:moveTo>
                  <a:pt x="0" y="0"/>
                </a:moveTo>
                <a:lnTo>
                  <a:pt x="642225" y="0"/>
                </a:lnTo>
              </a:path>
            </a:pathLst>
          </a:custGeom>
          <a:ln w="144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7061996" y="2811172"/>
            <a:ext cx="642620" cy="0"/>
          </a:xfrm>
          <a:custGeom>
            <a:avLst/>
            <a:gdLst/>
            <a:ahLst/>
            <a:cxnLst/>
            <a:rect l="l" t="t" r="r" b="b"/>
            <a:pathLst>
              <a:path w="642620">
                <a:moveTo>
                  <a:pt x="0" y="0"/>
                </a:moveTo>
                <a:lnTo>
                  <a:pt x="642033" y="0"/>
                </a:lnTo>
              </a:path>
            </a:pathLst>
          </a:custGeom>
          <a:ln w="144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8754016" y="2679401"/>
            <a:ext cx="923925" cy="0"/>
          </a:xfrm>
          <a:custGeom>
            <a:avLst/>
            <a:gdLst/>
            <a:ahLst/>
            <a:cxnLst/>
            <a:rect l="l" t="t" r="r" b="b"/>
            <a:pathLst>
              <a:path w="923925">
                <a:moveTo>
                  <a:pt x="0" y="0"/>
                </a:moveTo>
                <a:lnTo>
                  <a:pt x="923812" y="0"/>
                </a:lnTo>
              </a:path>
            </a:pathLst>
          </a:custGeom>
          <a:ln w="144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7958303" y="2679402"/>
            <a:ext cx="588645" cy="0"/>
          </a:xfrm>
          <a:custGeom>
            <a:avLst/>
            <a:gdLst/>
            <a:ahLst/>
            <a:cxnLst/>
            <a:rect l="l" t="t" r="r" b="b"/>
            <a:pathLst>
              <a:path w="588645">
                <a:moveTo>
                  <a:pt x="0" y="0"/>
                </a:moveTo>
                <a:lnTo>
                  <a:pt x="588370" y="0"/>
                </a:lnTo>
              </a:path>
            </a:pathLst>
          </a:custGeom>
          <a:ln w="144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7629977" y="2679402"/>
            <a:ext cx="135255" cy="0"/>
          </a:xfrm>
          <a:custGeom>
            <a:avLst/>
            <a:gdLst/>
            <a:ahLst/>
            <a:cxnLst/>
            <a:rect l="l" t="t" r="r" b="b"/>
            <a:pathLst>
              <a:path w="135254">
                <a:moveTo>
                  <a:pt x="0" y="0"/>
                </a:moveTo>
                <a:lnTo>
                  <a:pt x="134830" y="0"/>
                </a:lnTo>
              </a:path>
            </a:pathLst>
          </a:custGeom>
          <a:ln w="144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9998269" y="2545322"/>
            <a:ext cx="53975" cy="0"/>
          </a:xfrm>
          <a:custGeom>
            <a:avLst/>
            <a:gdLst/>
            <a:ahLst/>
            <a:cxnLst/>
            <a:rect l="l" t="t" r="r" b="b"/>
            <a:pathLst>
              <a:path w="53975">
                <a:moveTo>
                  <a:pt x="0" y="0"/>
                </a:moveTo>
                <a:lnTo>
                  <a:pt x="53663" y="0"/>
                </a:lnTo>
              </a:path>
            </a:pathLst>
          </a:custGeom>
          <a:ln w="144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9665230" y="2538109"/>
            <a:ext cx="0" cy="14604"/>
          </a:xfrm>
          <a:custGeom>
            <a:avLst/>
            <a:gdLst/>
            <a:ahLst/>
            <a:cxnLst/>
            <a:rect l="l" t="t" r="r" b="b"/>
            <a:pathLst>
              <a:path h="14605">
                <a:moveTo>
                  <a:pt x="0" y="14427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10259275" y="2489536"/>
            <a:ext cx="53975" cy="0"/>
          </a:xfrm>
          <a:custGeom>
            <a:avLst/>
            <a:gdLst/>
            <a:ahLst/>
            <a:cxnLst/>
            <a:rect l="l" t="t" r="r" b="b"/>
            <a:pathLst>
              <a:path w="53975">
                <a:moveTo>
                  <a:pt x="0" y="0"/>
                </a:moveTo>
                <a:lnTo>
                  <a:pt x="53855" y="0"/>
                </a:lnTo>
              </a:path>
            </a:pathLst>
          </a:custGeom>
          <a:ln w="144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9998269" y="2489536"/>
            <a:ext cx="53975" cy="0"/>
          </a:xfrm>
          <a:custGeom>
            <a:avLst/>
            <a:gdLst/>
            <a:ahLst/>
            <a:cxnLst/>
            <a:rect l="l" t="t" r="r" b="b"/>
            <a:pathLst>
              <a:path w="53975">
                <a:moveTo>
                  <a:pt x="0" y="0"/>
                </a:moveTo>
                <a:lnTo>
                  <a:pt x="53663" y="0"/>
                </a:lnTo>
              </a:path>
            </a:pathLst>
          </a:custGeom>
          <a:ln w="144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7629977" y="2615343"/>
            <a:ext cx="128270" cy="0"/>
          </a:xfrm>
          <a:custGeom>
            <a:avLst/>
            <a:gdLst/>
            <a:ahLst/>
            <a:cxnLst/>
            <a:rect l="l" t="t" r="r" b="b"/>
            <a:pathLst>
              <a:path w="128270">
                <a:moveTo>
                  <a:pt x="0" y="0"/>
                </a:moveTo>
                <a:lnTo>
                  <a:pt x="127906" y="0"/>
                </a:lnTo>
              </a:path>
            </a:pathLst>
          </a:custGeom>
          <a:ln w="144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7287803" y="2615343"/>
            <a:ext cx="135255" cy="0"/>
          </a:xfrm>
          <a:custGeom>
            <a:avLst/>
            <a:gdLst/>
            <a:ahLst/>
            <a:cxnLst/>
            <a:rect l="l" t="t" r="r" b="b"/>
            <a:pathLst>
              <a:path w="135254">
                <a:moveTo>
                  <a:pt x="0" y="0"/>
                </a:moveTo>
                <a:lnTo>
                  <a:pt x="134830" y="0"/>
                </a:lnTo>
              </a:path>
            </a:pathLst>
          </a:custGeom>
          <a:ln w="144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7965227" y="2556287"/>
            <a:ext cx="124460" cy="0"/>
          </a:xfrm>
          <a:custGeom>
            <a:avLst/>
            <a:gdLst/>
            <a:ahLst/>
            <a:cxnLst/>
            <a:rect l="l" t="t" r="r" b="b"/>
            <a:pathLst>
              <a:path w="124459">
                <a:moveTo>
                  <a:pt x="0" y="0"/>
                </a:moveTo>
                <a:lnTo>
                  <a:pt x="124444" y="0"/>
                </a:lnTo>
              </a:path>
            </a:pathLst>
          </a:custGeom>
          <a:ln w="144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7739612" y="2556287"/>
            <a:ext cx="18415" cy="0"/>
          </a:xfrm>
          <a:custGeom>
            <a:avLst/>
            <a:gdLst/>
            <a:ahLst/>
            <a:cxnLst/>
            <a:rect l="l" t="t" r="r" b="b"/>
            <a:pathLst>
              <a:path w="18415">
                <a:moveTo>
                  <a:pt x="0" y="0"/>
                </a:moveTo>
                <a:lnTo>
                  <a:pt x="18272" y="0"/>
                </a:lnTo>
              </a:path>
            </a:pathLst>
          </a:custGeom>
          <a:ln w="144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8297015" y="2496846"/>
            <a:ext cx="124460" cy="0"/>
          </a:xfrm>
          <a:custGeom>
            <a:avLst/>
            <a:gdLst/>
            <a:ahLst/>
            <a:cxnLst/>
            <a:rect l="l" t="t" r="r" b="b"/>
            <a:pathLst>
              <a:path w="124459">
                <a:moveTo>
                  <a:pt x="0" y="0"/>
                </a:moveTo>
                <a:lnTo>
                  <a:pt x="124252" y="0"/>
                </a:lnTo>
              </a:path>
            </a:pathLst>
          </a:custGeom>
          <a:ln w="144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7965420" y="2496846"/>
            <a:ext cx="124460" cy="0"/>
          </a:xfrm>
          <a:custGeom>
            <a:avLst/>
            <a:gdLst/>
            <a:ahLst/>
            <a:cxnLst/>
            <a:rect l="l" t="t" r="r" b="b"/>
            <a:pathLst>
              <a:path w="124459">
                <a:moveTo>
                  <a:pt x="0" y="0"/>
                </a:moveTo>
                <a:lnTo>
                  <a:pt x="124252" y="0"/>
                </a:lnTo>
              </a:path>
            </a:pathLst>
          </a:custGeom>
          <a:ln w="144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8621686" y="2342568"/>
            <a:ext cx="110489" cy="0"/>
          </a:xfrm>
          <a:custGeom>
            <a:avLst/>
            <a:gdLst/>
            <a:ahLst/>
            <a:cxnLst/>
            <a:rect l="l" t="t" r="r" b="b"/>
            <a:pathLst>
              <a:path w="110490">
                <a:moveTo>
                  <a:pt x="0" y="0"/>
                </a:moveTo>
                <a:lnTo>
                  <a:pt x="110211" y="0"/>
                </a:lnTo>
              </a:path>
            </a:pathLst>
          </a:custGeom>
          <a:ln w="144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5738307" y="3266888"/>
            <a:ext cx="50800" cy="0"/>
          </a:xfrm>
          <a:custGeom>
            <a:avLst/>
            <a:gdLst/>
            <a:ahLst/>
            <a:cxnLst/>
            <a:rect l="l" t="t" r="r" b="b"/>
            <a:pathLst>
              <a:path w="50800">
                <a:moveTo>
                  <a:pt x="0" y="0"/>
                </a:moveTo>
                <a:lnTo>
                  <a:pt x="50200" y="0"/>
                </a:lnTo>
              </a:path>
            </a:pathLst>
          </a:custGeom>
          <a:ln w="144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5480762" y="3266888"/>
            <a:ext cx="50800" cy="0"/>
          </a:xfrm>
          <a:custGeom>
            <a:avLst/>
            <a:gdLst/>
            <a:ahLst/>
            <a:cxnLst/>
            <a:rect l="l" t="t" r="r" b="b"/>
            <a:pathLst>
              <a:path w="50800">
                <a:moveTo>
                  <a:pt x="0" y="0"/>
                </a:moveTo>
                <a:lnTo>
                  <a:pt x="50201" y="0"/>
                </a:lnTo>
              </a:path>
            </a:pathLst>
          </a:custGeom>
          <a:ln w="144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5988927" y="3014119"/>
            <a:ext cx="74930" cy="0"/>
          </a:xfrm>
          <a:custGeom>
            <a:avLst/>
            <a:gdLst/>
            <a:ahLst/>
            <a:cxnLst/>
            <a:rect l="l" t="t" r="r" b="b"/>
            <a:pathLst>
              <a:path w="74929">
                <a:moveTo>
                  <a:pt x="0" y="0"/>
                </a:moveTo>
                <a:lnTo>
                  <a:pt x="74820" y="0"/>
                </a:lnTo>
              </a:path>
            </a:pathLst>
          </a:custGeom>
          <a:ln w="144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5706570" y="3014119"/>
            <a:ext cx="75565" cy="0"/>
          </a:xfrm>
          <a:custGeom>
            <a:avLst/>
            <a:gdLst/>
            <a:ahLst/>
            <a:cxnLst/>
            <a:rect l="l" t="t" r="r" b="b"/>
            <a:pathLst>
              <a:path w="75564">
                <a:moveTo>
                  <a:pt x="0" y="0"/>
                </a:moveTo>
                <a:lnTo>
                  <a:pt x="75012" y="0"/>
                </a:lnTo>
              </a:path>
            </a:pathLst>
          </a:custGeom>
          <a:ln w="144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6264166" y="2912165"/>
            <a:ext cx="124460" cy="0"/>
          </a:xfrm>
          <a:custGeom>
            <a:avLst/>
            <a:gdLst/>
            <a:ahLst/>
            <a:cxnLst/>
            <a:rect l="l" t="t" r="r" b="b"/>
            <a:pathLst>
              <a:path w="124460">
                <a:moveTo>
                  <a:pt x="0" y="0"/>
                </a:moveTo>
                <a:lnTo>
                  <a:pt x="124252" y="0"/>
                </a:lnTo>
              </a:path>
            </a:pathLst>
          </a:custGeom>
          <a:ln w="144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5932571" y="2912165"/>
            <a:ext cx="124460" cy="0"/>
          </a:xfrm>
          <a:custGeom>
            <a:avLst/>
            <a:gdLst/>
            <a:ahLst/>
            <a:cxnLst/>
            <a:rect l="l" t="t" r="r" b="b"/>
            <a:pathLst>
              <a:path w="124460">
                <a:moveTo>
                  <a:pt x="0" y="0"/>
                </a:moveTo>
                <a:lnTo>
                  <a:pt x="124252" y="0"/>
                </a:lnTo>
              </a:path>
            </a:pathLst>
          </a:custGeom>
          <a:ln w="144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6588837" y="2792705"/>
            <a:ext cx="53975" cy="0"/>
          </a:xfrm>
          <a:custGeom>
            <a:avLst/>
            <a:gdLst/>
            <a:ahLst/>
            <a:cxnLst/>
            <a:rect l="l" t="t" r="r" b="b"/>
            <a:pathLst>
              <a:path w="53975">
                <a:moveTo>
                  <a:pt x="0" y="0"/>
                </a:moveTo>
                <a:lnTo>
                  <a:pt x="53662" y="0"/>
                </a:lnTo>
              </a:path>
            </a:pathLst>
          </a:custGeom>
          <a:ln w="144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3782971" y="3600259"/>
            <a:ext cx="368300" cy="0"/>
          </a:xfrm>
          <a:custGeom>
            <a:avLst/>
            <a:gdLst/>
            <a:ahLst/>
            <a:cxnLst/>
            <a:rect l="l" t="t" r="r" b="b"/>
            <a:pathLst>
              <a:path w="368300">
                <a:moveTo>
                  <a:pt x="0" y="0"/>
                </a:moveTo>
                <a:lnTo>
                  <a:pt x="367947" y="0"/>
                </a:lnTo>
              </a:path>
            </a:pathLst>
          </a:custGeom>
          <a:ln w="144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3207872" y="3600259"/>
            <a:ext cx="368300" cy="0"/>
          </a:xfrm>
          <a:custGeom>
            <a:avLst/>
            <a:gdLst/>
            <a:ahLst/>
            <a:cxnLst/>
            <a:rect l="l" t="t" r="r" b="b"/>
            <a:pathLst>
              <a:path w="368300">
                <a:moveTo>
                  <a:pt x="0" y="0"/>
                </a:moveTo>
                <a:lnTo>
                  <a:pt x="367755" y="0"/>
                </a:lnTo>
              </a:path>
            </a:pathLst>
          </a:custGeom>
          <a:ln w="144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4351145" y="3047206"/>
            <a:ext cx="19050" cy="0"/>
          </a:xfrm>
          <a:custGeom>
            <a:avLst/>
            <a:gdLst/>
            <a:ahLst/>
            <a:cxnLst/>
            <a:rect l="l" t="t" r="r" b="b"/>
            <a:pathLst>
              <a:path w="19050">
                <a:moveTo>
                  <a:pt x="0" y="0"/>
                </a:moveTo>
                <a:lnTo>
                  <a:pt x="18464" y="0"/>
                </a:lnTo>
              </a:path>
            </a:pathLst>
          </a:custGeom>
          <a:ln w="144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4125529" y="3047206"/>
            <a:ext cx="18415" cy="0"/>
          </a:xfrm>
          <a:custGeom>
            <a:avLst/>
            <a:gdLst/>
            <a:ahLst/>
            <a:cxnLst/>
            <a:rect l="l" t="t" r="r" b="b"/>
            <a:pathLst>
              <a:path w="18414">
                <a:moveTo>
                  <a:pt x="0" y="0"/>
                </a:moveTo>
                <a:lnTo>
                  <a:pt x="18272" y="0"/>
                </a:lnTo>
              </a:path>
            </a:pathLst>
          </a:custGeom>
          <a:ln w="144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4575703" y="2820887"/>
            <a:ext cx="0" cy="14604"/>
          </a:xfrm>
          <a:custGeom>
            <a:avLst/>
            <a:gdLst/>
            <a:ahLst/>
            <a:cxnLst/>
            <a:rect l="l" t="t" r="r" b="b"/>
            <a:pathLst>
              <a:path h="14605">
                <a:moveTo>
                  <a:pt x="0" y="14427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4357011" y="2820887"/>
            <a:ext cx="0" cy="14604"/>
          </a:xfrm>
          <a:custGeom>
            <a:avLst/>
            <a:gdLst/>
            <a:ahLst/>
            <a:cxnLst/>
            <a:rect l="l" t="t" r="r" b="b"/>
            <a:pathLst>
              <a:path h="14605">
                <a:moveTo>
                  <a:pt x="0" y="14427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3220470" y="3030951"/>
            <a:ext cx="0" cy="14604"/>
          </a:xfrm>
          <a:custGeom>
            <a:avLst/>
            <a:gdLst/>
            <a:ahLst/>
            <a:cxnLst/>
            <a:rect l="l" t="t" r="r" b="b"/>
            <a:pathLst>
              <a:path h="14605">
                <a:moveTo>
                  <a:pt x="0" y="14427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3001779" y="3030951"/>
            <a:ext cx="0" cy="14604"/>
          </a:xfrm>
          <a:custGeom>
            <a:avLst/>
            <a:gdLst/>
            <a:ahLst/>
            <a:cxnLst/>
            <a:rect l="l" t="t" r="r" b="b"/>
            <a:pathLst>
              <a:path h="14605">
                <a:moveTo>
                  <a:pt x="0" y="14427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869586" y="3921703"/>
            <a:ext cx="377190" cy="0"/>
          </a:xfrm>
          <a:custGeom>
            <a:avLst/>
            <a:gdLst/>
            <a:ahLst/>
            <a:cxnLst/>
            <a:rect l="l" t="t" r="r" b="b"/>
            <a:pathLst>
              <a:path w="377190">
                <a:moveTo>
                  <a:pt x="0" y="0"/>
                </a:moveTo>
                <a:lnTo>
                  <a:pt x="376602" y="0"/>
                </a:lnTo>
              </a:path>
            </a:pathLst>
          </a:custGeom>
          <a:ln w="144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285639" y="3921703"/>
            <a:ext cx="377190" cy="0"/>
          </a:xfrm>
          <a:custGeom>
            <a:avLst/>
            <a:gdLst/>
            <a:ahLst/>
            <a:cxnLst/>
            <a:rect l="l" t="t" r="r" b="b"/>
            <a:pathLst>
              <a:path w="377190">
                <a:moveTo>
                  <a:pt x="0" y="0"/>
                </a:moveTo>
                <a:lnTo>
                  <a:pt x="376603" y="0"/>
                </a:lnTo>
              </a:path>
            </a:pathLst>
          </a:custGeom>
          <a:ln w="144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1446608" y="3756845"/>
            <a:ext cx="241300" cy="0"/>
          </a:xfrm>
          <a:custGeom>
            <a:avLst/>
            <a:gdLst/>
            <a:ahLst/>
            <a:cxnLst/>
            <a:rect l="l" t="t" r="r" b="b"/>
            <a:pathLst>
              <a:path w="241300">
                <a:moveTo>
                  <a:pt x="0" y="0"/>
                </a:moveTo>
                <a:lnTo>
                  <a:pt x="240810" y="0"/>
                </a:lnTo>
              </a:path>
            </a:pathLst>
          </a:custGeom>
          <a:ln w="144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991530" y="3756845"/>
            <a:ext cx="248285" cy="0"/>
          </a:xfrm>
          <a:custGeom>
            <a:avLst/>
            <a:gdLst/>
            <a:ahLst/>
            <a:cxnLst/>
            <a:rect l="l" t="t" r="r" b="b"/>
            <a:pathLst>
              <a:path w="248284">
                <a:moveTo>
                  <a:pt x="0" y="0"/>
                </a:moveTo>
                <a:lnTo>
                  <a:pt x="247735" y="0"/>
                </a:lnTo>
              </a:path>
            </a:pathLst>
          </a:custGeom>
          <a:ln w="144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1894762" y="3661046"/>
            <a:ext cx="273050" cy="0"/>
          </a:xfrm>
          <a:custGeom>
            <a:avLst/>
            <a:gdLst/>
            <a:ahLst/>
            <a:cxnLst/>
            <a:rect l="l" t="t" r="r" b="b"/>
            <a:pathLst>
              <a:path w="273050">
                <a:moveTo>
                  <a:pt x="0" y="0"/>
                </a:moveTo>
                <a:lnTo>
                  <a:pt x="272546" y="0"/>
                </a:lnTo>
              </a:path>
            </a:pathLst>
          </a:custGeom>
          <a:ln w="144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1415064" y="3661046"/>
            <a:ext cx="272415" cy="0"/>
          </a:xfrm>
          <a:custGeom>
            <a:avLst/>
            <a:gdLst/>
            <a:ahLst/>
            <a:cxnLst/>
            <a:rect l="l" t="t" r="r" b="b"/>
            <a:pathLst>
              <a:path w="272414">
                <a:moveTo>
                  <a:pt x="0" y="0"/>
                </a:moveTo>
                <a:lnTo>
                  <a:pt x="272354" y="0"/>
                </a:lnTo>
              </a:path>
            </a:pathLst>
          </a:custGeom>
          <a:ln w="144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2367728" y="3494457"/>
            <a:ext cx="96520" cy="0"/>
          </a:xfrm>
          <a:custGeom>
            <a:avLst/>
            <a:gdLst/>
            <a:ahLst/>
            <a:cxnLst/>
            <a:rect l="l" t="t" r="r" b="b"/>
            <a:pathLst>
              <a:path w="96519">
                <a:moveTo>
                  <a:pt x="0" y="0"/>
                </a:moveTo>
                <a:lnTo>
                  <a:pt x="96170" y="0"/>
                </a:lnTo>
              </a:path>
            </a:pathLst>
          </a:custGeom>
          <a:ln w="144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2064406" y="3494457"/>
            <a:ext cx="96520" cy="0"/>
          </a:xfrm>
          <a:custGeom>
            <a:avLst/>
            <a:gdLst/>
            <a:ahLst/>
            <a:cxnLst/>
            <a:rect l="l" t="t" r="r" b="b"/>
            <a:pathLst>
              <a:path w="96519">
                <a:moveTo>
                  <a:pt x="0" y="0"/>
                </a:moveTo>
                <a:lnTo>
                  <a:pt x="95978" y="0"/>
                </a:lnTo>
              </a:path>
            </a:pathLst>
          </a:custGeom>
          <a:ln w="144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2071331" y="3013926"/>
            <a:ext cx="53975" cy="0"/>
          </a:xfrm>
          <a:custGeom>
            <a:avLst/>
            <a:gdLst/>
            <a:ahLst/>
            <a:cxnLst/>
            <a:rect l="l" t="t" r="r" b="b"/>
            <a:pathLst>
              <a:path w="53975">
                <a:moveTo>
                  <a:pt x="0" y="0"/>
                </a:moveTo>
                <a:lnTo>
                  <a:pt x="53662" y="0"/>
                </a:lnTo>
              </a:path>
            </a:pathLst>
          </a:custGeom>
          <a:ln w="144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1810324" y="3013926"/>
            <a:ext cx="53975" cy="0"/>
          </a:xfrm>
          <a:custGeom>
            <a:avLst/>
            <a:gdLst/>
            <a:ahLst/>
            <a:cxnLst/>
            <a:rect l="l" t="t" r="r" b="b"/>
            <a:pathLst>
              <a:path w="53975">
                <a:moveTo>
                  <a:pt x="0" y="0"/>
                </a:moveTo>
                <a:lnTo>
                  <a:pt x="53663" y="0"/>
                </a:lnTo>
              </a:path>
            </a:pathLst>
          </a:custGeom>
          <a:ln w="144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3578128" y="5314049"/>
            <a:ext cx="0" cy="3941445"/>
          </a:xfrm>
          <a:custGeom>
            <a:avLst/>
            <a:gdLst/>
            <a:ahLst/>
            <a:cxnLst/>
            <a:rect l="l" t="t" r="r" b="b"/>
            <a:pathLst>
              <a:path h="3941445">
                <a:moveTo>
                  <a:pt x="0" y="3941007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12411183" y="1806635"/>
            <a:ext cx="0" cy="7821295"/>
          </a:xfrm>
          <a:custGeom>
            <a:avLst/>
            <a:gdLst/>
            <a:ahLst/>
            <a:cxnLst/>
            <a:rect l="l" t="t" r="r" b="b"/>
            <a:pathLst>
              <a:path h="7821295">
                <a:moveTo>
                  <a:pt x="0" y="7820843"/>
                </a:moveTo>
                <a:lnTo>
                  <a:pt x="0" y="0"/>
                </a:lnTo>
              </a:path>
            </a:pathLst>
          </a:custGeom>
          <a:ln w="14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12411183" y="8702774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5">
                <a:moveTo>
                  <a:pt x="0" y="0"/>
                </a:moveTo>
                <a:lnTo>
                  <a:pt x="138485" y="0"/>
                </a:lnTo>
              </a:path>
            </a:pathLst>
          </a:custGeom>
          <a:ln w="144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12411183" y="6978787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5">
                <a:moveTo>
                  <a:pt x="0" y="0"/>
                </a:moveTo>
                <a:lnTo>
                  <a:pt x="138485" y="0"/>
                </a:lnTo>
              </a:path>
            </a:pathLst>
          </a:custGeom>
          <a:ln w="144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12411183" y="5254800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5">
                <a:moveTo>
                  <a:pt x="0" y="0"/>
                </a:moveTo>
                <a:lnTo>
                  <a:pt x="138485" y="0"/>
                </a:lnTo>
              </a:path>
            </a:pathLst>
          </a:custGeom>
          <a:ln w="144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12411183" y="3530622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5">
                <a:moveTo>
                  <a:pt x="0" y="0"/>
                </a:moveTo>
                <a:lnTo>
                  <a:pt x="138485" y="0"/>
                </a:lnTo>
              </a:path>
            </a:pathLst>
          </a:custGeom>
          <a:ln w="144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12411183" y="1806635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5">
                <a:moveTo>
                  <a:pt x="0" y="0"/>
                </a:moveTo>
                <a:lnTo>
                  <a:pt x="138485" y="0"/>
                </a:lnTo>
              </a:path>
            </a:pathLst>
          </a:custGeom>
          <a:ln w="144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3467532" y="5133609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3467532" y="5133609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6272821" y="4033275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6272821" y="4033275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8970016" y="3552166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8970016" y="3552166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11322535" y="3461754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11322535" y="3461754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11661439" y="3157623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11661439" y="3157623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11491987" y="2463566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11491987" y="2463566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10983631" y="3017004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10983631" y="3017004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10814370" y="2730570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10814370" y="2730570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6617496" y="3330753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6617496" y="3330753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7704028" y="2757694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7704028" y="2757694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8546673" y="2625923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8546673" y="2625923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9670905" y="2491844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9670905" y="2491844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10051932" y="2436057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10051932" y="2436057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10306014" y="2273315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10306014" y="2273315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10136754" y="2182326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10136754" y="2182326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7"/>
          <p:cNvSpPr/>
          <p:nvPr/>
        </p:nvSpPr>
        <p:spPr>
          <a:xfrm>
            <a:off x="9289685" y="2426631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9289685" y="2426631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9459138" y="2291206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9459138" y="2291206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7422634" y="2561865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7422634" y="2561865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7757884" y="2502808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7757884" y="2502808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8089672" y="2443367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8089672" y="2443367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8414343" y="2289089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8414343" y="2289089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8724973" y="2178864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8724973" y="2178864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8555521" y="2125771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8555521" y="2125771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8103713" y="2218683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8103713" y="2218683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7426096" y="2426054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7426096" y="2426054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7"/>
          <p:cNvSpPr/>
          <p:nvPr/>
        </p:nvSpPr>
        <p:spPr>
          <a:xfrm>
            <a:off x="5530963" y="3197443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5530963" y="3197443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9"/>
          <p:cNvSpPr/>
          <p:nvPr/>
        </p:nvSpPr>
        <p:spPr>
          <a:xfrm>
            <a:off x="5781583" y="2944674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90"/>
          <p:cNvSpPr/>
          <p:nvPr/>
        </p:nvSpPr>
        <p:spPr>
          <a:xfrm>
            <a:off x="5781583" y="2944674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91"/>
          <p:cNvSpPr/>
          <p:nvPr/>
        </p:nvSpPr>
        <p:spPr>
          <a:xfrm>
            <a:off x="6056822" y="2842720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92"/>
          <p:cNvSpPr/>
          <p:nvPr/>
        </p:nvSpPr>
        <p:spPr>
          <a:xfrm>
            <a:off x="6056822" y="2842720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93"/>
          <p:cNvSpPr/>
          <p:nvPr/>
        </p:nvSpPr>
        <p:spPr>
          <a:xfrm>
            <a:off x="6381494" y="2723260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94"/>
          <p:cNvSpPr/>
          <p:nvPr/>
        </p:nvSpPr>
        <p:spPr>
          <a:xfrm>
            <a:off x="6381494" y="2723260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95"/>
          <p:cNvSpPr/>
          <p:nvPr/>
        </p:nvSpPr>
        <p:spPr>
          <a:xfrm>
            <a:off x="6127412" y="2661318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96"/>
          <p:cNvSpPr/>
          <p:nvPr/>
        </p:nvSpPr>
        <p:spPr>
          <a:xfrm>
            <a:off x="6127412" y="2661318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97"/>
          <p:cNvSpPr/>
          <p:nvPr/>
        </p:nvSpPr>
        <p:spPr>
          <a:xfrm>
            <a:off x="6296864" y="2501462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198"/>
          <p:cNvSpPr/>
          <p:nvPr/>
        </p:nvSpPr>
        <p:spPr>
          <a:xfrm>
            <a:off x="6296864" y="2501462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199"/>
          <p:cNvSpPr/>
          <p:nvPr/>
        </p:nvSpPr>
        <p:spPr>
          <a:xfrm>
            <a:off x="3575627" y="3530814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0"/>
          <p:cNvSpPr/>
          <p:nvPr/>
        </p:nvSpPr>
        <p:spPr>
          <a:xfrm>
            <a:off x="3575627" y="3530814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201"/>
          <p:cNvSpPr/>
          <p:nvPr/>
        </p:nvSpPr>
        <p:spPr>
          <a:xfrm>
            <a:off x="4143802" y="297776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02"/>
          <p:cNvSpPr/>
          <p:nvPr/>
        </p:nvSpPr>
        <p:spPr>
          <a:xfrm>
            <a:off x="4143802" y="297776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203"/>
          <p:cNvSpPr/>
          <p:nvPr/>
        </p:nvSpPr>
        <p:spPr>
          <a:xfrm>
            <a:off x="4362686" y="2758656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04"/>
          <p:cNvSpPr/>
          <p:nvPr/>
        </p:nvSpPr>
        <p:spPr>
          <a:xfrm>
            <a:off x="4362686" y="2758656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205"/>
          <p:cNvSpPr/>
          <p:nvPr/>
        </p:nvSpPr>
        <p:spPr>
          <a:xfrm>
            <a:off x="4574452" y="2648237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06"/>
          <p:cNvSpPr/>
          <p:nvPr/>
        </p:nvSpPr>
        <p:spPr>
          <a:xfrm>
            <a:off x="4574452" y="2648237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object 207"/>
          <p:cNvSpPr/>
          <p:nvPr/>
        </p:nvSpPr>
        <p:spPr>
          <a:xfrm>
            <a:off x="4772179" y="2536665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208"/>
          <p:cNvSpPr/>
          <p:nvPr/>
        </p:nvSpPr>
        <p:spPr>
          <a:xfrm>
            <a:off x="4772179" y="2536665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209"/>
          <p:cNvSpPr/>
          <p:nvPr/>
        </p:nvSpPr>
        <p:spPr>
          <a:xfrm>
            <a:off x="4941439" y="2265813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210"/>
          <p:cNvSpPr/>
          <p:nvPr/>
        </p:nvSpPr>
        <p:spPr>
          <a:xfrm>
            <a:off x="4941439" y="2265813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211"/>
          <p:cNvSpPr/>
          <p:nvPr/>
        </p:nvSpPr>
        <p:spPr>
          <a:xfrm>
            <a:off x="3007453" y="2968719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4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object 212"/>
          <p:cNvSpPr/>
          <p:nvPr/>
        </p:nvSpPr>
        <p:spPr>
          <a:xfrm>
            <a:off x="3007453" y="2968719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4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object 213"/>
          <p:cNvSpPr/>
          <p:nvPr/>
        </p:nvSpPr>
        <p:spPr>
          <a:xfrm>
            <a:off x="3219220" y="2584949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object 214"/>
          <p:cNvSpPr/>
          <p:nvPr/>
        </p:nvSpPr>
        <p:spPr>
          <a:xfrm>
            <a:off x="3219220" y="2584949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object 215"/>
          <p:cNvSpPr/>
          <p:nvPr/>
        </p:nvSpPr>
        <p:spPr>
          <a:xfrm>
            <a:off x="3416754" y="2458949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object 216"/>
          <p:cNvSpPr/>
          <p:nvPr/>
        </p:nvSpPr>
        <p:spPr>
          <a:xfrm>
            <a:off x="3416754" y="2458949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object 217"/>
          <p:cNvSpPr/>
          <p:nvPr/>
        </p:nvSpPr>
        <p:spPr>
          <a:xfrm>
            <a:off x="3586206" y="2351416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object 218"/>
          <p:cNvSpPr/>
          <p:nvPr/>
        </p:nvSpPr>
        <p:spPr>
          <a:xfrm>
            <a:off x="3586206" y="2351416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object 219"/>
          <p:cNvSpPr/>
          <p:nvPr/>
        </p:nvSpPr>
        <p:spPr>
          <a:xfrm>
            <a:off x="662242" y="3852258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4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object 220"/>
          <p:cNvSpPr/>
          <p:nvPr/>
        </p:nvSpPr>
        <p:spPr>
          <a:xfrm>
            <a:off x="662242" y="3852258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4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object 221"/>
          <p:cNvSpPr/>
          <p:nvPr/>
        </p:nvSpPr>
        <p:spPr>
          <a:xfrm>
            <a:off x="1239264" y="3687400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4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object 222"/>
          <p:cNvSpPr/>
          <p:nvPr/>
        </p:nvSpPr>
        <p:spPr>
          <a:xfrm>
            <a:off x="1239264" y="3687400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4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object 223"/>
          <p:cNvSpPr/>
          <p:nvPr/>
        </p:nvSpPr>
        <p:spPr>
          <a:xfrm>
            <a:off x="1687418" y="3591602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4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object 224"/>
          <p:cNvSpPr/>
          <p:nvPr/>
        </p:nvSpPr>
        <p:spPr>
          <a:xfrm>
            <a:off x="1687418" y="3591602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4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object 225"/>
          <p:cNvSpPr/>
          <p:nvPr/>
        </p:nvSpPr>
        <p:spPr>
          <a:xfrm>
            <a:off x="2160384" y="3425012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4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" name="object 226"/>
          <p:cNvSpPr/>
          <p:nvPr/>
        </p:nvSpPr>
        <p:spPr>
          <a:xfrm>
            <a:off x="2160384" y="3425012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4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object 227"/>
          <p:cNvSpPr/>
          <p:nvPr/>
        </p:nvSpPr>
        <p:spPr>
          <a:xfrm>
            <a:off x="2456781" y="2718643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4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object 228"/>
          <p:cNvSpPr/>
          <p:nvPr/>
        </p:nvSpPr>
        <p:spPr>
          <a:xfrm>
            <a:off x="2456781" y="2718643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4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object 229"/>
          <p:cNvSpPr/>
          <p:nvPr/>
        </p:nvSpPr>
        <p:spPr>
          <a:xfrm>
            <a:off x="1863987" y="294448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4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object 230"/>
          <p:cNvSpPr/>
          <p:nvPr/>
        </p:nvSpPr>
        <p:spPr>
          <a:xfrm>
            <a:off x="1863987" y="294448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4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object 231"/>
          <p:cNvSpPr/>
          <p:nvPr/>
        </p:nvSpPr>
        <p:spPr>
          <a:xfrm>
            <a:off x="1609905" y="280867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4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object 232"/>
          <p:cNvSpPr/>
          <p:nvPr/>
        </p:nvSpPr>
        <p:spPr>
          <a:xfrm>
            <a:off x="1609905" y="280867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4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object 233"/>
          <p:cNvSpPr/>
          <p:nvPr/>
        </p:nvSpPr>
        <p:spPr>
          <a:xfrm>
            <a:off x="1779165" y="2691712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4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object 234"/>
          <p:cNvSpPr/>
          <p:nvPr/>
        </p:nvSpPr>
        <p:spPr>
          <a:xfrm>
            <a:off x="1779165" y="2691712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4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object 235"/>
          <p:cNvSpPr/>
          <p:nvPr/>
        </p:nvSpPr>
        <p:spPr>
          <a:xfrm>
            <a:off x="791110" y="3390386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4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object 236"/>
          <p:cNvSpPr/>
          <p:nvPr/>
        </p:nvSpPr>
        <p:spPr>
          <a:xfrm>
            <a:off x="791110" y="3390386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4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object 237"/>
          <p:cNvSpPr/>
          <p:nvPr/>
        </p:nvSpPr>
        <p:spPr>
          <a:xfrm>
            <a:off x="593384" y="2809248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object 238"/>
          <p:cNvSpPr/>
          <p:nvPr/>
        </p:nvSpPr>
        <p:spPr>
          <a:xfrm>
            <a:off x="593384" y="2809248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object 239"/>
          <p:cNvSpPr/>
          <p:nvPr/>
        </p:nvSpPr>
        <p:spPr>
          <a:xfrm>
            <a:off x="423932" y="2649199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object 240"/>
          <p:cNvSpPr/>
          <p:nvPr/>
        </p:nvSpPr>
        <p:spPr>
          <a:xfrm>
            <a:off x="423932" y="2649199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object 241"/>
          <p:cNvSpPr txBox="1"/>
          <p:nvPr/>
        </p:nvSpPr>
        <p:spPr>
          <a:xfrm>
            <a:off x="11692979" y="3164356"/>
            <a:ext cx="338455" cy="28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1500" spc="10" dirty="0">
                <a:latin typeface="Helvetica"/>
                <a:cs typeface="Helvetica"/>
              </a:rPr>
              <a:t>N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242" name="object 242"/>
          <p:cNvSpPr txBox="1"/>
          <p:nvPr/>
        </p:nvSpPr>
        <p:spPr>
          <a:xfrm>
            <a:off x="11523527" y="2470491"/>
            <a:ext cx="281940" cy="28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1500" spc="10" dirty="0">
                <a:latin typeface="Helvetica"/>
                <a:cs typeface="Helvetica"/>
              </a:rPr>
              <a:t>N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243" name="object 243"/>
          <p:cNvSpPr txBox="1"/>
          <p:nvPr/>
        </p:nvSpPr>
        <p:spPr>
          <a:xfrm>
            <a:off x="11015171" y="3023929"/>
            <a:ext cx="338455" cy="28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1500" spc="10" dirty="0">
                <a:latin typeface="Helvetica"/>
                <a:cs typeface="Helvetica"/>
              </a:rPr>
              <a:t>N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244" name="object 244"/>
          <p:cNvSpPr txBox="1"/>
          <p:nvPr/>
        </p:nvSpPr>
        <p:spPr>
          <a:xfrm>
            <a:off x="10845910" y="2737495"/>
            <a:ext cx="281940" cy="28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1500" spc="10" dirty="0">
                <a:latin typeface="Helvetica"/>
                <a:cs typeface="Helvetica"/>
              </a:rPr>
              <a:t>N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245" name="object 245"/>
          <p:cNvSpPr txBox="1"/>
          <p:nvPr/>
        </p:nvSpPr>
        <p:spPr>
          <a:xfrm>
            <a:off x="10337554" y="2273287"/>
            <a:ext cx="338455" cy="143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85"/>
              </a:lnSpc>
            </a:pPr>
            <a:r>
              <a:rPr sz="1500" spc="5" dirty="0">
                <a:latin typeface="Helvetica"/>
                <a:cs typeface="Helvetica"/>
              </a:rPr>
              <a:t>L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246" name="object 246"/>
          <p:cNvSpPr txBox="1"/>
          <p:nvPr/>
        </p:nvSpPr>
        <p:spPr>
          <a:xfrm>
            <a:off x="10168294" y="2187712"/>
            <a:ext cx="281940" cy="250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1500" spc="5" dirty="0">
                <a:latin typeface="Helvetica"/>
                <a:cs typeface="Helvetica"/>
              </a:rPr>
              <a:t>L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247" name="object 247"/>
          <p:cNvSpPr/>
          <p:nvPr/>
        </p:nvSpPr>
        <p:spPr>
          <a:xfrm>
            <a:off x="11830699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object 248"/>
          <p:cNvSpPr/>
          <p:nvPr/>
        </p:nvSpPr>
        <p:spPr>
          <a:xfrm>
            <a:off x="11830699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" name="object 249"/>
          <p:cNvSpPr/>
          <p:nvPr/>
        </p:nvSpPr>
        <p:spPr>
          <a:xfrm>
            <a:off x="11604891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object 250"/>
          <p:cNvSpPr/>
          <p:nvPr/>
        </p:nvSpPr>
        <p:spPr>
          <a:xfrm>
            <a:off x="11604891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" name="object 251"/>
          <p:cNvSpPr/>
          <p:nvPr/>
        </p:nvSpPr>
        <p:spPr>
          <a:xfrm>
            <a:off x="11379083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" name="object 252"/>
          <p:cNvSpPr/>
          <p:nvPr/>
        </p:nvSpPr>
        <p:spPr>
          <a:xfrm>
            <a:off x="11379083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" name="object 253"/>
          <p:cNvSpPr/>
          <p:nvPr/>
        </p:nvSpPr>
        <p:spPr>
          <a:xfrm>
            <a:off x="11153082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" name="object 254"/>
          <p:cNvSpPr/>
          <p:nvPr/>
        </p:nvSpPr>
        <p:spPr>
          <a:xfrm>
            <a:off x="11153082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" name="object 255"/>
          <p:cNvSpPr/>
          <p:nvPr/>
        </p:nvSpPr>
        <p:spPr>
          <a:xfrm>
            <a:off x="10927274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" name="object 256"/>
          <p:cNvSpPr/>
          <p:nvPr/>
        </p:nvSpPr>
        <p:spPr>
          <a:xfrm>
            <a:off x="10927274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" name="object 257"/>
          <p:cNvSpPr/>
          <p:nvPr/>
        </p:nvSpPr>
        <p:spPr>
          <a:xfrm>
            <a:off x="10701466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" name="object 258"/>
          <p:cNvSpPr/>
          <p:nvPr/>
        </p:nvSpPr>
        <p:spPr>
          <a:xfrm>
            <a:off x="10701466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" name="object 259"/>
          <p:cNvSpPr/>
          <p:nvPr/>
        </p:nvSpPr>
        <p:spPr>
          <a:xfrm>
            <a:off x="10475466" y="1753157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" name="object 260"/>
          <p:cNvSpPr/>
          <p:nvPr/>
        </p:nvSpPr>
        <p:spPr>
          <a:xfrm>
            <a:off x="10475466" y="1753157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" name="object 261"/>
          <p:cNvSpPr/>
          <p:nvPr/>
        </p:nvSpPr>
        <p:spPr>
          <a:xfrm>
            <a:off x="10249658" y="1753157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" name="object 262"/>
          <p:cNvSpPr/>
          <p:nvPr/>
        </p:nvSpPr>
        <p:spPr>
          <a:xfrm>
            <a:off x="10249658" y="1753157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" name="object 263"/>
          <p:cNvSpPr/>
          <p:nvPr/>
        </p:nvSpPr>
        <p:spPr>
          <a:xfrm>
            <a:off x="10023657" y="1753157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" name="object 264"/>
          <p:cNvSpPr/>
          <p:nvPr/>
        </p:nvSpPr>
        <p:spPr>
          <a:xfrm>
            <a:off x="10023657" y="1753157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" name="object 265"/>
          <p:cNvSpPr/>
          <p:nvPr/>
        </p:nvSpPr>
        <p:spPr>
          <a:xfrm>
            <a:off x="9797850" y="1753157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" name="object 266"/>
          <p:cNvSpPr/>
          <p:nvPr/>
        </p:nvSpPr>
        <p:spPr>
          <a:xfrm>
            <a:off x="9797850" y="1753157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" name="object 267"/>
          <p:cNvSpPr/>
          <p:nvPr/>
        </p:nvSpPr>
        <p:spPr>
          <a:xfrm>
            <a:off x="9572042" y="1753157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" name="object 268"/>
          <p:cNvSpPr/>
          <p:nvPr/>
        </p:nvSpPr>
        <p:spPr>
          <a:xfrm>
            <a:off x="9572042" y="1753157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" name="object 269"/>
          <p:cNvSpPr/>
          <p:nvPr/>
        </p:nvSpPr>
        <p:spPr>
          <a:xfrm>
            <a:off x="9346041" y="1753157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" name="object 270"/>
          <p:cNvSpPr/>
          <p:nvPr/>
        </p:nvSpPr>
        <p:spPr>
          <a:xfrm>
            <a:off x="9346041" y="1753157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" name="object 271"/>
          <p:cNvSpPr/>
          <p:nvPr/>
        </p:nvSpPr>
        <p:spPr>
          <a:xfrm>
            <a:off x="9120234" y="1753157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2" name="object 272"/>
          <p:cNvSpPr/>
          <p:nvPr/>
        </p:nvSpPr>
        <p:spPr>
          <a:xfrm>
            <a:off x="9120234" y="1753157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3" name="object 273"/>
          <p:cNvSpPr/>
          <p:nvPr/>
        </p:nvSpPr>
        <p:spPr>
          <a:xfrm>
            <a:off x="8894426" y="1753157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4" name="object 274"/>
          <p:cNvSpPr/>
          <p:nvPr/>
        </p:nvSpPr>
        <p:spPr>
          <a:xfrm>
            <a:off x="8894426" y="1753157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5" name="object 275"/>
          <p:cNvSpPr/>
          <p:nvPr/>
        </p:nvSpPr>
        <p:spPr>
          <a:xfrm>
            <a:off x="8668425" y="1753157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6" name="object 276"/>
          <p:cNvSpPr/>
          <p:nvPr/>
        </p:nvSpPr>
        <p:spPr>
          <a:xfrm>
            <a:off x="8668425" y="1753157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7" name="object 277"/>
          <p:cNvSpPr/>
          <p:nvPr/>
        </p:nvSpPr>
        <p:spPr>
          <a:xfrm>
            <a:off x="8442617" y="1753157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8" name="object 278"/>
          <p:cNvSpPr/>
          <p:nvPr/>
        </p:nvSpPr>
        <p:spPr>
          <a:xfrm>
            <a:off x="8442617" y="1753157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9" name="object 279"/>
          <p:cNvSpPr/>
          <p:nvPr/>
        </p:nvSpPr>
        <p:spPr>
          <a:xfrm>
            <a:off x="8216809" y="1753157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0" name="object 280"/>
          <p:cNvSpPr/>
          <p:nvPr/>
        </p:nvSpPr>
        <p:spPr>
          <a:xfrm>
            <a:off x="8216809" y="1753157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1" name="object 281"/>
          <p:cNvSpPr/>
          <p:nvPr/>
        </p:nvSpPr>
        <p:spPr>
          <a:xfrm>
            <a:off x="7990809" y="1753157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2" name="object 282"/>
          <p:cNvSpPr/>
          <p:nvPr/>
        </p:nvSpPr>
        <p:spPr>
          <a:xfrm>
            <a:off x="7990809" y="1753157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3" name="object 283"/>
          <p:cNvSpPr/>
          <p:nvPr/>
        </p:nvSpPr>
        <p:spPr>
          <a:xfrm>
            <a:off x="7765001" y="1753157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4" name="object 284"/>
          <p:cNvSpPr/>
          <p:nvPr/>
        </p:nvSpPr>
        <p:spPr>
          <a:xfrm>
            <a:off x="7765001" y="1753157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5" name="object 285"/>
          <p:cNvSpPr/>
          <p:nvPr/>
        </p:nvSpPr>
        <p:spPr>
          <a:xfrm>
            <a:off x="7539193" y="1753157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6" name="object 286"/>
          <p:cNvSpPr/>
          <p:nvPr/>
        </p:nvSpPr>
        <p:spPr>
          <a:xfrm>
            <a:off x="7539193" y="1753157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7" name="object 287"/>
          <p:cNvSpPr/>
          <p:nvPr/>
        </p:nvSpPr>
        <p:spPr>
          <a:xfrm>
            <a:off x="7313192" y="1753157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8" name="object 288"/>
          <p:cNvSpPr/>
          <p:nvPr/>
        </p:nvSpPr>
        <p:spPr>
          <a:xfrm>
            <a:off x="7313192" y="1753157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9" name="object 289"/>
          <p:cNvSpPr/>
          <p:nvPr/>
        </p:nvSpPr>
        <p:spPr>
          <a:xfrm>
            <a:off x="7087384" y="1753157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0" name="object 290"/>
          <p:cNvSpPr/>
          <p:nvPr/>
        </p:nvSpPr>
        <p:spPr>
          <a:xfrm>
            <a:off x="7087384" y="1753157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1" name="object 291"/>
          <p:cNvSpPr/>
          <p:nvPr/>
        </p:nvSpPr>
        <p:spPr>
          <a:xfrm>
            <a:off x="6861384" y="1753157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2" name="object 292"/>
          <p:cNvSpPr/>
          <p:nvPr/>
        </p:nvSpPr>
        <p:spPr>
          <a:xfrm>
            <a:off x="6861384" y="1753157"/>
            <a:ext cx="207645" cy="148590"/>
          </a:xfrm>
          <a:custGeom>
            <a:avLst/>
            <a:gdLst/>
            <a:ahLst/>
            <a:cxnLst/>
            <a:rect l="l" t="t" r="r" b="b"/>
            <a:pathLst>
              <a:path w="207645" h="148589">
                <a:moveTo>
                  <a:pt x="207343" y="148506"/>
                </a:moveTo>
                <a:lnTo>
                  <a:pt x="207343" y="0"/>
                </a:lnTo>
                <a:lnTo>
                  <a:pt x="0" y="0"/>
                </a:lnTo>
                <a:lnTo>
                  <a:pt x="0" y="148506"/>
                </a:lnTo>
                <a:lnTo>
                  <a:pt x="207343" y="148506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3" name="object 293"/>
          <p:cNvSpPr/>
          <p:nvPr/>
        </p:nvSpPr>
        <p:spPr>
          <a:xfrm>
            <a:off x="6635576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4" name="object 294"/>
          <p:cNvSpPr/>
          <p:nvPr/>
        </p:nvSpPr>
        <p:spPr>
          <a:xfrm>
            <a:off x="6635576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5" name="object 295"/>
          <p:cNvSpPr/>
          <p:nvPr/>
        </p:nvSpPr>
        <p:spPr>
          <a:xfrm>
            <a:off x="6409768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6" name="object 296"/>
          <p:cNvSpPr/>
          <p:nvPr/>
        </p:nvSpPr>
        <p:spPr>
          <a:xfrm>
            <a:off x="6409768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7" name="object 297"/>
          <p:cNvSpPr/>
          <p:nvPr/>
        </p:nvSpPr>
        <p:spPr>
          <a:xfrm>
            <a:off x="6183767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8" name="object 298"/>
          <p:cNvSpPr/>
          <p:nvPr/>
        </p:nvSpPr>
        <p:spPr>
          <a:xfrm>
            <a:off x="6183767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9" name="object 299"/>
          <p:cNvSpPr/>
          <p:nvPr/>
        </p:nvSpPr>
        <p:spPr>
          <a:xfrm>
            <a:off x="5957959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0" name="object 300"/>
          <p:cNvSpPr/>
          <p:nvPr/>
        </p:nvSpPr>
        <p:spPr>
          <a:xfrm>
            <a:off x="5957959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1" name="object 301"/>
          <p:cNvSpPr/>
          <p:nvPr/>
        </p:nvSpPr>
        <p:spPr>
          <a:xfrm>
            <a:off x="5732152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2" name="object 302"/>
          <p:cNvSpPr/>
          <p:nvPr/>
        </p:nvSpPr>
        <p:spPr>
          <a:xfrm>
            <a:off x="5732152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3" name="object 303"/>
          <p:cNvSpPr/>
          <p:nvPr/>
        </p:nvSpPr>
        <p:spPr>
          <a:xfrm>
            <a:off x="5506151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4" name="object 304"/>
          <p:cNvSpPr/>
          <p:nvPr/>
        </p:nvSpPr>
        <p:spPr>
          <a:xfrm>
            <a:off x="5506151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5" name="object 305"/>
          <p:cNvSpPr/>
          <p:nvPr/>
        </p:nvSpPr>
        <p:spPr>
          <a:xfrm>
            <a:off x="5280343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6" name="object 306"/>
          <p:cNvSpPr/>
          <p:nvPr/>
        </p:nvSpPr>
        <p:spPr>
          <a:xfrm>
            <a:off x="5280343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7" name="object 307"/>
          <p:cNvSpPr/>
          <p:nvPr/>
        </p:nvSpPr>
        <p:spPr>
          <a:xfrm>
            <a:off x="5054535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8" name="object 308"/>
          <p:cNvSpPr/>
          <p:nvPr/>
        </p:nvSpPr>
        <p:spPr>
          <a:xfrm>
            <a:off x="5054535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9" name="object 309"/>
          <p:cNvSpPr/>
          <p:nvPr/>
        </p:nvSpPr>
        <p:spPr>
          <a:xfrm>
            <a:off x="4828535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0" name="object 310"/>
          <p:cNvSpPr/>
          <p:nvPr/>
        </p:nvSpPr>
        <p:spPr>
          <a:xfrm>
            <a:off x="4828535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1" name="object 311"/>
          <p:cNvSpPr/>
          <p:nvPr/>
        </p:nvSpPr>
        <p:spPr>
          <a:xfrm>
            <a:off x="4602727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2" name="object 312"/>
          <p:cNvSpPr/>
          <p:nvPr/>
        </p:nvSpPr>
        <p:spPr>
          <a:xfrm>
            <a:off x="4602727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3" name="object 313"/>
          <p:cNvSpPr/>
          <p:nvPr/>
        </p:nvSpPr>
        <p:spPr>
          <a:xfrm>
            <a:off x="4376726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4" name="object 314"/>
          <p:cNvSpPr/>
          <p:nvPr/>
        </p:nvSpPr>
        <p:spPr>
          <a:xfrm>
            <a:off x="4376726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5" name="object 315"/>
          <p:cNvSpPr/>
          <p:nvPr/>
        </p:nvSpPr>
        <p:spPr>
          <a:xfrm>
            <a:off x="4150918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6" name="object 316"/>
          <p:cNvSpPr/>
          <p:nvPr/>
        </p:nvSpPr>
        <p:spPr>
          <a:xfrm>
            <a:off x="4150918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7" name="object 317"/>
          <p:cNvSpPr/>
          <p:nvPr/>
        </p:nvSpPr>
        <p:spPr>
          <a:xfrm>
            <a:off x="3925110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8" name="object 318"/>
          <p:cNvSpPr/>
          <p:nvPr/>
        </p:nvSpPr>
        <p:spPr>
          <a:xfrm>
            <a:off x="3925110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9" name="object 319"/>
          <p:cNvSpPr/>
          <p:nvPr/>
        </p:nvSpPr>
        <p:spPr>
          <a:xfrm>
            <a:off x="3699110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0" name="object 320"/>
          <p:cNvSpPr/>
          <p:nvPr/>
        </p:nvSpPr>
        <p:spPr>
          <a:xfrm>
            <a:off x="3699110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1" name="object 321"/>
          <p:cNvSpPr/>
          <p:nvPr/>
        </p:nvSpPr>
        <p:spPr>
          <a:xfrm>
            <a:off x="3473302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2" name="object 322"/>
          <p:cNvSpPr/>
          <p:nvPr/>
        </p:nvSpPr>
        <p:spPr>
          <a:xfrm>
            <a:off x="3473302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3" name="object 323"/>
          <p:cNvSpPr/>
          <p:nvPr/>
        </p:nvSpPr>
        <p:spPr>
          <a:xfrm>
            <a:off x="3247494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4" name="object 324"/>
          <p:cNvSpPr/>
          <p:nvPr/>
        </p:nvSpPr>
        <p:spPr>
          <a:xfrm>
            <a:off x="3247494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5" name="object 325"/>
          <p:cNvSpPr/>
          <p:nvPr/>
        </p:nvSpPr>
        <p:spPr>
          <a:xfrm>
            <a:off x="3021494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4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6" name="object 326"/>
          <p:cNvSpPr/>
          <p:nvPr/>
        </p:nvSpPr>
        <p:spPr>
          <a:xfrm>
            <a:off x="3021494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4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7" name="object 327"/>
          <p:cNvSpPr/>
          <p:nvPr/>
        </p:nvSpPr>
        <p:spPr>
          <a:xfrm>
            <a:off x="2795685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4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8" name="object 328"/>
          <p:cNvSpPr/>
          <p:nvPr/>
        </p:nvSpPr>
        <p:spPr>
          <a:xfrm>
            <a:off x="2795685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4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9" name="object 329"/>
          <p:cNvSpPr/>
          <p:nvPr/>
        </p:nvSpPr>
        <p:spPr>
          <a:xfrm>
            <a:off x="2569878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4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0" name="object 330"/>
          <p:cNvSpPr/>
          <p:nvPr/>
        </p:nvSpPr>
        <p:spPr>
          <a:xfrm>
            <a:off x="2569878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4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1" name="object 331"/>
          <p:cNvSpPr/>
          <p:nvPr/>
        </p:nvSpPr>
        <p:spPr>
          <a:xfrm>
            <a:off x="2343877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4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2" name="object 332"/>
          <p:cNvSpPr/>
          <p:nvPr/>
        </p:nvSpPr>
        <p:spPr>
          <a:xfrm>
            <a:off x="2343877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4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3" name="object 333"/>
          <p:cNvSpPr/>
          <p:nvPr/>
        </p:nvSpPr>
        <p:spPr>
          <a:xfrm>
            <a:off x="2118069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4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4" name="object 334"/>
          <p:cNvSpPr/>
          <p:nvPr/>
        </p:nvSpPr>
        <p:spPr>
          <a:xfrm>
            <a:off x="2118069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4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5" name="object 335"/>
          <p:cNvSpPr/>
          <p:nvPr/>
        </p:nvSpPr>
        <p:spPr>
          <a:xfrm>
            <a:off x="1892261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4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6" name="object 336"/>
          <p:cNvSpPr/>
          <p:nvPr/>
        </p:nvSpPr>
        <p:spPr>
          <a:xfrm>
            <a:off x="1892261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4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7" name="object 337"/>
          <p:cNvSpPr/>
          <p:nvPr/>
        </p:nvSpPr>
        <p:spPr>
          <a:xfrm>
            <a:off x="1666261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4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8" name="object 338"/>
          <p:cNvSpPr/>
          <p:nvPr/>
        </p:nvSpPr>
        <p:spPr>
          <a:xfrm>
            <a:off x="1666261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4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9" name="object 339"/>
          <p:cNvSpPr/>
          <p:nvPr/>
        </p:nvSpPr>
        <p:spPr>
          <a:xfrm>
            <a:off x="1440453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4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0" name="object 340"/>
          <p:cNvSpPr/>
          <p:nvPr/>
        </p:nvSpPr>
        <p:spPr>
          <a:xfrm>
            <a:off x="1440453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4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1" name="object 341"/>
          <p:cNvSpPr/>
          <p:nvPr/>
        </p:nvSpPr>
        <p:spPr>
          <a:xfrm>
            <a:off x="1214452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4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2" name="object 342"/>
          <p:cNvSpPr/>
          <p:nvPr/>
        </p:nvSpPr>
        <p:spPr>
          <a:xfrm>
            <a:off x="1214452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4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3" name="object 343"/>
          <p:cNvSpPr/>
          <p:nvPr/>
        </p:nvSpPr>
        <p:spPr>
          <a:xfrm>
            <a:off x="988644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4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4" name="object 344"/>
          <p:cNvSpPr/>
          <p:nvPr/>
        </p:nvSpPr>
        <p:spPr>
          <a:xfrm>
            <a:off x="988644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4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5" name="object 345"/>
          <p:cNvSpPr/>
          <p:nvPr/>
        </p:nvSpPr>
        <p:spPr>
          <a:xfrm>
            <a:off x="762836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4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6" name="object 346"/>
          <p:cNvSpPr/>
          <p:nvPr/>
        </p:nvSpPr>
        <p:spPr>
          <a:xfrm>
            <a:off x="762836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4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7" name="object 347"/>
          <p:cNvSpPr/>
          <p:nvPr/>
        </p:nvSpPr>
        <p:spPr>
          <a:xfrm>
            <a:off x="536836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8" name="object 348"/>
          <p:cNvSpPr/>
          <p:nvPr/>
        </p:nvSpPr>
        <p:spPr>
          <a:xfrm>
            <a:off x="536836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9" name="object 349"/>
          <p:cNvSpPr/>
          <p:nvPr/>
        </p:nvSpPr>
        <p:spPr>
          <a:xfrm>
            <a:off x="311028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0" name="object 350"/>
          <p:cNvSpPr/>
          <p:nvPr/>
        </p:nvSpPr>
        <p:spPr>
          <a:xfrm>
            <a:off x="311028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1" name="object 351"/>
          <p:cNvSpPr/>
          <p:nvPr/>
        </p:nvSpPr>
        <p:spPr>
          <a:xfrm>
            <a:off x="85220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2" name="object 352"/>
          <p:cNvSpPr/>
          <p:nvPr/>
        </p:nvSpPr>
        <p:spPr>
          <a:xfrm>
            <a:off x="85220" y="1737191"/>
            <a:ext cx="207645" cy="180975"/>
          </a:xfrm>
          <a:custGeom>
            <a:avLst/>
            <a:gdLst/>
            <a:ahLst/>
            <a:cxnLst/>
            <a:rect l="l" t="t" r="r" b="b"/>
            <a:pathLst>
              <a:path w="207645" h="180975">
                <a:moveTo>
                  <a:pt x="207343" y="180439"/>
                </a:moveTo>
                <a:lnTo>
                  <a:pt x="207343" y="0"/>
                </a:lnTo>
                <a:lnTo>
                  <a:pt x="0" y="0"/>
                </a:lnTo>
                <a:lnTo>
                  <a:pt x="0" y="180439"/>
                </a:lnTo>
                <a:lnTo>
                  <a:pt x="207343" y="18043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3" name="object 353"/>
          <p:cNvSpPr/>
          <p:nvPr/>
        </p:nvSpPr>
        <p:spPr>
          <a:xfrm>
            <a:off x="669166" y="5140535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4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4" name="object 354"/>
          <p:cNvSpPr/>
          <p:nvPr/>
        </p:nvSpPr>
        <p:spPr>
          <a:xfrm>
            <a:off x="669166" y="5140535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4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5" name="object 355"/>
          <p:cNvSpPr/>
          <p:nvPr/>
        </p:nvSpPr>
        <p:spPr>
          <a:xfrm>
            <a:off x="3582551" y="4040007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4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6" name="object 356"/>
          <p:cNvSpPr/>
          <p:nvPr/>
        </p:nvSpPr>
        <p:spPr>
          <a:xfrm>
            <a:off x="3582551" y="4040007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4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7" name="object 357"/>
          <p:cNvSpPr/>
          <p:nvPr/>
        </p:nvSpPr>
        <p:spPr>
          <a:xfrm>
            <a:off x="6624420" y="3559092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4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8" name="object 358"/>
          <p:cNvSpPr/>
          <p:nvPr/>
        </p:nvSpPr>
        <p:spPr>
          <a:xfrm>
            <a:off x="6624420" y="3559092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4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9" name="object 359"/>
          <p:cNvSpPr/>
          <p:nvPr/>
        </p:nvSpPr>
        <p:spPr>
          <a:xfrm>
            <a:off x="10990747" y="3468680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4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0" name="object 360"/>
          <p:cNvSpPr/>
          <p:nvPr/>
        </p:nvSpPr>
        <p:spPr>
          <a:xfrm>
            <a:off x="10990747" y="3468680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4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1" name="object 361"/>
          <p:cNvSpPr/>
          <p:nvPr/>
        </p:nvSpPr>
        <p:spPr>
          <a:xfrm>
            <a:off x="11498912" y="3164356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4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2" name="object 362"/>
          <p:cNvSpPr/>
          <p:nvPr/>
        </p:nvSpPr>
        <p:spPr>
          <a:xfrm>
            <a:off x="11498912" y="3164356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4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3" name="object 363"/>
          <p:cNvSpPr/>
          <p:nvPr/>
        </p:nvSpPr>
        <p:spPr>
          <a:xfrm>
            <a:off x="11386007" y="2470491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4" name="object 364"/>
          <p:cNvSpPr/>
          <p:nvPr/>
        </p:nvSpPr>
        <p:spPr>
          <a:xfrm>
            <a:off x="11386007" y="2470491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5" name="object 365"/>
          <p:cNvSpPr/>
          <p:nvPr/>
        </p:nvSpPr>
        <p:spPr>
          <a:xfrm>
            <a:off x="10821295" y="3023929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6" name="object 366"/>
          <p:cNvSpPr/>
          <p:nvPr/>
        </p:nvSpPr>
        <p:spPr>
          <a:xfrm>
            <a:off x="10821295" y="3023929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7" name="object 367"/>
          <p:cNvSpPr/>
          <p:nvPr/>
        </p:nvSpPr>
        <p:spPr>
          <a:xfrm>
            <a:off x="10708391" y="2737495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8" name="object 368"/>
          <p:cNvSpPr/>
          <p:nvPr/>
        </p:nvSpPr>
        <p:spPr>
          <a:xfrm>
            <a:off x="10708391" y="2737495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9" name="object 369"/>
          <p:cNvSpPr/>
          <p:nvPr/>
        </p:nvSpPr>
        <p:spPr>
          <a:xfrm>
            <a:off x="5537887" y="3337678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4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0" name="object 370"/>
          <p:cNvSpPr/>
          <p:nvPr/>
        </p:nvSpPr>
        <p:spPr>
          <a:xfrm>
            <a:off x="5537887" y="3337678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4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1" name="object 371"/>
          <p:cNvSpPr/>
          <p:nvPr/>
        </p:nvSpPr>
        <p:spPr>
          <a:xfrm>
            <a:off x="6868500" y="2763272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2" name="object 372"/>
          <p:cNvSpPr/>
          <p:nvPr/>
        </p:nvSpPr>
        <p:spPr>
          <a:xfrm>
            <a:off x="6868500" y="2763272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3" name="object 373"/>
          <p:cNvSpPr/>
          <p:nvPr/>
        </p:nvSpPr>
        <p:spPr>
          <a:xfrm>
            <a:off x="7429558" y="2631309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4" name="object 374"/>
          <p:cNvSpPr/>
          <p:nvPr/>
        </p:nvSpPr>
        <p:spPr>
          <a:xfrm>
            <a:off x="7429558" y="2631309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5" name="object 375"/>
          <p:cNvSpPr/>
          <p:nvPr/>
        </p:nvSpPr>
        <p:spPr>
          <a:xfrm>
            <a:off x="9296610" y="2497422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6" name="object 376"/>
          <p:cNvSpPr/>
          <p:nvPr/>
        </p:nvSpPr>
        <p:spPr>
          <a:xfrm>
            <a:off x="9296610" y="2497422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7" name="object 377"/>
          <p:cNvSpPr/>
          <p:nvPr/>
        </p:nvSpPr>
        <p:spPr>
          <a:xfrm>
            <a:off x="9804774" y="2441444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8" name="object 378"/>
          <p:cNvSpPr/>
          <p:nvPr/>
        </p:nvSpPr>
        <p:spPr>
          <a:xfrm>
            <a:off x="9804774" y="2441444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9" name="object 379"/>
          <p:cNvSpPr/>
          <p:nvPr/>
        </p:nvSpPr>
        <p:spPr>
          <a:xfrm>
            <a:off x="10143678" y="2278702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0" name="object 380"/>
          <p:cNvSpPr/>
          <p:nvPr/>
        </p:nvSpPr>
        <p:spPr>
          <a:xfrm>
            <a:off x="10143678" y="2278702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1" name="object 381"/>
          <p:cNvSpPr/>
          <p:nvPr/>
        </p:nvSpPr>
        <p:spPr>
          <a:xfrm>
            <a:off x="10030774" y="2187712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2" name="object 382"/>
          <p:cNvSpPr/>
          <p:nvPr/>
        </p:nvSpPr>
        <p:spPr>
          <a:xfrm>
            <a:off x="10030774" y="2187712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3" name="object 383"/>
          <p:cNvSpPr/>
          <p:nvPr/>
        </p:nvSpPr>
        <p:spPr>
          <a:xfrm>
            <a:off x="9127158" y="2432018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4" name="object 384"/>
          <p:cNvSpPr/>
          <p:nvPr/>
        </p:nvSpPr>
        <p:spPr>
          <a:xfrm>
            <a:off x="9127158" y="2432018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5" name="object 385"/>
          <p:cNvSpPr/>
          <p:nvPr/>
        </p:nvSpPr>
        <p:spPr>
          <a:xfrm>
            <a:off x="9352966" y="2296592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6" name="object 386"/>
          <p:cNvSpPr/>
          <p:nvPr/>
        </p:nvSpPr>
        <p:spPr>
          <a:xfrm>
            <a:off x="9352966" y="2296592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7" name="object 387"/>
          <p:cNvSpPr/>
          <p:nvPr/>
        </p:nvSpPr>
        <p:spPr>
          <a:xfrm>
            <a:off x="7094308" y="2567251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8" name="object 388"/>
          <p:cNvSpPr/>
          <p:nvPr/>
        </p:nvSpPr>
        <p:spPr>
          <a:xfrm>
            <a:off x="7094308" y="2567251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9" name="object 389"/>
          <p:cNvSpPr/>
          <p:nvPr/>
        </p:nvSpPr>
        <p:spPr>
          <a:xfrm>
            <a:off x="7433020" y="2508195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0" name="object 390"/>
          <p:cNvSpPr/>
          <p:nvPr/>
        </p:nvSpPr>
        <p:spPr>
          <a:xfrm>
            <a:off x="7433020" y="2508195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1" name="object 391"/>
          <p:cNvSpPr/>
          <p:nvPr/>
        </p:nvSpPr>
        <p:spPr>
          <a:xfrm>
            <a:off x="7771925" y="2448754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2" name="object 392"/>
          <p:cNvSpPr/>
          <p:nvPr/>
        </p:nvSpPr>
        <p:spPr>
          <a:xfrm>
            <a:off x="7771925" y="2448754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3" name="object 393"/>
          <p:cNvSpPr/>
          <p:nvPr/>
        </p:nvSpPr>
        <p:spPr>
          <a:xfrm>
            <a:off x="8110829" y="2294476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4" name="object 394"/>
          <p:cNvSpPr/>
          <p:nvPr/>
        </p:nvSpPr>
        <p:spPr>
          <a:xfrm>
            <a:off x="8110829" y="2294476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5" name="object 395"/>
          <p:cNvSpPr/>
          <p:nvPr/>
        </p:nvSpPr>
        <p:spPr>
          <a:xfrm>
            <a:off x="8562445" y="2184250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6" name="object 396"/>
          <p:cNvSpPr/>
          <p:nvPr/>
        </p:nvSpPr>
        <p:spPr>
          <a:xfrm>
            <a:off x="8562445" y="2184250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7" name="object 397"/>
          <p:cNvSpPr/>
          <p:nvPr/>
        </p:nvSpPr>
        <p:spPr>
          <a:xfrm>
            <a:off x="8449541" y="2131157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8" name="object 398"/>
          <p:cNvSpPr/>
          <p:nvPr/>
        </p:nvSpPr>
        <p:spPr>
          <a:xfrm>
            <a:off x="8449541" y="2131157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9" name="object 399"/>
          <p:cNvSpPr/>
          <p:nvPr/>
        </p:nvSpPr>
        <p:spPr>
          <a:xfrm>
            <a:off x="7997733" y="2224070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0" name="object 400"/>
          <p:cNvSpPr/>
          <p:nvPr/>
        </p:nvSpPr>
        <p:spPr>
          <a:xfrm>
            <a:off x="7997733" y="2224070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1" name="object 401"/>
          <p:cNvSpPr/>
          <p:nvPr/>
        </p:nvSpPr>
        <p:spPr>
          <a:xfrm>
            <a:off x="7320116" y="2431441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2" name="object 402"/>
          <p:cNvSpPr/>
          <p:nvPr/>
        </p:nvSpPr>
        <p:spPr>
          <a:xfrm>
            <a:off x="7320116" y="2431441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3" name="object 403"/>
          <p:cNvSpPr/>
          <p:nvPr/>
        </p:nvSpPr>
        <p:spPr>
          <a:xfrm>
            <a:off x="5287267" y="3204368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4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4" name="object 404"/>
          <p:cNvSpPr/>
          <p:nvPr/>
        </p:nvSpPr>
        <p:spPr>
          <a:xfrm>
            <a:off x="5287267" y="3204368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4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5" name="object 405"/>
          <p:cNvSpPr/>
          <p:nvPr/>
        </p:nvSpPr>
        <p:spPr>
          <a:xfrm>
            <a:off x="5513075" y="2951599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6" name="object 406"/>
          <p:cNvSpPr/>
          <p:nvPr/>
        </p:nvSpPr>
        <p:spPr>
          <a:xfrm>
            <a:off x="5513075" y="2951599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7" name="object 407"/>
          <p:cNvSpPr/>
          <p:nvPr/>
        </p:nvSpPr>
        <p:spPr>
          <a:xfrm>
            <a:off x="5739076" y="2849645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8" name="object 408"/>
          <p:cNvSpPr/>
          <p:nvPr/>
        </p:nvSpPr>
        <p:spPr>
          <a:xfrm>
            <a:off x="5739076" y="2849645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9" name="object 409"/>
          <p:cNvSpPr/>
          <p:nvPr/>
        </p:nvSpPr>
        <p:spPr>
          <a:xfrm>
            <a:off x="6134336" y="2730185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0" name="object 410"/>
          <p:cNvSpPr/>
          <p:nvPr/>
        </p:nvSpPr>
        <p:spPr>
          <a:xfrm>
            <a:off x="6134336" y="2730185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1" name="object 411"/>
          <p:cNvSpPr/>
          <p:nvPr/>
        </p:nvSpPr>
        <p:spPr>
          <a:xfrm>
            <a:off x="5964884" y="2668243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2" name="object 412"/>
          <p:cNvSpPr/>
          <p:nvPr/>
        </p:nvSpPr>
        <p:spPr>
          <a:xfrm>
            <a:off x="5964884" y="2668243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3" name="object 413"/>
          <p:cNvSpPr/>
          <p:nvPr/>
        </p:nvSpPr>
        <p:spPr>
          <a:xfrm>
            <a:off x="6190692" y="2508387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4" name="object 414"/>
          <p:cNvSpPr/>
          <p:nvPr/>
        </p:nvSpPr>
        <p:spPr>
          <a:xfrm>
            <a:off x="6190692" y="2508387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5" name="object 415"/>
          <p:cNvSpPr/>
          <p:nvPr/>
        </p:nvSpPr>
        <p:spPr>
          <a:xfrm>
            <a:off x="3014377" y="3537739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4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6" name="object 416"/>
          <p:cNvSpPr/>
          <p:nvPr/>
        </p:nvSpPr>
        <p:spPr>
          <a:xfrm>
            <a:off x="3014377" y="3537739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4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7" name="object 417"/>
          <p:cNvSpPr/>
          <p:nvPr/>
        </p:nvSpPr>
        <p:spPr>
          <a:xfrm>
            <a:off x="3932035" y="2984686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8" name="object 418"/>
          <p:cNvSpPr/>
          <p:nvPr/>
        </p:nvSpPr>
        <p:spPr>
          <a:xfrm>
            <a:off x="3932035" y="2984686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9" name="object 419"/>
          <p:cNvSpPr/>
          <p:nvPr/>
        </p:nvSpPr>
        <p:spPr>
          <a:xfrm>
            <a:off x="4157843" y="2765581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0" name="object 420"/>
          <p:cNvSpPr/>
          <p:nvPr/>
        </p:nvSpPr>
        <p:spPr>
          <a:xfrm>
            <a:off x="4157843" y="2765581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1" name="object 421"/>
          <p:cNvSpPr/>
          <p:nvPr/>
        </p:nvSpPr>
        <p:spPr>
          <a:xfrm>
            <a:off x="4383843" y="2654970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2" name="object 422"/>
          <p:cNvSpPr/>
          <p:nvPr/>
        </p:nvSpPr>
        <p:spPr>
          <a:xfrm>
            <a:off x="4383843" y="2654970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3" name="object 423"/>
          <p:cNvSpPr/>
          <p:nvPr/>
        </p:nvSpPr>
        <p:spPr>
          <a:xfrm>
            <a:off x="4609651" y="2543590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4" name="object 424"/>
          <p:cNvSpPr/>
          <p:nvPr/>
        </p:nvSpPr>
        <p:spPr>
          <a:xfrm>
            <a:off x="4609651" y="2543590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5" name="object 425"/>
          <p:cNvSpPr/>
          <p:nvPr/>
        </p:nvSpPr>
        <p:spPr>
          <a:xfrm>
            <a:off x="4835459" y="2272738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6" name="object 426"/>
          <p:cNvSpPr/>
          <p:nvPr/>
        </p:nvSpPr>
        <p:spPr>
          <a:xfrm>
            <a:off x="4835459" y="2272738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7" name="object 427"/>
          <p:cNvSpPr/>
          <p:nvPr/>
        </p:nvSpPr>
        <p:spPr>
          <a:xfrm>
            <a:off x="2802610" y="2975645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8" name="object 428"/>
          <p:cNvSpPr/>
          <p:nvPr/>
        </p:nvSpPr>
        <p:spPr>
          <a:xfrm>
            <a:off x="2802610" y="2975645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9" name="object 429"/>
          <p:cNvSpPr/>
          <p:nvPr/>
        </p:nvSpPr>
        <p:spPr>
          <a:xfrm>
            <a:off x="3028418" y="2591874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0" name="object 430"/>
          <p:cNvSpPr/>
          <p:nvPr/>
        </p:nvSpPr>
        <p:spPr>
          <a:xfrm>
            <a:off x="3028418" y="2591874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1" name="object 431"/>
          <p:cNvSpPr/>
          <p:nvPr/>
        </p:nvSpPr>
        <p:spPr>
          <a:xfrm>
            <a:off x="3254418" y="2465682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2" name="object 432"/>
          <p:cNvSpPr/>
          <p:nvPr/>
        </p:nvSpPr>
        <p:spPr>
          <a:xfrm>
            <a:off x="3254418" y="2465682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3" name="object 433"/>
          <p:cNvSpPr/>
          <p:nvPr/>
        </p:nvSpPr>
        <p:spPr>
          <a:xfrm>
            <a:off x="3480226" y="2358341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4" name="object 434"/>
          <p:cNvSpPr/>
          <p:nvPr/>
        </p:nvSpPr>
        <p:spPr>
          <a:xfrm>
            <a:off x="3480226" y="2358341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5" name="object 435"/>
          <p:cNvSpPr/>
          <p:nvPr/>
        </p:nvSpPr>
        <p:spPr>
          <a:xfrm>
            <a:off x="92144" y="3859183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4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6" name="object 436"/>
          <p:cNvSpPr/>
          <p:nvPr/>
        </p:nvSpPr>
        <p:spPr>
          <a:xfrm>
            <a:off x="92144" y="3859183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4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7" name="object 437"/>
          <p:cNvSpPr/>
          <p:nvPr/>
        </p:nvSpPr>
        <p:spPr>
          <a:xfrm>
            <a:off x="798035" y="3694325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4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8" name="object 438"/>
          <p:cNvSpPr/>
          <p:nvPr/>
        </p:nvSpPr>
        <p:spPr>
          <a:xfrm>
            <a:off x="798035" y="3694325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4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9" name="object 439"/>
          <p:cNvSpPr/>
          <p:nvPr/>
        </p:nvSpPr>
        <p:spPr>
          <a:xfrm>
            <a:off x="1221569" y="3598527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4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0" name="object 440"/>
          <p:cNvSpPr/>
          <p:nvPr/>
        </p:nvSpPr>
        <p:spPr>
          <a:xfrm>
            <a:off x="1221569" y="3598527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4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1" name="object 441"/>
          <p:cNvSpPr/>
          <p:nvPr/>
        </p:nvSpPr>
        <p:spPr>
          <a:xfrm>
            <a:off x="1870911" y="3431745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4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2" name="object 442"/>
          <p:cNvSpPr/>
          <p:nvPr/>
        </p:nvSpPr>
        <p:spPr>
          <a:xfrm>
            <a:off x="1870911" y="3431745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4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3" name="object 443"/>
          <p:cNvSpPr/>
          <p:nvPr/>
        </p:nvSpPr>
        <p:spPr>
          <a:xfrm>
            <a:off x="2350801" y="2725569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4" name="object 444"/>
          <p:cNvSpPr/>
          <p:nvPr/>
        </p:nvSpPr>
        <p:spPr>
          <a:xfrm>
            <a:off x="2350801" y="2725569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5" name="object 445"/>
          <p:cNvSpPr/>
          <p:nvPr/>
        </p:nvSpPr>
        <p:spPr>
          <a:xfrm>
            <a:off x="1616829" y="2951407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6" name="object 446"/>
          <p:cNvSpPr/>
          <p:nvPr/>
        </p:nvSpPr>
        <p:spPr>
          <a:xfrm>
            <a:off x="1616829" y="2951407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7" name="object 447"/>
          <p:cNvSpPr/>
          <p:nvPr/>
        </p:nvSpPr>
        <p:spPr>
          <a:xfrm>
            <a:off x="1447377" y="2815596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8" name="object 448"/>
          <p:cNvSpPr/>
          <p:nvPr/>
        </p:nvSpPr>
        <p:spPr>
          <a:xfrm>
            <a:off x="1447377" y="2815596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9" name="object 449"/>
          <p:cNvSpPr/>
          <p:nvPr/>
        </p:nvSpPr>
        <p:spPr>
          <a:xfrm>
            <a:off x="1673185" y="2698637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0" name="object 450"/>
          <p:cNvSpPr/>
          <p:nvPr/>
        </p:nvSpPr>
        <p:spPr>
          <a:xfrm>
            <a:off x="1673185" y="2698637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1" name="object 451"/>
          <p:cNvSpPr/>
          <p:nvPr/>
        </p:nvSpPr>
        <p:spPr>
          <a:xfrm>
            <a:off x="600308" y="3397312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4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2" name="object 452"/>
          <p:cNvSpPr/>
          <p:nvPr/>
        </p:nvSpPr>
        <p:spPr>
          <a:xfrm>
            <a:off x="600308" y="3397312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4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3" name="object 453"/>
          <p:cNvSpPr/>
          <p:nvPr/>
        </p:nvSpPr>
        <p:spPr>
          <a:xfrm>
            <a:off x="430856" y="2816173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4" name="object 454"/>
          <p:cNvSpPr/>
          <p:nvPr/>
        </p:nvSpPr>
        <p:spPr>
          <a:xfrm>
            <a:off x="430856" y="2816173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5" name="object 455"/>
          <p:cNvSpPr/>
          <p:nvPr/>
        </p:nvSpPr>
        <p:spPr>
          <a:xfrm>
            <a:off x="317952" y="2656124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6" name="object 456"/>
          <p:cNvSpPr/>
          <p:nvPr/>
        </p:nvSpPr>
        <p:spPr>
          <a:xfrm>
            <a:off x="317952" y="2656124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7" name="object 457"/>
          <p:cNvSpPr txBox="1"/>
          <p:nvPr/>
        </p:nvSpPr>
        <p:spPr>
          <a:xfrm>
            <a:off x="9321225" y="2426602"/>
            <a:ext cx="33845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" indent="-8255">
              <a:lnSpc>
                <a:spcPts val="1210"/>
              </a:lnSpc>
            </a:pPr>
            <a:r>
              <a:rPr sz="1500" spc="5" dirty="0">
                <a:latin typeface="Helvetica"/>
                <a:cs typeface="Helvetica"/>
              </a:rPr>
              <a:t>L</a:t>
            </a:r>
            <a:endParaRPr sz="1500">
              <a:latin typeface="Helvetica"/>
              <a:cs typeface="Helvetica"/>
            </a:endParaRPr>
          </a:p>
          <a:p>
            <a:pPr marL="7620">
              <a:lnSpc>
                <a:spcPts val="760"/>
              </a:lnSpc>
            </a:pPr>
            <a:r>
              <a:rPr sz="1350" spc="5" dirty="0">
                <a:latin typeface="Helvetica"/>
                <a:cs typeface="Helvetica"/>
              </a:rPr>
              <a:t>L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458" name="object 458"/>
          <p:cNvSpPr txBox="1"/>
          <p:nvPr/>
        </p:nvSpPr>
        <p:spPr>
          <a:xfrm>
            <a:off x="9490678" y="2296592"/>
            <a:ext cx="281940" cy="250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1500" spc="5" dirty="0">
                <a:latin typeface="Helvetica"/>
                <a:cs typeface="Helvetica"/>
              </a:rPr>
              <a:t>L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459" name="object 459"/>
          <p:cNvSpPr txBox="1"/>
          <p:nvPr/>
        </p:nvSpPr>
        <p:spPr>
          <a:xfrm>
            <a:off x="8756513" y="2178835"/>
            <a:ext cx="338455" cy="143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85"/>
              </a:lnSpc>
            </a:pPr>
            <a:r>
              <a:rPr sz="1500" spc="5" dirty="0">
                <a:latin typeface="Helvetica"/>
                <a:cs typeface="Helvetica"/>
              </a:rPr>
              <a:t>L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460" name="object 460"/>
          <p:cNvSpPr txBox="1"/>
          <p:nvPr/>
        </p:nvSpPr>
        <p:spPr>
          <a:xfrm>
            <a:off x="8587061" y="2131157"/>
            <a:ext cx="281940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2250" spc="-3345" baseline="-33333" dirty="0">
                <a:latin typeface="Helvetica"/>
                <a:cs typeface="Helvetica"/>
              </a:rPr>
              <a:t>L</a:t>
            </a:r>
            <a:r>
              <a:rPr sz="1350" spc="5" dirty="0">
                <a:latin typeface="Helvetica"/>
                <a:cs typeface="Helvetica"/>
              </a:rPr>
              <a:t>L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461" name="object 461"/>
          <p:cNvSpPr txBox="1"/>
          <p:nvPr/>
        </p:nvSpPr>
        <p:spPr>
          <a:xfrm>
            <a:off x="8135253" y="2224070"/>
            <a:ext cx="282575" cy="300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" indent="-8255">
              <a:lnSpc>
                <a:spcPts val="1175"/>
              </a:lnSpc>
            </a:pPr>
            <a:r>
              <a:rPr sz="1500" spc="5" dirty="0">
                <a:latin typeface="Helvetica"/>
                <a:cs typeface="Helvetica"/>
              </a:rPr>
              <a:t>L</a:t>
            </a:r>
            <a:endParaRPr sz="1500">
              <a:latin typeface="Helvetica"/>
              <a:cs typeface="Helvetica"/>
            </a:endParaRPr>
          </a:p>
          <a:p>
            <a:pPr marL="7620">
              <a:lnSpc>
                <a:spcPts val="725"/>
              </a:lnSpc>
            </a:pPr>
            <a:r>
              <a:rPr sz="1350" spc="5" dirty="0">
                <a:latin typeface="Helvetica"/>
                <a:cs typeface="Helvetica"/>
              </a:rPr>
              <a:t>L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462" name="object 462"/>
          <p:cNvSpPr txBox="1"/>
          <p:nvPr/>
        </p:nvSpPr>
        <p:spPr>
          <a:xfrm>
            <a:off x="7457636" y="2431441"/>
            <a:ext cx="282575" cy="306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" indent="-8255">
              <a:lnSpc>
                <a:spcPts val="1200"/>
              </a:lnSpc>
            </a:pPr>
            <a:r>
              <a:rPr sz="1500" spc="5" dirty="0">
                <a:latin typeface="Helvetica"/>
                <a:cs typeface="Helvetica"/>
              </a:rPr>
              <a:t>L</a:t>
            </a:r>
            <a:endParaRPr sz="1500">
              <a:latin typeface="Helvetica"/>
              <a:cs typeface="Helvetica"/>
            </a:endParaRPr>
          </a:p>
          <a:p>
            <a:pPr marL="7620">
              <a:lnSpc>
                <a:spcPts val="750"/>
              </a:lnSpc>
            </a:pPr>
            <a:r>
              <a:rPr sz="1350" spc="5" dirty="0">
                <a:latin typeface="Helvetica"/>
                <a:cs typeface="Helvetica"/>
              </a:rPr>
              <a:t>L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463" name="object 463"/>
          <p:cNvSpPr txBox="1"/>
          <p:nvPr/>
        </p:nvSpPr>
        <p:spPr>
          <a:xfrm>
            <a:off x="6328404" y="2508387"/>
            <a:ext cx="281940" cy="28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1500" spc="10" dirty="0">
                <a:latin typeface="Helvetica"/>
                <a:cs typeface="Helvetica"/>
              </a:rPr>
              <a:t>N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464" name="object 464"/>
          <p:cNvSpPr txBox="1"/>
          <p:nvPr/>
        </p:nvSpPr>
        <p:spPr>
          <a:xfrm>
            <a:off x="4803719" y="2543590"/>
            <a:ext cx="338455" cy="28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1500" spc="10" dirty="0">
                <a:latin typeface="Helvetica"/>
                <a:cs typeface="Helvetica"/>
              </a:rPr>
              <a:t>N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465" name="object 465"/>
          <p:cNvSpPr txBox="1"/>
          <p:nvPr/>
        </p:nvSpPr>
        <p:spPr>
          <a:xfrm>
            <a:off x="4972979" y="2272738"/>
            <a:ext cx="282575" cy="28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1500" spc="10" dirty="0">
                <a:latin typeface="Helvetica"/>
                <a:cs typeface="Helvetica"/>
              </a:rPr>
              <a:t>N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466" name="object 466"/>
          <p:cNvSpPr txBox="1"/>
          <p:nvPr/>
        </p:nvSpPr>
        <p:spPr>
          <a:xfrm>
            <a:off x="3448293" y="2465682"/>
            <a:ext cx="338455" cy="28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1500" spc="10" dirty="0">
                <a:latin typeface="Helvetica"/>
                <a:cs typeface="Helvetica"/>
              </a:rPr>
              <a:t>N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467" name="object 467"/>
          <p:cNvSpPr txBox="1"/>
          <p:nvPr/>
        </p:nvSpPr>
        <p:spPr>
          <a:xfrm>
            <a:off x="3617746" y="2358341"/>
            <a:ext cx="282575" cy="28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1500" spc="10" dirty="0">
                <a:latin typeface="Helvetica"/>
                <a:cs typeface="Helvetica"/>
              </a:rPr>
              <a:t>N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468" name="object 468"/>
          <p:cNvSpPr txBox="1"/>
          <p:nvPr/>
        </p:nvSpPr>
        <p:spPr>
          <a:xfrm>
            <a:off x="2488321" y="2725569"/>
            <a:ext cx="282575" cy="28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1500" spc="10" dirty="0">
                <a:latin typeface="Helvetica"/>
                <a:cs typeface="Helvetica"/>
              </a:rPr>
              <a:t>N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469" name="object 469"/>
          <p:cNvSpPr txBox="1"/>
          <p:nvPr/>
        </p:nvSpPr>
        <p:spPr>
          <a:xfrm>
            <a:off x="1641444" y="2815596"/>
            <a:ext cx="338455" cy="28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1500" spc="10" dirty="0">
                <a:latin typeface="Helvetica"/>
                <a:cs typeface="Helvetica"/>
              </a:rPr>
              <a:t>N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470" name="object 470"/>
          <p:cNvSpPr txBox="1"/>
          <p:nvPr/>
        </p:nvSpPr>
        <p:spPr>
          <a:xfrm>
            <a:off x="1810704" y="2698637"/>
            <a:ext cx="282575" cy="28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1500" spc="10" dirty="0">
                <a:latin typeface="Helvetica"/>
                <a:cs typeface="Helvetica"/>
              </a:rPr>
              <a:t>N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471" name="object 471"/>
          <p:cNvSpPr txBox="1"/>
          <p:nvPr/>
        </p:nvSpPr>
        <p:spPr>
          <a:xfrm>
            <a:off x="624924" y="2816173"/>
            <a:ext cx="338455" cy="28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1500" spc="10" dirty="0">
                <a:latin typeface="Helvetica"/>
                <a:cs typeface="Helvetica"/>
              </a:rPr>
              <a:t>N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472" name="object 472"/>
          <p:cNvSpPr txBox="1"/>
          <p:nvPr/>
        </p:nvSpPr>
        <p:spPr>
          <a:xfrm>
            <a:off x="455472" y="2656124"/>
            <a:ext cx="281940" cy="28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1500" spc="10" dirty="0">
                <a:latin typeface="Helvetica"/>
                <a:cs typeface="Helvetica"/>
              </a:rPr>
              <a:t>N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473" name="object 473"/>
          <p:cNvSpPr txBox="1"/>
          <p:nvPr/>
        </p:nvSpPr>
        <p:spPr>
          <a:xfrm>
            <a:off x="6166838" y="2668243"/>
            <a:ext cx="330835" cy="187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50"/>
              </a:lnSpc>
            </a:pPr>
            <a:r>
              <a:rPr sz="1350" spc="5" dirty="0">
                <a:latin typeface="Helvetica"/>
                <a:cs typeface="Helvetica"/>
              </a:rPr>
              <a:t>N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474" name="object 474"/>
          <p:cNvSpPr txBox="1"/>
          <p:nvPr/>
        </p:nvSpPr>
        <p:spPr>
          <a:xfrm>
            <a:off x="5739076" y="2849645"/>
            <a:ext cx="266700" cy="234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3660">
              <a:lnSpc>
                <a:spcPts val="1500"/>
              </a:lnSpc>
            </a:pPr>
            <a:r>
              <a:rPr sz="1500" spc="10" dirty="0">
                <a:latin typeface="Helvetica"/>
                <a:cs typeface="Helvetica"/>
              </a:rPr>
              <a:t>N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475" name="object 475"/>
          <p:cNvSpPr txBox="1"/>
          <p:nvPr/>
        </p:nvSpPr>
        <p:spPr>
          <a:xfrm>
            <a:off x="6134336" y="2661286"/>
            <a:ext cx="217170" cy="235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">
              <a:lnSpc>
                <a:spcPct val="100000"/>
              </a:lnSpc>
            </a:pPr>
            <a:r>
              <a:rPr sz="1500" spc="10" dirty="0">
                <a:latin typeface="Helvetica"/>
                <a:cs typeface="Helvetica"/>
              </a:rPr>
              <a:t>N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476" name="object 476"/>
          <p:cNvSpPr txBox="1"/>
          <p:nvPr/>
        </p:nvSpPr>
        <p:spPr>
          <a:xfrm>
            <a:off x="1221569" y="3598527"/>
            <a:ext cx="241935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1500"/>
              </a:lnSpc>
            </a:pPr>
            <a:r>
              <a:rPr sz="1500" spc="10" dirty="0">
                <a:latin typeface="Helvetica"/>
                <a:cs typeface="Helvetica"/>
              </a:rPr>
              <a:t>N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477" name="object 477"/>
          <p:cNvSpPr txBox="1"/>
          <p:nvPr/>
        </p:nvSpPr>
        <p:spPr>
          <a:xfrm>
            <a:off x="7433020" y="2508195"/>
            <a:ext cx="213995" cy="160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955">
              <a:lnSpc>
                <a:spcPts val="1500"/>
              </a:lnSpc>
            </a:pPr>
            <a:r>
              <a:rPr sz="1500" spc="5" dirty="0">
                <a:latin typeface="Helvetica"/>
                <a:cs typeface="Helvetica"/>
              </a:rPr>
              <a:t>L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478" name="object 478"/>
          <p:cNvSpPr txBox="1"/>
          <p:nvPr/>
        </p:nvSpPr>
        <p:spPr>
          <a:xfrm>
            <a:off x="7771925" y="2448754"/>
            <a:ext cx="210185" cy="161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145">
              <a:lnSpc>
                <a:spcPts val="1500"/>
              </a:lnSpc>
            </a:pPr>
            <a:r>
              <a:rPr sz="1500" spc="5" dirty="0">
                <a:latin typeface="Helvetica"/>
                <a:cs typeface="Helvetica"/>
              </a:rPr>
              <a:t>L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479" name="object 479"/>
          <p:cNvSpPr txBox="1"/>
          <p:nvPr/>
        </p:nvSpPr>
        <p:spPr>
          <a:xfrm>
            <a:off x="10697226" y="55100"/>
            <a:ext cx="1370330" cy="183388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699770" algn="just">
              <a:lnSpc>
                <a:spcPts val="1780"/>
              </a:lnSpc>
            </a:pPr>
            <a:r>
              <a:rPr sz="2250" baseline="-7407" dirty="0">
                <a:latin typeface="Helvetica"/>
                <a:cs typeface="Helvetica"/>
              </a:rPr>
              <a:t>N</a:t>
            </a:r>
            <a:r>
              <a:rPr sz="2250" spc="22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</a:t>
            </a:r>
            <a:r>
              <a:rPr sz="1500" spc="-50" dirty="0">
                <a:latin typeface="Helvetica"/>
                <a:cs typeface="Helvetica"/>
              </a:rPr>
              <a:t>x</a:t>
            </a:r>
            <a:r>
              <a:rPr sz="1500" spc="-5" dirty="0">
                <a:latin typeface="Helvetica"/>
                <a:cs typeface="Helvetica"/>
              </a:rPr>
              <a:t>eni</a:t>
            </a:r>
            <a:r>
              <a:rPr sz="1500" spc="-35" dirty="0">
                <a:latin typeface="Helvetica"/>
                <a:cs typeface="Helvetica"/>
              </a:rPr>
              <a:t>k</a:t>
            </a:r>
            <a:r>
              <a:rPr sz="1500" spc="-5" dirty="0">
                <a:latin typeface="Helvetica"/>
                <a:cs typeface="Helvetica"/>
              </a:rPr>
              <a:t>os </a:t>
            </a:r>
            <a:r>
              <a:rPr sz="2250" baseline="-7407" dirty="0">
                <a:latin typeface="Helvetica"/>
                <a:cs typeface="Helvetica"/>
              </a:rPr>
              <a:t>N</a:t>
            </a:r>
            <a:r>
              <a:rPr sz="2250" spc="22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C_virgatus </a:t>
            </a:r>
            <a:r>
              <a:rPr sz="2250" baseline="-7407" dirty="0">
                <a:latin typeface="Helvetica"/>
                <a:cs typeface="Helvetica"/>
              </a:rPr>
              <a:t>N</a:t>
            </a:r>
            <a:r>
              <a:rPr sz="2250" spc="22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C_fuhni</a:t>
            </a:r>
            <a:endParaRPr sz="1500">
              <a:latin typeface="Helvetica"/>
              <a:cs typeface="Helvetica"/>
            </a:endParaRPr>
          </a:p>
          <a:p>
            <a:pPr marL="12700" marR="5080">
              <a:lnSpc>
                <a:spcPts val="1780"/>
              </a:lnSpc>
            </a:pPr>
            <a:r>
              <a:rPr sz="2250" baseline="-7407" dirty="0">
                <a:latin typeface="Helvetica"/>
                <a:cs typeface="Helvetica"/>
              </a:rPr>
              <a:t>N</a:t>
            </a:r>
            <a:r>
              <a:rPr sz="2250" spc="22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C_pulcher_pulcher </a:t>
            </a:r>
            <a:r>
              <a:rPr sz="2250" baseline="-7407" dirty="0">
                <a:latin typeface="Helvetica"/>
                <a:cs typeface="Helvetica"/>
              </a:rPr>
              <a:t>N</a:t>
            </a:r>
            <a:r>
              <a:rPr sz="2250" spc="22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C_pulcher_cla</a:t>
            </a:r>
            <a:r>
              <a:rPr sz="1500" spc="20" dirty="0">
                <a:latin typeface="Helvetica"/>
                <a:cs typeface="Helvetica"/>
              </a:rPr>
              <a:t>r</a:t>
            </a:r>
            <a:r>
              <a:rPr sz="1500" spc="-5" dirty="0">
                <a:latin typeface="Helvetica"/>
                <a:cs typeface="Helvetica"/>
              </a:rPr>
              <a:t>us</a:t>
            </a:r>
            <a:endParaRPr sz="1500">
              <a:latin typeface="Helvetica"/>
              <a:cs typeface="Helvetica"/>
            </a:endParaRPr>
          </a:p>
          <a:p>
            <a:pPr marL="12700" algn="just">
              <a:lnSpc>
                <a:spcPts val="1725"/>
              </a:lnSpc>
            </a:pPr>
            <a:r>
              <a:rPr sz="2250" baseline="-7407" dirty="0">
                <a:latin typeface="Helvetica"/>
                <a:cs typeface="Helvetica"/>
              </a:rPr>
              <a:t>N</a:t>
            </a:r>
            <a:r>
              <a:rPr sz="2250" spc="22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C_adamsi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480" name="object 480"/>
          <p:cNvSpPr txBox="1"/>
          <p:nvPr/>
        </p:nvSpPr>
        <p:spPr>
          <a:xfrm>
            <a:off x="10471225" y="749854"/>
            <a:ext cx="217804" cy="94488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-5" dirty="0">
                <a:latin typeface="Helvetica"/>
                <a:cs typeface="Helvetica"/>
              </a:rPr>
              <a:t>C_boutonii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481" name="object 481"/>
          <p:cNvSpPr txBox="1"/>
          <p:nvPr/>
        </p:nvSpPr>
        <p:spPr>
          <a:xfrm>
            <a:off x="10245418" y="0"/>
            <a:ext cx="217804" cy="173736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-5" dirty="0">
                <a:latin typeface="Helvetica"/>
                <a:cs typeface="Helvetica"/>
              </a:rPr>
              <a:t>C_boutonii_af</a:t>
            </a:r>
            <a:r>
              <a:rPr sz="1500" spc="20" dirty="0">
                <a:latin typeface="Helvetica"/>
                <a:cs typeface="Helvetica"/>
              </a:rPr>
              <a:t>r</a:t>
            </a:r>
            <a:r>
              <a:rPr sz="1500" spc="-5" dirty="0">
                <a:latin typeface="Helvetica"/>
                <a:cs typeface="Helvetica"/>
              </a:rPr>
              <a:t>ica</a:t>
            </a:r>
            <a:r>
              <a:rPr sz="1500" spc="-15" dirty="0">
                <a:latin typeface="Helvetica"/>
                <a:cs typeface="Helvetica"/>
              </a:rPr>
              <a:t>n</a:t>
            </a:r>
            <a:r>
              <a:rPr sz="1500" spc="-5" dirty="0">
                <a:latin typeface="Helvetica"/>
                <a:cs typeface="Helvetica"/>
              </a:rPr>
              <a:t>u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482" name="object 482"/>
          <p:cNvSpPr txBox="1"/>
          <p:nvPr/>
        </p:nvSpPr>
        <p:spPr>
          <a:xfrm>
            <a:off x="8664376" y="0"/>
            <a:ext cx="1573530" cy="17005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5080">
              <a:lnSpc>
                <a:spcPct val="98800"/>
              </a:lnSpc>
            </a:pPr>
            <a:r>
              <a:rPr sz="1500" spc="-5" dirty="0">
                <a:latin typeface="Helvetica"/>
                <a:cs typeface="Helvetica"/>
              </a:rPr>
              <a:t>C_poecilopleu</a:t>
            </a:r>
            <a:r>
              <a:rPr sz="1500" spc="20" dirty="0">
                <a:latin typeface="Helvetica"/>
                <a:cs typeface="Helvetica"/>
              </a:rPr>
              <a:t>r</a:t>
            </a:r>
            <a:r>
              <a:rPr sz="1500" spc="-5" dirty="0">
                <a:latin typeface="Helvetica"/>
                <a:cs typeface="Helvetica"/>
              </a:rPr>
              <a:t>us C_</a:t>
            </a:r>
            <a:r>
              <a:rPr sz="1500" spc="-50" dirty="0">
                <a:latin typeface="Helvetica"/>
                <a:cs typeface="Helvetica"/>
              </a:rPr>
              <a:t>e</a:t>
            </a:r>
            <a:r>
              <a:rPr sz="1500" dirty="0">
                <a:latin typeface="Helvetica"/>
                <a:cs typeface="Helvetica"/>
              </a:rPr>
              <a:t>ximius </a:t>
            </a:r>
            <a:r>
              <a:rPr sz="1500" spc="-5" dirty="0">
                <a:latin typeface="Helvetica"/>
                <a:cs typeface="Helvetica"/>
              </a:rPr>
              <a:t>C_cursor C_</a:t>
            </a:r>
            <a:r>
              <a:rPr sz="1500" spc="-35" dirty="0">
                <a:latin typeface="Helvetica"/>
                <a:cs typeface="Helvetica"/>
              </a:rPr>
              <a:t>b</a:t>
            </a:r>
            <a:r>
              <a:rPr sz="1500" spc="-5" dirty="0">
                <a:latin typeface="Helvetica"/>
                <a:cs typeface="Helvetica"/>
              </a:rPr>
              <a:t>urdeni_B C_</a:t>
            </a:r>
            <a:r>
              <a:rPr sz="1500" spc="-35" dirty="0">
                <a:latin typeface="Helvetica"/>
                <a:cs typeface="Helvetica"/>
              </a:rPr>
              <a:t>b</a:t>
            </a:r>
            <a:r>
              <a:rPr sz="1500" spc="-5" dirty="0">
                <a:latin typeface="Helvetica"/>
                <a:cs typeface="Helvetica"/>
              </a:rPr>
              <a:t>urdeni_A C_gur</a:t>
            </a:r>
            <a:r>
              <a:rPr sz="1500" spc="35" dirty="0">
                <a:latin typeface="Helvetica"/>
                <a:cs typeface="Helvetica"/>
              </a:rPr>
              <a:t>r</a:t>
            </a:r>
            <a:r>
              <a:rPr sz="1500" spc="-20" dirty="0">
                <a:latin typeface="Helvetica"/>
                <a:cs typeface="Helvetica"/>
              </a:rPr>
              <a:t>m</a:t>
            </a:r>
            <a:r>
              <a:rPr sz="1500" spc="-5" dirty="0">
                <a:latin typeface="Helvetica"/>
                <a:cs typeface="Helvetica"/>
              </a:rPr>
              <a:t>ul C_boutonii_s</a:t>
            </a:r>
            <a:r>
              <a:rPr sz="1500" spc="-30" dirty="0">
                <a:latin typeface="Helvetica"/>
                <a:cs typeface="Helvetica"/>
              </a:rPr>
              <a:t>e</a:t>
            </a:r>
            <a:r>
              <a:rPr sz="1500" dirty="0">
                <a:latin typeface="Helvetica"/>
                <a:cs typeface="Helvetica"/>
              </a:rPr>
              <a:t>ychel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483" name="object 483"/>
          <p:cNvSpPr txBox="1"/>
          <p:nvPr/>
        </p:nvSpPr>
        <p:spPr>
          <a:xfrm>
            <a:off x="8438376" y="0"/>
            <a:ext cx="217804" cy="175006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-5" dirty="0">
                <a:latin typeface="Helvetica"/>
                <a:cs typeface="Helvetica"/>
              </a:rPr>
              <a:t>C_poecilopleu</a:t>
            </a:r>
            <a:r>
              <a:rPr sz="1500" spc="20" dirty="0">
                <a:latin typeface="Helvetica"/>
                <a:cs typeface="Helvetica"/>
              </a:rPr>
              <a:t>r</a:t>
            </a:r>
            <a:r>
              <a:rPr sz="1500" spc="-5" dirty="0">
                <a:latin typeface="Helvetica"/>
                <a:cs typeface="Helvetica"/>
              </a:rPr>
              <a:t>us_S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484" name="object 484"/>
          <p:cNvSpPr txBox="1"/>
          <p:nvPr/>
        </p:nvSpPr>
        <p:spPr>
          <a:xfrm>
            <a:off x="7986760" y="0"/>
            <a:ext cx="443865" cy="169672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5080">
              <a:lnSpc>
                <a:spcPts val="1780"/>
              </a:lnSpc>
            </a:pPr>
            <a:r>
              <a:rPr sz="1500" spc="-5" dirty="0">
                <a:latin typeface="Helvetica"/>
                <a:cs typeface="Helvetica"/>
              </a:rPr>
              <a:t>C_n</a:t>
            </a:r>
            <a:r>
              <a:rPr sz="1500" spc="-25" dirty="0">
                <a:latin typeface="Helvetica"/>
                <a:cs typeface="Helvetica"/>
              </a:rPr>
              <a:t>o</a:t>
            </a:r>
            <a:r>
              <a:rPr sz="1500" spc="-40" dirty="0">
                <a:latin typeface="Helvetica"/>
                <a:cs typeface="Helvetica"/>
              </a:rPr>
              <a:t>v</a:t>
            </a:r>
            <a:r>
              <a:rPr sz="1500" spc="-5" dirty="0">
                <a:latin typeface="Helvetica"/>
                <a:cs typeface="Helvetica"/>
              </a:rPr>
              <a:t>oheb</a:t>
            </a:r>
            <a:r>
              <a:rPr sz="1500" spc="20" dirty="0">
                <a:latin typeface="Helvetica"/>
                <a:cs typeface="Helvetica"/>
              </a:rPr>
              <a:t>r</a:t>
            </a:r>
            <a:r>
              <a:rPr sz="1500" spc="-5" dirty="0">
                <a:latin typeface="Helvetica"/>
                <a:cs typeface="Helvetica"/>
              </a:rPr>
              <a:t>idicus C_n</a:t>
            </a:r>
            <a:r>
              <a:rPr sz="1500" spc="-25" dirty="0">
                <a:latin typeface="Helvetica"/>
                <a:cs typeface="Helvetica"/>
              </a:rPr>
              <a:t>o</a:t>
            </a:r>
            <a:r>
              <a:rPr sz="1500" spc="-40" dirty="0">
                <a:latin typeface="Helvetica"/>
                <a:cs typeface="Helvetica"/>
              </a:rPr>
              <a:t>v</a:t>
            </a:r>
            <a:r>
              <a:rPr sz="1500" spc="-5" dirty="0">
                <a:latin typeface="Helvetica"/>
                <a:cs typeface="Helvetica"/>
              </a:rPr>
              <a:t>ocaledonicus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485" name="object 485"/>
          <p:cNvSpPr txBox="1"/>
          <p:nvPr/>
        </p:nvSpPr>
        <p:spPr>
          <a:xfrm>
            <a:off x="7760760" y="0"/>
            <a:ext cx="217804" cy="177101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-5" dirty="0">
                <a:latin typeface="Helvetica"/>
                <a:cs typeface="Helvetica"/>
              </a:rPr>
              <a:t>C_poecilopleu</a:t>
            </a:r>
            <a:r>
              <a:rPr sz="1500" spc="20" dirty="0">
                <a:latin typeface="Helvetica"/>
                <a:cs typeface="Helvetica"/>
              </a:rPr>
              <a:t>r</a:t>
            </a:r>
            <a:r>
              <a:rPr sz="1500" spc="-5" dirty="0">
                <a:latin typeface="Helvetica"/>
                <a:cs typeface="Helvetica"/>
              </a:rPr>
              <a:t>us_G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486" name="object 486"/>
          <p:cNvSpPr txBox="1"/>
          <p:nvPr/>
        </p:nvSpPr>
        <p:spPr>
          <a:xfrm>
            <a:off x="6857335" y="113583"/>
            <a:ext cx="895350" cy="158115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5080" algn="just">
              <a:lnSpc>
                <a:spcPct val="98800"/>
              </a:lnSpc>
            </a:pPr>
            <a:r>
              <a:rPr sz="1500" spc="-5" dirty="0">
                <a:latin typeface="Helvetica"/>
                <a:cs typeface="Helvetica"/>
              </a:rPr>
              <a:t>C_nigropunctatus C_lito</a:t>
            </a:r>
            <a:r>
              <a:rPr sz="1500" spc="-15" dirty="0">
                <a:latin typeface="Helvetica"/>
                <a:cs typeface="Helvetica"/>
              </a:rPr>
              <a:t>r</a:t>
            </a:r>
            <a:r>
              <a:rPr sz="1500" spc="-5" dirty="0">
                <a:latin typeface="Helvetica"/>
                <a:cs typeface="Helvetica"/>
              </a:rPr>
              <a:t>alis_ho</a:t>
            </a:r>
            <a:r>
              <a:rPr sz="1500" spc="35" dirty="0">
                <a:latin typeface="Helvetica"/>
                <a:cs typeface="Helvetica"/>
              </a:rPr>
              <a:t>r</a:t>
            </a:r>
            <a:r>
              <a:rPr sz="1500" spc="-5" dirty="0">
                <a:latin typeface="Helvetica"/>
                <a:cs typeface="Helvetica"/>
              </a:rPr>
              <a:t>ne</a:t>
            </a:r>
            <a:r>
              <a:rPr sz="1500" spc="20" dirty="0">
                <a:latin typeface="Helvetica"/>
                <a:cs typeface="Helvetica"/>
              </a:rPr>
              <a:t>r</a:t>
            </a:r>
            <a:r>
              <a:rPr sz="1500" dirty="0">
                <a:latin typeface="Helvetica"/>
                <a:cs typeface="Helvetica"/>
              </a:rPr>
              <a:t>i </a:t>
            </a:r>
            <a:r>
              <a:rPr sz="1500" spc="-5" dirty="0">
                <a:latin typeface="Helvetica"/>
                <a:cs typeface="Helvetica"/>
              </a:rPr>
              <a:t>C_lito</a:t>
            </a:r>
            <a:r>
              <a:rPr sz="1500" spc="-15" dirty="0">
                <a:latin typeface="Helvetica"/>
                <a:cs typeface="Helvetica"/>
              </a:rPr>
              <a:t>r</a:t>
            </a:r>
            <a:r>
              <a:rPr sz="1500" spc="-5" dirty="0">
                <a:latin typeface="Helvetica"/>
                <a:cs typeface="Helvetica"/>
              </a:rPr>
              <a:t>alis_lito</a:t>
            </a:r>
            <a:r>
              <a:rPr sz="1500" spc="-15" dirty="0">
                <a:latin typeface="Helvetica"/>
                <a:cs typeface="Helvetica"/>
              </a:rPr>
              <a:t>r</a:t>
            </a:r>
            <a:r>
              <a:rPr sz="1500" spc="-5" dirty="0">
                <a:latin typeface="Helvetica"/>
                <a:cs typeface="Helvetica"/>
              </a:rPr>
              <a:t>alis C_lito</a:t>
            </a:r>
            <a:r>
              <a:rPr sz="1500" spc="-15" dirty="0">
                <a:latin typeface="Helvetica"/>
                <a:cs typeface="Helvetica"/>
              </a:rPr>
              <a:t>r</a:t>
            </a:r>
            <a:r>
              <a:rPr sz="1500" spc="-5" dirty="0">
                <a:latin typeface="Helvetica"/>
                <a:cs typeface="Helvetica"/>
              </a:rPr>
              <a:t>alis_Sideia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487" name="object 487"/>
          <p:cNvSpPr txBox="1"/>
          <p:nvPr/>
        </p:nvSpPr>
        <p:spPr>
          <a:xfrm>
            <a:off x="80979" y="140449"/>
            <a:ext cx="6791325" cy="1748789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789"/>
              </a:lnSpc>
            </a:pPr>
            <a:r>
              <a:rPr sz="2250" baseline="-7407" dirty="0">
                <a:latin typeface="Helvetica"/>
                <a:cs typeface="Helvetica"/>
              </a:rPr>
              <a:t>N</a:t>
            </a:r>
            <a:r>
              <a:rPr sz="2250" spc="22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C_ege</a:t>
            </a:r>
            <a:r>
              <a:rPr sz="1500" spc="20" dirty="0">
                <a:latin typeface="Helvetica"/>
                <a:cs typeface="Helvetica"/>
              </a:rPr>
              <a:t>r</a:t>
            </a:r>
            <a:r>
              <a:rPr sz="1500" spc="-5" dirty="0">
                <a:latin typeface="Helvetica"/>
                <a:cs typeface="Helvetica"/>
              </a:rPr>
              <a:t>iae</a:t>
            </a:r>
            <a:endParaRPr sz="1500" dirty="0">
              <a:latin typeface="Helvetica"/>
              <a:cs typeface="Helvetica"/>
            </a:endParaRPr>
          </a:p>
          <a:p>
            <a:pPr marL="12700" marR="403860">
              <a:lnSpc>
                <a:spcPts val="1780"/>
              </a:lnSpc>
              <a:spcBef>
                <a:spcPts val="65"/>
              </a:spcBef>
            </a:pPr>
            <a:r>
              <a:rPr sz="2250" baseline="-7407" dirty="0">
                <a:latin typeface="Helvetica"/>
                <a:cs typeface="Helvetica"/>
              </a:rPr>
              <a:t>N</a:t>
            </a:r>
            <a:r>
              <a:rPr sz="2250" spc="22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C_juno_kimb </a:t>
            </a:r>
            <a:r>
              <a:rPr sz="2250" baseline="-7407" dirty="0">
                <a:latin typeface="Helvetica"/>
                <a:cs typeface="Helvetica"/>
              </a:rPr>
              <a:t>N</a:t>
            </a:r>
            <a:r>
              <a:rPr sz="2250" spc="22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C_juno_</a:t>
            </a:r>
            <a:r>
              <a:rPr sz="1500" spc="-35" dirty="0">
                <a:latin typeface="Helvetica"/>
                <a:cs typeface="Helvetica"/>
              </a:rPr>
              <a:t>k</a:t>
            </a:r>
            <a:r>
              <a:rPr sz="1500" spc="-5" dirty="0">
                <a:latin typeface="Helvetica"/>
                <a:cs typeface="Helvetica"/>
              </a:rPr>
              <a:t>eep </a:t>
            </a:r>
            <a:r>
              <a:rPr sz="2250" baseline="-7407" dirty="0">
                <a:latin typeface="Helvetica"/>
                <a:cs typeface="Helvetica"/>
              </a:rPr>
              <a:t>N</a:t>
            </a:r>
            <a:r>
              <a:rPr sz="2250" spc="22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C_daedalos </a:t>
            </a:r>
            <a:r>
              <a:rPr sz="2250" baseline="-7407" dirty="0">
                <a:latin typeface="Helvetica"/>
                <a:cs typeface="Helvetica"/>
              </a:rPr>
              <a:t>N</a:t>
            </a:r>
            <a:r>
              <a:rPr sz="2250" spc="22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C_cygnatus </a:t>
            </a:r>
            <a:r>
              <a:rPr sz="2250" baseline="-7407" dirty="0">
                <a:latin typeface="Helvetica"/>
                <a:cs typeface="Helvetica"/>
              </a:rPr>
              <a:t>N</a:t>
            </a:r>
            <a:r>
              <a:rPr sz="2250" spc="22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C_wul</a:t>
            </a:r>
            <a:r>
              <a:rPr sz="1500" spc="-35" dirty="0">
                <a:latin typeface="Helvetica"/>
                <a:cs typeface="Helvetica"/>
              </a:rPr>
              <a:t>b</a:t>
            </a:r>
            <a:r>
              <a:rPr sz="1500" dirty="0">
                <a:latin typeface="Helvetica"/>
                <a:cs typeface="Helvetica"/>
              </a:rPr>
              <a:t>u</a:t>
            </a:r>
          </a:p>
          <a:p>
            <a:pPr marL="12700" marR="258445">
              <a:lnSpc>
                <a:spcPts val="1780"/>
              </a:lnSpc>
            </a:pPr>
            <a:r>
              <a:rPr sz="2250" baseline="-7407" dirty="0">
                <a:latin typeface="Helvetica"/>
                <a:cs typeface="Helvetica"/>
              </a:rPr>
              <a:t>N</a:t>
            </a:r>
            <a:r>
              <a:rPr sz="2250" spc="22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</a:t>
            </a:r>
            <a:r>
              <a:rPr sz="1500" spc="20" dirty="0">
                <a:latin typeface="Helvetica"/>
                <a:cs typeface="Helvetica"/>
              </a:rPr>
              <a:t>r</a:t>
            </a:r>
            <a:r>
              <a:rPr sz="1500" spc="-5" dirty="0">
                <a:latin typeface="Helvetica"/>
                <a:cs typeface="Helvetica"/>
              </a:rPr>
              <a:t>uber_A1A3 </a:t>
            </a:r>
            <a:r>
              <a:rPr sz="2250" baseline="-7407" dirty="0">
                <a:latin typeface="Helvetica"/>
                <a:cs typeface="Helvetica"/>
              </a:rPr>
              <a:t>N</a:t>
            </a:r>
            <a:r>
              <a:rPr sz="2250" spc="22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</a:t>
            </a:r>
            <a:r>
              <a:rPr sz="1500" spc="20" dirty="0">
                <a:latin typeface="Helvetica"/>
                <a:cs typeface="Helvetica"/>
              </a:rPr>
              <a:t>r</a:t>
            </a:r>
            <a:r>
              <a:rPr sz="1500" spc="-5" dirty="0">
                <a:latin typeface="Helvetica"/>
                <a:cs typeface="Helvetica"/>
              </a:rPr>
              <a:t>uber_A2</a:t>
            </a:r>
            <a:endParaRPr sz="1500" dirty="0">
              <a:latin typeface="Helvetica"/>
              <a:cs typeface="Helvetica"/>
            </a:endParaRPr>
          </a:p>
          <a:p>
            <a:pPr marL="12700" marR="261620">
              <a:lnSpc>
                <a:spcPts val="1780"/>
              </a:lnSpc>
            </a:pPr>
            <a:r>
              <a:rPr sz="2250" baseline="-7407" dirty="0">
                <a:latin typeface="Helvetica"/>
                <a:cs typeface="Helvetica"/>
              </a:rPr>
              <a:t>N</a:t>
            </a:r>
            <a:r>
              <a:rPr sz="2250" spc="22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C_megastictus </a:t>
            </a:r>
            <a:r>
              <a:rPr sz="2250" baseline="-7407" dirty="0">
                <a:latin typeface="Helvetica"/>
                <a:cs typeface="Helvetica"/>
              </a:rPr>
              <a:t>N</a:t>
            </a:r>
            <a:r>
              <a:rPr sz="2250" spc="22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</a:t>
            </a:r>
            <a:r>
              <a:rPr sz="1500" spc="-35" dirty="0">
                <a:latin typeface="Helvetica"/>
                <a:cs typeface="Helvetica"/>
              </a:rPr>
              <a:t>b</a:t>
            </a:r>
            <a:r>
              <a:rPr sz="1500" spc="-5" dirty="0">
                <a:latin typeface="Helvetica"/>
                <a:cs typeface="Helvetica"/>
              </a:rPr>
              <a:t>uchanani</a:t>
            </a:r>
            <a:endParaRPr sz="1500" dirty="0">
              <a:latin typeface="Helvetica"/>
              <a:cs typeface="Helvetica"/>
            </a:endParaRPr>
          </a:p>
          <a:p>
            <a:pPr marL="12700" marR="433070">
              <a:lnSpc>
                <a:spcPts val="1780"/>
              </a:lnSpc>
            </a:pPr>
            <a:r>
              <a:rPr sz="2250" baseline="-7407" dirty="0">
                <a:latin typeface="Helvetica"/>
                <a:cs typeface="Helvetica"/>
              </a:rPr>
              <a:t>N</a:t>
            </a:r>
            <a:r>
              <a:rPr sz="2250" spc="22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C_metallicus </a:t>
            </a:r>
            <a:r>
              <a:rPr sz="2250" baseline="-7407" dirty="0">
                <a:latin typeface="Helvetica"/>
                <a:cs typeface="Helvetica"/>
              </a:rPr>
              <a:t>N</a:t>
            </a:r>
            <a:r>
              <a:rPr sz="2250" spc="22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C_aust</a:t>
            </a:r>
            <a:r>
              <a:rPr sz="1500" spc="-15" dirty="0">
                <a:latin typeface="Helvetica"/>
                <a:cs typeface="Helvetica"/>
              </a:rPr>
              <a:t>r</a:t>
            </a:r>
            <a:r>
              <a:rPr sz="1500" spc="-5" dirty="0">
                <a:latin typeface="Helvetica"/>
                <a:cs typeface="Helvetica"/>
              </a:rPr>
              <a:t>alis</a:t>
            </a:r>
            <a:endParaRPr sz="1500" dirty="0">
              <a:latin typeface="Helvetica"/>
              <a:cs typeface="Helvetica"/>
            </a:endParaRPr>
          </a:p>
          <a:p>
            <a:pPr marL="12700">
              <a:lnSpc>
                <a:spcPts val="1710"/>
              </a:lnSpc>
            </a:pPr>
            <a:r>
              <a:rPr sz="2250" baseline="-7407" dirty="0">
                <a:latin typeface="Helvetica"/>
                <a:cs typeface="Helvetica"/>
              </a:rPr>
              <a:t>N</a:t>
            </a:r>
            <a:r>
              <a:rPr sz="2250" spc="22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C_leschenault_D</a:t>
            </a:r>
            <a:endParaRPr sz="1500" dirty="0">
              <a:latin typeface="Helvetica"/>
              <a:cs typeface="Helvetica"/>
            </a:endParaRPr>
          </a:p>
          <a:p>
            <a:pPr marL="12700" marR="69215" algn="just">
              <a:lnSpc>
                <a:spcPts val="1780"/>
              </a:lnSpc>
              <a:spcBef>
                <a:spcPts val="65"/>
              </a:spcBef>
            </a:pPr>
            <a:r>
              <a:rPr sz="2250" baseline="-7407" dirty="0">
                <a:latin typeface="Helvetica"/>
                <a:cs typeface="Helvetica"/>
              </a:rPr>
              <a:t>N</a:t>
            </a:r>
            <a:r>
              <a:rPr sz="2250" spc="22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C_leschenault_C </a:t>
            </a:r>
            <a:r>
              <a:rPr sz="2250" baseline="-7407" dirty="0">
                <a:latin typeface="Helvetica"/>
                <a:cs typeface="Helvetica"/>
              </a:rPr>
              <a:t>N</a:t>
            </a:r>
            <a:r>
              <a:rPr sz="2250" spc="22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C_leschenault_B </a:t>
            </a:r>
            <a:r>
              <a:rPr sz="2250" baseline="-7407" dirty="0">
                <a:latin typeface="Helvetica"/>
                <a:cs typeface="Helvetica"/>
              </a:rPr>
              <a:t>N</a:t>
            </a:r>
            <a:r>
              <a:rPr sz="2250" spc="22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C_renschi</a:t>
            </a:r>
            <a:endParaRPr sz="1500" dirty="0">
              <a:latin typeface="Helvetica"/>
              <a:cs typeface="Helvetica"/>
            </a:endParaRPr>
          </a:p>
          <a:p>
            <a:pPr marL="12700" marR="80645">
              <a:lnSpc>
                <a:spcPts val="1780"/>
              </a:lnSpc>
            </a:pPr>
            <a:r>
              <a:rPr sz="2250" baseline="-7407" dirty="0">
                <a:latin typeface="Helvetica"/>
                <a:cs typeface="Helvetica"/>
              </a:rPr>
              <a:t>N</a:t>
            </a:r>
            <a:r>
              <a:rPr sz="2250" spc="22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C_leschenault_A </a:t>
            </a:r>
            <a:r>
              <a:rPr sz="2250" baseline="-7407" dirty="0">
                <a:latin typeface="Helvetica"/>
                <a:cs typeface="Helvetica"/>
              </a:rPr>
              <a:t>N</a:t>
            </a:r>
            <a:r>
              <a:rPr sz="2250" spc="22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C_yulensis</a:t>
            </a:r>
            <a:endParaRPr sz="1500" dirty="0">
              <a:latin typeface="Helvetica"/>
              <a:cs typeface="Helvetica"/>
            </a:endParaRPr>
          </a:p>
          <a:p>
            <a:pPr marL="12700">
              <a:lnSpc>
                <a:spcPts val="1710"/>
              </a:lnSpc>
            </a:pPr>
            <a:r>
              <a:rPr sz="2250" baseline="-7407" dirty="0">
                <a:latin typeface="Helvetica"/>
                <a:cs typeface="Helvetica"/>
              </a:rPr>
              <a:t>N</a:t>
            </a:r>
            <a:r>
              <a:rPr sz="2250" spc="22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</a:t>
            </a:r>
            <a:r>
              <a:rPr sz="1500" spc="20" dirty="0">
                <a:latin typeface="Helvetica"/>
                <a:cs typeface="Helvetica"/>
              </a:rPr>
              <a:t>r</a:t>
            </a:r>
            <a:r>
              <a:rPr sz="1500" spc="-5" dirty="0">
                <a:latin typeface="Helvetica"/>
                <a:cs typeface="Helvetica"/>
              </a:rPr>
              <a:t>utilus</a:t>
            </a:r>
            <a:endParaRPr sz="1500" dirty="0">
              <a:latin typeface="Helvetica"/>
              <a:cs typeface="Helvetica"/>
            </a:endParaRPr>
          </a:p>
          <a:p>
            <a:pPr marL="12700" marR="86995">
              <a:lnSpc>
                <a:spcPts val="1780"/>
              </a:lnSpc>
              <a:spcBef>
                <a:spcPts val="65"/>
              </a:spcBef>
            </a:pPr>
            <a:r>
              <a:rPr sz="2250" baseline="-7407" dirty="0">
                <a:latin typeface="Helvetica"/>
                <a:cs typeface="Helvetica"/>
              </a:rPr>
              <a:t>N</a:t>
            </a:r>
            <a:r>
              <a:rPr sz="2250" spc="22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C_n</a:t>
            </a:r>
            <a:r>
              <a:rPr sz="1500" spc="-25" dirty="0">
                <a:latin typeface="Helvetica"/>
                <a:cs typeface="Helvetica"/>
              </a:rPr>
              <a:t>o</a:t>
            </a:r>
            <a:r>
              <a:rPr sz="1500" spc="-40" dirty="0">
                <a:latin typeface="Helvetica"/>
                <a:cs typeface="Helvetica"/>
              </a:rPr>
              <a:t>v</a:t>
            </a:r>
            <a:r>
              <a:rPr sz="1500" spc="-5" dirty="0">
                <a:latin typeface="Helvetica"/>
                <a:cs typeface="Helvetica"/>
              </a:rPr>
              <a:t>aeguineae </a:t>
            </a:r>
            <a:r>
              <a:rPr sz="2250" baseline="-7407" dirty="0">
                <a:latin typeface="Helvetica"/>
                <a:cs typeface="Helvetica"/>
              </a:rPr>
              <a:t>N</a:t>
            </a:r>
            <a:r>
              <a:rPr sz="2250" spc="22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</a:t>
            </a:r>
            <a:r>
              <a:rPr sz="1500" spc="-35" dirty="0">
                <a:latin typeface="Helvetica"/>
                <a:cs typeface="Helvetica"/>
              </a:rPr>
              <a:t>k</a:t>
            </a:r>
            <a:r>
              <a:rPr sz="1500" spc="-5" dirty="0">
                <a:latin typeface="Helvetica"/>
                <a:cs typeface="Helvetica"/>
              </a:rPr>
              <a:t>eiensis</a:t>
            </a:r>
            <a:endParaRPr sz="1500" dirty="0">
              <a:latin typeface="Helvetica"/>
              <a:cs typeface="Helvetica"/>
            </a:endParaRPr>
          </a:p>
          <a:p>
            <a:pPr marL="12700" marR="53340" algn="just">
              <a:lnSpc>
                <a:spcPts val="1780"/>
              </a:lnSpc>
            </a:pPr>
            <a:r>
              <a:rPr sz="2250" baseline="-7407" dirty="0">
                <a:latin typeface="Helvetica"/>
                <a:cs typeface="Helvetica"/>
              </a:rPr>
              <a:t>N</a:t>
            </a:r>
            <a:r>
              <a:rPr sz="2250" spc="22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C_inte</a:t>
            </a:r>
            <a:r>
              <a:rPr sz="1500" spc="35" dirty="0">
                <a:latin typeface="Helvetica"/>
                <a:cs typeface="Helvetica"/>
              </a:rPr>
              <a:t>r</a:t>
            </a:r>
            <a:r>
              <a:rPr sz="1500" dirty="0">
                <a:latin typeface="Helvetica"/>
                <a:cs typeface="Helvetica"/>
              </a:rPr>
              <a:t>medius_B </a:t>
            </a:r>
            <a:r>
              <a:rPr sz="2250" baseline="-7407" dirty="0">
                <a:latin typeface="Helvetica"/>
                <a:cs typeface="Helvetica"/>
              </a:rPr>
              <a:t>N</a:t>
            </a:r>
            <a:r>
              <a:rPr sz="2250" spc="22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C_inte</a:t>
            </a:r>
            <a:r>
              <a:rPr sz="1500" spc="35" dirty="0">
                <a:latin typeface="Helvetica"/>
                <a:cs typeface="Helvetica"/>
              </a:rPr>
              <a:t>r</a:t>
            </a:r>
            <a:r>
              <a:rPr sz="1500" dirty="0">
                <a:latin typeface="Helvetica"/>
                <a:cs typeface="Helvetica"/>
              </a:rPr>
              <a:t>medius_A </a:t>
            </a:r>
            <a:r>
              <a:rPr sz="2250" baseline="-7407" dirty="0">
                <a:latin typeface="Helvetica"/>
                <a:cs typeface="Helvetica"/>
              </a:rPr>
              <a:t>N</a:t>
            </a:r>
            <a:r>
              <a:rPr sz="2250" spc="22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C_pannosus</a:t>
            </a:r>
            <a:endParaRPr sz="1500" dirty="0">
              <a:latin typeface="Helvetica"/>
              <a:cs typeface="Helvetica"/>
            </a:endParaRPr>
          </a:p>
          <a:p>
            <a:pPr marL="12700" marR="542290">
              <a:lnSpc>
                <a:spcPts val="1780"/>
              </a:lnSpc>
            </a:pPr>
            <a:r>
              <a:rPr sz="2250" baseline="-7407" dirty="0">
                <a:latin typeface="Helvetica"/>
                <a:cs typeface="Helvetica"/>
              </a:rPr>
              <a:t>N</a:t>
            </a:r>
            <a:r>
              <a:rPr sz="2250" spc="22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</a:t>
            </a:r>
            <a:r>
              <a:rPr sz="1500" spc="-25" dirty="0">
                <a:latin typeface="Helvetica"/>
                <a:cs typeface="Helvetica"/>
              </a:rPr>
              <a:t>z</a:t>
            </a:r>
            <a:r>
              <a:rPr sz="1500" spc="-5" dirty="0">
                <a:latin typeface="Helvetica"/>
                <a:cs typeface="Helvetica"/>
              </a:rPr>
              <a:t>oticus </a:t>
            </a:r>
            <a:r>
              <a:rPr sz="2250" baseline="-7407" dirty="0">
                <a:latin typeface="Helvetica"/>
                <a:cs typeface="Helvetica"/>
              </a:rPr>
              <a:t>N</a:t>
            </a:r>
            <a:r>
              <a:rPr sz="2250" spc="22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C_me</a:t>
            </a:r>
            <a:r>
              <a:rPr sz="1500" spc="60" dirty="0">
                <a:latin typeface="Helvetica"/>
                <a:cs typeface="Helvetica"/>
              </a:rPr>
              <a:t>r</a:t>
            </a:r>
            <a:r>
              <a:rPr sz="1500" dirty="0">
                <a:latin typeface="Helvetica"/>
                <a:cs typeface="Helvetica"/>
              </a:rPr>
              <a:t>tensi </a:t>
            </a:r>
            <a:r>
              <a:rPr sz="2250" baseline="-7407" dirty="0">
                <a:latin typeface="Helvetica"/>
                <a:cs typeface="Helvetica"/>
              </a:rPr>
              <a:t>N</a:t>
            </a:r>
            <a:r>
              <a:rPr sz="2250" spc="22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C_tytthos</a:t>
            </a:r>
            <a:endParaRPr sz="1500" dirty="0">
              <a:latin typeface="Helvetica"/>
              <a:cs typeface="Helvetica"/>
            </a:endParaRPr>
          </a:p>
          <a:p>
            <a:pPr marL="12700">
              <a:lnSpc>
                <a:spcPts val="1714"/>
              </a:lnSpc>
            </a:pPr>
            <a:r>
              <a:rPr sz="2250" baseline="-7407" dirty="0">
                <a:latin typeface="Helvetica"/>
                <a:cs typeface="Helvetica"/>
              </a:rPr>
              <a:t>N</a:t>
            </a:r>
            <a:r>
              <a:rPr sz="2250" spc="22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C_ustulatus</a:t>
            </a:r>
            <a:endParaRPr sz="1500" dirty="0">
              <a:latin typeface="Helvetica"/>
              <a:cs typeface="Helvetica"/>
            </a:endParaRPr>
          </a:p>
          <a:p>
            <a:pPr marL="12700" marR="5080">
              <a:lnSpc>
                <a:spcPts val="1780"/>
              </a:lnSpc>
              <a:spcBef>
                <a:spcPts val="65"/>
              </a:spcBef>
            </a:pPr>
            <a:r>
              <a:rPr sz="2250" baseline="-7407" dirty="0">
                <a:latin typeface="Helvetica"/>
                <a:cs typeface="Helvetica"/>
              </a:rPr>
              <a:t>N</a:t>
            </a:r>
            <a:r>
              <a:rPr sz="2250" spc="22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C_plagiocephalus </a:t>
            </a:r>
            <a:r>
              <a:rPr sz="2250" baseline="-7407" dirty="0">
                <a:latin typeface="Helvetica"/>
                <a:cs typeface="Helvetica"/>
              </a:rPr>
              <a:t>N</a:t>
            </a:r>
            <a:r>
              <a:rPr sz="2250" spc="22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</a:t>
            </a:r>
            <a:r>
              <a:rPr sz="1500" spc="-50" dirty="0">
                <a:latin typeface="Helvetica"/>
                <a:cs typeface="Helvetica"/>
              </a:rPr>
              <a:t>e</a:t>
            </a:r>
            <a:r>
              <a:rPr sz="1500" dirty="0">
                <a:latin typeface="Helvetica"/>
                <a:cs typeface="Helvetica"/>
              </a:rPr>
              <a:t>xochus</a:t>
            </a:r>
          </a:p>
        </p:txBody>
      </p:sp>
      <p:sp>
        <p:nvSpPr>
          <p:cNvPr id="488" name="object 488"/>
          <p:cNvSpPr txBox="1"/>
          <p:nvPr/>
        </p:nvSpPr>
        <p:spPr>
          <a:xfrm>
            <a:off x="12719303" y="8561689"/>
            <a:ext cx="256540" cy="2825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Helvetica"/>
                <a:cs typeface="Helvetica"/>
              </a:rPr>
              <a:t>20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489" name="object 489"/>
          <p:cNvSpPr txBox="1"/>
          <p:nvPr/>
        </p:nvSpPr>
        <p:spPr>
          <a:xfrm>
            <a:off x="12719303" y="6837702"/>
            <a:ext cx="256540" cy="2825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Helvetica"/>
                <a:cs typeface="Helvetica"/>
              </a:rPr>
              <a:t>15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490" name="object 490"/>
          <p:cNvSpPr txBox="1"/>
          <p:nvPr/>
        </p:nvSpPr>
        <p:spPr>
          <a:xfrm>
            <a:off x="12719303" y="5113715"/>
            <a:ext cx="256540" cy="2825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Helvetica"/>
                <a:cs typeface="Helvetica"/>
              </a:rPr>
              <a:t>10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491" name="object 491"/>
          <p:cNvSpPr txBox="1"/>
          <p:nvPr/>
        </p:nvSpPr>
        <p:spPr>
          <a:xfrm>
            <a:off x="12719303" y="3453790"/>
            <a:ext cx="256540" cy="15430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Helvetica"/>
                <a:cs typeface="Helvetica"/>
              </a:rPr>
              <a:t>5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492" name="object 492"/>
          <p:cNvSpPr txBox="1"/>
          <p:nvPr/>
        </p:nvSpPr>
        <p:spPr>
          <a:xfrm>
            <a:off x="12719303" y="1729804"/>
            <a:ext cx="256540" cy="15430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Helvetica"/>
                <a:cs typeface="Helvetica"/>
              </a:rPr>
              <a:t>0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493" name="object 493"/>
          <p:cNvSpPr txBox="1"/>
          <p:nvPr/>
        </p:nvSpPr>
        <p:spPr>
          <a:xfrm>
            <a:off x="3486371" y="5120877"/>
            <a:ext cx="217804" cy="16446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dirty="0">
                <a:latin typeface="Helvetica"/>
                <a:cs typeface="Helvetica"/>
              </a:rPr>
              <a:t>N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494" name="object 494"/>
          <p:cNvSpPr txBox="1"/>
          <p:nvPr/>
        </p:nvSpPr>
        <p:spPr>
          <a:xfrm>
            <a:off x="6291661" y="4020542"/>
            <a:ext cx="217804" cy="16446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dirty="0">
                <a:latin typeface="Helvetica"/>
                <a:cs typeface="Helvetica"/>
              </a:rPr>
              <a:t>N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495" name="object 495"/>
          <p:cNvSpPr txBox="1"/>
          <p:nvPr/>
        </p:nvSpPr>
        <p:spPr>
          <a:xfrm>
            <a:off x="8988855" y="3539434"/>
            <a:ext cx="217804" cy="16446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dirty="0">
                <a:latin typeface="Helvetica"/>
                <a:cs typeface="Helvetica"/>
              </a:rPr>
              <a:t>N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496" name="object 496"/>
          <p:cNvSpPr/>
          <p:nvPr/>
        </p:nvSpPr>
        <p:spPr>
          <a:xfrm>
            <a:off x="6279746" y="5140535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4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7" name="object 497"/>
          <p:cNvSpPr/>
          <p:nvPr/>
        </p:nvSpPr>
        <p:spPr>
          <a:xfrm>
            <a:off x="6279746" y="5140535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4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8" name="object 498"/>
          <p:cNvSpPr/>
          <p:nvPr/>
        </p:nvSpPr>
        <p:spPr>
          <a:xfrm>
            <a:off x="8976939" y="4040007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4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9" name="object 499"/>
          <p:cNvSpPr/>
          <p:nvPr/>
        </p:nvSpPr>
        <p:spPr>
          <a:xfrm>
            <a:off x="8976939" y="4040007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4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0" name="object 500"/>
          <p:cNvSpPr/>
          <p:nvPr/>
        </p:nvSpPr>
        <p:spPr>
          <a:xfrm>
            <a:off x="11329459" y="3559092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4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1" name="object 501"/>
          <p:cNvSpPr/>
          <p:nvPr/>
        </p:nvSpPr>
        <p:spPr>
          <a:xfrm>
            <a:off x="11329459" y="3559092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4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2" name="object 502"/>
          <p:cNvSpPr/>
          <p:nvPr/>
        </p:nvSpPr>
        <p:spPr>
          <a:xfrm>
            <a:off x="11668363" y="3468680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4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3" name="object 503"/>
          <p:cNvSpPr/>
          <p:nvPr/>
        </p:nvSpPr>
        <p:spPr>
          <a:xfrm>
            <a:off x="11668363" y="3468680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4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4" name="object 504"/>
          <p:cNvSpPr/>
          <p:nvPr/>
        </p:nvSpPr>
        <p:spPr>
          <a:xfrm>
            <a:off x="11837623" y="3164356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4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5" name="object 505"/>
          <p:cNvSpPr/>
          <p:nvPr/>
        </p:nvSpPr>
        <p:spPr>
          <a:xfrm>
            <a:off x="11837623" y="3164356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4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6" name="object 506"/>
          <p:cNvSpPr/>
          <p:nvPr/>
        </p:nvSpPr>
        <p:spPr>
          <a:xfrm>
            <a:off x="11611816" y="2470491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7" name="object 507"/>
          <p:cNvSpPr/>
          <p:nvPr/>
        </p:nvSpPr>
        <p:spPr>
          <a:xfrm>
            <a:off x="11611816" y="2470491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8" name="object 508"/>
          <p:cNvSpPr/>
          <p:nvPr/>
        </p:nvSpPr>
        <p:spPr>
          <a:xfrm>
            <a:off x="11160007" y="3023929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9" name="object 509"/>
          <p:cNvSpPr/>
          <p:nvPr/>
        </p:nvSpPr>
        <p:spPr>
          <a:xfrm>
            <a:off x="11160007" y="3023929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0" name="object 510"/>
          <p:cNvSpPr/>
          <p:nvPr/>
        </p:nvSpPr>
        <p:spPr>
          <a:xfrm>
            <a:off x="10934199" y="2737495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1" name="object 511"/>
          <p:cNvSpPr/>
          <p:nvPr/>
        </p:nvSpPr>
        <p:spPr>
          <a:xfrm>
            <a:off x="10934199" y="2737495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2" name="object 512"/>
          <p:cNvSpPr/>
          <p:nvPr/>
        </p:nvSpPr>
        <p:spPr>
          <a:xfrm>
            <a:off x="7710953" y="3337678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4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3" name="object 513"/>
          <p:cNvSpPr/>
          <p:nvPr/>
        </p:nvSpPr>
        <p:spPr>
          <a:xfrm>
            <a:off x="7710953" y="3337678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4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4" name="object 514"/>
          <p:cNvSpPr/>
          <p:nvPr/>
        </p:nvSpPr>
        <p:spPr>
          <a:xfrm>
            <a:off x="8553598" y="2763272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5" name="object 515"/>
          <p:cNvSpPr/>
          <p:nvPr/>
        </p:nvSpPr>
        <p:spPr>
          <a:xfrm>
            <a:off x="8553598" y="2763272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6" name="object 516"/>
          <p:cNvSpPr/>
          <p:nvPr/>
        </p:nvSpPr>
        <p:spPr>
          <a:xfrm>
            <a:off x="9677829" y="2631309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7" name="object 517"/>
          <p:cNvSpPr/>
          <p:nvPr/>
        </p:nvSpPr>
        <p:spPr>
          <a:xfrm>
            <a:off x="9677829" y="2631309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8" name="object 518"/>
          <p:cNvSpPr/>
          <p:nvPr/>
        </p:nvSpPr>
        <p:spPr>
          <a:xfrm>
            <a:off x="10058856" y="2497422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9" name="object 519"/>
          <p:cNvSpPr/>
          <p:nvPr/>
        </p:nvSpPr>
        <p:spPr>
          <a:xfrm>
            <a:off x="10058856" y="2497422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0" name="object 520"/>
          <p:cNvSpPr/>
          <p:nvPr/>
        </p:nvSpPr>
        <p:spPr>
          <a:xfrm>
            <a:off x="10313130" y="2441444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1" name="object 521"/>
          <p:cNvSpPr/>
          <p:nvPr/>
        </p:nvSpPr>
        <p:spPr>
          <a:xfrm>
            <a:off x="10313130" y="2441444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2" name="object 522"/>
          <p:cNvSpPr/>
          <p:nvPr/>
        </p:nvSpPr>
        <p:spPr>
          <a:xfrm>
            <a:off x="10482391" y="2278702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3" name="object 523"/>
          <p:cNvSpPr/>
          <p:nvPr/>
        </p:nvSpPr>
        <p:spPr>
          <a:xfrm>
            <a:off x="10482391" y="2278702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4" name="object 524"/>
          <p:cNvSpPr/>
          <p:nvPr/>
        </p:nvSpPr>
        <p:spPr>
          <a:xfrm>
            <a:off x="10256583" y="2187712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5" name="object 525"/>
          <p:cNvSpPr/>
          <p:nvPr/>
        </p:nvSpPr>
        <p:spPr>
          <a:xfrm>
            <a:off x="10256583" y="2187712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6" name="object 526"/>
          <p:cNvSpPr/>
          <p:nvPr/>
        </p:nvSpPr>
        <p:spPr>
          <a:xfrm>
            <a:off x="9466062" y="2432018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7" name="object 527"/>
          <p:cNvSpPr/>
          <p:nvPr/>
        </p:nvSpPr>
        <p:spPr>
          <a:xfrm>
            <a:off x="9466062" y="2432018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8" name="object 528"/>
          <p:cNvSpPr/>
          <p:nvPr/>
        </p:nvSpPr>
        <p:spPr>
          <a:xfrm>
            <a:off x="9578966" y="2296592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9" name="object 529"/>
          <p:cNvSpPr/>
          <p:nvPr/>
        </p:nvSpPr>
        <p:spPr>
          <a:xfrm>
            <a:off x="9578966" y="2296592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0" name="object 530"/>
          <p:cNvSpPr/>
          <p:nvPr/>
        </p:nvSpPr>
        <p:spPr>
          <a:xfrm>
            <a:off x="7764808" y="2567251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1" name="object 531"/>
          <p:cNvSpPr/>
          <p:nvPr/>
        </p:nvSpPr>
        <p:spPr>
          <a:xfrm>
            <a:off x="7764808" y="2567251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2" name="object 532"/>
          <p:cNvSpPr/>
          <p:nvPr/>
        </p:nvSpPr>
        <p:spPr>
          <a:xfrm>
            <a:off x="8096596" y="2508195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3" name="object 533"/>
          <p:cNvSpPr/>
          <p:nvPr/>
        </p:nvSpPr>
        <p:spPr>
          <a:xfrm>
            <a:off x="8096596" y="2508195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4" name="object 534"/>
          <p:cNvSpPr/>
          <p:nvPr/>
        </p:nvSpPr>
        <p:spPr>
          <a:xfrm>
            <a:off x="8421267" y="2448754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5" name="object 535"/>
          <p:cNvSpPr/>
          <p:nvPr/>
        </p:nvSpPr>
        <p:spPr>
          <a:xfrm>
            <a:off x="8421267" y="2448754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6" name="object 536"/>
          <p:cNvSpPr/>
          <p:nvPr/>
        </p:nvSpPr>
        <p:spPr>
          <a:xfrm>
            <a:off x="8731898" y="2294476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7" name="object 537"/>
          <p:cNvSpPr/>
          <p:nvPr/>
        </p:nvSpPr>
        <p:spPr>
          <a:xfrm>
            <a:off x="8731898" y="2294476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8" name="object 538"/>
          <p:cNvSpPr/>
          <p:nvPr/>
        </p:nvSpPr>
        <p:spPr>
          <a:xfrm>
            <a:off x="8901350" y="2184250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9" name="object 539"/>
          <p:cNvSpPr/>
          <p:nvPr/>
        </p:nvSpPr>
        <p:spPr>
          <a:xfrm>
            <a:off x="8901350" y="2184250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0" name="object 540"/>
          <p:cNvSpPr/>
          <p:nvPr/>
        </p:nvSpPr>
        <p:spPr>
          <a:xfrm>
            <a:off x="8675349" y="2131157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1" name="object 541"/>
          <p:cNvSpPr/>
          <p:nvPr/>
        </p:nvSpPr>
        <p:spPr>
          <a:xfrm>
            <a:off x="8675349" y="2131157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2" name="object 542"/>
          <p:cNvSpPr/>
          <p:nvPr/>
        </p:nvSpPr>
        <p:spPr>
          <a:xfrm>
            <a:off x="8223733" y="2224070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3" name="object 543"/>
          <p:cNvSpPr/>
          <p:nvPr/>
        </p:nvSpPr>
        <p:spPr>
          <a:xfrm>
            <a:off x="8223733" y="2224070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4" name="object 544"/>
          <p:cNvSpPr/>
          <p:nvPr/>
        </p:nvSpPr>
        <p:spPr>
          <a:xfrm>
            <a:off x="7546117" y="2431441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5" name="object 545"/>
          <p:cNvSpPr/>
          <p:nvPr/>
        </p:nvSpPr>
        <p:spPr>
          <a:xfrm>
            <a:off x="7546117" y="2431441"/>
            <a:ext cx="193675" cy="137795"/>
          </a:xfrm>
          <a:custGeom>
            <a:avLst/>
            <a:gdLst/>
            <a:ahLst/>
            <a:cxnLst/>
            <a:rect l="l" t="t" r="r" b="b"/>
            <a:pathLst>
              <a:path w="193675" h="137794">
                <a:moveTo>
                  <a:pt x="193494" y="137734"/>
                </a:moveTo>
                <a:lnTo>
                  <a:pt x="193494" y="0"/>
                </a:lnTo>
                <a:lnTo>
                  <a:pt x="0" y="0"/>
                </a:lnTo>
                <a:lnTo>
                  <a:pt x="0" y="137734"/>
                </a:lnTo>
                <a:lnTo>
                  <a:pt x="193494" y="137734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6" name="object 546"/>
          <p:cNvSpPr/>
          <p:nvPr/>
        </p:nvSpPr>
        <p:spPr>
          <a:xfrm>
            <a:off x="5788507" y="3204368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4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7" name="object 547"/>
          <p:cNvSpPr/>
          <p:nvPr/>
        </p:nvSpPr>
        <p:spPr>
          <a:xfrm>
            <a:off x="5788507" y="3204368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4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8" name="object 548"/>
          <p:cNvSpPr/>
          <p:nvPr/>
        </p:nvSpPr>
        <p:spPr>
          <a:xfrm>
            <a:off x="6063747" y="2951599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9" name="object 549"/>
          <p:cNvSpPr/>
          <p:nvPr/>
        </p:nvSpPr>
        <p:spPr>
          <a:xfrm>
            <a:off x="6063747" y="2951599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0" name="object 550"/>
          <p:cNvSpPr/>
          <p:nvPr/>
        </p:nvSpPr>
        <p:spPr>
          <a:xfrm>
            <a:off x="6388418" y="2849645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1" name="object 551"/>
          <p:cNvSpPr/>
          <p:nvPr/>
        </p:nvSpPr>
        <p:spPr>
          <a:xfrm>
            <a:off x="6388418" y="2849645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2" name="object 552"/>
          <p:cNvSpPr/>
          <p:nvPr/>
        </p:nvSpPr>
        <p:spPr>
          <a:xfrm>
            <a:off x="6642500" y="2730185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3" name="object 553"/>
          <p:cNvSpPr/>
          <p:nvPr/>
        </p:nvSpPr>
        <p:spPr>
          <a:xfrm>
            <a:off x="6642500" y="2730185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4" name="object 554"/>
          <p:cNvSpPr/>
          <p:nvPr/>
        </p:nvSpPr>
        <p:spPr>
          <a:xfrm>
            <a:off x="6303788" y="2668243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5" name="object 555"/>
          <p:cNvSpPr/>
          <p:nvPr/>
        </p:nvSpPr>
        <p:spPr>
          <a:xfrm>
            <a:off x="6303788" y="2668243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6" name="object 556"/>
          <p:cNvSpPr/>
          <p:nvPr/>
        </p:nvSpPr>
        <p:spPr>
          <a:xfrm>
            <a:off x="6416692" y="2508387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7" name="object 557"/>
          <p:cNvSpPr/>
          <p:nvPr/>
        </p:nvSpPr>
        <p:spPr>
          <a:xfrm>
            <a:off x="6416692" y="2508387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8" name="object 558"/>
          <p:cNvSpPr/>
          <p:nvPr/>
        </p:nvSpPr>
        <p:spPr>
          <a:xfrm>
            <a:off x="4150918" y="3537739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4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9" name="object 559"/>
          <p:cNvSpPr/>
          <p:nvPr/>
        </p:nvSpPr>
        <p:spPr>
          <a:xfrm>
            <a:off x="4150918" y="3537739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4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0" name="object 560"/>
          <p:cNvSpPr/>
          <p:nvPr/>
        </p:nvSpPr>
        <p:spPr>
          <a:xfrm>
            <a:off x="4369610" y="2984686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1" name="object 561"/>
          <p:cNvSpPr/>
          <p:nvPr/>
        </p:nvSpPr>
        <p:spPr>
          <a:xfrm>
            <a:off x="4369610" y="2984686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2" name="object 562"/>
          <p:cNvSpPr/>
          <p:nvPr/>
        </p:nvSpPr>
        <p:spPr>
          <a:xfrm>
            <a:off x="4581377" y="2765581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3" name="object 563"/>
          <p:cNvSpPr/>
          <p:nvPr/>
        </p:nvSpPr>
        <p:spPr>
          <a:xfrm>
            <a:off x="4581377" y="2765581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4" name="object 564"/>
          <p:cNvSpPr/>
          <p:nvPr/>
        </p:nvSpPr>
        <p:spPr>
          <a:xfrm>
            <a:off x="4779103" y="2654970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5" name="object 565"/>
          <p:cNvSpPr/>
          <p:nvPr/>
        </p:nvSpPr>
        <p:spPr>
          <a:xfrm>
            <a:off x="4779103" y="2654970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6" name="object 566"/>
          <p:cNvSpPr/>
          <p:nvPr/>
        </p:nvSpPr>
        <p:spPr>
          <a:xfrm>
            <a:off x="4948363" y="2543590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7" name="object 567"/>
          <p:cNvSpPr/>
          <p:nvPr/>
        </p:nvSpPr>
        <p:spPr>
          <a:xfrm>
            <a:off x="4948363" y="2543590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8" name="object 568"/>
          <p:cNvSpPr/>
          <p:nvPr/>
        </p:nvSpPr>
        <p:spPr>
          <a:xfrm>
            <a:off x="5061459" y="2272738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9" name="object 569"/>
          <p:cNvSpPr/>
          <p:nvPr/>
        </p:nvSpPr>
        <p:spPr>
          <a:xfrm>
            <a:off x="5061459" y="2272738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0" name="object 570"/>
          <p:cNvSpPr/>
          <p:nvPr/>
        </p:nvSpPr>
        <p:spPr>
          <a:xfrm>
            <a:off x="3226144" y="2975645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1" name="object 571"/>
          <p:cNvSpPr/>
          <p:nvPr/>
        </p:nvSpPr>
        <p:spPr>
          <a:xfrm>
            <a:off x="3226144" y="2975645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2" name="object 572"/>
          <p:cNvSpPr/>
          <p:nvPr/>
        </p:nvSpPr>
        <p:spPr>
          <a:xfrm>
            <a:off x="3423870" y="2591874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3" name="object 573"/>
          <p:cNvSpPr/>
          <p:nvPr/>
        </p:nvSpPr>
        <p:spPr>
          <a:xfrm>
            <a:off x="3423870" y="2591874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4" name="object 574"/>
          <p:cNvSpPr/>
          <p:nvPr/>
        </p:nvSpPr>
        <p:spPr>
          <a:xfrm>
            <a:off x="3593130" y="2465682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5" name="object 575"/>
          <p:cNvSpPr/>
          <p:nvPr/>
        </p:nvSpPr>
        <p:spPr>
          <a:xfrm>
            <a:off x="3593130" y="2465682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6" name="object 576"/>
          <p:cNvSpPr/>
          <p:nvPr/>
        </p:nvSpPr>
        <p:spPr>
          <a:xfrm>
            <a:off x="3706226" y="2358341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7" name="object 577"/>
          <p:cNvSpPr/>
          <p:nvPr/>
        </p:nvSpPr>
        <p:spPr>
          <a:xfrm>
            <a:off x="3706226" y="2358341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8" name="object 578"/>
          <p:cNvSpPr/>
          <p:nvPr/>
        </p:nvSpPr>
        <p:spPr>
          <a:xfrm>
            <a:off x="1246189" y="3859183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4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9" name="object 579"/>
          <p:cNvSpPr/>
          <p:nvPr/>
        </p:nvSpPr>
        <p:spPr>
          <a:xfrm>
            <a:off x="1246189" y="3859183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4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0" name="object 580"/>
          <p:cNvSpPr/>
          <p:nvPr/>
        </p:nvSpPr>
        <p:spPr>
          <a:xfrm>
            <a:off x="1694342" y="3694325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4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1" name="object 581"/>
          <p:cNvSpPr/>
          <p:nvPr/>
        </p:nvSpPr>
        <p:spPr>
          <a:xfrm>
            <a:off x="1694342" y="3694325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4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2" name="object 582"/>
          <p:cNvSpPr/>
          <p:nvPr/>
        </p:nvSpPr>
        <p:spPr>
          <a:xfrm>
            <a:off x="2167308" y="3598527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4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3" name="object 583"/>
          <p:cNvSpPr/>
          <p:nvPr/>
        </p:nvSpPr>
        <p:spPr>
          <a:xfrm>
            <a:off x="2167308" y="3598527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4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4" name="object 584"/>
          <p:cNvSpPr/>
          <p:nvPr/>
        </p:nvSpPr>
        <p:spPr>
          <a:xfrm>
            <a:off x="2463898" y="3431745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4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5" name="object 585"/>
          <p:cNvSpPr/>
          <p:nvPr/>
        </p:nvSpPr>
        <p:spPr>
          <a:xfrm>
            <a:off x="2463898" y="3431745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4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6" name="object 586"/>
          <p:cNvSpPr/>
          <p:nvPr/>
        </p:nvSpPr>
        <p:spPr>
          <a:xfrm>
            <a:off x="2576802" y="2725569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7" name="object 587"/>
          <p:cNvSpPr/>
          <p:nvPr/>
        </p:nvSpPr>
        <p:spPr>
          <a:xfrm>
            <a:off x="2576802" y="2725569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8" name="object 588"/>
          <p:cNvSpPr/>
          <p:nvPr/>
        </p:nvSpPr>
        <p:spPr>
          <a:xfrm>
            <a:off x="2124993" y="2951407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9" name="object 589"/>
          <p:cNvSpPr/>
          <p:nvPr/>
        </p:nvSpPr>
        <p:spPr>
          <a:xfrm>
            <a:off x="2124993" y="2951407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0" name="object 590"/>
          <p:cNvSpPr/>
          <p:nvPr/>
        </p:nvSpPr>
        <p:spPr>
          <a:xfrm>
            <a:off x="1786089" y="2815596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1" name="object 591"/>
          <p:cNvSpPr/>
          <p:nvPr/>
        </p:nvSpPr>
        <p:spPr>
          <a:xfrm>
            <a:off x="1786089" y="2815596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2" name="object 592"/>
          <p:cNvSpPr/>
          <p:nvPr/>
        </p:nvSpPr>
        <p:spPr>
          <a:xfrm>
            <a:off x="1899185" y="2698637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3" name="object 593"/>
          <p:cNvSpPr/>
          <p:nvPr/>
        </p:nvSpPr>
        <p:spPr>
          <a:xfrm>
            <a:off x="1899185" y="2698637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4" name="object 594"/>
          <p:cNvSpPr/>
          <p:nvPr/>
        </p:nvSpPr>
        <p:spPr>
          <a:xfrm>
            <a:off x="995569" y="3397312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4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5" name="object 595"/>
          <p:cNvSpPr/>
          <p:nvPr/>
        </p:nvSpPr>
        <p:spPr>
          <a:xfrm>
            <a:off x="995569" y="3397312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4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6" name="object 596"/>
          <p:cNvSpPr/>
          <p:nvPr/>
        </p:nvSpPr>
        <p:spPr>
          <a:xfrm>
            <a:off x="769761" y="2816173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7" name="object 597"/>
          <p:cNvSpPr/>
          <p:nvPr/>
        </p:nvSpPr>
        <p:spPr>
          <a:xfrm>
            <a:off x="769761" y="2816173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8" name="object 598"/>
          <p:cNvSpPr/>
          <p:nvPr/>
        </p:nvSpPr>
        <p:spPr>
          <a:xfrm>
            <a:off x="543760" y="2656124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solidFill>
            <a:srgbClr val="00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9" name="object 599"/>
          <p:cNvSpPr/>
          <p:nvPr/>
        </p:nvSpPr>
        <p:spPr>
          <a:xfrm>
            <a:off x="543760" y="2656124"/>
            <a:ext cx="193675" cy="167005"/>
          </a:xfrm>
          <a:custGeom>
            <a:avLst/>
            <a:gdLst/>
            <a:ahLst/>
            <a:cxnLst/>
            <a:rect l="l" t="t" r="r" b="b"/>
            <a:pathLst>
              <a:path w="193675" h="167005">
                <a:moveTo>
                  <a:pt x="193494" y="166589"/>
                </a:moveTo>
                <a:lnTo>
                  <a:pt x="193494" y="0"/>
                </a:lnTo>
                <a:lnTo>
                  <a:pt x="0" y="0"/>
                </a:lnTo>
                <a:lnTo>
                  <a:pt x="0" y="166589"/>
                </a:lnTo>
                <a:lnTo>
                  <a:pt x="193494" y="166589"/>
                </a:lnTo>
                <a:close/>
              </a:path>
            </a:pathLst>
          </a:custGeom>
          <a:ln w="14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0" name="object 600"/>
          <p:cNvSpPr txBox="1"/>
          <p:nvPr/>
        </p:nvSpPr>
        <p:spPr>
          <a:xfrm>
            <a:off x="11010549" y="3449022"/>
            <a:ext cx="876300" cy="24828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5080" indent="90170" algn="just">
              <a:lnSpc>
                <a:spcPct val="156100"/>
              </a:lnSpc>
            </a:pPr>
            <a:r>
              <a:rPr sz="1350" dirty="0">
                <a:latin typeface="Helvetica"/>
                <a:cs typeface="Helvetica"/>
              </a:rPr>
              <a:t>N </a:t>
            </a:r>
            <a:r>
              <a:rPr sz="2025" spc="-494" baseline="2057" dirty="0">
                <a:latin typeface="Helvetica"/>
                <a:cs typeface="Helvetica"/>
              </a:rPr>
              <a:t>N</a:t>
            </a:r>
            <a:r>
              <a:rPr sz="1500" dirty="0">
                <a:latin typeface="Helvetica"/>
                <a:cs typeface="Helvetica"/>
              </a:rPr>
              <a:t>N </a:t>
            </a:r>
            <a:r>
              <a:rPr sz="1350" dirty="0">
                <a:latin typeface="Helvetica"/>
                <a:cs typeface="Helvetica"/>
              </a:rPr>
              <a:t>N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01" name="object 601"/>
          <p:cNvSpPr txBox="1"/>
          <p:nvPr/>
        </p:nvSpPr>
        <p:spPr>
          <a:xfrm>
            <a:off x="6636336" y="3318021"/>
            <a:ext cx="217804" cy="16446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dirty="0">
                <a:latin typeface="Helvetica"/>
                <a:cs typeface="Helvetica"/>
              </a:rPr>
              <a:t>N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602" name="object 602"/>
          <p:cNvSpPr txBox="1"/>
          <p:nvPr/>
        </p:nvSpPr>
        <p:spPr>
          <a:xfrm>
            <a:off x="7722868" y="2744965"/>
            <a:ext cx="217804" cy="13271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dirty="0">
                <a:latin typeface="Helvetica"/>
                <a:cs typeface="Helvetica"/>
              </a:rPr>
              <a:t>L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603" name="object 603"/>
          <p:cNvSpPr txBox="1"/>
          <p:nvPr/>
        </p:nvSpPr>
        <p:spPr>
          <a:xfrm>
            <a:off x="8565513" y="2613194"/>
            <a:ext cx="217804" cy="259079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25" baseline="2057" dirty="0">
                <a:latin typeface="Helvetica"/>
                <a:cs typeface="Helvetica"/>
              </a:rPr>
              <a:t>L</a:t>
            </a:r>
            <a:r>
              <a:rPr sz="2025" spc="-209" baseline="2057" dirty="0">
                <a:latin typeface="Helvetica"/>
                <a:cs typeface="Helvetica"/>
              </a:rPr>
              <a:t> </a:t>
            </a:r>
            <a:r>
              <a:rPr sz="1500" dirty="0">
                <a:latin typeface="Helvetica"/>
                <a:cs typeface="Helvetica"/>
              </a:rPr>
              <a:t>L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604" name="object 604"/>
          <p:cNvSpPr txBox="1"/>
          <p:nvPr/>
        </p:nvSpPr>
        <p:spPr>
          <a:xfrm>
            <a:off x="9702444" y="2441444"/>
            <a:ext cx="295910" cy="306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1500" spc="5" dirty="0">
                <a:latin typeface="Helvetica"/>
                <a:cs typeface="Helvetica"/>
              </a:rPr>
              <a:t>L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605" name="object 605"/>
          <p:cNvSpPr txBox="1"/>
          <p:nvPr/>
        </p:nvSpPr>
        <p:spPr>
          <a:xfrm>
            <a:off x="9146960" y="2419215"/>
            <a:ext cx="1384935" cy="18732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5080" indent="65405" algn="just">
              <a:lnSpc>
                <a:spcPct val="164700"/>
              </a:lnSpc>
            </a:pPr>
            <a:r>
              <a:rPr sz="1350" dirty="0">
                <a:latin typeface="Helvetica"/>
                <a:cs typeface="Helvetica"/>
              </a:rPr>
              <a:t>L L</a:t>
            </a:r>
            <a:endParaRPr sz="1350">
              <a:latin typeface="Helvetica"/>
              <a:cs typeface="Helvetica"/>
            </a:endParaRPr>
          </a:p>
          <a:p>
            <a:pPr marL="12700" marR="8890" indent="55880" algn="just">
              <a:lnSpc>
                <a:spcPct val="117100"/>
              </a:lnSpc>
              <a:spcBef>
                <a:spcPts val="770"/>
              </a:spcBef>
            </a:pPr>
            <a:r>
              <a:rPr sz="1350" dirty="0">
                <a:latin typeface="Helvetica"/>
                <a:cs typeface="Helvetica"/>
              </a:rPr>
              <a:t>L </a:t>
            </a:r>
            <a:r>
              <a:rPr sz="2025" spc="-540" baseline="2057" dirty="0">
                <a:latin typeface="Helvetica"/>
                <a:cs typeface="Helvetica"/>
              </a:rPr>
              <a:t>L</a:t>
            </a:r>
            <a:r>
              <a:rPr sz="1500" dirty="0">
                <a:latin typeface="Helvetica"/>
                <a:cs typeface="Helvetica"/>
              </a:rPr>
              <a:t>L </a:t>
            </a:r>
            <a:r>
              <a:rPr sz="1350" dirty="0">
                <a:latin typeface="Helvetica"/>
                <a:cs typeface="Helvetica"/>
              </a:rPr>
              <a:t>L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06" name="object 606"/>
          <p:cNvSpPr txBox="1"/>
          <p:nvPr/>
        </p:nvSpPr>
        <p:spPr>
          <a:xfrm>
            <a:off x="7784610" y="2430638"/>
            <a:ext cx="541655" cy="24574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71755" marR="5080" indent="-59055">
              <a:lnSpc>
                <a:spcPct val="151900"/>
              </a:lnSpc>
            </a:pPr>
            <a:r>
              <a:rPr sz="2025" baseline="2057" dirty="0">
                <a:latin typeface="Helvetica"/>
                <a:cs typeface="Helvetica"/>
              </a:rPr>
              <a:t>L</a:t>
            </a:r>
            <a:r>
              <a:rPr sz="2025" spc="-307" baseline="2057" dirty="0">
                <a:latin typeface="Helvetica"/>
                <a:cs typeface="Helvetica"/>
              </a:rPr>
              <a:t> </a:t>
            </a:r>
            <a:r>
              <a:rPr sz="1350" dirty="0">
                <a:latin typeface="Helvetica"/>
                <a:cs typeface="Helvetica"/>
              </a:rPr>
              <a:t>L </a:t>
            </a:r>
            <a:r>
              <a:rPr sz="2025" spc="-502" baseline="2057" dirty="0">
                <a:latin typeface="Helvetica"/>
                <a:cs typeface="Helvetica"/>
              </a:rPr>
              <a:t>L</a:t>
            </a:r>
            <a:r>
              <a:rPr sz="1500" dirty="0">
                <a:latin typeface="Helvetica"/>
                <a:cs typeface="Helvetica"/>
              </a:rPr>
              <a:t>L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607" name="object 607"/>
          <p:cNvSpPr txBox="1"/>
          <p:nvPr/>
        </p:nvSpPr>
        <p:spPr>
          <a:xfrm>
            <a:off x="8433182" y="2276361"/>
            <a:ext cx="517525" cy="28130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25" baseline="2057" dirty="0">
                <a:latin typeface="Helvetica"/>
                <a:cs typeface="Helvetica"/>
              </a:rPr>
              <a:t>L</a:t>
            </a:r>
            <a:r>
              <a:rPr sz="2025" spc="52" baseline="2057" dirty="0">
                <a:latin typeface="Helvetica"/>
                <a:cs typeface="Helvetica"/>
              </a:rPr>
              <a:t> </a:t>
            </a:r>
            <a:r>
              <a:rPr sz="1500" dirty="0">
                <a:latin typeface="Helvetica"/>
                <a:cs typeface="Helvetica"/>
              </a:rPr>
              <a:t>L</a:t>
            </a:r>
            <a:endParaRPr sz="1500">
              <a:latin typeface="Helvetica"/>
              <a:cs typeface="Helvetica"/>
            </a:endParaRPr>
          </a:p>
          <a:p>
            <a:pPr marL="166370">
              <a:lnSpc>
                <a:spcPct val="100000"/>
              </a:lnSpc>
              <a:spcBef>
                <a:spcPts val="740"/>
              </a:spcBef>
            </a:pPr>
            <a:r>
              <a:rPr sz="1350" dirty="0">
                <a:latin typeface="Helvetica"/>
                <a:cs typeface="Helvetica"/>
              </a:rPr>
              <a:t>L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08" name="object 608"/>
          <p:cNvSpPr txBox="1"/>
          <p:nvPr/>
        </p:nvSpPr>
        <p:spPr>
          <a:xfrm>
            <a:off x="5307069" y="3184711"/>
            <a:ext cx="699770" cy="2908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5080" indent="132715" algn="r">
              <a:lnSpc>
                <a:spcPct val="115399"/>
              </a:lnSpc>
            </a:pPr>
            <a:r>
              <a:rPr sz="1350" dirty="0">
                <a:latin typeface="Helvetica"/>
                <a:cs typeface="Helvetica"/>
              </a:rPr>
              <a:t>N </a:t>
            </a:r>
            <a:r>
              <a:rPr sz="2025" spc="15" baseline="2057" dirty="0">
                <a:latin typeface="Helvetica"/>
                <a:cs typeface="Helvetica"/>
              </a:rPr>
              <a:t>N</a:t>
            </a:r>
            <a:r>
              <a:rPr sz="1500" dirty="0">
                <a:latin typeface="Helvetica"/>
                <a:cs typeface="Helvetica"/>
              </a:rPr>
              <a:t>N </a:t>
            </a:r>
            <a:r>
              <a:rPr sz="1350" dirty="0">
                <a:latin typeface="Helvetica"/>
                <a:cs typeface="Helvetica"/>
              </a:rPr>
              <a:t>N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09" name="object 609"/>
          <p:cNvSpPr txBox="1"/>
          <p:nvPr/>
        </p:nvSpPr>
        <p:spPr>
          <a:xfrm>
            <a:off x="5984686" y="2655553"/>
            <a:ext cx="309245" cy="43434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25" spc="-359" baseline="2057" dirty="0">
                <a:latin typeface="Helvetica"/>
                <a:cs typeface="Helvetica"/>
              </a:rPr>
              <a:t>N</a:t>
            </a:r>
            <a:r>
              <a:rPr sz="1500" dirty="0">
                <a:latin typeface="Helvetica"/>
                <a:cs typeface="Helvetica"/>
              </a:rPr>
              <a:t>N</a:t>
            </a:r>
            <a:r>
              <a:rPr sz="1500" spc="-30" dirty="0">
                <a:latin typeface="Helvetica"/>
                <a:cs typeface="Helvetica"/>
              </a:rPr>
              <a:t> </a:t>
            </a:r>
            <a:r>
              <a:rPr sz="2025" baseline="34979" dirty="0">
                <a:latin typeface="Helvetica"/>
                <a:cs typeface="Helvetica"/>
              </a:rPr>
              <a:t>N</a:t>
            </a:r>
            <a:endParaRPr sz="2025" baseline="34979">
              <a:latin typeface="Helvetica"/>
              <a:cs typeface="Helvetica"/>
            </a:endParaRPr>
          </a:p>
        </p:txBody>
      </p:sp>
      <p:sp>
        <p:nvSpPr>
          <p:cNvPr id="610" name="object 610"/>
          <p:cNvSpPr txBox="1"/>
          <p:nvPr/>
        </p:nvSpPr>
        <p:spPr>
          <a:xfrm>
            <a:off x="6400334" y="2710528"/>
            <a:ext cx="687070" cy="27686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635" marR="5080" indent="-115570" algn="just">
              <a:lnSpc>
                <a:spcPct val="113100"/>
              </a:lnSpc>
            </a:pPr>
            <a:r>
              <a:rPr sz="2025" spc="-150" baseline="2057" dirty="0">
                <a:latin typeface="Helvetica"/>
                <a:cs typeface="Helvetica"/>
              </a:rPr>
              <a:t>N</a:t>
            </a:r>
            <a:r>
              <a:rPr sz="1500" dirty="0">
                <a:latin typeface="Helvetica"/>
                <a:cs typeface="Helvetica"/>
              </a:rPr>
              <a:t>N </a:t>
            </a:r>
            <a:r>
              <a:rPr sz="1350" dirty="0">
                <a:latin typeface="Helvetica"/>
                <a:cs typeface="Helvetica"/>
              </a:rPr>
              <a:t>N L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11" name="object 611"/>
          <p:cNvSpPr txBox="1"/>
          <p:nvPr/>
        </p:nvSpPr>
        <p:spPr>
          <a:xfrm>
            <a:off x="3594467" y="3518082"/>
            <a:ext cx="217804" cy="16446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dirty="0">
                <a:latin typeface="Helvetica"/>
                <a:cs typeface="Helvetica"/>
              </a:rPr>
              <a:t>N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612" name="object 612"/>
          <p:cNvSpPr txBox="1"/>
          <p:nvPr/>
        </p:nvSpPr>
        <p:spPr>
          <a:xfrm>
            <a:off x="3951836" y="2965029"/>
            <a:ext cx="636270" cy="16446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5080" indent="6350" algn="just">
              <a:lnSpc>
                <a:spcPct val="100699"/>
              </a:lnSpc>
            </a:pPr>
            <a:r>
              <a:rPr sz="1350" dirty="0">
                <a:latin typeface="Helvetica"/>
                <a:cs typeface="Helvetica"/>
              </a:rPr>
              <a:t>N </a:t>
            </a:r>
            <a:r>
              <a:rPr sz="1500" dirty="0">
                <a:latin typeface="Helvetica"/>
                <a:cs typeface="Helvetica"/>
              </a:rPr>
              <a:t>N </a:t>
            </a:r>
            <a:r>
              <a:rPr sz="1350" dirty="0">
                <a:latin typeface="Helvetica"/>
                <a:cs typeface="Helvetica"/>
              </a:rPr>
              <a:t>N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13" name="object 613"/>
          <p:cNvSpPr txBox="1"/>
          <p:nvPr/>
        </p:nvSpPr>
        <p:spPr>
          <a:xfrm>
            <a:off x="4177645" y="2530900"/>
            <a:ext cx="989330" cy="3797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5080" indent="6350">
              <a:lnSpc>
                <a:spcPct val="95000"/>
              </a:lnSpc>
            </a:pPr>
            <a:r>
              <a:rPr sz="1350" dirty="0">
                <a:latin typeface="Helvetica"/>
                <a:cs typeface="Helvetica"/>
              </a:rPr>
              <a:t>N </a:t>
            </a:r>
            <a:r>
              <a:rPr sz="2250" spc="-254" baseline="1851" dirty="0">
                <a:latin typeface="Helvetica"/>
                <a:cs typeface="Helvetica"/>
              </a:rPr>
              <a:t>N</a:t>
            </a:r>
            <a:r>
              <a:rPr sz="1350" dirty="0">
                <a:latin typeface="Helvetica"/>
                <a:cs typeface="Helvetica"/>
              </a:rPr>
              <a:t>N </a:t>
            </a:r>
            <a:r>
              <a:rPr sz="2025" spc="-254" baseline="2057" dirty="0">
                <a:latin typeface="Helvetica"/>
                <a:cs typeface="Helvetica"/>
              </a:rPr>
              <a:t>N</a:t>
            </a:r>
            <a:r>
              <a:rPr sz="1500" spc="-165" dirty="0">
                <a:latin typeface="Helvetica"/>
                <a:cs typeface="Helvetica"/>
              </a:rPr>
              <a:t>N</a:t>
            </a:r>
            <a:r>
              <a:rPr sz="2025" baseline="-6172" dirty="0">
                <a:latin typeface="Helvetica"/>
                <a:cs typeface="Helvetica"/>
              </a:rPr>
              <a:t>N</a:t>
            </a:r>
            <a:endParaRPr sz="2025" baseline="-6172">
              <a:latin typeface="Helvetica"/>
              <a:cs typeface="Helvetica"/>
            </a:endParaRPr>
          </a:p>
          <a:p>
            <a:pPr marL="130175">
              <a:lnSpc>
                <a:spcPts val="1330"/>
              </a:lnSpc>
            </a:pPr>
            <a:r>
              <a:rPr sz="1350" dirty="0">
                <a:latin typeface="Helvetica"/>
                <a:cs typeface="Helvetica"/>
              </a:rPr>
              <a:t>N</a:t>
            </a:r>
            <a:endParaRPr sz="1350">
              <a:latin typeface="Helvetica"/>
              <a:cs typeface="Helvetica"/>
            </a:endParaRPr>
          </a:p>
          <a:p>
            <a:pPr marL="241300">
              <a:lnSpc>
                <a:spcPts val="1475"/>
              </a:lnSpc>
            </a:pPr>
            <a:r>
              <a:rPr sz="1350" dirty="0">
                <a:latin typeface="Helvetica"/>
                <a:cs typeface="Helvetica"/>
              </a:rPr>
              <a:t>N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14" name="object 614"/>
          <p:cNvSpPr txBox="1"/>
          <p:nvPr/>
        </p:nvSpPr>
        <p:spPr>
          <a:xfrm>
            <a:off x="2822412" y="2955987"/>
            <a:ext cx="622300" cy="16446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5080" indent="6350" algn="just">
              <a:lnSpc>
                <a:spcPct val="97500"/>
              </a:lnSpc>
            </a:pPr>
            <a:r>
              <a:rPr sz="1350" dirty="0">
                <a:latin typeface="Helvetica"/>
                <a:cs typeface="Helvetica"/>
              </a:rPr>
              <a:t>N </a:t>
            </a:r>
            <a:r>
              <a:rPr sz="1500" dirty="0">
                <a:latin typeface="Helvetica"/>
                <a:cs typeface="Helvetica"/>
              </a:rPr>
              <a:t>N </a:t>
            </a:r>
            <a:r>
              <a:rPr sz="1350" dirty="0">
                <a:latin typeface="Helvetica"/>
                <a:cs typeface="Helvetica"/>
              </a:rPr>
              <a:t>N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15" name="object 615"/>
          <p:cNvSpPr txBox="1"/>
          <p:nvPr/>
        </p:nvSpPr>
        <p:spPr>
          <a:xfrm>
            <a:off x="3048219" y="2452991"/>
            <a:ext cx="424815" cy="28384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9050">
              <a:lnSpc>
                <a:spcPts val="1540"/>
              </a:lnSpc>
            </a:pPr>
            <a:r>
              <a:rPr sz="1350" dirty="0">
                <a:latin typeface="Helvetica"/>
                <a:cs typeface="Helvetica"/>
              </a:rPr>
              <a:t>N</a:t>
            </a:r>
            <a:endParaRPr sz="1350">
              <a:latin typeface="Helvetica"/>
              <a:cs typeface="Helvetica"/>
            </a:endParaRPr>
          </a:p>
          <a:p>
            <a:pPr marL="12700">
              <a:lnSpc>
                <a:spcPts val="1720"/>
              </a:lnSpc>
            </a:pPr>
            <a:r>
              <a:rPr sz="1500" spc="-50" dirty="0">
                <a:latin typeface="Helvetica"/>
                <a:cs typeface="Helvetica"/>
              </a:rPr>
              <a:t>N</a:t>
            </a:r>
            <a:r>
              <a:rPr sz="2025" baseline="-6172" dirty="0">
                <a:latin typeface="Helvetica"/>
                <a:cs typeface="Helvetica"/>
              </a:rPr>
              <a:t>N</a:t>
            </a:r>
            <a:endParaRPr sz="2025" baseline="-6172">
              <a:latin typeface="Helvetica"/>
              <a:cs typeface="Helvetica"/>
            </a:endParaRPr>
          </a:p>
        </p:txBody>
      </p:sp>
      <p:sp>
        <p:nvSpPr>
          <p:cNvPr id="616" name="object 616"/>
          <p:cNvSpPr txBox="1"/>
          <p:nvPr/>
        </p:nvSpPr>
        <p:spPr>
          <a:xfrm>
            <a:off x="681082" y="3681635"/>
            <a:ext cx="335280" cy="32258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455"/>
              </a:lnSpc>
            </a:pPr>
            <a:r>
              <a:rPr sz="1500" dirty="0">
                <a:latin typeface="Helvetica"/>
                <a:cs typeface="Helvetica"/>
              </a:rPr>
              <a:t>N</a:t>
            </a:r>
            <a:endParaRPr sz="1500">
              <a:latin typeface="Helvetica"/>
              <a:cs typeface="Helvetica"/>
            </a:endParaRPr>
          </a:p>
          <a:p>
            <a:pPr marL="184150">
              <a:lnSpc>
                <a:spcPts val="1275"/>
              </a:lnSpc>
            </a:pPr>
            <a:r>
              <a:rPr sz="1350" dirty="0">
                <a:latin typeface="Helvetica"/>
                <a:cs typeface="Helvetica"/>
              </a:rPr>
              <a:t>N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17" name="object 617"/>
          <p:cNvSpPr txBox="1"/>
          <p:nvPr/>
        </p:nvSpPr>
        <p:spPr>
          <a:xfrm>
            <a:off x="1706258" y="3578869"/>
            <a:ext cx="217804" cy="25336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25" spc="-427" baseline="2057" dirty="0">
                <a:latin typeface="Helvetica"/>
                <a:cs typeface="Helvetica"/>
              </a:rPr>
              <a:t>N</a:t>
            </a:r>
            <a:r>
              <a:rPr sz="1500" dirty="0">
                <a:latin typeface="Helvetica"/>
                <a:cs typeface="Helvetica"/>
              </a:rPr>
              <a:t>N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618" name="object 618"/>
          <p:cNvSpPr txBox="1"/>
          <p:nvPr/>
        </p:nvSpPr>
        <p:spPr>
          <a:xfrm>
            <a:off x="2179224" y="3412280"/>
            <a:ext cx="503555" cy="32448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25" baseline="2057" dirty="0">
                <a:latin typeface="Helvetica"/>
                <a:cs typeface="Helvetica"/>
              </a:rPr>
              <a:t>N</a:t>
            </a:r>
            <a:r>
              <a:rPr sz="2025" spc="-157" baseline="2057" dirty="0">
                <a:latin typeface="Helvetica"/>
                <a:cs typeface="Helvetica"/>
              </a:rPr>
              <a:t> </a:t>
            </a:r>
            <a:r>
              <a:rPr sz="1500" dirty="0">
                <a:latin typeface="Helvetica"/>
                <a:cs typeface="Helvetica"/>
              </a:rPr>
              <a:t>N</a:t>
            </a:r>
            <a:endParaRPr sz="1500">
              <a:latin typeface="Helvetica"/>
              <a:cs typeface="Helvetica"/>
            </a:endParaRPr>
          </a:p>
          <a:p>
            <a:pPr marL="179070">
              <a:lnSpc>
                <a:spcPct val="100000"/>
              </a:lnSpc>
              <a:spcBef>
                <a:spcPts val="630"/>
              </a:spcBef>
            </a:pPr>
            <a:r>
              <a:rPr sz="1350" dirty="0">
                <a:latin typeface="Helvetica"/>
                <a:cs typeface="Helvetica"/>
              </a:rPr>
              <a:t>N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19" name="object 619"/>
          <p:cNvSpPr txBox="1"/>
          <p:nvPr/>
        </p:nvSpPr>
        <p:spPr>
          <a:xfrm>
            <a:off x="1805891" y="2802906"/>
            <a:ext cx="295275" cy="29337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50" spc="44" baseline="-25925" dirty="0">
                <a:latin typeface="Helvetica"/>
                <a:cs typeface="Helvetica"/>
              </a:rPr>
              <a:t>N</a:t>
            </a:r>
            <a:r>
              <a:rPr sz="1350" dirty="0">
                <a:latin typeface="Helvetica"/>
                <a:cs typeface="Helvetica"/>
              </a:rPr>
              <a:t>N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20" name="object 620"/>
          <p:cNvSpPr txBox="1"/>
          <p:nvPr/>
        </p:nvSpPr>
        <p:spPr>
          <a:xfrm>
            <a:off x="620110" y="3377654"/>
            <a:ext cx="594360" cy="16446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5080" indent="6350" algn="just">
              <a:lnSpc>
                <a:spcPct val="91000"/>
              </a:lnSpc>
            </a:pPr>
            <a:r>
              <a:rPr sz="1350" dirty="0">
                <a:latin typeface="Helvetica"/>
                <a:cs typeface="Helvetica"/>
              </a:rPr>
              <a:t>N </a:t>
            </a:r>
            <a:r>
              <a:rPr sz="1500" dirty="0">
                <a:latin typeface="Helvetica"/>
                <a:cs typeface="Helvetica"/>
              </a:rPr>
              <a:t>N </a:t>
            </a:r>
            <a:r>
              <a:rPr sz="1350" dirty="0">
                <a:latin typeface="Helvetica"/>
                <a:cs typeface="Helvetica"/>
              </a:rPr>
              <a:t>N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21" name="object 621"/>
          <p:cNvSpPr txBox="1"/>
          <p:nvPr/>
        </p:nvSpPr>
        <p:spPr>
          <a:xfrm>
            <a:off x="6880224" y="1740428"/>
            <a:ext cx="3832225" cy="13271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5080" algn="just">
              <a:lnSpc>
                <a:spcPts val="1780"/>
              </a:lnSpc>
            </a:pPr>
            <a:r>
              <a:rPr sz="1500" dirty="0">
                <a:latin typeface="Helvetica"/>
                <a:cs typeface="Helvetica"/>
              </a:rPr>
              <a:t>L L L L L L L L L L L L L L L L L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622" name="object 622"/>
          <p:cNvSpPr txBox="1"/>
          <p:nvPr/>
        </p:nvSpPr>
        <p:spPr>
          <a:xfrm>
            <a:off x="688968" y="5127844"/>
            <a:ext cx="198755" cy="15049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Helvetica"/>
                <a:cs typeface="Helvetica"/>
              </a:rPr>
              <a:t>N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23" name="object 623"/>
          <p:cNvSpPr txBox="1"/>
          <p:nvPr/>
        </p:nvSpPr>
        <p:spPr>
          <a:xfrm>
            <a:off x="3602353" y="4027317"/>
            <a:ext cx="198755" cy="15049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Helvetica"/>
                <a:cs typeface="Helvetica"/>
              </a:rPr>
              <a:t>N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24" name="object 624"/>
          <p:cNvSpPr txBox="1"/>
          <p:nvPr/>
        </p:nvSpPr>
        <p:spPr>
          <a:xfrm>
            <a:off x="6644222" y="3546401"/>
            <a:ext cx="198755" cy="15049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Helvetica"/>
                <a:cs typeface="Helvetica"/>
              </a:rPr>
              <a:t>N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25" name="object 625"/>
          <p:cNvSpPr txBox="1"/>
          <p:nvPr/>
        </p:nvSpPr>
        <p:spPr>
          <a:xfrm>
            <a:off x="11518713" y="3151666"/>
            <a:ext cx="537210" cy="15049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5080">
              <a:lnSpc>
                <a:spcPct val="164600"/>
              </a:lnSpc>
            </a:pPr>
            <a:r>
              <a:rPr sz="1350" dirty="0">
                <a:latin typeface="Helvetica"/>
                <a:cs typeface="Helvetica"/>
              </a:rPr>
              <a:t>N N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26" name="object 626"/>
          <p:cNvSpPr txBox="1"/>
          <p:nvPr/>
        </p:nvSpPr>
        <p:spPr>
          <a:xfrm>
            <a:off x="11405810" y="2457801"/>
            <a:ext cx="424815" cy="15049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5080">
              <a:lnSpc>
                <a:spcPct val="109800"/>
              </a:lnSpc>
            </a:pPr>
            <a:r>
              <a:rPr sz="1350" dirty="0">
                <a:latin typeface="Helvetica"/>
                <a:cs typeface="Helvetica"/>
              </a:rPr>
              <a:t>N N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27" name="object 627"/>
          <p:cNvSpPr txBox="1"/>
          <p:nvPr/>
        </p:nvSpPr>
        <p:spPr>
          <a:xfrm>
            <a:off x="10841097" y="3011238"/>
            <a:ext cx="537210" cy="15049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5080">
              <a:lnSpc>
                <a:spcPct val="164600"/>
              </a:lnSpc>
            </a:pPr>
            <a:r>
              <a:rPr sz="1350" dirty="0">
                <a:latin typeface="Helvetica"/>
                <a:cs typeface="Helvetica"/>
              </a:rPr>
              <a:t>N N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28" name="object 628"/>
          <p:cNvSpPr txBox="1"/>
          <p:nvPr/>
        </p:nvSpPr>
        <p:spPr>
          <a:xfrm>
            <a:off x="10728193" y="2724805"/>
            <a:ext cx="424815" cy="15049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5080">
              <a:lnSpc>
                <a:spcPct val="109800"/>
              </a:lnSpc>
            </a:pPr>
            <a:r>
              <a:rPr sz="1350" dirty="0">
                <a:latin typeface="Helvetica"/>
                <a:cs typeface="Helvetica"/>
              </a:rPr>
              <a:t>N N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29" name="object 629"/>
          <p:cNvSpPr txBox="1"/>
          <p:nvPr/>
        </p:nvSpPr>
        <p:spPr>
          <a:xfrm>
            <a:off x="7114110" y="2554448"/>
            <a:ext cx="534035" cy="18605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5080" indent="63500">
              <a:lnSpc>
                <a:spcPct val="162900"/>
              </a:lnSpc>
            </a:pPr>
            <a:r>
              <a:rPr sz="1350" dirty="0">
                <a:latin typeface="Helvetica"/>
                <a:cs typeface="Helvetica"/>
              </a:rPr>
              <a:t>L L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30" name="object 630"/>
          <p:cNvSpPr txBox="1"/>
          <p:nvPr/>
        </p:nvSpPr>
        <p:spPr>
          <a:xfrm>
            <a:off x="10163481" y="2265899"/>
            <a:ext cx="198755" cy="12192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Helvetica"/>
                <a:cs typeface="Helvetica"/>
              </a:rPr>
              <a:t>L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31" name="object 631"/>
          <p:cNvSpPr txBox="1"/>
          <p:nvPr/>
        </p:nvSpPr>
        <p:spPr>
          <a:xfrm>
            <a:off x="10050577" y="2174909"/>
            <a:ext cx="198755" cy="12192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Helvetica"/>
                <a:cs typeface="Helvetica"/>
              </a:rPr>
              <a:t>L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32" name="object 632"/>
          <p:cNvSpPr txBox="1"/>
          <p:nvPr/>
        </p:nvSpPr>
        <p:spPr>
          <a:xfrm>
            <a:off x="9372768" y="2283789"/>
            <a:ext cx="424815" cy="12192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5080">
              <a:lnSpc>
                <a:spcPct val="109800"/>
              </a:lnSpc>
            </a:pPr>
            <a:r>
              <a:rPr sz="1350" dirty="0">
                <a:latin typeface="Helvetica"/>
                <a:cs typeface="Helvetica"/>
              </a:rPr>
              <a:t>L L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33" name="object 633"/>
          <p:cNvSpPr txBox="1"/>
          <p:nvPr/>
        </p:nvSpPr>
        <p:spPr>
          <a:xfrm>
            <a:off x="8469343" y="2118354"/>
            <a:ext cx="424815" cy="12192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5080">
              <a:lnSpc>
                <a:spcPct val="109800"/>
              </a:lnSpc>
            </a:pPr>
            <a:r>
              <a:rPr sz="1350" dirty="0">
                <a:latin typeface="Helvetica"/>
                <a:cs typeface="Helvetica"/>
              </a:rPr>
              <a:t>L L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34" name="object 634"/>
          <p:cNvSpPr txBox="1"/>
          <p:nvPr/>
        </p:nvSpPr>
        <p:spPr>
          <a:xfrm>
            <a:off x="8017535" y="2211267"/>
            <a:ext cx="424815" cy="12192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5080">
              <a:lnSpc>
                <a:spcPct val="109800"/>
              </a:lnSpc>
            </a:pPr>
            <a:r>
              <a:rPr sz="1350" dirty="0">
                <a:latin typeface="Helvetica"/>
                <a:cs typeface="Helvetica"/>
              </a:rPr>
              <a:t>L L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35" name="object 635"/>
          <p:cNvSpPr txBox="1"/>
          <p:nvPr/>
        </p:nvSpPr>
        <p:spPr>
          <a:xfrm>
            <a:off x="7339918" y="2418638"/>
            <a:ext cx="424815" cy="12192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5080">
              <a:lnSpc>
                <a:spcPct val="109800"/>
              </a:lnSpc>
            </a:pPr>
            <a:r>
              <a:rPr sz="1350" dirty="0">
                <a:latin typeface="Helvetica"/>
                <a:cs typeface="Helvetica"/>
              </a:rPr>
              <a:t>L L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36" name="object 636"/>
          <p:cNvSpPr txBox="1"/>
          <p:nvPr/>
        </p:nvSpPr>
        <p:spPr>
          <a:xfrm>
            <a:off x="5532877" y="2836954"/>
            <a:ext cx="424815" cy="252729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Helvetica"/>
                <a:cs typeface="Helvetica"/>
              </a:rPr>
              <a:t>N</a:t>
            </a:r>
            <a:endParaRPr sz="1350">
              <a:latin typeface="Helvetica"/>
              <a:cs typeface="Helvetica"/>
            </a:endParaRPr>
          </a:p>
          <a:p>
            <a:pPr marL="114300">
              <a:lnSpc>
                <a:spcPct val="100000"/>
              </a:lnSpc>
              <a:spcBef>
                <a:spcPts val="160"/>
              </a:spcBef>
            </a:pPr>
            <a:r>
              <a:rPr sz="1350" dirty="0">
                <a:latin typeface="Helvetica"/>
                <a:cs typeface="Helvetica"/>
              </a:rPr>
              <a:t>N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37" name="object 637"/>
          <p:cNvSpPr txBox="1"/>
          <p:nvPr/>
        </p:nvSpPr>
        <p:spPr>
          <a:xfrm>
            <a:off x="6210494" y="2495697"/>
            <a:ext cx="311785" cy="31051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25" baseline="-37037" dirty="0">
                <a:latin typeface="Helvetica"/>
                <a:cs typeface="Helvetica"/>
              </a:rPr>
              <a:t>N</a:t>
            </a:r>
            <a:r>
              <a:rPr sz="2025" spc="-157" baseline="-37037" dirty="0">
                <a:latin typeface="Helvetica"/>
                <a:cs typeface="Helvetica"/>
              </a:rPr>
              <a:t> </a:t>
            </a:r>
            <a:r>
              <a:rPr sz="1350" dirty="0">
                <a:latin typeface="Helvetica"/>
                <a:cs typeface="Helvetica"/>
              </a:rPr>
              <a:t>N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38" name="object 638"/>
          <p:cNvSpPr txBox="1"/>
          <p:nvPr/>
        </p:nvSpPr>
        <p:spPr>
          <a:xfrm>
            <a:off x="3034179" y="3525049"/>
            <a:ext cx="198755" cy="15049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Helvetica"/>
                <a:cs typeface="Helvetica"/>
              </a:rPr>
              <a:t>N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39" name="object 639"/>
          <p:cNvSpPr txBox="1"/>
          <p:nvPr/>
        </p:nvSpPr>
        <p:spPr>
          <a:xfrm>
            <a:off x="4855261" y="2260048"/>
            <a:ext cx="424815" cy="15049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5080">
              <a:lnSpc>
                <a:spcPct val="109800"/>
              </a:lnSpc>
            </a:pPr>
            <a:r>
              <a:rPr sz="1350" dirty="0">
                <a:latin typeface="Helvetica"/>
                <a:cs typeface="Helvetica"/>
              </a:rPr>
              <a:t>N N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40" name="object 640"/>
          <p:cNvSpPr txBox="1"/>
          <p:nvPr/>
        </p:nvSpPr>
        <p:spPr>
          <a:xfrm>
            <a:off x="3500028" y="2345651"/>
            <a:ext cx="198755" cy="15049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Helvetica"/>
                <a:cs typeface="Helvetica"/>
              </a:rPr>
              <a:t>N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41" name="object 641"/>
          <p:cNvSpPr txBox="1"/>
          <p:nvPr/>
        </p:nvSpPr>
        <p:spPr>
          <a:xfrm>
            <a:off x="111946" y="3846493"/>
            <a:ext cx="198755" cy="15049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Helvetica"/>
                <a:cs typeface="Helvetica"/>
              </a:rPr>
              <a:t>N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42" name="object 642"/>
          <p:cNvSpPr txBox="1"/>
          <p:nvPr/>
        </p:nvSpPr>
        <p:spPr>
          <a:xfrm>
            <a:off x="1241371" y="3585836"/>
            <a:ext cx="198755" cy="15049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Helvetica"/>
                <a:cs typeface="Helvetica"/>
              </a:rPr>
              <a:t>N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43" name="object 643"/>
          <p:cNvSpPr txBox="1"/>
          <p:nvPr/>
        </p:nvSpPr>
        <p:spPr>
          <a:xfrm>
            <a:off x="1890713" y="3419055"/>
            <a:ext cx="198755" cy="15049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Helvetica"/>
                <a:cs typeface="Helvetica"/>
              </a:rPr>
              <a:t>N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44" name="object 644"/>
          <p:cNvSpPr txBox="1"/>
          <p:nvPr/>
        </p:nvSpPr>
        <p:spPr>
          <a:xfrm>
            <a:off x="2370603" y="2712878"/>
            <a:ext cx="424815" cy="15049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5080">
              <a:lnSpc>
                <a:spcPct val="109800"/>
              </a:lnSpc>
            </a:pPr>
            <a:r>
              <a:rPr sz="1350" dirty="0">
                <a:latin typeface="Helvetica"/>
                <a:cs typeface="Helvetica"/>
              </a:rPr>
              <a:t>N N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45" name="object 645"/>
          <p:cNvSpPr txBox="1"/>
          <p:nvPr/>
        </p:nvSpPr>
        <p:spPr>
          <a:xfrm>
            <a:off x="1636631" y="2938716"/>
            <a:ext cx="198755" cy="15049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Helvetica"/>
                <a:cs typeface="Helvetica"/>
              </a:rPr>
              <a:t>N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46" name="object 646"/>
          <p:cNvSpPr txBox="1"/>
          <p:nvPr/>
        </p:nvSpPr>
        <p:spPr>
          <a:xfrm>
            <a:off x="1467179" y="2802906"/>
            <a:ext cx="198755" cy="15049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Helvetica"/>
                <a:cs typeface="Helvetica"/>
              </a:rPr>
              <a:t>N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47" name="object 647"/>
          <p:cNvSpPr txBox="1"/>
          <p:nvPr/>
        </p:nvSpPr>
        <p:spPr>
          <a:xfrm>
            <a:off x="1692987" y="2685947"/>
            <a:ext cx="198755" cy="15049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Helvetica"/>
                <a:cs typeface="Helvetica"/>
              </a:rPr>
              <a:t>N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48" name="object 648"/>
          <p:cNvSpPr txBox="1"/>
          <p:nvPr/>
        </p:nvSpPr>
        <p:spPr>
          <a:xfrm>
            <a:off x="450658" y="2643434"/>
            <a:ext cx="537845" cy="31051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5080">
              <a:lnSpc>
                <a:spcPct val="164700"/>
              </a:lnSpc>
            </a:pPr>
            <a:r>
              <a:rPr sz="1350" dirty="0">
                <a:latin typeface="Helvetica"/>
                <a:cs typeface="Helvetica"/>
              </a:rPr>
              <a:t>N</a:t>
            </a:r>
            <a:r>
              <a:rPr sz="1350" spc="-100" dirty="0">
                <a:latin typeface="Helvetica"/>
                <a:cs typeface="Helvetica"/>
              </a:rPr>
              <a:t> </a:t>
            </a:r>
            <a:r>
              <a:rPr sz="2025" baseline="-37037" dirty="0">
                <a:latin typeface="Helvetica"/>
                <a:cs typeface="Helvetica"/>
              </a:rPr>
              <a:t>N </a:t>
            </a:r>
            <a:r>
              <a:rPr sz="1350" dirty="0">
                <a:latin typeface="Helvetica"/>
                <a:cs typeface="Helvetica"/>
              </a:rPr>
              <a:t>N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49" name="object 649"/>
          <p:cNvSpPr txBox="1"/>
          <p:nvPr/>
        </p:nvSpPr>
        <p:spPr>
          <a:xfrm>
            <a:off x="337754" y="2643434"/>
            <a:ext cx="198755" cy="15049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Helvetica"/>
                <a:cs typeface="Helvetica"/>
              </a:rPr>
              <a:t>N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50" name="object 650"/>
          <p:cNvSpPr txBox="1"/>
          <p:nvPr/>
        </p:nvSpPr>
        <p:spPr>
          <a:xfrm>
            <a:off x="6299548" y="5127844"/>
            <a:ext cx="198755" cy="15049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Helvetica"/>
                <a:cs typeface="Helvetica"/>
              </a:rPr>
              <a:t>N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51" name="object 651"/>
          <p:cNvSpPr txBox="1"/>
          <p:nvPr/>
        </p:nvSpPr>
        <p:spPr>
          <a:xfrm>
            <a:off x="8996742" y="4027317"/>
            <a:ext cx="198755" cy="15049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Helvetica"/>
                <a:cs typeface="Helvetica"/>
              </a:rPr>
              <a:t>N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52" name="object 652"/>
          <p:cNvSpPr txBox="1"/>
          <p:nvPr/>
        </p:nvSpPr>
        <p:spPr>
          <a:xfrm>
            <a:off x="7730755" y="3324988"/>
            <a:ext cx="198755" cy="15049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Helvetica"/>
                <a:cs typeface="Helvetica"/>
              </a:rPr>
              <a:t>N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53" name="object 653"/>
          <p:cNvSpPr txBox="1"/>
          <p:nvPr/>
        </p:nvSpPr>
        <p:spPr>
          <a:xfrm>
            <a:off x="9697631" y="2618506"/>
            <a:ext cx="198755" cy="12192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Helvetica"/>
                <a:cs typeface="Helvetica"/>
              </a:rPr>
              <a:t>L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54" name="object 654"/>
          <p:cNvSpPr txBox="1"/>
          <p:nvPr/>
        </p:nvSpPr>
        <p:spPr>
          <a:xfrm>
            <a:off x="10502193" y="2265899"/>
            <a:ext cx="198755" cy="12192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Helvetica"/>
                <a:cs typeface="Helvetica"/>
              </a:rPr>
              <a:t>L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55" name="object 655"/>
          <p:cNvSpPr txBox="1"/>
          <p:nvPr/>
        </p:nvSpPr>
        <p:spPr>
          <a:xfrm>
            <a:off x="10276385" y="2174909"/>
            <a:ext cx="198755" cy="12192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Helvetica"/>
                <a:cs typeface="Helvetica"/>
              </a:rPr>
              <a:t>L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56" name="object 656"/>
          <p:cNvSpPr txBox="1"/>
          <p:nvPr/>
        </p:nvSpPr>
        <p:spPr>
          <a:xfrm>
            <a:off x="8921152" y="2171447"/>
            <a:ext cx="198755" cy="12192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Helvetica"/>
                <a:cs typeface="Helvetica"/>
              </a:rPr>
              <a:t>L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57" name="object 657"/>
          <p:cNvSpPr txBox="1"/>
          <p:nvPr/>
        </p:nvSpPr>
        <p:spPr>
          <a:xfrm>
            <a:off x="6436494" y="2495697"/>
            <a:ext cx="198755" cy="15049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Helvetica"/>
                <a:cs typeface="Helvetica"/>
              </a:rPr>
              <a:t>N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58" name="object 658"/>
          <p:cNvSpPr txBox="1"/>
          <p:nvPr/>
        </p:nvSpPr>
        <p:spPr>
          <a:xfrm>
            <a:off x="4170720" y="3525049"/>
            <a:ext cx="198755" cy="15049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Helvetica"/>
                <a:cs typeface="Helvetica"/>
              </a:rPr>
              <a:t>N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59" name="object 659"/>
          <p:cNvSpPr txBox="1"/>
          <p:nvPr/>
        </p:nvSpPr>
        <p:spPr>
          <a:xfrm>
            <a:off x="3443672" y="2579184"/>
            <a:ext cx="198755" cy="15049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Helvetica"/>
                <a:cs typeface="Helvetica"/>
              </a:rPr>
              <a:t>N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60" name="object 660"/>
          <p:cNvSpPr txBox="1"/>
          <p:nvPr/>
        </p:nvSpPr>
        <p:spPr>
          <a:xfrm>
            <a:off x="3612932" y="2452991"/>
            <a:ext cx="198755" cy="15049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Helvetica"/>
                <a:cs typeface="Helvetica"/>
              </a:rPr>
              <a:t>N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61" name="object 661"/>
          <p:cNvSpPr txBox="1"/>
          <p:nvPr/>
        </p:nvSpPr>
        <p:spPr>
          <a:xfrm>
            <a:off x="3726028" y="2345651"/>
            <a:ext cx="198755" cy="15049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Helvetica"/>
                <a:cs typeface="Helvetica"/>
              </a:rPr>
              <a:t>N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62" name="object 662"/>
          <p:cNvSpPr txBox="1"/>
          <p:nvPr/>
        </p:nvSpPr>
        <p:spPr>
          <a:xfrm>
            <a:off x="1265990" y="3846493"/>
            <a:ext cx="198755" cy="15049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Helvetica"/>
                <a:cs typeface="Helvetica"/>
              </a:rPr>
              <a:t>N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63" name="object 663"/>
          <p:cNvSpPr txBox="1"/>
          <p:nvPr/>
        </p:nvSpPr>
        <p:spPr>
          <a:xfrm>
            <a:off x="2144795" y="2938716"/>
            <a:ext cx="198755" cy="15049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Helvetica"/>
                <a:cs typeface="Helvetica"/>
              </a:rPr>
              <a:t>N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64" name="object 664"/>
          <p:cNvSpPr txBox="1"/>
          <p:nvPr/>
        </p:nvSpPr>
        <p:spPr>
          <a:xfrm>
            <a:off x="1918987" y="2685947"/>
            <a:ext cx="198755" cy="15049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Helvetica"/>
                <a:cs typeface="Helvetica"/>
              </a:rPr>
              <a:t>N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65" name="object 665"/>
          <p:cNvSpPr txBox="1"/>
          <p:nvPr/>
        </p:nvSpPr>
        <p:spPr>
          <a:xfrm>
            <a:off x="7181595" y="8184217"/>
            <a:ext cx="4208145" cy="564515"/>
          </a:xfrm>
          <a:prstGeom prst="rect">
            <a:avLst/>
          </a:prstGeom>
          <a:ln w="2539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6850">
              <a:lnSpc>
                <a:spcPct val="100000"/>
              </a:lnSpc>
            </a:pPr>
            <a:r>
              <a:rPr sz="3000" b="1" spc="-15" dirty="0">
                <a:solidFill>
                  <a:srgbClr val="122CE2"/>
                </a:solidFill>
                <a:latin typeface="Calibri"/>
                <a:cs typeface="Calibri"/>
              </a:rPr>
              <a:t>L:</a:t>
            </a:r>
            <a:r>
              <a:rPr sz="3000" b="1" spc="-5" dirty="0">
                <a:solidFill>
                  <a:srgbClr val="122CE2"/>
                </a:solidFill>
                <a:latin typeface="Calibri"/>
                <a:cs typeface="Calibri"/>
              </a:rPr>
              <a:t> </a:t>
            </a:r>
            <a:r>
              <a:rPr sz="3000" b="1" spc="405" dirty="0">
                <a:solidFill>
                  <a:srgbClr val="122CE2"/>
                </a:solidFill>
                <a:latin typeface="Calibri"/>
                <a:cs typeface="Calibri"/>
              </a:rPr>
              <a:t>li</a:t>
            </a:r>
            <a:r>
              <a:rPr sz="3000" b="1" spc="375" dirty="0">
                <a:solidFill>
                  <a:srgbClr val="122CE2"/>
                </a:solidFill>
                <a:latin typeface="Calibri"/>
                <a:cs typeface="Calibri"/>
              </a:rPr>
              <a:t>i</a:t>
            </a:r>
            <a:r>
              <a:rPr sz="3000" b="1" dirty="0">
                <a:solidFill>
                  <a:srgbClr val="122CE2"/>
                </a:solidFill>
                <a:latin typeface="Calibri"/>
                <a:cs typeface="Calibri"/>
              </a:rPr>
              <a:t>o</a:t>
            </a:r>
            <a:r>
              <a:rPr sz="3000" b="1" spc="-65" dirty="0">
                <a:solidFill>
                  <a:srgbClr val="122CE2"/>
                </a:solidFill>
                <a:latin typeface="Calibri"/>
                <a:cs typeface="Calibri"/>
              </a:rPr>
              <a:t>r</a:t>
            </a:r>
            <a:r>
              <a:rPr sz="3000" b="1" spc="-15" dirty="0">
                <a:solidFill>
                  <a:srgbClr val="122CE2"/>
                </a:solidFill>
                <a:latin typeface="Calibri"/>
                <a:cs typeface="Calibri"/>
              </a:rPr>
              <a:t>a</a:t>
            </a:r>
            <a:r>
              <a:rPr sz="3000" b="1" spc="165" dirty="0">
                <a:solidFill>
                  <a:srgbClr val="122CE2"/>
                </a:solidFill>
                <a:latin typeface="Calibri"/>
                <a:cs typeface="Calibri"/>
              </a:rPr>
              <a:t>l</a:t>
            </a:r>
            <a:r>
              <a:rPr sz="3000" b="1" spc="-15" dirty="0">
                <a:solidFill>
                  <a:srgbClr val="2CBB11"/>
                </a:solidFill>
                <a:latin typeface="Calibri"/>
                <a:cs typeface="Calibri"/>
              </a:rPr>
              <a:t>N:</a:t>
            </a:r>
            <a:r>
              <a:rPr sz="3000" b="1" spc="-5" dirty="0">
                <a:solidFill>
                  <a:srgbClr val="2CBB11"/>
                </a:solidFill>
                <a:latin typeface="Calibri"/>
                <a:cs typeface="Calibri"/>
              </a:rPr>
              <a:t> </a:t>
            </a:r>
            <a:r>
              <a:rPr sz="3000" b="1" spc="-15" dirty="0">
                <a:solidFill>
                  <a:srgbClr val="2CBB11"/>
                </a:solidFill>
                <a:latin typeface="Calibri"/>
                <a:cs typeface="Calibri"/>
              </a:rPr>
              <a:t>non-</a:t>
            </a:r>
            <a:r>
              <a:rPr sz="3000" b="1" spc="405" dirty="0">
                <a:solidFill>
                  <a:srgbClr val="2CBB11"/>
                </a:solidFill>
                <a:latin typeface="Calibri"/>
                <a:cs typeface="Calibri"/>
              </a:rPr>
              <a:t>li</a:t>
            </a:r>
            <a:r>
              <a:rPr sz="3000" b="1" spc="375" dirty="0">
                <a:solidFill>
                  <a:srgbClr val="2CBB11"/>
                </a:solidFill>
                <a:latin typeface="Calibri"/>
                <a:cs typeface="Calibri"/>
              </a:rPr>
              <a:t>i</a:t>
            </a:r>
            <a:r>
              <a:rPr sz="3000" b="1" dirty="0">
                <a:solidFill>
                  <a:srgbClr val="2CBB11"/>
                </a:solidFill>
                <a:latin typeface="Calibri"/>
                <a:cs typeface="Calibri"/>
              </a:rPr>
              <a:t>o</a:t>
            </a:r>
            <a:r>
              <a:rPr sz="3000" b="1" spc="-70" dirty="0">
                <a:solidFill>
                  <a:srgbClr val="2CBB11"/>
                </a:solidFill>
                <a:latin typeface="Calibri"/>
                <a:cs typeface="Calibri"/>
              </a:rPr>
              <a:t>r</a:t>
            </a:r>
            <a:r>
              <a:rPr sz="3000" b="1" spc="-15" dirty="0">
                <a:solidFill>
                  <a:srgbClr val="2CBB11"/>
                </a:solidFill>
                <a:latin typeface="Calibri"/>
                <a:cs typeface="Calibri"/>
              </a:rPr>
              <a:t>al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666" name="object 666"/>
          <p:cNvSpPr txBox="1"/>
          <p:nvPr/>
        </p:nvSpPr>
        <p:spPr>
          <a:xfrm>
            <a:off x="7150100" y="7631422"/>
            <a:ext cx="3858895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i="1" dirty="0">
                <a:latin typeface="Helvetica"/>
                <a:cs typeface="Helvetica"/>
              </a:rPr>
              <a:t>Cryp</a:t>
            </a:r>
            <a:r>
              <a:rPr sz="3000" i="1" spc="-10" dirty="0">
                <a:latin typeface="Helvetica"/>
                <a:cs typeface="Helvetica"/>
              </a:rPr>
              <a:t>toblepharus</a:t>
            </a:r>
            <a:r>
              <a:rPr sz="3000" i="1" spc="-5" dirty="0">
                <a:latin typeface="Helvetica"/>
                <a:cs typeface="Helvetica"/>
              </a:rPr>
              <a:t> </a:t>
            </a:r>
            <a:r>
              <a:rPr sz="3000" spc="-10" dirty="0">
                <a:latin typeface="Helvetica"/>
                <a:cs typeface="Helvetica"/>
              </a:rPr>
              <a:t>t</a:t>
            </a:r>
            <a:r>
              <a:rPr sz="3000" dirty="0">
                <a:latin typeface="Helvetica"/>
                <a:cs typeface="Helvetica"/>
              </a:rPr>
              <a:t>rai</a:t>
            </a:r>
            <a:r>
              <a:rPr sz="3000" spc="-15" dirty="0">
                <a:latin typeface="Helvetica"/>
                <a:cs typeface="Helvetica"/>
              </a:rPr>
              <a:t>ts:</a:t>
            </a:r>
            <a:endParaRPr sz="300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69722" y="4267220"/>
            <a:ext cx="0" cy="822325"/>
          </a:xfrm>
          <a:custGeom>
            <a:avLst/>
            <a:gdLst/>
            <a:ahLst/>
            <a:cxnLst/>
            <a:rect l="l" t="t" r="r" b="b"/>
            <a:pathLst>
              <a:path h="822325">
                <a:moveTo>
                  <a:pt x="0" y="822085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090817" y="3717223"/>
            <a:ext cx="0" cy="320675"/>
          </a:xfrm>
          <a:custGeom>
            <a:avLst/>
            <a:gdLst/>
            <a:ahLst/>
            <a:cxnLst/>
            <a:rect l="l" t="t" r="r" b="b"/>
            <a:pathLst>
              <a:path h="320675">
                <a:moveTo>
                  <a:pt x="0" y="320411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806089" y="3318989"/>
            <a:ext cx="0" cy="142240"/>
          </a:xfrm>
          <a:custGeom>
            <a:avLst/>
            <a:gdLst/>
            <a:ahLst/>
            <a:cxnLst/>
            <a:rect l="l" t="t" r="r" b="b"/>
            <a:pathLst>
              <a:path h="142239">
                <a:moveTo>
                  <a:pt x="0" y="142060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976849" y="1886163"/>
            <a:ext cx="0" cy="1268095"/>
          </a:xfrm>
          <a:custGeom>
            <a:avLst/>
            <a:gdLst/>
            <a:ahLst/>
            <a:cxnLst/>
            <a:rect l="l" t="t" r="r" b="b"/>
            <a:pathLst>
              <a:path h="1268095">
                <a:moveTo>
                  <a:pt x="0" y="1268060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635136" y="2618781"/>
            <a:ext cx="0" cy="535940"/>
          </a:xfrm>
          <a:custGeom>
            <a:avLst/>
            <a:gdLst/>
            <a:ahLst/>
            <a:cxnLst/>
            <a:rect l="l" t="t" r="r" b="b"/>
            <a:pathLst>
              <a:path h="535939">
                <a:moveTo>
                  <a:pt x="0" y="535442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749040" y="1886163"/>
            <a:ext cx="0" cy="568325"/>
          </a:xfrm>
          <a:custGeom>
            <a:avLst/>
            <a:gdLst/>
            <a:ahLst/>
            <a:cxnLst/>
            <a:rect l="l" t="t" r="r" b="b"/>
            <a:pathLst>
              <a:path h="568325">
                <a:moveTo>
                  <a:pt x="0" y="567852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521231" y="1886163"/>
            <a:ext cx="0" cy="568325"/>
          </a:xfrm>
          <a:custGeom>
            <a:avLst/>
            <a:gdLst/>
            <a:ahLst/>
            <a:cxnLst/>
            <a:rect l="l" t="t" r="r" b="b"/>
            <a:pathLst>
              <a:path h="568325">
                <a:moveTo>
                  <a:pt x="0" y="567852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122274" y="3177317"/>
            <a:ext cx="0" cy="283845"/>
          </a:xfrm>
          <a:custGeom>
            <a:avLst/>
            <a:gdLst/>
            <a:ahLst/>
            <a:cxnLst/>
            <a:rect l="l" t="t" r="r" b="b"/>
            <a:pathLst>
              <a:path h="283845">
                <a:moveTo>
                  <a:pt x="0" y="283732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293228" y="1886163"/>
            <a:ext cx="0" cy="1126490"/>
          </a:xfrm>
          <a:custGeom>
            <a:avLst/>
            <a:gdLst/>
            <a:ahLst/>
            <a:cxnLst/>
            <a:rect l="l" t="t" r="r" b="b"/>
            <a:pathLst>
              <a:path h="1126489">
                <a:moveTo>
                  <a:pt x="0" y="1126194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951515" y="2888152"/>
            <a:ext cx="0" cy="124460"/>
          </a:xfrm>
          <a:custGeom>
            <a:avLst/>
            <a:gdLst/>
            <a:ahLst/>
            <a:cxnLst/>
            <a:rect l="l" t="t" r="r" b="b"/>
            <a:pathLst>
              <a:path h="124460">
                <a:moveTo>
                  <a:pt x="0" y="124205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065419" y="1886163"/>
            <a:ext cx="0" cy="837565"/>
          </a:xfrm>
          <a:custGeom>
            <a:avLst/>
            <a:gdLst/>
            <a:ahLst/>
            <a:cxnLst/>
            <a:rect l="l" t="t" r="r" b="b"/>
            <a:pathLst>
              <a:path h="837564">
                <a:moveTo>
                  <a:pt x="0" y="837222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0837610" y="1886163"/>
            <a:ext cx="0" cy="837565"/>
          </a:xfrm>
          <a:custGeom>
            <a:avLst/>
            <a:gdLst/>
            <a:ahLst/>
            <a:cxnLst/>
            <a:rect l="l" t="t" r="r" b="b"/>
            <a:pathLst>
              <a:path h="837564">
                <a:moveTo>
                  <a:pt x="0" y="837222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717451" y="3493847"/>
            <a:ext cx="0" cy="59055"/>
          </a:xfrm>
          <a:custGeom>
            <a:avLst/>
            <a:gdLst/>
            <a:ahLst/>
            <a:cxnLst/>
            <a:rect l="l" t="t" r="r" b="b"/>
            <a:pathLst>
              <a:path h="59054">
                <a:moveTo>
                  <a:pt x="0" y="58609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813612" y="2899602"/>
            <a:ext cx="0" cy="429895"/>
          </a:xfrm>
          <a:custGeom>
            <a:avLst/>
            <a:gdLst/>
            <a:ahLst/>
            <a:cxnLst/>
            <a:rect l="l" t="t" r="r" b="b"/>
            <a:pathLst>
              <a:path h="429895">
                <a:moveTo>
                  <a:pt x="0" y="429479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609607" y="1891403"/>
            <a:ext cx="0" cy="349885"/>
          </a:xfrm>
          <a:custGeom>
            <a:avLst/>
            <a:gdLst/>
            <a:ahLst/>
            <a:cxnLst/>
            <a:rect l="l" t="t" r="r" b="b"/>
            <a:pathLst>
              <a:path h="349885">
                <a:moveTo>
                  <a:pt x="0" y="349716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0381798" y="1956223"/>
            <a:ext cx="0" cy="193675"/>
          </a:xfrm>
          <a:custGeom>
            <a:avLst/>
            <a:gdLst/>
            <a:ahLst/>
            <a:cxnLst/>
            <a:rect l="l" t="t" r="r" b="b"/>
            <a:pathLst>
              <a:path h="193675">
                <a:moveTo>
                  <a:pt x="0" y="193101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153795" y="1966896"/>
            <a:ext cx="0" cy="182880"/>
          </a:xfrm>
          <a:custGeom>
            <a:avLst/>
            <a:gdLst/>
            <a:ahLst/>
            <a:cxnLst/>
            <a:rect l="l" t="t" r="r" b="b"/>
            <a:pathLst>
              <a:path h="182880">
                <a:moveTo>
                  <a:pt x="0" y="182427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9925987" y="1886163"/>
            <a:ext cx="0" cy="524510"/>
          </a:xfrm>
          <a:custGeom>
            <a:avLst/>
            <a:gdLst/>
            <a:ahLst/>
            <a:cxnLst/>
            <a:rect l="l" t="t" r="r" b="b"/>
            <a:pathLst>
              <a:path h="524510">
                <a:moveTo>
                  <a:pt x="0" y="523992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9698177" y="1891403"/>
            <a:ext cx="0" cy="368300"/>
          </a:xfrm>
          <a:custGeom>
            <a:avLst/>
            <a:gdLst/>
            <a:ahLst/>
            <a:cxnLst/>
            <a:rect l="l" t="t" r="r" b="b"/>
            <a:pathLst>
              <a:path h="368300">
                <a:moveTo>
                  <a:pt x="0" y="367765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9470175" y="1891403"/>
            <a:ext cx="0" cy="368300"/>
          </a:xfrm>
          <a:custGeom>
            <a:avLst/>
            <a:gdLst/>
            <a:ahLst/>
            <a:cxnLst/>
            <a:rect l="l" t="t" r="r" b="b"/>
            <a:pathLst>
              <a:path h="368300">
                <a:moveTo>
                  <a:pt x="0" y="367765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9242366" y="1891403"/>
            <a:ext cx="0" cy="504825"/>
          </a:xfrm>
          <a:custGeom>
            <a:avLst/>
            <a:gdLst/>
            <a:ahLst/>
            <a:cxnLst/>
            <a:rect l="l" t="t" r="r" b="b"/>
            <a:pathLst>
              <a:path h="504825">
                <a:moveTo>
                  <a:pt x="0" y="504390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522944" y="2421605"/>
            <a:ext cx="14604" cy="0"/>
          </a:xfrm>
          <a:custGeom>
            <a:avLst/>
            <a:gdLst/>
            <a:ahLst/>
            <a:cxnLst/>
            <a:rect l="l" t="t" r="r" b="b"/>
            <a:pathLst>
              <a:path w="14604">
                <a:moveTo>
                  <a:pt x="0" y="0"/>
                </a:moveTo>
                <a:lnTo>
                  <a:pt x="14553" y="0"/>
                </a:lnTo>
              </a:path>
            </a:pathLst>
          </a:custGeom>
          <a:ln w="14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9014557" y="1940115"/>
            <a:ext cx="0" cy="220345"/>
          </a:xfrm>
          <a:custGeom>
            <a:avLst/>
            <a:gdLst/>
            <a:ahLst/>
            <a:cxnLst/>
            <a:rect l="l" t="t" r="r" b="b"/>
            <a:pathLst>
              <a:path h="220344">
                <a:moveTo>
                  <a:pt x="0" y="220271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786554" y="1956223"/>
            <a:ext cx="0" cy="151130"/>
          </a:xfrm>
          <a:custGeom>
            <a:avLst/>
            <a:gdLst/>
            <a:ahLst/>
            <a:cxnLst/>
            <a:rect l="l" t="t" r="r" b="b"/>
            <a:pathLst>
              <a:path h="151130">
                <a:moveTo>
                  <a:pt x="0" y="150599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558745" y="1875295"/>
            <a:ext cx="0" cy="231775"/>
          </a:xfrm>
          <a:custGeom>
            <a:avLst/>
            <a:gdLst/>
            <a:ahLst/>
            <a:cxnLst/>
            <a:rect l="l" t="t" r="r" b="b"/>
            <a:pathLst>
              <a:path h="231775">
                <a:moveTo>
                  <a:pt x="0" y="231527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330936" y="1848319"/>
            <a:ext cx="0" cy="376555"/>
          </a:xfrm>
          <a:custGeom>
            <a:avLst/>
            <a:gdLst/>
            <a:ahLst/>
            <a:cxnLst/>
            <a:rect l="l" t="t" r="r" b="b"/>
            <a:pathLst>
              <a:path h="376555">
                <a:moveTo>
                  <a:pt x="0" y="376498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102933" y="1869861"/>
            <a:ext cx="0" cy="335915"/>
          </a:xfrm>
          <a:custGeom>
            <a:avLst/>
            <a:gdLst/>
            <a:ahLst/>
            <a:cxnLst/>
            <a:rect l="l" t="t" r="r" b="b"/>
            <a:pathLst>
              <a:path h="335914">
                <a:moveTo>
                  <a:pt x="0" y="335549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875124" y="1891403"/>
            <a:ext cx="0" cy="521334"/>
          </a:xfrm>
          <a:custGeom>
            <a:avLst/>
            <a:gdLst/>
            <a:ahLst/>
            <a:cxnLst/>
            <a:rect l="l" t="t" r="r" b="b"/>
            <a:pathLst>
              <a:path h="521335">
                <a:moveTo>
                  <a:pt x="0" y="521275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647315" y="1886163"/>
            <a:ext cx="0" cy="514350"/>
          </a:xfrm>
          <a:custGeom>
            <a:avLst/>
            <a:gdLst/>
            <a:ahLst/>
            <a:cxnLst/>
            <a:rect l="l" t="t" r="r" b="b"/>
            <a:pathLst>
              <a:path h="514350">
                <a:moveTo>
                  <a:pt x="0" y="513900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419312" y="1886163"/>
            <a:ext cx="0" cy="514350"/>
          </a:xfrm>
          <a:custGeom>
            <a:avLst/>
            <a:gdLst/>
            <a:ahLst/>
            <a:cxnLst/>
            <a:rect l="l" t="t" r="r" b="b"/>
            <a:pathLst>
              <a:path h="514350">
                <a:moveTo>
                  <a:pt x="0" y="513900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191503" y="1886163"/>
            <a:ext cx="0" cy="651510"/>
          </a:xfrm>
          <a:custGeom>
            <a:avLst/>
            <a:gdLst/>
            <a:ahLst/>
            <a:cxnLst/>
            <a:rect l="l" t="t" r="r" b="b"/>
            <a:pathLst>
              <a:path h="651510">
                <a:moveTo>
                  <a:pt x="0" y="650914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963500" y="1896837"/>
            <a:ext cx="0" cy="828675"/>
          </a:xfrm>
          <a:custGeom>
            <a:avLst/>
            <a:gdLst/>
            <a:ahLst/>
            <a:cxnLst/>
            <a:rect l="l" t="t" r="r" b="b"/>
            <a:pathLst>
              <a:path h="828675">
                <a:moveTo>
                  <a:pt x="0" y="828101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874131" y="3104346"/>
            <a:ext cx="0" cy="90170"/>
          </a:xfrm>
          <a:custGeom>
            <a:avLst/>
            <a:gdLst/>
            <a:ahLst/>
            <a:cxnLst/>
            <a:rect l="l" t="t" r="r" b="b"/>
            <a:pathLst>
              <a:path h="90169">
                <a:moveTo>
                  <a:pt x="0" y="90049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735691" y="1886163"/>
            <a:ext cx="0" cy="829944"/>
          </a:xfrm>
          <a:custGeom>
            <a:avLst/>
            <a:gdLst/>
            <a:ahLst/>
            <a:cxnLst/>
            <a:rect l="l" t="t" r="r" b="b"/>
            <a:pathLst>
              <a:path h="829944">
                <a:moveTo>
                  <a:pt x="0" y="829848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507882" y="1886163"/>
            <a:ext cx="0" cy="606425"/>
          </a:xfrm>
          <a:custGeom>
            <a:avLst/>
            <a:gdLst/>
            <a:ahLst/>
            <a:cxnLst/>
            <a:rect l="l" t="t" r="r" b="b"/>
            <a:pathLst>
              <a:path h="606425">
                <a:moveTo>
                  <a:pt x="0" y="606278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279879" y="1886163"/>
            <a:ext cx="0" cy="606425"/>
          </a:xfrm>
          <a:custGeom>
            <a:avLst/>
            <a:gdLst/>
            <a:ahLst/>
            <a:cxnLst/>
            <a:rect l="l" t="t" r="r" b="b"/>
            <a:pathLst>
              <a:path h="606425">
                <a:moveTo>
                  <a:pt x="0" y="606278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052070" y="1886163"/>
            <a:ext cx="0" cy="767715"/>
          </a:xfrm>
          <a:custGeom>
            <a:avLst/>
            <a:gdLst/>
            <a:ahLst/>
            <a:cxnLst/>
            <a:rect l="l" t="t" r="r" b="b"/>
            <a:pathLst>
              <a:path h="767714">
                <a:moveTo>
                  <a:pt x="0" y="767357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824261" y="1886163"/>
            <a:ext cx="0" cy="950594"/>
          </a:xfrm>
          <a:custGeom>
            <a:avLst/>
            <a:gdLst/>
            <a:ahLst/>
            <a:cxnLst/>
            <a:rect l="l" t="t" r="r" b="b"/>
            <a:pathLst>
              <a:path h="950594">
                <a:moveTo>
                  <a:pt x="0" y="950366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596259" y="1886163"/>
            <a:ext cx="0" cy="1053465"/>
          </a:xfrm>
          <a:custGeom>
            <a:avLst/>
            <a:gdLst/>
            <a:ahLst/>
            <a:cxnLst/>
            <a:rect l="l" t="t" r="r" b="b"/>
            <a:pathLst>
              <a:path h="1053464">
                <a:moveTo>
                  <a:pt x="0" y="1053223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368450" y="1886163"/>
            <a:ext cx="0" cy="1308735"/>
          </a:xfrm>
          <a:custGeom>
            <a:avLst/>
            <a:gdLst/>
            <a:ahLst/>
            <a:cxnLst/>
            <a:rect l="l" t="t" r="r" b="b"/>
            <a:pathLst>
              <a:path h="1308735">
                <a:moveTo>
                  <a:pt x="0" y="1308233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648628" y="3695487"/>
            <a:ext cx="0" cy="342265"/>
          </a:xfrm>
          <a:custGeom>
            <a:avLst/>
            <a:gdLst/>
            <a:ahLst/>
            <a:cxnLst/>
            <a:rect l="l" t="t" r="r" b="b"/>
            <a:pathLst>
              <a:path h="342264">
                <a:moveTo>
                  <a:pt x="0" y="342147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221837" y="3137727"/>
            <a:ext cx="0" cy="393065"/>
          </a:xfrm>
          <a:custGeom>
            <a:avLst/>
            <a:gdLst/>
            <a:ahLst/>
            <a:cxnLst/>
            <a:rect l="l" t="t" r="r" b="b"/>
            <a:pathLst>
              <a:path h="393064">
                <a:moveTo>
                  <a:pt x="0" y="392994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442660" y="2916486"/>
            <a:ext cx="0" cy="56515"/>
          </a:xfrm>
          <a:custGeom>
            <a:avLst/>
            <a:gdLst/>
            <a:ahLst/>
            <a:cxnLst/>
            <a:rect l="l" t="t" r="r" b="b"/>
            <a:pathLst>
              <a:path h="56514">
                <a:moveTo>
                  <a:pt x="0" y="56281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026542" y="2419470"/>
            <a:ext cx="0" cy="108585"/>
          </a:xfrm>
          <a:custGeom>
            <a:avLst/>
            <a:gdLst/>
            <a:ahLst/>
            <a:cxnLst/>
            <a:rect l="l" t="t" r="r" b="b"/>
            <a:pathLst>
              <a:path h="108585">
                <a:moveTo>
                  <a:pt x="0" y="108292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140641" y="1886163"/>
            <a:ext cx="0" cy="368935"/>
          </a:xfrm>
          <a:custGeom>
            <a:avLst/>
            <a:gdLst/>
            <a:ahLst/>
            <a:cxnLst/>
            <a:rect l="l" t="t" r="r" b="b"/>
            <a:pathLst>
              <a:path h="368935">
                <a:moveTo>
                  <a:pt x="0" y="368347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912638" y="1886163"/>
            <a:ext cx="0" cy="368935"/>
          </a:xfrm>
          <a:custGeom>
            <a:avLst/>
            <a:gdLst/>
            <a:ahLst/>
            <a:cxnLst/>
            <a:rect l="l" t="t" r="r" b="b"/>
            <a:pathLst>
              <a:path h="368935">
                <a:moveTo>
                  <a:pt x="0" y="368347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684829" y="1886163"/>
            <a:ext cx="0" cy="641985"/>
          </a:xfrm>
          <a:custGeom>
            <a:avLst/>
            <a:gdLst/>
            <a:ahLst/>
            <a:cxnLst/>
            <a:rect l="l" t="t" r="r" b="b"/>
            <a:pathLst>
              <a:path h="641985">
                <a:moveTo>
                  <a:pt x="0" y="641599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456826" y="1886163"/>
            <a:ext cx="0" cy="754380"/>
          </a:xfrm>
          <a:custGeom>
            <a:avLst/>
            <a:gdLst/>
            <a:ahLst/>
            <a:cxnLst/>
            <a:rect l="l" t="t" r="r" b="b"/>
            <a:pathLst>
              <a:path h="754380">
                <a:moveTo>
                  <a:pt x="0" y="754160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229017" y="1880729"/>
            <a:ext cx="0" cy="876300"/>
          </a:xfrm>
          <a:custGeom>
            <a:avLst/>
            <a:gdLst/>
            <a:ahLst/>
            <a:cxnLst/>
            <a:rect l="l" t="t" r="r" b="b"/>
            <a:pathLst>
              <a:path h="876300">
                <a:moveTo>
                  <a:pt x="0" y="875842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001208" y="1886163"/>
            <a:ext cx="0" cy="1087120"/>
          </a:xfrm>
          <a:custGeom>
            <a:avLst/>
            <a:gdLst/>
            <a:ahLst/>
            <a:cxnLst/>
            <a:rect l="l" t="t" r="r" b="b"/>
            <a:pathLst>
              <a:path h="1087120">
                <a:moveTo>
                  <a:pt x="0" y="1086603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075419" y="3133845"/>
            <a:ext cx="0" cy="392430"/>
          </a:xfrm>
          <a:custGeom>
            <a:avLst/>
            <a:gdLst/>
            <a:ahLst/>
            <a:cxnLst/>
            <a:rect l="l" t="t" r="r" b="b"/>
            <a:pathLst>
              <a:path h="392429">
                <a:moveTo>
                  <a:pt x="0" y="392023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3289063" y="2746674"/>
            <a:ext cx="0" cy="212725"/>
          </a:xfrm>
          <a:custGeom>
            <a:avLst/>
            <a:gdLst/>
            <a:ahLst/>
            <a:cxnLst/>
            <a:rect l="l" t="t" r="r" b="b"/>
            <a:pathLst>
              <a:path h="212725">
                <a:moveTo>
                  <a:pt x="0" y="212120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3773205" y="1891403"/>
            <a:ext cx="0" cy="445134"/>
          </a:xfrm>
          <a:custGeom>
            <a:avLst/>
            <a:gdLst/>
            <a:ahLst/>
            <a:cxnLst/>
            <a:rect l="l" t="t" r="r" b="b"/>
            <a:pathLst>
              <a:path h="445135">
                <a:moveTo>
                  <a:pt x="0" y="444617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545396" y="1891403"/>
            <a:ext cx="0" cy="445134"/>
          </a:xfrm>
          <a:custGeom>
            <a:avLst/>
            <a:gdLst/>
            <a:ahLst/>
            <a:cxnLst/>
            <a:rect l="l" t="t" r="r" b="b"/>
            <a:pathLst>
              <a:path h="445135">
                <a:moveTo>
                  <a:pt x="0" y="444617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317587" y="1891403"/>
            <a:ext cx="0" cy="553085"/>
          </a:xfrm>
          <a:custGeom>
            <a:avLst/>
            <a:gdLst/>
            <a:ahLst/>
            <a:cxnLst/>
            <a:rect l="l" t="t" r="r" b="b"/>
            <a:pathLst>
              <a:path h="553085">
                <a:moveTo>
                  <a:pt x="0" y="552908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3089584" y="1891403"/>
            <a:ext cx="0" cy="680720"/>
          </a:xfrm>
          <a:custGeom>
            <a:avLst/>
            <a:gdLst/>
            <a:ahLst/>
            <a:cxnLst/>
            <a:rect l="l" t="t" r="r" b="b"/>
            <a:pathLst>
              <a:path h="680719">
                <a:moveTo>
                  <a:pt x="0" y="680219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2861775" y="1891403"/>
            <a:ext cx="0" cy="1067435"/>
          </a:xfrm>
          <a:custGeom>
            <a:avLst/>
            <a:gdLst/>
            <a:ahLst/>
            <a:cxnLst/>
            <a:rect l="l" t="t" r="r" b="b"/>
            <a:pathLst>
              <a:path h="1067435">
                <a:moveTo>
                  <a:pt x="0" y="1067390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09427" y="4019974"/>
            <a:ext cx="0" cy="1127760"/>
          </a:xfrm>
          <a:custGeom>
            <a:avLst/>
            <a:gdLst/>
            <a:ahLst/>
            <a:cxnLst/>
            <a:rect l="l" t="t" r="r" b="b"/>
            <a:pathLst>
              <a:path h="1127760">
                <a:moveTo>
                  <a:pt x="0" y="1127746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284286" y="3854431"/>
            <a:ext cx="14604" cy="0"/>
          </a:xfrm>
          <a:custGeom>
            <a:avLst/>
            <a:gdLst/>
            <a:ahLst/>
            <a:cxnLst/>
            <a:rect l="l" t="t" r="r" b="b"/>
            <a:pathLst>
              <a:path w="14605">
                <a:moveTo>
                  <a:pt x="0" y="0"/>
                </a:moveTo>
                <a:lnTo>
                  <a:pt x="14553" y="0"/>
                </a:lnTo>
              </a:path>
            </a:pathLst>
          </a:custGeom>
          <a:ln w="14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2213568" y="3590397"/>
            <a:ext cx="14604" cy="0"/>
          </a:xfrm>
          <a:custGeom>
            <a:avLst/>
            <a:gdLst/>
            <a:ahLst/>
            <a:cxnLst/>
            <a:rect l="l" t="t" r="r" b="b"/>
            <a:pathLst>
              <a:path w="14605">
                <a:moveTo>
                  <a:pt x="0" y="0"/>
                </a:moveTo>
                <a:lnTo>
                  <a:pt x="14553" y="0"/>
                </a:lnTo>
              </a:path>
            </a:pathLst>
          </a:custGeom>
          <a:ln w="14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2519868" y="2876119"/>
            <a:ext cx="0" cy="548005"/>
          </a:xfrm>
          <a:custGeom>
            <a:avLst/>
            <a:gdLst/>
            <a:ahLst/>
            <a:cxnLst/>
            <a:rect l="l" t="t" r="r" b="b"/>
            <a:pathLst>
              <a:path h="548004">
                <a:moveTo>
                  <a:pt x="0" y="547862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2633966" y="1886163"/>
            <a:ext cx="0" cy="825500"/>
          </a:xfrm>
          <a:custGeom>
            <a:avLst/>
            <a:gdLst/>
            <a:ahLst/>
            <a:cxnLst/>
            <a:rect l="l" t="t" r="r" b="b"/>
            <a:pathLst>
              <a:path h="825500">
                <a:moveTo>
                  <a:pt x="0" y="825190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2405963" y="1886163"/>
            <a:ext cx="0" cy="825500"/>
          </a:xfrm>
          <a:custGeom>
            <a:avLst/>
            <a:gdLst/>
            <a:ahLst/>
            <a:cxnLst/>
            <a:rect l="l" t="t" r="r" b="b"/>
            <a:pathLst>
              <a:path h="825500">
                <a:moveTo>
                  <a:pt x="0" y="825190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921821" y="3104152"/>
            <a:ext cx="0" cy="320040"/>
          </a:xfrm>
          <a:custGeom>
            <a:avLst/>
            <a:gdLst/>
            <a:ahLst/>
            <a:cxnLst/>
            <a:rect l="l" t="t" r="r" b="b"/>
            <a:pathLst>
              <a:path h="320039">
                <a:moveTo>
                  <a:pt x="0" y="319829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2178155" y="1886163"/>
            <a:ext cx="0" cy="1053465"/>
          </a:xfrm>
          <a:custGeom>
            <a:avLst/>
            <a:gdLst/>
            <a:ahLst/>
            <a:cxnLst/>
            <a:rect l="l" t="t" r="r" b="b"/>
            <a:pathLst>
              <a:path h="1053464">
                <a:moveTo>
                  <a:pt x="0" y="1053029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950346" y="1886163"/>
            <a:ext cx="0" cy="798195"/>
          </a:xfrm>
          <a:custGeom>
            <a:avLst/>
            <a:gdLst/>
            <a:ahLst/>
            <a:cxnLst/>
            <a:rect l="l" t="t" r="r" b="b"/>
            <a:pathLst>
              <a:path h="798194">
                <a:moveTo>
                  <a:pt x="0" y="798020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722343" y="1886163"/>
            <a:ext cx="0" cy="798195"/>
          </a:xfrm>
          <a:custGeom>
            <a:avLst/>
            <a:gdLst/>
            <a:ahLst/>
            <a:cxnLst/>
            <a:rect l="l" t="t" r="r" b="b"/>
            <a:pathLst>
              <a:path h="798194">
                <a:moveTo>
                  <a:pt x="0" y="798020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494534" y="1886163"/>
            <a:ext cx="0" cy="916305"/>
          </a:xfrm>
          <a:custGeom>
            <a:avLst/>
            <a:gdLst/>
            <a:ahLst/>
            <a:cxnLst/>
            <a:rect l="l" t="t" r="r" b="b"/>
            <a:pathLst>
              <a:path h="916305">
                <a:moveTo>
                  <a:pt x="0" y="916015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266531" y="1886163"/>
            <a:ext cx="0" cy="1706245"/>
          </a:xfrm>
          <a:custGeom>
            <a:avLst/>
            <a:gdLst/>
            <a:ahLst/>
            <a:cxnLst/>
            <a:rect l="l" t="t" r="r" b="b"/>
            <a:pathLst>
              <a:path h="1706245">
                <a:moveTo>
                  <a:pt x="0" y="1705884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839437" y="3553815"/>
            <a:ext cx="0" cy="135255"/>
          </a:xfrm>
          <a:custGeom>
            <a:avLst/>
            <a:gdLst/>
            <a:ahLst/>
            <a:cxnLst/>
            <a:rect l="l" t="t" r="r" b="b"/>
            <a:pathLst>
              <a:path h="135254">
                <a:moveTo>
                  <a:pt x="0" y="134879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1038722" y="1886163"/>
            <a:ext cx="0" cy="1503045"/>
          </a:xfrm>
          <a:custGeom>
            <a:avLst/>
            <a:gdLst/>
            <a:ahLst/>
            <a:cxnLst/>
            <a:rect l="l" t="t" r="r" b="b"/>
            <a:pathLst>
              <a:path h="1503045">
                <a:moveTo>
                  <a:pt x="0" y="1502886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639959" y="2967720"/>
            <a:ext cx="0" cy="421640"/>
          </a:xfrm>
          <a:custGeom>
            <a:avLst/>
            <a:gdLst/>
            <a:ahLst/>
            <a:cxnLst/>
            <a:rect l="l" t="t" r="r" b="b"/>
            <a:pathLst>
              <a:path h="421639">
                <a:moveTo>
                  <a:pt x="0" y="421328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810913" y="1886163"/>
            <a:ext cx="0" cy="916940"/>
          </a:xfrm>
          <a:custGeom>
            <a:avLst/>
            <a:gdLst/>
            <a:ahLst/>
            <a:cxnLst/>
            <a:rect l="l" t="t" r="r" b="b"/>
            <a:pathLst>
              <a:path h="916939">
                <a:moveTo>
                  <a:pt x="0" y="916597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582910" y="1886163"/>
            <a:ext cx="0" cy="755650"/>
          </a:xfrm>
          <a:custGeom>
            <a:avLst/>
            <a:gdLst/>
            <a:ahLst/>
            <a:cxnLst/>
            <a:rect l="l" t="t" r="r" b="b"/>
            <a:pathLst>
              <a:path h="755650">
                <a:moveTo>
                  <a:pt x="0" y="755130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355101" y="1886163"/>
            <a:ext cx="0" cy="755650"/>
          </a:xfrm>
          <a:custGeom>
            <a:avLst/>
            <a:gdLst/>
            <a:ahLst/>
            <a:cxnLst/>
            <a:rect l="l" t="t" r="r" b="b"/>
            <a:pathLst>
              <a:path h="755650">
                <a:moveTo>
                  <a:pt x="0" y="755130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127292" y="1886163"/>
            <a:ext cx="0" cy="1969135"/>
          </a:xfrm>
          <a:custGeom>
            <a:avLst/>
            <a:gdLst/>
            <a:ahLst/>
            <a:cxnLst/>
            <a:rect l="l" t="t" r="r" b="b"/>
            <a:pathLst>
              <a:path h="1969135">
                <a:moveTo>
                  <a:pt x="0" y="1969044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3637179" y="5205941"/>
            <a:ext cx="2628265" cy="0"/>
          </a:xfrm>
          <a:custGeom>
            <a:avLst/>
            <a:gdLst/>
            <a:ahLst/>
            <a:cxnLst/>
            <a:rect l="l" t="t" r="r" b="b"/>
            <a:pathLst>
              <a:path w="2628265">
                <a:moveTo>
                  <a:pt x="0" y="0"/>
                </a:moveTo>
                <a:lnTo>
                  <a:pt x="2627952" y="0"/>
                </a:lnTo>
              </a:path>
            </a:pathLst>
          </a:custGeom>
          <a:ln w="14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800046" y="5205941"/>
            <a:ext cx="2628265" cy="0"/>
          </a:xfrm>
          <a:custGeom>
            <a:avLst/>
            <a:gdLst/>
            <a:ahLst/>
            <a:cxnLst/>
            <a:rect l="l" t="t" r="r" b="b"/>
            <a:pathLst>
              <a:path w="2628265">
                <a:moveTo>
                  <a:pt x="0" y="0"/>
                </a:moveTo>
                <a:lnTo>
                  <a:pt x="2627952" y="0"/>
                </a:lnTo>
              </a:path>
            </a:pathLst>
          </a:custGeom>
          <a:ln w="14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6467327" y="4095855"/>
            <a:ext cx="2519045" cy="0"/>
          </a:xfrm>
          <a:custGeom>
            <a:avLst/>
            <a:gdLst/>
            <a:ahLst/>
            <a:cxnLst/>
            <a:rect l="l" t="t" r="r" b="b"/>
            <a:pathLst>
              <a:path w="2519045">
                <a:moveTo>
                  <a:pt x="0" y="0"/>
                </a:moveTo>
                <a:lnTo>
                  <a:pt x="2518899" y="0"/>
                </a:lnTo>
              </a:path>
            </a:pathLst>
          </a:custGeom>
          <a:ln w="14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3739247" y="4095855"/>
            <a:ext cx="2519045" cy="0"/>
          </a:xfrm>
          <a:custGeom>
            <a:avLst/>
            <a:gdLst/>
            <a:ahLst/>
            <a:cxnLst/>
            <a:rect l="l" t="t" r="r" b="b"/>
            <a:pathLst>
              <a:path w="2519045">
                <a:moveTo>
                  <a:pt x="0" y="0"/>
                </a:moveTo>
                <a:lnTo>
                  <a:pt x="2518898" y="0"/>
                </a:lnTo>
              </a:path>
            </a:pathLst>
          </a:custGeom>
          <a:ln w="14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9188421" y="3610484"/>
            <a:ext cx="2164715" cy="0"/>
          </a:xfrm>
          <a:custGeom>
            <a:avLst/>
            <a:gdLst/>
            <a:ahLst/>
            <a:cxnLst/>
            <a:rect l="l" t="t" r="r" b="b"/>
            <a:pathLst>
              <a:path w="2164715">
                <a:moveTo>
                  <a:pt x="0" y="0"/>
                </a:moveTo>
                <a:lnTo>
                  <a:pt x="2164185" y="0"/>
                </a:lnTo>
              </a:path>
            </a:pathLst>
          </a:custGeom>
          <a:ln w="14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6808070" y="3610484"/>
            <a:ext cx="2171700" cy="0"/>
          </a:xfrm>
          <a:custGeom>
            <a:avLst/>
            <a:gdLst/>
            <a:ahLst/>
            <a:cxnLst/>
            <a:rect l="l" t="t" r="r" b="b"/>
            <a:pathLst>
              <a:path w="2171700">
                <a:moveTo>
                  <a:pt x="0" y="0"/>
                </a:moveTo>
                <a:lnTo>
                  <a:pt x="2171170" y="0"/>
                </a:lnTo>
              </a:path>
            </a:pathLst>
          </a:custGeom>
          <a:ln w="14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11561787" y="3519270"/>
            <a:ext cx="140335" cy="0"/>
          </a:xfrm>
          <a:custGeom>
            <a:avLst/>
            <a:gdLst/>
            <a:ahLst/>
            <a:cxnLst/>
            <a:rect l="l" t="t" r="r" b="b"/>
            <a:pathLst>
              <a:path w="140334">
                <a:moveTo>
                  <a:pt x="0" y="0"/>
                </a:moveTo>
                <a:lnTo>
                  <a:pt x="139712" y="0"/>
                </a:lnTo>
              </a:path>
            </a:pathLst>
          </a:custGeom>
          <a:ln w="14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11213088" y="3519270"/>
            <a:ext cx="139700" cy="0"/>
          </a:xfrm>
          <a:custGeom>
            <a:avLst/>
            <a:gdLst/>
            <a:ahLst/>
            <a:cxnLst/>
            <a:rect l="l" t="t" r="r" b="b"/>
            <a:pathLst>
              <a:path w="139700">
                <a:moveTo>
                  <a:pt x="0" y="0"/>
                </a:moveTo>
                <a:lnTo>
                  <a:pt x="139518" y="0"/>
                </a:lnTo>
              </a:path>
            </a:pathLst>
          </a:custGeom>
          <a:ln w="14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6815056" y="3387108"/>
            <a:ext cx="894080" cy="0"/>
          </a:xfrm>
          <a:custGeom>
            <a:avLst/>
            <a:gdLst/>
            <a:ahLst/>
            <a:cxnLst/>
            <a:rect l="l" t="t" r="r" b="b"/>
            <a:pathLst>
              <a:path w="894079">
                <a:moveTo>
                  <a:pt x="0" y="0"/>
                </a:moveTo>
                <a:lnTo>
                  <a:pt x="893965" y="0"/>
                </a:lnTo>
              </a:path>
            </a:pathLst>
          </a:custGeom>
          <a:ln w="14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5711910" y="3387108"/>
            <a:ext cx="894080" cy="0"/>
          </a:xfrm>
          <a:custGeom>
            <a:avLst/>
            <a:gdLst/>
            <a:ahLst/>
            <a:cxnLst/>
            <a:rect l="l" t="t" r="r" b="b"/>
            <a:pathLst>
              <a:path w="894079">
                <a:moveTo>
                  <a:pt x="0" y="0"/>
                </a:moveTo>
                <a:lnTo>
                  <a:pt x="893965" y="0"/>
                </a:lnTo>
              </a:path>
            </a:pathLst>
          </a:custGeom>
          <a:ln w="14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7911217" y="2792863"/>
            <a:ext cx="648335" cy="0"/>
          </a:xfrm>
          <a:custGeom>
            <a:avLst/>
            <a:gdLst/>
            <a:ahLst/>
            <a:cxnLst/>
            <a:rect l="l" t="t" r="r" b="b"/>
            <a:pathLst>
              <a:path w="648334">
                <a:moveTo>
                  <a:pt x="0" y="0"/>
                </a:moveTo>
                <a:lnTo>
                  <a:pt x="647916" y="0"/>
                </a:lnTo>
              </a:path>
            </a:pathLst>
          </a:custGeom>
          <a:ln w="14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7054314" y="2792863"/>
            <a:ext cx="648335" cy="0"/>
          </a:xfrm>
          <a:custGeom>
            <a:avLst/>
            <a:gdLst/>
            <a:ahLst/>
            <a:cxnLst/>
            <a:rect l="l" t="t" r="r" b="b"/>
            <a:pathLst>
              <a:path w="648334">
                <a:moveTo>
                  <a:pt x="0" y="0"/>
                </a:moveTo>
                <a:lnTo>
                  <a:pt x="647722" y="0"/>
                </a:lnTo>
              </a:path>
            </a:pathLst>
          </a:custGeom>
          <a:ln w="14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8761328" y="2659924"/>
            <a:ext cx="932180" cy="0"/>
          </a:xfrm>
          <a:custGeom>
            <a:avLst/>
            <a:gdLst/>
            <a:ahLst/>
            <a:cxnLst/>
            <a:rect l="l" t="t" r="r" b="b"/>
            <a:pathLst>
              <a:path w="932179">
                <a:moveTo>
                  <a:pt x="0" y="0"/>
                </a:moveTo>
                <a:lnTo>
                  <a:pt x="931998" y="0"/>
                </a:lnTo>
              </a:path>
            </a:pathLst>
          </a:custGeom>
          <a:ln w="14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7958563" y="2659924"/>
            <a:ext cx="593725" cy="0"/>
          </a:xfrm>
          <a:custGeom>
            <a:avLst/>
            <a:gdLst/>
            <a:ahLst/>
            <a:cxnLst/>
            <a:rect l="l" t="t" r="r" b="b"/>
            <a:pathLst>
              <a:path w="593725">
                <a:moveTo>
                  <a:pt x="0" y="0"/>
                </a:moveTo>
                <a:lnTo>
                  <a:pt x="593583" y="0"/>
                </a:lnTo>
              </a:path>
            </a:pathLst>
          </a:custGeom>
          <a:ln w="14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7627329" y="2659924"/>
            <a:ext cx="136525" cy="0"/>
          </a:xfrm>
          <a:custGeom>
            <a:avLst/>
            <a:gdLst/>
            <a:ahLst/>
            <a:cxnLst/>
            <a:rect l="l" t="t" r="r" b="b"/>
            <a:pathLst>
              <a:path w="136525">
                <a:moveTo>
                  <a:pt x="0" y="0"/>
                </a:moveTo>
                <a:lnTo>
                  <a:pt x="136025" y="0"/>
                </a:lnTo>
              </a:path>
            </a:pathLst>
          </a:custGeom>
          <a:ln w="14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10016606" y="2524656"/>
            <a:ext cx="54610" cy="0"/>
          </a:xfrm>
          <a:custGeom>
            <a:avLst/>
            <a:gdLst/>
            <a:ahLst/>
            <a:cxnLst/>
            <a:rect l="l" t="t" r="r" b="b"/>
            <a:pathLst>
              <a:path w="54609">
                <a:moveTo>
                  <a:pt x="0" y="0"/>
                </a:moveTo>
                <a:lnTo>
                  <a:pt x="54138" y="0"/>
                </a:lnTo>
              </a:path>
            </a:pathLst>
          </a:custGeom>
          <a:ln w="14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9680616" y="2517378"/>
            <a:ext cx="0" cy="14604"/>
          </a:xfrm>
          <a:custGeom>
            <a:avLst/>
            <a:gdLst/>
            <a:ahLst/>
            <a:cxnLst/>
            <a:rect l="l" t="t" r="r" b="b"/>
            <a:pathLst>
              <a:path h="14605">
                <a:moveTo>
                  <a:pt x="0" y="14555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10279925" y="2468376"/>
            <a:ext cx="54610" cy="0"/>
          </a:xfrm>
          <a:custGeom>
            <a:avLst/>
            <a:gdLst/>
            <a:ahLst/>
            <a:cxnLst/>
            <a:rect l="l" t="t" r="r" b="b"/>
            <a:pathLst>
              <a:path w="54609">
                <a:moveTo>
                  <a:pt x="0" y="0"/>
                </a:moveTo>
                <a:lnTo>
                  <a:pt x="54332" y="0"/>
                </a:lnTo>
              </a:path>
            </a:pathLst>
          </a:custGeom>
          <a:ln w="14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10016606" y="2468376"/>
            <a:ext cx="54610" cy="0"/>
          </a:xfrm>
          <a:custGeom>
            <a:avLst/>
            <a:gdLst/>
            <a:ahLst/>
            <a:cxnLst/>
            <a:rect l="l" t="t" r="r" b="b"/>
            <a:pathLst>
              <a:path w="54609">
                <a:moveTo>
                  <a:pt x="0" y="0"/>
                </a:moveTo>
                <a:lnTo>
                  <a:pt x="54138" y="0"/>
                </a:lnTo>
              </a:path>
            </a:pathLst>
          </a:custGeom>
          <a:ln w="14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7627329" y="2595298"/>
            <a:ext cx="129539" cy="0"/>
          </a:xfrm>
          <a:custGeom>
            <a:avLst/>
            <a:gdLst/>
            <a:ahLst/>
            <a:cxnLst/>
            <a:rect l="l" t="t" r="r" b="b"/>
            <a:pathLst>
              <a:path w="129540">
                <a:moveTo>
                  <a:pt x="0" y="0"/>
                </a:moveTo>
                <a:lnTo>
                  <a:pt x="129040" y="0"/>
                </a:lnTo>
              </a:path>
            </a:pathLst>
          </a:custGeom>
          <a:ln w="14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7282122" y="2595298"/>
            <a:ext cx="136525" cy="0"/>
          </a:xfrm>
          <a:custGeom>
            <a:avLst/>
            <a:gdLst/>
            <a:ahLst/>
            <a:cxnLst/>
            <a:rect l="l" t="t" r="r" b="b"/>
            <a:pathLst>
              <a:path w="136525">
                <a:moveTo>
                  <a:pt x="0" y="0"/>
                </a:moveTo>
                <a:lnTo>
                  <a:pt x="136025" y="0"/>
                </a:lnTo>
              </a:path>
            </a:pathLst>
          </a:custGeom>
          <a:ln w="14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7965549" y="2535719"/>
            <a:ext cx="125730" cy="0"/>
          </a:xfrm>
          <a:custGeom>
            <a:avLst/>
            <a:gdLst/>
            <a:ahLst/>
            <a:cxnLst/>
            <a:rect l="l" t="t" r="r" b="b"/>
            <a:pathLst>
              <a:path w="125729">
                <a:moveTo>
                  <a:pt x="0" y="0"/>
                </a:moveTo>
                <a:lnTo>
                  <a:pt x="125547" y="0"/>
                </a:lnTo>
              </a:path>
            </a:pathLst>
          </a:custGeom>
          <a:ln w="14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7737934" y="2535718"/>
            <a:ext cx="19050" cy="0"/>
          </a:xfrm>
          <a:custGeom>
            <a:avLst/>
            <a:gdLst/>
            <a:ahLst/>
            <a:cxnLst/>
            <a:rect l="l" t="t" r="r" b="b"/>
            <a:pathLst>
              <a:path w="19050">
                <a:moveTo>
                  <a:pt x="0" y="0"/>
                </a:moveTo>
                <a:lnTo>
                  <a:pt x="18433" y="0"/>
                </a:lnTo>
              </a:path>
            </a:pathLst>
          </a:custGeom>
          <a:ln w="14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8300277" y="2475751"/>
            <a:ext cx="125730" cy="0"/>
          </a:xfrm>
          <a:custGeom>
            <a:avLst/>
            <a:gdLst/>
            <a:ahLst/>
            <a:cxnLst/>
            <a:rect l="l" t="t" r="r" b="b"/>
            <a:pathLst>
              <a:path w="125729">
                <a:moveTo>
                  <a:pt x="0" y="0"/>
                </a:moveTo>
                <a:lnTo>
                  <a:pt x="125353" y="0"/>
                </a:lnTo>
              </a:path>
            </a:pathLst>
          </a:custGeom>
          <a:ln w="14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7965744" y="2475751"/>
            <a:ext cx="125730" cy="0"/>
          </a:xfrm>
          <a:custGeom>
            <a:avLst/>
            <a:gdLst/>
            <a:ahLst/>
            <a:cxnLst/>
            <a:rect l="l" t="t" r="r" b="b"/>
            <a:pathLst>
              <a:path w="125729">
                <a:moveTo>
                  <a:pt x="0" y="0"/>
                </a:moveTo>
                <a:lnTo>
                  <a:pt x="125352" y="0"/>
                </a:lnTo>
              </a:path>
            </a:pathLst>
          </a:custGeom>
          <a:ln w="14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8627825" y="2320106"/>
            <a:ext cx="111760" cy="0"/>
          </a:xfrm>
          <a:custGeom>
            <a:avLst/>
            <a:gdLst/>
            <a:ahLst/>
            <a:cxnLst/>
            <a:rect l="l" t="t" r="r" b="b"/>
            <a:pathLst>
              <a:path w="111759">
                <a:moveTo>
                  <a:pt x="0" y="0"/>
                </a:moveTo>
                <a:lnTo>
                  <a:pt x="111188" y="0"/>
                </a:lnTo>
              </a:path>
            </a:pathLst>
          </a:custGeom>
          <a:ln w="14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8307651" y="2320106"/>
            <a:ext cx="111125" cy="0"/>
          </a:xfrm>
          <a:custGeom>
            <a:avLst/>
            <a:gdLst/>
            <a:ahLst/>
            <a:cxnLst/>
            <a:rect l="l" t="t" r="r" b="b"/>
            <a:pathLst>
              <a:path w="111125">
                <a:moveTo>
                  <a:pt x="0" y="0"/>
                </a:moveTo>
                <a:lnTo>
                  <a:pt x="110993" y="0"/>
                </a:lnTo>
              </a:path>
            </a:pathLst>
          </a:custGeom>
          <a:ln w="14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5718895" y="3252617"/>
            <a:ext cx="50800" cy="0"/>
          </a:xfrm>
          <a:custGeom>
            <a:avLst/>
            <a:gdLst/>
            <a:ahLst/>
            <a:cxnLst/>
            <a:rect l="l" t="t" r="r" b="b"/>
            <a:pathLst>
              <a:path w="50800">
                <a:moveTo>
                  <a:pt x="0" y="0"/>
                </a:moveTo>
                <a:lnTo>
                  <a:pt x="50645" y="0"/>
                </a:lnTo>
              </a:path>
            </a:pathLst>
          </a:custGeom>
          <a:ln w="14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5459069" y="3252617"/>
            <a:ext cx="50800" cy="0"/>
          </a:xfrm>
          <a:custGeom>
            <a:avLst/>
            <a:gdLst/>
            <a:ahLst/>
            <a:cxnLst/>
            <a:rect l="l" t="t" r="r" b="b"/>
            <a:pathLst>
              <a:path w="50800">
                <a:moveTo>
                  <a:pt x="0" y="0"/>
                </a:moveTo>
                <a:lnTo>
                  <a:pt x="50645" y="0"/>
                </a:lnTo>
              </a:path>
            </a:pathLst>
          </a:custGeom>
          <a:ln w="14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5971736" y="2997607"/>
            <a:ext cx="75565" cy="0"/>
          </a:xfrm>
          <a:custGeom>
            <a:avLst/>
            <a:gdLst/>
            <a:ahLst/>
            <a:cxnLst/>
            <a:rect l="l" t="t" r="r" b="b"/>
            <a:pathLst>
              <a:path w="75564">
                <a:moveTo>
                  <a:pt x="0" y="0"/>
                </a:moveTo>
                <a:lnTo>
                  <a:pt x="75483" y="0"/>
                </a:lnTo>
              </a:path>
            </a:pathLst>
          </a:custGeom>
          <a:ln w="14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5686878" y="2997607"/>
            <a:ext cx="76200" cy="0"/>
          </a:xfrm>
          <a:custGeom>
            <a:avLst/>
            <a:gdLst/>
            <a:ahLst/>
            <a:cxnLst/>
            <a:rect l="l" t="t" r="r" b="b"/>
            <a:pathLst>
              <a:path w="76200">
                <a:moveTo>
                  <a:pt x="0" y="0"/>
                </a:moveTo>
                <a:lnTo>
                  <a:pt x="75677" y="0"/>
                </a:lnTo>
              </a:path>
            </a:pathLst>
          </a:custGeom>
          <a:ln w="14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6249414" y="2894750"/>
            <a:ext cx="125730" cy="0"/>
          </a:xfrm>
          <a:custGeom>
            <a:avLst/>
            <a:gdLst/>
            <a:ahLst/>
            <a:cxnLst/>
            <a:rect l="l" t="t" r="r" b="b"/>
            <a:pathLst>
              <a:path w="125729">
                <a:moveTo>
                  <a:pt x="0" y="0"/>
                </a:moveTo>
                <a:lnTo>
                  <a:pt x="125353" y="0"/>
                </a:lnTo>
              </a:path>
            </a:pathLst>
          </a:custGeom>
          <a:ln w="14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5914881" y="2894750"/>
            <a:ext cx="125730" cy="0"/>
          </a:xfrm>
          <a:custGeom>
            <a:avLst/>
            <a:gdLst/>
            <a:ahLst/>
            <a:cxnLst/>
            <a:rect l="l" t="t" r="r" b="b"/>
            <a:pathLst>
              <a:path w="125729">
                <a:moveTo>
                  <a:pt x="0" y="0"/>
                </a:moveTo>
                <a:lnTo>
                  <a:pt x="125352" y="0"/>
                </a:lnTo>
              </a:path>
            </a:pathLst>
          </a:custGeom>
          <a:ln w="14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6576962" y="2774232"/>
            <a:ext cx="54610" cy="0"/>
          </a:xfrm>
          <a:custGeom>
            <a:avLst/>
            <a:gdLst/>
            <a:ahLst/>
            <a:cxnLst/>
            <a:rect l="l" t="t" r="r" b="b"/>
            <a:pathLst>
              <a:path w="54609">
                <a:moveTo>
                  <a:pt x="0" y="0"/>
                </a:moveTo>
                <a:lnTo>
                  <a:pt x="54138" y="0"/>
                </a:lnTo>
              </a:path>
            </a:pathLst>
          </a:custGeom>
          <a:ln w="14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3746233" y="3588942"/>
            <a:ext cx="371475" cy="0"/>
          </a:xfrm>
          <a:custGeom>
            <a:avLst/>
            <a:gdLst/>
            <a:ahLst/>
            <a:cxnLst/>
            <a:rect l="l" t="t" r="r" b="b"/>
            <a:pathLst>
              <a:path w="371475">
                <a:moveTo>
                  <a:pt x="0" y="0"/>
                </a:moveTo>
                <a:lnTo>
                  <a:pt x="371208" y="0"/>
                </a:lnTo>
              </a:path>
            </a:pathLst>
          </a:custGeom>
          <a:ln w="14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3166038" y="3588942"/>
            <a:ext cx="371475" cy="0"/>
          </a:xfrm>
          <a:custGeom>
            <a:avLst/>
            <a:gdLst/>
            <a:ahLst/>
            <a:cxnLst/>
            <a:rect l="l" t="t" r="r" b="b"/>
            <a:pathLst>
              <a:path w="371475">
                <a:moveTo>
                  <a:pt x="0" y="0"/>
                </a:moveTo>
                <a:lnTo>
                  <a:pt x="371013" y="0"/>
                </a:lnTo>
              </a:path>
            </a:pathLst>
          </a:custGeom>
          <a:ln w="14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4319442" y="3030988"/>
            <a:ext cx="19050" cy="0"/>
          </a:xfrm>
          <a:custGeom>
            <a:avLst/>
            <a:gdLst/>
            <a:ahLst/>
            <a:cxnLst/>
            <a:rect l="l" t="t" r="r" b="b"/>
            <a:pathLst>
              <a:path w="19050">
                <a:moveTo>
                  <a:pt x="0" y="0"/>
                </a:moveTo>
                <a:lnTo>
                  <a:pt x="18628" y="0"/>
                </a:lnTo>
              </a:path>
            </a:pathLst>
          </a:custGeom>
          <a:ln w="14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4091827" y="3030988"/>
            <a:ext cx="19050" cy="0"/>
          </a:xfrm>
          <a:custGeom>
            <a:avLst/>
            <a:gdLst/>
            <a:ahLst/>
            <a:cxnLst/>
            <a:rect l="l" t="t" r="r" b="b"/>
            <a:pathLst>
              <a:path w="19050">
                <a:moveTo>
                  <a:pt x="0" y="0"/>
                </a:moveTo>
                <a:lnTo>
                  <a:pt x="18434" y="0"/>
                </a:lnTo>
              </a:path>
            </a:pathLst>
          </a:custGeom>
          <a:ln w="14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4545990" y="2802663"/>
            <a:ext cx="0" cy="14604"/>
          </a:xfrm>
          <a:custGeom>
            <a:avLst/>
            <a:gdLst/>
            <a:ahLst/>
            <a:cxnLst/>
            <a:rect l="l" t="t" r="r" b="b"/>
            <a:pathLst>
              <a:path h="14605">
                <a:moveTo>
                  <a:pt x="0" y="14555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4325360" y="2802663"/>
            <a:ext cx="0" cy="14604"/>
          </a:xfrm>
          <a:custGeom>
            <a:avLst/>
            <a:gdLst/>
            <a:ahLst/>
            <a:cxnLst/>
            <a:rect l="l" t="t" r="r" b="b"/>
            <a:pathLst>
              <a:path h="14605">
                <a:moveTo>
                  <a:pt x="0" y="14555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3178748" y="3014589"/>
            <a:ext cx="0" cy="14604"/>
          </a:xfrm>
          <a:custGeom>
            <a:avLst/>
            <a:gdLst/>
            <a:ahLst/>
            <a:cxnLst/>
            <a:rect l="l" t="t" r="r" b="b"/>
            <a:pathLst>
              <a:path h="14605">
                <a:moveTo>
                  <a:pt x="0" y="14555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2958119" y="3014589"/>
            <a:ext cx="0" cy="14604"/>
          </a:xfrm>
          <a:custGeom>
            <a:avLst/>
            <a:gdLst/>
            <a:ahLst/>
            <a:cxnLst/>
            <a:rect l="l" t="t" r="r" b="b"/>
            <a:pathLst>
              <a:path h="14605">
                <a:moveTo>
                  <a:pt x="0" y="14555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807032" y="3913235"/>
            <a:ext cx="380365" cy="0"/>
          </a:xfrm>
          <a:custGeom>
            <a:avLst/>
            <a:gdLst/>
            <a:ahLst/>
            <a:cxnLst/>
            <a:rect l="l" t="t" r="r" b="b"/>
            <a:pathLst>
              <a:path w="380365">
                <a:moveTo>
                  <a:pt x="0" y="0"/>
                </a:moveTo>
                <a:lnTo>
                  <a:pt x="379940" y="0"/>
                </a:lnTo>
              </a:path>
            </a:pathLst>
          </a:custGeom>
          <a:ln w="14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217911" y="3913235"/>
            <a:ext cx="380365" cy="0"/>
          </a:xfrm>
          <a:custGeom>
            <a:avLst/>
            <a:gdLst/>
            <a:ahLst/>
            <a:cxnLst/>
            <a:rect l="l" t="t" r="r" b="b"/>
            <a:pathLst>
              <a:path w="380365">
                <a:moveTo>
                  <a:pt x="0" y="0"/>
                </a:moveTo>
                <a:lnTo>
                  <a:pt x="379940" y="0"/>
                </a:lnTo>
              </a:path>
            </a:pathLst>
          </a:custGeom>
          <a:ln w="14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1389167" y="3746916"/>
            <a:ext cx="250190" cy="0"/>
          </a:xfrm>
          <a:custGeom>
            <a:avLst/>
            <a:gdLst/>
            <a:ahLst/>
            <a:cxnLst/>
            <a:rect l="l" t="t" r="r" b="b"/>
            <a:pathLst>
              <a:path w="250189">
                <a:moveTo>
                  <a:pt x="0" y="0"/>
                </a:moveTo>
                <a:lnTo>
                  <a:pt x="249930" y="0"/>
                </a:lnTo>
              </a:path>
            </a:pathLst>
          </a:custGeom>
          <a:ln w="14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930057" y="3746916"/>
            <a:ext cx="250190" cy="0"/>
          </a:xfrm>
          <a:custGeom>
            <a:avLst/>
            <a:gdLst/>
            <a:ahLst/>
            <a:cxnLst/>
            <a:rect l="l" t="t" r="r" b="b"/>
            <a:pathLst>
              <a:path w="250190">
                <a:moveTo>
                  <a:pt x="0" y="0"/>
                </a:moveTo>
                <a:lnTo>
                  <a:pt x="249929" y="0"/>
                </a:lnTo>
              </a:path>
            </a:pathLst>
          </a:custGeom>
          <a:ln w="14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1841292" y="3650268"/>
            <a:ext cx="274955" cy="0"/>
          </a:xfrm>
          <a:custGeom>
            <a:avLst/>
            <a:gdLst/>
            <a:ahLst/>
            <a:cxnLst/>
            <a:rect l="l" t="t" r="r" b="b"/>
            <a:pathLst>
              <a:path w="274955">
                <a:moveTo>
                  <a:pt x="0" y="0"/>
                </a:moveTo>
                <a:lnTo>
                  <a:pt x="274962" y="0"/>
                </a:lnTo>
              </a:path>
            </a:pathLst>
          </a:custGeom>
          <a:ln w="14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1357344" y="3650268"/>
            <a:ext cx="274955" cy="0"/>
          </a:xfrm>
          <a:custGeom>
            <a:avLst/>
            <a:gdLst/>
            <a:ahLst/>
            <a:cxnLst/>
            <a:rect l="l" t="t" r="r" b="b"/>
            <a:pathLst>
              <a:path w="274955">
                <a:moveTo>
                  <a:pt x="0" y="0"/>
                </a:moveTo>
                <a:lnTo>
                  <a:pt x="274767" y="0"/>
                </a:lnTo>
              </a:path>
            </a:pathLst>
          </a:custGeom>
          <a:ln w="14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2318449" y="3482203"/>
            <a:ext cx="97155" cy="0"/>
          </a:xfrm>
          <a:custGeom>
            <a:avLst/>
            <a:gdLst/>
            <a:ahLst/>
            <a:cxnLst/>
            <a:rect l="l" t="t" r="r" b="b"/>
            <a:pathLst>
              <a:path w="97155">
                <a:moveTo>
                  <a:pt x="0" y="0"/>
                </a:moveTo>
                <a:lnTo>
                  <a:pt x="97022" y="0"/>
                </a:lnTo>
              </a:path>
            </a:pathLst>
          </a:custGeom>
          <a:ln w="14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2012440" y="3482203"/>
            <a:ext cx="97155" cy="0"/>
          </a:xfrm>
          <a:custGeom>
            <a:avLst/>
            <a:gdLst/>
            <a:ahLst/>
            <a:cxnLst/>
            <a:rect l="l" t="t" r="r" b="b"/>
            <a:pathLst>
              <a:path w="97155">
                <a:moveTo>
                  <a:pt x="0" y="0"/>
                </a:moveTo>
                <a:lnTo>
                  <a:pt x="96828" y="0"/>
                </a:lnTo>
              </a:path>
            </a:pathLst>
          </a:custGeom>
          <a:ln w="14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2019426" y="2997413"/>
            <a:ext cx="54610" cy="0"/>
          </a:xfrm>
          <a:custGeom>
            <a:avLst/>
            <a:gdLst/>
            <a:ahLst/>
            <a:cxnLst/>
            <a:rect l="l" t="t" r="r" b="b"/>
            <a:pathLst>
              <a:path w="54610">
                <a:moveTo>
                  <a:pt x="0" y="0"/>
                </a:moveTo>
                <a:lnTo>
                  <a:pt x="54138" y="0"/>
                </a:lnTo>
              </a:path>
            </a:pathLst>
          </a:custGeom>
          <a:ln w="14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1756107" y="2997413"/>
            <a:ext cx="54610" cy="0"/>
          </a:xfrm>
          <a:custGeom>
            <a:avLst/>
            <a:gdLst/>
            <a:ahLst/>
            <a:cxnLst/>
            <a:rect l="l" t="t" r="r" b="b"/>
            <a:pathLst>
              <a:path w="54610">
                <a:moveTo>
                  <a:pt x="0" y="0"/>
                </a:moveTo>
                <a:lnTo>
                  <a:pt x="54138" y="0"/>
                </a:lnTo>
              </a:path>
            </a:pathLst>
          </a:custGeom>
          <a:ln w="14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3539575" y="5377307"/>
            <a:ext cx="0" cy="3916679"/>
          </a:xfrm>
          <a:custGeom>
            <a:avLst/>
            <a:gdLst/>
            <a:ahLst/>
            <a:cxnLst/>
            <a:rect l="l" t="t" r="r" b="b"/>
            <a:pathLst>
              <a:path h="3916679">
                <a:moveTo>
                  <a:pt x="0" y="3916546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12450902" y="1779425"/>
            <a:ext cx="0" cy="7890509"/>
          </a:xfrm>
          <a:custGeom>
            <a:avLst/>
            <a:gdLst/>
            <a:ahLst/>
            <a:cxnLst/>
            <a:rect l="l" t="t" r="r" b="b"/>
            <a:pathLst>
              <a:path h="7890509">
                <a:moveTo>
                  <a:pt x="0" y="7890150"/>
                </a:moveTo>
                <a:lnTo>
                  <a:pt x="0" y="0"/>
                </a:lnTo>
              </a:path>
            </a:pathLst>
          </a:custGeom>
          <a:ln w="14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12450902" y="8736676"/>
            <a:ext cx="139700" cy="0"/>
          </a:xfrm>
          <a:custGeom>
            <a:avLst/>
            <a:gdLst/>
            <a:ahLst/>
            <a:cxnLst/>
            <a:rect l="l" t="t" r="r" b="b"/>
            <a:pathLst>
              <a:path w="139700">
                <a:moveTo>
                  <a:pt x="0" y="0"/>
                </a:moveTo>
                <a:lnTo>
                  <a:pt x="139712" y="0"/>
                </a:lnTo>
              </a:path>
            </a:pathLst>
          </a:custGeom>
          <a:ln w="14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12450902" y="6997411"/>
            <a:ext cx="139700" cy="0"/>
          </a:xfrm>
          <a:custGeom>
            <a:avLst/>
            <a:gdLst/>
            <a:ahLst/>
            <a:cxnLst/>
            <a:rect l="l" t="t" r="r" b="b"/>
            <a:pathLst>
              <a:path w="139700">
                <a:moveTo>
                  <a:pt x="0" y="0"/>
                </a:moveTo>
                <a:lnTo>
                  <a:pt x="139712" y="0"/>
                </a:lnTo>
              </a:path>
            </a:pathLst>
          </a:custGeom>
          <a:ln w="14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12450902" y="5258147"/>
            <a:ext cx="139700" cy="0"/>
          </a:xfrm>
          <a:custGeom>
            <a:avLst/>
            <a:gdLst/>
            <a:ahLst/>
            <a:cxnLst/>
            <a:rect l="l" t="t" r="r" b="b"/>
            <a:pathLst>
              <a:path w="139700">
                <a:moveTo>
                  <a:pt x="0" y="0"/>
                </a:moveTo>
                <a:lnTo>
                  <a:pt x="139712" y="0"/>
                </a:lnTo>
              </a:path>
            </a:pathLst>
          </a:custGeom>
          <a:ln w="14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12450902" y="3518689"/>
            <a:ext cx="139700" cy="0"/>
          </a:xfrm>
          <a:custGeom>
            <a:avLst/>
            <a:gdLst/>
            <a:ahLst/>
            <a:cxnLst/>
            <a:rect l="l" t="t" r="r" b="b"/>
            <a:pathLst>
              <a:path w="139700">
                <a:moveTo>
                  <a:pt x="0" y="0"/>
                </a:moveTo>
                <a:lnTo>
                  <a:pt x="139712" y="0"/>
                </a:lnTo>
              </a:path>
            </a:pathLst>
          </a:custGeom>
          <a:ln w="14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12450902" y="1779425"/>
            <a:ext cx="139700" cy="0"/>
          </a:xfrm>
          <a:custGeom>
            <a:avLst/>
            <a:gdLst/>
            <a:ahLst/>
            <a:cxnLst/>
            <a:rect l="l" t="t" r="r" b="b"/>
            <a:pathLst>
              <a:path w="139700">
                <a:moveTo>
                  <a:pt x="0" y="0"/>
                </a:moveTo>
                <a:lnTo>
                  <a:pt x="139712" y="0"/>
                </a:lnTo>
              </a:path>
            </a:pathLst>
          </a:custGeom>
          <a:ln w="14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3427999" y="5076497"/>
            <a:ext cx="209550" cy="300990"/>
          </a:xfrm>
          <a:custGeom>
            <a:avLst/>
            <a:gdLst/>
            <a:ahLst/>
            <a:cxnLst/>
            <a:rect l="l" t="t" r="r" b="b"/>
            <a:pathLst>
              <a:path w="209550" h="300989">
                <a:moveTo>
                  <a:pt x="209180" y="300810"/>
                </a:moveTo>
                <a:lnTo>
                  <a:pt x="209180" y="0"/>
                </a:lnTo>
                <a:lnTo>
                  <a:pt x="0" y="0"/>
                </a:lnTo>
                <a:lnTo>
                  <a:pt x="0" y="300810"/>
                </a:lnTo>
                <a:lnTo>
                  <a:pt x="209180" y="300810"/>
                </a:lnTo>
                <a:close/>
              </a:path>
            </a:pathLst>
          </a:custGeom>
          <a:solidFill>
            <a:srgbClr val="FF3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3427999" y="5076497"/>
            <a:ext cx="209550" cy="300990"/>
          </a:xfrm>
          <a:custGeom>
            <a:avLst/>
            <a:gdLst/>
            <a:ahLst/>
            <a:cxnLst/>
            <a:rect l="l" t="t" r="r" b="b"/>
            <a:pathLst>
              <a:path w="209550" h="300989">
                <a:moveTo>
                  <a:pt x="209180" y="300810"/>
                </a:moveTo>
                <a:lnTo>
                  <a:pt x="209180" y="0"/>
                </a:lnTo>
                <a:lnTo>
                  <a:pt x="0" y="0"/>
                </a:lnTo>
                <a:lnTo>
                  <a:pt x="0" y="300810"/>
                </a:lnTo>
                <a:lnTo>
                  <a:pt x="209180" y="300810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6258147" y="3966410"/>
            <a:ext cx="209550" cy="300990"/>
          </a:xfrm>
          <a:custGeom>
            <a:avLst/>
            <a:gdLst/>
            <a:ahLst/>
            <a:cxnLst/>
            <a:rect l="l" t="t" r="r" b="b"/>
            <a:pathLst>
              <a:path w="209550" h="300989">
                <a:moveTo>
                  <a:pt x="209180" y="300810"/>
                </a:moveTo>
                <a:lnTo>
                  <a:pt x="209180" y="0"/>
                </a:lnTo>
                <a:lnTo>
                  <a:pt x="0" y="0"/>
                </a:lnTo>
                <a:lnTo>
                  <a:pt x="0" y="300810"/>
                </a:lnTo>
                <a:lnTo>
                  <a:pt x="209180" y="300810"/>
                </a:lnTo>
                <a:close/>
              </a:path>
            </a:pathLst>
          </a:custGeom>
          <a:solidFill>
            <a:srgbClr val="FF3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6258147" y="3966410"/>
            <a:ext cx="209550" cy="300990"/>
          </a:xfrm>
          <a:custGeom>
            <a:avLst/>
            <a:gdLst/>
            <a:ahLst/>
            <a:cxnLst/>
            <a:rect l="l" t="t" r="r" b="b"/>
            <a:pathLst>
              <a:path w="209550" h="300989">
                <a:moveTo>
                  <a:pt x="209180" y="300810"/>
                </a:moveTo>
                <a:lnTo>
                  <a:pt x="209180" y="0"/>
                </a:lnTo>
                <a:lnTo>
                  <a:pt x="0" y="0"/>
                </a:lnTo>
                <a:lnTo>
                  <a:pt x="0" y="300810"/>
                </a:lnTo>
                <a:lnTo>
                  <a:pt x="209180" y="300810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8979241" y="354585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8979241" y="354585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11352607" y="3454646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11352607" y="3454646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11694514" y="3147625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11694514" y="3147625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11523560" y="2447417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11523560" y="2447417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11010699" y="3005953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11010699" y="3005953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10839939" y="2716788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10839939" y="2716788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6605875" y="3322483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6605875" y="3322483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7702036" y="2728238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7702036" y="2728238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8552148" y="25952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8552148" y="25952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9686342" y="2460032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9686342" y="2460032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10070744" y="2403751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10070744" y="2403751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10327078" y="2234133"/>
            <a:ext cx="209550" cy="182245"/>
          </a:xfrm>
          <a:custGeom>
            <a:avLst/>
            <a:gdLst/>
            <a:ahLst/>
            <a:cxnLst/>
            <a:rect l="l" t="t" r="r" b="b"/>
            <a:pathLst>
              <a:path w="209550" h="182244">
                <a:moveTo>
                  <a:pt x="209180" y="182038"/>
                </a:moveTo>
                <a:lnTo>
                  <a:pt x="209180" y="0"/>
                </a:lnTo>
                <a:lnTo>
                  <a:pt x="0" y="0"/>
                </a:lnTo>
                <a:lnTo>
                  <a:pt x="0" y="182038"/>
                </a:lnTo>
                <a:lnTo>
                  <a:pt x="209180" y="182038"/>
                </a:lnTo>
                <a:close/>
              </a:path>
            </a:pathLst>
          </a:custGeom>
          <a:solidFill>
            <a:srgbClr val="DF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10327078" y="2234133"/>
            <a:ext cx="209550" cy="182245"/>
          </a:xfrm>
          <a:custGeom>
            <a:avLst/>
            <a:gdLst/>
            <a:ahLst/>
            <a:cxnLst/>
            <a:rect l="l" t="t" r="r" b="b"/>
            <a:pathLst>
              <a:path w="209550" h="182244">
                <a:moveTo>
                  <a:pt x="209180" y="182038"/>
                </a:moveTo>
                <a:lnTo>
                  <a:pt x="209180" y="0"/>
                </a:lnTo>
                <a:lnTo>
                  <a:pt x="0" y="0"/>
                </a:lnTo>
                <a:lnTo>
                  <a:pt x="0" y="182038"/>
                </a:lnTo>
                <a:lnTo>
                  <a:pt x="209180" y="182038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10156318" y="2142338"/>
            <a:ext cx="209550" cy="182245"/>
          </a:xfrm>
          <a:custGeom>
            <a:avLst/>
            <a:gdLst/>
            <a:ahLst/>
            <a:cxnLst/>
            <a:rect l="l" t="t" r="r" b="b"/>
            <a:pathLst>
              <a:path w="209550" h="182244">
                <a:moveTo>
                  <a:pt x="209180" y="182038"/>
                </a:moveTo>
                <a:lnTo>
                  <a:pt x="209180" y="0"/>
                </a:lnTo>
                <a:lnTo>
                  <a:pt x="0" y="0"/>
                </a:lnTo>
                <a:lnTo>
                  <a:pt x="0" y="182038"/>
                </a:lnTo>
                <a:lnTo>
                  <a:pt x="209180" y="182038"/>
                </a:lnTo>
                <a:close/>
              </a:path>
            </a:pathLst>
          </a:custGeom>
          <a:solidFill>
            <a:srgbClr val="DF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10156318" y="2142338"/>
            <a:ext cx="209550" cy="182245"/>
          </a:xfrm>
          <a:custGeom>
            <a:avLst/>
            <a:gdLst/>
            <a:ahLst/>
            <a:cxnLst/>
            <a:rect l="l" t="t" r="r" b="b"/>
            <a:pathLst>
              <a:path w="209550" h="182244">
                <a:moveTo>
                  <a:pt x="209180" y="182038"/>
                </a:moveTo>
                <a:lnTo>
                  <a:pt x="209180" y="0"/>
                </a:lnTo>
                <a:lnTo>
                  <a:pt x="0" y="0"/>
                </a:lnTo>
                <a:lnTo>
                  <a:pt x="0" y="182038"/>
                </a:lnTo>
                <a:lnTo>
                  <a:pt x="209180" y="182038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7"/>
          <p:cNvSpPr/>
          <p:nvPr/>
        </p:nvSpPr>
        <p:spPr>
          <a:xfrm>
            <a:off x="9301744" y="2388808"/>
            <a:ext cx="209550" cy="182245"/>
          </a:xfrm>
          <a:custGeom>
            <a:avLst/>
            <a:gdLst/>
            <a:ahLst/>
            <a:cxnLst/>
            <a:rect l="l" t="t" r="r" b="b"/>
            <a:pathLst>
              <a:path w="209550" h="182244">
                <a:moveTo>
                  <a:pt x="209180" y="182038"/>
                </a:moveTo>
                <a:lnTo>
                  <a:pt x="209180" y="0"/>
                </a:lnTo>
                <a:lnTo>
                  <a:pt x="0" y="0"/>
                </a:lnTo>
                <a:lnTo>
                  <a:pt x="0" y="182038"/>
                </a:lnTo>
                <a:lnTo>
                  <a:pt x="209180" y="182038"/>
                </a:lnTo>
                <a:close/>
              </a:path>
            </a:pathLst>
          </a:custGeom>
          <a:solidFill>
            <a:srgbClr val="FFB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9301744" y="2388808"/>
            <a:ext cx="209550" cy="182245"/>
          </a:xfrm>
          <a:custGeom>
            <a:avLst/>
            <a:gdLst/>
            <a:ahLst/>
            <a:cxnLst/>
            <a:rect l="l" t="t" r="r" b="b"/>
            <a:pathLst>
              <a:path w="209550" h="182244">
                <a:moveTo>
                  <a:pt x="209180" y="182038"/>
                </a:moveTo>
                <a:lnTo>
                  <a:pt x="209180" y="0"/>
                </a:lnTo>
                <a:lnTo>
                  <a:pt x="0" y="0"/>
                </a:lnTo>
                <a:lnTo>
                  <a:pt x="0" y="182038"/>
                </a:lnTo>
                <a:lnTo>
                  <a:pt x="209180" y="182038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9472698" y="2252182"/>
            <a:ext cx="209550" cy="182245"/>
          </a:xfrm>
          <a:custGeom>
            <a:avLst/>
            <a:gdLst/>
            <a:ahLst/>
            <a:cxnLst/>
            <a:rect l="l" t="t" r="r" b="b"/>
            <a:pathLst>
              <a:path w="209550" h="182244">
                <a:moveTo>
                  <a:pt x="209180" y="182038"/>
                </a:moveTo>
                <a:lnTo>
                  <a:pt x="209180" y="0"/>
                </a:lnTo>
                <a:lnTo>
                  <a:pt x="0" y="0"/>
                </a:lnTo>
                <a:lnTo>
                  <a:pt x="0" y="182038"/>
                </a:lnTo>
                <a:lnTo>
                  <a:pt x="209180" y="182038"/>
                </a:lnTo>
                <a:close/>
              </a:path>
            </a:pathLst>
          </a:custGeom>
          <a:solidFill>
            <a:srgbClr val="FFB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9472698" y="2252182"/>
            <a:ext cx="209550" cy="182245"/>
          </a:xfrm>
          <a:custGeom>
            <a:avLst/>
            <a:gdLst/>
            <a:ahLst/>
            <a:cxnLst/>
            <a:rect l="l" t="t" r="r" b="b"/>
            <a:pathLst>
              <a:path w="209550" h="182244">
                <a:moveTo>
                  <a:pt x="209180" y="182038"/>
                </a:moveTo>
                <a:lnTo>
                  <a:pt x="209180" y="0"/>
                </a:lnTo>
                <a:lnTo>
                  <a:pt x="0" y="0"/>
                </a:lnTo>
                <a:lnTo>
                  <a:pt x="0" y="182038"/>
                </a:lnTo>
                <a:lnTo>
                  <a:pt x="209180" y="182038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7418148" y="2530480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7418148" y="2530480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7756369" y="2470900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7756369" y="2470900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8091096" y="2405692"/>
            <a:ext cx="209550" cy="182245"/>
          </a:xfrm>
          <a:custGeom>
            <a:avLst/>
            <a:gdLst/>
            <a:ahLst/>
            <a:cxnLst/>
            <a:rect l="l" t="t" r="r" b="b"/>
            <a:pathLst>
              <a:path w="209550" h="182244">
                <a:moveTo>
                  <a:pt x="209180" y="182038"/>
                </a:moveTo>
                <a:lnTo>
                  <a:pt x="209180" y="0"/>
                </a:lnTo>
                <a:lnTo>
                  <a:pt x="0" y="0"/>
                </a:lnTo>
                <a:lnTo>
                  <a:pt x="0" y="182038"/>
                </a:lnTo>
                <a:lnTo>
                  <a:pt x="209180" y="182038"/>
                </a:lnTo>
                <a:close/>
              </a:path>
            </a:pathLst>
          </a:custGeom>
          <a:solidFill>
            <a:srgbClr val="00F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8091096" y="2405692"/>
            <a:ext cx="209550" cy="182245"/>
          </a:xfrm>
          <a:custGeom>
            <a:avLst/>
            <a:gdLst/>
            <a:ahLst/>
            <a:cxnLst/>
            <a:rect l="l" t="t" r="r" b="b"/>
            <a:pathLst>
              <a:path w="209550" h="182244">
                <a:moveTo>
                  <a:pt x="209180" y="182038"/>
                </a:moveTo>
                <a:lnTo>
                  <a:pt x="209180" y="0"/>
                </a:lnTo>
                <a:lnTo>
                  <a:pt x="0" y="0"/>
                </a:lnTo>
                <a:lnTo>
                  <a:pt x="0" y="182038"/>
                </a:lnTo>
                <a:lnTo>
                  <a:pt x="209180" y="182038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8418645" y="2266155"/>
            <a:ext cx="209550" cy="149860"/>
          </a:xfrm>
          <a:custGeom>
            <a:avLst/>
            <a:gdLst/>
            <a:ahLst/>
            <a:cxnLst/>
            <a:rect l="l" t="t" r="r" b="b"/>
            <a:pathLst>
              <a:path w="209550" h="149860">
                <a:moveTo>
                  <a:pt x="209180" y="149822"/>
                </a:moveTo>
                <a:lnTo>
                  <a:pt x="209180" y="0"/>
                </a:lnTo>
                <a:lnTo>
                  <a:pt x="0" y="0"/>
                </a:lnTo>
                <a:lnTo>
                  <a:pt x="0" y="149822"/>
                </a:lnTo>
                <a:lnTo>
                  <a:pt x="209180" y="149822"/>
                </a:lnTo>
                <a:close/>
              </a:path>
            </a:pathLst>
          </a:custGeom>
          <a:solidFill>
            <a:srgbClr val="2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8418645" y="2266155"/>
            <a:ext cx="209550" cy="149860"/>
          </a:xfrm>
          <a:custGeom>
            <a:avLst/>
            <a:gdLst/>
            <a:ahLst/>
            <a:cxnLst/>
            <a:rect l="l" t="t" r="r" b="b"/>
            <a:pathLst>
              <a:path w="209550" h="149860">
                <a:moveTo>
                  <a:pt x="209180" y="149822"/>
                </a:moveTo>
                <a:lnTo>
                  <a:pt x="209180" y="0"/>
                </a:lnTo>
                <a:lnTo>
                  <a:pt x="0" y="0"/>
                </a:lnTo>
                <a:lnTo>
                  <a:pt x="0" y="149822"/>
                </a:lnTo>
                <a:lnTo>
                  <a:pt x="209180" y="149822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8732028" y="2154952"/>
            <a:ext cx="209550" cy="149860"/>
          </a:xfrm>
          <a:custGeom>
            <a:avLst/>
            <a:gdLst/>
            <a:ahLst/>
            <a:cxnLst/>
            <a:rect l="l" t="t" r="r" b="b"/>
            <a:pathLst>
              <a:path w="209550" h="149860">
                <a:moveTo>
                  <a:pt x="209180" y="149822"/>
                </a:moveTo>
                <a:lnTo>
                  <a:pt x="209180" y="0"/>
                </a:lnTo>
                <a:lnTo>
                  <a:pt x="0" y="0"/>
                </a:lnTo>
                <a:lnTo>
                  <a:pt x="0" y="149822"/>
                </a:lnTo>
                <a:lnTo>
                  <a:pt x="209180" y="149822"/>
                </a:lnTo>
                <a:close/>
              </a:path>
            </a:pathLst>
          </a:custGeom>
          <a:solidFill>
            <a:srgbClr val="2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8732028" y="2154952"/>
            <a:ext cx="209550" cy="149860"/>
          </a:xfrm>
          <a:custGeom>
            <a:avLst/>
            <a:gdLst/>
            <a:ahLst/>
            <a:cxnLst/>
            <a:rect l="l" t="t" r="r" b="b"/>
            <a:pathLst>
              <a:path w="209550" h="149860">
                <a:moveTo>
                  <a:pt x="209180" y="149822"/>
                </a:moveTo>
                <a:lnTo>
                  <a:pt x="209180" y="0"/>
                </a:lnTo>
                <a:lnTo>
                  <a:pt x="0" y="0"/>
                </a:lnTo>
                <a:lnTo>
                  <a:pt x="0" y="149822"/>
                </a:lnTo>
                <a:lnTo>
                  <a:pt x="209180" y="149822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8561074" y="2101388"/>
            <a:ext cx="209550" cy="149860"/>
          </a:xfrm>
          <a:custGeom>
            <a:avLst/>
            <a:gdLst/>
            <a:ahLst/>
            <a:cxnLst/>
            <a:rect l="l" t="t" r="r" b="b"/>
            <a:pathLst>
              <a:path w="209550" h="149860">
                <a:moveTo>
                  <a:pt x="209180" y="149822"/>
                </a:moveTo>
                <a:lnTo>
                  <a:pt x="209180" y="0"/>
                </a:lnTo>
                <a:lnTo>
                  <a:pt x="0" y="0"/>
                </a:lnTo>
                <a:lnTo>
                  <a:pt x="0" y="149822"/>
                </a:lnTo>
                <a:lnTo>
                  <a:pt x="209180" y="149822"/>
                </a:lnTo>
                <a:close/>
              </a:path>
            </a:pathLst>
          </a:custGeom>
          <a:solidFill>
            <a:srgbClr val="2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8561074" y="2101388"/>
            <a:ext cx="209550" cy="149860"/>
          </a:xfrm>
          <a:custGeom>
            <a:avLst/>
            <a:gdLst/>
            <a:ahLst/>
            <a:cxnLst/>
            <a:rect l="l" t="t" r="r" b="b"/>
            <a:pathLst>
              <a:path w="209550" h="149860">
                <a:moveTo>
                  <a:pt x="209180" y="149822"/>
                </a:moveTo>
                <a:lnTo>
                  <a:pt x="209180" y="0"/>
                </a:lnTo>
                <a:lnTo>
                  <a:pt x="0" y="0"/>
                </a:lnTo>
                <a:lnTo>
                  <a:pt x="0" y="149822"/>
                </a:lnTo>
                <a:lnTo>
                  <a:pt x="209180" y="149822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8193552" y="2222100"/>
            <a:ext cx="121285" cy="95885"/>
          </a:xfrm>
          <a:custGeom>
            <a:avLst/>
            <a:gdLst/>
            <a:ahLst/>
            <a:cxnLst/>
            <a:rect l="l" t="t" r="r" b="b"/>
            <a:pathLst>
              <a:path w="121284" h="95885">
                <a:moveTo>
                  <a:pt x="120890" y="95871"/>
                </a:moveTo>
                <a:lnTo>
                  <a:pt x="120890" y="0"/>
                </a:lnTo>
                <a:lnTo>
                  <a:pt x="0" y="0"/>
                </a:lnTo>
                <a:lnTo>
                  <a:pt x="0" y="95871"/>
                </a:lnTo>
                <a:lnTo>
                  <a:pt x="120890" y="95871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8105262" y="2222101"/>
            <a:ext cx="209550" cy="95885"/>
          </a:xfrm>
          <a:custGeom>
            <a:avLst/>
            <a:gdLst/>
            <a:ahLst/>
            <a:cxnLst/>
            <a:rect l="l" t="t" r="r" b="b"/>
            <a:pathLst>
              <a:path w="209550" h="95885">
                <a:moveTo>
                  <a:pt x="209180" y="95871"/>
                </a:moveTo>
                <a:lnTo>
                  <a:pt x="209180" y="0"/>
                </a:lnTo>
                <a:lnTo>
                  <a:pt x="0" y="0"/>
                </a:lnTo>
                <a:lnTo>
                  <a:pt x="0" y="95871"/>
                </a:lnTo>
                <a:lnTo>
                  <a:pt x="209180" y="95871"/>
                </a:lnTo>
                <a:close/>
              </a:path>
            </a:pathLst>
          </a:custGeom>
          <a:ln w="14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7421641" y="2393465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7421641" y="2393465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7"/>
          <p:cNvSpPr/>
          <p:nvPr/>
        </p:nvSpPr>
        <p:spPr>
          <a:xfrm>
            <a:off x="5509715" y="3187798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5509715" y="3187798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9"/>
          <p:cNvSpPr/>
          <p:nvPr/>
        </p:nvSpPr>
        <p:spPr>
          <a:xfrm>
            <a:off x="5762556" y="2932983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90"/>
          <p:cNvSpPr/>
          <p:nvPr/>
        </p:nvSpPr>
        <p:spPr>
          <a:xfrm>
            <a:off x="5762556" y="2932983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91"/>
          <p:cNvSpPr/>
          <p:nvPr/>
        </p:nvSpPr>
        <p:spPr>
          <a:xfrm>
            <a:off x="6040234" y="2829931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92"/>
          <p:cNvSpPr/>
          <p:nvPr/>
        </p:nvSpPr>
        <p:spPr>
          <a:xfrm>
            <a:off x="6040234" y="2829931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93"/>
          <p:cNvSpPr/>
          <p:nvPr/>
        </p:nvSpPr>
        <p:spPr>
          <a:xfrm>
            <a:off x="6367782" y="2709607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94"/>
          <p:cNvSpPr/>
          <p:nvPr/>
        </p:nvSpPr>
        <p:spPr>
          <a:xfrm>
            <a:off x="6367782" y="2709607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95"/>
          <p:cNvSpPr/>
          <p:nvPr/>
        </p:nvSpPr>
        <p:spPr>
          <a:xfrm>
            <a:off x="6111449" y="2647116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96"/>
          <p:cNvSpPr/>
          <p:nvPr/>
        </p:nvSpPr>
        <p:spPr>
          <a:xfrm>
            <a:off x="6111449" y="2647116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97"/>
          <p:cNvSpPr/>
          <p:nvPr/>
        </p:nvSpPr>
        <p:spPr>
          <a:xfrm>
            <a:off x="6282402" y="2485843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198"/>
          <p:cNvSpPr/>
          <p:nvPr/>
        </p:nvSpPr>
        <p:spPr>
          <a:xfrm>
            <a:off x="6282402" y="2485843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199"/>
          <p:cNvSpPr/>
          <p:nvPr/>
        </p:nvSpPr>
        <p:spPr>
          <a:xfrm>
            <a:off x="3537053" y="3524123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6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0"/>
          <p:cNvSpPr/>
          <p:nvPr/>
        </p:nvSpPr>
        <p:spPr>
          <a:xfrm>
            <a:off x="3537053" y="3524123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201"/>
          <p:cNvSpPr/>
          <p:nvPr/>
        </p:nvSpPr>
        <p:spPr>
          <a:xfrm>
            <a:off x="4110262" y="2966363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6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02"/>
          <p:cNvSpPr/>
          <p:nvPr/>
        </p:nvSpPr>
        <p:spPr>
          <a:xfrm>
            <a:off x="4110262" y="2966363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203"/>
          <p:cNvSpPr/>
          <p:nvPr/>
        </p:nvSpPr>
        <p:spPr>
          <a:xfrm>
            <a:off x="4331085" y="2745122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6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04"/>
          <p:cNvSpPr/>
          <p:nvPr/>
        </p:nvSpPr>
        <p:spPr>
          <a:xfrm>
            <a:off x="4331085" y="2745122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205"/>
          <p:cNvSpPr/>
          <p:nvPr/>
        </p:nvSpPr>
        <p:spPr>
          <a:xfrm>
            <a:off x="4544729" y="2633725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6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06"/>
          <p:cNvSpPr/>
          <p:nvPr/>
        </p:nvSpPr>
        <p:spPr>
          <a:xfrm>
            <a:off x="4544729" y="2633725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object 207"/>
          <p:cNvSpPr/>
          <p:nvPr/>
        </p:nvSpPr>
        <p:spPr>
          <a:xfrm>
            <a:off x="4744207" y="2521164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6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208"/>
          <p:cNvSpPr/>
          <p:nvPr/>
        </p:nvSpPr>
        <p:spPr>
          <a:xfrm>
            <a:off x="4744207" y="2521164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209"/>
          <p:cNvSpPr/>
          <p:nvPr/>
        </p:nvSpPr>
        <p:spPr>
          <a:xfrm>
            <a:off x="4914967" y="2248106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8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210"/>
          <p:cNvSpPr/>
          <p:nvPr/>
        </p:nvSpPr>
        <p:spPr>
          <a:xfrm>
            <a:off x="4914967" y="2248106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211"/>
          <p:cNvSpPr/>
          <p:nvPr/>
        </p:nvSpPr>
        <p:spPr>
          <a:xfrm>
            <a:off x="2963843" y="2951808"/>
            <a:ext cx="209550" cy="182245"/>
          </a:xfrm>
          <a:custGeom>
            <a:avLst/>
            <a:gdLst/>
            <a:ahLst/>
            <a:cxnLst/>
            <a:rect l="l" t="t" r="r" b="b"/>
            <a:pathLst>
              <a:path w="209550" h="182244">
                <a:moveTo>
                  <a:pt x="209180" y="182038"/>
                </a:moveTo>
                <a:lnTo>
                  <a:pt x="209180" y="0"/>
                </a:lnTo>
                <a:lnTo>
                  <a:pt x="0" y="0"/>
                </a:lnTo>
                <a:lnTo>
                  <a:pt x="0" y="182038"/>
                </a:lnTo>
                <a:lnTo>
                  <a:pt x="209180" y="182038"/>
                </a:lnTo>
                <a:close/>
              </a:path>
            </a:pathLst>
          </a:custGeom>
          <a:solidFill>
            <a:srgbClr val="FFB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object 212"/>
          <p:cNvSpPr/>
          <p:nvPr/>
        </p:nvSpPr>
        <p:spPr>
          <a:xfrm>
            <a:off x="2963843" y="2951808"/>
            <a:ext cx="209550" cy="182245"/>
          </a:xfrm>
          <a:custGeom>
            <a:avLst/>
            <a:gdLst/>
            <a:ahLst/>
            <a:cxnLst/>
            <a:rect l="l" t="t" r="r" b="b"/>
            <a:pathLst>
              <a:path w="209550" h="182244">
                <a:moveTo>
                  <a:pt x="209180" y="182038"/>
                </a:moveTo>
                <a:lnTo>
                  <a:pt x="209180" y="0"/>
                </a:lnTo>
                <a:lnTo>
                  <a:pt x="0" y="0"/>
                </a:lnTo>
                <a:lnTo>
                  <a:pt x="0" y="182038"/>
                </a:lnTo>
                <a:lnTo>
                  <a:pt x="209180" y="182038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object 213"/>
          <p:cNvSpPr/>
          <p:nvPr/>
        </p:nvSpPr>
        <p:spPr>
          <a:xfrm>
            <a:off x="3177487" y="2564636"/>
            <a:ext cx="209550" cy="182245"/>
          </a:xfrm>
          <a:custGeom>
            <a:avLst/>
            <a:gdLst/>
            <a:ahLst/>
            <a:cxnLst/>
            <a:rect l="l" t="t" r="r" b="b"/>
            <a:pathLst>
              <a:path w="209550" h="182244">
                <a:moveTo>
                  <a:pt x="209180" y="182038"/>
                </a:moveTo>
                <a:lnTo>
                  <a:pt x="209180" y="0"/>
                </a:lnTo>
                <a:lnTo>
                  <a:pt x="0" y="0"/>
                </a:lnTo>
                <a:lnTo>
                  <a:pt x="0" y="182038"/>
                </a:lnTo>
                <a:lnTo>
                  <a:pt x="209180" y="182038"/>
                </a:lnTo>
                <a:close/>
              </a:path>
            </a:pathLst>
          </a:custGeom>
          <a:solidFill>
            <a:srgbClr val="FFB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object 214"/>
          <p:cNvSpPr/>
          <p:nvPr/>
        </p:nvSpPr>
        <p:spPr>
          <a:xfrm>
            <a:off x="3177487" y="2564636"/>
            <a:ext cx="209550" cy="182245"/>
          </a:xfrm>
          <a:custGeom>
            <a:avLst/>
            <a:gdLst/>
            <a:ahLst/>
            <a:cxnLst/>
            <a:rect l="l" t="t" r="r" b="b"/>
            <a:pathLst>
              <a:path w="209550" h="182244">
                <a:moveTo>
                  <a:pt x="209180" y="182038"/>
                </a:moveTo>
                <a:lnTo>
                  <a:pt x="209180" y="0"/>
                </a:lnTo>
                <a:lnTo>
                  <a:pt x="0" y="0"/>
                </a:lnTo>
                <a:lnTo>
                  <a:pt x="0" y="182038"/>
                </a:lnTo>
                <a:lnTo>
                  <a:pt x="209180" y="182038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object 215"/>
          <p:cNvSpPr/>
          <p:nvPr/>
        </p:nvSpPr>
        <p:spPr>
          <a:xfrm>
            <a:off x="3376771" y="2437520"/>
            <a:ext cx="209550" cy="182245"/>
          </a:xfrm>
          <a:custGeom>
            <a:avLst/>
            <a:gdLst/>
            <a:ahLst/>
            <a:cxnLst/>
            <a:rect l="l" t="t" r="r" b="b"/>
            <a:pathLst>
              <a:path w="209550" h="182244">
                <a:moveTo>
                  <a:pt x="209180" y="182038"/>
                </a:moveTo>
                <a:lnTo>
                  <a:pt x="209180" y="0"/>
                </a:lnTo>
                <a:lnTo>
                  <a:pt x="0" y="0"/>
                </a:lnTo>
                <a:lnTo>
                  <a:pt x="0" y="182038"/>
                </a:lnTo>
                <a:lnTo>
                  <a:pt x="209180" y="182038"/>
                </a:lnTo>
                <a:close/>
              </a:path>
            </a:pathLst>
          </a:custGeom>
          <a:solidFill>
            <a:srgbClr val="FFB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object 216"/>
          <p:cNvSpPr/>
          <p:nvPr/>
        </p:nvSpPr>
        <p:spPr>
          <a:xfrm>
            <a:off x="3376771" y="2437520"/>
            <a:ext cx="209550" cy="182245"/>
          </a:xfrm>
          <a:custGeom>
            <a:avLst/>
            <a:gdLst/>
            <a:ahLst/>
            <a:cxnLst/>
            <a:rect l="l" t="t" r="r" b="b"/>
            <a:pathLst>
              <a:path w="209550" h="182244">
                <a:moveTo>
                  <a:pt x="209180" y="182038"/>
                </a:moveTo>
                <a:lnTo>
                  <a:pt x="209180" y="0"/>
                </a:lnTo>
                <a:lnTo>
                  <a:pt x="0" y="0"/>
                </a:lnTo>
                <a:lnTo>
                  <a:pt x="0" y="182038"/>
                </a:lnTo>
                <a:lnTo>
                  <a:pt x="209180" y="182038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object 217"/>
          <p:cNvSpPr/>
          <p:nvPr/>
        </p:nvSpPr>
        <p:spPr>
          <a:xfrm>
            <a:off x="3547725" y="2329034"/>
            <a:ext cx="209550" cy="182245"/>
          </a:xfrm>
          <a:custGeom>
            <a:avLst/>
            <a:gdLst/>
            <a:ahLst/>
            <a:cxnLst/>
            <a:rect l="l" t="t" r="r" b="b"/>
            <a:pathLst>
              <a:path w="209550" h="182244">
                <a:moveTo>
                  <a:pt x="209180" y="182038"/>
                </a:moveTo>
                <a:lnTo>
                  <a:pt x="209180" y="0"/>
                </a:lnTo>
                <a:lnTo>
                  <a:pt x="0" y="0"/>
                </a:lnTo>
                <a:lnTo>
                  <a:pt x="0" y="182038"/>
                </a:lnTo>
                <a:lnTo>
                  <a:pt x="209180" y="182038"/>
                </a:lnTo>
                <a:close/>
              </a:path>
            </a:pathLst>
          </a:custGeom>
          <a:solidFill>
            <a:srgbClr val="FFB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object 218"/>
          <p:cNvSpPr/>
          <p:nvPr/>
        </p:nvSpPr>
        <p:spPr>
          <a:xfrm>
            <a:off x="3547725" y="2329034"/>
            <a:ext cx="209550" cy="182245"/>
          </a:xfrm>
          <a:custGeom>
            <a:avLst/>
            <a:gdLst/>
            <a:ahLst/>
            <a:cxnLst/>
            <a:rect l="l" t="t" r="r" b="b"/>
            <a:pathLst>
              <a:path w="209550" h="182244">
                <a:moveTo>
                  <a:pt x="209180" y="182038"/>
                </a:moveTo>
                <a:lnTo>
                  <a:pt x="209180" y="0"/>
                </a:lnTo>
                <a:lnTo>
                  <a:pt x="0" y="0"/>
                </a:lnTo>
                <a:lnTo>
                  <a:pt x="0" y="182038"/>
                </a:lnTo>
                <a:lnTo>
                  <a:pt x="209180" y="182038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object 219"/>
          <p:cNvSpPr/>
          <p:nvPr/>
        </p:nvSpPr>
        <p:spPr>
          <a:xfrm>
            <a:off x="597852" y="3848610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object 220"/>
          <p:cNvSpPr/>
          <p:nvPr/>
        </p:nvSpPr>
        <p:spPr>
          <a:xfrm>
            <a:off x="597852" y="3848610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object 221"/>
          <p:cNvSpPr/>
          <p:nvPr/>
        </p:nvSpPr>
        <p:spPr>
          <a:xfrm>
            <a:off x="1179987" y="3682291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object 222"/>
          <p:cNvSpPr/>
          <p:nvPr/>
        </p:nvSpPr>
        <p:spPr>
          <a:xfrm>
            <a:off x="1179987" y="3682291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object 223"/>
          <p:cNvSpPr/>
          <p:nvPr/>
        </p:nvSpPr>
        <p:spPr>
          <a:xfrm>
            <a:off x="1632112" y="3585643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object 224"/>
          <p:cNvSpPr/>
          <p:nvPr/>
        </p:nvSpPr>
        <p:spPr>
          <a:xfrm>
            <a:off x="1632112" y="3585643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object 225"/>
          <p:cNvSpPr/>
          <p:nvPr/>
        </p:nvSpPr>
        <p:spPr>
          <a:xfrm>
            <a:off x="2109269" y="3417384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" name="object 226"/>
          <p:cNvSpPr/>
          <p:nvPr/>
        </p:nvSpPr>
        <p:spPr>
          <a:xfrm>
            <a:off x="2109269" y="3417384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object 227"/>
          <p:cNvSpPr/>
          <p:nvPr/>
        </p:nvSpPr>
        <p:spPr>
          <a:xfrm>
            <a:off x="2408292" y="2704755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object 228"/>
          <p:cNvSpPr/>
          <p:nvPr/>
        </p:nvSpPr>
        <p:spPr>
          <a:xfrm>
            <a:off x="2408292" y="2704755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object 229"/>
          <p:cNvSpPr/>
          <p:nvPr/>
        </p:nvSpPr>
        <p:spPr>
          <a:xfrm>
            <a:off x="1810245" y="293278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object 230"/>
          <p:cNvSpPr/>
          <p:nvPr/>
        </p:nvSpPr>
        <p:spPr>
          <a:xfrm>
            <a:off x="1810245" y="293278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object 231"/>
          <p:cNvSpPr/>
          <p:nvPr/>
        </p:nvSpPr>
        <p:spPr>
          <a:xfrm>
            <a:off x="1553912" y="2795580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object 232"/>
          <p:cNvSpPr/>
          <p:nvPr/>
        </p:nvSpPr>
        <p:spPr>
          <a:xfrm>
            <a:off x="1553912" y="2795580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object 233"/>
          <p:cNvSpPr/>
          <p:nvPr/>
        </p:nvSpPr>
        <p:spPr>
          <a:xfrm>
            <a:off x="1724672" y="267777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object 234"/>
          <p:cNvSpPr/>
          <p:nvPr/>
        </p:nvSpPr>
        <p:spPr>
          <a:xfrm>
            <a:off x="1724672" y="267777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object 235"/>
          <p:cNvSpPr/>
          <p:nvPr/>
        </p:nvSpPr>
        <p:spPr>
          <a:xfrm>
            <a:off x="727862" y="3382451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object 236"/>
          <p:cNvSpPr/>
          <p:nvPr/>
        </p:nvSpPr>
        <p:spPr>
          <a:xfrm>
            <a:off x="727862" y="3382451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object 237"/>
          <p:cNvSpPr/>
          <p:nvPr/>
        </p:nvSpPr>
        <p:spPr>
          <a:xfrm>
            <a:off x="528384" y="2796357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object 238"/>
          <p:cNvSpPr/>
          <p:nvPr/>
        </p:nvSpPr>
        <p:spPr>
          <a:xfrm>
            <a:off x="528384" y="2796357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object 239"/>
          <p:cNvSpPr/>
          <p:nvPr/>
        </p:nvSpPr>
        <p:spPr>
          <a:xfrm>
            <a:off x="357430" y="2634696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object 240"/>
          <p:cNvSpPr/>
          <p:nvPr/>
        </p:nvSpPr>
        <p:spPr>
          <a:xfrm>
            <a:off x="357430" y="2634696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object 241"/>
          <p:cNvSpPr/>
          <p:nvPr/>
        </p:nvSpPr>
        <p:spPr>
          <a:xfrm>
            <a:off x="11865274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" name="object 242"/>
          <p:cNvSpPr/>
          <p:nvPr/>
        </p:nvSpPr>
        <p:spPr>
          <a:xfrm>
            <a:off x="11865274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" name="object 243"/>
          <p:cNvSpPr/>
          <p:nvPr/>
        </p:nvSpPr>
        <p:spPr>
          <a:xfrm>
            <a:off x="11637464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object 244"/>
          <p:cNvSpPr/>
          <p:nvPr/>
        </p:nvSpPr>
        <p:spPr>
          <a:xfrm>
            <a:off x="11637464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" name="object 245"/>
          <p:cNvSpPr/>
          <p:nvPr/>
        </p:nvSpPr>
        <p:spPr>
          <a:xfrm>
            <a:off x="11409656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" name="object 246"/>
          <p:cNvSpPr/>
          <p:nvPr/>
        </p:nvSpPr>
        <p:spPr>
          <a:xfrm>
            <a:off x="11409656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" name="object 247"/>
          <p:cNvSpPr/>
          <p:nvPr/>
        </p:nvSpPr>
        <p:spPr>
          <a:xfrm>
            <a:off x="11181653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object 248"/>
          <p:cNvSpPr/>
          <p:nvPr/>
        </p:nvSpPr>
        <p:spPr>
          <a:xfrm>
            <a:off x="11181653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" name="object 249"/>
          <p:cNvSpPr/>
          <p:nvPr/>
        </p:nvSpPr>
        <p:spPr>
          <a:xfrm>
            <a:off x="10953844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object 250"/>
          <p:cNvSpPr/>
          <p:nvPr/>
        </p:nvSpPr>
        <p:spPr>
          <a:xfrm>
            <a:off x="10953844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" name="object 251"/>
          <p:cNvSpPr/>
          <p:nvPr/>
        </p:nvSpPr>
        <p:spPr>
          <a:xfrm>
            <a:off x="10726035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6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" name="object 252"/>
          <p:cNvSpPr/>
          <p:nvPr/>
        </p:nvSpPr>
        <p:spPr>
          <a:xfrm>
            <a:off x="10726035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" name="object 253"/>
          <p:cNvSpPr/>
          <p:nvPr/>
        </p:nvSpPr>
        <p:spPr>
          <a:xfrm>
            <a:off x="10498032" y="1709365"/>
            <a:ext cx="209550" cy="182245"/>
          </a:xfrm>
          <a:custGeom>
            <a:avLst/>
            <a:gdLst/>
            <a:ahLst/>
            <a:cxnLst/>
            <a:rect l="l" t="t" r="r" b="b"/>
            <a:pathLst>
              <a:path w="209550" h="182244">
                <a:moveTo>
                  <a:pt x="209180" y="182038"/>
                </a:moveTo>
                <a:lnTo>
                  <a:pt x="209180" y="0"/>
                </a:lnTo>
                <a:lnTo>
                  <a:pt x="0" y="0"/>
                </a:lnTo>
                <a:lnTo>
                  <a:pt x="0" y="182038"/>
                </a:lnTo>
                <a:lnTo>
                  <a:pt x="209180" y="182038"/>
                </a:lnTo>
                <a:close/>
              </a:path>
            </a:pathLst>
          </a:custGeom>
          <a:solidFill>
            <a:srgbClr val="DF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" name="object 254"/>
          <p:cNvSpPr/>
          <p:nvPr/>
        </p:nvSpPr>
        <p:spPr>
          <a:xfrm>
            <a:off x="10498032" y="1709365"/>
            <a:ext cx="209550" cy="182245"/>
          </a:xfrm>
          <a:custGeom>
            <a:avLst/>
            <a:gdLst/>
            <a:ahLst/>
            <a:cxnLst/>
            <a:rect l="l" t="t" r="r" b="b"/>
            <a:pathLst>
              <a:path w="209550" h="182244">
                <a:moveTo>
                  <a:pt x="209180" y="182038"/>
                </a:moveTo>
                <a:lnTo>
                  <a:pt x="209180" y="0"/>
                </a:lnTo>
                <a:lnTo>
                  <a:pt x="0" y="0"/>
                </a:lnTo>
                <a:lnTo>
                  <a:pt x="0" y="182038"/>
                </a:lnTo>
                <a:lnTo>
                  <a:pt x="209180" y="182038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" name="object 255"/>
          <p:cNvSpPr/>
          <p:nvPr/>
        </p:nvSpPr>
        <p:spPr>
          <a:xfrm>
            <a:off x="10270223" y="1644739"/>
            <a:ext cx="209550" cy="311785"/>
          </a:xfrm>
          <a:custGeom>
            <a:avLst/>
            <a:gdLst/>
            <a:ahLst/>
            <a:cxnLst/>
            <a:rect l="l" t="t" r="r" b="b"/>
            <a:pathLst>
              <a:path w="209550" h="311785">
                <a:moveTo>
                  <a:pt x="209180" y="311483"/>
                </a:moveTo>
                <a:lnTo>
                  <a:pt x="209180" y="0"/>
                </a:lnTo>
                <a:lnTo>
                  <a:pt x="0" y="0"/>
                </a:lnTo>
                <a:lnTo>
                  <a:pt x="0" y="311483"/>
                </a:lnTo>
                <a:lnTo>
                  <a:pt x="209180" y="311483"/>
                </a:lnTo>
                <a:close/>
              </a:path>
            </a:pathLst>
          </a:custGeom>
          <a:solidFill>
            <a:srgbClr val="EF00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" name="object 256"/>
          <p:cNvSpPr/>
          <p:nvPr/>
        </p:nvSpPr>
        <p:spPr>
          <a:xfrm>
            <a:off x="10270223" y="1644739"/>
            <a:ext cx="209550" cy="311785"/>
          </a:xfrm>
          <a:custGeom>
            <a:avLst/>
            <a:gdLst/>
            <a:ahLst/>
            <a:cxnLst/>
            <a:rect l="l" t="t" r="r" b="b"/>
            <a:pathLst>
              <a:path w="209550" h="311785">
                <a:moveTo>
                  <a:pt x="209180" y="311483"/>
                </a:moveTo>
                <a:lnTo>
                  <a:pt x="209180" y="0"/>
                </a:lnTo>
                <a:lnTo>
                  <a:pt x="0" y="0"/>
                </a:lnTo>
                <a:lnTo>
                  <a:pt x="0" y="311483"/>
                </a:lnTo>
                <a:lnTo>
                  <a:pt x="209180" y="311483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" name="object 257"/>
          <p:cNvSpPr/>
          <p:nvPr/>
        </p:nvSpPr>
        <p:spPr>
          <a:xfrm>
            <a:off x="10042220" y="1633871"/>
            <a:ext cx="209550" cy="333375"/>
          </a:xfrm>
          <a:custGeom>
            <a:avLst/>
            <a:gdLst/>
            <a:ahLst/>
            <a:cxnLst/>
            <a:rect l="l" t="t" r="r" b="b"/>
            <a:pathLst>
              <a:path w="209550" h="333375">
                <a:moveTo>
                  <a:pt x="209180" y="333025"/>
                </a:moveTo>
                <a:lnTo>
                  <a:pt x="209180" y="0"/>
                </a:lnTo>
                <a:lnTo>
                  <a:pt x="0" y="0"/>
                </a:lnTo>
                <a:lnTo>
                  <a:pt x="0" y="333025"/>
                </a:lnTo>
                <a:lnTo>
                  <a:pt x="209180" y="333025"/>
                </a:lnTo>
                <a:close/>
              </a:path>
            </a:pathLst>
          </a:custGeom>
          <a:solidFill>
            <a:srgbClr val="EF00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" name="object 258"/>
          <p:cNvSpPr/>
          <p:nvPr/>
        </p:nvSpPr>
        <p:spPr>
          <a:xfrm>
            <a:off x="10042220" y="1633871"/>
            <a:ext cx="209550" cy="333375"/>
          </a:xfrm>
          <a:custGeom>
            <a:avLst/>
            <a:gdLst/>
            <a:ahLst/>
            <a:cxnLst/>
            <a:rect l="l" t="t" r="r" b="b"/>
            <a:pathLst>
              <a:path w="209550" h="333375">
                <a:moveTo>
                  <a:pt x="209180" y="333025"/>
                </a:moveTo>
                <a:lnTo>
                  <a:pt x="209180" y="0"/>
                </a:lnTo>
                <a:lnTo>
                  <a:pt x="0" y="0"/>
                </a:lnTo>
                <a:lnTo>
                  <a:pt x="0" y="333025"/>
                </a:lnTo>
                <a:lnTo>
                  <a:pt x="209180" y="333025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" name="object 259"/>
          <p:cNvSpPr/>
          <p:nvPr/>
        </p:nvSpPr>
        <p:spPr>
          <a:xfrm>
            <a:off x="9814411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" name="object 260"/>
          <p:cNvSpPr/>
          <p:nvPr/>
        </p:nvSpPr>
        <p:spPr>
          <a:xfrm>
            <a:off x="9814411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" name="object 261"/>
          <p:cNvSpPr/>
          <p:nvPr/>
        </p:nvSpPr>
        <p:spPr>
          <a:xfrm>
            <a:off x="9586602" y="1709365"/>
            <a:ext cx="209550" cy="182245"/>
          </a:xfrm>
          <a:custGeom>
            <a:avLst/>
            <a:gdLst/>
            <a:ahLst/>
            <a:cxnLst/>
            <a:rect l="l" t="t" r="r" b="b"/>
            <a:pathLst>
              <a:path w="209550" h="182244">
                <a:moveTo>
                  <a:pt x="209180" y="182038"/>
                </a:moveTo>
                <a:lnTo>
                  <a:pt x="209180" y="0"/>
                </a:lnTo>
                <a:lnTo>
                  <a:pt x="0" y="0"/>
                </a:lnTo>
                <a:lnTo>
                  <a:pt x="0" y="182038"/>
                </a:lnTo>
                <a:lnTo>
                  <a:pt x="209180" y="182038"/>
                </a:lnTo>
                <a:close/>
              </a:path>
            </a:pathLst>
          </a:custGeom>
          <a:solidFill>
            <a:srgbClr val="FFB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" name="object 262"/>
          <p:cNvSpPr/>
          <p:nvPr/>
        </p:nvSpPr>
        <p:spPr>
          <a:xfrm>
            <a:off x="9586602" y="1709365"/>
            <a:ext cx="209550" cy="182245"/>
          </a:xfrm>
          <a:custGeom>
            <a:avLst/>
            <a:gdLst/>
            <a:ahLst/>
            <a:cxnLst/>
            <a:rect l="l" t="t" r="r" b="b"/>
            <a:pathLst>
              <a:path w="209550" h="182244">
                <a:moveTo>
                  <a:pt x="209180" y="182038"/>
                </a:moveTo>
                <a:lnTo>
                  <a:pt x="209180" y="0"/>
                </a:lnTo>
                <a:lnTo>
                  <a:pt x="0" y="0"/>
                </a:lnTo>
                <a:lnTo>
                  <a:pt x="0" y="182038"/>
                </a:lnTo>
                <a:lnTo>
                  <a:pt x="209180" y="182038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" name="object 263"/>
          <p:cNvSpPr/>
          <p:nvPr/>
        </p:nvSpPr>
        <p:spPr>
          <a:xfrm>
            <a:off x="9358599" y="1709365"/>
            <a:ext cx="209550" cy="182245"/>
          </a:xfrm>
          <a:custGeom>
            <a:avLst/>
            <a:gdLst/>
            <a:ahLst/>
            <a:cxnLst/>
            <a:rect l="l" t="t" r="r" b="b"/>
            <a:pathLst>
              <a:path w="209550" h="182244">
                <a:moveTo>
                  <a:pt x="209180" y="182038"/>
                </a:moveTo>
                <a:lnTo>
                  <a:pt x="209180" y="0"/>
                </a:lnTo>
                <a:lnTo>
                  <a:pt x="0" y="0"/>
                </a:lnTo>
                <a:lnTo>
                  <a:pt x="0" y="182038"/>
                </a:lnTo>
                <a:lnTo>
                  <a:pt x="209180" y="182038"/>
                </a:lnTo>
                <a:close/>
              </a:path>
            </a:pathLst>
          </a:custGeom>
          <a:solidFill>
            <a:srgbClr val="FFB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" name="object 264"/>
          <p:cNvSpPr/>
          <p:nvPr/>
        </p:nvSpPr>
        <p:spPr>
          <a:xfrm>
            <a:off x="9358599" y="1709365"/>
            <a:ext cx="209550" cy="182245"/>
          </a:xfrm>
          <a:custGeom>
            <a:avLst/>
            <a:gdLst/>
            <a:ahLst/>
            <a:cxnLst/>
            <a:rect l="l" t="t" r="r" b="b"/>
            <a:pathLst>
              <a:path w="209550" h="182244">
                <a:moveTo>
                  <a:pt x="209180" y="182038"/>
                </a:moveTo>
                <a:lnTo>
                  <a:pt x="209180" y="0"/>
                </a:lnTo>
                <a:lnTo>
                  <a:pt x="0" y="0"/>
                </a:lnTo>
                <a:lnTo>
                  <a:pt x="0" y="182038"/>
                </a:lnTo>
                <a:lnTo>
                  <a:pt x="209180" y="182038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" name="object 265"/>
          <p:cNvSpPr/>
          <p:nvPr/>
        </p:nvSpPr>
        <p:spPr>
          <a:xfrm>
            <a:off x="9130790" y="1709365"/>
            <a:ext cx="209550" cy="182245"/>
          </a:xfrm>
          <a:custGeom>
            <a:avLst/>
            <a:gdLst/>
            <a:ahLst/>
            <a:cxnLst/>
            <a:rect l="l" t="t" r="r" b="b"/>
            <a:pathLst>
              <a:path w="209550" h="182244">
                <a:moveTo>
                  <a:pt x="209180" y="182038"/>
                </a:moveTo>
                <a:lnTo>
                  <a:pt x="209180" y="0"/>
                </a:lnTo>
                <a:lnTo>
                  <a:pt x="0" y="0"/>
                </a:lnTo>
                <a:lnTo>
                  <a:pt x="0" y="182038"/>
                </a:lnTo>
                <a:lnTo>
                  <a:pt x="209180" y="182038"/>
                </a:lnTo>
                <a:close/>
              </a:path>
            </a:pathLst>
          </a:custGeom>
          <a:solidFill>
            <a:srgbClr val="D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" name="object 266"/>
          <p:cNvSpPr/>
          <p:nvPr/>
        </p:nvSpPr>
        <p:spPr>
          <a:xfrm>
            <a:off x="9130790" y="1709365"/>
            <a:ext cx="209550" cy="182245"/>
          </a:xfrm>
          <a:custGeom>
            <a:avLst/>
            <a:gdLst/>
            <a:ahLst/>
            <a:cxnLst/>
            <a:rect l="l" t="t" r="r" b="b"/>
            <a:pathLst>
              <a:path w="209550" h="182244">
                <a:moveTo>
                  <a:pt x="209180" y="182038"/>
                </a:moveTo>
                <a:lnTo>
                  <a:pt x="209180" y="0"/>
                </a:lnTo>
                <a:lnTo>
                  <a:pt x="0" y="0"/>
                </a:lnTo>
                <a:lnTo>
                  <a:pt x="0" y="182038"/>
                </a:lnTo>
                <a:lnTo>
                  <a:pt x="209180" y="182038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" name="object 267"/>
          <p:cNvSpPr/>
          <p:nvPr/>
        </p:nvSpPr>
        <p:spPr>
          <a:xfrm>
            <a:off x="8902982" y="1660847"/>
            <a:ext cx="209550" cy="279400"/>
          </a:xfrm>
          <a:custGeom>
            <a:avLst/>
            <a:gdLst/>
            <a:ahLst/>
            <a:cxnLst/>
            <a:rect l="l" t="t" r="r" b="b"/>
            <a:pathLst>
              <a:path w="209550" h="279400">
                <a:moveTo>
                  <a:pt x="209180" y="279268"/>
                </a:moveTo>
                <a:lnTo>
                  <a:pt x="209180" y="0"/>
                </a:lnTo>
                <a:lnTo>
                  <a:pt x="0" y="0"/>
                </a:lnTo>
                <a:lnTo>
                  <a:pt x="0" y="279268"/>
                </a:lnTo>
                <a:lnTo>
                  <a:pt x="209180" y="279268"/>
                </a:lnTo>
                <a:close/>
              </a:path>
            </a:pathLst>
          </a:custGeom>
          <a:solidFill>
            <a:srgbClr val="102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" name="object 268"/>
          <p:cNvSpPr/>
          <p:nvPr/>
        </p:nvSpPr>
        <p:spPr>
          <a:xfrm>
            <a:off x="8902982" y="1660847"/>
            <a:ext cx="209550" cy="279400"/>
          </a:xfrm>
          <a:custGeom>
            <a:avLst/>
            <a:gdLst/>
            <a:ahLst/>
            <a:cxnLst/>
            <a:rect l="l" t="t" r="r" b="b"/>
            <a:pathLst>
              <a:path w="209550" h="279400">
                <a:moveTo>
                  <a:pt x="209180" y="279268"/>
                </a:moveTo>
                <a:lnTo>
                  <a:pt x="209180" y="0"/>
                </a:lnTo>
                <a:lnTo>
                  <a:pt x="0" y="0"/>
                </a:lnTo>
                <a:lnTo>
                  <a:pt x="0" y="279268"/>
                </a:lnTo>
                <a:lnTo>
                  <a:pt x="209180" y="279268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" name="object 269"/>
          <p:cNvSpPr/>
          <p:nvPr/>
        </p:nvSpPr>
        <p:spPr>
          <a:xfrm>
            <a:off x="8674979" y="1644739"/>
            <a:ext cx="209550" cy="311785"/>
          </a:xfrm>
          <a:custGeom>
            <a:avLst/>
            <a:gdLst/>
            <a:ahLst/>
            <a:cxnLst/>
            <a:rect l="l" t="t" r="r" b="b"/>
            <a:pathLst>
              <a:path w="209550" h="311785">
                <a:moveTo>
                  <a:pt x="209180" y="311483"/>
                </a:moveTo>
                <a:lnTo>
                  <a:pt x="209180" y="0"/>
                </a:lnTo>
                <a:lnTo>
                  <a:pt x="0" y="0"/>
                </a:lnTo>
                <a:lnTo>
                  <a:pt x="0" y="311483"/>
                </a:lnTo>
                <a:lnTo>
                  <a:pt x="209180" y="311483"/>
                </a:lnTo>
                <a:close/>
              </a:path>
            </a:pathLst>
          </a:custGeom>
          <a:solidFill>
            <a:srgbClr val="5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" name="object 270"/>
          <p:cNvSpPr/>
          <p:nvPr/>
        </p:nvSpPr>
        <p:spPr>
          <a:xfrm>
            <a:off x="8674979" y="1644739"/>
            <a:ext cx="209550" cy="311785"/>
          </a:xfrm>
          <a:custGeom>
            <a:avLst/>
            <a:gdLst/>
            <a:ahLst/>
            <a:cxnLst/>
            <a:rect l="l" t="t" r="r" b="b"/>
            <a:pathLst>
              <a:path w="209550" h="311785">
                <a:moveTo>
                  <a:pt x="209180" y="311483"/>
                </a:moveTo>
                <a:lnTo>
                  <a:pt x="209180" y="0"/>
                </a:lnTo>
                <a:lnTo>
                  <a:pt x="0" y="0"/>
                </a:lnTo>
                <a:lnTo>
                  <a:pt x="0" y="311483"/>
                </a:lnTo>
                <a:lnTo>
                  <a:pt x="209180" y="311483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" name="object 271"/>
          <p:cNvSpPr/>
          <p:nvPr/>
        </p:nvSpPr>
        <p:spPr>
          <a:xfrm>
            <a:off x="8447169" y="1725473"/>
            <a:ext cx="209550" cy="149860"/>
          </a:xfrm>
          <a:custGeom>
            <a:avLst/>
            <a:gdLst/>
            <a:ahLst/>
            <a:cxnLst/>
            <a:rect l="l" t="t" r="r" b="b"/>
            <a:pathLst>
              <a:path w="209550" h="149860">
                <a:moveTo>
                  <a:pt x="209180" y="149822"/>
                </a:moveTo>
                <a:lnTo>
                  <a:pt x="209180" y="0"/>
                </a:lnTo>
                <a:lnTo>
                  <a:pt x="0" y="0"/>
                </a:lnTo>
                <a:lnTo>
                  <a:pt x="0" y="149822"/>
                </a:lnTo>
                <a:lnTo>
                  <a:pt x="209180" y="149822"/>
                </a:lnTo>
                <a:close/>
              </a:path>
            </a:pathLst>
          </a:custGeom>
          <a:solidFill>
            <a:srgbClr val="2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2" name="object 272"/>
          <p:cNvSpPr/>
          <p:nvPr/>
        </p:nvSpPr>
        <p:spPr>
          <a:xfrm>
            <a:off x="8447169" y="1725473"/>
            <a:ext cx="209550" cy="149860"/>
          </a:xfrm>
          <a:custGeom>
            <a:avLst/>
            <a:gdLst/>
            <a:ahLst/>
            <a:cxnLst/>
            <a:rect l="l" t="t" r="r" b="b"/>
            <a:pathLst>
              <a:path w="209550" h="149860">
                <a:moveTo>
                  <a:pt x="209180" y="149822"/>
                </a:moveTo>
                <a:lnTo>
                  <a:pt x="209180" y="0"/>
                </a:lnTo>
                <a:lnTo>
                  <a:pt x="0" y="0"/>
                </a:lnTo>
                <a:lnTo>
                  <a:pt x="0" y="149822"/>
                </a:lnTo>
                <a:lnTo>
                  <a:pt x="209180" y="149822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3" name="object 273"/>
          <p:cNvSpPr/>
          <p:nvPr/>
        </p:nvSpPr>
        <p:spPr>
          <a:xfrm>
            <a:off x="8219361" y="1752449"/>
            <a:ext cx="209550" cy="95885"/>
          </a:xfrm>
          <a:custGeom>
            <a:avLst/>
            <a:gdLst/>
            <a:ahLst/>
            <a:cxnLst/>
            <a:rect l="l" t="t" r="r" b="b"/>
            <a:pathLst>
              <a:path w="209550" h="95885">
                <a:moveTo>
                  <a:pt x="209180" y="95871"/>
                </a:moveTo>
                <a:lnTo>
                  <a:pt x="209180" y="0"/>
                </a:lnTo>
                <a:lnTo>
                  <a:pt x="0" y="0"/>
                </a:lnTo>
                <a:lnTo>
                  <a:pt x="0" y="95871"/>
                </a:lnTo>
                <a:lnTo>
                  <a:pt x="209180" y="95871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4" name="object 274"/>
          <p:cNvSpPr/>
          <p:nvPr/>
        </p:nvSpPr>
        <p:spPr>
          <a:xfrm>
            <a:off x="8219361" y="1752449"/>
            <a:ext cx="209550" cy="95885"/>
          </a:xfrm>
          <a:custGeom>
            <a:avLst/>
            <a:gdLst/>
            <a:ahLst/>
            <a:cxnLst/>
            <a:rect l="l" t="t" r="r" b="b"/>
            <a:pathLst>
              <a:path w="209550" h="95885">
                <a:moveTo>
                  <a:pt x="209180" y="95871"/>
                </a:moveTo>
                <a:lnTo>
                  <a:pt x="209180" y="0"/>
                </a:lnTo>
                <a:lnTo>
                  <a:pt x="0" y="0"/>
                </a:lnTo>
                <a:lnTo>
                  <a:pt x="0" y="95871"/>
                </a:lnTo>
                <a:lnTo>
                  <a:pt x="209180" y="95871"/>
                </a:lnTo>
                <a:close/>
              </a:path>
            </a:pathLst>
          </a:custGeom>
          <a:ln w="14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5" name="object 275"/>
          <p:cNvSpPr/>
          <p:nvPr/>
        </p:nvSpPr>
        <p:spPr>
          <a:xfrm>
            <a:off x="7991357" y="1730907"/>
            <a:ext cx="209550" cy="139065"/>
          </a:xfrm>
          <a:custGeom>
            <a:avLst/>
            <a:gdLst/>
            <a:ahLst/>
            <a:cxnLst/>
            <a:rect l="l" t="t" r="r" b="b"/>
            <a:pathLst>
              <a:path w="209550" h="139064">
                <a:moveTo>
                  <a:pt x="209180" y="138954"/>
                </a:moveTo>
                <a:lnTo>
                  <a:pt x="209180" y="0"/>
                </a:lnTo>
                <a:lnTo>
                  <a:pt x="0" y="0"/>
                </a:lnTo>
                <a:lnTo>
                  <a:pt x="0" y="138954"/>
                </a:lnTo>
                <a:lnTo>
                  <a:pt x="209180" y="138954"/>
                </a:lnTo>
                <a:close/>
              </a:path>
            </a:pathLst>
          </a:custGeom>
          <a:solidFill>
            <a:srgbClr val="009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6" name="object 276"/>
          <p:cNvSpPr/>
          <p:nvPr/>
        </p:nvSpPr>
        <p:spPr>
          <a:xfrm>
            <a:off x="7991357" y="1730907"/>
            <a:ext cx="209550" cy="139065"/>
          </a:xfrm>
          <a:custGeom>
            <a:avLst/>
            <a:gdLst/>
            <a:ahLst/>
            <a:cxnLst/>
            <a:rect l="l" t="t" r="r" b="b"/>
            <a:pathLst>
              <a:path w="209550" h="139064">
                <a:moveTo>
                  <a:pt x="209180" y="138954"/>
                </a:moveTo>
                <a:lnTo>
                  <a:pt x="209180" y="0"/>
                </a:lnTo>
                <a:lnTo>
                  <a:pt x="0" y="0"/>
                </a:lnTo>
                <a:lnTo>
                  <a:pt x="0" y="138954"/>
                </a:lnTo>
                <a:lnTo>
                  <a:pt x="209180" y="138954"/>
                </a:lnTo>
                <a:close/>
              </a:path>
            </a:pathLst>
          </a:custGeom>
          <a:ln w="14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7" name="object 277"/>
          <p:cNvSpPr/>
          <p:nvPr/>
        </p:nvSpPr>
        <p:spPr>
          <a:xfrm>
            <a:off x="7763549" y="1709365"/>
            <a:ext cx="209550" cy="182245"/>
          </a:xfrm>
          <a:custGeom>
            <a:avLst/>
            <a:gdLst/>
            <a:ahLst/>
            <a:cxnLst/>
            <a:rect l="l" t="t" r="r" b="b"/>
            <a:pathLst>
              <a:path w="209550" h="182244">
                <a:moveTo>
                  <a:pt x="209180" y="182038"/>
                </a:moveTo>
                <a:lnTo>
                  <a:pt x="209180" y="0"/>
                </a:lnTo>
                <a:lnTo>
                  <a:pt x="0" y="0"/>
                </a:lnTo>
                <a:lnTo>
                  <a:pt x="0" y="182038"/>
                </a:lnTo>
                <a:lnTo>
                  <a:pt x="209180" y="182038"/>
                </a:lnTo>
                <a:close/>
              </a:path>
            </a:pathLst>
          </a:custGeom>
          <a:solidFill>
            <a:srgbClr val="00F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8" name="object 278"/>
          <p:cNvSpPr/>
          <p:nvPr/>
        </p:nvSpPr>
        <p:spPr>
          <a:xfrm>
            <a:off x="7763549" y="1709365"/>
            <a:ext cx="209550" cy="182245"/>
          </a:xfrm>
          <a:custGeom>
            <a:avLst/>
            <a:gdLst/>
            <a:ahLst/>
            <a:cxnLst/>
            <a:rect l="l" t="t" r="r" b="b"/>
            <a:pathLst>
              <a:path w="209550" h="182244">
                <a:moveTo>
                  <a:pt x="209180" y="182038"/>
                </a:moveTo>
                <a:lnTo>
                  <a:pt x="209180" y="0"/>
                </a:lnTo>
                <a:lnTo>
                  <a:pt x="0" y="0"/>
                </a:lnTo>
                <a:lnTo>
                  <a:pt x="0" y="182038"/>
                </a:lnTo>
                <a:lnTo>
                  <a:pt x="209180" y="182038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9" name="object 279"/>
          <p:cNvSpPr/>
          <p:nvPr/>
        </p:nvSpPr>
        <p:spPr>
          <a:xfrm>
            <a:off x="7535740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6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0" name="object 280"/>
          <p:cNvSpPr/>
          <p:nvPr/>
        </p:nvSpPr>
        <p:spPr>
          <a:xfrm>
            <a:off x="7535740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1" name="object 281"/>
          <p:cNvSpPr/>
          <p:nvPr/>
        </p:nvSpPr>
        <p:spPr>
          <a:xfrm>
            <a:off x="7307736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2" name="object 282"/>
          <p:cNvSpPr/>
          <p:nvPr/>
        </p:nvSpPr>
        <p:spPr>
          <a:xfrm>
            <a:off x="7307736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3" name="object 283"/>
          <p:cNvSpPr/>
          <p:nvPr/>
        </p:nvSpPr>
        <p:spPr>
          <a:xfrm>
            <a:off x="7079928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4" name="object 284"/>
          <p:cNvSpPr/>
          <p:nvPr/>
        </p:nvSpPr>
        <p:spPr>
          <a:xfrm>
            <a:off x="7079928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5" name="object 285"/>
          <p:cNvSpPr/>
          <p:nvPr/>
        </p:nvSpPr>
        <p:spPr>
          <a:xfrm>
            <a:off x="6851925" y="1703931"/>
            <a:ext cx="209550" cy="193040"/>
          </a:xfrm>
          <a:custGeom>
            <a:avLst/>
            <a:gdLst/>
            <a:ahLst/>
            <a:cxnLst/>
            <a:rect l="l" t="t" r="r" b="b"/>
            <a:pathLst>
              <a:path w="209550" h="193039">
                <a:moveTo>
                  <a:pt x="209180" y="192906"/>
                </a:moveTo>
                <a:lnTo>
                  <a:pt x="209180" y="0"/>
                </a:lnTo>
                <a:lnTo>
                  <a:pt x="0" y="0"/>
                </a:lnTo>
                <a:lnTo>
                  <a:pt x="0" y="192906"/>
                </a:lnTo>
                <a:lnTo>
                  <a:pt x="209180" y="192906"/>
                </a:lnTo>
                <a:close/>
              </a:path>
            </a:pathLst>
          </a:custGeom>
          <a:solidFill>
            <a:srgbClr val="00FF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6" name="object 286"/>
          <p:cNvSpPr/>
          <p:nvPr/>
        </p:nvSpPr>
        <p:spPr>
          <a:xfrm>
            <a:off x="6851925" y="1703931"/>
            <a:ext cx="209550" cy="193040"/>
          </a:xfrm>
          <a:custGeom>
            <a:avLst/>
            <a:gdLst/>
            <a:ahLst/>
            <a:cxnLst/>
            <a:rect l="l" t="t" r="r" b="b"/>
            <a:pathLst>
              <a:path w="209550" h="193039">
                <a:moveTo>
                  <a:pt x="209180" y="192906"/>
                </a:moveTo>
                <a:lnTo>
                  <a:pt x="209180" y="0"/>
                </a:lnTo>
                <a:lnTo>
                  <a:pt x="0" y="0"/>
                </a:lnTo>
                <a:lnTo>
                  <a:pt x="0" y="192906"/>
                </a:lnTo>
                <a:lnTo>
                  <a:pt x="209180" y="192906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7" name="object 287"/>
          <p:cNvSpPr/>
          <p:nvPr/>
        </p:nvSpPr>
        <p:spPr>
          <a:xfrm>
            <a:off x="6624116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8" name="object 288"/>
          <p:cNvSpPr/>
          <p:nvPr/>
        </p:nvSpPr>
        <p:spPr>
          <a:xfrm>
            <a:off x="6624116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9" name="object 289"/>
          <p:cNvSpPr/>
          <p:nvPr/>
        </p:nvSpPr>
        <p:spPr>
          <a:xfrm>
            <a:off x="6396307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0" name="object 290"/>
          <p:cNvSpPr/>
          <p:nvPr/>
        </p:nvSpPr>
        <p:spPr>
          <a:xfrm>
            <a:off x="6396307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1" name="object 291"/>
          <p:cNvSpPr/>
          <p:nvPr/>
        </p:nvSpPr>
        <p:spPr>
          <a:xfrm>
            <a:off x="6168304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2" name="object 292"/>
          <p:cNvSpPr/>
          <p:nvPr/>
        </p:nvSpPr>
        <p:spPr>
          <a:xfrm>
            <a:off x="6168304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3" name="object 293"/>
          <p:cNvSpPr/>
          <p:nvPr/>
        </p:nvSpPr>
        <p:spPr>
          <a:xfrm>
            <a:off x="5940495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4" name="object 294"/>
          <p:cNvSpPr/>
          <p:nvPr/>
        </p:nvSpPr>
        <p:spPr>
          <a:xfrm>
            <a:off x="5940495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5" name="object 295"/>
          <p:cNvSpPr/>
          <p:nvPr/>
        </p:nvSpPr>
        <p:spPr>
          <a:xfrm>
            <a:off x="5712686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6" name="object 296"/>
          <p:cNvSpPr/>
          <p:nvPr/>
        </p:nvSpPr>
        <p:spPr>
          <a:xfrm>
            <a:off x="5712686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7" name="object 297"/>
          <p:cNvSpPr/>
          <p:nvPr/>
        </p:nvSpPr>
        <p:spPr>
          <a:xfrm>
            <a:off x="5484683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8" name="object 298"/>
          <p:cNvSpPr/>
          <p:nvPr/>
        </p:nvSpPr>
        <p:spPr>
          <a:xfrm>
            <a:off x="5484683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9" name="object 299"/>
          <p:cNvSpPr/>
          <p:nvPr/>
        </p:nvSpPr>
        <p:spPr>
          <a:xfrm>
            <a:off x="5256874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0" name="object 300"/>
          <p:cNvSpPr/>
          <p:nvPr/>
        </p:nvSpPr>
        <p:spPr>
          <a:xfrm>
            <a:off x="5256874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1" name="object 301"/>
          <p:cNvSpPr/>
          <p:nvPr/>
        </p:nvSpPr>
        <p:spPr>
          <a:xfrm>
            <a:off x="5029065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8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2" name="object 302"/>
          <p:cNvSpPr/>
          <p:nvPr/>
        </p:nvSpPr>
        <p:spPr>
          <a:xfrm>
            <a:off x="5029065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3" name="object 303"/>
          <p:cNvSpPr/>
          <p:nvPr/>
        </p:nvSpPr>
        <p:spPr>
          <a:xfrm>
            <a:off x="4801062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8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4" name="object 304"/>
          <p:cNvSpPr/>
          <p:nvPr/>
        </p:nvSpPr>
        <p:spPr>
          <a:xfrm>
            <a:off x="4801062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5" name="object 305"/>
          <p:cNvSpPr/>
          <p:nvPr/>
        </p:nvSpPr>
        <p:spPr>
          <a:xfrm>
            <a:off x="4573253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6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6" name="object 306"/>
          <p:cNvSpPr/>
          <p:nvPr/>
        </p:nvSpPr>
        <p:spPr>
          <a:xfrm>
            <a:off x="4573253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7" name="object 307"/>
          <p:cNvSpPr/>
          <p:nvPr/>
        </p:nvSpPr>
        <p:spPr>
          <a:xfrm>
            <a:off x="4345250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6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8" name="object 308"/>
          <p:cNvSpPr/>
          <p:nvPr/>
        </p:nvSpPr>
        <p:spPr>
          <a:xfrm>
            <a:off x="4345250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9" name="object 309"/>
          <p:cNvSpPr/>
          <p:nvPr/>
        </p:nvSpPr>
        <p:spPr>
          <a:xfrm>
            <a:off x="4117442" y="1720233"/>
            <a:ext cx="209550" cy="160655"/>
          </a:xfrm>
          <a:custGeom>
            <a:avLst/>
            <a:gdLst/>
            <a:ahLst/>
            <a:cxnLst/>
            <a:rect l="l" t="t" r="r" b="b"/>
            <a:pathLst>
              <a:path w="209550" h="160655">
                <a:moveTo>
                  <a:pt x="209180" y="160496"/>
                </a:moveTo>
                <a:lnTo>
                  <a:pt x="209180" y="0"/>
                </a:lnTo>
                <a:lnTo>
                  <a:pt x="0" y="0"/>
                </a:lnTo>
                <a:lnTo>
                  <a:pt x="0" y="160496"/>
                </a:lnTo>
                <a:lnTo>
                  <a:pt x="209180" y="160496"/>
                </a:lnTo>
                <a:close/>
              </a:path>
            </a:pathLst>
          </a:custGeom>
          <a:solidFill>
            <a:srgbClr val="2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0" name="object 310"/>
          <p:cNvSpPr/>
          <p:nvPr/>
        </p:nvSpPr>
        <p:spPr>
          <a:xfrm>
            <a:off x="4117442" y="1720233"/>
            <a:ext cx="209550" cy="160655"/>
          </a:xfrm>
          <a:custGeom>
            <a:avLst/>
            <a:gdLst/>
            <a:ahLst/>
            <a:cxnLst/>
            <a:rect l="l" t="t" r="r" b="b"/>
            <a:pathLst>
              <a:path w="209550" h="160655">
                <a:moveTo>
                  <a:pt x="209180" y="160496"/>
                </a:moveTo>
                <a:lnTo>
                  <a:pt x="209180" y="0"/>
                </a:lnTo>
                <a:lnTo>
                  <a:pt x="0" y="0"/>
                </a:lnTo>
                <a:lnTo>
                  <a:pt x="0" y="160496"/>
                </a:lnTo>
                <a:lnTo>
                  <a:pt x="209180" y="160496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1" name="object 311"/>
          <p:cNvSpPr/>
          <p:nvPr/>
        </p:nvSpPr>
        <p:spPr>
          <a:xfrm>
            <a:off x="3889633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6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2" name="object 312"/>
          <p:cNvSpPr/>
          <p:nvPr/>
        </p:nvSpPr>
        <p:spPr>
          <a:xfrm>
            <a:off x="3889633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3" name="object 313"/>
          <p:cNvSpPr/>
          <p:nvPr/>
        </p:nvSpPr>
        <p:spPr>
          <a:xfrm>
            <a:off x="3661629" y="1709365"/>
            <a:ext cx="209550" cy="182245"/>
          </a:xfrm>
          <a:custGeom>
            <a:avLst/>
            <a:gdLst/>
            <a:ahLst/>
            <a:cxnLst/>
            <a:rect l="l" t="t" r="r" b="b"/>
            <a:pathLst>
              <a:path w="209550" h="182244">
                <a:moveTo>
                  <a:pt x="209180" y="182038"/>
                </a:moveTo>
                <a:lnTo>
                  <a:pt x="209180" y="0"/>
                </a:lnTo>
                <a:lnTo>
                  <a:pt x="0" y="0"/>
                </a:lnTo>
                <a:lnTo>
                  <a:pt x="0" y="182038"/>
                </a:lnTo>
                <a:lnTo>
                  <a:pt x="209180" y="182038"/>
                </a:lnTo>
                <a:close/>
              </a:path>
            </a:pathLst>
          </a:custGeom>
          <a:solidFill>
            <a:srgbClr val="FFB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4" name="object 314"/>
          <p:cNvSpPr/>
          <p:nvPr/>
        </p:nvSpPr>
        <p:spPr>
          <a:xfrm>
            <a:off x="3661629" y="1709365"/>
            <a:ext cx="209550" cy="182245"/>
          </a:xfrm>
          <a:custGeom>
            <a:avLst/>
            <a:gdLst/>
            <a:ahLst/>
            <a:cxnLst/>
            <a:rect l="l" t="t" r="r" b="b"/>
            <a:pathLst>
              <a:path w="209550" h="182244">
                <a:moveTo>
                  <a:pt x="209180" y="182038"/>
                </a:moveTo>
                <a:lnTo>
                  <a:pt x="209180" y="0"/>
                </a:lnTo>
                <a:lnTo>
                  <a:pt x="0" y="0"/>
                </a:lnTo>
                <a:lnTo>
                  <a:pt x="0" y="182038"/>
                </a:lnTo>
                <a:lnTo>
                  <a:pt x="209180" y="182038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5" name="object 315"/>
          <p:cNvSpPr/>
          <p:nvPr/>
        </p:nvSpPr>
        <p:spPr>
          <a:xfrm>
            <a:off x="3433821" y="1709365"/>
            <a:ext cx="209550" cy="182245"/>
          </a:xfrm>
          <a:custGeom>
            <a:avLst/>
            <a:gdLst/>
            <a:ahLst/>
            <a:cxnLst/>
            <a:rect l="l" t="t" r="r" b="b"/>
            <a:pathLst>
              <a:path w="209550" h="182244">
                <a:moveTo>
                  <a:pt x="209180" y="182038"/>
                </a:moveTo>
                <a:lnTo>
                  <a:pt x="209180" y="0"/>
                </a:lnTo>
                <a:lnTo>
                  <a:pt x="0" y="0"/>
                </a:lnTo>
                <a:lnTo>
                  <a:pt x="0" y="182038"/>
                </a:lnTo>
                <a:lnTo>
                  <a:pt x="209180" y="182038"/>
                </a:lnTo>
                <a:close/>
              </a:path>
            </a:pathLst>
          </a:custGeom>
          <a:solidFill>
            <a:srgbClr val="FFB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6" name="object 316"/>
          <p:cNvSpPr/>
          <p:nvPr/>
        </p:nvSpPr>
        <p:spPr>
          <a:xfrm>
            <a:off x="3433821" y="1709365"/>
            <a:ext cx="209550" cy="182245"/>
          </a:xfrm>
          <a:custGeom>
            <a:avLst/>
            <a:gdLst/>
            <a:ahLst/>
            <a:cxnLst/>
            <a:rect l="l" t="t" r="r" b="b"/>
            <a:pathLst>
              <a:path w="209550" h="182244">
                <a:moveTo>
                  <a:pt x="209180" y="182038"/>
                </a:moveTo>
                <a:lnTo>
                  <a:pt x="209180" y="0"/>
                </a:lnTo>
                <a:lnTo>
                  <a:pt x="0" y="0"/>
                </a:lnTo>
                <a:lnTo>
                  <a:pt x="0" y="182038"/>
                </a:lnTo>
                <a:lnTo>
                  <a:pt x="209180" y="182038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7" name="object 317"/>
          <p:cNvSpPr/>
          <p:nvPr/>
        </p:nvSpPr>
        <p:spPr>
          <a:xfrm>
            <a:off x="3206012" y="1709365"/>
            <a:ext cx="209550" cy="182245"/>
          </a:xfrm>
          <a:custGeom>
            <a:avLst/>
            <a:gdLst/>
            <a:ahLst/>
            <a:cxnLst/>
            <a:rect l="l" t="t" r="r" b="b"/>
            <a:pathLst>
              <a:path w="209550" h="182244">
                <a:moveTo>
                  <a:pt x="209180" y="182038"/>
                </a:moveTo>
                <a:lnTo>
                  <a:pt x="209180" y="0"/>
                </a:lnTo>
                <a:lnTo>
                  <a:pt x="0" y="0"/>
                </a:lnTo>
                <a:lnTo>
                  <a:pt x="0" y="182038"/>
                </a:lnTo>
                <a:lnTo>
                  <a:pt x="209180" y="182038"/>
                </a:lnTo>
                <a:close/>
              </a:path>
            </a:pathLst>
          </a:custGeom>
          <a:solidFill>
            <a:srgbClr val="FFB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8" name="object 318"/>
          <p:cNvSpPr/>
          <p:nvPr/>
        </p:nvSpPr>
        <p:spPr>
          <a:xfrm>
            <a:off x="3206012" y="1709365"/>
            <a:ext cx="209550" cy="182245"/>
          </a:xfrm>
          <a:custGeom>
            <a:avLst/>
            <a:gdLst/>
            <a:ahLst/>
            <a:cxnLst/>
            <a:rect l="l" t="t" r="r" b="b"/>
            <a:pathLst>
              <a:path w="209550" h="182244">
                <a:moveTo>
                  <a:pt x="209180" y="182038"/>
                </a:moveTo>
                <a:lnTo>
                  <a:pt x="209180" y="0"/>
                </a:lnTo>
                <a:lnTo>
                  <a:pt x="0" y="0"/>
                </a:lnTo>
                <a:lnTo>
                  <a:pt x="0" y="182038"/>
                </a:lnTo>
                <a:lnTo>
                  <a:pt x="209180" y="182038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9" name="object 319"/>
          <p:cNvSpPr/>
          <p:nvPr/>
        </p:nvSpPr>
        <p:spPr>
          <a:xfrm>
            <a:off x="2978009" y="1709365"/>
            <a:ext cx="209550" cy="182245"/>
          </a:xfrm>
          <a:custGeom>
            <a:avLst/>
            <a:gdLst/>
            <a:ahLst/>
            <a:cxnLst/>
            <a:rect l="l" t="t" r="r" b="b"/>
            <a:pathLst>
              <a:path w="209550" h="182244">
                <a:moveTo>
                  <a:pt x="209180" y="182038"/>
                </a:moveTo>
                <a:lnTo>
                  <a:pt x="209180" y="0"/>
                </a:lnTo>
                <a:lnTo>
                  <a:pt x="0" y="0"/>
                </a:lnTo>
                <a:lnTo>
                  <a:pt x="0" y="182038"/>
                </a:lnTo>
                <a:lnTo>
                  <a:pt x="209180" y="182038"/>
                </a:lnTo>
                <a:close/>
              </a:path>
            </a:pathLst>
          </a:custGeom>
          <a:solidFill>
            <a:srgbClr val="FFB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0" name="object 320"/>
          <p:cNvSpPr/>
          <p:nvPr/>
        </p:nvSpPr>
        <p:spPr>
          <a:xfrm>
            <a:off x="2978009" y="1709365"/>
            <a:ext cx="209550" cy="182245"/>
          </a:xfrm>
          <a:custGeom>
            <a:avLst/>
            <a:gdLst/>
            <a:ahLst/>
            <a:cxnLst/>
            <a:rect l="l" t="t" r="r" b="b"/>
            <a:pathLst>
              <a:path w="209550" h="182244">
                <a:moveTo>
                  <a:pt x="209180" y="182038"/>
                </a:moveTo>
                <a:lnTo>
                  <a:pt x="209180" y="0"/>
                </a:lnTo>
                <a:lnTo>
                  <a:pt x="0" y="0"/>
                </a:lnTo>
                <a:lnTo>
                  <a:pt x="0" y="182038"/>
                </a:lnTo>
                <a:lnTo>
                  <a:pt x="209180" y="182038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1" name="object 321"/>
          <p:cNvSpPr/>
          <p:nvPr/>
        </p:nvSpPr>
        <p:spPr>
          <a:xfrm>
            <a:off x="2750200" y="1709365"/>
            <a:ext cx="209550" cy="182245"/>
          </a:xfrm>
          <a:custGeom>
            <a:avLst/>
            <a:gdLst/>
            <a:ahLst/>
            <a:cxnLst/>
            <a:rect l="l" t="t" r="r" b="b"/>
            <a:pathLst>
              <a:path w="209550" h="182244">
                <a:moveTo>
                  <a:pt x="209180" y="182038"/>
                </a:moveTo>
                <a:lnTo>
                  <a:pt x="209180" y="0"/>
                </a:lnTo>
                <a:lnTo>
                  <a:pt x="0" y="0"/>
                </a:lnTo>
                <a:lnTo>
                  <a:pt x="0" y="182038"/>
                </a:lnTo>
                <a:lnTo>
                  <a:pt x="209180" y="182038"/>
                </a:lnTo>
                <a:close/>
              </a:path>
            </a:pathLst>
          </a:custGeom>
          <a:solidFill>
            <a:srgbClr val="FFB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2" name="object 322"/>
          <p:cNvSpPr/>
          <p:nvPr/>
        </p:nvSpPr>
        <p:spPr>
          <a:xfrm>
            <a:off x="2750200" y="1709365"/>
            <a:ext cx="209550" cy="182245"/>
          </a:xfrm>
          <a:custGeom>
            <a:avLst/>
            <a:gdLst/>
            <a:ahLst/>
            <a:cxnLst/>
            <a:rect l="l" t="t" r="r" b="b"/>
            <a:pathLst>
              <a:path w="209550" h="182244">
                <a:moveTo>
                  <a:pt x="209180" y="182038"/>
                </a:moveTo>
                <a:lnTo>
                  <a:pt x="209180" y="0"/>
                </a:lnTo>
                <a:lnTo>
                  <a:pt x="0" y="0"/>
                </a:lnTo>
                <a:lnTo>
                  <a:pt x="0" y="182038"/>
                </a:lnTo>
                <a:lnTo>
                  <a:pt x="209180" y="182038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3" name="object 323"/>
          <p:cNvSpPr/>
          <p:nvPr/>
        </p:nvSpPr>
        <p:spPr>
          <a:xfrm>
            <a:off x="2522391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4" name="object 324"/>
          <p:cNvSpPr/>
          <p:nvPr/>
        </p:nvSpPr>
        <p:spPr>
          <a:xfrm>
            <a:off x="2522391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5" name="object 325"/>
          <p:cNvSpPr/>
          <p:nvPr/>
        </p:nvSpPr>
        <p:spPr>
          <a:xfrm>
            <a:off x="2294388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6" name="object 326"/>
          <p:cNvSpPr/>
          <p:nvPr/>
        </p:nvSpPr>
        <p:spPr>
          <a:xfrm>
            <a:off x="2294388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7" name="object 327"/>
          <p:cNvSpPr/>
          <p:nvPr/>
        </p:nvSpPr>
        <p:spPr>
          <a:xfrm>
            <a:off x="2066579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8" name="object 328"/>
          <p:cNvSpPr/>
          <p:nvPr/>
        </p:nvSpPr>
        <p:spPr>
          <a:xfrm>
            <a:off x="2066579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9" name="object 329"/>
          <p:cNvSpPr/>
          <p:nvPr/>
        </p:nvSpPr>
        <p:spPr>
          <a:xfrm>
            <a:off x="1838770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0" name="object 330"/>
          <p:cNvSpPr/>
          <p:nvPr/>
        </p:nvSpPr>
        <p:spPr>
          <a:xfrm>
            <a:off x="1838770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1" name="object 331"/>
          <p:cNvSpPr/>
          <p:nvPr/>
        </p:nvSpPr>
        <p:spPr>
          <a:xfrm>
            <a:off x="1610767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2" name="object 332"/>
          <p:cNvSpPr/>
          <p:nvPr/>
        </p:nvSpPr>
        <p:spPr>
          <a:xfrm>
            <a:off x="1610767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3" name="object 333"/>
          <p:cNvSpPr/>
          <p:nvPr/>
        </p:nvSpPr>
        <p:spPr>
          <a:xfrm>
            <a:off x="1382958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4" name="object 334"/>
          <p:cNvSpPr/>
          <p:nvPr/>
        </p:nvSpPr>
        <p:spPr>
          <a:xfrm>
            <a:off x="1382958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5" name="object 335"/>
          <p:cNvSpPr/>
          <p:nvPr/>
        </p:nvSpPr>
        <p:spPr>
          <a:xfrm>
            <a:off x="1154955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6" name="object 336"/>
          <p:cNvSpPr/>
          <p:nvPr/>
        </p:nvSpPr>
        <p:spPr>
          <a:xfrm>
            <a:off x="1154955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7" name="object 337"/>
          <p:cNvSpPr/>
          <p:nvPr/>
        </p:nvSpPr>
        <p:spPr>
          <a:xfrm>
            <a:off x="927146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8" name="object 338"/>
          <p:cNvSpPr/>
          <p:nvPr/>
        </p:nvSpPr>
        <p:spPr>
          <a:xfrm>
            <a:off x="927146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9" name="object 339"/>
          <p:cNvSpPr/>
          <p:nvPr/>
        </p:nvSpPr>
        <p:spPr>
          <a:xfrm>
            <a:off x="699337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0" name="object 340"/>
          <p:cNvSpPr/>
          <p:nvPr/>
        </p:nvSpPr>
        <p:spPr>
          <a:xfrm>
            <a:off x="699337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1" name="object 341"/>
          <p:cNvSpPr/>
          <p:nvPr/>
        </p:nvSpPr>
        <p:spPr>
          <a:xfrm>
            <a:off x="471334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2" name="object 342"/>
          <p:cNvSpPr/>
          <p:nvPr/>
        </p:nvSpPr>
        <p:spPr>
          <a:xfrm>
            <a:off x="471334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3" name="object 343"/>
          <p:cNvSpPr/>
          <p:nvPr/>
        </p:nvSpPr>
        <p:spPr>
          <a:xfrm>
            <a:off x="243525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4" name="object 344"/>
          <p:cNvSpPr/>
          <p:nvPr/>
        </p:nvSpPr>
        <p:spPr>
          <a:xfrm>
            <a:off x="243525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5" name="object 345"/>
          <p:cNvSpPr/>
          <p:nvPr/>
        </p:nvSpPr>
        <p:spPr>
          <a:xfrm>
            <a:off x="15716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6" name="object 346"/>
          <p:cNvSpPr/>
          <p:nvPr/>
        </p:nvSpPr>
        <p:spPr>
          <a:xfrm>
            <a:off x="15716" y="1714799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209180" y="171364"/>
                </a:moveTo>
                <a:lnTo>
                  <a:pt x="209180" y="0"/>
                </a:lnTo>
                <a:lnTo>
                  <a:pt x="0" y="0"/>
                </a:lnTo>
                <a:lnTo>
                  <a:pt x="0" y="171364"/>
                </a:lnTo>
                <a:lnTo>
                  <a:pt x="209180" y="17136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7" name="object 347"/>
          <p:cNvSpPr txBox="1"/>
          <p:nvPr/>
        </p:nvSpPr>
        <p:spPr>
          <a:xfrm>
            <a:off x="8671007" y="0"/>
            <a:ext cx="3433445" cy="194373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39370" marR="149225" indent="-16510">
              <a:lnSpc>
                <a:spcPct val="100000"/>
              </a:lnSpc>
            </a:pPr>
            <a:r>
              <a:rPr sz="2250" spc="-7" baseline="-7407" dirty="0">
                <a:latin typeface="Helvetica"/>
                <a:cs typeface="Helvetica"/>
              </a:rPr>
              <a:t>L</a:t>
            </a:r>
            <a:r>
              <a:rPr sz="2250" spc="-112" baseline="-7407" dirty="0">
                <a:latin typeface="Helvetica"/>
                <a:cs typeface="Helvetica"/>
              </a:rPr>
              <a:t>M</a:t>
            </a:r>
            <a:r>
              <a:rPr sz="1500" spc="-5" dirty="0">
                <a:latin typeface="Helvetica"/>
                <a:cs typeface="Helvetica"/>
              </a:rPr>
              <a:t>C_poecilopleu</a:t>
            </a:r>
            <a:r>
              <a:rPr sz="1500" spc="20" dirty="0">
                <a:latin typeface="Helvetica"/>
                <a:cs typeface="Helvetica"/>
              </a:rPr>
              <a:t>r</a:t>
            </a:r>
            <a:r>
              <a:rPr sz="1500" spc="-5" dirty="0">
                <a:latin typeface="Helvetica"/>
                <a:cs typeface="Helvetica"/>
              </a:rPr>
              <a:t>us </a:t>
            </a:r>
            <a:r>
              <a:rPr sz="2250" baseline="-7407" dirty="0">
                <a:latin typeface="Helvetica"/>
                <a:cs typeface="Helvetica"/>
              </a:rPr>
              <a:t>K</a:t>
            </a:r>
            <a:r>
              <a:rPr sz="2250" spc="82" baseline="-7407" dirty="0">
                <a:latin typeface="Helvetica"/>
                <a:cs typeface="Helvetica"/>
              </a:rPr>
              <a:t>L</a:t>
            </a:r>
            <a:r>
              <a:rPr sz="1500" spc="-5" dirty="0">
                <a:latin typeface="Helvetica"/>
                <a:cs typeface="Helvetica"/>
              </a:rPr>
              <a:t>C_</a:t>
            </a:r>
            <a:r>
              <a:rPr sz="1500" spc="-50" dirty="0">
                <a:latin typeface="Helvetica"/>
                <a:cs typeface="Helvetica"/>
              </a:rPr>
              <a:t>e</a:t>
            </a:r>
            <a:r>
              <a:rPr sz="1500" dirty="0">
                <a:latin typeface="Helvetica"/>
                <a:cs typeface="Helvetica"/>
              </a:rPr>
              <a:t>ximius</a:t>
            </a:r>
            <a:endParaRPr sz="1500">
              <a:latin typeface="Helvetica"/>
              <a:cs typeface="Helvetica"/>
            </a:endParaRPr>
          </a:p>
          <a:p>
            <a:pPr marL="87630" algn="just">
              <a:lnSpc>
                <a:spcPts val="1789"/>
              </a:lnSpc>
            </a:pPr>
            <a:r>
              <a:rPr sz="2250" baseline="-7407" dirty="0">
                <a:latin typeface="Helvetica"/>
                <a:cs typeface="Helvetica"/>
              </a:rPr>
              <a:t>D</a:t>
            </a:r>
            <a:r>
              <a:rPr sz="2250" spc="30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C_cursor</a:t>
            </a:r>
            <a:endParaRPr sz="1500">
              <a:latin typeface="Helvetica"/>
              <a:cs typeface="Helvetica"/>
            </a:endParaRPr>
          </a:p>
          <a:p>
            <a:pPr marL="87630" marR="522605" algn="just">
              <a:lnSpc>
                <a:spcPts val="1789"/>
              </a:lnSpc>
              <a:spcBef>
                <a:spcPts val="65"/>
              </a:spcBef>
            </a:pPr>
            <a:r>
              <a:rPr sz="2250" baseline="-7407" dirty="0">
                <a:latin typeface="Helvetica"/>
                <a:cs typeface="Helvetica"/>
              </a:rPr>
              <a:t>C</a:t>
            </a:r>
            <a:r>
              <a:rPr sz="2250" spc="30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</a:t>
            </a:r>
            <a:r>
              <a:rPr sz="1500" spc="-35" dirty="0">
                <a:latin typeface="Helvetica"/>
                <a:cs typeface="Helvetica"/>
              </a:rPr>
              <a:t>b</a:t>
            </a:r>
            <a:r>
              <a:rPr sz="1500" spc="-5" dirty="0">
                <a:latin typeface="Helvetica"/>
                <a:cs typeface="Helvetica"/>
              </a:rPr>
              <a:t>urdeni_B </a:t>
            </a:r>
            <a:r>
              <a:rPr sz="2250" baseline="-7407" dirty="0">
                <a:latin typeface="Helvetica"/>
                <a:cs typeface="Helvetica"/>
              </a:rPr>
              <a:t>C</a:t>
            </a:r>
            <a:r>
              <a:rPr sz="2250" spc="30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</a:t>
            </a:r>
            <a:r>
              <a:rPr sz="1500" spc="-35" dirty="0">
                <a:latin typeface="Helvetica"/>
                <a:cs typeface="Helvetica"/>
              </a:rPr>
              <a:t>b</a:t>
            </a:r>
            <a:r>
              <a:rPr sz="1500" spc="-5" dirty="0">
                <a:latin typeface="Helvetica"/>
                <a:cs typeface="Helvetica"/>
              </a:rPr>
              <a:t>urdeni_A </a:t>
            </a:r>
            <a:r>
              <a:rPr sz="2250" baseline="-7407" dirty="0">
                <a:latin typeface="Helvetica"/>
                <a:cs typeface="Helvetica"/>
              </a:rPr>
              <a:t>A</a:t>
            </a:r>
            <a:r>
              <a:rPr sz="2250" spc="89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C_gur</a:t>
            </a:r>
            <a:r>
              <a:rPr sz="1500" spc="35" dirty="0">
                <a:latin typeface="Helvetica"/>
                <a:cs typeface="Helvetica"/>
              </a:rPr>
              <a:t>r</a:t>
            </a:r>
            <a:r>
              <a:rPr sz="1500" spc="-20" dirty="0">
                <a:latin typeface="Helvetica"/>
                <a:cs typeface="Helvetica"/>
              </a:rPr>
              <a:t>m</a:t>
            </a:r>
            <a:r>
              <a:rPr sz="1500" spc="-5" dirty="0">
                <a:latin typeface="Helvetica"/>
                <a:cs typeface="Helvetica"/>
              </a:rPr>
              <a:t>ul</a:t>
            </a:r>
            <a:endParaRPr sz="1500">
              <a:latin typeface="Helvetica"/>
              <a:cs typeface="Helvetica"/>
            </a:endParaRPr>
          </a:p>
          <a:p>
            <a:pPr marL="22860" marR="5080" indent="-10795" algn="just">
              <a:lnSpc>
                <a:spcPts val="1789"/>
              </a:lnSpc>
              <a:spcBef>
                <a:spcPts val="5"/>
              </a:spcBef>
            </a:pPr>
            <a:r>
              <a:rPr sz="2250" spc="-7" baseline="-7407" dirty="0">
                <a:latin typeface="Helvetica"/>
                <a:cs typeface="Helvetica"/>
              </a:rPr>
              <a:t>N</a:t>
            </a:r>
            <a:r>
              <a:rPr sz="2250" spc="-240" baseline="-7407" dirty="0">
                <a:latin typeface="Helvetica"/>
                <a:cs typeface="Helvetica"/>
              </a:rPr>
              <a:t>O</a:t>
            </a:r>
            <a:r>
              <a:rPr sz="1500" spc="-5" dirty="0">
                <a:latin typeface="Helvetica"/>
                <a:cs typeface="Helvetica"/>
              </a:rPr>
              <a:t>C_boutonii_s</a:t>
            </a:r>
            <a:r>
              <a:rPr sz="1500" spc="-30" dirty="0">
                <a:latin typeface="Helvetica"/>
                <a:cs typeface="Helvetica"/>
              </a:rPr>
              <a:t>e</a:t>
            </a:r>
            <a:r>
              <a:rPr sz="1500" dirty="0">
                <a:latin typeface="Helvetica"/>
                <a:cs typeface="Helvetica"/>
              </a:rPr>
              <a:t>yche </a:t>
            </a:r>
            <a:r>
              <a:rPr sz="2250" spc="-7" baseline="-7407" dirty="0">
                <a:latin typeface="Helvetica"/>
                <a:cs typeface="Helvetica"/>
              </a:rPr>
              <a:t>N</a:t>
            </a:r>
            <a:r>
              <a:rPr sz="2250" spc="-112" baseline="-7407" dirty="0">
                <a:latin typeface="Helvetica"/>
                <a:cs typeface="Helvetica"/>
              </a:rPr>
              <a:t>P</a:t>
            </a:r>
            <a:r>
              <a:rPr sz="1500" spc="-5" dirty="0">
                <a:latin typeface="Helvetica"/>
                <a:cs typeface="Helvetica"/>
              </a:rPr>
              <a:t>C_boutonii_af</a:t>
            </a:r>
            <a:r>
              <a:rPr sz="1500" spc="20" dirty="0">
                <a:latin typeface="Helvetica"/>
                <a:cs typeface="Helvetica"/>
              </a:rPr>
              <a:t>r</a:t>
            </a:r>
            <a:r>
              <a:rPr sz="1500" spc="-5" dirty="0">
                <a:latin typeface="Helvetica"/>
                <a:cs typeface="Helvetica"/>
              </a:rPr>
              <a:t>ican </a:t>
            </a:r>
            <a:r>
              <a:rPr sz="2250" baseline="-7407" dirty="0">
                <a:latin typeface="Helvetica"/>
                <a:cs typeface="Helvetica"/>
              </a:rPr>
              <a:t>N</a:t>
            </a:r>
            <a:r>
              <a:rPr sz="2250" spc="30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C_boutonii</a:t>
            </a:r>
            <a:endParaRPr sz="1500">
              <a:latin typeface="Helvetica"/>
              <a:cs typeface="Helvetica"/>
            </a:endParaRPr>
          </a:p>
          <a:p>
            <a:pPr marL="93345" marR="723900" algn="just">
              <a:lnSpc>
                <a:spcPts val="1789"/>
              </a:lnSpc>
              <a:spcBef>
                <a:spcPts val="5"/>
              </a:spcBef>
            </a:pPr>
            <a:r>
              <a:rPr sz="2250" baseline="-7407" dirty="0">
                <a:latin typeface="Helvetica"/>
                <a:cs typeface="Helvetica"/>
              </a:rPr>
              <a:t>B</a:t>
            </a:r>
            <a:r>
              <a:rPr sz="2250" spc="89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</a:t>
            </a:r>
            <a:r>
              <a:rPr sz="1500" spc="-50" dirty="0">
                <a:latin typeface="Helvetica"/>
                <a:cs typeface="Helvetica"/>
              </a:rPr>
              <a:t>x</a:t>
            </a:r>
            <a:r>
              <a:rPr sz="1500" spc="-5" dirty="0">
                <a:latin typeface="Helvetica"/>
                <a:cs typeface="Helvetica"/>
              </a:rPr>
              <a:t>eni</a:t>
            </a:r>
            <a:r>
              <a:rPr sz="1500" spc="-35" dirty="0">
                <a:latin typeface="Helvetica"/>
                <a:cs typeface="Helvetica"/>
              </a:rPr>
              <a:t>k</a:t>
            </a:r>
            <a:r>
              <a:rPr sz="1500" spc="-5" dirty="0">
                <a:latin typeface="Helvetica"/>
                <a:cs typeface="Helvetica"/>
              </a:rPr>
              <a:t>os </a:t>
            </a:r>
            <a:r>
              <a:rPr sz="2250" baseline="-7407" dirty="0">
                <a:latin typeface="Helvetica"/>
                <a:cs typeface="Helvetica"/>
              </a:rPr>
              <a:t>A</a:t>
            </a:r>
            <a:r>
              <a:rPr sz="2250" spc="89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C_virgatus </a:t>
            </a:r>
            <a:r>
              <a:rPr sz="2250" baseline="-7407" dirty="0">
                <a:latin typeface="Helvetica"/>
                <a:cs typeface="Helvetica"/>
              </a:rPr>
              <a:t>A</a:t>
            </a:r>
            <a:r>
              <a:rPr sz="2250" spc="89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C_fuhni</a:t>
            </a:r>
            <a:endParaRPr sz="1500">
              <a:latin typeface="Helvetica"/>
              <a:cs typeface="Helvetica"/>
            </a:endParaRPr>
          </a:p>
          <a:p>
            <a:pPr marL="93345" marR="22860">
              <a:lnSpc>
                <a:spcPts val="1789"/>
              </a:lnSpc>
            </a:pPr>
            <a:r>
              <a:rPr sz="2250" baseline="-7407" dirty="0">
                <a:latin typeface="Helvetica"/>
                <a:cs typeface="Helvetica"/>
              </a:rPr>
              <a:t>A</a:t>
            </a:r>
            <a:r>
              <a:rPr sz="2250" spc="89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C_pulcher_pulcher </a:t>
            </a:r>
            <a:r>
              <a:rPr sz="2250" baseline="-7407" dirty="0">
                <a:latin typeface="Helvetica"/>
                <a:cs typeface="Helvetica"/>
              </a:rPr>
              <a:t>A</a:t>
            </a:r>
            <a:r>
              <a:rPr sz="2250" spc="89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C_pulcher_cla</a:t>
            </a:r>
            <a:r>
              <a:rPr sz="1500" spc="20" dirty="0">
                <a:latin typeface="Helvetica"/>
                <a:cs typeface="Helvetica"/>
              </a:rPr>
              <a:t>r</a:t>
            </a:r>
            <a:r>
              <a:rPr sz="1500" spc="-5" dirty="0">
                <a:latin typeface="Helvetica"/>
                <a:cs typeface="Helvetica"/>
              </a:rPr>
              <a:t>us </a:t>
            </a:r>
            <a:r>
              <a:rPr sz="2250" baseline="-7407" dirty="0">
                <a:latin typeface="Helvetica"/>
                <a:cs typeface="Helvetica"/>
              </a:rPr>
              <a:t>A</a:t>
            </a:r>
            <a:r>
              <a:rPr sz="2250" spc="89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C_adamsi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348" name="object 348"/>
          <p:cNvSpPr txBox="1"/>
          <p:nvPr/>
        </p:nvSpPr>
        <p:spPr>
          <a:xfrm>
            <a:off x="8443004" y="30983"/>
            <a:ext cx="219710" cy="163576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-5" dirty="0">
                <a:latin typeface="Helvetica"/>
                <a:cs typeface="Helvetica"/>
              </a:rPr>
              <a:t>C_poecilopleu</a:t>
            </a:r>
            <a:r>
              <a:rPr sz="1500" spc="20" dirty="0">
                <a:latin typeface="Helvetica"/>
                <a:cs typeface="Helvetica"/>
              </a:rPr>
              <a:t>r</a:t>
            </a:r>
            <a:r>
              <a:rPr sz="1500" spc="-5" dirty="0">
                <a:latin typeface="Helvetica"/>
                <a:cs typeface="Helvetica"/>
              </a:rPr>
              <a:t>us_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349" name="object 349"/>
          <p:cNvSpPr txBox="1"/>
          <p:nvPr/>
        </p:nvSpPr>
        <p:spPr>
          <a:xfrm>
            <a:off x="8215195" y="0"/>
            <a:ext cx="219710" cy="171132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-5" dirty="0">
                <a:latin typeface="Helvetica"/>
                <a:cs typeface="Helvetica"/>
              </a:rPr>
              <a:t>C_n</a:t>
            </a:r>
            <a:r>
              <a:rPr sz="1500" spc="-25" dirty="0">
                <a:latin typeface="Helvetica"/>
                <a:cs typeface="Helvetica"/>
              </a:rPr>
              <a:t>o</a:t>
            </a:r>
            <a:r>
              <a:rPr sz="1500" spc="-40" dirty="0">
                <a:latin typeface="Helvetica"/>
                <a:cs typeface="Helvetica"/>
              </a:rPr>
              <a:t>v</a:t>
            </a:r>
            <a:r>
              <a:rPr sz="1500" spc="-5" dirty="0">
                <a:latin typeface="Helvetica"/>
                <a:cs typeface="Helvetica"/>
              </a:rPr>
              <a:t>ocaledonicus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350" name="object 350"/>
          <p:cNvSpPr txBox="1"/>
          <p:nvPr/>
        </p:nvSpPr>
        <p:spPr>
          <a:xfrm>
            <a:off x="7987386" y="92740"/>
            <a:ext cx="219710" cy="157416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-5" dirty="0">
                <a:latin typeface="Helvetica"/>
                <a:cs typeface="Helvetica"/>
              </a:rPr>
              <a:t>C_n</a:t>
            </a:r>
            <a:r>
              <a:rPr sz="1500" spc="-25" dirty="0">
                <a:latin typeface="Helvetica"/>
                <a:cs typeface="Helvetica"/>
              </a:rPr>
              <a:t>o</a:t>
            </a:r>
            <a:r>
              <a:rPr sz="1500" spc="-40" dirty="0">
                <a:latin typeface="Helvetica"/>
                <a:cs typeface="Helvetica"/>
              </a:rPr>
              <a:t>v</a:t>
            </a:r>
            <a:r>
              <a:rPr sz="1500" spc="-5" dirty="0">
                <a:latin typeface="Helvetica"/>
                <a:cs typeface="Helvetica"/>
              </a:rPr>
              <a:t>oheb</a:t>
            </a:r>
            <a:r>
              <a:rPr sz="1500" spc="20" dirty="0">
                <a:latin typeface="Helvetica"/>
                <a:cs typeface="Helvetica"/>
              </a:rPr>
              <a:t>r</a:t>
            </a:r>
            <a:r>
              <a:rPr sz="1500" spc="-5" dirty="0">
                <a:latin typeface="Helvetica"/>
                <a:cs typeface="Helvetica"/>
              </a:rPr>
              <a:t>idicus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351" name="object 351"/>
          <p:cNvSpPr txBox="1"/>
          <p:nvPr/>
        </p:nvSpPr>
        <p:spPr>
          <a:xfrm>
            <a:off x="6847953" y="30983"/>
            <a:ext cx="1154430" cy="183705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7780" marR="5080" indent="-5715">
              <a:lnSpc>
                <a:spcPct val="100000"/>
              </a:lnSpc>
            </a:pPr>
            <a:r>
              <a:rPr sz="2250" baseline="-7407" dirty="0">
                <a:latin typeface="Helvetica"/>
                <a:cs typeface="Helvetica"/>
              </a:rPr>
              <a:t>G</a:t>
            </a:r>
            <a:r>
              <a:rPr sz="2250" spc="-37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C_nigropunctatus </a:t>
            </a:r>
            <a:r>
              <a:rPr sz="2250" baseline="-7407" dirty="0">
                <a:latin typeface="Helvetica"/>
                <a:cs typeface="Helvetica"/>
              </a:rPr>
              <a:t>A</a:t>
            </a:r>
            <a:r>
              <a:rPr sz="2250" spc="89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C_lito</a:t>
            </a:r>
            <a:r>
              <a:rPr sz="1500" spc="-15" dirty="0">
                <a:latin typeface="Helvetica"/>
                <a:cs typeface="Helvetica"/>
              </a:rPr>
              <a:t>r</a:t>
            </a:r>
            <a:r>
              <a:rPr sz="1500" spc="-5" dirty="0">
                <a:latin typeface="Helvetica"/>
                <a:cs typeface="Helvetica"/>
              </a:rPr>
              <a:t>alis_ho</a:t>
            </a:r>
            <a:r>
              <a:rPr sz="1500" spc="35" dirty="0">
                <a:latin typeface="Helvetica"/>
                <a:cs typeface="Helvetica"/>
              </a:rPr>
              <a:t>r</a:t>
            </a:r>
            <a:r>
              <a:rPr sz="1500" spc="-5" dirty="0">
                <a:latin typeface="Helvetica"/>
                <a:cs typeface="Helvetica"/>
              </a:rPr>
              <a:t>ne</a:t>
            </a:r>
            <a:r>
              <a:rPr sz="1500" spc="20" dirty="0">
                <a:latin typeface="Helvetica"/>
                <a:cs typeface="Helvetica"/>
              </a:rPr>
              <a:t>r</a:t>
            </a:r>
            <a:r>
              <a:rPr sz="1500" dirty="0">
                <a:latin typeface="Helvetica"/>
                <a:cs typeface="Helvetica"/>
              </a:rPr>
              <a:t>i </a:t>
            </a:r>
            <a:r>
              <a:rPr sz="2250" baseline="-7407" dirty="0">
                <a:latin typeface="Helvetica"/>
                <a:cs typeface="Helvetica"/>
              </a:rPr>
              <a:t>A</a:t>
            </a:r>
            <a:r>
              <a:rPr sz="2250" spc="89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C_lito</a:t>
            </a:r>
            <a:r>
              <a:rPr sz="1500" spc="-15" dirty="0">
                <a:latin typeface="Helvetica"/>
                <a:cs typeface="Helvetica"/>
              </a:rPr>
              <a:t>r</a:t>
            </a:r>
            <a:r>
              <a:rPr sz="1500" spc="-5" dirty="0">
                <a:latin typeface="Helvetica"/>
                <a:cs typeface="Helvetica"/>
              </a:rPr>
              <a:t>alis_lito</a:t>
            </a:r>
            <a:r>
              <a:rPr sz="1500" spc="-15" dirty="0">
                <a:latin typeface="Helvetica"/>
                <a:cs typeface="Helvetica"/>
              </a:rPr>
              <a:t>r</a:t>
            </a:r>
            <a:r>
              <a:rPr sz="1500" spc="-5" dirty="0">
                <a:latin typeface="Helvetica"/>
                <a:cs typeface="Helvetica"/>
              </a:rPr>
              <a:t>alis </a:t>
            </a:r>
            <a:r>
              <a:rPr sz="2250" baseline="-7407" dirty="0">
                <a:latin typeface="Helvetica"/>
                <a:cs typeface="Helvetica"/>
              </a:rPr>
              <a:t>B</a:t>
            </a:r>
            <a:r>
              <a:rPr sz="2250" spc="89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C_lito</a:t>
            </a:r>
            <a:r>
              <a:rPr sz="1500" spc="-15" dirty="0">
                <a:latin typeface="Helvetica"/>
                <a:cs typeface="Helvetica"/>
              </a:rPr>
              <a:t>r</a:t>
            </a:r>
            <a:r>
              <a:rPr sz="1500" spc="-5" dirty="0">
                <a:latin typeface="Helvetica"/>
                <a:cs typeface="Helvetica"/>
              </a:rPr>
              <a:t>alis_Sideia </a:t>
            </a:r>
            <a:r>
              <a:rPr sz="2250" baseline="-7407" dirty="0">
                <a:latin typeface="Helvetica"/>
                <a:cs typeface="Helvetica"/>
              </a:rPr>
              <a:t>H</a:t>
            </a:r>
            <a:r>
              <a:rPr sz="2250" spc="30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C_poecilopleu</a:t>
            </a:r>
            <a:r>
              <a:rPr sz="1500" spc="20" dirty="0">
                <a:latin typeface="Helvetica"/>
                <a:cs typeface="Helvetica"/>
              </a:rPr>
              <a:t>r</a:t>
            </a:r>
            <a:r>
              <a:rPr sz="1500" spc="-5" dirty="0">
                <a:latin typeface="Helvetica"/>
                <a:cs typeface="Helvetica"/>
              </a:rPr>
              <a:t>us_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352" name="object 352"/>
          <p:cNvSpPr txBox="1"/>
          <p:nvPr/>
        </p:nvSpPr>
        <p:spPr>
          <a:xfrm>
            <a:off x="4341279" y="98586"/>
            <a:ext cx="2521585" cy="175895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87630">
              <a:lnSpc>
                <a:spcPct val="100000"/>
              </a:lnSpc>
            </a:pPr>
            <a:r>
              <a:rPr sz="2250" baseline="-7407" dirty="0">
                <a:latin typeface="Helvetica"/>
                <a:cs typeface="Helvetica"/>
              </a:rPr>
              <a:t>B</a:t>
            </a:r>
            <a:r>
              <a:rPr sz="2250" spc="89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C_n</a:t>
            </a:r>
            <a:r>
              <a:rPr sz="1500" spc="-25" dirty="0">
                <a:latin typeface="Helvetica"/>
                <a:cs typeface="Helvetica"/>
              </a:rPr>
              <a:t>o</a:t>
            </a:r>
            <a:r>
              <a:rPr sz="1500" spc="-40" dirty="0">
                <a:latin typeface="Helvetica"/>
                <a:cs typeface="Helvetica"/>
              </a:rPr>
              <a:t>v</a:t>
            </a:r>
            <a:r>
              <a:rPr sz="1500" spc="-5" dirty="0">
                <a:latin typeface="Helvetica"/>
                <a:cs typeface="Helvetica"/>
              </a:rPr>
              <a:t>aeguineae </a:t>
            </a:r>
            <a:r>
              <a:rPr sz="2250" baseline="-7407" dirty="0">
                <a:latin typeface="Helvetica"/>
                <a:cs typeface="Helvetica"/>
              </a:rPr>
              <a:t>B</a:t>
            </a:r>
            <a:r>
              <a:rPr sz="2250" spc="89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</a:t>
            </a:r>
            <a:r>
              <a:rPr sz="1500" spc="-35" dirty="0">
                <a:latin typeface="Helvetica"/>
                <a:cs typeface="Helvetica"/>
              </a:rPr>
              <a:t>k</a:t>
            </a:r>
            <a:r>
              <a:rPr sz="1500" spc="-5" dirty="0">
                <a:latin typeface="Helvetica"/>
                <a:cs typeface="Helvetica"/>
              </a:rPr>
              <a:t>eiensis</a:t>
            </a:r>
            <a:endParaRPr sz="1500">
              <a:latin typeface="Helvetica"/>
              <a:cs typeface="Helvetica"/>
            </a:endParaRPr>
          </a:p>
          <a:p>
            <a:pPr marL="12700" marR="53975" algn="just">
              <a:lnSpc>
                <a:spcPts val="1789"/>
              </a:lnSpc>
              <a:spcBef>
                <a:spcPts val="60"/>
              </a:spcBef>
            </a:pPr>
            <a:r>
              <a:rPr sz="2250" baseline="-7407" dirty="0">
                <a:latin typeface="Helvetica"/>
                <a:cs typeface="Helvetica"/>
              </a:rPr>
              <a:t>E</a:t>
            </a:r>
            <a:r>
              <a:rPr sz="2250" spc="89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C_inte</a:t>
            </a:r>
            <a:r>
              <a:rPr sz="1500" spc="35" dirty="0">
                <a:latin typeface="Helvetica"/>
                <a:cs typeface="Helvetica"/>
              </a:rPr>
              <a:t>r</a:t>
            </a:r>
            <a:r>
              <a:rPr sz="1500" dirty="0">
                <a:latin typeface="Helvetica"/>
                <a:cs typeface="Helvetica"/>
              </a:rPr>
              <a:t>medius_B </a:t>
            </a:r>
            <a:r>
              <a:rPr sz="2250" baseline="-7407" dirty="0">
                <a:latin typeface="Helvetica"/>
                <a:cs typeface="Helvetica"/>
              </a:rPr>
              <a:t>E</a:t>
            </a:r>
            <a:r>
              <a:rPr sz="2250" spc="89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C_inte</a:t>
            </a:r>
            <a:r>
              <a:rPr sz="1500" spc="35" dirty="0">
                <a:latin typeface="Helvetica"/>
                <a:cs typeface="Helvetica"/>
              </a:rPr>
              <a:t>r</a:t>
            </a:r>
            <a:r>
              <a:rPr sz="1500" dirty="0">
                <a:latin typeface="Helvetica"/>
                <a:cs typeface="Helvetica"/>
              </a:rPr>
              <a:t>medius_A </a:t>
            </a:r>
            <a:r>
              <a:rPr sz="2250" baseline="-7407" dirty="0">
                <a:latin typeface="Helvetica"/>
                <a:cs typeface="Helvetica"/>
              </a:rPr>
              <a:t>A</a:t>
            </a:r>
            <a:r>
              <a:rPr sz="2250" spc="89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C_pannosus</a:t>
            </a:r>
            <a:endParaRPr sz="1500">
              <a:latin typeface="Helvetica"/>
              <a:cs typeface="Helvetica"/>
            </a:endParaRPr>
          </a:p>
          <a:p>
            <a:pPr marL="12700" marR="547370">
              <a:lnSpc>
                <a:spcPts val="1789"/>
              </a:lnSpc>
              <a:spcBef>
                <a:spcPts val="5"/>
              </a:spcBef>
            </a:pPr>
            <a:r>
              <a:rPr sz="2250" baseline="-7407" dirty="0">
                <a:latin typeface="Helvetica"/>
                <a:cs typeface="Helvetica"/>
              </a:rPr>
              <a:t>A</a:t>
            </a:r>
            <a:r>
              <a:rPr sz="2250" spc="89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</a:t>
            </a:r>
            <a:r>
              <a:rPr sz="1500" spc="-25" dirty="0">
                <a:latin typeface="Helvetica"/>
                <a:cs typeface="Helvetica"/>
              </a:rPr>
              <a:t>z</a:t>
            </a:r>
            <a:r>
              <a:rPr sz="1500" spc="-5" dirty="0">
                <a:latin typeface="Helvetica"/>
                <a:cs typeface="Helvetica"/>
              </a:rPr>
              <a:t>oticus </a:t>
            </a:r>
            <a:r>
              <a:rPr sz="2250" baseline="-7407" dirty="0">
                <a:latin typeface="Helvetica"/>
                <a:cs typeface="Helvetica"/>
              </a:rPr>
              <a:t>A</a:t>
            </a:r>
            <a:r>
              <a:rPr sz="2250" spc="89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C_me</a:t>
            </a:r>
            <a:r>
              <a:rPr sz="1500" spc="60" dirty="0">
                <a:latin typeface="Helvetica"/>
                <a:cs typeface="Helvetica"/>
              </a:rPr>
              <a:t>r</a:t>
            </a:r>
            <a:r>
              <a:rPr sz="1500" dirty="0">
                <a:latin typeface="Helvetica"/>
                <a:cs typeface="Helvetica"/>
              </a:rPr>
              <a:t>tensi </a:t>
            </a:r>
            <a:r>
              <a:rPr sz="2250" baseline="-7407" dirty="0">
                <a:latin typeface="Helvetica"/>
                <a:cs typeface="Helvetica"/>
              </a:rPr>
              <a:t>A</a:t>
            </a:r>
            <a:r>
              <a:rPr sz="2250" spc="89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C_tytthos</a:t>
            </a:r>
            <a:endParaRPr sz="1500">
              <a:latin typeface="Helvetica"/>
              <a:cs typeface="Helvetica"/>
            </a:endParaRPr>
          </a:p>
          <a:p>
            <a:pPr marL="12700">
              <a:lnSpc>
                <a:spcPts val="1735"/>
              </a:lnSpc>
            </a:pPr>
            <a:r>
              <a:rPr sz="2250" baseline="-7407" dirty="0">
                <a:latin typeface="Helvetica"/>
                <a:cs typeface="Helvetica"/>
              </a:rPr>
              <a:t>A</a:t>
            </a:r>
            <a:r>
              <a:rPr sz="2250" spc="89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C_ustulatus</a:t>
            </a:r>
            <a:endParaRPr sz="1500">
              <a:latin typeface="Helvetica"/>
              <a:cs typeface="Helvetica"/>
            </a:endParaRPr>
          </a:p>
          <a:p>
            <a:pPr marL="12700" marR="5080">
              <a:lnSpc>
                <a:spcPts val="1789"/>
              </a:lnSpc>
              <a:spcBef>
                <a:spcPts val="65"/>
              </a:spcBef>
            </a:pPr>
            <a:r>
              <a:rPr sz="2250" baseline="-7407" dirty="0">
                <a:latin typeface="Helvetica"/>
                <a:cs typeface="Helvetica"/>
              </a:rPr>
              <a:t>A</a:t>
            </a:r>
            <a:r>
              <a:rPr sz="2250" spc="89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C_plagiocephalus </a:t>
            </a:r>
            <a:r>
              <a:rPr sz="2250" baseline="-7407" dirty="0">
                <a:latin typeface="Helvetica"/>
                <a:cs typeface="Helvetica"/>
              </a:rPr>
              <a:t>A</a:t>
            </a:r>
            <a:r>
              <a:rPr sz="2250" spc="89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</a:t>
            </a:r>
            <a:r>
              <a:rPr sz="1500" spc="-50" dirty="0">
                <a:latin typeface="Helvetica"/>
                <a:cs typeface="Helvetica"/>
              </a:rPr>
              <a:t>e</a:t>
            </a:r>
            <a:r>
              <a:rPr sz="1500" dirty="0">
                <a:latin typeface="Helvetica"/>
                <a:cs typeface="Helvetica"/>
              </a:rPr>
              <a:t>xochus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353" name="object 353"/>
          <p:cNvSpPr txBox="1"/>
          <p:nvPr/>
        </p:nvSpPr>
        <p:spPr>
          <a:xfrm>
            <a:off x="4113276" y="872531"/>
            <a:ext cx="219710" cy="79438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-5" dirty="0">
                <a:latin typeface="Helvetica"/>
                <a:cs typeface="Helvetica"/>
              </a:rPr>
              <a:t>C_</a:t>
            </a:r>
            <a:r>
              <a:rPr sz="1500" spc="20" dirty="0">
                <a:latin typeface="Helvetica"/>
                <a:cs typeface="Helvetica"/>
              </a:rPr>
              <a:t>r</a:t>
            </a:r>
            <a:r>
              <a:rPr sz="1500" spc="-5" dirty="0">
                <a:latin typeface="Helvetica"/>
                <a:cs typeface="Helvetica"/>
              </a:rPr>
              <a:t>utilus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354" name="object 354"/>
          <p:cNvSpPr txBox="1"/>
          <p:nvPr/>
        </p:nvSpPr>
        <p:spPr>
          <a:xfrm>
            <a:off x="11551" y="163465"/>
            <a:ext cx="4116704" cy="169926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7780">
              <a:lnSpc>
                <a:spcPts val="1795"/>
              </a:lnSpc>
            </a:pPr>
            <a:r>
              <a:rPr sz="2250" baseline="-7407" dirty="0">
                <a:latin typeface="Helvetica"/>
                <a:cs typeface="Helvetica"/>
              </a:rPr>
              <a:t>A</a:t>
            </a:r>
            <a:r>
              <a:rPr sz="2250" spc="89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C_ege</a:t>
            </a:r>
            <a:r>
              <a:rPr sz="1500" spc="20" dirty="0">
                <a:latin typeface="Helvetica"/>
                <a:cs typeface="Helvetica"/>
              </a:rPr>
              <a:t>r</a:t>
            </a:r>
            <a:r>
              <a:rPr sz="1500" spc="-5" dirty="0">
                <a:latin typeface="Helvetica"/>
                <a:cs typeface="Helvetica"/>
              </a:rPr>
              <a:t>iae</a:t>
            </a:r>
            <a:endParaRPr sz="1500" dirty="0">
              <a:latin typeface="Helvetica"/>
              <a:cs typeface="Helvetica"/>
            </a:endParaRPr>
          </a:p>
          <a:p>
            <a:pPr marL="17780" marR="342900">
              <a:lnSpc>
                <a:spcPts val="1789"/>
              </a:lnSpc>
              <a:spcBef>
                <a:spcPts val="65"/>
              </a:spcBef>
            </a:pPr>
            <a:r>
              <a:rPr sz="2250" baseline="-7407" dirty="0">
                <a:latin typeface="Helvetica"/>
                <a:cs typeface="Helvetica"/>
              </a:rPr>
              <a:t>A</a:t>
            </a:r>
            <a:r>
              <a:rPr sz="2250" spc="89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C_juno_kimb </a:t>
            </a:r>
            <a:r>
              <a:rPr sz="2250" baseline="-7407" dirty="0">
                <a:latin typeface="Helvetica"/>
                <a:cs typeface="Helvetica"/>
              </a:rPr>
              <a:t>A</a:t>
            </a:r>
            <a:r>
              <a:rPr sz="2250" spc="89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C_juno_</a:t>
            </a:r>
            <a:r>
              <a:rPr sz="1500" spc="-35" dirty="0">
                <a:latin typeface="Helvetica"/>
                <a:cs typeface="Helvetica"/>
              </a:rPr>
              <a:t>k</a:t>
            </a:r>
            <a:r>
              <a:rPr sz="1500" spc="-5" dirty="0">
                <a:latin typeface="Helvetica"/>
                <a:cs typeface="Helvetica"/>
              </a:rPr>
              <a:t>eep </a:t>
            </a:r>
            <a:r>
              <a:rPr sz="2250" baseline="-7407" dirty="0">
                <a:latin typeface="Helvetica"/>
                <a:cs typeface="Helvetica"/>
              </a:rPr>
              <a:t>A</a:t>
            </a:r>
            <a:r>
              <a:rPr sz="2250" spc="89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C_daedalos </a:t>
            </a:r>
            <a:r>
              <a:rPr sz="2250" baseline="-7407" dirty="0">
                <a:latin typeface="Helvetica"/>
                <a:cs typeface="Helvetica"/>
              </a:rPr>
              <a:t>A</a:t>
            </a:r>
            <a:r>
              <a:rPr sz="2250" spc="89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C_cygnatus </a:t>
            </a:r>
            <a:r>
              <a:rPr sz="2250" baseline="-7407" dirty="0">
                <a:latin typeface="Helvetica"/>
                <a:cs typeface="Helvetica"/>
              </a:rPr>
              <a:t>A</a:t>
            </a:r>
            <a:r>
              <a:rPr sz="2250" spc="89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C_wul</a:t>
            </a:r>
            <a:r>
              <a:rPr sz="1500" spc="-35" dirty="0">
                <a:latin typeface="Helvetica"/>
                <a:cs typeface="Helvetica"/>
              </a:rPr>
              <a:t>b</a:t>
            </a:r>
            <a:r>
              <a:rPr sz="1500" dirty="0">
                <a:latin typeface="Helvetica"/>
                <a:cs typeface="Helvetica"/>
              </a:rPr>
              <a:t>u</a:t>
            </a:r>
          </a:p>
          <a:p>
            <a:pPr marL="17780" marR="195580">
              <a:lnSpc>
                <a:spcPts val="1789"/>
              </a:lnSpc>
            </a:pPr>
            <a:r>
              <a:rPr sz="2250" baseline="-7407" dirty="0">
                <a:latin typeface="Helvetica"/>
                <a:cs typeface="Helvetica"/>
              </a:rPr>
              <a:t>A</a:t>
            </a:r>
            <a:r>
              <a:rPr sz="2250" spc="89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</a:t>
            </a:r>
            <a:r>
              <a:rPr sz="1500" spc="20" dirty="0">
                <a:latin typeface="Helvetica"/>
                <a:cs typeface="Helvetica"/>
              </a:rPr>
              <a:t>r</a:t>
            </a:r>
            <a:r>
              <a:rPr sz="1500" spc="-5" dirty="0">
                <a:latin typeface="Helvetica"/>
                <a:cs typeface="Helvetica"/>
              </a:rPr>
              <a:t>uber_A1A3 </a:t>
            </a:r>
            <a:r>
              <a:rPr sz="2250" baseline="-7407" dirty="0">
                <a:latin typeface="Helvetica"/>
                <a:cs typeface="Helvetica"/>
              </a:rPr>
              <a:t>A</a:t>
            </a:r>
            <a:r>
              <a:rPr sz="2250" spc="89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</a:t>
            </a:r>
            <a:r>
              <a:rPr sz="1500" spc="20" dirty="0">
                <a:latin typeface="Helvetica"/>
                <a:cs typeface="Helvetica"/>
              </a:rPr>
              <a:t>r</a:t>
            </a:r>
            <a:r>
              <a:rPr sz="1500" spc="-5" dirty="0">
                <a:latin typeface="Helvetica"/>
                <a:cs typeface="Helvetica"/>
              </a:rPr>
              <a:t>uber_A2</a:t>
            </a:r>
            <a:endParaRPr sz="1500" dirty="0">
              <a:latin typeface="Helvetica"/>
              <a:cs typeface="Helvetica"/>
            </a:endParaRPr>
          </a:p>
          <a:p>
            <a:pPr marL="17780" marR="199390">
              <a:lnSpc>
                <a:spcPts val="1789"/>
              </a:lnSpc>
              <a:spcBef>
                <a:spcPts val="5"/>
              </a:spcBef>
            </a:pPr>
            <a:r>
              <a:rPr sz="2250" baseline="-7407" dirty="0">
                <a:latin typeface="Helvetica"/>
                <a:cs typeface="Helvetica"/>
              </a:rPr>
              <a:t>A</a:t>
            </a:r>
            <a:r>
              <a:rPr sz="2250" spc="89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C_megastictus </a:t>
            </a:r>
            <a:r>
              <a:rPr sz="2250" baseline="-7407" dirty="0">
                <a:latin typeface="Helvetica"/>
                <a:cs typeface="Helvetica"/>
              </a:rPr>
              <a:t>A</a:t>
            </a:r>
            <a:r>
              <a:rPr sz="2250" spc="89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</a:t>
            </a:r>
            <a:r>
              <a:rPr sz="1500" spc="-35" dirty="0">
                <a:latin typeface="Helvetica"/>
                <a:cs typeface="Helvetica"/>
              </a:rPr>
              <a:t>b</a:t>
            </a:r>
            <a:r>
              <a:rPr sz="1500" spc="-5" dirty="0">
                <a:latin typeface="Helvetica"/>
                <a:cs typeface="Helvetica"/>
              </a:rPr>
              <a:t>uchanani </a:t>
            </a:r>
            <a:r>
              <a:rPr sz="2250" baseline="-7407" dirty="0">
                <a:latin typeface="Helvetica"/>
                <a:cs typeface="Helvetica"/>
              </a:rPr>
              <a:t>A</a:t>
            </a:r>
            <a:r>
              <a:rPr sz="2250" spc="89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C_metallicus</a:t>
            </a:r>
            <a:endParaRPr sz="1500" dirty="0">
              <a:latin typeface="Helvetica"/>
              <a:cs typeface="Helvetica"/>
            </a:endParaRPr>
          </a:p>
          <a:p>
            <a:pPr marL="17780">
              <a:lnSpc>
                <a:spcPts val="1735"/>
              </a:lnSpc>
            </a:pPr>
            <a:r>
              <a:rPr sz="2250" baseline="-7407" dirty="0">
                <a:latin typeface="Helvetica"/>
                <a:cs typeface="Helvetica"/>
              </a:rPr>
              <a:t>A</a:t>
            </a:r>
            <a:r>
              <a:rPr sz="2250" spc="89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C_aust</a:t>
            </a:r>
            <a:r>
              <a:rPr sz="1500" spc="-15" dirty="0">
                <a:latin typeface="Helvetica"/>
                <a:cs typeface="Helvetica"/>
              </a:rPr>
              <a:t>r</a:t>
            </a:r>
            <a:r>
              <a:rPr sz="1500" spc="-5" dirty="0">
                <a:latin typeface="Helvetica"/>
                <a:cs typeface="Helvetica"/>
              </a:rPr>
              <a:t>alis</a:t>
            </a:r>
            <a:endParaRPr sz="1500" dirty="0">
              <a:latin typeface="Helvetica"/>
              <a:cs typeface="Helvetica"/>
            </a:endParaRPr>
          </a:p>
          <a:p>
            <a:pPr marL="12700" marR="5080" algn="just">
              <a:lnSpc>
                <a:spcPct val="99700"/>
              </a:lnSpc>
            </a:pPr>
            <a:r>
              <a:rPr sz="2250" baseline="-7407" dirty="0">
                <a:latin typeface="Helvetica"/>
                <a:cs typeface="Helvetica"/>
              </a:rPr>
              <a:t>C</a:t>
            </a:r>
            <a:r>
              <a:rPr sz="2250" spc="30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C_leschenault_D </a:t>
            </a:r>
            <a:r>
              <a:rPr sz="2250" baseline="-7407" dirty="0">
                <a:latin typeface="Helvetica"/>
                <a:cs typeface="Helvetica"/>
              </a:rPr>
              <a:t>C</a:t>
            </a:r>
            <a:r>
              <a:rPr sz="2250" spc="30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C_leschenault_C </a:t>
            </a:r>
            <a:r>
              <a:rPr sz="2250" baseline="-7407" dirty="0">
                <a:latin typeface="Helvetica"/>
                <a:cs typeface="Helvetica"/>
              </a:rPr>
              <a:t>C</a:t>
            </a:r>
            <a:r>
              <a:rPr sz="2250" spc="30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C_leschenault_B </a:t>
            </a:r>
            <a:r>
              <a:rPr sz="2250" baseline="-7407" dirty="0">
                <a:latin typeface="Helvetica"/>
                <a:cs typeface="Helvetica"/>
              </a:rPr>
              <a:t>C</a:t>
            </a:r>
            <a:r>
              <a:rPr sz="2250" spc="30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C_renschi</a:t>
            </a:r>
            <a:endParaRPr sz="1500" dirty="0">
              <a:latin typeface="Helvetica"/>
              <a:cs typeface="Helvetica"/>
            </a:endParaRPr>
          </a:p>
          <a:p>
            <a:pPr marL="17780" marR="15240" indent="-5715">
              <a:lnSpc>
                <a:spcPts val="1789"/>
              </a:lnSpc>
              <a:spcBef>
                <a:spcPts val="60"/>
              </a:spcBef>
            </a:pPr>
            <a:r>
              <a:rPr sz="2250" baseline="-7407" dirty="0">
                <a:latin typeface="Helvetica"/>
                <a:cs typeface="Helvetica"/>
              </a:rPr>
              <a:t>C</a:t>
            </a:r>
            <a:r>
              <a:rPr sz="2250" spc="30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C_leschenault_A </a:t>
            </a:r>
            <a:r>
              <a:rPr sz="2250" baseline="-7407" dirty="0">
                <a:latin typeface="Helvetica"/>
                <a:cs typeface="Helvetica"/>
              </a:rPr>
              <a:t>B</a:t>
            </a:r>
            <a:r>
              <a:rPr sz="2250" spc="89" baseline="-7407" dirty="0">
                <a:latin typeface="Helvetica"/>
                <a:cs typeface="Helvetica"/>
              </a:rPr>
              <a:t> </a:t>
            </a:r>
            <a:r>
              <a:rPr sz="1500" spc="-5" dirty="0">
                <a:latin typeface="Helvetica"/>
                <a:cs typeface="Helvetica"/>
              </a:rPr>
              <a:t>C_yulensis</a:t>
            </a:r>
            <a:endParaRPr sz="1500" dirty="0">
              <a:latin typeface="Helvetica"/>
              <a:cs typeface="Helvetica"/>
            </a:endParaRPr>
          </a:p>
        </p:txBody>
      </p:sp>
      <p:sp>
        <p:nvSpPr>
          <p:cNvPr id="355" name="object 355"/>
          <p:cNvSpPr txBox="1"/>
          <p:nvPr/>
        </p:nvSpPr>
        <p:spPr>
          <a:xfrm>
            <a:off x="3447119" y="5063797"/>
            <a:ext cx="219710" cy="28448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dirty="0">
                <a:latin typeface="Helvetica"/>
                <a:cs typeface="Helvetica"/>
              </a:rPr>
              <a:t>AB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356" name="object 356"/>
          <p:cNvSpPr txBox="1"/>
          <p:nvPr/>
        </p:nvSpPr>
        <p:spPr>
          <a:xfrm>
            <a:off x="6277267" y="3953711"/>
            <a:ext cx="219710" cy="28448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dirty="0">
                <a:latin typeface="Helvetica"/>
                <a:cs typeface="Helvetica"/>
              </a:rPr>
              <a:t>AB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357" name="object 357"/>
          <p:cNvSpPr txBox="1"/>
          <p:nvPr/>
        </p:nvSpPr>
        <p:spPr>
          <a:xfrm>
            <a:off x="8998361" y="3533161"/>
            <a:ext cx="219710" cy="15494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dirty="0">
                <a:latin typeface="Helvetica"/>
                <a:cs typeface="Helvetica"/>
              </a:rPr>
              <a:t>A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358" name="object 358"/>
          <p:cNvSpPr txBox="1"/>
          <p:nvPr/>
        </p:nvSpPr>
        <p:spPr>
          <a:xfrm>
            <a:off x="11726333" y="3154224"/>
            <a:ext cx="341630" cy="272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1500" spc="10" dirty="0">
                <a:latin typeface="Helvetica"/>
                <a:cs typeface="Helvetica"/>
              </a:rPr>
              <a:t>A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359" name="object 359"/>
          <p:cNvSpPr txBox="1"/>
          <p:nvPr/>
        </p:nvSpPr>
        <p:spPr>
          <a:xfrm>
            <a:off x="11555379" y="2454015"/>
            <a:ext cx="284480" cy="272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1500" spc="10" dirty="0">
                <a:latin typeface="Helvetica"/>
                <a:cs typeface="Helvetica"/>
              </a:rPr>
              <a:t>A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360" name="object 360"/>
          <p:cNvSpPr txBox="1"/>
          <p:nvPr/>
        </p:nvSpPr>
        <p:spPr>
          <a:xfrm>
            <a:off x="11042519" y="3012358"/>
            <a:ext cx="341630" cy="273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1500" spc="10" dirty="0">
                <a:latin typeface="Helvetica"/>
                <a:cs typeface="Helvetica"/>
              </a:rPr>
              <a:t>A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361" name="object 361"/>
          <p:cNvSpPr txBox="1"/>
          <p:nvPr/>
        </p:nvSpPr>
        <p:spPr>
          <a:xfrm>
            <a:off x="10871759" y="2723386"/>
            <a:ext cx="284480" cy="272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1500" spc="10" dirty="0">
                <a:latin typeface="Helvetica"/>
                <a:cs typeface="Helvetica"/>
              </a:rPr>
              <a:t>A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362" name="object 362"/>
          <p:cNvSpPr txBox="1"/>
          <p:nvPr/>
        </p:nvSpPr>
        <p:spPr>
          <a:xfrm>
            <a:off x="10077730" y="2403753"/>
            <a:ext cx="219075" cy="2216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5">
              <a:lnSpc>
                <a:spcPct val="100000"/>
              </a:lnSpc>
            </a:pPr>
            <a:r>
              <a:rPr sz="1500" spc="10" dirty="0">
                <a:latin typeface="Helvetica"/>
                <a:cs typeface="Helvetica"/>
              </a:rPr>
              <a:t>A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363" name="object 363"/>
          <p:cNvSpPr txBox="1"/>
          <p:nvPr/>
        </p:nvSpPr>
        <p:spPr>
          <a:xfrm>
            <a:off x="10358898" y="2241120"/>
            <a:ext cx="341630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1500" spc="10" dirty="0">
                <a:latin typeface="Helvetica"/>
                <a:cs typeface="Helvetica"/>
              </a:rPr>
              <a:t>N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364" name="object 364"/>
          <p:cNvSpPr/>
          <p:nvPr/>
        </p:nvSpPr>
        <p:spPr>
          <a:xfrm>
            <a:off x="604837" y="5147721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5" name="object 365"/>
          <p:cNvSpPr/>
          <p:nvPr/>
        </p:nvSpPr>
        <p:spPr>
          <a:xfrm>
            <a:off x="604837" y="5147721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6" name="object 366"/>
          <p:cNvSpPr/>
          <p:nvPr/>
        </p:nvSpPr>
        <p:spPr>
          <a:xfrm>
            <a:off x="3544038" y="4037635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6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7" name="object 367"/>
          <p:cNvSpPr/>
          <p:nvPr/>
        </p:nvSpPr>
        <p:spPr>
          <a:xfrm>
            <a:off x="3544038" y="4037635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8" name="object 368"/>
          <p:cNvSpPr/>
          <p:nvPr/>
        </p:nvSpPr>
        <p:spPr>
          <a:xfrm>
            <a:off x="6612861" y="3552457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9" name="object 369"/>
          <p:cNvSpPr/>
          <p:nvPr/>
        </p:nvSpPr>
        <p:spPr>
          <a:xfrm>
            <a:off x="6612861" y="3552457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0" name="object 370"/>
          <p:cNvSpPr/>
          <p:nvPr/>
        </p:nvSpPr>
        <p:spPr>
          <a:xfrm>
            <a:off x="11017879" y="3461050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1" name="object 371"/>
          <p:cNvSpPr/>
          <p:nvPr/>
        </p:nvSpPr>
        <p:spPr>
          <a:xfrm>
            <a:off x="11017879" y="3461050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2" name="object 372"/>
          <p:cNvSpPr/>
          <p:nvPr/>
        </p:nvSpPr>
        <p:spPr>
          <a:xfrm>
            <a:off x="11530546" y="3154224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3" name="object 373"/>
          <p:cNvSpPr/>
          <p:nvPr/>
        </p:nvSpPr>
        <p:spPr>
          <a:xfrm>
            <a:off x="11530546" y="3154224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4" name="object 374"/>
          <p:cNvSpPr/>
          <p:nvPr/>
        </p:nvSpPr>
        <p:spPr>
          <a:xfrm>
            <a:off x="11416641" y="2454015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5" name="object 375"/>
          <p:cNvSpPr/>
          <p:nvPr/>
        </p:nvSpPr>
        <p:spPr>
          <a:xfrm>
            <a:off x="11416641" y="2454015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6" name="object 376"/>
          <p:cNvSpPr/>
          <p:nvPr/>
        </p:nvSpPr>
        <p:spPr>
          <a:xfrm>
            <a:off x="10846925" y="3012358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7" name="object 377"/>
          <p:cNvSpPr/>
          <p:nvPr/>
        </p:nvSpPr>
        <p:spPr>
          <a:xfrm>
            <a:off x="10846925" y="3012358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8" name="object 378"/>
          <p:cNvSpPr/>
          <p:nvPr/>
        </p:nvSpPr>
        <p:spPr>
          <a:xfrm>
            <a:off x="10733020" y="2723386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6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9" name="object 379"/>
          <p:cNvSpPr/>
          <p:nvPr/>
        </p:nvSpPr>
        <p:spPr>
          <a:xfrm>
            <a:off x="10733020" y="2723386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0" name="object 380"/>
          <p:cNvSpPr/>
          <p:nvPr/>
        </p:nvSpPr>
        <p:spPr>
          <a:xfrm>
            <a:off x="5516700" y="3329082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1" name="object 381"/>
          <p:cNvSpPr/>
          <p:nvPr/>
        </p:nvSpPr>
        <p:spPr>
          <a:xfrm>
            <a:off x="5516700" y="3329082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2" name="object 382"/>
          <p:cNvSpPr/>
          <p:nvPr/>
        </p:nvSpPr>
        <p:spPr>
          <a:xfrm>
            <a:off x="6859104" y="2724939"/>
            <a:ext cx="195580" cy="177800"/>
          </a:xfrm>
          <a:custGeom>
            <a:avLst/>
            <a:gdLst/>
            <a:ahLst/>
            <a:cxnLst/>
            <a:rect l="l" t="t" r="r" b="b"/>
            <a:pathLst>
              <a:path w="195579" h="177800">
                <a:moveTo>
                  <a:pt x="195209" y="177769"/>
                </a:moveTo>
                <a:lnTo>
                  <a:pt x="195209" y="0"/>
                </a:lnTo>
                <a:lnTo>
                  <a:pt x="0" y="0"/>
                </a:lnTo>
                <a:lnTo>
                  <a:pt x="0" y="177769"/>
                </a:lnTo>
                <a:lnTo>
                  <a:pt x="195209" y="177769"/>
                </a:lnTo>
                <a:close/>
              </a:path>
            </a:pathLst>
          </a:custGeom>
          <a:solidFill>
            <a:srgbClr val="00FF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3" name="object 383"/>
          <p:cNvSpPr/>
          <p:nvPr/>
        </p:nvSpPr>
        <p:spPr>
          <a:xfrm>
            <a:off x="6859104" y="2724939"/>
            <a:ext cx="195580" cy="177800"/>
          </a:xfrm>
          <a:custGeom>
            <a:avLst/>
            <a:gdLst/>
            <a:ahLst/>
            <a:cxnLst/>
            <a:rect l="l" t="t" r="r" b="b"/>
            <a:pathLst>
              <a:path w="195579" h="177800">
                <a:moveTo>
                  <a:pt x="195209" y="177769"/>
                </a:moveTo>
                <a:lnTo>
                  <a:pt x="195209" y="0"/>
                </a:lnTo>
                <a:lnTo>
                  <a:pt x="0" y="0"/>
                </a:lnTo>
                <a:lnTo>
                  <a:pt x="0" y="177769"/>
                </a:lnTo>
                <a:lnTo>
                  <a:pt x="195209" y="177769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4" name="object 384"/>
          <p:cNvSpPr/>
          <p:nvPr/>
        </p:nvSpPr>
        <p:spPr>
          <a:xfrm>
            <a:off x="7425134" y="2601703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5" name="object 385"/>
          <p:cNvSpPr/>
          <p:nvPr/>
        </p:nvSpPr>
        <p:spPr>
          <a:xfrm>
            <a:off x="7425134" y="2601703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6" name="object 386"/>
          <p:cNvSpPr/>
          <p:nvPr/>
        </p:nvSpPr>
        <p:spPr>
          <a:xfrm>
            <a:off x="9308730" y="2461584"/>
            <a:ext cx="195580" cy="168275"/>
          </a:xfrm>
          <a:custGeom>
            <a:avLst/>
            <a:gdLst/>
            <a:ahLst/>
            <a:cxnLst/>
            <a:rect l="l" t="t" r="r" b="b"/>
            <a:pathLst>
              <a:path w="195579" h="168275">
                <a:moveTo>
                  <a:pt x="195209" y="168065"/>
                </a:moveTo>
                <a:lnTo>
                  <a:pt x="195209" y="0"/>
                </a:lnTo>
                <a:lnTo>
                  <a:pt x="0" y="0"/>
                </a:lnTo>
                <a:lnTo>
                  <a:pt x="0" y="168065"/>
                </a:lnTo>
                <a:lnTo>
                  <a:pt x="195209" y="168065"/>
                </a:lnTo>
                <a:close/>
              </a:path>
            </a:pathLst>
          </a:custGeom>
          <a:solidFill>
            <a:srgbClr val="FFB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7" name="object 387"/>
          <p:cNvSpPr/>
          <p:nvPr/>
        </p:nvSpPr>
        <p:spPr>
          <a:xfrm>
            <a:off x="9308730" y="2461584"/>
            <a:ext cx="195580" cy="168275"/>
          </a:xfrm>
          <a:custGeom>
            <a:avLst/>
            <a:gdLst/>
            <a:ahLst/>
            <a:cxnLst/>
            <a:rect l="l" t="t" r="r" b="b"/>
            <a:pathLst>
              <a:path w="195579" h="168275">
                <a:moveTo>
                  <a:pt x="195209" y="168065"/>
                </a:moveTo>
                <a:lnTo>
                  <a:pt x="195209" y="0"/>
                </a:lnTo>
                <a:lnTo>
                  <a:pt x="0" y="0"/>
                </a:lnTo>
                <a:lnTo>
                  <a:pt x="0" y="168065"/>
                </a:lnTo>
                <a:lnTo>
                  <a:pt x="195209" y="168065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8" name="object 388"/>
          <p:cNvSpPr/>
          <p:nvPr/>
        </p:nvSpPr>
        <p:spPr>
          <a:xfrm>
            <a:off x="9821397" y="2410155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9" name="object 389"/>
          <p:cNvSpPr/>
          <p:nvPr/>
        </p:nvSpPr>
        <p:spPr>
          <a:xfrm>
            <a:off x="9821397" y="2410155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0" name="object 390"/>
          <p:cNvSpPr/>
          <p:nvPr/>
        </p:nvSpPr>
        <p:spPr>
          <a:xfrm>
            <a:off x="10163304" y="2241120"/>
            <a:ext cx="195580" cy="168275"/>
          </a:xfrm>
          <a:custGeom>
            <a:avLst/>
            <a:gdLst/>
            <a:ahLst/>
            <a:cxnLst/>
            <a:rect l="l" t="t" r="r" b="b"/>
            <a:pathLst>
              <a:path w="195579" h="168275">
                <a:moveTo>
                  <a:pt x="195209" y="168065"/>
                </a:moveTo>
                <a:lnTo>
                  <a:pt x="195209" y="0"/>
                </a:lnTo>
                <a:lnTo>
                  <a:pt x="0" y="0"/>
                </a:lnTo>
                <a:lnTo>
                  <a:pt x="0" y="168065"/>
                </a:lnTo>
                <a:lnTo>
                  <a:pt x="195209" y="168065"/>
                </a:lnTo>
                <a:close/>
              </a:path>
            </a:pathLst>
          </a:custGeom>
          <a:solidFill>
            <a:srgbClr val="DF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1" name="object 391"/>
          <p:cNvSpPr/>
          <p:nvPr/>
        </p:nvSpPr>
        <p:spPr>
          <a:xfrm>
            <a:off x="10163304" y="2241120"/>
            <a:ext cx="195580" cy="168275"/>
          </a:xfrm>
          <a:custGeom>
            <a:avLst/>
            <a:gdLst/>
            <a:ahLst/>
            <a:cxnLst/>
            <a:rect l="l" t="t" r="r" b="b"/>
            <a:pathLst>
              <a:path w="195579" h="168275">
                <a:moveTo>
                  <a:pt x="195209" y="168065"/>
                </a:moveTo>
                <a:lnTo>
                  <a:pt x="195209" y="0"/>
                </a:lnTo>
                <a:lnTo>
                  <a:pt x="0" y="0"/>
                </a:lnTo>
                <a:lnTo>
                  <a:pt x="0" y="168065"/>
                </a:lnTo>
                <a:lnTo>
                  <a:pt x="195209" y="168065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2" name="object 392"/>
          <p:cNvSpPr/>
          <p:nvPr/>
        </p:nvSpPr>
        <p:spPr>
          <a:xfrm>
            <a:off x="10049399" y="2149324"/>
            <a:ext cx="195580" cy="168275"/>
          </a:xfrm>
          <a:custGeom>
            <a:avLst/>
            <a:gdLst/>
            <a:ahLst/>
            <a:cxnLst/>
            <a:rect l="l" t="t" r="r" b="b"/>
            <a:pathLst>
              <a:path w="195579" h="168275">
                <a:moveTo>
                  <a:pt x="195209" y="168065"/>
                </a:moveTo>
                <a:lnTo>
                  <a:pt x="195209" y="0"/>
                </a:lnTo>
                <a:lnTo>
                  <a:pt x="0" y="0"/>
                </a:lnTo>
                <a:lnTo>
                  <a:pt x="0" y="168065"/>
                </a:lnTo>
                <a:lnTo>
                  <a:pt x="195209" y="168065"/>
                </a:lnTo>
                <a:close/>
              </a:path>
            </a:pathLst>
          </a:custGeom>
          <a:solidFill>
            <a:srgbClr val="DF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3" name="object 393"/>
          <p:cNvSpPr/>
          <p:nvPr/>
        </p:nvSpPr>
        <p:spPr>
          <a:xfrm>
            <a:off x="10049399" y="2149324"/>
            <a:ext cx="195580" cy="168275"/>
          </a:xfrm>
          <a:custGeom>
            <a:avLst/>
            <a:gdLst/>
            <a:ahLst/>
            <a:cxnLst/>
            <a:rect l="l" t="t" r="r" b="b"/>
            <a:pathLst>
              <a:path w="195579" h="168275">
                <a:moveTo>
                  <a:pt x="195209" y="168065"/>
                </a:moveTo>
                <a:lnTo>
                  <a:pt x="195209" y="0"/>
                </a:lnTo>
                <a:lnTo>
                  <a:pt x="0" y="0"/>
                </a:lnTo>
                <a:lnTo>
                  <a:pt x="0" y="168065"/>
                </a:lnTo>
                <a:lnTo>
                  <a:pt x="195209" y="168065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4" name="object 394"/>
          <p:cNvSpPr/>
          <p:nvPr/>
        </p:nvSpPr>
        <p:spPr>
          <a:xfrm>
            <a:off x="9137776" y="2395794"/>
            <a:ext cx="195580" cy="168275"/>
          </a:xfrm>
          <a:custGeom>
            <a:avLst/>
            <a:gdLst/>
            <a:ahLst/>
            <a:cxnLst/>
            <a:rect l="l" t="t" r="r" b="b"/>
            <a:pathLst>
              <a:path w="195579" h="168275">
                <a:moveTo>
                  <a:pt x="195209" y="168065"/>
                </a:moveTo>
                <a:lnTo>
                  <a:pt x="195209" y="0"/>
                </a:lnTo>
                <a:lnTo>
                  <a:pt x="0" y="0"/>
                </a:lnTo>
                <a:lnTo>
                  <a:pt x="0" y="168065"/>
                </a:lnTo>
                <a:lnTo>
                  <a:pt x="195209" y="168065"/>
                </a:lnTo>
                <a:close/>
              </a:path>
            </a:pathLst>
          </a:custGeom>
          <a:solidFill>
            <a:srgbClr val="D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5" name="object 395"/>
          <p:cNvSpPr/>
          <p:nvPr/>
        </p:nvSpPr>
        <p:spPr>
          <a:xfrm>
            <a:off x="9137776" y="2395794"/>
            <a:ext cx="195580" cy="168275"/>
          </a:xfrm>
          <a:custGeom>
            <a:avLst/>
            <a:gdLst/>
            <a:ahLst/>
            <a:cxnLst/>
            <a:rect l="l" t="t" r="r" b="b"/>
            <a:pathLst>
              <a:path w="195579" h="168275">
                <a:moveTo>
                  <a:pt x="195209" y="168065"/>
                </a:moveTo>
                <a:lnTo>
                  <a:pt x="195209" y="0"/>
                </a:lnTo>
                <a:lnTo>
                  <a:pt x="0" y="0"/>
                </a:lnTo>
                <a:lnTo>
                  <a:pt x="0" y="168065"/>
                </a:lnTo>
                <a:lnTo>
                  <a:pt x="195209" y="168065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6" name="object 396"/>
          <p:cNvSpPr/>
          <p:nvPr/>
        </p:nvSpPr>
        <p:spPr>
          <a:xfrm>
            <a:off x="9365584" y="2259168"/>
            <a:ext cx="195580" cy="168275"/>
          </a:xfrm>
          <a:custGeom>
            <a:avLst/>
            <a:gdLst/>
            <a:ahLst/>
            <a:cxnLst/>
            <a:rect l="l" t="t" r="r" b="b"/>
            <a:pathLst>
              <a:path w="195579" h="168275">
                <a:moveTo>
                  <a:pt x="195209" y="168065"/>
                </a:moveTo>
                <a:lnTo>
                  <a:pt x="195209" y="0"/>
                </a:lnTo>
                <a:lnTo>
                  <a:pt x="0" y="0"/>
                </a:lnTo>
                <a:lnTo>
                  <a:pt x="0" y="168065"/>
                </a:lnTo>
                <a:lnTo>
                  <a:pt x="195209" y="168065"/>
                </a:lnTo>
                <a:close/>
              </a:path>
            </a:pathLst>
          </a:custGeom>
          <a:solidFill>
            <a:srgbClr val="FFB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7" name="object 397"/>
          <p:cNvSpPr/>
          <p:nvPr/>
        </p:nvSpPr>
        <p:spPr>
          <a:xfrm>
            <a:off x="9365584" y="2259168"/>
            <a:ext cx="195580" cy="168275"/>
          </a:xfrm>
          <a:custGeom>
            <a:avLst/>
            <a:gdLst/>
            <a:ahLst/>
            <a:cxnLst/>
            <a:rect l="l" t="t" r="r" b="b"/>
            <a:pathLst>
              <a:path w="195579" h="168275">
                <a:moveTo>
                  <a:pt x="195209" y="168065"/>
                </a:moveTo>
                <a:lnTo>
                  <a:pt x="195209" y="0"/>
                </a:lnTo>
                <a:lnTo>
                  <a:pt x="0" y="0"/>
                </a:lnTo>
                <a:lnTo>
                  <a:pt x="0" y="168065"/>
                </a:lnTo>
                <a:lnTo>
                  <a:pt x="195209" y="168065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8" name="object 398"/>
          <p:cNvSpPr/>
          <p:nvPr/>
        </p:nvSpPr>
        <p:spPr>
          <a:xfrm>
            <a:off x="7086913" y="2537078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9" name="object 399"/>
          <p:cNvSpPr/>
          <p:nvPr/>
        </p:nvSpPr>
        <p:spPr>
          <a:xfrm>
            <a:off x="7086913" y="2537078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0" name="object 400"/>
          <p:cNvSpPr/>
          <p:nvPr/>
        </p:nvSpPr>
        <p:spPr>
          <a:xfrm>
            <a:off x="7428627" y="2477498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1" name="object 401"/>
          <p:cNvSpPr/>
          <p:nvPr/>
        </p:nvSpPr>
        <p:spPr>
          <a:xfrm>
            <a:off x="7428627" y="2477498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2" name="object 402"/>
          <p:cNvSpPr/>
          <p:nvPr/>
        </p:nvSpPr>
        <p:spPr>
          <a:xfrm>
            <a:off x="7770534" y="2412678"/>
            <a:ext cx="195580" cy="168275"/>
          </a:xfrm>
          <a:custGeom>
            <a:avLst/>
            <a:gdLst/>
            <a:ahLst/>
            <a:cxnLst/>
            <a:rect l="l" t="t" r="r" b="b"/>
            <a:pathLst>
              <a:path w="195579" h="168275">
                <a:moveTo>
                  <a:pt x="195209" y="168065"/>
                </a:moveTo>
                <a:lnTo>
                  <a:pt x="195209" y="0"/>
                </a:lnTo>
                <a:lnTo>
                  <a:pt x="0" y="0"/>
                </a:lnTo>
                <a:lnTo>
                  <a:pt x="0" y="168065"/>
                </a:lnTo>
                <a:lnTo>
                  <a:pt x="195209" y="168065"/>
                </a:lnTo>
                <a:close/>
              </a:path>
            </a:pathLst>
          </a:custGeom>
          <a:solidFill>
            <a:srgbClr val="00F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3" name="object 403"/>
          <p:cNvSpPr/>
          <p:nvPr/>
        </p:nvSpPr>
        <p:spPr>
          <a:xfrm>
            <a:off x="7770534" y="2412678"/>
            <a:ext cx="195580" cy="168275"/>
          </a:xfrm>
          <a:custGeom>
            <a:avLst/>
            <a:gdLst/>
            <a:ahLst/>
            <a:cxnLst/>
            <a:rect l="l" t="t" r="r" b="b"/>
            <a:pathLst>
              <a:path w="195579" h="168275">
                <a:moveTo>
                  <a:pt x="195209" y="168065"/>
                </a:moveTo>
                <a:lnTo>
                  <a:pt x="195209" y="0"/>
                </a:lnTo>
                <a:lnTo>
                  <a:pt x="0" y="0"/>
                </a:lnTo>
                <a:lnTo>
                  <a:pt x="0" y="168065"/>
                </a:lnTo>
                <a:lnTo>
                  <a:pt x="195209" y="168065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4" name="object 404"/>
          <p:cNvSpPr/>
          <p:nvPr/>
        </p:nvSpPr>
        <p:spPr>
          <a:xfrm>
            <a:off x="8112442" y="2295848"/>
            <a:ext cx="195580" cy="90805"/>
          </a:xfrm>
          <a:custGeom>
            <a:avLst/>
            <a:gdLst/>
            <a:ahLst/>
            <a:cxnLst/>
            <a:rect l="l" t="t" r="r" b="b"/>
            <a:pathLst>
              <a:path w="195579" h="90805">
                <a:moveTo>
                  <a:pt x="195209" y="90437"/>
                </a:moveTo>
                <a:lnTo>
                  <a:pt x="195209" y="0"/>
                </a:lnTo>
                <a:lnTo>
                  <a:pt x="0" y="0"/>
                </a:lnTo>
                <a:lnTo>
                  <a:pt x="0" y="90437"/>
                </a:lnTo>
                <a:lnTo>
                  <a:pt x="195209" y="90437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5" name="object 405"/>
          <p:cNvSpPr/>
          <p:nvPr/>
        </p:nvSpPr>
        <p:spPr>
          <a:xfrm>
            <a:off x="8112442" y="2295848"/>
            <a:ext cx="195580" cy="90805"/>
          </a:xfrm>
          <a:custGeom>
            <a:avLst/>
            <a:gdLst/>
            <a:ahLst/>
            <a:cxnLst/>
            <a:rect l="l" t="t" r="r" b="b"/>
            <a:pathLst>
              <a:path w="195579" h="90805">
                <a:moveTo>
                  <a:pt x="195209" y="90437"/>
                </a:moveTo>
                <a:lnTo>
                  <a:pt x="195209" y="0"/>
                </a:lnTo>
                <a:lnTo>
                  <a:pt x="0" y="0"/>
                </a:lnTo>
                <a:lnTo>
                  <a:pt x="0" y="90437"/>
                </a:lnTo>
                <a:lnTo>
                  <a:pt x="195209" y="90437"/>
                </a:lnTo>
                <a:close/>
              </a:path>
            </a:pathLst>
          </a:custGeom>
          <a:ln w="14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6" name="object 406"/>
          <p:cNvSpPr/>
          <p:nvPr/>
        </p:nvSpPr>
        <p:spPr>
          <a:xfrm>
            <a:off x="8568059" y="2160386"/>
            <a:ext cx="195580" cy="139065"/>
          </a:xfrm>
          <a:custGeom>
            <a:avLst/>
            <a:gdLst/>
            <a:ahLst/>
            <a:cxnLst/>
            <a:rect l="l" t="t" r="r" b="b"/>
            <a:pathLst>
              <a:path w="195579" h="139064">
                <a:moveTo>
                  <a:pt x="195209" y="138954"/>
                </a:moveTo>
                <a:lnTo>
                  <a:pt x="195209" y="0"/>
                </a:lnTo>
                <a:lnTo>
                  <a:pt x="0" y="0"/>
                </a:lnTo>
                <a:lnTo>
                  <a:pt x="0" y="138954"/>
                </a:lnTo>
                <a:lnTo>
                  <a:pt x="195209" y="138954"/>
                </a:lnTo>
                <a:close/>
              </a:path>
            </a:pathLst>
          </a:custGeom>
          <a:solidFill>
            <a:srgbClr val="2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7" name="object 407"/>
          <p:cNvSpPr/>
          <p:nvPr/>
        </p:nvSpPr>
        <p:spPr>
          <a:xfrm>
            <a:off x="8568059" y="2160386"/>
            <a:ext cx="195580" cy="139065"/>
          </a:xfrm>
          <a:custGeom>
            <a:avLst/>
            <a:gdLst/>
            <a:ahLst/>
            <a:cxnLst/>
            <a:rect l="l" t="t" r="r" b="b"/>
            <a:pathLst>
              <a:path w="195579" h="139064">
                <a:moveTo>
                  <a:pt x="195209" y="138954"/>
                </a:moveTo>
                <a:lnTo>
                  <a:pt x="195209" y="0"/>
                </a:lnTo>
                <a:lnTo>
                  <a:pt x="0" y="0"/>
                </a:lnTo>
                <a:lnTo>
                  <a:pt x="0" y="138954"/>
                </a:lnTo>
                <a:lnTo>
                  <a:pt x="195209" y="13895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8" name="object 408"/>
          <p:cNvSpPr/>
          <p:nvPr/>
        </p:nvSpPr>
        <p:spPr>
          <a:xfrm>
            <a:off x="8454155" y="2106822"/>
            <a:ext cx="195580" cy="139065"/>
          </a:xfrm>
          <a:custGeom>
            <a:avLst/>
            <a:gdLst/>
            <a:ahLst/>
            <a:cxnLst/>
            <a:rect l="l" t="t" r="r" b="b"/>
            <a:pathLst>
              <a:path w="195579" h="139064">
                <a:moveTo>
                  <a:pt x="195209" y="138954"/>
                </a:moveTo>
                <a:lnTo>
                  <a:pt x="195209" y="0"/>
                </a:lnTo>
                <a:lnTo>
                  <a:pt x="0" y="0"/>
                </a:lnTo>
                <a:lnTo>
                  <a:pt x="0" y="138954"/>
                </a:lnTo>
                <a:lnTo>
                  <a:pt x="195209" y="138954"/>
                </a:lnTo>
                <a:close/>
              </a:path>
            </a:pathLst>
          </a:custGeom>
          <a:solidFill>
            <a:srgbClr val="2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9" name="object 409"/>
          <p:cNvSpPr/>
          <p:nvPr/>
        </p:nvSpPr>
        <p:spPr>
          <a:xfrm>
            <a:off x="8454155" y="2106822"/>
            <a:ext cx="195580" cy="139065"/>
          </a:xfrm>
          <a:custGeom>
            <a:avLst/>
            <a:gdLst/>
            <a:ahLst/>
            <a:cxnLst/>
            <a:rect l="l" t="t" r="r" b="b"/>
            <a:pathLst>
              <a:path w="195579" h="139064">
                <a:moveTo>
                  <a:pt x="195209" y="138954"/>
                </a:moveTo>
                <a:lnTo>
                  <a:pt x="195209" y="0"/>
                </a:lnTo>
                <a:lnTo>
                  <a:pt x="0" y="0"/>
                </a:lnTo>
                <a:lnTo>
                  <a:pt x="0" y="138954"/>
                </a:lnTo>
                <a:lnTo>
                  <a:pt x="195209" y="13895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0" name="object 410"/>
          <p:cNvSpPr/>
          <p:nvPr/>
        </p:nvSpPr>
        <p:spPr>
          <a:xfrm>
            <a:off x="7998343" y="2205411"/>
            <a:ext cx="195580" cy="129539"/>
          </a:xfrm>
          <a:custGeom>
            <a:avLst/>
            <a:gdLst/>
            <a:ahLst/>
            <a:cxnLst/>
            <a:rect l="l" t="t" r="r" b="b"/>
            <a:pathLst>
              <a:path w="195579" h="129539">
                <a:moveTo>
                  <a:pt x="195209" y="129251"/>
                </a:moveTo>
                <a:lnTo>
                  <a:pt x="195209" y="0"/>
                </a:lnTo>
                <a:lnTo>
                  <a:pt x="0" y="0"/>
                </a:lnTo>
                <a:lnTo>
                  <a:pt x="0" y="129251"/>
                </a:lnTo>
                <a:lnTo>
                  <a:pt x="195209" y="129251"/>
                </a:lnTo>
                <a:close/>
              </a:path>
            </a:pathLst>
          </a:custGeom>
          <a:solidFill>
            <a:srgbClr val="009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1" name="object 411"/>
          <p:cNvSpPr/>
          <p:nvPr/>
        </p:nvSpPr>
        <p:spPr>
          <a:xfrm>
            <a:off x="7998343" y="2205411"/>
            <a:ext cx="195580" cy="129539"/>
          </a:xfrm>
          <a:custGeom>
            <a:avLst/>
            <a:gdLst/>
            <a:ahLst/>
            <a:cxnLst/>
            <a:rect l="l" t="t" r="r" b="b"/>
            <a:pathLst>
              <a:path w="195579" h="129539">
                <a:moveTo>
                  <a:pt x="195209" y="129251"/>
                </a:moveTo>
                <a:lnTo>
                  <a:pt x="195209" y="0"/>
                </a:lnTo>
                <a:lnTo>
                  <a:pt x="0" y="0"/>
                </a:lnTo>
                <a:lnTo>
                  <a:pt x="0" y="129251"/>
                </a:lnTo>
                <a:lnTo>
                  <a:pt x="195209" y="129251"/>
                </a:lnTo>
                <a:close/>
              </a:path>
            </a:pathLst>
          </a:custGeom>
          <a:ln w="14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2" name="object 412"/>
          <p:cNvSpPr/>
          <p:nvPr/>
        </p:nvSpPr>
        <p:spPr>
          <a:xfrm>
            <a:off x="7314722" y="2400064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3" name="object 413"/>
          <p:cNvSpPr/>
          <p:nvPr/>
        </p:nvSpPr>
        <p:spPr>
          <a:xfrm>
            <a:off x="7314722" y="2400064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4" name="object 414"/>
          <p:cNvSpPr/>
          <p:nvPr/>
        </p:nvSpPr>
        <p:spPr>
          <a:xfrm>
            <a:off x="5263860" y="3194396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5" name="object 415"/>
          <p:cNvSpPr/>
          <p:nvPr/>
        </p:nvSpPr>
        <p:spPr>
          <a:xfrm>
            <a:off x="5263860" y="3194396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6" name="object 416"/>
          <p:cNvSpPr/>
          <p:nvPr/>
        </p:nvSpPr>
        <p:spPr>
          <a:xfrm>
            <a:off x="5491669" y="2939387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7" name="object 417"/>
          <p:cNvSpPr/>
          <p:nvPr/>
        </p:nvSpPr>
        <p:spPr>
          <a:xfrm>
            <a:off x="5491669" y="2939387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8" name="object 418"/>
          <p:cNvSpPr/>
          <p:nvPr/>
        </p:nvSpPr>
        <p:spPr>
          <a:xfrm>
            <a:off x="5719672" y="2836529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9" name="object 419"/>
          <p:cNvSpPr/>
          <p:nvPr/>
        </p:nvSpPr>
        <p:spPr>
          <a:xfrm>
            <a:off x="5719672" y="2836529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0" name="object 420"/>
          <p:cNvSpPr/>
          <p:nvPr/>
        </p:nvSpPr>
        <p:spPr>
          <a:xfrm>
            <a:off x="6118434" y="2716011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1" name="object 421"/>
          <p:cNvSpPr/>
          <p:nvPr/>
        </p:nvSpPr>
        <p:spPr>
          <a:xfrm>
            <a:off x="6118434" y="2716011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2" name="object 422"/>
          <p:cNvSpPr/>
          <p:nvPr/>
        </p:nvSpPr>
        <p:spPr>
          <a:xfrm>
            <a:off x="5947481" y="2653520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3" name="object 423"/>
          <p:cNvSpPr/>
          <p:nvPr/>
        </p:nvSpPr>
        <p:spPr>
          <a:xfrm>
            <a:off x="5947481" y="2653520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4" name="object 424"/>
          <p:cNvSpPr/>
          <p:nvPr/>
        </p:nvSpPr>
        <p:spPr>
          <a:xfrm>
            <a:off x="6175290" y="2492442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5" name="object 425"/>
          <p:cNvSpPr/>
          <p:nvPr/>
        </p:nvSpPr>
        <p:spPr>
          <a:xfrm>
            <a:off x="6175290" y="2492442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6" name="object 426"/>
          <p:cNvSpPr/>
          <p:nvPr/>
        </p:nvSpPr>
        <p:spPr>
          <a:xfrm>
            <a:off x="2970829" y="3525870"/>
            <a:ext cx="195580" cy="168275"/>
          </a:xfrm>
          <a:custGeom>
            <a:avLst/>
            <a:gdLst/>
            <a:ahLst/>
            <a:cxnLst/>
            <a:rect l="l" t="t" r="r" b="b"/>
            <a:pathLst>
              <a:path w="195580" h="168275">
                <a:moveTo>
                  <a:pt x="195209" y="168065"/>
                </a:moveTo>
                <a:lnTo>
                  <a:pt x="195209" y="0"/>
                </a:lnTo>
                <a:lnTo>
                  <a:pt x="0" y="0"/>
                </a:lnTo>
                <a:lnTo>
                  <a:pt x="0" y="168065"/>
                </a:lnTo>
                <a:lnTo>
                  <a:pt x="195209" y="168065"/>
                </a:lnTo>
                <a:close/>
              </a:path>
            </a:pathLst>
          </a:custGeom>
          <a:solidFill>
            <a:srgbClr val="FFB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7" name="object 427"/>
          <p:cNvSpPr/>
          <p:nvPr/>
        </p:nvSpPr>
        <p:spPr>
          <a:xfrm>
            <a:off x="2970829" y="3525870"/>
            <a:ext cx="195580" cy="168275"/>
          </a:xfrm>
          <a:custGeom>
            <a:avLst/>
            <a:gdLst/>
            <a:ahLst/>
            <a:cxnLst/>
            <a:rect l="l" t="t" r="r" b="b"/>
            <a:pathLst>
              <a:path w="195580" h="168275">
                <a:moveTo>
                  <a:pt x="195209" y="168065"/>
                </a:moveTo>
                <a:lnTo>
                  <a:pt x="195209" y="0"/>
                </a:lnTo>
                <a:lnTo>
                  <a:pt x="0" y="0"/>
                </a:lnTo>
                <a:lnTo>
                  <a:pt x="0" y="168065"/>
                </a:lnTo>
                <a:lnTo>
                  <a:pt x="195209" y="168065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8" name="object 428"/>
          <p:cNvSpPr/>
          <p:nvPr/>
        </p:nvSpPr>
        <p:spPr>
          <a:xfrm>
            <a:off x="3896618" y="2972767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6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9" name="object 429"/>
          <p:cNvSpPr/>
          <p:nvPr/>
        </p:nvSpPr>
        <p:spPr>
          <a:xfrm>
            <a:off x="3896618" y="2972767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0" name="object 430"/>
          <p:cNvSpPr/>
          <p:nvPr/>
        </p:nvSpPr>
        <p:spPr>
          <a:xfrm>
            <a:off x="4124427" y="2756572"/>
            <a:ext cx="195580" cy="149225"/>
          </a:xfrm>
          <a:custGeom>
            <a:avLst/>
            <a:gdLst/>
            <a:ahLst/>
            <a:cxnLst/>
            <a:rect l="l" t="t" r="r" b="b"/>
            <a:pathLst>
              <a:path w="195579" h="149225">
                <a:moveTo>
                  <a:pt x="195209" y="148658"/>
                </a:moveTo>
                <a:lnTo>
                  <a:pt x="195209" y="0"/>
                </a:lnTo>
                <a:lnTo>
                  <a:pt x="0" y="0"/>
                </a:lnTo>
                <a:lnTo>
                  <a:pt x="0" y="148658"/>
                </a:lnTo>
                <a:lnTo>
                  <a:pt x="195209" y="148658"/>
                </a:lnTo>
                <a:close/>
              </a:path>
            </a:pathLst>
          </a:custGeom>
          <a:solidFill>
            <a:srgbClr val="2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1" name="object 431"/>
          <p:cNvSpPr/>
          <p:nvPr/>
        </p:nvSpPr>
        <p:spPr>
          <a:xfrm>
            <a:off x="4124427" y="2756572"/>
            <a:ext cx="195580" cy="149225"/>
          </a:xfrm>
          <a:custGeom>
            <a:avLst/>
            <a:gdLst/>
            <a:ahLst/>
            <a:cxnLst/>
            <a:rect l="l" t="t" r="r" b="b"/>
            <a:pathLst>
              <a:path w="195579" h="149225">
                <a:moveTo>
                  <a:pt x="195209" y="148658"/>
                </a:moveTo>
                <a:lnTo>
                  <a:pt x="195209" y="0"/>
                </a:lnTo>
                <a:lnTo>
                  <a:pt x="0" y="0"/>
                </a:lnTo>
                <a:lnTo>
                  <a:pt x="0" y="148658"/>
                </a:lnTo>
                <a:lnTo>
                  <a:pt x="195209" y="148658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2" name="object 432"/>
          <p:cNvSpPr/>
          <p:nvPr/>
        </p:nvSpPr>
        <p:spPr>
          <a:xfrm>
            <a:off x="4352430" y="2640324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6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3" name="object 433"/>
          <p:cNvSpPr/>
          <p:nvPr/>
        </p:nvSpPr>
        <p:spPr>
          <a:xfrm>
            <a:off x="4352430" y="2640324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4" name="object 434"/>
          <p:cNvSpPr/>
          <p:nvPr/>
        </p:nvSpPr>
        <p:spPr>
          <a:xfrm>
            <a:off x="4580239" y="2527762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6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5" name="object 435"/>
          <p:cNvSpPr/>
          <p:nvPr/>
        </p:nvSpPr>
        <p:spPr>
          <a:xfrm>
            <a:off x="4580239" y="2527762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6" name="object 436"/>
          <p:cNvSpPr/>
          <p:nvPr/>
        </p:nvSpPr>
        <p:spPr>
          <a:xfrm>
            <a:off x="4808048" y="2254511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8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7" name="object 437"/>
          <p:cNvSpPr/>
          <p:nvPr/>
        </p:nvSpPr>
        <p:spPr>
          <a:xfrm>
            <a:off x="4808048" y="2254511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8" name="object 438"/>
          <p:cNvSpPr/>
          <p:nvPr/>
        </p:nvSpPr>
        <p:spPr>
          <a:xfrm>
            <a:off x="2757185" y="2958794"/>
            <a:ext cx="195580" cy="168275"/>
          </a:xfrm>
          <a:custGeom>
            <a:avLst/>
            <a:gdLst/>
            <a:ahLst/>
            <a:cxnLst/>
            <a:rect l="l" t="t" r="r" b="b"/>
            <a:pathLst>
              <a:path w="195580" h="168275">
                <a:moveTo>
                  <a:pt x="195209" y="168065"/>
                </a:moveTo>
                <a:lnTo>
                  <a:pt x="195209" y="0"/>
                </a:lnTo>
                <a:lnTo>
                  <a:pt x="0" y="0"/>
                </a:lnTo>
                <a:lnTo>
                  <a:pt x="0" y="168065"/>
                </a:lnTo>
                <a:lnTo>
                  <a:pt x="195209" y="168065"/>
                </a:lnTo>
                <a:close/>
              </a:path>
            </a:pathLst>
          </a:custGeom>
          <a:solidFill>
            <a:srgbClr val="FFB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9" name="object 439"/>
          <p:cNvSpPr/>
          <p:nvPr/>
        </p:nvSpPr>
        <p:spPr>
          <a:xfrm>
            <a:off x="2757185" y="2958794"/>
            <a:ext cx="195580" cy="168275"/>
          </a:xfrm>
          <a:custGeom>
            <a:avLst/>
            <a:gdLst/>
            <a:ahLst/>
            <a:cxnLst/>
            <a:rect l="l" t="t" r="r" b="b"/>
            <a:pathLst>
              <a:path w="195580" h="168275">
                <a:moveTo>
                  <a:pt x="195209" y="168065"/>
                </a:moveTo>
                <a:lnTo>
                  <a:pt x="195209" y="0"/>
                </a:lnTo>
                <a:lnTo>
                  <a:pt x="0" y="0"/>
                </a:lnTo>
                <a:lnTo>
                  <a:pt x="0" y="168065"/>
                </a:lnTo>
                <a:lnTo>
                  <a:pt x="195209" y="168065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0" name="object 440"/>
          <p:cNvSpPr/>
          <p:nvPr/>
        </p:nvSpPr>
        <p:spPr>
          <a:xfrm>
            <a:off x="2984994" y="2571623"/>
            <a:ext cx="195580" cy="168275"/>
          </a:xfrm>
          <a:custGeom>
            <a:avLst/>
            <a:gdLst/>
            <a:ahLst/>
            <a:cxnLst/>
            <a:rect l="l" t="t" r="r" b="b"/>
            <a:pathLst>
              <a:path w="195580" h="168275">
                <a:moveTo>
                  <a:pt x="195209" y="168065"/>
                </a:moveTo>
                <a:lnTo>
                  <a:pt x="195209" y="0"/>
                </a:lnTo>
                <a:lnTo>
                  <a:pt x="0" y="0"/>
                </a:lnTo>
                <a:lnTo>
                  <a:pt x="0" y="168065"/>
                </a:lnTo>
                <a:lnTo>
                  <a:pt x="195209" y="168065"/>
                </a:lnTo>
                <a:close/>
              </a:path>
            </a:pathLst>
          </a:custGeom>
          <a:solidFill>
            <a:srgbClr val="FFB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1" name="object 441"/>
          <p:cNvSpPr/>
          <p:nvPr/>
        </p:nvSpPr>
        <p:spPr>
          <a:xfrm>
            <a:off x="2984994" y="2571623"/>
            <a:ext cx="195580" cy="168275"/>
          </a:xfrm>
          <a:custGeom>
            <a:avLst/>
            <a:gdLst/>
            <a:ahLst/>
            <a:cxnLst/>
            <a:rect l="l" t="t" r="r" b="b"/>
            <a:pathLst>
              <a:path w="195580" h="168275">
                <a:moveTo>
                  <a:pt x="195209" y="168065"/>
                </a:moveTo>
                <a:lnTo>
                  <a:pt x="195209" y="0"/>
                </a:lnTo>
                <a:lnTo>
                  <a:pt x="0" y="0"/>
                </a:lnTo>
                <a:lnTo>
                  <a:pt x="0" y="168065"/>
                </a:lnTo>
                <a:lnTo>
                  <a:pt x="195209" y="168065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2" name="object 442"/>
          <p:cNvSpPr/>
          <p:nvPr/>
        </p:nvSpPr>
        <p:spPr>
          <a:xfrm>
            <a:off x="3212997" y="2444312"/>
            <a:ext cx="195580" cy="168275"/>
          </a:xfrm>
          <a:custGeom>
            <a:avLst/>
            <a:gdLst/>
            <a:ahLst/>
            <a:cxnLst/>
            <a:rect l="l" t="t" r="r" b="b"/>
            <a:pathLst>
              <a:path w="195579" h="168275">
                <a:moveTo>
                  <a:pt x="195209" y="168065"/>
                </a:moveTo>
                <a:lnTo>
                  <a:pt x="195209" y="0"/>
                </a:lnTo>
                <a:lnTo>
                  <a:pt x="0" y="0"/>
                </a:lnTo>
                <a:lnTo>
                  <a:pt x="0" y="168065"/>
                </a:lnTo>
                <a:lnTo>
                  <a:pt x="195209" y="168065"/>
                </a:lnTo>
                <a:close/>
              </a:path>
            </a:pathLst>
          </a:custGeom>
          <a:solidFill>
            <a:srgbClr val="FFB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3" name="object 443"/>
          <p:cNvSpPr/>
          <p:nvPr/>
        </p:nvSpPr>
        <p:spPr>
          <a:xfrm>
            <a:off x="3212997" y="2444312"/>
            <a:ext cx="195580" cy="168275"/>
          </a:xfrm>
          <a:custGeom>
            <a:avLst/>
            <a:gdLst/>
            <a:ahLst/>
            <a:cxnLst/>
            <a:rect l="l" t="t" r="r" b="b"/>
            <a:pathLst>
              <a:path w="195579" h="168275">
                <a:moveTo>
                  <a:pt x="195209" y="168065"/>
                </a:moveTo>
                <a:lnTo>
                  <a:pt x="195209" y="0"/>
                </a:lnTo>
                <a:lnTo>
                  <a:pt x="0" y="0"/>
                </a:lnTo>
                <a:lnTo>
                  <a:pt x="0" y="168065"/>
                </a:lnTo>
                <a:lnTo>
                  <a:pt x="195209" y="168065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4" name="object 444"/>
          <p:cNvSpPr/>
          <p:nvPr/>
        </p:nvSpPr>
        <p:spPr>
          <a:xfrm>
            <a:off x="3440806" y="2336020"/>
            <a:ext cx="195580" cy="168275"/>
          </a:xfrm>
          <a:custGeom>
            <a:avLst/>
            <a:gdLst/>
            <a:ahLst/>
            <a:cxnLst/>
            <a:rect l="l" t="t" r="r" b="b"/>
            <a:pathLst>
              <a:path w="195579" h="168275">
                <a:moveTo>
                  <a:pt x="195209" y="168065"/>
                </a:moveTo>
                <a:lnTo>
                  <a:pt x="195209" y="0"/>
                </a:lnTo>
                <a:lnTo>
                  <a:pt x="0" y="0"/>
                </a:lnTo>
                <a:lnTo>
                  <a:pt x="0" y="168065"/>
                </a:lnTo>
                <a:lnTo>
                  <a:pt x="195209" y="168065"/>
                </a:lnTo>
                <a:close/>
              </a:path>
            </a:pathLst>
          </a:custGeom>
          <a:solidFill>
            <a:srgbClr val="FFB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5" name="object 445"/>
          <p:cNvSpPr/>
          <p:nvPr/>
        </p:nvSpPr>
        <p:spPr>
          <a:xfrm>
            <a:off x="3440806" y="2336020"/>
            <a:ext cx="195580" cy="168275"/>
          </a:xfrm>
          <a:custGeom>
            <a:avLst/>
            <a:gdLst/>
            <a:ahLst/>
            <a:cxnLst/>
            <a:rect l="l" t="t" r="r" b="b"/>
            <a:pathLst>
              <a:path w="195579" h="168275">
                <a:moveTo>
                  <a:pt x="195209" y="168065"/>
                </a:moveTo>
                <a:lnTo>
                  <a:pt x="195209" y="0"/>
                </a:lnTo>
                <a:lnTo>
                  <a:pt x="0" y="0"/>
                </a:lnTo>
                <a:lnTo>
                  <a:pt x="0" y="168065"/>
                </a:lnTo>
                <a:lnTo>
                  <a:pt x="195209" y="168065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6" name="object 446"/>
          <p:cNvSpPr/>
          <p:nvPr/>
        </p:nvSpPr>
        <p:spPr>
          <a:xfrm>
            <a:off x="22702" y="3855208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7" name="object 447"/>
          <p:cNvSpPr/>
          <p:nvPr/>
        </p:nvSpPr>
        <p:spPr>
          <a:xfrm>
            <a:off x="22702" y="3855208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8" name="object 448"/>
          <p:cNvSpPr/>
          <p:nvPr/>
        </p:nvSpPr>
        <p:spPr>
          <a:xfrm>
            <a:off x="734848" y="3688695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80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9" name="object 449"/>
          <p:cNvSpPr/>
          <p:nvPr/>
        </p:nvSpPr>
        <p:spPr>
          <a:xfrm>
            <a:off x="734848" y="3688695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80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0" name="object 450"/>
          <p:cNvSpPr/>
          <p:nvPr/>
        </p:nvSpPr>
        <p:spPr>
          <a:xfrm>
            <a:off x="1162135" y="3592048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80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1" name="object 451"/>
          <p:cNvSpPr/>
          <p:nvPr/>
        </p:nvSpPr>
        <p:spPr>
          <a:xfrm>
            <a:off x="1162135" y="3592048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80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2" name="object 452"/>
          <p:cNvSpPr/>
          <p:nvPr/>
        </p:nvSpPr>
        <p:spPr>
          <a:xfrm>
            <a:off x="1817231" y="3423982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80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3" name="object 453"/>
          <p:cNvSpPr/>
          <p:nvPr/>
        </p:nvSpPr>
        <p:spPr>
          <a:xfrm>
            <a:off x="1817231" y="3423982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80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4" name="object 454"/>
          <p:cNvSpPr/>
          <p:nvPr/>
        </p:nvSpPr>
        <p:spPr>
          <a:xfrm>
            <a:off x="2301374" y="2711354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80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5" name="object 455"/>
          <p:cNvSpPr/>
          <p:nvPr/>
        </p:nvSpPr>
        <p:spPr>
          <a:xfrm>
            <a:off x="2301374" y="2711354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80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6" name="object 456"/>
          <p:cNvSpPr/>
          <p:nvPr/>
        </p:nvSpPr>
        <p:spPr>
          <a:xfrm>
            <a:off x="1560897" y="2939193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80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7" name="object 457"/>
          <p:cNvSpPr/>
          <p:nvPr/>
        </p:nvSpPr>
        <p:spPr>
          <a:xfrm>
            <a:off x="1560897" y="2939193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80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8" name="object 458"/>
          <p:cNvSpPr/>
          <p:nvPr/>
        </p:nvSpPr>
        <p:spPr>
          <a:xfrm>
            <a:off x="1389944" y="2802179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80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9" name="object 459"/>
          <p:cNvSpPr/>
          <p:nvPr/>
        </p:nvSpPr>
        <p:spPr>
          <a:xfrm>
            <a:off x="1389944" y="2802179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80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0" name="object 460"/>
          <p:cNvSpPr/>
          <p:nvPr/>
        </p:nvSpPr>
        <p:spPr>
          <a:xfrm>
            <a:off x="1617753" y="2684184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80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1" name="object 461"/>
          <p:cNvSpPr/>
          <p:nvPr/>
        </p:nvSpPr>
        <p:spPr>
          <a:xfrm>
            <a:off x="1617753" y="2684184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80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2" name="object 462"/>
          <p:cNvSpPr/>
          <p:nvPr/>
        </p:nvSpPr>
        <p:spPr>
          <a:xfrm>
            <a:off x="535369" y="3389050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3" name="object 463"/>
          <p:cNvSpPr/>
          <p:nvPr/>
        </p:nvSpPr>
        <p:spPr>
          <a:xfrm>
            <a:off x="535369" y="3389050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4" name="object 464"/>
          <p:cNvSpPr/>
          <p:nvPr/>
        </p:nvSpPr>
        <p:spPr>
          <a:xfrm>
            <a:off x="364415" y="2802761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5" name="object 465"/>
          <p:cNvSpPr/>
          <p:nvPr/>
        </p:nvSpPr>
        <p:spPr>
          <a:xfrm>
            <a:off x="364415" y="2802761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6" name="object 466"/>
          <p:cNvSpPr/>
          <p:nvPr/>
        </p:nvSpPr>
        <p:spPr>
          <a:xfrm>
            <a:off x="250511" y="2641294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7" name="object 467"/>
          <p:cNvSpPr/>
          <p:nvPr/>
        </p:nvSpPr>
        <p:spPr>
          <a:xfrm>
            <a:off x="250511" y="2641294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8" name="object 468"/>
          <p:cNvSpPr txBox="1"/>
          <p:nvPr/>
        </p:nvSpPr>
        <p:spPr>
          <a:xfrm>
            <a:off x="10188138" y="2149324"/>
            <a:ext cx="284480" cy="352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" indent="-8255">
              <a:lnSpc>
                <a:spcPts val="1250"/>
              </a:lnSpc>
            </a:pPr>
            <a:r>
              <a:rPr sz="1500" spc="10" dirty="0">
                <a:latin typeface="Helvetica"/>
                <a:cs typeface="Helvetica"/>
              </a:rPr>
              <a:t>N</a:t>
            </a:r>
            <a:endParaRPr sz="1500">
              <a:latin typeface="Helvetica"/>
              <a:cs typeface="Helvetica"/>
            </a:endParaRPr>
          </a:p>
          <a:p>
            <a:pPr marL="7620">
              <a:lnSpc>
                <a:spcPts val="800"/>
              </a:lnSpc>
            </a:pPr>
            <a:r>
              <a:rPr sz="1350" spc="5" dirty="0">
                <a:latin typeface="Helvetica"/>
                <a:cs typeface="Helvetica"/>
              </a:rPr>
              <a:t>N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469" name="object 469"/>
          <p:cNvSpPr txBox="1"/>
          <p:nvPr/>
        </p:nvSpPr>
        <p:spPr>
          <a:xfrm>
            <a:off x="9333564" y="2395794"/>
            <a:ext cx="341630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indent="7620">
              <a:lnSpc>
                <a:spcPts val="1090"/>
              </a:lnSpc>
            </a:pPr>
            <a:r>
              <a:rPr sz="1350" spc="5" dirty="0">
                <a:latin typeface="Helvetica"/>
                <a:cs typeface="Helvetica"/>
              </a:rPr>
              <a:t>C</a:t>
            </a:r>
            <a:endParaRPr sz="1350">
              <a:latin typeface="Helvetica"/>
              <a:cs typeface="Helvetica"/>
            </a:endParaRPr>
          </a:p>
          <a:p>
            <a:pPr>
              <a:lnSpc>
                <a:spcPts val="969"/>
              </a:lnSpc>
            </a:pPr>
            <a:r>
              <a:rPr sz="1500" spc="10" dirty="0">
                <a:latin typeface="Helvetica"/>
                <a:cs typeface="Helvetica"/>
              </a:rPr>
              <a:t>C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470" name="object 470"/>
          <p:cNvSpPr txBox="1"/>
          <p:nvPr/>
        </p:nvSpPr>
        <p:spPr>
          <a:xfrm>
            <a:off x="9504517" y="2259168"/>
            <a:ext cx="284480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1500" spc="10" dirty="0">
                <a:latin typeface="Helvetica"/>
                <a:cs typeface="Helvetica"/>
              </a:rPr>
              <a:t>C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471" name="object 471"/>
          <p:cNvSpPr txBox="1"/>
          <p:nvPr/>
        </p:nvSpPr>
        <p:spPr>
          <a:xfrm>
            <a:off x="8098082" y="2405659"/>
            <a:ext cx="219075" cy="235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5">
              <a:lnSpc>
                <a:spcPct val="100000"/>
              </a:lnSpc>
            </a:pPr>
            <a:r>
              <a:rPr sz="1500" spc="10" dirty="0">
                <a:latin typeface="Helvetica"/>
                <a:cs typeface="Helvetica"/>
              </a:rPr>
              <a:t>H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472" name="object 472"/>
          <p:cNvSpPr txBox="1"/>
          <p:nvPr/>
        </p:nvSpPr>
        <p:spPr>
          <a:xfrm>
            <a:off x="8763848" y="2154923"/>
            <a:ext cx="341630" cy="144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85"/>
              </a:lnSpc>
            </a:pPr>
            <a:r>
              <a:rPr sz="1500" spc="5" dirty="0">
                <a:latin typeface="Helvetica"/>
                <a:cs typeface="Helvetica"/>
              </a:rPr>
              <a:t>L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473" name="object 473"/>
          <p:cNvSpPr txBox="1"/>
          <p:nvPr/>
        </p:nvSpPr>
        <p:spPr>
          <a:xfrm>
            <a:off x="8592894" y="2106822"/>
            <a:ext cx="28448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2250" spc="-3375" baseline="-33333" dirty="0">
                <a:latin typeface="Helvetica"/>
                <a:cs typeface="Helvetica"/>
              </a:rPr>
              <a:t>L</a:t>
            </a:r>
            <a:r>
              <a:rPr sz="1350" spc="5" dirty="0">
                <a:latin typeface="Helvetica"/>
                <a:cs typeface="Helvetica"/>
              </a:rPr>
              <a:t>L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474" name="object 474"/>
          <p:cNvSpPr txBox="1"/>
          <p:nvPr/>
        </p:nvSpPr>
        <p:spPr>
          <a:xfrm>
            <a:off x="7453461" y="2400064"/>
            <a:ext cx="284480" cy="328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2250" spc="-3622" baseline="-27777" dirty="0">
                <a:latin typeface="Helvetica"/>
                <a:cs typeface="Helvetica"/>
              </a:rPr>
              <a:t>A</a:t>
            </a:r>
            <a:r>
              <a:rPr sz="1350" spc="5" dirty="0">
                <a:latin typeface="Helvetica"/>
                <a:cs typeface="Helvetica"/>
              </a:rPr>
              <a:t>A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475" name="object 475"/>
          <p:cNvSpPr txBox="1"/>
          <p:nvPr/>
        </p:nvSpPr>
        <p:spPr>
          <a:xfrm>
            <a:off x="6143269" y="2653520"/>
            <a:ext cx="341630" cy="273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indent="7620">
              <a:lnSpc>
                <a:spcPts val="1105"/>
              </a:lnSpc>
            </a:pPr>
            <a:r>
              <a:rPr sz="1350" spc="5" dirty="0">
                <a:latin typeface="Helvetica"/>
                <a:cs typeface="Helvetica"/>
              </a:rPr>
              <a:t>A</a:t>
            </a:r>
            <a:endParaRPr sz="1350">
              <a:latin typeface="Helvetica"/>
              <a:cs typeface="Helvetica"/>
            </a:endParaRPr>
          </a:p>
          <a:p>
            <a:pPr>
              <a:lnSpc>
                <a:spcPts val="985"/>
              </a:lnSpc>
            </a:pPr>
            <a:r>
              <a:rPr sz="1500" spc="10" dirty="0">
                <a:latin typeface="Helvetica"/>
                <a:cs typeface="Helvetica"/>
              </a:rPr>
              <a:t>A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476" name="object 476"/>
          <p:cNvSpPr txBox="1"/>
          <p:nvPr/>
        </p:nvSpPr>
        <p:spPr>
          <a:xfrm>
            <a:off x="6314222" y="2492442"/>
            <a:ext cx="284480" cy="272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1500" spc="10" dirty="0">
                <a:latin typeface="Helvetica"/>
                <a:cs typeface="Helvetica"/>
              </a:rPr>
              <a:t>A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477" name="object 477"/>
          <p:cNvSpPr txBox="1"/>
          <p:nvPr/>
        </p:nvSpPr>
        <p:spPr>
          <a:xfrm>
            <a:off x="4776027" y="2527762"/>
            <a:ext cx="341630" cy="272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1500" spc="10" dirty="0">
                <a:latin typeface="Helvetica"/>
                <a:cs typeface="Helvetica"/>
              </a:rPr>
              <a:t>B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478" name="object 478"/>
          <p:cNvSpPr txBox="1"/>
          <p:nvPr/>
        </p:nvSpPr>
        <p:spPr>
          <a:xfrm>
            <a:off x="4946787" y="2254511"/>
            <a:ext cx="284480" cy="273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1500" spc="10" dirty="0">
                <a:latin typeface="Helvetica"/>
                <a:cs typeface="Helvetica"/>
              </a:rPr>
              <a:t>E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479" name="object 479"/>
          <p:cNvSpPr txBox="1"/>
          <p:nvPr/>
        </p:nvSpPr>
        <p:spPr>
          <a:xfrm>
            <a:off x="3408591" y="2444312"/>
            <a:ext cx="341630" cy="283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1500" spc="10" dirty="0">
                <a:latin typeface="Helvetica"/>
                <a:cs typeface="Helvetica"/>
              </a:rPr>
              <a:t>C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480" name="object 480"/>
          <p:cNvSpPr txBox="1"/>
          <p:nvPr/>
        </p:nvSpPr>
        <p:spPr>
          <a:xfrm>
            <a:off x="3579545" y="2336020"/>
            <a:ext cx="284480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1500" spc="10" dirty="0">
                <a:latin typeface="Helvetica"/>
                <a:cs typeface="Helvetica"/>
              </a:rPr>
              <a:t>C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481" name="object 481"/>
          <p:cNvSpPr txBox="1"/>
          <p:nvPr/>
        </p:nvSpPr>
        <p:spPr>
          <a:xfrm>
            <a:off x="2440112" y="2711354"/>
            <a:ext cx="284480" cy="272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1500" spc="10" dirty="0">
                <a:latin typeface="Helvetica"/>
                <a:cs typeface="Helvetica"/>
              </a:rPr>
              <a:t>A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482" name="object 482"/>
          <p:cNvSpPr txBox="1"/>
          <p:nvPr/>
        </p:nvSpPr>
        <p:spPr>
          <a:xfrm>
            <a:off x="1585732" y="2802179"/>
            <a:ext cx="341630" cy="272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1500" spc="10" dirty="0">
                <a:latin typeface="Helvetica"/>
                <a:cs typeface="Helvetica"/>
              </a:rPr>
              <a:t>A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483" name="object 483"/>
          <p:cNvSpPr txBox="1"/>
          <p:nvPr/>
        </p:nvSpPr>
        <p:spPr>
          <a:xfrm>
            <a:off x="1756492" y="2684184"/>
            <a:ext cx="284480" cy="273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1500" spc="10" dirty="0">
                <a:latin typeface="Helvetica"/>
                <a:cs typeface="Helvetica"/>
              </a:rPr>
              <a:t>A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484" name="object 484"/>
          <p:cNvSpPr txBox="1"/>
          <p:nvPr/>
        </p:nvSpPr>
        <p:spPr>
          <a:xfrm>
            <a:off x="560204" y="2802761"/>
            <a:ext cx="341630" cy="273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1500" spc="10" dirty="0">
                <a:latin typeface="Helvetica"/>
                <a:cs typeface="Helvetica"/>
              </a:rPr>
              <a:t>A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485" name="object 485"/>
          <p:cNvSpPr txBox="1"/>
          <p:nvPr/>
        </p:nvSpPr>
        <p:spPr>
          <a:xfrm>
            <a:off x="389250" y="2641294"/>
            <a:ext cx="284480" cy="272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1500" spc="10" dirty="0">
                <a:latin typeface="Helvetica"/>
                <a:cs typeface="Helvetica"/>
              </a:rPr>
              <a:t>A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486" name="object 486"/>
          <p:cNvSpPr txBox="1"/>
          <p:nvPr/>
        </p:nvSpPr>
        <p:spPr>
          <a:xfrm>
            <a:off x="1162135" y="3592048"/>
            <a:ext cx="243840" cy="219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9530">
              <a:lnSpc>
                <a:spcPts val="1500"/>
              </a:lnSpc>
            </a:pPr>
            <a:r>
              <a:rPr sz="1500" spc="10" dirty="0">
                <a:latin typeface="Helvetica"/>
                <a:cs typeface="Helvetica"/>
              </a:rPr>
              <a:t>A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487" name="object 487"/>
          <p:cNvSpPr/>
          <p:nvPr/>
        </p:nvSpPr>
        <p:spPr>
          <a:xfrm>
            <a:off x="6265133" y="5089306"/>
            <a:ext cx="195580" cy="275590"/>
          </a:xfrm>
          <a:custGeom>
            <a:avLst/>
            <a:gdLst/>
            <a:ahLst/>
            <a:cxnLst/>
            <a:rect l="l" t="t" r="r" b="b"/>
            <a:pathLst>
              <a:path w="195579" h="275589">
                <a:moveTo>
                  <a:pt x="195209" y="274998"/>
                </a:moveTo>
                <a:lnTo>
                  <a:pt x="195209" y="0"/>
                </a:lnTo>
                <a:lnTo>
                  <a:pt x="0" y="0"/>
                </a:lnTo>
                <a:lnTo>
                  <a:pt x="0" y="274998"/>
                </a:lnTo>
                <a:lnTo>
                  <a:pt x="195209" y="274998"/>
                </a:lnTo>
                <a:close/>
              </a:path>
            </a:pathLst>
          </a:custGeom>
          <a:solidFill>
            <a:srgbClr val="FF3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8" name="object 488"/>
          <p:cNvSpPr/>
          <p:nvPr/>
        </p:nvSpPr>
        <p:spPr>
          <a:xfrm>
            <a:off x="6265133" y="5089306"/>
            <a:ext cx="195580" cy="275590"/>
          </a:xfrm>
          <a:custGeom>
            <a:avLst/>
            <a:gdLst/>
            <a:ahLst/>
            <a:cxnLst/>
            <a:rect l="l" t="t" r="r" b="b"/>
            <a:pathLst>
              <a:path w="195579" h="275589">
                <a:moveTo>
                  <a:pt x="195209" y="274998"/>
                </a:moveTo>
                <a:lnTo>
                  <a:pt x="195209" y="0"/>
                </a:lnTo>
                <a:lnTo>
                  <a:pt x="0" y="0"/>
                </a:lnTo>
                <a:lnTo>
                  <a:pt x="0" y="274998"/>
                </a:lnTo>
                <a:lnTo>
                  <a:pt x="195209" y="274998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9" name="object 489"/>
          <p:cNvSpPr/>
          <p:nvPr/>
        </p:nvSpPr>
        <p:spPr>
          <a:xfrm>
            <a:off x="8986227" y="4037635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0" name="object 490"/>
          <p:cNvSpPr/>
          <p:nvPr/>
        </p:nvSpPr>
        <p:spPr>
          <a:xfrm>
            <a:off x="8986227" y="4037635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1" name="object 491"/>
          <p:cNvSpPr/>
          <p:nvPr/>
        </p:nvSpPr>
        <p:spPr>
          <a:xfrm>
            <a:off x="11359592" y="3552457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2" name="object 492"/>
          <p:cNvSpPr/>
          <p:nvPr/>
        </p:nvSpPr>
        <p:spPr>
          <a:xfrm>
            <a:off x="11359592" y="3552457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3" name="object 493"/>
          <p:cNvSpPr/>
          <p:nvPr/>
        </p:nvSpPr>
        <p:spPr>
          <a:xfrm>
            <a:off x="11701499" y="3461050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4" name="object 494"/>
          <p:cNvSpPr/>
          <p:nvPr/>
        </p:nvSpPr>
        <p:spPr>
          <a:xfrm>
            <a:off x="11701499" y="3461050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5" name="object 495"/>
          <p:cNvSpPr/>
          <p:nvPr/>
        </p:nvSpPr>
        <p:spPr>
          <a:xfrm>
            <a:off x="11872259" y="3154224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6" name="object 496"/>
          <p:cNvSpPr/>
          <p:nvPr/>
        </p:nvSpPr>
        <p:spPr>
          <a:xfrm>
            <a:off x="11872259" y="3154224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7" name="object 497"/>
          <p:cNvSpPr/>
          <p:nvPr/>
        </p:nvSpPr>
        <p:spPr>
          <a:xfrm>
            <a:off x="11644450" y="2454015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8" name="object 498"/>
          <p:cNvSpPr/>
          <p:nvPr/>
        </p:nvSpPr>
        <p:spPr>
          <a:xfrm>
            <a:off x="11644450" y="2454015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9" name="object 499"/>
          <p:cNvSpPr/>
          <p:nvPr/>
        </p:nvSpPr>
        <p:spPr>
          <a:xfrm>
            <a:off x="11188638" y="3012358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0" name="object 500"/>
          <p:cNvSpPr/>
          <p:nvPr/>
        </p:nvSpPr>
        <p:spPr>
          <a:xfrm>
            <a:off x="11188638" y="3012358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1" name="object 501"/>
          <p:cNvSpPr/>
          <p:nvPr/>
        </p:nvSpPr>
        <p:spPr>
          <a:xfrm>
            <a:off x="10960830" y="2723386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2" name="object 502"/>
          <p:cNvSpPr/>
          <p:nvPr/>
        </p:nvSpPr>
        <p:spPr>
          <a:xfrm>
            <a:off x="10960830" y="2723386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3" name="object 503"/>
          <p:cNvSpPr/>
          <p:nvPr/>
        </p:nvSpPr>
        <p:spPr>
          <a:xfrm>
            <a:off x="7709022" y="3329082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4" name="object 504"/>
          <p:cNvSpPr/>
          <p:nvPr/>
        </p:nvSpPr>
        <p:spPr>
          <a:xfrm>
            <a:off x="7709022" y="3329082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5" name="object 505"/>
          <p:cNvSpPr/>
          <p:nvPr/>
        </p:nvSpPr>
        <p:spPr>
          <a:xfrm>
            <a:off x="8559134" y="2734642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6" name="object 506"/>
          <p:cNvSpPr/>
          <p:nvPr/>
        </p:nvSpPr>
        <p:spPr>
          <a:xfrm>
            <a:off x="8559134" y="2734642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7" name="object 507"/>
          <p:cNvSpPr/>
          <p:nvPr/>
        </p:nvSpPr>
        <p:spPr>
          <a:xfrm>
            <a:off x="9693327" y="2601703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8" name="object 508"/>
          <p:cNvSpPr/>
          <p:nvPr/>
        </p:nvSpPr>
        <p:spPr>
          <a:xfrm>
            <a:off x="9693327" y="2601703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9" name="object 509"/>
          <p:cNvSpPr/>
          <p:nvPr/>
        </p:nvSpPr>
        <p:spPr>
          <a:xfrm>
            <a:off x="10077730" y="2466630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0" name="object 510"/>
          <p:cNvSpPr/>
          <p:nvPr/>
        </p:nvSpPr>
        <p:spPr>
          <a:xfrm>
            <a:off x="10077730" y="2466630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1" name="object 511"/>
          <p:cNvSpPr/>
          <p:nvPr/>
        </p:nvSpPr>
        <p:spPr>
          <a:xfrm>
            <a:off x="10334258" y="2405304"/>
            <a:ext cx="195580" cy="168275"/>
          </a:xfrm>
          <a:custGeom>
            <a:avLst/>
            <a:gdLst/>
            <a:ahLst/>
            <a:cxnLst/>
            <a:rect l="l" t="t" r="r" b="b"/>
            <a:pathLst>
              <a:path w="195579" h="168275">
                <a:moveTo>
                  <a:pt x="195209" y="168065"/>
                </a:moveTo>
                <a:lnTo>
                  <a:pt x="195209" y="0"/>
                </a:lnTo>
                <a:lnTo>
                  <a:pt x="0" y="0"/>
                </a:lnTo>
                <a:lnTo>
                  <a:pt x="0" y="168065"/>
                </a:lnTo>
                <a:lnTo>
                  <a:pt x="195209" y="168065"/>
                </a:lnTo>
                <a:close/>
              </a:path>
            </a:pathLst>
          </a:custGeom>
          <a:solidFill>
            <a:srgbClr val="DF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2" name="object 512"/>
          <p:cNvSpPr/>
          <p:nvPr/>
        </p:nvSpPr>
        <p:spPr>
          <a:xfrm>
            <a:off x="10334258" y="2405304"/>
            <a:ext cx="195580" cy="168275"/>
          </a:xfrm>
          <a:custGeom>
            <a:avLst/>
            <a:gdLst/>
            <a:ahLst/>
            <a:cxnLst/>
            <a:rect l="l" t="t" r="r" b="b"/>
            <a:pathLst>
              <a:path w="195579" h="168275">
                <a:moveTo>
                  <a:pt x="195209" y="168065"/>
                </a:moveTo>
                <a:lnTo>
                  <a:pt x="195209" y="0"/>
                </a:lnTo>
                <a:lnTo>
                  <a:pt x="0" y="0"/>
                </a:lnTo>
                <a:lnTo>
                  <a:pt x="0" y="168065"/>
                </a:lnTo>
                <a:lnTo>
                  <a:pt x="195209" y="168065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3" name="object 513"/>
          <p:cNvSpPr/>
          <p:nvPr/>
        </p:nvSpPr>
        <p:spPr>
          <a:xfrm>
            <a:off x="10505017" y="2241120"/>
            <a:ext cx="195580" cy="168275"/>
          </a:xfrm>
          <a:custGeom>
            <a:avLst/>
            <a:gdLst/>
            <a:ahLst/>
            <a:cxnLst/>
            <a:rect l="l" t="t" r="r" b="b"/>
            <a:pathLst>
              <a:path w="195579" h="168275">
                <a:moveTo>
                  <a:pt x="195209" y="168065"/>
                </a:moveTo>
                <a:lnTo>
                  <a:pt x="195209" y="0"/>
                </a:lnTo>
                <a:lnTo>
                  <a:pt x="0" y="0"/>
                </a:lnTo>
                <a:lnTo>
                  <a:pt x="0" y="168065"/>
                </a:lnTo>
                <a:lnTo>
                  <a:pt x="195209" y="168065"/>
                </a:lnTo>
                <a:close/>
              </a:path>
            </a:pathLst>
          </a:custGeom>
          <a:solidFill>
            <a:srgbClr val="DF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4" name="object 514"/>
          <p:cNvSpPr/>
          <p:nvPr/>
        </p:nvSpPr>
        <p:spPr>
          <a:xfrm>
            <a:off x="10505017" y="2241120"/>
            <a:ext cx="195580" cy="168275"/>
          </a:xfrm>
          <a:custGeom>
            <a:avLst/>
            <a:gdLst/>
            <a:ahLst/>
            <a:cxnLst/>
            <a:rect l="l" t="t" r="r" b="b"/>
            <a:pathLst>
              <a:path w="195579" h="168275">
                <a:moveTo>
                  <a:pt x="195209" y="168065"/>
                </a:moveTo>
                <a:lnTo>
                  <a:pt x="195209" y="0"/>
                </a:lnTo>
                <a:lnTo>
                  <a:pt x="0" y="0"/>
                </a:lnTo>
                <a:lnTo>
                  <a:pt x="0" y="168065"/>
                </a:lnTo>
                <a:lnTo>
                  <a:pt x="195209" y="168065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5" name="object 515"/>
          <p:cNvSpPr/>
          <p:nvPr/>
        </p:nvSpPr>
        <p:spPr>
          <a:xfrm>
            <a:off x="10277209" y="2149324"/>
            <a:ext cx="195580" cy="168275"/>
          </a:xfrm>
          <a:custGeom>
            <a:avLst/>
            <a:gdLst/>
            <a:ahLst/>
            <a:cxnLst/>
            <a:rect l="l" t="t" r="r" b="b"/>
            <a:pathLst>
              <a:path w="195579" h="168275">
                <a:moveTo>
                  <a:pt x="195209" y="168065"/>
                </a:moveTo>
                <a:lnTo>
                  <a:pt x="195209" y="0"/>
                </a:lnTo>
                <a:lnTo>
                  <a:pt x="0" y="0"/>
                </a:lnTo>
                <a:lnTo>
                  <a:pt x="0" y="168065"/>
                </a:lnTo>
                <a:lnTo>
                  <a:pt x="195209" y="168065"/>
                </a:lnTo>
                <a:close/>
              </a:path>
            </a:pathLst>
          </a:custGeom>
          <a:solidFill>
            <a:srgbClr val="DF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6" name="object 516"/>
          <p:cNvSpPr/>
          <p:nvPr/>
        </p:nvSpPr>
        <p:spPr>
          <a:xfrm>
            <a:off x="10277209" y="2149324"/>
            <a:ext cx="195580" cy="168275"/>
          </a:xfrm>
          <a:custGeom>
            <a:avLst/>
            <a:gdLst/>
            <a:ahLst/>
            <a:cxnLst/>
            <a:rect l="l" t="t" r="r" b="b"/>
            <a:pathLst>
              <a:path w="195579" h="168275">
                <a:moveTo>
                  <a:pt x="195209" y="168065"/>
                </a:moveTo>
                <a:lnTo>
                  <a:pt x="195209" y="0"/>
                </a:lnTo>
                <a:lnTo>
                  <a:pt x="0" y="0"/>
                </a:lnTo>
                <a:lnTo>
                  <a:pt x="0" y="168065"/>
                </a:lnTo>
                <a:lnTo>
                  <a:pt x="195209" y="168065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7" name="object 517"/>
          <p:cNvSpPr/>
          <p:nvPr/>
        </p:nvSpPr>
        <p:spPr>
          <a:xfrm>
            <a:off x="9479684" y="2395794"/>
            <a:ext cx="195580" cy="168275"/>
          </a:xfrm>
          <a:custGeom>
            <a:avLst/>
            <a:gdLst/>
            <a:ahLst/>
            <a:cxnLst/>
            <a:rect l="l" t="t" r="r" b="b"/>
            <a:pathLst>
              <a:path w="195579" h="168275">
                <a:moveTo>
                  <a:pt x="195209" y="168065"/>
                </a:moveTo>
                <a:lnTo>
                  <a:pt x="195209" y="0"/>
                </a:lnTo>
                <a:lnTo>
                  <a:pt x="0" y="0"/>
                </a:lnTo>
                <a:lnTo>
                  <a:pt x="0" y="168065"/>
                </a:lnTo>
                <a:lnTo>
                  <a:pt x="195209" y="168065"/>
                </a:lnTo>
                <a:close/>
              </a:path>
            </a:pathLst>
          </a:custGeom>
          <a:solidFill>
            <a:srgbClr val="FFB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8" name="object 518"/>
          <p:cNvSpPr/>
          <p:nvPr/>
        </p:nvSpPr>
        <p:spPr>
          <a:xfrm>
            <a:off x="9479684" y="2395794"/>
            <a:ext cx="195580" cy="168275"/>
          </a:xfrm>
          <a:custGeom>
            <a:avLst/>
            <a:gdLst/>
            <a:ahLst/>
            <a:cxnLst/>
            <a:rect l="l" t="t" r="r" b="b"/>
            <a:pathLst>
              <a:path w="195579" h="168275">
                <a:moveTo>
                  <a:pt x="195209" y="168065"/>
                </a:moveTo>
                <a:lnTo>
                  <a:pt x="195209" y="0"/>
                </a:lnTo>
                <a:lnTo>
                  <a:pt x="0" y="0"/>
                </a:lnTo>
                <a:lnTo>
                  <a:pt x="0" y="168065"/>
                </a:lnTo>
                <a:lnTo>
                  <a:pt x="195209" y="168065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9" name="object 519"/>
          <p:cNvSpPr/>
          <p:nvPr/>
        </p:nvSpPr>
        <p:spPr>
          <a:xfrm>
            <a:off x="9593588" y="2259168"/>
            <a:ext cx="195580" cy="168275"/>
          </a:xfrm>
          <a:custGeom>
            <a:avLst/>
            <a:gdLst/>
            <a:ahLst/>
            <a:cxnLst/>
            <a:rect l="l" t="t" r="r" b="b"/>
            <a:pathLst>
              <a:path w="195579" h="168275">
                <a:moveTo>
                  <a:pt x="195209" y="168065"/>
                </a:moveTo>
                <a:lnTo>
                  <a:pt x="195209" y="0"/>
                </a:lnTo>
                <a:lnTo>
                  <a:pt x="0" y="0"/>
                </a:lnTo>
                <a:lnTo>
                  <a:pt x="0" y="168065"/>
                </a:lnTo>
                <a:lnTo>
                  <a:pt x="195209" y="168065"/>
                </a:lnTo>
                <a:close/>
              </a:path>
            </a:pathLst>
          </a:custGeom>
          <a:solidFill>
            <a:srgbClr val="FFB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0" name="object 520"/>
          <p:cNvSpPr/>
          <p:nvPr/>
        </p:nvSpPr>
        <p:spPr>
          <a:xfrm>
            <a:off x="9593588" y="2259168"/>
            <a:ext cx="195580" cy="168275"/>
          </a:xfrm>
          <a:custGeom>
            <a:avLst/>
            <a:gdLst/>
            <a:ahLst/>
            <a:cxnLst/>
            <a:rect l="l" t="t" r="r" b="b"/>
            <a:pathLst>
              <a:path w="195579" h="168275">
                <a:moveTo>
                  <a:pt x="195209" y="168065"/>
                </a:moveTo>
                <a:lnTo>
                  <a:pt x="195209" y="0"/>
                </a:lnTo>
                <a:lnTo>
                  <a:pt x="0" y="0"/>
                </a:lnTo>
                <a:lnTo>
                  <a:pt x="0" y="168065"/>
                </a:lnTo>
                <a:lnTo>
                  <a:pt x="195209" y="168065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1" name="object 521"/>
          <p:cNvSpPr/>
          <p:nvPr/>
        </p:nvSpPr>
        <p:spPr>
          <a:xfrm>
            <a:off x="7763354" y="2537078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2" name="object 522"/>
          <p:cNvSpPr/>
          <p:nvPr/>
        </p:nvSpPr>
        <p:spPr>
          <a:xfrm>
            <a:off x="7763354" y="2537078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3" name="object 523"/>
          <p:cNvSpPr/>
          <p:nvPr/>
        </p:nvSpPr>
        <p:spPr>
          <a:xfrm>
            <a:off x="8098082" y="2472646"/>
            <a:ext cx="195580" cy="168275"/>
          </a:xfrm>
          <a:custGeom>
            <a:avLst/>
            <a:gdLst/>
            <a:ahLst/>
            <a:cxnLst/>
            <a:rect l="l" t="t" r="r" b="b"/>
            <a:pathLst>
              <a:path w="195579" h="168275">
                <a:moveTo>
                  <a:pt x="195209" y="168065"/>
                </a:moveTo>
                <a:lnTo>
                  <a:pt x="195209" y="0"/>
                </a:lnTo>
                <a:lnTo>
                  <a:pt x="0" y="0"/>
                </a:lnTo>
                <a:lnTo>
                  <a:pt x="0" y="168065"/>
                </a:lnTo>
                <a:lnTo>
                  <a:pt x="195209" y="168065"/>
                </a:lnTo>
                <a:close/>
              </a:path>
            </a:pathLst>
          </a:custGeom>
          <a:solidFill>
            <a:srgbClr val="00F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4" name="object 524"/>
          <p:cNvSpPr/>
          <p:nvPr/>
        </p:nvSpPr>
        <p:spPr>
          <a:xfrm>
            <a:off x="8098082" y="2472646"/>
            <a:ext cx="195580" cy="168275"/>
          </a:xfrm>
          <a:custGeom>
            <a:avLst/>
            <a:gdLst/>
            <a:ahLst/>
            <a:cxnLst/>
            <a:rect l="l" t="t" r="r" b="b"/>
            <a:pathLst>
              <a:path w="195579" h="168275">
                <a:moveTo>
                  <a:pt x="195209" y="168065"/>
                </a:moveTo>
                <a:lnTo>
                  <a:pt x="195209" y="0"/>
                </a:lnTo>
                <a:lnTo>
                  <a:pt x="0" y="0"/>
                </a:lnTo>
                <a:lnTo>
                  <a:pt x="0" y="168065"/>
                </a:lnTo>
                <a:lnTo>
                  <a:pt x="195209" y="168065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5" name="object 525"/>
          <p:cNvSpPr/>
          <p:nvPr/>
        </p:nvSpPr>
        <p:spPr>
          <a:xfrm>
            <a:off x="8425630" y="2427234"/>
            <a:ext cx="195580" cy="139065"/>
          </a:xfrm>
          <a:custGeom>
            <a:avLst/>
            <a:gdLst/>
            <a:ahLst/>
            <a:cxnLst/>
            <a:rect l="l" t="t" r="r" b="b"/>
            <a:pathLst>
              <a:path w="195579" h="139064">
                <a:moveTo>
                  <a:pt x="195209" y="138954"/>
                </a:moveTo>
                <a:lnTo>
                  <a:pt x="195209" y="0"/>
                </a:lnTo>
                <a:lnTo>
                  <a:pt x="0" y="0"/>
                </a:lnTo>
                <a:lnTo>
                  <a:pt x="0" y="138954"/>
                </a:lnTo>
                <a:lnTo>
                  <a:pt x="195209" y="138954"/>
                </a:lnTo>
                <a:close/>
              </a:path>
            </a:pathLst>
          </a:custGeom>
          <a:solidFill>
            <a:srgbClr val="2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6" name="object 526"/>
          <p:cNvSpPr/>
          <p:nvPr/>
        </p:nvSpPr>
        <p:spPr>
          <a:xfrm>
            <a:off x="8425630" y="2427234"/>
            <a:ext cx="195580" cy="139065"/>
          </a:xfrm>
          <a:custGeom>
            <a:avLst/>
            <a:gdLst/>
            <a:ahLst/>
            <a:cxnLst/>
            <a:rect l="l" t="t" r="r" b="b"/>
            <a:pathLst>
              <a:path w="195579" h="139064">
                <a:moveTo>
                  <a:pt x="195209" y="138954"/>
                </a:moveTo>
                <a:lnTo>
                  <a:pt x="195209" y="0"/>
                </a:lnTo>
                <a:lnTo>
                  <a:pt x="0" y="0"/>
                </a:lnTo>
                <a:lnTo>
                  <a:pt x="0" y="138954"/>
                </a:lnTo>
                <a:lnTo>
                  <a:pt x="195209" y="13895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7" name="object 527"/>
          <p:cNvSpPr/>
          <p:nvPr/>
        </p:nvSpPr>
        <p:spPr>
          <a:xfrm>
            <a:off x="8739013" y="2271589"/>
            <a:ext cx="195580" cy="139065"/>
          </a:xfrm>
          <a:custGeom>
            <a:avLst/>
            <a:gdLst/>
            <a:ahLst/>
            <a:cxnLst/>
            <a:rect l="l" t="t" r="r" b="b"/>
            <a:pathLst>
              <a:path w="195579" h="139064">
                <a:moveTo>
                  <a:pt x="195209" y="138954"/>
                </a:moveTo>
                <a:lnTo>
                  <a:pt x="195209" y="0"/>
                </a:lnTo>
                <a:lnTo>
                  <a:pt x="0" y="0"/>
                </a:lnTo>
                <a:lnTo>
                  <a:pt x="0" y="138954"/>
                </a:lnTo>
                <a:lnTo>
                  <a:pt x="195209" y="138954"/>
                </a:lnTo>
                <a:close/>
              </a:path>
            </a:pathLst>
          </a:custGeom>
          <a:solidFill>
            <a:srgbClr val="2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8" name="object 528"/>
          <p:cNvSpPr/>
          <p:nvPr/>
        </p:nvSpPr>
        <p:spPr>
          <a:xfrm>
            <a:off x="8739013" y="2271589"/>
            <a:ext cx="195580" cy="139065"/>
          </a:xfrm>
          <a:custGeom>
            <a:avLst/>
            <a:gdLst/>
            <a:ahLst/>
            <a:cxnLst/>
            <a:rect l="l" t="t" r="r" b="b"/>
            <a:pathLst>
              <a:path w="195579" h="139064">
                <a:moveTo>
                  <a:pt x="195209" y="138954"/>
                </a:moveTo>
                <a:lnTo>
                  <a:pt x="195209" y="0"/>
                </a:lnTo>
                <a:lnTo>
                  <a:pt x="0" y="0"/>
                </a:lnTo>
                <a:lnTo>
                  <a:pt x="0" y="138954"/>
                </a:lnTo>
                <a:lnTo>
                  <a:pt x="195209" y="13895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9" name="object 529"/>
          <p:cNvSpPr/>
          <p:nvPr/>
        </p:nvSpPr>
        <p:spPr>
          <a:xfrm>
            <a:off x="8909967" y="2160386"/>
            <a:ext cx="195580" cy="139065"/>
          </a:xfrm>
          <a:custGeom>
            <a:avLst/>
            <a:gdLst/>
            <a:ahLst/>
            <a:cxnLst/>
            <a:rect l="l" t="t" r="r" b="b"/>
            <a:pathLst>
              <a:path w="195579" h="139064">
                <a:moveTo>
                  <a:pt x="195209" y="138954"/>
                </a:moveTo>
                <a:lnTo>
                  <a:pt x="195209" y="0"/>
                </a:lnTo>
                <a:lnTo>
                  <a:pt x="0" y="0"/>
                </a:lnTo>
                <a:lnTo>
                  <a:pt x="0" y="138954"/>
                </a:lnTo>
                <a:lnTo>
                  <a:pt x="195209" y="138954"/>
                </a:lnTo>
                <a:close/>
              </a:path>
            </a:pathLst>
          </a:custGeom>
          <a:solidFill>
            <a:srgbClr val="2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0" name="object 530"/>
          <p:cNvSpPr/>
          <p:nvPr/>
        </p:nvSpPr>
        <p:spPr>
          <a:xfrm>
            <a:off x="8909967" y="2160386"/>
            <a:ext cx="195580" cy="139065"/>
          </a:xfrm>
          <a:custGeom>
            <a:avLst/>
            <a:gdLst/>
            <a:ahLst/>
            <a:cxnLst/>
            <a:rect l="l" t="t" r="r" b="b"/>
            <a:pathLst>
              <a:path w="195579" h="139064">
                <a:moveTo>
                  <a:pt x="195209" y="138954"/>
                </a:moveTo>
                <a:lnTo>
                  <a:pt x="195209" y="0"/>
                </a:lnTo>
                <a:lnTo>
                  <a:pt x="0" y="0"/>
                </a:lnTo>
                <a:lnTo>
                  <a:pt x="0" y="138954"/>
                </a:lnTo>
                <a:lnTo>
                  <a:pt x="195209" y="13895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1" name="object 531"/>
          <p:cNvSpPr/>
          <p:nvPr/>
        </p:nvSpPr>
        <p:spPr>
          <a:xfrm>
            <a:off x="8681964" y="2106822"/>
            <a:ext cx="195580" cy="139065"/>
          </a:xfrm>
          <a:custGeom>
            <a:avLst/>
            <a:gdLst/>
            <a:ahLst/>
            <a:cxnLst/>
            <a:rect l="l" t="t" r="r" b="b"/>
            <a:pathLst>
              <a:path w="195579" h="139064">
                <a:moveTo>
                  <a:pt x="195209" y="138954"/>
                </a:moveTo>
                <a:lnTo>
                  <a:pt x="195209" y="0"/>
                </a:lnTo>
                <a:lnTo>
                  <a:pt x="0" y="0"/>
                </a:lnTo>
                <a:lnTo>
                  <a:pt x="0" y="138954"/>
                </a:lnTo>
                <a:lnTo>
                  <a:pt x="195209" y="138954"/>
                </a:lnTo>
                <a:close/>
              </a:path>
            </a:pathLst>
          </a:custGeom>
          <a:solidFill>
            <a:srgbClr val="2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2" name="object 532"/>
          <p:cNvSpPr/>
          <p:nvPr/>
        </p:nvSpPr>
        <p:spPr>
          <a:xfrm>
            <a:off x="8681964" y="2106822"/>
            <a:ext cx="195580" cy="139065"/>
          </a:xfrm>
          <a:custGeom>
            <a:avLst/>
            <a:gdLst/>
            <a:ahLst/>
            <a:cxnLst/>
            <a:rect l="l" t="t" r="r" b="b"/>
            <a:pathLst>
              <a:path w="195579" h="139064">
                <a:moveTo>
                  <a:pt x="195209" y="138954"/>
                </a:moveTo>
                <a:lnTo>
                  <a:pt x="195209" y="0"/>
                </a:lnTo>
                <a:lnTo>
                  <a:pt x="0" y="0"/>
                </a:lnTo>
                <a:lnTo>
                  <a:pt x="0" y="138954"/>
                </a:lnTo>
                <a:lnTo>
                  <a:pt x="195209" y="138954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3" name="object 533"/>
          <p:cNvSpPr/>
          <p:nvPr/>
        </p:nvSpPr>
        <p:spPr>
          <a:xfrm>
            <a:off x="8226346" y="2224818"/>
            <a:ext cx="195580" cy="90805"/>
          </a:xfrm>
          <a:custGeom>
            <a:avLst/>
            <a:gdLst/>
            <a:ahLst/>
            <a:cxnLst/>
            <a:rect l="l" t="t" r="r" b="b"/>
            <a:pathLst>
              <a:path w="195579" h="90805">
                <a:moveTo>
                  <a:pt x="195209" y="90437"/>
                </a:moveTo>
                <a:lnTo>
                  <a:pt x="195209" y="0"/>
                </a:lnTo>
                <a:lnTo>
                  <a:pt x="0" y="0"/>
                </a:lnTo>
                <a:lnTo>
                  <a:pt x="0" y="90437"/>
                </a:lnTo>
                <a:lnTo>
                  <a:pt x="195209" y="90437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4" name="object 534"/>
          <p:cNvSpPr/>
          <p:nvPr/>
        </p:nvSpPr>
        <p:spPr>
          <a:xfrm>
            <a:off x="8226346" y="2224818"/>
            <a:ext cx="195580" cy="90805"/>
          </a:xfrm>
          <a:custGeom>
            <a:avLst/>
            <a:gdLst/>
            <a:ahLst/>
            <a:cxnLst/>
            <a:rect l="l" t="t" r="r" b="b"/>
            <a:pathLst>
              <a:path w="195579" h="90805">
                <a:moveTo>
                  <a:pt x="195209" y="90437"/>
                </a:moveTo>
                <a:lnTo>
                  <a:pt x="195209" y="0"/>
                </a:lnTo>
                <a:lnTo>
                  <a:pt x="0" y="0"/>
                </a:lnTo>
                <a:lnTo>
                  <a:pt x="0" y="90437"/>
                </a:lnTo>
                <a:lnTo>
                  <a:pt x="195209" y="90437"/>
                </a:lnTo>
                <a:close/>
              </a:path>
            </a:pathLst>
          </a:custGeom>
          <a:ln w="145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5" name="object 535"/>
          <p:cNvSpPr/>
          <p:nvPr/>
        </p:nvSpPr>
        <p:spPr>
          <a:xfrm>
            <a:off x="7542725" y="2400064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6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6" name="object 536"/>
          <p:cNvSpPr/>
          <p:nvPr/>
        </p:nvSpPr>
        <p:spPr>
          <a:xfrm>
            <a:off x="7542725" y="2400064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7" name="object 537"/>
          <p:cNvSpPr/>
          <p:nvPr/>
        </p:nvSpPr>
        <p:spPr>
          <a:xfrm>
            <a:off x="5769541" y="3194396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8" name="object 538"/>
          <p:cNvSpPr/>
          <p:nvPr/>
        </p:nvSpPr>
        <p:spPr>
          <a:xfrm>
            <a:off x="5769541" y="3194396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9" name="object 539"/>
          <p:cNvSpPr/>
          <p:nvPr/>
        </p:nvSpPr>
        <p:spPr>
          <a:xfrm>
            <a:off x="6047220" y="2939387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0" name="object 540"/>
          <p:cNvSpPr/>
          <p:nvPr/>
        </p:nvSpPr>
        <p:spPr>
          <a:xfrm>
            <a:off x="6047220" y="2939387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1" name="object 541"/>
          <p:cNvSpPr/>
          <p:nvPr/>
        </p:nvSpPr>
        <p:spPr>
          <a:xfrm>
            <a:off x="6374768" y="2836529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2" name="object 542"/>
          <p:cNvSpPr/>
          <p:nvPr/>
        </p:nvSpPr>
        <p:spPr>
          <a:xfrm>
            <a:off x="6374768" y="2836529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3" name="object 543"/>
          <p:cNvSpPr/>
          <p:nvPr/>
        </p:nvSpPr>
        <p:spPr>
          <a:xfrm>
            <a:off x="6631102" y="2716011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4" name="object 544"/>
          <p:cNvSpPr/>
          <p:nvPr/>
        </p:nvSpPr>
        <p:spPr>
          <a:xfrm>
            <a:off x="6631102" y="2716011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5" name="object 545"/>
          <p:cNvSpPr/>
          <p:nvPr/>
        </p:nvSpPr>
        <p:spPr>
          <a:xfrm>
            <a:off x="6289388" y="2653520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6" name="object 546"/>
          <p:cNvSpPr/>
          <p:nvPr/>
        </p:nvSpPr>
        <p:spPr>
          <a:xfrm>
            <a:off x="6289388" y="2653520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7" name="object 547"/>
          <p:cNvSpPr/>
          <p:nvPr/>
        </p:nvSpPr>
        <p:spPr>
          <a:xfrm>
            <a:off x="6403292" y="2492442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8" name="object 548"/>
          <p:cNvSpPr/>
          <p:nvPr/>
        </p:nvSpPr>
        <p:spPr>
          <a:xfrm>
            <a:off x="6403292" y="2492442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9" name="object 549"/>
          <p:cNvSpPr/>
          <p:nvPr/>
        </p:nvSpPr>
        <p:spPr>
          <a:xfrm>
            <a:off x="4117442" y="3530721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6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0" name="object 550"/>
          <p:cNvSpPr/>
          <p:nvPr/>
        </p:nvSpPr>
        <p:spPr>
          <a:xfrm>
            <a:off x="4117442" y="3530721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1" name="object 551"/>
          <p:cNvSpPr/>
          <p:nvPr/>
        </p:nvSpPr>
        <p:spPr>
          <a:xfrm>
            <a:off x="4338071" y="2972767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6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2" name="object 552"/>
          <p:cNvSpPr/>
          <p:nvPr/>
        </p:nvSpPr>
        <p:spPr>
          <a:xfrm>
            <a:off x="4338071" y="2972767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3" name="object 553"/>
          <p:cNvSpPr/>
          <p:nvPr/>
        </p:nvSpPr>
        <p:spPr>
          <a:xfrm>
            <a:off x="4551714" y="2751720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6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4" name="object 554"/>
          <p:cNvSpPr/>
          <p:nvPr/>
        </p:nvSpPr>
        <p:spPr>
          <a:xfrm>
            <a:off x="4551714" y="2751720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5" name="object 555"/>
          <p:cNvSpPr/>
          <p:nvPr/>
        </p:nvSpPr>
        <p:spPr>
          <a:xfrm>
            <a:off x="4751193" y="2640324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6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6" name="object 556"/>
          <p:cNvSpPr/>
          <p:nvPr/>
        </p:nvSpPr>
        <p:spPr>
          <a:xfrm>
            <a:off x="4751193" y="2640324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7" name="object 557"/>
          <p:cNvSpPr/>
          <p:nvPr/>
        </p:nvSpPr>
        <p:spPr>
          <a:xfrm>
            <a:off x="4921952" y="2527762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8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8" name="object 558"/>
          <p:cNvSpPr/>
          <p:nvPr/>
        </p:nvSpPr>
        <p:spPr>
          <a:xfrm>
            <a:off x="4921952" y="2527762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9" name="object 559"/>
          <p:cNvSpPr/>
          <p:nvPr/>
        </p:nvSpPr>
        <p:spPr>
          <a:xfrm>
            <a:off x="5036051" y="2254511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8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0" name="object 560"/>
          <p:cNvSpPr/>
          <p:nvPr/>
        </p:nvSpPr>
        <p:spPr>
          <a:xfrm>
            <a:off x="5036051" y="2254511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1" name="object 561"/>
          <p:cNvSpPr/>
          <p:nvPr/>
        </p:nvSpPr>
        <p:spPr>
          <a:xfrm>
            <a:off x="3184473" y="2958794"/>
            <a:ext cx="195580" cy="168275"/>
          </a:xfrm>
          <a:custGeom>
            <a:avLst/>
            <a:gdLst/>
            <a:ahLst/>
            <a:cxnLst/>
            <a:rect l="l" t="t" r="r" b="b"/>
            <a:pathLst>
              <a:path w="195579" h="168275">
                <a:moveTo>
                  <a:pt x="195209" y="168065"/>
                </a:moveTo>
                <a:lnTo>
                  <a:pt x="195209" y="0"/>
                </a:lnTo>
                <a:lnTo>
                  <a:pt x="0" y="0"/>
                </a:lnTo>
                <a:lnTo>
                  <a:pt x="0" y="168065"/>
                </a:lnTo>
                <a:lnTo>
                  <a:pt x="195209" y="168065"/>
                </a:lnTo>
                <a:close/>
              </a:path>
            </a:pathLst>
          </a:custGeom>
          <a:solidFill>
            <a:srgbClr val="FFB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2" name="object 562"/>
          <p:cNvSpPr/>
          <p:nvPr/>
        </p:nvSpPr>
        <p:spPr>
          <a:xfrm>
            <a:off x="3184473" y="2958794"/>
            <a:ext cx="195580" cy="168275"/>
          </a:xfrm>
          <a:custGeom>
            <a:avLst/>
            <a:gdLst/>
            <a:ahLst/>
            <a:cxnLst/>
            <a:rect l="l" t="t" r="r" b="b"/>
            <a:pathLst>
              <a:path w="195579" h="168275">
                <a:moveTo>
                  <a:pt x="195209" y="168065"/>
                </a:moveTo>
                <a:lnTo>
                  <a:pt x="195209" y="0"/>
                </a:lnTo>
                <a:lnTo>
                  <a:pt x="0" y="0"/>
                </a:lnTo>
                <a:lnTo>
                  <a:pt x="0" y="168065"/>
                </a:lnTo>
                <a:lnTo>
                  <a:pt x="195209" y="168065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3" name="object 563"/>
          <p:cNvSpPr/>
          <p:nvPr/>
        </p:nvSpPr>
        <p:spPr>
          <a:xfrm>
            <a:off x="3383951" y="2571623"/>
            <a:ext cx="195580" cy="168275"/>
          </a:xfrm>
          <a:custGeom>
            <a:avLst/>
            <a:gdLst/>
            <a:ahLst/>
            <a:cxnLst/>
            <a:rect l="l" t="t" r="r" b="b"/>
            <a:pathLst>
              <a:path w="195579" h="168275">
                <a:moveTo>
                  <a:pt x="195209" y="168065"/>
                </a:moveTo>
                <a:lnTo>
                  <a:pt x="195209" y="0"/>
                </a:lnTo>
                <a:lnTo>
                  <a:pt x="0" y="0"/>
                </a:lnTo>
                <a:lnTo>
                  <a:pt x="0" y="168065"/>
                </a:lnTo>
                <a:lnTo>
                  <a:pt x="195209" y="168065"/>
                </a:lnTo>
                <a:close/>
              </a:path>
            </a:pathLst>
          </a:custGeom>
          <a:solidFill>
            <a:srgbClr val="FFB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4" name="object 564"/>
          <p:cNvSpPr/>
          <p:nvPr/>
        </p:nvSpPr>
        <p:spPr>
          <a:xfrm>
            <a:off x="3383951" y="2571623"/>
            <a:ext cx="195580" cy="168275"/>
          </a:xfrm>
          <a:custGeom>
            <a:avLst/>
            <a:gdLst/>
            <a:ahLst/>
            <a:cxnLst/>
            <a:rect l="l" t="t" r="r" b="b"/>
            <a:pathLst>
              <a:path w="195579" h="168275">
                <a:moveTo>
                  <a:pt x="195209" y="168065"/>
                </a:moveTo>
                <a:lnTo>
                  <a:pt x="195209" y="0"/>
                </a:lnTo>
                <a:lnTo>
                  <a:pt x="0" y="0"/>
                </a:lnTo>
                <a:lnTo>
                  <a:pt x="0" y="168065"/>
                </a:lnTo>
                <a:lnTo>
                  <a:pt x="195209" y="168065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5" name="object 565"/>
          <p:cNvSpPr/>
          <p:nvPr/>
        </p:nvSpPr>
        <p:spPr>
          <a:xfrm>
            <a:off x="3554711" y="2444312"/>
            <a:ext cx="195580" cy="168275"/>
          </a:xfrm>
          <a:custGeom>
            <a:avLst/>
            <a:gdLst/>
            <a:ahLst/>
            <a:cxnLst/>
            <a:rect l="l" t="t" r="r" b="b"/>
            <a:pathLst>
              <a:path w="195579" h="168275">
                <a:moveTo>
                  <a:pt x="195209" y="168065"/>
                </a:moveTo>
                <a:lnTo>
                  <a:pt x="195209" y="0"/>
                </a:lnTo>
                <a:lnTo>
                  <a:pt x="0" y="0"/>
                </a:lnTo>
                <a:lnTo>
                  <a:pt x="0" y="168065"/>
                </a:lnTo>
                <a:lnTo>
                  <a:pt x="195209" y="168065"/>
                </a:lnTo>
                <a:close/>
              </a:path>
            </a:pathLst>
          </a:custGeom>
          <a:solidFill>
            <a:srgbClr val="FFB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6" name="object 566"/>
          <p:cNvSpPr/>
          <p:nvPr/>
        </p:nvSpPr>
        <p:spPr>
          <a:xfrm>
            <a:off x="3554711" y="2444312"/>
            <a:ext cx="195580" cy="168275"/>
          </a:xfrm>
          <a:custGeom>
            <a:avLst/>
            <a:gdLst/>
            <a:ahLst/>
            <a:cxnLst/>
            <a:rect l="l" t="t" r="r" b="b"/>
            <a:pathLst>
              <a:path w="195579" h="168275">
                <a:moveTo>
                  <a:pt x="195209" y="168065"/>
                </a:moveTo>
                <a:lnTo>
                  <a:pt x="195209" y="0"/>
                </a:lnTo>
                <a:lnTo>
                  <a:pt x="0" y="0"/>
                </a:lnTo>
                <a:lnTo>
                  <a:pt x="0" y="168065"/>
                </a:lnTo>
                <a:lnTo>
                  <a:pt x="195209" y="168065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7" name="object 567"/>
          <p:cNvSpPr/>
          <p:nvPr/>
        </p:nvSpPr>
        <p:spPr>
          <a:xfrm>
            <a:off x="3668809" y="2336020"/>
            <a:ext cx="195580" cy="168275"/>
          </a:xfrm>
          <a:custGeom>
            <a:avLst/>
            <a:gdLst/>
            <a:ahLst/>
            <a:cxnLst/>
            <a:rect l="l" t="t" r="r" b="b"/>
            <a:pathLst>
              <a:path w="195579" h="168275">
                <a:moveTo>
                  <a:pt x="195209" y="168065"/>
                </a:moveTo>
                <a:lnTo>
                  <a:pt x="195209" y="0"/>
                </a:lnTo>
                <a:lnTo>
                  <a:pt x="0" y="0"/>
                </a:lnTo>
                <a:lnTo>
                  <a:pt x="0" y="168065"/>
                </a:lnTo>
                <a:lnTo>
                  <a:pt x="195209" y="168065"/>
                </a:lnTo>
                <a:close/>
              </a:path>
            </a:pathLst>
          </a:custGeom>
          <a:solidFill>
            <a:srgbClr val="FFB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8" name="object 568"/>
          <p:cNvSpPr/>
          <p:nvPr/>
        </p:nvSpPr>
        <p:spPr>
          <a:xfrm>
            <a:off x="3668809" y="2336020"/>
            <a:ext cx="195580" cy="168275"/>
          </a:xfrm>
          <a:custGeom>
            <a:avLst/>
            <a:gdLst/>
            <a:ahLst/>
            <a:cxnLst/>
            <a:rect l="l" t="t" r="r" b="b"/>
            <a:pathLst>
              <a:path w="195579" h="168275">
                <a:moveTo>
                  <a:pt x="195209" y="168065"/>
                </a:moveTo>
                <a:lnTo>
                  <a:pt x="195209" y="0"/>
                </a:lnTo>
                <a:lnTo>
                  <a:pt x="0" y="0"/>
                </a:lnTo>
                <a:lnTo>
                  <a:pt x="0" y="168065"/>
                </a:lnTo>
                <a:lnTo>
                  <a:pt x="195209" y="168065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9" name="object 569"/>
          <p:cNvSpPr/>
          <p:nvPr/>
        </p:nvSpPr>
        <p:spPr>
          <a:xfrm>
            <a:off x="1186973" y="3855208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80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0" name="object 570"/>
          <p:cNvSpPr/>
          <p:nvPr/>
        </p:nvSpPr>
        <p:spPr>
          <a:xfrm>
            <a:off x="1186973" y="3855208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80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1" name="object 571"/>
          <p:cNvSpPr/>
          <p:nvPr/>
        </p:nvSpPr>
        <p:spPr>
          <a:xfrm>
            <a:off x="1639098" y="3688695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80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2" name="object 572"/>
          <p:cNvSpPr/>
          <p:nvPr/>
        </p:nvSpPr>
        <p:spPr>
          <a:xfrm>
            <a:off x="1639098" y="3688695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80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3" name="object 573"/>
          <p:cNvSpPr/>
          <p:nvPr/>
        </p:nvSpPr>
        <p:spPr>
          <a:xfrm>
            <a:off x="2116254" y="3592048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80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4" name="object 574"/>
          <p:cNvSpPr/>
          <p:nvPr/>
        </p:nvSpPr>
        <p:spPr>
          <a:xfrm>
            <a:off x="2116254" y="3592048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80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5" name="object 575"/>
          <p:cNvSpPr/>
          <p:nvPr/>
        </p:nvSpPr>
        <p:spPr>
          <a:xfrm>
            <a:off x="2415472" y="3423982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80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6" name="object 576"/>
          <p:cNvSpPr/>
          <p:nvPr/>
        </p:nvSpPr>
        <p:spPr>
          <a:xfrm>
            <a:off x="2415472" y="3423982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80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7" name="object 577"/>
          <p:cNvSpPr/>
          <p:nvPr/>
        </p:nvSpPr>
        <p:spPr>
          <a:xfrm>
            <a:off x="2529377" y="2711354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80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8" name="object 578"/>
          <p:cNvSpPr/>
          <p:nvPr/>
        </p:nvSpPr>
        <p:spPr>
          <a:xfrm>
            <a:off x="2529377" y="2711354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80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9" name="object 579"/>
          <p:cNvSpPr/>
          <p:nvPr/>
        </p:nvSpPr>
        <p:spPr>
          <a:xfrm>
            <a:off x="2073565" y="2939193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80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0" name="object 580"/>
          <p:cNvSpPr/>
          <p:nvPr/>
        </p:nvSpPr>
        <p:spPr>
          <a:xfrm>
            <a:off x="2073565" y="2939193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80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1" name="object 581"/>
          <p:cNvSpPr/>
          <p:nvPr/>
        </p:nvSpPr>
        <p:spPr>
          <a:xfrm>
            <a:off x="1731657" y="2802179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80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2" name="object 582"/>
          <p:cNvSpPr/>
          <p:nvPr/>
        </p:nvSpPr>
        <p:spPr>
          <a:xfrm>
            <a:off x="1731657" y="2802179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80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3" name="object 583"/>
          <p:cNvSpPr/>
          <p:nvPr/>
        </p:nvSpPr>
        <p:spPr>
          <a:xfrm>
            <a:off x="1845756" y="2684184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80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4" name="object 584"/>
          <p:cNvSpPr/>
          <p:nvPr/>
        </p:nvSpPr>
        <p:spPr>
          <a:xfrm>
            <a:off x="1845756" y="2684184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80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5" name="object 585"/>
          <p:cNvSpPr/>
          <p:nvPr/>
        </p:nvSpPr>
        <p:spPr>
          <a:xfrm>
            <a:off x="934132" y="3389050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80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6" name="object 586"/>
          <p:cNvSpPr/>
          <p:nvPr/>
        </p:nvSpPr>
        <p:spPr>
          <a:xfrm>
            <a:off x="934132" y="3389050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80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7" name="object 587"/>
          <p:cNvSpPr/>
          <p:nvPr/>
        </p:nvSpPr>
        <p:spPr>
          <a:xfrm>
            <a:off x="706323" y="2802761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80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8" name="object 588"/>
          <p:cNvSpPr/>
          <p:nvPr/>
        </p:nvSpPr>
        <p:spPr>
          <a:xfrm>
            <a:off x="706323" y="2802761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80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9" name="object 589"/>
          <p:cNvSpPr/>
          <p:nvPr/>
        </p:nvSpPr>
        <p:spPr>
          <a:xfrm>
            <a:off x="478320" y="2641294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0" name="object 590"/>
          <p:cNvSpPr/>
          <p:nvPr/>
        </p:nvSpPr>
        <p:spPr>
          <a:xfrm>
            <a:off x="478320" y="2641294"/>
            <a:ext cx="195580" cy="158750"/>
          </a:xfrm>
          <a:custGeom>
            <a:avLst/>
            <a:gdLst/>
            <a:ahLst/>
            <a:cxnLst/>
            <a:rect l="l" t="t" r="r" b="b"/>
            <a:pathLst>
              <a:path w="195579" h="158750">
                <a:moveTo>
                  <a:pt x="195209" y="158361"/>
                </a:moveTo>
                <a:lnTo>
                  <a:pt x="195209" y="0"/>
                </a:lnTo>
                <a:lnTo>
                  <a:pt x="0" y="0"/>
                </a:lnTo>
                <a:lnTo>
                  <a:pt x="0" y="158361"/>
                </a:lnTo>
                <a:lnTo>
                  <a:pt x="195209" y="158361"/>
                </a:lnTo>
                <a:close/>
              </a:path>
            </a:pathLst>
          </a:custGeom>
          <a:ln w="1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1" name="object 591"/>
          <p:cNvSpPr txBox="1"/>
          <p:nvPr/>
        </p:nvSpPr>
        <p:spPr>
          <a:xfrm>
            <a:off x="11037969" y="3441947"/>
            <a:ext cx="883919" cy="240029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5080" indent="90805" algn="just">
              <a:lnSpc>
                <a:spcPct val="157500"/>
              </a:lnSpc>
            </a:pPr>
            <a:r>
              <a:rPr sz="1350" dirty="0">
                <a:latin typeface="Helvetica"/>
                <a:cs typeface="Helvetica"/>
              </a:rPr>
              <a:t>A </a:t>
            </a:r>
            <a:r>
              <a:rPr sz="2025" spc="-375" baseline="2057" dirty="0">
                <a:latin typeface="Helvetica"/>
                <a:cs typeface="Helvetica"/>
              </a:rPr>
              <a:t>A</a:t>
            </a:r>
            <a:r>
              <a:rPr sz="1500" dirty="0">
                <a:latin typeface="Helvetica"/>
                <a:cs typeface="Helvetica"/>
              </a:rPr>
              <a:t>A </a:t>
            </a:r>
            <a:r>
              <a:rPr sz="1350" dirty="0">
                <a:latin typeface="Helvetica"/>
                <a:cs typeface="Helvetica"/>
              </a:rPr>
              <a:t>A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592" name="object 592"/>
          <p:cNvSpPr txBox="1"/>
          <p:nvPr/>
        </p:nvSpPr>
        <p:spPr>
          <a:xfrm>
            <a:off x="6624995" y="3309785"/>
            <a:ext cx="219710" cy="15494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dirty="0">
                <a:latin typeface="Helvetica"/>
                <a:cs typeface="Helvetica"/>
              </a:rPr>
              <a:t>A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593" name="object 593"/>
          <p:cNvSpPr txBox="1"/>
          <p:nvPr/>
        </p:nvSpPr>
        <p:spPr>
          <a:xfrm>
            <a:off x="7721156" y="2715539"/>
            <a:ext cx="219710" cy="15494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dirty="0">
                <a:latin typeface="Helvetica"/>
                <a:cs typeface="Helvetica"/>
              </a:rPr>
              <a:t>A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594" name="object 594"/>
          <p:cNvSpPr txBox="1"/>
          <p:nvPr/>
        </p:nvSpPr>
        <p:spPr>
          <a:xfrm>
            <a:off x="8571268" y="2582601"/>
            <a:ext cx="219710" cy="28130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25" spc="112" baseline="2057" dirty="0">
                <a:latin typeface="Helvetica"/>
                <a:cs typeface="Helvetica"/>
              </a:rPr>
              <a:t>A</a:t>
            </a:r>
            <a:r>
              <a:rPr sz="1500" dirty="0">
                <a:latin typeface="Helvetica"/>
                <a:cs typeface="Helvetica"/>
              </a:rPr>
              <a:t>A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595" name="object 595"/>
          <p:cNvSpPr txBox="1"/>
          <p:nvPr/>
        </p:nvSpPr>
        <p:spPr>
          <a:xfrm>
            <a:off x="7428627" y="2477498"/>
            <a:ext cx="21590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955">
              <a:lnSpc>
                <a:spcPts val="1500"/>
              </a:lnSpc>
            </a:pPr>
            <a:r>
              <a:rPr sz="1500" spc="10" dirty="0">
                <a:latin typeface="Helvetica"/>
                <a:cs typeface="Helvetica"/>
              </a:rPr>
              <a:t>A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596" name="object 596"/>
          <p:cNvSpPr txBox="1"/>
          <p:nvPr/>
        </p:nvSpPr>
        <p:spPr>
          <a:xfrm>
            <a:off x="7770534" y="2412678"/>
            <a:ext cx="212090" cy="187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145">
              <a:lnSpc>
                <a:spcPts val="1500"/>
              </a:lnSpc>
            </a:pPr>
            <a:r>
              <a:rPr sz="1500" spc="10" dirty="0">
                <a:latin typeface="Helvetica"/>
                <a:cs typeface="Helvetica"/>
              </a:rPr>
              <a:t>A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597" name="object 597"/>
          <p:cNvSpPr txBox="1"/>
          <p:nvPr/>
        </p:nvSpPr>
        <p:spPr>
          <a:xfrm>
            <a:off x="8437764" y="2253425"/>
            <a:ext cx="521970" cy="28384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25" baseline="2057" dirty="0">
                <a:latin typeface="Helvetica"/>
                <a:cs typeface="Helvetica"/>
              </a:rPr>
              <a:t>L</a:t>
            </a:r>
            <a:r>
              <a:rPr sz="2025" spc="60" baseline="2057" dirty="0">
                <a:latin typeface="Helvetica"/>
                <a:cs typeface="Helvetica"/>
              </a:rPr>
              <a:t> </a:t>
            </a:r>
            <a:r>
              <a:rPr sz="1500" dirty="0">
                <a:latin typeface="Helvetica"/>
                <a:cs typeface="Helvetica"/>
              </a:rPr>
              <a:t>L</a:t>
            </a:r>
            <a:endParaRPr sz="1500">
              <a:latin typeface="Helvetica"/>
              <a:cs typeface="Helvetica"/>
            </a:endParaRPr>
          </a:p>
          <a:p>
            <a:pPr marL="168275">
              <a:lnSpc>
                <a:spcPct val="100000"/>
              </a:lnSpc>
              <a:spcBef>
                <a:spcPts val="760"/>
              </a:spcBef>
            </a:pPr>
            <a:r>
              <a:rPr sz="1350" dirty="0">
                <a:latin typeface="Helvetica"/>
                <a:cs typeface="Helvetica"/>
              </a:rPr>
              <a:t>L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598" name="object 598"/>
          <p:cNvSpPr txBox="1"/>
          <p:nvPr/>
        </p:nvSpPr>
        <p:spPr>
          <a:xfrm>
            <a:off x="7998343" y="2205411"/>
            <a:ext cx="333375" cy="129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8430">
              <a:lnSpc>
                <a:spcPts val="1280"/>
              </a:lnSpc>
            </a:pPr>
            <a:r>
              <a:rPr sz="1500" dirty="0">
                <a:latin typeface="Helvetica"/>
                <a:cs typeface="Helvetica"/>
              </a:rPr>
              <a:t>I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599" name="object 599"/>
          <p:cNvSpPr txBox="1"/>
          <p:nvPr/>
        </p:nvSpPr>
        <p:spPr>
          <a:xfrm>
            <a:off x="9718161" y="2410155"/>
            <a:ext cx="298450" cy="328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1500" spc="10" dirty="0">
                <a:latin typeface="Helvetica"/>
                <a:cs typeface="Helvetica"/>
              </a:rPr>
              <a:t>A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600" name="object 600"/>
          <p:cNvSpPr txBox="1"/>
          <p:nvPr/>
        </p:nvSpPr>
        <p:spPr>
          <a:xfrm>
            <a:off x="12761864" y="8594452"/>
            <a:ext cx="258445" cy="28448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Helvetica"/>
                <a:cs typeface="Helvetica"/>
              </a:rPr>
              <a:t>20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601" name="object 601"/>
          <p:cNvSpPr txBox="1"/>
          <p:nvPr/>
        </p:nvSpPr>
        <p:spPr>
          <a:xfrm>
            <a:off x="12761864" y="6855188"/>
            <a:ext cx="258445" cy="28448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Helvetica"/>
                <a:cs typeface="Helvetica"/>
              </a:rPr>
              <a:t>15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602" name="object 602"/>
          <p:cNvSpPr txBox="1"/>
          <p:nvPr/>
        </p:nvSpPr>
        <p:spPr>
          <a:xfrm>
            <a:off x="12761864" y="5115924"/>
            <a:ext cx="258445" cy="28448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Helvetica"/>
                <a:cs typeface="Helvetica"/>
              </a:rPr>
              <a:t>10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603" name="object 603"/>
          <p:cNvSpPr txBox="1"/>
          <p:nvPr/>
        </p:nvSpPr>
        <p:spPr>
          <a:xfrm>
            <a:off x="12761864" y="3441289"/>
            <a:ext cx="258445" cy="15494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Helvetica"/>
                <a:cs typeface="Helvetica"/>
              </a:rPr>
              <a:t>5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604" name="object 604"/>
          <p:cNvSpPr txBox="1"/>
          <p:nvPr/>
        </p:nvSpPr>
        <p:spPr>
          <a:xfrm>
            <a:off x="12761864" y="1702025"/>
            <a:ext cx="258445" cy="15494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Helvetica"/>
                <a:cs typeface="Helvetica"/>
              </a:rPr>
              <a:t>0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605" name="object 605"/>
          <p:cNvSpPr txBox="1"/>
          <p:nvPr/>
        </p:nvSpPr>
        <p:spPr>
          <a:xfrm>
            <a:off x="5283950" y="3175099"/>
            <a:ext cx="706120" cy="28321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5080" indent="134620">
              <a:lnSpc>
                <a:spcPct val="117000"/>
              </a:lnSpc>
            </a:pPr>
            <a:r>
              <a:rPr sz="1350" dirty="0">
                <a:latin typeface="Helvetica"/>
                <a:cs typeface="Helvetica"/>
              </a:rPr>
              <a:t>A </a:t>
            </a:r>
            <a:r>
              <a:rPr sz="2025" spc="135" baseline="2057" dirty="0">
                <a:latin typeface="Helvetica"/>
                <a:cs typeface="Helvetica"/>
              </a:rPr>
              <a:t>A</a:t>
            </a:r>
            <a:r>
              <a:rPr sz="1500" dirty="0">
                <a:latin typeface="Helvetica"/>
                <a:cs typeface="Helvetica"/>
              </a:rPr>
              <a:t>A</a:t>
            </a:r>
            <a:endParaRPr sz="1500">
              <a:latin typeface="Helvetica"/>
              <a:cs typeface="Helvetica"/>
            </a:endParaRPr>
          </a:p>
          <a:p>
            <a:pPr marL="147320">
              <a:lnSpc>
                <a:spcPct val="100000"/>
              </a:lnSpc>
              <a:spcBef>
                <a:spcPts val="285"/>
              </a:spcBef>
            </a:pPr>
            <a:r>
              <a:rPr sz="1350" dirty="0">
                <a:latin typeface="Helvetica"/>
                <a:cs typeface="Helvetica"/>
              </a:rPr>
              <a:t>A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06" name="object 606"/>
          <p:cNvSpPr txBox="1"/>
          <p:nvPr/>
        </p:nvSpPr>
        <p:spPr>
          <a:xfrm>
            <a:off x="5511759" y="2817233"/>
            <a:ext cx="767080" cy="25844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9050">
              <a:lnSpc>
                <a:spcPct val="100000"/>
              </a:lnSpc>
            </a:pPr>
            <a:r>
              <a:rPr sz="1350" dirty="0">
                <a:latin typeface="Helvetica"/>
                <a:cs typeface="Helvetica"/>
              </a:rPr>
              <a:t>A</a:t>
            </a:r>
            <a:endParaRPr sz="1350">
              <a:latin typeface="Helvetica"/>
              <a:cs typeface="Helvetica"/>
            </a:endParaRPr>
          </a:p>
          <a:p>
            <a:pPr marL="19050" indent="-6985">
              <a:lnSpc>
                <a:spcPct val="100000"/>
              </a:lnSpc>
              <a:spcBef>
                <a:spcPts val="25"/>
              </a:spcBef>
            </a:pPr>
            <a:r>
              <a:rPr sz="2250" spc="-240" baseline="-16666" dirty="0">
                <a:latin typeface="Helvetica"/>
                <a:cs typeface="Helvetica"/>
              </a:rPr>
              <a:t>A</a:t>
            </a:r>
            <a:r>
              <a:rPr sz="1350" dirty="0">
                <a:latin typeface="Helvetica"/>
                <a:cs typeface="Helvetica"/>
              </a:rPr>
              <a:t>A</a:t>
            </a:r>
            <a:endParaRPr sz="1350">
              <a:latin typeface="Helvetica"/>
              <a:cs typeface="Helvetica"/>
            </a:endParaRPr>
          </a:p>
          <a:p>
            <a:pPr marL="19050">
              <a:lnSpc>
                <a:spcPct val="100000"/>
              </a:lnSpc>
              <a:spcBef>
                <a:spcPts val="835"/>
              </a:spcBef>
            </a:pPr>
            <a:r>
              <a:rPr sz="2025" spc="-240" baseline="2057" dirty="0">
                <a:latin typeface="Helvetica"/>
                <a:cs typeface="Helvetica"/>
              </a:rPr>
              <a:t>A</a:t>
            </a:r>
            <a:r>
              <a:rPr sz="1500" dirty="0">
                <a:latin typeface="Helvetica"/>
                <a:cs typeface="Helvetica"/>
              </a:rPr>
              <a:t>A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607" name="object 607"/>
          <p:cNvSpPr txBox="1"/>
          <p:nvPr/>
        </p:nvSpPr>
        <p:spPr>
          <a:xfrm>
            <a:off x="6386902" y="2696909"/>
            <a:ext cx="692785" cy="26924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04775" marR="5080" indent="-92710" algn="just">
              <a:lnSpc>
                <a:spcPct val="114100"/>
              </a:lnSpc>
            </a:pPr>
            <a:r>
              <a:rPr sz="2025" spc="-37" baseline="2057" dirty="0">
                <a:latin typeface="Helvetica"/>
                <a:cs typeface="Helvetica"/>
              </a:rPr>
              <a:t>A</a:t>
            </a:r>
            <a:r>
              <a:rPr sz="1500" dirty="0">
                <a:latin typeface="Helvetica"/>
                <a:cs typeface="Helvetica"/>
              </a:rPr>
              <a:t>A </a:t>
            </a:r>
            <a:r>
              <a:rPr sz="1350" dirty="0">
                <a:latin typeface="Helvetica"/>
                <a:cs typeface="Helvetica"/>
              </a:rPr>
              <a:t>A G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08" name="object 608"/>
          <p:cNvSpPr txBox="1"/>
          <p:nvPr/>
        </p:nvSpPr>
        <p:spPr>
          <a:xfrm>
            <a:off x="3556172" y="3511424"/>
            <a:ext cx="219710" cy="15494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dirty="0">
                <a:latin typeface="Helvetica"/>
                <a:cs typeface="Helvetica"/>
              </a:rPr>
              <a:t>B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609" name="object 609"/>
          <p:cNvSpPr txBox="1"/>
          <p:nvPr/>
        </p:nvSpPr>
        <p:spPr>
          <a:xfrm>
            <a:off x="3916708" y="2953664"/>
            <a:ext cx="641985" cy="15494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5080" indent="6350" algn="just">
              <a:lnSpc>
                <a:spcPct val="101600"/>
              </a:lnSpc>
            </a:pPr>
            <a:r>
              <a:rPr sz="1350" dirty="0">
                <a:latin typeface="Helvetica"/>
                <a:cs typeface="Helvetica"/>
              </a:rPr>
              <a:t>B </a:t>
            </a:r>
            <a:r>
              <a:rPr sz="1500" dirty="0">
                <a:latin typeface="Helvetica"/>
                <a:cs typeface="Helvetica"/>
              </a:rPr>
              <a:t>B </a:t>
            </a:r>
            <a:r>
              <a:rPr sz="1350" dirty="0">
                <a:latin typeface="Helvetica"/>
                <a:cs typeface="Helvetica"/>
              </a:rPr>
              <a:t>B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10" name="object 610"/>
          <p:cNvSpPr txBox="1"/>
          <p:nvPr/>
        </p:nvSpPr>
        <p:spPr>
          <a:xfrm>
            <a:off x="4144517" y="2515006"/>
            <a:ext cx="997585" cy="37274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5080" indent="10795">
              <a:lnSpc>
                <a:spcPct val="95900"/>
              </a:lnSpc>
            </a:pPr>
            <a:r>
              <a:rPr sz="1350" dirty="0">
                <a:latin typeface="Helvetica"/>
                <a:cs typeface="Helvetica"/>
              </a:rPr>
              <a:t>F </a:t>
            </a:r>
            <a:r>
              <a:rPr sz="2250" spc="-142" baseline="1851" dirty="0">
                <a:latin typeface="Helvetica"/>
                <a:cs typeface="Helvetica"/>
              </a:rPr>
              <a:t>B</a:t>
            </a:r>
            <a:r>
              <a:rPr sz="1350" dirty="0">
                <a:latin typeface="Helvetica"/>
                <a:cs typeface="Helvetica"/>
              </a:rPr>
              <a:t>B </a:t>
            </a:r>
            <a:r>
              <a:rPr sz="2025" spc="-142" baseline="2057" dirty="0">
                <a:latin typeface="Helvetica"/>
                <a:cs typeface="Helvetica"/>
              </a:rPr>
              <a:t>B</a:t>
            </a:r>
            <a:r>
              <a:rPr sz="1500" spc="-85" dirty="0">
                <a:latin typeface="Helvetica"/>
                <a:cs typeface="Helvetica"/>
              </a:rPr>
              <a:t>B</a:t>
            </a:r>
            <a:r>
              <a:rPr sz="2025" baseline="-6172" dirty="0">
                <a:latin typeface="Helvetica"/>
                <a:cs typeface="Helvetica"/>
              </a:rPr>
              <a:t>B</a:t>
            </a:r>
            <a:endParaRPr sz="2025" baseline="-6172">
              <a:latin typeface="Helvetica"/>
              <a:cs typeface="Helvetica"/>
            </a:endParaRPr>
          </a:p>
          <a:p>
            <a:pPr marL="5080" algn="ctr">
              <a:lnSpc>
                <a:spcPts val="1350"/>
              </a:lnSpc>
            </a:pPr>
            <a:r>
              <a:rPr sz="1350" dirty="0">
                <a:latin typeface="Helvetica"/>
                <a:cs typeface="Helvetica"/>
              </a:rPr>
              <a:t>B</a:t>
            </a:r>
            <a:endParaRPr sz="1350">
              <a:latin typeface="Helvetica"/>
              <a:cs typeface="Helvetica"/>
            </a:endParaRPr>
          </a:p>
          <a:p>
            <a:pPr marL="242570">
              <a:lnSpc>
                <a:spcPts val="1480"/>
              </a:lnSpc>
            </a:pPr>
            <a:r>
              <a:rPr sz="1350" dirty="0">
                <a:latin typeface="Helvetica"/>
                <a:cs typeface="Helvetica"/>
              </a:rPr>
              <a:t>E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11" name="object 611"/>
          <p:cNvSpPr txBox="1"/>
          <p:nvPr/>
        </p:nvSpPr>
        <p:spPr>
          <a:xfrm>
            <a:off x="2777276" y="2939075"/>
            <a:ext cx="627380" cy="16573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5080" indent="6985" algn="just">
              <a:lnSpc>
                <a:spcPct val="98400"/>
              </a:lnSpc>
            </a:pPr>
            <a:r>
              <a:rPr sz="1350" dirty="0">
                <a:latin typeface="Helvetica"/>
                <a:cs typeface="Helvetica"/>
              </a:rPr>
              <a:t>C </a:t>
            </a:r>
            <a:r>
              <a:rPr sz="1500" dirty="0">
                <a:latin typeface="Helvetica"/>
                <a:cs typeface="Helvetica"/>
              </a:rPr>
              <a:t>C </a:t>
            </a:r>
            <a:r>
              <a:rPr sz="1350" dirty="0">
                <a:latin typeface="Helvetica"/>
                <a:cs typeface="Helvetica"/>
              </a:rPr>
              <a:t>C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12" name="object 612"/>
          <p:cNvSpPr txBox="1"/>
          <p:nvPr/>
        </p:nvSpPr>
        <p:spPr>
          <a:xfrm>
            <a:off x="3005085" y="2431621"/>
            <a:ext cx="428625" cy="28638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9685">
              <a:lnSpc>
                <a:spcPts val="1550"/>
              </a:lnSpc>
            </a:pPr>
            <a:r>
              <a:rPr sz="1350" dirty="0">
                <a:latin typeface="Helvetica"/>
                <a:cs typeface="Helvetica"/>
              </a:rPr>
              <a:t>C</a:t>
            </a:r>
            <a:endParaRPr sz="1350">
              <a:latin typeface="Helvetica"/>
              <a:cs typeface="Helvetica"/>
            </a:endParaRPr>
          </a:p>
          <a:p>
            <a:pPr marL="12700">
              <a:lnSpc>
                <a:spcPts val="1730"/>
              </a:lnSpc>
            </a:pPr>
            <a:r>
              <a:rPr sz="1500" spc="-50" dirty="0">
                <a:latin typeface="Helvetica"/>
                <a:cs typeface="Helvetica"/>
              </a:rPr>
              <a:t>C</a:t>
            </a:r>
            <a:r>
              <a:rPr sz="2025" baseline="-6172" dirty="0">
                <a:latin typeface="Helvetica"/>
                <a:cs typeface="Helvetica"/>
              </a:rPr>
              <a:t>C</a:t>
            </a:r>
            <a:endParaRPr sz="2025" baseline="-6172">
              <a:latin typeface="Helvetica"/>
              <a:cs typeface="Helvetica"/>
            </a:endParaRPr>
          </a:p>
        </p:txBody>
      </p:sp>
      <p:sp>
        <p:nvSpPr>
          <p:cNvPr id="613" name="object 613"/>
          <p:cNvSpPr txBox="1"/>
          <p:nvPr/>
        </p:nvSpPr>
        <p:spPr>
          <a:xfrm>
            <a:off x="616972" y="3675938"/>
            <a:ext cx="338455" cy="31496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460"/>
              </a:lnSpc>
            </a:pPr>
            <a:r>
              <a:rPr sz="1500" dirty="0">
                <a:latin typeface="Helvetica"/>
                <a:cs typeface="Helvetica"/>
              </a:rPr>
              <a:t>A</a:t>
            </a:r>
            <a:endParaRPr sz="1500">
              <a:latin typeface="Helvetica"/>
              <a:cs typeface="Helvetica"/>
            </a:endParaRPr>
          </a:p>
          <a:p>
            <a:pPr marL="185420">
              <a:lnSpc>
                <a:spcPts val="1280"/>
              </a:lnSpc>
            </a:pPr>
            <a:r>
              <a:rPr sz="1350" dirty="0">
                <a:latin typeface="Helvetica"/>
                <a:cs typeface="Helvetica"/>
              </a:rPr>
              <a:t>A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14" name="object 614"/>
          <p:cNvSpPr txBox="1"/>
          <p:nvPr/>
        </p:nvSpPr>
        <p:spPr>
          <a:xfrm>
            <a:off x="1651232" y="3572945"/>
            <a:ext cx="219710" cy="24511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25" spc="-315" baseline="2057" dirty="0">
                <a:latin typeface="Helvetica"/>
                <a:cs typeface="Helvetica"/>
              </a:rPr>
              <a:t>A</a:t>
            </a:r>
            <a:r>
              <a:rPr sz="1500" dirty="0">
                <a:latin typeface="Helvetica"/>
                <a:cs typeface="Helvetica"/>
              </a:rPr>
              <a:t>A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615" name="object 615"/>
          <p:cNvSpPr txBox="1"/>
          <p:nvPr/>
        </p:nvSpPr>
        <p:spPr>
          <a:xfrm>
            <a:off x="2128389" y="3404685"/>
            <a:ext cx="507365" cy="31686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25" baseline="2057" dirty="0">
                <a:latin typeface="Helvetica"/>
                <a:cs typeface="Helvetica"/>
              </a:rPr>
              <a:t>A</a:t>
            </a:r>
            <a:r>
              <a:rPr sz="2025" spc="-30" baseline="2057" dirty="0">
                <a:latin typeface="Helvetica"/>
                <a:cs typeface="Helvetica"/>
              </a:rPr>
              <a:t> </a:t>
            </a:r>
            <a:r>
              <a:rPr sz="1500" dirty="0">
                <a:latin typeface="Helvetica"/>
                <a:cs typeface="Helvetica"/>
              </a:rPr>
              <a:t>A</a:t>
            </a:r>
            <a:endParaRPr sz="1500">
              <a:latin typeface="Helvetica"/>
              <a:cs typeface="Helvetica"/>
            </a:endParaRPr>
          </a:p>
          <a:p>
            <a:pPr marL="180340">
              <a:lnSpc>
                <a:spcPct val="100000"/>
              </a:lnSpc>
              <a:spcBef>
                <a:spcPts val="650"/>
              </a:spcBef>
            </a:pPr>
            <a:r>
              <a:rPr sz="1350" dirty="0">
                <a:latin typeface="Helvetica"/>
                <a:cs typeface="Helvetica"/>
              </a:rPr>
              <a:t>A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16" name="object 616"/>
          <p:cNvSpPr txBox="1"/>
          <p:nvPr/>
        </p:nvSpPr>
        <p:spPr>
          <a:xfrm>
            <a:off x="1751748" y="2671427"/>
            <a:ext cx="998219" cy="40386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9050" marR="5080" indent="-6985">
              <a:lnSpc>
                <a:spcPct val="157900"/>
              </a:lnSpc>
            </a:pPr>
            <a:r>
              <a:rPr sz="2250" spc="165" baseline="-27777" dirty="0">
                <a:latin typeface="Helvetica"/>
                <a:cs typeface="Helvetica"/>
              </a:rPr>
              <a:t>A</a:t>
            </a:r>
            <a:r>
              <a:rPr sz="1350" spc="10" dirty="0">
                <a:latin typeface="Helvetica"/>
                <a:cs typeface="Helvetica"/>
              </a:rPr>
              <a:t>A</a:t>
            </a:r>
            <a:r>
              <a:rPr sz="2025" baseline="-37037" dirty="0">
                <a:latin typeface="Helvetica"/>
                <a:cs typeface="Helvetica"/>
              </a:rPr>
              <a:t>A </a:t>
            </a:r>
            <a:r>
              <a:rPr sz="1350" dirty="0">
                <a:latin typeface="Helvetica"/>
                <a:cs typeface="Helvetica"/>
              </a:rPr>
              <a:t>A</a:t>
            </a:r>
            <a:endParaRPr sz="1350">
              <a:latin typeface="Helvetica"/>
              <a:cs typeface="Helvetica"/>
            </a:endParaRPr>
          </a:p>
          <a:p>
            <a:pPr marL="247015" marR="31750">
              <a:lnSpc>
                <a:spcPts val="1800"/>
              </a:lnSpc>
              <a:spcBef>
                <a:spcPts val="80"/>
              </a:spcBef>
            </a:pPr>
            <a:r>
              <a:rPr sz="1350" dirty="0">
                <a:latin typeface="Helvetica"/>
                <a:cs typeface="Helvetica"/>
              </a:rPr>
              <a:t>A A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17" name="object 617"/>
          <p:cNvSpPr txBox="1"/>
          <p:nvPr/>
        </p:nvSpPr>
        <p:spPr>
          <a:xfrm>
            <a:off x="555460" y="3369753"/>
            <a:ext cx="598805" cy="15494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5080" indent="6350" algn="just">
              <a:lnSpc>
                <a:spcPct val="91800"/>
              </a:lnSpc>
            </a:pPr>
            <a:r>
              <a:rPr sz="1350" dirty="0">
                <a:latin typeface="Helvetica"/>
                <a:cs typeface="Helvetica"/>
              </a:rPr>
              <a:t>A </a:t>
            </a:r>
            <a:r>
              <a:rPr sz="1500" dirty="0">
                <a:latin typeface="Helvetica"/>
                <a:cs typeface="Helvetica"/>
              </a:rPr>
              <a:t>A </a:t>
            </a:r>
            <a:r>
              <a:rPr sz="1350" dirty="0">
                <a:latin typeface="Helvetica"/>
                <a:cs typeface="Helvetica"/>
              </a:rPr>
              <a:t>A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18" name="object 618"/>
          <p:cNvSpPr txBox="1"/>
          <p:nvPr/>
        </p:nvSpPr>
        <p:spPr>
          <a:xfrm>
            <a:off x="8010477" y="1712743"/>
            <a:ext cx="675640" cy="13335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5080" indent="5080" algn="just">
              <a:lnSpc>
                <a:spcPct val="100000"/>
              </a:lnSpc>
            </a:pPr>
            <a:r>
              <a:rPr sz="1500" dirty="0">
                <a:latin typeface="Helvetica"/>
                <a:cs typeface="Helvetica"/>
              </a:rPr>
              <a:t>J I L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619" name="object 619"/>
          <p:cNvSpPr txBox="1"/>
          <p:nvPr/>
        </p:nvSpPr>
        <p:spPr>
          <a:xfrm>
            <a:off x="4136561" y="1707564"/>
            <a:ext cx="219710" cy="14414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dirty="0">
                <a:latin typeface="Helvetica"/>
                <a:cs typeface="Helvetica"/>
              </a:rPr>
              <a:t>F</a:t>
            </a:r>
            <a:endParaRPr sz="1500">
              <a:latin typeface="Helvetica"/>
              <a:cs typeface="Helvetica"/>
            </a:endParaRPr>
          </a:p>
        </p:txBody>
      </p:sp>
      <p:sp>
        <p:nvSpPr>
          <p:cNvPr id="620" name="object 620"/>
          <p:cNvSpPr txBox="1"/>
          <p:nvPr/>
        </p:nvSpPr>
        <p:spPr>
          <a:xfrm>
            <a:off x="624928" y="5134964"/>
            <a:ext cx="200660" cy="14224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Helvetica"/>
                <a:cs typeface="Helvetica"/>
              </a:rPr>
              <a:t>A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21" name="object 621"/>
          <p:cNvSpPr txBox="1"/>
          <p:nvPr/>
        </p:nvSpPr>
        <p:spPr>
          <a:xfrm>
            <a:off x="3564129" y="4024878"/>
            <a:ext cx="200660" cy="14224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Helvetica"/>
                <a:cs typeface="Helvetica"/>
              </a:rPr>
              <a:t>B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22" name="object 622"/>
          <p:cNvSpPr txBox="1"/>
          <p:nvPr/>
        </p:nvSpPr>
        <p:spPr>
          <a:xfrm>
            <a:off x="6632952" y="3539700"/>
            <a:ext cx="200660" cy="14224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Helvetica"/>
                <a:cs typeface="Helvetica"/>
              </a:rPr>
              <a:t>A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23" name="object 623"/>
          <p:cNvSpPr txBox="1"/>
          <p:nvPr/>
        </p:nvSpPr>
        <p:spPr>
          <a:xfrm>
            <a:off x="11550636" y="3141467"/>
            <a:ext cx="542290" cy="14224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5080">
              <a:lnSpc>
                <a:spcPct val="166100"/>
              </a:lnSpc>
            </a:pPr>
            <a:r>
              <a:rPr sz="1350" dirty="0">
                <a:latin typeface="Helvetica"/>
                <a:cs typeface="Helvetica"/>
              </a:rPr>
              <a:t>A A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24" name="object 624"/>
          <p:cNvSpPr txBox="1"/>
          <p:nvPr/>
        </p:nvSpPr>
        <p:spPr>
          <a:xfrm>
            <a:off x="11436732" y="2441259"/>
            <a:ext cx="427990" cy="14224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5080">
              <a:lnSpc>
                <a:spcPct val="110700"/>
              </a:lnSpc>
            </a:pPr>
            <a:r>
              <a:rPr sz="1350" dirty="0">
                <a:latin typeface="Helvetica"/>
                <a:cs typeface="Helvetica"/>
              </a:rPr>
              <a:t>A A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25" name="object 625"/>
          <p:cNvSpPr txBox="1"/>
          <p:nvPr/>
        </p:nvSpPr>
        <p:spPr>
          <a:xfrm>
            <a:off x="10867015" y="2999601"/>
            <a:ext cx="542290" cy="14224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5080">
              <a:lnSpc>
                <a:spcPct val="166100"/>
              </a:lnSpc>
            </a:pPr>
            <a:r>
              <a:rPr sz="1350" dirty="0">
                <a:latin typeface="Helvetica"/>
                <a:cs typeface="Helvetica"/>
              </a:rPr>
              <a:t>A A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26" name="object 626"/>
          <p:cNvSpPr txBox="1"/>
          <p:nvPr/>
        </p:nvSpPr>
        <p:spPr>
          <a:xfrm>
            <a:off x="10753111" y="2710629"/>
            <a:ext cx="427990" cy="14224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5080">
              <a:lnSpc>
                <a:spcPct val="110700"/>
              </a:lnSpc>
            </a:pPr>
            <a:r>
              <a:rPr sz="1350" dirty="0">
                <a:latin typeface="Helvetica"/>
                <a:cs typeface="Helvetica"/>
              </a:rPr>
              <a:t>B A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27" name="object 627"/>
          <p:cNvSpPr txBox="1"/>
          <p:nvPr/>
        </p:nvSpPr>
        <p:spPr>
          <a:xfrm>
            <a:off x="7107004" y="2524321"/>
            <a:ext cx="538480" cy="20701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5080" indent="64135">
              <a:lnSpc>
                <a:spcPct val="164400"/>
              </a:lnSpc>
            </a:pPr>
            <a:r>
              <a:rPr sz="1350" dirty="0">
                <a:latin typeface="Helvetica"/>
                <a:cs typeface="Helvetica"/>
              </a:rPr>
              <a:t>A A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28" name="object 628"/>
          <p:cNvSpPr txBox="1"/>
          <p:nvPr/>
        </p:nvSpPr>
        <p:spPr>
          <a:xfrm>
            <a:off x="9157866" y="2383104"/>
            <a:ext cx="1397000" cy="21272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5080" indent="60960">
              <a:lnSpc>
                <a:spcPct val="166200"/>
              </a:lnSpc>
            </a:pPr>
            <a:r>
              <a:rPr sz="1350" dirty="0">
                <a:latin typeface="Helvetica"/>
                <a:cs typeface="Helvetica"/>
              </a:rPr>
              <a:t>D C</a:t>
            </a:r>
            <a:endParaRPr sz="1350">
              <a:latin typeface="Helvetica"/>
              <a:cs typeface="Helvetica"/>
            </a:endParaRPr>
          </a:p>
          <a:p>
            <a:pPr marL="12700" marR="13970" indent="55880">
              <a:lnSpc>
                <a:spcPct val="124600"/>
              </a:lnSpc>
              <a:spcBef>
                <a:spcPts val="670"/>
              </a:spcBef>
            </a:pPr>
            <a:r>
              <a:rPr sz="1350" dirty="0">
                <a:latin typeface="Helvetica"/>
                <a:cs typeface="Helvetica"/>
              </a:rPr>
              <a:t>A A N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29" name="object 629"/>
          <p:cNvSpPr txBox="1"/>
          <p:nvPr/>
        </p:nvSpPr>
        <p:spPr>
          <a:xfrm>
            <a:off x="10069490" y="2136634"/>
            <a:ext cx="655955" cy="24384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5080" indent="91440" algn="just">
              <a:lnSpc>
                <a:spcPct val="110700"/>
              </a:lnSpc>
            </a:pPr>
            <a:r>
              <a:rPr sz="1350" dirty="0">
                <a:latin typeface="Helvetica"/>
                <a:cs typeface="Helvetica"/>
              </a:rPr>
              <a:t>N N N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30" name="object 630"/>
          <p:cNvSpPr txBox="1"/>
          <p:nvPr/>
        </p:nvSpPr>
        <p:spPr>
          <a:xfrm>
            <a:off x="9385675" y="2246478"/>
            <a:ext cx="428625" cy="15176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5080">
              <a:lnSpc>
                <a:spcPct val="110800"/>
              </a:lnSpc>
            </a:pPr>
            <a:r>
              <a:rPr sz="1350" dirty="0">
                <a:latin typeface="Helvetica"/>
                <a:cs typeface="Helvetica"/>
              </a:rPr>
              <a:t>C C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31" name="object 631"/>
          <p:cNvSpPr txBox="1"/>
          <p:nvPr/>
        </p:nvSpPr>
        <p:spPr>
          <a:xfrm>
            <a:off x="7783445" y="2399988"/>
            <a:ext cx="535305" cy="2667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67310" marR="5080" indent="-55244">
              <a:lnSpc>
                <a:spcPct val="159200"/>
              </a:lnSpc>
            </a:pPr>
            <a:r>
              <a:rPr sz="2025" spc="-22" baseline="2057" dirty="0">
                <a:latin typeface="Helvetica"/>
                <a:cs typeface="Helvetica"/>
              </a:rPr>
              <a:t>A</a:t>
            </a:r>
            <a:r>
              <a:rPr sz="1350" dirty="0">
                <a:latin typeface="Helvetica"/>
                <a:cs typeface="Helvetica"/>
              </a:rPr>
              <a:t>H H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32" name="object 632"/>
          <p:cNvSpPr txBox="1"/>
          <p:nvPr/>
        </p:nvSpPr>
        <p:spPr>
          <a:xfrm>
            <a:off x="8132532" y="2212108"/>
            <a:ext cx="314325" cy="14541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Helvetica"/>
                <a:cs typeface="Helvetica"/>
              </a:rPr>
              <a:t>I</a:t>
            </a:r>
            <a:r>
              <a:rPr sz="1350" spc="-200" dirty="0">
                <a:latin typeface="Helvetica"/>
                <a:cs typeface="Helvetica"/>
              </a:rPr>
              <a:t> </a:t>
            </a:r>
            <a:r>
              <a:rPr sz="2025" baseline="-37037" dirty="0">
                <a:latin typeface="Helvetica"/>
                <a:cs typeface="Helvetica"/>
              </a:rPr>
              <a:t>I</a:t>
            </a:r>
            <a:endParaRPr sz="2025" baseline="-37037">
              <a:latin typeface="Helvetica"/>
              <a:cs typeface="Helvetica"/>
            </a:endParaRPr>
          </a:p>
        </p:txBody>
      </p:sp>
      <p:sp>
        <p:nvSpPr>
          <p:cNvPr id="633" name="object 633"/>
          <p:cNvSpPr txBox="1"/>
          <p:nvPr/>
        </p:nvSpPr>
        <p:spPr>
          <a:xfrm>
            <a:off x="8474245" y="2094018"/>
            <a:ext cx="427990" cy="12255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5080">
              <a:lnSpc>
                <a:spcPct val="110700"/>
              </a:lnSpc>
            </a:pPr>
            <a:r>
              <a:rPr sz="1350" dirty="0">
                <a:latin typeface="Helvetica"/>
                <a:cs typeface="Helvetica"/>
              </a:rPr>
              <a:t>L L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34" name="object 634"/>
          <p:cNvSpPr txBox="1"/>
          <p:nvPr/>
        </p:nvSpPr>
        <p:spPr>
          <a:xfrm>
            <a:off x="8018433" y="2192711"/>
            <a:ext cx="200660" cy="1130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Helvetica"/>
                <a:cs typeface="Helvetica"/>
              </a:rPr>
              <a:t>J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35" name="object 635"/>
          <p:cNvSpPr txBox="1"/>
          <p:nvPr/>
        </p:nvSpPr>
        <p:spPr>
          <a:xfrm>
            <a:off x="7334813" y="2387307"/>
            <a:ext cx="428625" cy="14224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5080">
              <a:lnSpc>
                <a:spcPct val="110800"/>
              </a:lnSpc>
            </a:pPr>
            <a:r>
              <a:rPr sz="1350" dirty="0">
                <a:latin typeface="Helvetica"/>
                <a:cs typeface="Helvetica"/>
              </a:rPr>
              <a:t>A B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36" name="object 636"/>
          <p:cNvSpPr txBox="1"/>
          <p:nvPr/>
        </p:nvSpPr>
        <p:spPr>
          <a:xfrm>
            <a:off x="5967571" y="2640764"/>
            <a:ext cx="200660" cy="14224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Helvetica"/>
                <a:cs typeface="Helvetica"/>
              </a:rPr>
              <a:t>A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37" name="object 637"/>
          <p:cNvSpPr txBox="1"/>
          <p:nvPr/>
        </p:nvSpPr>
        <p:spPr>
          <a:xfrm>
            <a:off x="6195380" y="2479685"/>
            <a:ext cx="314325" cy="3035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25" baseline="-37037" dirty="0">
                <a:latin typeface="Helvetica"/>
                <a:cs typeface="Helvetica"/>
              </a:rPr>
              <a:t>A</a:t>
            </a:r>
            <a:r>
              <a:rPr sz="2025" spc="-37" baseline="-37037" dirty="0">
                <a:latin typeface="Helvetica"/>
                <a:cs typeface="Helvetica"/>
              </a:rPr>
              <a:t> </a:t>
            </a:r>
            <a:r>
              <a:rPr sz="1350" dirty="0">
                <a:latin typeface="Helvetica"/>
                <a:cs typeface="Helvetica"/>
              </a:rPr>
              <a:t>A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38" name="object 638"/>
          <p:cNvSpPr txBox="1"/>
          <p:nvPr/>
        </p:nvSpPr>
        <p:spPr>
          <a:xfrm>
            <a:off x="2990920" y="3513179"/>
            <a:ext cx="200660" cy="15176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Helvetica"/>
                <a:cs typeface="Helvetica"/>
              </a:rPr>
              <a:t>C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39" name="object 639"/>
          <p:cNvSpPr txBox="1"/>
          <p:nvPr/>
        </p:nvSpPr>
        <p:spPr>
          <a:xfrm>
            <a:off x="4828139" y="2241754"/>
            <a:ext cx="428625" cy="14224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5080">
              <a:lnSpc>
                <a:spcPct val="110800"/>
              </a:lnSpc>
            </a:pPr>
            <a:r>
              <a:rPr sz="1350" dirty="0">
                <a:latin typeface="Helvetica"/>
                <a:cs typeface="Helvetica"/>
              </a:rPr>
              <a:t>E E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40" name="object 640"/>
          <p:cNvSpPr txBox="1"/>
          <p:nvPr/>
        </p:nvSpPr>
        <p:spPr>
          <a:xfrm>
            <a:off x="3460897" y="2323330"/>
            <a:ext cx="200660" cy="15176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Helvetica"/>
                <a:cs typeface="Helvetica"/>
              </a:rPr>
              <a:t>C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41" name="object 641"/>
          <p:cNvSpPr txBox="1"/>
          <p:nvPr/>
        </p:nvSpPr>
        <p:spPr>
          <a:xfrm>
            <a:off x="42793" y="3842451"/>
            <a:ext cx="200660" cy="14224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Helvetica"/>
                <a:cs typeface="Helvetica"/>
              </a:rPr>
              <a:t>A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42" name="object 642"/>
          <p:cNvSpPr txBox="1"/>
          <p:nvPr/>
        </p:nvSpPr>
        <p:spPr>
          <a:xfrm>
            <a:off x="1182225" y="3579291"/>
            <a:ext cx="200660" cy="14224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Helvetica"/>
                <a:cs typeface="Helvetica"/>
              </a:rPr>
              <a:t>A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43" name="object 643"/>
          <p:cNvSpPr txBox="1"/>
          <p:nvPr/>
        </p:nvSpPr>
        <p:spPr>
          <a:xfrm>
            <a:off x="1837322" y="3411225"/>
            <a:ext cx="200660" cy="14224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Helvetica"/>
                <a:cs typeface="Helvetica"/>
              </a:rPr>
              <a:t>A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44" name="object 644"/>
          <p:cNvSpPr txBox="1"/>
          <p:nvPr/>
        </p:nvSpPr>
        <p:spPr>
          <a:xfrm>
            <a:off x="1580988" y="2926436"/>
            <a:ext cx="200660" cy="14224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Helvetica"/>
                <a:cs typeface="Helvetica"/>
              </a:rPr>
              <a:t>A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45" name="object 645"/>
          <p:cNvSpPr txBox="1"/>
          <p:nvPr/>
        </p:nvSpPr>
        <p:spPr>
          <a:xfrm>
            <a:off x="1410034" y="2789422"/>
            <a:ext cx="200660" cy="14224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Helvetica"/>
                <a:cs typeface="Helvetica"/>
              </a:rPr>
              <a:t>A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46" name="object 646"/>
          <p:cNvSpPr txBox="1"/>
          <p:nvPr/>
        </p:nvSpPr>
        <p:spPr>
          <a:xfrm>
            <a:off x="1637843" y="2671427"/>
            <a:ext cx="200660" cy="14224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Helvetica"/>
                <a:cs typeface="Helvetica"/>
              </a:rPr>
              <a:t>A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47" name="object 647"/>
          <p:cNvSpPr txBox="1"/>
          <p:nvPr/>
        </p:nvSpPr>
        <p:spPr>
          <a:xfrm>
            <a:off x="384506" y="2628537"/>
            <a:ext cx="542290" cy="3035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5080">
              <a:lnSpc>
                <a:spcPct val="166200"/>
              </a:lnSpc>
            </a:pPr>
            <a:r>
              <a:rPr sz="1350" dirty="0">
                <a:latin typeface="Helvetica"/>
                <a:cs typeface="Helvetica"/>
              </a:rPr>
              <a:t>A</a:t>
            </a:r>
            <a:r>
              <a:rPr sz="1350" spc="-25" dirty="0">
                <a:latin typeface="Helvetica"/>
                <a:cs typeface="Helvetica"/>
              </a:rPr>
              <a:t> </a:t>
            </a:r>
            <a:r>
              <a:rPr sz="2025" baseline="-37037" dirty="0">
                <a:latin typeface="Helvetica"/>
                <a:cs typeface="Helvetica"/>
              </a:rPr>
              <a:t>A </a:t>
            </a:r>
            <a:r>
              <a:rPr sz="1350" dirty="0">
                <a:latin typeface="Helvetica"/>
                <a:cs typeface="Helvetica"/>
              </a:rPr>
              <a:t>A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48" name="object 648"/>
          <p:cNvSpPr txBox="1"/>
          <p:nvPr/>
        </p:nvSpPr>
        <p:spPr>
          <a:xfrm>
            <a:off x="270602" y="2628537"/>
            <a:ext cx="200660" cy="14224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Helvetica"/>
                <a:cs typeface="Helvetica"/>
              </a:rPr>
              <a:t>A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49" name="object 649"/>
          <p:cNvSpPr txBox="1"/>
          <p:nvPr/>
        </p:nvSpPr>
        <p:spPr>
          <a:xfrm>
            <a:off x="6285223" y="5076683"/>
            <a:ext cx="200660" cy="25844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Helvetica"/>
                <a:cs typeface="Helvetica"/>
              </a:rPr>
              <a:t>AB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50" name="object 650"/>
          <p:cNvSpPr txBox="1"/>
          <p:nvPr/>
        </p:nvSpPr>
        <p:spPr>
          <a:xfrm>
            <a:off x="9006317" y="4024878"/>
            <a:ext cx="200660" cy="14224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Helvetica"/>
                <a:cs typeface="Helvetica"/>
              </a:rPr>
              <a:t>A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51" name="object 651"/>
          <p:cNvSpPr txBox="1"/>
          <p:nvPr/>
        </p:nvSpPr>
        <p:spPr>
          <a:xfrm>
            <a:off x="7729112" y="3316325"/>
            <a:ext cx="200660" cy="14224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Helvetica"/>
                <a:cs typeface="Helvetica"/>
              </a:rPr>
              <a:t>A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52" name="object 652"/>
          <p:cNvSpPr txBox="1"/>
          <p:nvPr/>
        </p:nvSpPr>
        <p:spPr>
          <a:xfrm>
            <a:off x="9713417" y="2588947"/>
            <a:ext cx="200660" cy="14224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Helvetica"/>
                <a:cs typeface="Helvetica"/>
              </a:rPr>
              <a:t>A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53" name="object 653"/>
          <p:cNvSpPr txBox="1"/>
          <p:nvPr/>
        </p:nvSpPr>
        <p:spPr>
          <a:xfrm>
            <a:off x="8930058" y="2147582"/>
            <a:ext cx="200660" cy="12255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Helvetica"/>
                <a:cs typeface="Helvetica"/>
              </a:rPr>
              <a:t>L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54" name="object 654"/>
          <p:cNvSpPr txBox="1"/>
          <p:nvPr/>
        </p:nvSpPr>
        <p:spPr>
          <a:xfrm>
            <a:off x="6423383" y="2479685"/>
            <a:ext cx="200660" cy="14224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Helvetica"/>
                <a:cs typeface="Helvetica"/>
              </a:rPr>
              <a:t>A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55" name="object 655"/>
          <p:cNvSpPr txBox="1"/>
          <p:nvPr/>
        </p:nvSpPr>
        <p:spPr>
          <a:xfrm>
            <a:off x="4137532" y="3517965"/>
            <a:ext cx="200660" cy="14224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Helvetica"/>
                <a:cs typeface="Helvetica"/>
              </a:rPr>
              <a:t>B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56" name="object 656"/>
          <p:cNvSpPr txBox="1"/>
          <p:nvPr/>
        </p:nvSpPr>
        <p:spPr>
          <a:xfrm>
            <a:off x="3404042" y="2558932"/>
            <a:ext cx="200660" cy="15176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Helvetica"/>
                <a:cs typeface="Helvetica"/>
              </a:rPr>
              <a:t>C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57" name="object 657"/>
          <p:cNvSpPr txBox="1"/>
          <p:nvPr/>
        </p:nvSpPr>
        <p:spPr>
          <a:xfrm>
            <a:off x="3574801" y="2431621"/>
            <a:ext cx="200660" cy="15176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Helvetica"/>
                <a:cs typeface="Helvetica"/>
              </a:rPr>
              <a:t>C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58" name="object 658"/>
          <p:cNvSpPr txBox="1"/>
          <p:nvPr/>
        </p:nvSpPr>
        <p:spPr>
          <a:xfrm>
            <a:off x="3688900" y="2323330"/>
            <a:ext cx="200660" cy="15176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Helvetica"/>
                <a:cs typeface="Helvetica"/>
              </a:rPr>
              <a:t>C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59" name="object 659"/>
          <p:cNvSpPr txBox="1"/>
          <p:nvPr/>
        </p:nvSpPr>
        <p:spPr>
          <a:xfrm>
            <a:off x="1207063" y="3842451"/>
            <a:ext cx="200660" cy="14224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Helvetica"/>
                <a:cs typeface="Helvetica"/>
              </a:rPr>
              <a:t>A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660" name="object 660"/>
          <p:cNvSpPr txBox="1"/>
          <p:nvPr/>
        </p:nvSpPr>
        <p:spPr>
          <a:xfrm>
            <a:off x="6959600" y="7707622"/>
            <a:ext cx="4727575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i="1" dirty="0">
                <a:latin typeface="Helvetica"/>
                <a:cs typeface="Helvetica"/>
              </a:rPr>
              <a:t>Cryp</a:t>
            </a:r>
            <a:r>
              <a:rPr sz="3000" i="1" spc="-10" dirty="0">
                <a:latin typeface="Helvetica"/>
                <a:cs typeface="Helvetica"/>
              </a:rPr>
              <a:t>toblepharus</a:t>
            </a:r>
            <a:r>
              <a:rPr sz="3000" i="1" spc="-5" dirty="0">
                <a:latin typeface="Helvetica"/>
                <a:cs typeface="Helvetica"/>
              </a:rPr>
              <a:t> </a:t>
            </a:r>
            <a:r>
              <a:rPr sz="3000" dirty="0">
                <a:latin typeface="Helvetica"/>
                <a:cs typeface="Helvetica"/>
              </a:rPr>
              <a:t>geography</a:t>
            </a:r>
            <a:endParaRPr sz="3000">
              <a:latin typeface="Helvetica"/>
              <a:cs typeface="Helvetica"/>
            </a:endParaRPr>
          </a:p>
        </p:txBody>
      </p:sp>
      <p:sp>
        <p:nvSpPr>
          <p:cNvPr id="661" name="object 661"/>
          <p:cNvSpPr/>
          <p:nvPr/>
        </p:nvSpPr>
        <p:spPr>
          <a:xfrm>
            <a:off x="575287" y="5537826"/>
            <a:ext cx="2371002" cy="40597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0277" y="2157380"/>
            <a:ext cx="4864384" cy="72493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91077" y="2182780"/>
            <a:ext cx="4763135" cy="7148195"/>
          </a:xfrm>
          <a:custGeom>
            <a:avLst/>
            <a:gdLst/>
            <a:ahLst/>
            <a:cxnLst/>
            <a:rect l="l" t="t" r="r" b="b"/>
            <a:pathLst>
              <a:path w="4763135" h="7148195">
                <a:moveTo>
                  <a:pt x="0" y="0"/>
                </a:moveTo>
                <a:lnTo>
                  <a:pt x="4762783" y="0"/>
                </a:lnTo>
                <a:lnTo>
                  <a:pt x="4762783" y="7147718"/>
                </a:lnTo>
                <a:lnTo>
                  <a:pt x="0" y="7147718"/>
                </a:lnTo>
                <a:lnTo>
                  <a:pt x="0" y="0"/>
                </a:lnTo>
                <a:close/>
              </a:path>
            </a:pathLst>
          </a:custGeom>
          <a:solidFill>
            <a:srgbClr val="A6AA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1077" y="2182780"/>
            <a:ext cx="4763135" cy="7148195"/>
          </a:xfrm>
          <a:custGeom>
            <a:avLst/>
            <a:gdLst/>
            <a:ahLst/>
            <a:cxnLst/>
            <a:rect l="l" t="t" r="r" b="b"/>
            <a:pathLst>
              <a:path w="4763135" h="7148195">
                <a:moveTo>
                  <a:pt x="0" y="0"/>
                </a:moveTo>
                <a:lnTo>
                  <a:pt x="4762784" y="0"/>
                </a:lnTo>
                <a:lnTo>
                  <a:pt x="4762784" y="7147718"/>
                </a:lnTo>
                <a:lnTo>
                  <a:pt x="0" y="7147718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58800" y="541434"/>
            <a:ext cx="7599045" cy="611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800" spc="-600" dirty="0">
                <a:latin typeface="Gill Sans"/>
                <a:cs typeface="Gill Sans"/>
              </a:rPr>
              <a:t>T</a:t>
            </a:r>
            <a:r>
              <a:rPr sz="4800" spc="-20" dirty="0">
                <a:latin typeface="Gill Sans"/>
                <a:cs typeface="Gill Sans"/>
              </a:rPr>
              <a:t>ra</a:t>
            </a:r>
            <a:r>
              <a:rPr sz="4800" spc="-5" dirty="0">
                <a:latin typeface="Gill Sans"/>
                <a:cs typeface="Gill Sans"/>
              </a:rPr>
              <a:t>i</a:t>
            </a:r>
            <a:r>
              <a:rPr sz="4800" dirty="0">
                <a:latin typeface="Gill Sans"/>
                <a:cs typeface="Gill Sans"/>
              </a:rPr>
              <a:t>t</a:t>
            </a:r>
            <a:r>
              <a:rPr sz="4800" spc="-5" dirty="0">
                <a:latin typeface="Gill Sans"/>
                <a:cs typeface="Gill Sans"/>
              </a:rPr>
              <a:t>-</a:t>
            </a:r>
            <a:r>
              <a:rPr sz="4800" spc="-25" dirty="0">
                <a:latin typeface="Gill Sans"/>
                <a:cs typeface="Gill Sans"/>
              </a:rPr>
              <a:t>depend</a:t>
            </a:r>
            <a:r>
              <a:rPr sz="4800" dirty="0">
                <a:latin typeface="Gill Sans"/>
                <a:cs typeface="Gill Sans"/>
              </a:rPr>
              <a:t>ent</a:t>
            </a:r>
            <a:r>
              <a:rPr sz="4800" spc="-5" dirty="0">
                <a:latin typeface="Gill Sans"/>
                <a:cs typeface="Gill Sans"/>
              </a:rPr>
              <a:t> </a:t>
            </a:r>
            <a:r>
              <a:rPr sz="4800" b="1" spc="-40" dirty="0">
                <a:latin typeface="Gill Sans"/>
                <a:cs typeface="Gill Sans"/>
              </a:rPr>
              <a:t>D</a:t>
            </a:r>
            <a:r>
              <a:rPr sz="4800" b="1" dirty="0">
                <a:latin typeface="Gill Sans"/>
                <a:cs typeface="Gill Sans"/>
              </a:rPr>
              <a:t>EC</a:t>
            </a:r>
            <a:r>
              <a:rPr sz="4800" b="1" spc="-5" dirty="0">
                <a:latin typeface="Gill Sans"/>
                <a:cs typeface="Gill Sans"/>
              </a:rPr>
              <a:t> mo</a:t>
            </a:r>
            <a:r>
              <a:rPr sz="4800" b="1" dirty="0">
                <a:latin typeface="Gill Sans"/>
                <a:cs typeface="Gill Sans"/>
              </a:rPr>
              <a:t>del</a:t>
            </a:r>
            <a:endParaRPr sz="4800">
              <a:latin typeface="Gill Sans"/>
              <a:cs typeface="Gill San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417766" y="2883534"/>
            <a:ext cx="0" cy="1550035"/>
          </a:xfrm>
          <a:custGeom>
            <a:avLst/>
            <a:gdLst/>
            <a:ahLst/>
            <a:cxnLst/>
            <a:rect l="l" t="t" r="r" b="b"/>
            <a:pathLst>
              <a:path h="1550035">
                <a:moveTo>
                  <a:pt x="0" y="0"/>
                </a:moveTo>
                <a:lnTo>
                  <a:pt x="0" y="1549816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283277" y="2883534"/>
            <a:ext cx="0" cy="1550035"/>
          </a:xfrm>
          <a:custGeom>
            <a:avLst/>
            <a:gdLst/>
            <a:ahLst/>
            <a:cxnLst/>
            <a:rect l="l" t="t" r="r" b="b"/>
            <a:pathLst>
              <a:path h="1550035">
                <a:moveTo>
                  <a:pt x="0" y="0"/>
                </a:moveTo>
                <a:lnTo>
                  <a:pt x="0" y="1549816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48000" y="4675604"/>
            <a:ext cx="528320" cy="0"/>
          </a:xfrm>
          <a:custGeom>
            <a:avLst/>
            <a:gdLst/>
            <a:ahLst/>
            <a:cxnLst/>
            <a:rect l="l" t="t" r="r" b="b"/>
            <a:pathLst>
              <a:path w="528320">
                <a:moveTo>
                  <a:pt x="0" y="0"/>
                </a:moveTo>
                <a:lnTo>
                  <a:pt x="527891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351046" y="4643854"/>
            <a:ext cx="0" cy="63500"/>
          </a:xfrm>
          <a:custGeom>
            <a:avLst/>
            <a:gdLst/>
            <a:ahLst/>
            <a:cxnLst/>
            <a:rect l="l" t="t" r="r" b="b"/>
            <a:pathLst>
              <a:path h="63500">
                <a:moveTo>
                  <a:pt x="0" y="63500"/>
                </a:moveTo>
                <a:lnTo>
                  <a:pt x="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584527" y="4675604"/>
            <a:ext cx="433705" cy="0"/>
          </a:xfrm>
          <a:custGeom>
            <a:avLst/>
            <a:gdLst/>
            <a:ahLst/>
            <a:cxnLst/>
            <a:rect l="l" t="t" r="r" b="b"/>
            <a:pathLst>
              <a:path w="433704">
                <a:moveTo>
                  <a:pt x="0" y="0"/>
                </a:moveTo>
                <a:lnTo>
                  <a:pt x="433167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342268" y="4658734"/>
            <a:ext cx="0" cy="1186815"/>
          </a:xfrm>
          <a:custGeom>
            <a:avLst/>
            <a:gdLst/>
            <a:ahLst/>
            <a:cxnLst/>
            <a:rect l="l" t="t" r="r" b="b"/>
            <a:pathLst>
              <a:path h="1186814">
                <a:moveTo>
                  <a:pt x="0" y="0"/>
                </a:moveTo>
                <a:lnTo>
                  <a:pt x="0" y="1186345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342268" y="5921280"/>
            <a:ext cx="0" cy="711835"/>
          </a:xfrm>
          <a:custGeom>
            <a:avLst/>
            <a:gdLst/>
            <a:ahLst/>
            <a:cxnLst/>
            <a:rect l="l" t="t" r="r" b="b"/>
            <a:pathLst>
              <a:path h="711834">
                <a:moveTo>
                  <a:pt x="0" y="0"/>
                </a:moveTo>
                <a:lnTo>
                  <a:pt x="0" y="71181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168356" y="6633090"/>
            <a:ext cx="325120" cy="492125"/>
          </a:xfrm>
          <a:custGeom>
            <a:avLst/>
            <a:gdLst/>
            <a:ahLst/>
            <a:cxnLst/>
            <a:rect l="l" t="t" r="r" b="b"/>
            <a:pathLst>
              <a:path w="325120" h="492125">
                <a:moveTo>
                  <a:pt x="0" y="0"/>
                </a:moveTo>
                <a:lnTo>
                  <a:pt x="325075" y="0"/>
                </a:lnTo>
                <a:lnTo>
                  <a:pt x="325075" y="491609"/>
                </a:lnTo>
                <a:lnTo>
                  <a:pt x="0" y="491609"/>
                </a:lnTo>
                <a:lnTo>
                  <a:pt x="0" y="0"/>
                </a:lnTo>
                <a:close/>
              </a:path>
            </a:pathLst>
          </a:custGeom>
          <a:solidFill>
            <a:srgbClr val="74A7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168356" y="6633090"/>
            <a:ext cx="325120" cy="492125"/>
          </a:xfrm>
          <a:custGeom>
            <a:avLst/>
            <a:gdLst/>
            <a:ahLst/>
            <a:cxnLst/>
            <a:rect l="l" t="t" r="r" b="b"/>
            <a:pathLst>
              <a:path w="325120" h="492125">
                <a:moveTo>
                  <a:pt x="0" y="0"/>
                </a:moveTo>
                <a:lnTo>
                  <a:pt x="325075" y="0"/>
                </a:lnTo>
                <a:lnTo>
                  <a:pt x="325075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017695" y="4433351"/>
            <a:ext cx="325120" cy="492125"/>
          </a:xfrm>
          <a:custGeom>
            <a:avLst/>
            <a:gdLst/>
            <a:ahLst/>
            <a:cxnLst/>
            <a:rect l="l" t="t" r="r" b="b"/>
            <a:pathLst>
              <a:path w="325120" h="492125">
                <a:moveTo>
                  <a:pt x="0" y="0"/>
                </a:moveTo>
                <a:lnTo>
                  <a:pt x="325075" y="0"/>
                </a:lnTo>
                <a:lnTo>
                  <a:pt x="325075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solidFill>
            <a:srgbClr val="74A7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017695" y="4433351"/>
            <a:ext cx="325120" cy="492125"/>
          </a:xfrm>
          <a:custGeom>
            <a:avLst/>
            <a:gdLst/>
            <a:ahLst/>
            <a:cxnLst/>
            <a:rect l="l" t="t" r="r" b="b"/>
            <a:pathLst>
              <a:path w="325120" h="492125">
                <a:moveTo>
                  <a:pt x="0" y="0"/>
                </a:moveTo>
                <a:lnTo>
                  <a:pt x="325075" y="0"/>
                </a:lnTo>
                <a:lnTo>
                  <a:pt x="325075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359321" y="4433351"/>
            <a:ext cx="288925" cy="492125"/>
          </a:xfrm>
          <a:custGeom>
            <a:avLst/>
            <a:gdLst/>
            <a:ahLst/>
            <a:cxnLst/>
            <a:rect l="l" t="t" r="r" b="b"/>
            <a:pathLst>
              <a:path w="288925" h="492125">
                <a:moveTo>
                  <a:pt x="0" y="0"/>
                </a:moveTo>
                <a:lnTo>
                  <a:pt x="288678" y="0"/>
                </a:lnTo>
                <a:lnTo>
                  <a:pt x="288678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solidFill>
            <a:srgbClr val="669C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359321" y="4433351"/>
            <a:ext cx="288925" cy="492125"/>
          </a:xfrm>
          <a:custGeom>
            <a:avLst/>
            <a:gdLst/>
            <a:ahLst/>
            <a:cxnLst/>
            <a:rect l="l" t="t" r="r" b="b"/>
            <a:pathLst>
              <a:path w="288925" h="492125">
                <a:moveTo>
                  <a:pt x="0" y="0"/>
                </a:moveTo>
                <a:lnTo>
                  <a:pt x="288678" y="0"/>
                </a:lnTo>
                <a:lnTo>
                  <a:pt x="288678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259452" y="4433351"/>
            <a:ext cx="325120" cy="492125"/>
          </a:xfrm>
          <a:custGeom>
            <a:avLst/>
            <a:gdLst/>
            <a:ahLst/>
            <a:cxnLst/>
            <a:rect l="l" t="t" r="r" b="b"/>
            <a:pathLst>
              <a:path w="325120" h="492125">
                <a:moveTo>
                  <a:pt x="0" y="0"/>
                </a:moveTo>
                <a:lnTo>
                  <a:pt x="325075" y="0"/>
                </a:lnTo>
                <a:lnTo>
                  <a:pt x="325075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solidFill>
            <a:srgbClr val="74A7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259452" y="4433351"/>
            <a:ext cx="325120" cy="492125"/>
          </a:xfrm>
          <a:custGeom>
            <a:avLst/>
            <a:gdLst/>
            <a:ahLst/>
            <a:cxnLst/>
            <a:rect l="l" t="t" r="r" b="b"/>
            <a:pathLst>
              <a:path w="325120" h="492125">
                <a:moveTo>
                  <a:pt x="0" y="0"/>
                </a:moveTo>
                <a:lnTo>
                  <a:pt x="325075" y="0"/>
                </a:lnTo>
                <a:lnTo>
                  <a:pt x="325075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175892" y="4433351"/>
            <a:ext cx="288925" cy="492125"/>
          </a:xfrm>
          <a:custGeom>
            <a:avLst/>
            <a:gdLst/>
            <a:ahLst/>
            <a:cxnLst/>
            <a:rect l="l" t="t" r="r" b="b"/>
            <a:pathLst>
              <a:path w="288925" h="492125">
                <a:moveTo>
                  <a:pt x="0" y="0"/>
                </a:moveTo>
                <a:lnTo>
                  <a:pt x="288678" y="0"/>
                </a:lnTo>
                <a:lnTo>
                  <a:pt x="288678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solidFill>
            <a:srgbClr val="669C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175892" y="4433351"/>
            <a:ext cx="288925" cy="492125"/>
          </a:xfrm>
          <a:custGeom>
            <a:avLst/>
            <a:gdLst/>
            <a:ahLst/>
            <a:cxnLst/>
            <a:rect l="l" t="t" r="r" b="b"/>
            <a:pathLst>
              <a:path w="288925" h="492125">
                <a:moveTo>
                  <a:pt x="0" y="0"/>
                </a:moveTo>
                <a:lnTo>
                  <a:pt x="288678" y="0"/>
                </a:lnTo>
                <a:lnTo>
                  <a:pt x="288678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717731" y="5674871"/>
            <a:ext cx="325120" cy="492125"/>
          </a:xfrm>
          <a:custGeom>
            <a:avLst/>
            <a:gdLst/>
            <a:ahLst/>
            <a:cxnLst/>
            <a:rect l="l" t="t" r="r" b="b"/>
            <a:pathLst>
              <a:path w="325120" h="492125">
                <a:moveTo>
                  <a:pt x="0" y="0"/>
                </a:moveTo>
                <a:lnTo>
                  <a:pt x="325075" y="0"/>
                </a:lnTo>
                <a:lnTo>
                  <a:pt x="325075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solidFill>
            <a:srgbClr val="74A7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717731" y="5674871"/>
            <a:ext cx="325120" cy="492125"/>
          </a:xfrm>
          <a:custGeom>
            <a:avLst/>
            <a:gdLst/>
            <a:ahLst/>
            <a:cxnLst/>
            <a:rect l="l" t="t" r="r" b="b"/>
            <a:pathLst>
              <a:path w="325120" h="492125">
                <a:moveTo>
                  <a:pt x="0" y="0"/>
                </a:moveTo>
                <a:lnTo>
                  <a:pt x="325075" y="0"/>
                </a:lnTo>
                <a:lnTo>
                  <a:pt x="325075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076022" y="5883180"/>
            <a:ext cx="485775" cy="0"/>
          </a:xfrm>
          <a:custGeom>
            <a:avLst/>
            <a:gdLst/>
            <a:ahLst/>
            <a:cxnLst/>
            <a:rect l="l" t="t" r="r" b="b"/>
            <a:pathLst>
              <a:path w="485775">
                <a:moveTo>
                  <a:pt x="485154" y="0"/>
                </a:moveTo>
                <a:lnTo>
                  <a:pt x="447054" y="0"/>
                </a:lnTo>
                <a:lnTo>
                  <a:pt x="0" y="0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446877" y="573077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76200" y="152400"/>
                </a:lnTo>
                <a:lnTo>
                  <a:pt x="0" y="304800"/>
                </a:lnTo>
                <a:lnTo>
                  <a:pt x="30480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742610" y="5674871"/>
            <a:ext cx="325120" cy="492125"/>
          </a:xfrm>
          <a:custGeom>
            <a:avLst/>
            <a:gdLst/>
            <a:ahLst/>
            <a:cxnLst/>
            <a:rect l="l" t="t" r="r" b="b"/>
            <a:pathLst>
              <a:path w="325120" h="492125">
                <a:moveTo>
                  <a:pt x="0" y="0"/>
                </a:moveTo>
                <a:lnTo>
                  <a:pt x="325075" y="0"/>
                </a:lnTo>
                <a:lnTo>
                  <a:pt x="325075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solidFill>
            <a:srgbClr val="74A7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742610" y="5674871"/>
            <a:ext cx="325120" cy="492125"/>
          </a:xfrm>
          <a:custGeom>
            <a:avLst/>
            <a:gdLst/>
            <a:ahLst/>
            <a:cxnLst/>
            <a:rect l="l" t="t" r="r" b="b"/>
            <a:pathLst>
              <a:path w="325120" h="492125">
                <a:moveTo>
                  <a:pt x="0" y="0"/>
                </a:moveTo>
                <a:lnTo>
                  <a:pt x="325075" y="0"/>
                </a:lnTo>
                <a:lnTo>
                  <a:pt x="325075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084236" y="5674871"/>
            <a:ext cx="288925" cy="492125"/>
          </a:xfrm>
          <a:custGeom>
            <a:avLst/>
            <a:gdLst/>
            <a:ahLst/>
            <a:cxnLst/>
            <a:rect l="l" t="t" r="r" b="b"/>
            <a:pathLst>
              <a:path w="288925" h="492125">
                <a:moveTo>
                  <a:pt x="0" y="0"/>
                </a:moveTo>
                <a:lnTo>
                  <a:pt x="288678" y="0"/>
                </a:lnTo>
                <a:lnTo>
                  <a:pt x="288678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solidFill>
            <a:srgbClr val="669C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084236" y="5674871"/>
            <a:ext cx="288925" cy="492125"/>
          </a:xfrm>
          <a:custGeom>
            <a:avLst/>
            <a:gdLst/>
            <a:ahLst/>
            <a:cxnLst/>
            <a:rect l="l" t="t" r="r" b="b"/>
            <a:pathLst>
              <a:path w="288925" h="492125">
                <a:moveTo>
                  <a:pt x="0" y="0"/>
                </a:moveTo>
                <a:lnTo>
                  <a:pt x="288678" y="0"/>
                </a:lnTo>
                <a:lnTo>
                  <a:pt x="288678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259452" y="2391926"/>
            <a:ext cx="325120" cy="492125"/>
          </a:xfrm>
          <a:custGeom>
            <a:avLst/>
            <a:gdLst/>
            <a:ahLst/>
            <a:cxnLst/>
            <a:rect l="l" t="t" r="r" b="b"/>
            <a:pathLst>
              <a:path w="325120" h="492125">
                <a:moveTo>
                  <a:pt x="0" y="0"/>
                </a:moveTo>
                <a:lnTo>
                  <a:pt x="325075" y="0"/>
                </a:lnTo>
                <a:lnTo>
                  <a:pt x="325075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solidFill>
            <a:srgbClr val="74A7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259452" y="2391926"/>
            <a:ext cx="325120" cy="492125"/>
          </a:xfrm>
          <a:custGeom>
            <a:avLst/>
            <a:gdLst/>
            <a:ahLst/>
            <a:cxnLst/>
            <a:rect l="l" t="t" r="r" b="b"/>
            <a:pathLst>
              <a:path w="325120" h="492125">
                <a:moveTo>
                  <a:pt x="0" y="0"/>
                </a:moveTo>
                <a:lnTo>
                  <a:pt x="325075" y="0"/>
                </a:lnTo>
                <a:lnTo>
                  <a:pt x="325075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175892" y="2391926"/>
            <a:ext cx="288925" cy="492125"/>
          </a:xfrm>
          <a:custGeom>
            <a:avLst/>
            <a:gdLst/>
            <a:ahLst/>
            <a:cxnLst/>
            <a:rect l="l" t="t" r="r" b="b"/>
            <a:pathLst>
              <a:path w="288925" h="492125">
                <a:moveTo>
                  <a:pt x="0" y="0"/>
                </a:moveTo>
                <a:lnTo>
                  <a:pt x="288678" y="0"/>
                </a:lnTo>
                <a:lnTo>
                  <a:pt x="288678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solidFill>
            <a:srgbClr val="669C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175892" y="2391926"/>
            <a:ext cx="288925" cy="492125"/>
          </a:xfrm>
          <a:custGeom>
            <a:avLst/>
            <a:gdLst/>
            <a:ahLst/>
            <a:cxnLst/>
            <a:rect l="l" t="t" r="r" b="b"/>
            <a:pathLst>
              <a:path w="288925" h="492125">
                <a:moveTo>
                  <a:pt x="0" y="0"/>
                </a:moveTo>
                <a:lnTo>
                  <a:pt x="288678" y="0"/>
                </a:lnTo>
                <a:lnTo>
                  <a:pt x="288678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520700" y="2457345"/>
            <a:ext cx="4251325" cy="2917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23900" marR="5080" indent="-711200">
              <a:lnSpc>
                <a:spcPts val="3800"/>
              </a:lnSpc>
            </a:pPr>
            <a:r>
              <a:rPr sz="3200" b="1" spc="-30" dirty="0">
                <a:latin typeface="Gill Sans"/>
                <a:cs typeface="Gill Sans"/>
              </a:rPr>
              <a:t>Di</a:t>
            </a:r>
            <a:r>
              <a:rPr sz="3200" b="1" spc="-20" dirty="0">
                <a:latin typeface="Gill Sans"/>
                <a:cs typeface="Gill Sans"/>
              </a:rPr>
              <a:t>spe</a:t>
            </a:r>
            <a:r>
              <a:rPr sz="3200" b="1" spc="-95" dirty="0">
                <a:latin typeface="Gill Sans"/>
                <a:cs typeface="Gill Sans"/>
              </a:rPr>
              <a:t>r</a:t>
            </a:r>
            <a:r>
              <a:rPr sz="3200" b="1" spc="-20" dirty="0">
                <a:latin typeface="Gill Sans"/>
                <a:cs typeface="Gill Sans"/>
              </a:rPr>
              <a:t>sa</a:t>
            </a:r>
            <a:r>
              <a:rPr sz="3200" b="1" dirty="0">
                <a:latin typeface="Gill Sans"/>
                <a:cs typeface="Gill Sans"/>
              </a:rPr>
              <a:t>l</a:t>
            </a:r>
            <a:r>
              <a:rPr sz="3200" b="1" spc="-5" dirty="0">
                <a:latin typeface="Gill Sans"/>
                <a:cs typeface="Gill Sans"/>
              </a:rPr>
              <a:t>-</a:t>
            </a:r>
            <a:r>
              <a:rPr sz="3200" b="1" dirty="0">
                <a:latin typeface="Gill Sans"/>
                <a:cs typeface="Gill Sans"/>
              </a:rPr>
              <a:t>E</a:t>
            </a:r>
            <a:r>
              <a:rPr sz="3200" b="1" spc="-5" dirty="0">
                <a:latin typeface="Gill Sans"/>
                <a:cs typeface="Gill Sans"/>
              </a:rPr>
              <a:t>xt</a:t>
            </a:r>
            <a:r>
              <a:rPr sz="3200" b="1" dirty="0">
                <a:latin typeface="Gill Sans"/>
                <a:cs typeface="Gill Sans"/>
              </a:rPr>
              <a:t>inc</a:t>
            </a:r>
            <a:r>
              <a:rPr sz="3200" b="1" spc="-5" dirty="0">
                <a:latin typeface="Gill Sans"/>
                <a:cs typeface="Gill Sans"/>
              </a:rPr>
              <a:t>t</a:t>
            </a:r>
            <a:r>
              <a:rPr sz="3200" b="1" dirty="0">
                <a:latin typeface="Gill Sans"/>
                <a:cs typeface="Gill Sans"/>
              </a:rPr>
              <a:t>i</a:t>
            </a:r>
            <a:r>
              <a:rPr sz="3200" b="1" spc="-5" dirty="0">
                <a:latin typeface="Gill Sans"/>
                <a:cs typeface="Gill Sans"/>
              </a:rPr>
              <a:t>o</a:t>
            </a:r>
            <a:r>
              <a:rPr sz="3200" b="1" dirty="0">
                <a:latin typeface="Gill Sans"/>
                <a:cs typeface="Gill Sans"/>
              </a:rPr>
              <a:t>n (on</a:t>
            </a:r>
            <a:r>
              <a:rPr sz="3200" b="1" spc="-5" dirty="0">
                <a:latin typeface="Gill Sans"/>
                <a:cs typeface="Gill Sans"/>
              </a:rPr>
              <a:t> b</a:t>
            </a:r>
            <a:r>
              <a:rPr sz="3200" b="1" spc="-50" dirty="0">
                <a:latin typeface="Gill Sans"/>
                <a:cs typeface="Gill Sans"/>
              </a:rPr>
              <a:t>r</a:t>
            </a:r>
            <a:r>
              <a:rPr sz="3200" b="1" spc="20" dirty="0">
                <a:latin typeface="Gill Sans"/>
                <a:cs typeface="Gill Sans"/>
              </a:rPr>
              <a:t>a</a:t>
            </a:r>
            <a:r>
              <a:rPr sz="3200" b="1" spc="-5" dirty="0">
                <a:latin typeface="Gill Sans"/>
                <a:cs typeface="Gill Sans"/>
              </a:rPr>
              <a:t>nches)</a:t>
            </a:r>
            <a:endParaRPr sz="3200">
              <a:latin typeface="Gill Sans"/>
              <a:cs typeface="Gill Sans"/>
            </a:endParaRPr>
          </a:p>
          <a:p>
            <a:pPr marL="1042669" marR="728345" indent="-459105">
              <a:lnSpc>
                <a:spcPts val="3000"/>
              </a:lnSpc>
              <a:spcBef>
                <a:spcPts val="340"/>
              </a:spcBef>
            </a:pPr>
            <a:r>
              <a:rPr sz="2600" i="1" dirty="0">
                <a:latin typeface="Gill Sans"/>
                <a:cs typeface="Gill Sans"/>
              </a:rPr>
              <a:t>d</a:t>
            </a:r>
            <a:r>
              <a:rPr sz="2600" i="1" spc="-5" dirty="0">
                <a:latin typeface="Gill Sans"/>
                <a:cs typeface="Gill Sans"/>
              </a:rPr>
              <a:t> </a:t>
            </a:r>
            <a:r>
              <a:rPr sz="2600" spc="-20" dirty="0">
                <a:latin typeface="Gill Sans"/>
                <a:cs typeface="Gill Sans"/>
              </a:rPr>
              <a:t>=</a:t>
            </a:r>
            <a:r>
              <a:rPr sz="2600" spc="-5" dirty="0">
                <a:latin typeface="Gill Sans"/>
                <a:cs typeface="Gill Sans"/>
              </a:rPr>
              <a:t> </a:t>
            </a:r>
            <a:r>
              <a:rPr sz="2600" spc="-15" dirty="0">
                <a:latin typeface="Gill Sans"/>
                <a:cs typeface="Gill Sans"/>
              </a:rPr>
              <a:t>ra</a:t>
            </a:r>
            <a:r>
              <a:rPr sz="2600" dirty="0">
                <a:latin typeface="Gill Sans"/>
                <a:cs typeface="Gill Sans"/>
              </a:rPr>
              <a:t>te</a:t>
            </a:r>
            <a:r>
              <a:rPr sz="2600" spc="-5" dirty="0">
                <a:latin typeface="Gill Sans"/>
                <a:cs typeface="Gill Sans"/>
              </a:rPr>
              <a:t> </a:t>
            </a:r>
            <a:r>
              <a:rPr sz="2600" spc="-15" dirty="0">
                <a:latin typeface="Gill Sans"/>
                <a:cs typeface="Gill Sans"/>
              </a:rPr>
              <a:t>o</a:t>
            </a:r>
            <a:r>
              <a:rPr sz="2600" dirty="0">
                <a:latin typeface="Gill Sans"/>
                <a:cs typeface="Gill Sans"/>
              </a:rPr>
              <a:t>f</a:t>
            </a:r>
            <a:r>
              <a:rPr sz="2600" spc="-265" dirty="0">
                <a:latin typeface="Gill Sans"/>
                <a:cs typeface="Gill Sans"/>
              </a:rPr>
              <a:t> </a:t>
            </a:r>
            <a:r>
              <a:rPr sz="2600" spc="-15" dirty="0">
                <a:latin typeface="Gill Sans"/>
                <a:cs typeface="Gill Sans"/>
              </a:rPr>
              <a:t>“d</a:t>
            </a:r>
            <a:r>
              <a:rPr sz="2600" dirty="0">
                <a:latin typeface="Gill Sans"/>
                <a:cs typeface="Gill Sans"/>
              </a:rPr>
              <a:t>i</a:t>
            </a:r>
            <a:r>
              <a:rPr sz="2600" spc="-15" dirty="0">
                <a:latin typeface="Gill Sans"/>
                <a:cs typeface="Gill Sans"/>
              </a:rPr>
              <a:t>spersa</a:t>
            </a:r>
            <a:r>
              <a:rPr sz="2600" dirty="0">
                <a:latin typeface="Gill Sans"/>
                <a:cs typeface="Gill Sans"/>
              </a:rPr>
              <a:t>l</a:t>
            </a:r>
            <a:r>
              <a:rPr sz="2600" spc="-15" dirty="0">
                <a:latin typeface="Gill Sans"/>
                <a:cs typeface="Gill Sans"/>
              </a:rPr>
              <a:t>”</a:t>
            </a:r>
            <a:r>
              <a:rPr sz="2600" spc="-10" dirty="0">
                <a:latin typeface="Gill Sans"/>
                <a:cs typeface="Gill Sans"/>
              </a:rPr>
              <a:t> </a:t>
            </a:r>
            <a:r>
              <a:rPr sz="2600" spc="-5" dirty="0">
                <a:latin typeface="Gill Sans"/>
                <a:cs typeface="Gill Sans"/>
              </a:rPr>
              <a:t>(</a:t>
            </a:r>
            <a:r>
              <a:rPr sz="2600" spc="-15" dirty="0">
                <a:latin typeface="Gill Sans"/>
                <a:cs typeface="Gill Sans"/>
              </a:rPr>
              <a:t>rang</a:t>
            </a:r>
            <a:r>
              <a:rPr sz="2600" dirty="0">
                <a:latin typeface="Gill Sans"/>
                <a:cs typeface="Gill Sans"/>
              </a:rPr>
              <a:t>e</a:t>
            </a:r>
            <a:r>
              <a:rPr sz="2600" spc="-5" dirty="0">
                <a:latin typeface="Gill Sans"/>
                <a:cs typeface="Gill Sans"/>
              </a:rPr>
              <a:t> </a:t>
            </a:r>
            <a:r>
              <a:rPr sz="2600" spc="-15" dirty="0">
                <a:latin typeface="Gill Sans"/>
                <a:cs typeface="Gill Sans"/>
              </a:rPr>
              <a:t>expans</a:t>
            </a:r>
            <a:r>
              <a:rPr sz="2600" dirty="0">
                <a:latin typeface="Gill Sans"/>
                <a:cs typeface="Gill Sans"/>
              </a:rPr>
              <a:t>i</a:t>
            </a:r>
            <a:r>
              <a:rPr sz="2600" spc="-15" dirty="0">
                <a:latin typeface="Gill Sans"/>
                <a:cs typeface="Gill Sans"/>
              </a:rPr>
              <a:t>o</a:t>
            </a:r>
            <a:r>
              <a:rPr sz="2600" dirty="0">
                <a:latin typeface="Gill Sans"/>
                <a:cs typeface="Gill Sans"/>
              </a:rPr>
              <a:t>n)</a:t>
            </a:r>
            <a:endParaRPr sz="2600">
              <a:latin typeface="Gill Sans"/>
              <a:cs typeface="Gill Sans"/>
            </a:endParaRPr>
          </a:p>
          <a:p>
            <a:pPr marL="1017269" marR="558800" indent="-459105" algn="just">
              <a:lnSpc>
                <a:spcPts val="3000"/>
              </a:lnSpc>
              <a:spcBef>
                <a:spcPts val="400"/>
              </a:spcBef>
            </a:pPr>
            <a:r>
              <a:rPr sz="2600" i="1" spc="-15" dirty="0">
                <a:latin typeface="Gill Sans"/>
                <a:cs typeface="Gill Sans"/>
              </a:rPr>
              <a:t>e</a:t>
            </a:r>
            <a:r>
              <a:rPr sz="2600" i="1" spc="-5" dirty="0">
                <a:latin typeface="Gill Sans"/>
                <a:cs typeface="Gill Sans"/>
              </a:rPr>
              <a:t> </a:t>
            </a:r>
            <a:r>
              <a:rPr sz="2600" spc="-20" dirty="0">
                <a:latin typeface="Gill Sans"/>
                <a:cs typeface="Gill Sans"/>
              </a:rPr>
              <a:t>=</a:t>
            </a:r>
            <a:r>
              <a:rPr sz="2600" spc="-5" dirty="0">
                <a:latin typeface="Gill Sans"/>
                <a:cs typeface="Gill Sans"/>
              </a:rPr>
              <a:t> </a:t>
            </a:r>
            <a:r>
              <a:rPr sz="2600" spc="-15" dirty="0">
                <a:latin typeface="Gill Sans"/>
                <a:cs typeface="Gill Sans"/>
              </a:rPr>
              <a:t>ra</a:t>
            </a:r>
            <a:r>
              <a:rPr sz="2600" dirty="0">
                <a:latin typeface="Gill Sans"/>
                <a:cs typeface="Gill Sans"/>
              </a:rPr>
              <a:t>te</a:t>
            </a:r>
            <a:r>
              <a:rPr sz="2600" spc="-5" dirty="0">
                <a:latin typeface="Gill Sans"/>
                <a:cs typeface="Gill Sans"/>
              </a:rPr>
              <a:t> </a:t>
            </a:r>
            <a:r>
              <a:rPr sz="2600" spc="-15" dirty="0">
                <a:latin typeface="Gill Sans"/>
                <a:cs typeface="Gill Sans"/>
              </a:rPr>
              <a:t>o</a:t>
            </a:r>
            <a:r>
              <a:rPr sz="2600" dirty="0">
                <a:latin typeface="Gill Sans"/>
                <a:cs typeface="Gill Sans"/>
              </a:rPr>
              <a:t>f</a:t>
            </a:r>
            <a:r>
              <a:rPr sz="2600" spc="-265" dirty="0">
                <a:latin typeface="Gill Sans"/>
                <a:cs typeface="Gill Sans"/>
              </a:rPr>
              <a:t> </a:t>
            </a:r>
            <a:r>
              <a:rPr sz="2600" spc="-15" dirty="0">
                <a:latin typeface="Gill Sans"/>
                <a:cs typeface="Gill Sans"/>
              </a:rPr>
              <a:t>“</a:t>
            </a:r>
            <a:r>
              <a:rPr sz="2600" dirty="0">
                <a:latin typeface="Gill Sans"/>
                <a:cs typeface="Gill Sans"/>
              </a:rPr>
              <a:t>extincti</a:t>
            </a:r>
            <a:r>
              <a:rPr sz="2600" spc="-15" dirty="0">
                <a:latin typeface="Gill Sans"/>
                <a:cs typeface="Gill Sans"/>
              </a:rPr>
              <a:t>on”</a:t>
            </a:r>
            <a:r>
              <a:rPr sz="2600" spc="-10" dirty="0">
                <a:latin typeface="Gill Sans"/>
                <a:cs typeface="Gill Sans"/>
              </a:rPr>
              <a:t> </a:t>
            </a:r>
            <a:r>
              <a:rPr sz="2600" spc="-5" dirty="0">
                <a:latin typeface="Gill Sans"/>
                <a:cs typeface="Gill Sans"/>
              </a:rPr>
              <a:t>(</a:t>
            </a:r>
            <a:r>
              <a:rPr sz="2600" spc="-15" dirty="0">
                <a:latin typeface="Gill Sans"/>
                <a:cs typeface="Gill Sans"/>
              </a:rPr>
              <a:t>rang</a:t>
            </a:r>
            <a:r>
              <a:rPr sz="2600" dirty="0">
                <a:latin typeface="Gill Sans"/>
                <a:cs typeface="Gill Sans"/>
              </a:rPr>
              <a:t>e</a:t>
            </a:r>
            <a:r>
              <a:rPr sz="2600" spc="-5" dirty="0">
                <a:latin typeface="Gill Sans"/>
                <a:cs typeface="Gill Sans"/>
              </a:rPr>
              <a:t> </a:t>
            </a:r>
            <a:r>
              <a:rPr sz="2600" spc="-15" dirty="0">
                <a:latin typeface="Gill Sans"/>
                <a:cs typeface="Gill Sans"/>
              </a:rPr>
              <a:t>contra</a:t>
            </a:r>
            <a:r>
              <a:rPr sz="2600" dirty="0">
                <a:latin typeface="Gill Sans"/>
                <a:cs typeface="Gill Sans"/>
              </a:rPr>
              <a:t>ct</a:t>
            </a:r>
            <a:r>
              <a:rPr sz="2600" spc="-5" dirty="0">
                <a:latin typeface="Gill Sans"/>
                <a:cs typeface="Gill Sans"/>
              </a:rPr>
              <a:t>i</a:t>
            </a:r>
            <a:r>
              <a:rPr sz="2600" spc="-15" dirty="0">
                <a:latin typeface="Gill Sans"/>
                <a:cs typeface="Gill Sans"/>
              </a:rPr>
              <a:t>o</a:t>
            </a:r>
            <a:r>
              <a:rPr sz="2600" dirty="0">
                <a:latin typeface="Gill Sans"/>
                <a:cs typeface="Gill Sans"/>
              </a:rPr>
              <a:t>n</a:t>
            </a:r>
            <a:r>
              <a:rPr sz="2600" spc="-5" dirty="0">
                <a:latin typeface="Gill Sans"/>
                <a:cs typeface="Gill Sans"/>
              </a:rPr>
              <a:t> </a:t>
            </a:r>
            <a:r>
              <a:rPr sz="2600" spc="-10" dirty="0">
                <a:latin typeface="Gill Sans"/>
                <a:cs typeface="Gill Sans"/>
              </a:rPr>
              <a:t>/ </a:t>
            </a:r>
            <a:r>
              <a:rPr sz="2600" dirty="0">
                <a:latin typeface="Gill Sans"/>
                <a:cs typeface="Gill Sans"/>
              </a:rPr>
              <a:t>l</a:t>
            </a:r>
            <a:r>
              <a:rPr sz="2600" spc="-15" dirty="0">
                <a:latin typeface="Gill Sans"/>
                <a:cs typeface="Gill Sans"/>
              </a:rPr>
              <a:t>oca</a:t>
            </a:r>
            <a:r>
              <a:rPr sz="2600" dirty="0">
                <a:latin typeface="Gill Sans"/>
                <a:cs typeface="Gill Sans"/>
              </a:rPr>
              <a:t>l</a:t>
            </a:r>
            <a:r>
              <a:rPr sz="2600" spc="-5" dirty="0">
                <a:latin typeface="Gill Sans"/>
                <a:cs typeface="Gill Sans"/>
              </a:rPr>
              <a:t> </a:t>
            </a:r>
            <a:r>
              <a:rPr sz="2600" dirty="0">
                <a:latin typeface="Gill Sans"/>
                <a:cs typeface="Gill Sans"/>
              </a:rPr>
              <a:t>exti</a:t>
            </a:r>
            <a:r>
              <a:rPr sz="2600" spc="-15" dirty="0">
                <a:latin typeface="Gill Sans"/>
                <a:cs typeface="Gill Sans"/>
              </a:rPr>
              <a:t>rpa</a:t>
            </a:r>
            <a:r>
              <a:rPr sz="2600" dirty="0">
                <a:latin typeface="Gill Sans"/>
                <a:cs typeface="Gill Sans"/>
              </a:rPr>
              <a:t>ti</a:t>
            </a:r>
            <a:r>
              <a:rPr sz="2600" spc="-15" dirty="0">
                <a:latin typeface="Gill Sans"/>
                <a:cs typeface="Gill Sans"/>
              </a:rPr>
              <a:t>o</a:t>
            </a:r>
            <a:r>
              <a:rPr sz="2600" dirty="0">
                <a:latin typeface="Gill Sans"/>
                <a:cs typeface="Gill Sans"/>
              </a:rPr>
              <a:t>n)</a:t>
            </a:r>
            <a:endParaRPr sz="2600">
              <a:latin typeface="Gill Sans"/>
              <a:cs typeface="Gill San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28600" y="6756572"/>
            <a:ext cx="6202045" cy="157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ct val="100000"/>
              </a:lnSpc>
            </a:pPr>
            <a:r>
              <a:rPr sz="2000" spc="-15" dirty="0">
                <a:latin typeface="Gill Sans"/>
                <a:cs typeface="Gill Sans"/>
              </a:rPr>
              <a:t>A</a:t>
            </a:r>
            <a:endParaRPr sz="2000">
              <a:latin typeface="Gill Sans"/>
              <a:cs typeface="Gill Sans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Times New Roman"/>
              <a:cs typeface="Times New Roman"/>
            </a:endParaRPr>
          </a:p>
          <a:p>
            <a:pPr marL="203200" marR="5060315" indent="-190500">
              <a:lnSpc>
                <a:spcPts val="2300"/>
              </a:lnSpc>
            </a:pPr>
            <a:r>
              <a:rPr sz="2000" b="1" spc="25" dirty="0">
                <a:latin typeface="Gill Sans"/>
                <a:cs typeface="Gill Sans"/>
              </a:rPr>
              <a:t>a</a:t>
            </a:r>
            <a:r>
              <a:rPr sz="2000" b="1" spc="-5" dirty="0">
                <a:latin typeface="Gill Sans"/>
                <a:cs typeface="Gill Sans"/>
              </a:rPr>
              <a:t>nce</a:t>
            </a:r>
            <a:r>
              <a:rPr sz="2000" b="1" spc="-10" dirty="0">
                <a:latin typeface="Gill Sans"/>
                <a:cs typeface="Gill Sans"/>
              </a:rPr>
              <a:t>s</a:t>
            </a:r>
            <a:r>
              <a:rPr sz="2000" b="1" spc="-5" dirty="0">
                <a:latin typeface="Gill Sans"/>
                <a:cs typeface="Gill Sans"/>
              </a:rPr>
              <a:t>to</a:t>
            </a:r>
            <a:r>
              <a:rPr sz="2000" b="1" dirty="0">
                <a:latin typeface="Gill Sans"/>
                <a:cs typeface="Gill Sans"/>
              </a:rPr>
              <a:t>r </a:t>
            </a:r>
            <a:r>
              <a:rPr sz="2000" b="1" spc="-30" dirty="0">
                <a:latin typeface="Gill Sans"/>
                <a:cs typeface="Gill Sans"/>
              </a:rPr>
              <a:t>r</a:t>
            </a:r>
            <a:r>
              <a:rPr sz="2000" b="1" spc="10" dirty="0">
                <a:latin typeface="Gill Sans"/>
                <a:cs typeface="Gill Sans"/>
              </a:rPr>
              <a:t>a</a:t>
            </a:r>
            <a:r>
              <a:rPr sz="2000" b="1" dirty="0">
                <a:latin typeface="Gill Sans"/>
                <a:cs typeface="Gill Sans"/>
              </a:rPr>
              <a:t>nge</a:t>
            </a:r>
            <a:endParaRPr sz="2000">
              <a:latin typeface="Gill Sans"/>
              <a:cs typeface="Gill San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083300" y="4546772"/>
            <a:ext cx="499109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42265" algn="l"/>
              </a:tabLst>
            </a:pPr>
            <a:r>
              <a:rPr sz="2000" spc="-15" dirty="0">
                <a:latin typeface="Gill Sans"/>
                <a:cs typeface="Gill Sans"/>
              </a:rPr>
              <a:t>A	B</a:t>
            </a:r>
            <a:endParaRPr sz="2000">
              <a:latin typeface="Gill Sans"/>
              <a:cs typeface="Gill San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321300" y="4546772"/>
            <a:ext cx="194945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15" dirty="0">
                <a:latin typeface="Gill Sans"/>
                <a:cs typeface="Gill Sans"/>
              </a:rPr>
              <a:t>A</a:t>
            </a:r>
            <a:endParaRPr sz="2000">
              <a:latin typeface="Gill Sans"/>
              <a:cs typeface="Gill San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239000" y="4546772"/>
            <a:ext cx="16891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15" dirty="0">
                <a:latin typeface="Gill Sans"/>
                <a:cs typeface="Gill Sans"/>
              </a:rPr>
              <a:t>B</a:t>
            </a:r>
            <a:endParaRPr sz="2000">
              <a:latin typeface="Gill Sans"/>
              <a:cs typeface="Gill San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778500" y="5791372"/>
            <a:ext cx="194945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15" dirty="0">
                <a:latin typeface="Gill Sans"/>
                <a:cs typeface="Gill Sans"/>
              </a:rPr>
              <a:t>A</a:t>
            </a:r>
            <a:endParaRPr sz="2000">
              <a:latin typeface="Gill Sans"/>
              <a:cs typeface="Gill San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807200" y="5791372"/>
            <a:ext cx="511809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2000" spc="-15" dirty="0">
                <a:latin typeface="Gill Sans"/>
                <a:cs typeface="Gill Sans"/>
              </a:rPr>
              <a:t>A	B</a:t>
            </a:r>
            <a:endParaRPr sz="2000">
              <a:latin typeface="Gill Sans"/>
              <a:cs typeface="Gill San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321300" y="2514772"/>
            <a:ext cx="208661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929764" algn="l"/>
              </a:tabLst>
            </a:pPr>
            <a:r>
              <a:rPr sz="2000" spc="-15" dirty="0">
                <a:latin typeface="Gill Sans"/>
                <a:cs typeface="Gill Sans"/>
              </a:rPr>
              <a:t>A	B</a:t>
            </a:r>
            <a:endParaRPr sz="2000">
              <a:latin typeface="Gill Sans"/>
              <a:cs typeface="Gill Sans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68300" y="5893528"/>
            <a:ext cx="3630929" cy="647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40" dirty="0">
                <a:latin typeface="Gill Sans"/>
                <a:cs typeface="Gill Sans"/>
              </a:rPr>
              <a:t>R</a:t>
            </a:r>
            <a:r>
              <a:rPr sz="2000" b="1" spc="-15" dirty="0">
                <a:latin typeface="Gill Sans"/>
                <a:cs typeface="Gill Sans"/>
              </a:rPr>
              <a:t>a</a:t>
            </a:r>
            <a:r>
              <a:rPr sz="2000" b="1" spc="-5" dirty="0">
                <a:latin typeface="Gill Sans"/>
                <a:cs typeface="Gill Sans"/>
              </a:rPr>
              <a:t>t</a:t>
            </a:r>
            <a:r>
              <a:rPr sz="2000" b="1" dirty="0">
                <a:latin typeface="Gill Sans"/>
                <a:cs typeface="Gill Sans"/>
              </a:rPr>
              <a:t>e</a:t>
            </a:r>
            <a:r>
              <a:rPr sz="2000" b="1" spc="-5" dirty="0">
                <a:latin typeface="Gill Sans"/>
                <a:cs typeface="Gill Sans"/>
              </a:rPr>
              <a:t> m</a:t>
            </a:r>
            <a:r>
              <a:rPr sz="2000" b="1" spc="-15" dirty="0">
                <a:latin typeface="Gill Sans"/>
                <a:cs typeface="Gill Sans"/>
              </a:rPr>
              <a:t>a</a:t>
            </a:r>
            <a:r>
              <a:rPr sz="2000" b="1" spc="-5" dirty="0">
                <a:latin typeface="Gill Sans"/>
                <a:cs typeface="Gill Sans"/>
              </a:rPr>
              <a:t>t</a:t>
            </a:r>
            <a:r>
              <a:rPr sz="2000" b="1" spc="-90" dirty="0">
                <a:latin typeface="Gill Sans"/>
                <a:cs typeface="Gill Sans"/>
              </a:rPr>
              <a:t>r</a:t>
            </a:r>
            <a:r>
              <a:rPr sz="2000" b="1" spc="-5" dirty="0">
                <a:latin typeface="Gill Sans"/>
                <a:cs typeface="Gill Sans"/>
              </a:rPr>
              <a:t>ix</a:t>
            </a:r>
            <a:r>
              <a:rPr sz="2000" b="1" spc="-10" dirty="0">
                <a:latin typeface="Gill Sans"/>
                <a:cs typeface="Gill Sans"/>
              </a:rPr>
              <a:t>:</a:t>
            </a:r>
            <a:endParaRPr sz="2000">
              <a:latin typeface="Gill Sans"/>
              <a:cs typeface="Gill Sans"/>
            </a:endParaRPr>
          </a:p>
          <a:p>
            <a:pPr marL="1346200">
              <a:lnSpc>
                <a:spcPct val="100000"/>
              </a:lnSpc>
              <a:spcBef>
                <a:spcPts val="500"/>
              </a:spcBef>
            </a:pPr>
            <a:r>
              <a:rPr sz="2000" b="1" dirty="0">
                <a:latin typeface="Gill Sans"/>
                <a:cs typeface="Gill Sans"/>
              </a:rPr>
              <a:t>de</a:t>
            </a:r>
            <a:r>
              <a:rPr sz="2000" b="1" spc="-10" dirty="0">
                <a:latin typeface="Gill Sans"/>
                <a:cs typeface="Gill Sans"/>
              </a:rPr>
              <a:t>scend</a:t>
            </a:r>
            <a:r>
              <a:rPr sz="2000" b="1" spc="10" dirty="0">
                <a:latin typeface="Gill Sans"/>
                <a:cs typeface="Gill Sans"/>
              </a:rPr>
              <a:t>a</a:t>
            </a:r>
            <a:r>
              <a:rPr sz="2000" b="1" dirty="0">
                <a:latin typeface="Gill Sans"/>
                <a:cs typeface="Gill Sans"/>
              </a:rPr>
              <a:t>nt</a:t>
            </a:r>
            <a:r>
              <a:rPr sz="2000" b="1" spc="-5" dirty="0">
                <a:latin typeface="Gill Sans"/>
                <a:cs typeface="Gill Sans"/>
              </a:rPr>
              <a:t> </a:t>
            </a:r>
            <a:r>
              <a:rPr sz="2000" b="1" spc="-30" dirty="0">
                <a:latin typeface="Gill Sans"/>
                <a:cs typeface="Gill Sans"/>
              </a:rPr>
              <a:t>r</a:t>
            </a:r>
            <a:r>
              <a:rPr sz="2000" b="1" spc="10" dirty="0">
                <a:latin typeface="Gill Sans"/>
                <a:cs typeface="Gill Sans"/>
              </a:rPr>
              <a:t>a</a:t>
            </a:r>
            <a:r>
              <a:rPr sz="2000" b="1" dirty="0">
                <a:latin typeface="Gill Sans"/>
                <a:cs typeface="Gill Sans"/>
              </a:rPr>
              <a:t>nge</a:t>
            </a:r>
            <a:endParaRPr sz="2000">
              <a:latin typeface="Gill Sans"/>
              <a:cs typeface="Gill Sans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4422707" y="6038609"/>
            <a:ext cx="1531039" cy="158351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4614980" y="6335934"/>
            <a:ext cx="964565" cy="1082675"/>
          </a:xfrm>
          <a:custGeom>
            <a:avLst/>
            <a:gdLst/>
            <a:ahLst/>
            <a:cxnLst/>
            <a:rect l="l" t="t" r="r" b="b"/>
            <a:pathLst>
              <a:path w="964564" h="1082675">
                <a:moveTo>
                  <a:pt x="964248" y="0"/>
                </a:moveTo>
                <a:lnTo>
                  <a:pt x="312789" y="155853"/>
                </a:lnTo>
                <a:lnTo>
                  <a:pt x="473571" y="293654"/>
                </a:lnTo>
                <a:lnTo>
                  <a:pt x="0" y="846199"/>
                </a:lnTo>
                <a:lnTo>
                  <a:pt x="275568" y="1082381"/>
                </a:lnTo>
                <a:lnTo>
                  <a:pt x="749139" y="529835"/>
                </a:lnTo>
                <a:lnTo>
                  <a:pt x="921134" y="529835"/>
                </a:lnTo>
                <a:lnTo>
                  <a:pt x="964248" y="0"/>
                </a:lnTo>
                <a:close/>
              </a:path>
              <a:path w="964564" h="1082675">
                <a:moveTo>
                  <a:pt x="921134" y="529835"/>
                </a:moveTo>
                <a:lnTo>
                  <a:pt x="749139" y="529835"/>
                </a:lnTo>
                <a:lnTo>
                  <a:pt x="909920" y="667635"/>
                </a:lnTo>
                <a:lnTo>
                  <a:pt x="921134" y="5298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1181100" y="1519334"/>
            <a:ext cx="2769235" cy="609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800" spc="-600" dirty="0">
                <a:latin typeface="Gill Sans"/>
                <a:cs typeface="Gill Sans"/>
              </a:rPr>
              <a:t>T</a:t>
            </a:r>
            <a:r>
              <a:rPr sz="4800" spc="-25" dirty="0">
                <a:latin typeface="Gill Sans"/>
                <a:cs typeface="Gill Sans"/>
              </a:rPr>
              <a:t>rad</a:t>
            </a:r>
            <a:r>
              <a:rPr sz="4800" spc="-5" dirty="0">
                <a:latin typeface="Gill Sans"/>
                <a:cs typeface="Gill Sans"/>
              </a:rPr>
              <a:t>i</a:t>
            </a:r>
            <a:r>
              <a:rPr sz="4800" dirty="0">
                <a:latin typeface="Gill Sans"/>
                <a:cs typeface="Gill Sans"/>
              </a:rPr>
              <a:t>t</a:t>
            </a:r>
            <a:r>
              <a:rPr sz="4800" spc="-5" dirty="0">
                <a:latin typeface="Gill Sans"/>
                <a:cs typeface="Gill Sans"/>
              </a:rPr>
              <a:t>i</a:t>
            </a:r>
            <a:r>
              <a:rPr sz="4800" spc="-25" dirty="0">
                <a:latin typeface="Gill Sans"/>
                <a:cs typeface="Gill Sans"/>
              </a:rPr>
              <a:t>ona</a:t>
            </a:r>
            <a:r>
              <a:rPr sz="4800" spc="-5" dirty="0">
                <a:latin typeface="Gill Sans"/>
                <a:cs typeface="Gill Sans"/>
              </a:rPr>
              <a:t>l</a:t>
            </a:r>
            <a:r>
              <a:rPr sz="4800" dirty="0">
                <a:latin typeface="Gill Sans"/>
                <a:cs typeface="Gill Sans"/>
              </a:rPr>
              <a:t>:</a:t>
            </a:r>
            <a:endParaRPr sz="4800">
              <a:latin typeface="Gill Sans"/>
              <a:cs typeface="Gill Sans"/>
            </a:endParaRPr>
          </a:p>
        </p:txBody>
      </p:sp>
      <p:graphicFrame>
        <p:nvGraphicFramePr>
          <p:cNvPr id="36" name="object 36"/>
          <p:cNvGraphicFramePr>
            <a:graphicFrameLocks noGrp="1"/>
          </p:cNvGraphicFramePr>
          <p:nvPr/>
        </p:nvGraphicFramePr>
        <p:xfrm>
          <a:off x="1581150" y="6610350"/>
          <a:ext cx="2517177" cy="25792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4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34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3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34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5858">
                <a:tc>
                  <a:txBody>
                    <a:bodyPr/>
                    <a:lstStyle/>
                    <a:p>
                      <a:endParaRPr sz="2600">
                        <a:latin typeface="Gill Sans"/>
                        <a:cs typeface="Gill Sans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sz="1600" b="1" i="1" dirty="0">
                          <a:latin typeface="Helvetica"/>
                          <a:cs typeface="Helvetica"/>
                        </a:rPr>
                        <a:t>null</a:t>
                      </a:r>
                      <a:endParaRPr sz="16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A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B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AB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858"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1600" b="1" i="1" dirty="0">
                          <a:latin typeface="Helvetica"/>
                          <a:cs typeface="Helvetica"/>
                        </a:rPr>
                        <a:t>null</a:t>
                      </a:r>
                      <a:endParaRPr sz="16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600" dirty="0">
                          <a:latin typeface="Helvetica Light"/>
                          <a:cs typeface="Helvetica Light"/>
                        </a:rPr>
                        <a:t>-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858">
                <a:tc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A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</a:pPr>
                      <a:r>
                        <a:rPr sz="2600" i="1" dirty="0">
                          <a:latin typeface="Helvetica Light"/>
                          <a:cs typeface="Helvetica Light"/>
                        </a:rPr>
                        <a:t>e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</a:pPr>
                      <a:r>
                        <a:rPr sz="2600" dirty="0">
                          <a:latin typeface="Helvetica Light"/>
                          <a:cs typeface="Helvetica Light"/>
                        </a:rPr>
                        <a:t>-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</a:pPr>
                      <a:r>
                        <a:rPr sz="2600" i="1" dirty="0">
                          <a:latin typeface="Helvetica Light"/>
                          <a:cs typeface="Helvetica Light"/>
                        </a:rPr>
                        <a:t>d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857">
                <a:tc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B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</a:pPr>
                      <a:r>
                        <a:rPr sz="2600" i="1" dirty="0">
                          <a:latin typeface="Helvetica Light"/>
                          <a:cs typeface="Helvetica Light"/>
                        </a:rPr>
                        <a:t>e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ct val="100000"/>
                        </a:lnSpc>
                      </a:pPr>
                      <a:r>
                        <a:rPr sz="2600" dirty="0">
                          <a:latin typeface="Helvetica Light"/>
                          <a:cs typeface="Helvetica Light"/>
                        </a:rPr>
                        <a:t>-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</a:pPr>
                      <a:r>
                        <a:rPr sz="2600" i="1" dirty="0">
                          <a:latin typeface="Helvetica Light"/>
                          <a:cs typeface="Helvetica Light"/>
                        </a:rPr>
                        <a:t>d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5858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AB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</a:pPr>
                      <a:r>
                        <a:rPr sz="2600" i="1" dirty="0">
                          <a:latin typeface="Helvetica Light"/>
                          <a:cs typeface="Helvetica Light"/>
                        </a:rPr>
                        <a:t>e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</a:pPr>
                      <a:r>
                        <a:rPr sz="2600" i="1" dirty="0">
                          <a:latin typeface="Helvetica Light"/>
                          <a:cs typeface="Helvetica Light"/>
                        </a:rPr>
                        <a:t>e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600" dirty="0">
                          <a:latin typeface="Helvetica Light"/>
                          <a:cs typeface="Helvetica Light"/>
                        </a:rPr>
                        <a:t>-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0277" y="2157380"/>
            <a:ext cx="4864384" cy="72493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91077" y="2182780"/>
            <a:ext cx="4763135" cy="7148195"/>
          </a:xfrm>
          <a:custGeom>
            <a:avLst/>
            <a:gdLst/>
            <a:ahLst/>
            <a:cxnLst/>
            <a:rect l="l" t="t" r="r" b="b"/>
            <a:pathLst>
              <a:path w="4763135" h="7148195">
                <a:moveTo>
                  <a:pt x="0" y="0"/>
                </a:moveTo>
                <a:lnTo>
                  <a:pt x="4762783" y="0"/>
                </a:lnTo>
                <a:lnTo>
                  <a:pt x="4762783" y="7147718"/>
                </a:lnTo>
                <a:lnTo>
                  <a:pt x="0" y="7147718"/>
                </a:lnTo>
                <a:lnTo>
                  <a:pt x="0" y="0"/>
                </a:lnTo>
                <a:close/>
              </a:path>
            </a:pathLst>
          </a:custGeom>
          <a:solidFill>
            <a:srgbClr val="A6AA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1077" y="2182780"/>
            <a:ext cx="4763135" cy="7148195"/>
          </a:xfrm>
          <a:custGeom>
            <a:avLst/>
            <a:gdLst/>
            <a:ahLst/>
            <a:cxnLst/>
            <a:rect l="l" t="t" r="r" b="b"/>
            <a:pathLst>
              <a:path w="4763135" h="7148195">
                <a:moveTo>
                  <a:pt x="0" y="0"/>
                </a:moveTo>
                <a:lnTo>
                  <a:pt x="4762784" y="0"/>
                </a:lnTo>
                <a:lnTo>
                  <a:pt x="4762784" y="7147718"/>
                </a:lnTo>
                <a:lnTo>
                  <a:pt x="0" y="7147718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58800" y="541434"/>
            <a:ext cx="7599045" cy="611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800" spc="-600" dirty="0">
                <a:latin typeface="Gill Sans"/>
                <a:cs typeface="Gill Sans"/>
              </a:rPr>
              <a:t>T</a:t>
            </a:r>
            <a:r>
              <a:rPr sz="4800" spc="-20" dirty="0">
                <a:latin typeface="Gill Sans"/>
                <a:cs typeface="Gill Sans"/>
              </a:rPr>
              <a:t>ra</a:t>
            </a:r>
            <a:r>
              <a:rPr sz="4800" spc="-5" dirty="0">
                <a:latin typeface="Gill Sans"/>
                <a:cs typeface="Gill Sans"/>
              </a:rPr>
              <a:t>i</a:t>
            </a:r>
            <a:r>
              <a:rPr sz="4800" dirty="0">
                <a:latin typeface="Gill Sans"/>
                <a:cs typeface="Gill Sans"/>
              </a:rPr>
              <a:t>t</a:t>
            </a:r>
            <a:r>
              <a:rPr sz="4800" spc="-5" dirty="0">
                <a:latin typeface="Gill Sans"/>
                <a:cs typeface="Gill Sans"/>
              </a:rPr>
              <a:t>-</a:t>
            </a:r>
            <a:r>
              <a:rPr sz="4800" spc="-25" dirty="0">
                <a:latin typeface="Gill Sans"/>
                <a:cs typeface="Gill Sans"/>
              </a:rPr>
              <a:t>depend</a:t>
            </a:r>
            <a:r>
              <a:rPr sz="4800" dirty="0">
                <a:latin typeface="Gill Sans"/>
                <a:cs typeface="Gill Sans"/>
              </a:rPr>
              <a:t>ent</a:t>
            </a:r>
            <a:r>
              <a:rPr sz="4800" spc="-5" dirty="0">
                <a:latin typeface="Gill Sans"/>
                <a:cs typeface="Gill Sans"/>
              </a:rPr>
              <a:t> </a:t>
            </a:r>
            <a:r>
              <a:rPr sz="4800" b="1" spc="-40" dirty="0">
                <a:latin typeface="Gill Sans"/>
                <a:cs typeface="Gill Sans"/>
              </a:rPr>
              <a:t>D</a:t>
            </a:r>
            <a:r>
              <a:rPr sz="4800" b="1" dirty="0">
                <a:latin typeface="Gill Sans"/>
                <a:cs typeface="Gill Sans"/>
              </a:rPr>
              <a:t>EC</a:t>
            </a:r>
            <a:r>
              <a:rPr sz="4800" b="1" spc="-5" dirty="0">
                <a:latin typeface="Gill Sans"/>
                <a:cs typeface="Gill Sans"/>
              </a:rPr>
              <a:t> mo</a:t>
            </a:r>
            <a:r>
              <a:rPr sz="4800" b="1" dirty="0">
                <a:latin typeface="Gill Sans"/>
                <a:cs typeface="Gill Sans"/>
              </a:rPr>
              <a:t>del</a:t>
            </a:r>
            <a:endParaRPr sz="4800">
              <a:latin typeface="Gill Sans"/>
              <a:cs typeface="Gill San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417766" y="2883534"/>
            <a:ext cx="0" cy="1550035"/>
          </a:xfrm>
          <a:custGeom>
            <a:avLst/>
            <a:gdLst/>
            <a:ahLst/>
            <a:cxnLst/>
            <a:rect l="l" t="t" r="r" b="b"/>
            <a:pathLst>
              <a:path h="1550035">
                <a:moveTo>
                  <a:pt x="0" y="0"/>
                </a:moveTo>
                <a:lnTo>
                  <a:pt x="0" y="1549816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283277" y="2883534"/>
            <a:ext cx="0" cy="1550035"/>
          </a:xfrm>
          <a:custGeom>
            <a:avLst/>
            <a:gdLst/>
            <a:ahLst/>
            <a:cxnLst/>
            <a:rect l="l" t="t" r="r" b="b"/>
            <a:pathLst>
              <a:path h="1550035">
                <a:moveTo>
                  <a:pt x="0" y="0"/>
                </a:moveTo>
                <a:lnTo>
                  <a:pt x="0" y="1549816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48000" y="4675604"/>
            <a:ext cx="528320" cy="0"/>
          </a:xfrm>
          <a:custGeom>
            <a:avLst/>
            <a:gdLst/>
            <a:ahLst/>
            <a:cxnLst/>
            <a:rect l="l" t="t" r="r" b="b"/>
            <a:pathLst>
              <a:path w="528320">
                <a:moveTo>
                  <a:pt x="0" y="0"/>
                </a:moveTo>
                <a:lnTo>
                  <a:pt x="527891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351046" y="4643854"/>
            <a:ext cx="0" cy="63500"/>
          </a:xfrm>
          <a:custGeom>
            <a:avLst/>
            <a:gdLst/>
            <a:ahLst/>
            <a:cxnLst/>
            <a:rect l="l" t="t" r="r" b="b"/>
            <a:pathLst>
              <a:path h="63500">
                <a:moveTo>
                  <a:pt x="0" y="63500"/>
                </a:moveTo>
                <a:lnTo>
                  <a:pt x="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584527" y="4675604"/>
            <a:ext cx="433705" cy="0"/>
          </a:xfrm>
          <a:custGeom>
            <a:avLst/>
            <a:gdLst/>
            <a:ahLst/>
            <a:cxnLst/>
            <a:rect l="l" t="t" r="r" b="b"/>
            <a:pathLst>
              <a:path w="433704">
                <a:moveTo>
                  <a:pt x="0" y="0"/>
                </a:moveTo>
                <a:lnTo>
                  <a:pt x="433167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342268" y="4658734"/>
            <a:ext cx="0" cy="1186815"/>
          </a:xfrm>
          <a:custGeom>
            <a:avLst/>
            <a:gdLst/>
            <a:ahLst/>
            <a:cxnLst/>
            <a:rect l="l" t="t" r="r" b="b"/>
            <a:pathLst>
              <a:path h="1186814">
                <a:moveTo>
                  <a:pt x="0" y="0"/>
                </a:moveTo>
                <a:lnTo>
                  <a:pt x="0" y="1186345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342268" y="5921280"/>
            <a:ext cx="0" cy="711835"/>
          </a:xfrm>
          <a:custGeom>
            <a:avLst/>
            <a:gdLst/>
            <a:ahLst/>
            <a:cxnLst/>
            <a:rect l="l" t="t" r="r" b="b"/>
            <a:pathLst>
              <a:path h="711834">
                <a:moveTo>
                  <a:pt x="0" y="0"/>
                </a:moveTo>
                <a:lnTo>
                  <a:pt x="0" y="71181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168356" y="6633090"/>
            <a:ext cx="325120" cy="492125"/>
          </a:xfrm>
          <a:custGeom>
            <a:avLst/>
            <a:gdLst/>
            <a:ahLst/>
            <a:cxnLst/>
            <a:rect l="l" t="t" r="r" b="b"/>
            <a:pathLst>
              <a:path w="325120" h="492125">
                <a:moveTo>
                  <a:pt x="0" y="0"/>
                </a:moveTo>
                <a:lnTo>
                  <a:pt x="325075" y="0"/>
                </a:lnTo>
                <a:lnTo>
                  <a:pt x="325075" y="491609"/>
                </a:lnTo>
                <a:lnTo>
                  <a:pt x="0" y="491609"/>
                </a:lnTo>
                <a:lnTo>
                  <a:pt x="0" y="0"/>
                </a:lnTo>
                <a:close/>
              </a:path>
            </a:pathLst>
          </a:custGeom>
          <a:solidFill>
            <a:srgbClr val="74A7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168356" y="6633090"/>
            <a:ext cx="325120" cy="492125"/>
          </a:xfrm>
          <a:custGeom>
            <a:avLst/>
            <a:gdLst/>
            <a:ahLst/>
            <a:cxnLst/>
            <a:rect l="l" t="t" r="r" b="b"/>
            <a:pathLst>
              <a:path w="325120" h="492125">
                <a:moveTo>
                  <a:pt x="0" y="0"/>
                </a:moveTo>
                <a:lnTo>
                  <a:pt x="325075" y="0"/>
                </a:lnTo>
                <a:lnTo>
                  <a:pt x="325075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017695" y="4433351"/>
            <a:ext cx="325120" cy="492125"/>
          </a:xfrm>
          <a:custGeom>
            <a:avLst/>
            <a:gdLst/>
            <a:ahLst/>
            <a:cxnLst/>
            <a:rect l="l" t="t" r="r" b="b"/>
            <a:pathLst>
              <a:path w="325120" h="492125">
                <a:moveTo>
                  <a:pt x="0" y="0"/>
                </a:moveTo>
                <a:lnTo>
                  <a:pt x="325075" y="0"/>
                </a:lnTo>
                <a:lnTo>
                  <a:pt x="325075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solidFill>
            <a:srgbClr val="74A7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017695" y="4433351"/>
            <a:ext cx="325120" cy="492125"/>
          </a:xfrm>
          <a:custGeom>
            <a:avLst/>
            <a:gdLst/>
            <a:ahLst/>
            <a:cxnLst/>
            <a:rect l="l" t="t" r="r" b="b"/>
            <a:pathLst>
              <a:path w="325120" h="492125">
                <a:moveTo>
                  <a:pt x="0" y="0"/>
                </a:moveTo>
                <a:lnTo>
                  <a:pt x="325075" y="0"/>
                </a:lnTo>
                <a:lnTo>
                  <a:pt x="325075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359321" y="4433351"/>
            <a:ext cx="288925" cy="492125"/>
          </a:xfrm>
          <a:custGeom>
            <a:avLst/>
            <a:gdLst/>
            <a:ahLst/>
            <a:cxnLst/>
            <a:rect l="l" t="t" r="r" b="b"/>
            <a:pathLst>
              <a:path w="288925" h="492125">
                <a:moveTo>
                  <a:pt x="0" y="0"/>
                </a:moveTo>
                <a:lnTo>
                  <a:pt x="288678" y="0"/>
                </a:lnTo>
                <a:lnTo>
                  <a:pt x="288678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solidFill>
            <a:srgbClr val="669C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359321" y="4433351"/>
            <a:ext cx="288925" cy="492125"/>
          </a:xfrm>
          <a:custGeom>
            <a:avLst/>
            <a:gdLst/>
            <a:ahLst/>
            <a:cxnLst/>
            <a:rect l="l" t="t" r="r" b="b"/>
            <a:pathLst>
              <a:path w="288925" h="492125">
                <a:moveTo>
                  <a:pt x="0" y="0"/>
                </a:moveTo>
                <a:lnTo>
                  <a:pt x="288678" y="0"/>
                </a:lnTo>
                <a:lnTo>
                  <a:pt x="288678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259452" y="4433351"/>
            <a:ext cx="325120" cy="492125"/>
          </a:xfrm>
          <a:custGeom>
            <a:avLst/>
            <a:gdLst/>
            <a:ahLst/>
            <a:cxnLst/>
            <a:rect l="l" t="t" r="r" b="b"/>
            <a:pathLst>
              <a:path w="325120" h="492125">
                <a:moveTo>
                  <a:pt x="0" y="0"/>
                </a:moveTo>
                <a:lnTo>
                  <a:pt x="325075" y="0"/>
                </a:lnTo>
                <a:lnTo>
                  <a:pt x="325075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solidFill>
            <a:srgbClr val="74A7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259452" y="4433351"/>
            <a:ext cx="325120" cy="492125"/>
          </a:xfrm>
          <a:custGeom>
            <a:avLst/>
            <a:gdLst/>
            <a:ahLst/>
            <a:cxnLst/>
            <a:rect l="l" t="t" r="r" b="b"/>
            <a:pathLst>
              <a:path w="325120" h="492125">
                <a:moveTo>
                  <a:pt x="0" y="0"/>
                </a:moveTo>
                <a:lnTo>
                  <a:pt x="325075" y="0"/>
                </a:lnTo>
                <a:lnTo>
                  <a:pt x="325075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175892" y="4433351"/>
            <a:ext cx="288925" cy="492125"/>
          </a:xfrm>
          <a:custGeom>
            <a:avLst/>
            <a:gdLst/>
            <a:ahLst/>
            <a:cxnLst/>
            <a:rect l="l" t="t" r="r" b="b"/>
            <a:pathLst>
              <a:path w="288925" h="492125">
                <a:moveTo>
                  <a:pt x="0" y="0"/>
                </a:moveTo>
                <a:lnTo>
                  <a:pt x="288678" y="0"/>
                </a:lnTo>
                <a:lnTo>
                  <a:pt x="288678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solidFill>
            <a:srgbClr val="669C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175892" y="4433351"/>
            <a:ext cx="288925" cy="492125"/>
          </a:xfrm>
          <a:custGeom>
            <a:avLst/>
            <a:gdLst/>
            <a:ahLst/>
            <a:cxnLst/>
            <a:rect l="l" t="t" r="r" b="b"/>
            <a:pathLst>
              <a:path w="288925" h="492125">
                <a:moveTo>
                  <a:pt x="0" y="0"/>
                </a:moveTo>
                <a:lnTo>
                  <a:pt x="288678" y="0"/>
                </a:lnTo>
                <a:lnTo>
                  <a:pt x="288678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717731" y="5674871"/>
            <a:ext cx="325120" cy="492125"/>
          </a:xfrm>
          <a:custGeom>
            <a:avLst/>
            <a:gdLst/>
            <a:ahLst/>
            <a:cxnLst/>
            <a:rect l="l" t="t" r="r" b="b"/>
            <a:pathLst>
              <a:path w="325120" h="492125">
                <a:moveTo>
                  <a:pt x="0" y="0"/>
                </a:moveTo>
                <a:lnTo>
                  <a:pt x="325075" y="0"/>
                </a:lnTo>
                <a:lnTo>
                  <a:pt x="325075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solidFill>
            <a:srgbClr val="74A7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717731" y="5674871"/>
            <a:ext cx="325120" cy="492125"/>
          </a:xfrm>
          <a:custGeom>
            <a:avLst/>
            <a:gdLst/>
            <a:ahLst/>
            <a:cxnLst/>
            <a:rect l="l" t="t" r="r" b="b"/>
            <a:pathLst>
              <a:path w="325120" h="492125">
                <a:moveTo>
                  <a:pt x="0" y="0"/>
                </a:moveTo>
                <a:lnTo>
                  <a:pt x="325075" y="0"/>
                </a:lnTo>
                <a:lnTo>
                  <a:pt x="325075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076022" y="5883180"/>
            <a:ext cx="485775" cy="0"/>
          </a:xfrm>
          <a:custGeom>
            <a:avLst/>
            <a:gdLst/>
            <a:ahLst/>
            <a:cxnLst/>
            <a:rect l="l" t="t" r="r" b="b"/>
            <a:pathLst>
              <a:path w="485775">
                <a:moveTo>
                  <a:pt x="485154" y="0"/>
                </a:moveTo>
                <a:lnTo>
                  <a:pt x="447054" y="0"/>
                </a:lnTo>
                <a:lnTo>
                  <a:pt x="0" y="0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446877" y="573077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76200" y="152400"/>
                </a:lnTo>
                <a:lnTo>
                  <a:pt x="0" y="304800"/>
                </a:lnTo>
                <a:lnTo>
                  <a:pt x="30480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742610" y="5674871"/>
            <a:ext cx="325120" cy="492125"/>
          </a:xfrm>
          <a:custGeom>
            <a:avLst/>
            <a:gdLst/>
            <a:ahLst/>
            <a:cxnLst/>
            <a:rect l="l" t="t" r="r" b="b"/>
            <a:pathLst>
              <a:path w="325120" h="492125">
                <a:moveTo>
                  <a:pt x="0" y="0"/>
                </a:moveTo>
                <a:lnTo>
                  <a:pt x="325075" y="0"/>
                </a:lnTo>
                <a:lnTo>
                  <a:pt x="325075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solidFill>
            <a:srgbClr val="74A7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742610" y="5674871"/>
            <a:ext cx="325120" cy="492125"/>
          </a:xfrm>
          <a:custGeom>
            <a:avLst/>
            <a:gdLst/>
            <a:ahLst/>
            <a:cxnLst/>
            <a:rect l="l" t="t" r="r" b="b"/>
            <a:pathLst>
              <a:path w="325120" h="492125">
                <a:moveTo>
                  <a:pt x="0" y="0"/>
                </a:moveTo>
                <a:lnTo>
                  <a:pt x="325075" y="0"/>
                </a:lnTo>
                <a:lnTo>
                  <a:pt x="325075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084236" y="5674871"/>
            <a:ext cx="288925" cy="492125"/>
          </a:xfrm>
          <a:custGeom>
            <a:avLst/>
            <a:gdLst/>
            <a:ahLst/>
            <a:cxnLst/>
            <a:rect l="l" t="t" r="r" b="b"/>
            <a:pathLst>
              <a:path w="288925" h="492125">
                <a:moveTo>
                  <a:pt x="0" y="0"/>
                </a:moveTo>
                <a:lnTo>
                  <a:pt x="288678" y="0"/>
                </a:lnTo>
                <a:lnTo>
                  <a:pt x="288678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solidFill>
            <a:srgbClr val="669C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084236" y="5674871"/>
            <a:ext cx="288925" cy="492125"/>
          </a:xfrm>
          <a:custGeom>
            <a:avLst/>
            <a:gdLst/>
            <a:ahLst/>
            <a:cxnLst/>
            <a:rect l="l" t="t" r="r" b="b"/>
            <a:pathLst>
              <a:path w="288925" h="492125">
                <a:moveTo>
                  <a:pt x="0" y="0"/>
                </a:moveTo>
                <a:lnTo>
                  <a:pt x="288678" y="0"/>
                </a:lnTo>
                <a:lnTo>
                  <a:pt x="288678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259452" y="2391926"/>
            <a:ext cx="325120" cy="492125"/>
          </a:xfrm>
          <a:custGeom>
            <a:avLst/>
            <a:gdLst/>
            <a:ahLst/>
            <a:cxnLst/>
            <a:rect l="l" t="t" r="r" b="b"/>
            <a:pathLst>
              <a:path w="325120" h="492125">
                <a:moveTo>
                  <a:pt x="0" y="0"/>
                </a:moveTo>
                <a:lnTo>
                  <a:pt x="325075" y="0"/>
                </a:lnTo>
                <a:lnTo>
                  <a:pt x="325075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solidFill>
            <a:srgbClr val="74A7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259452" y="2391926"/>
            <a:ext cx="325120" cy="492125"/>
          </a:xfrm>
          <a:custGeom>
            <a:avLst/>
            <a:gdLst/>
            <a:ahLst/>
            <a:cxnLst/>
            <a:rect l="l" t="t" r="r" b="b"/>
            <a:pathLst>
              <a:path w="325120" h="492125">
                <a:moveTo>
                  <a:pt x="0" y="0"/>
                </a:moveTo>
                <a:lnTo>
                  <a:pt x="325075" y="0"/>
                </a:lnTo>
                <a:lnTo>
                  <a:pt x="325075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175892" y="2391926"/>
            <a:ext cx="288925" cy="492125"/>
          </a:xfrm>
          <a:custGeom>
            <a:avLst/>
            <a:gdLst/>
            <a:ahLst/>
            <a:cxnLst/>
            <a:rect l="l" t="t" r="r" b="b"/>
            <a:pathLst>
              <a:path w="288925" h="492125">
                <a:moveTo>
                  <a:pt x="0" y="0"/>
                </a:moveTo>
                <a:lnTo>
                  <a:pt x="288678" y="0"/>
                </a:lnTo>
                <a:lnTo>
                  <a:pt x="288678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solidFill>
            <a:srgbClr val="669C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175892" y="2391926"/>
            <a:ext cx="288925" cy="492125"/>
          </a:xfrm>
          <a:custGeom>
            <a:avLst/>
            <a:gdLst/>
            <a:ahLst/>
            <a:cxnLst/>
            <a:rect l="l" t="t" r="r" b="b"/>
            <a:pathLst>
              <a:path w="288925" h="492125">
                <a:moveTo>
                  <a:pt x="0" y="0"/>
                </a:moveTo>
                <a:lnTo>
                  <a:pt x="288678" y="0"/>
                </a:lnTo>
                <a:lnTo>
                  <a:pt x="288678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520700" y="2457345"/>
            <a:ext cx="4251325" cy="2917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23900" marR="5080" indent="-711200">
              <a:lnSpc>
                <a:spcPts val="3800"/>
              </a:lnSpc>
            </a:pPr>
            <a:r>
              <a:rPr sz="3200" b="1" spc="-30" dirty="0">
                <a:latin typeface="Gill Sans"/>
                <a:cs typeface="Gill Sans"/>
              </a:rPr>
              <a:t>Di</a:t>
            </a:r>
            <a:r>
              <a:rPr sz="3200" b="1" spc="-20" dirty="0">
                <a:latin typeface="Gill Sans"/>
                <a:cs typeface="Gill Sans"/>
              </a:rPr>
              <a:t>spe</a:t>
            </a:r>
            <a:r>
              <a:rPr sz="3200" b="1" spc="-95" dirty="0">
                <a:latin typeface="Gill Sans"/>
                <a:cs typeface="Gill Sans"/>
              </a:rPr>
              <a:t>r</a:t>
            </a:r>
            <a:r>
              <a:rPr sz="3200" b="1" spc="-20" dirty="0">
                <a:latin typeface="Gill Sans"/>
                <a:cs typeface="Gill Sans"/>
              </a:rPr>
              <a:t>sa</a:t>
            </a:r>
            <a:r>
              <a:rPr sz="3200" b="1" dirty="0">
                <a:latin typeface="Gill Sans"/>
                <a:cs typeface="Gill Sans"/>
              </a:rPr>
              <a:t>l</a:t>
            </a:r>
            <a:r>
              <a:rPr sz="3200" b="1" spc="-5" dirty="0">
                <a:latin typeface="Gill Sans"/>
                <a:cs typeface="Gill Sans"/>
              </a:rPr>
              <a:t>-</a:t>
            </a:r>
            <a:r>
              <a:rPr sz="3200" b="1" dirty="0">
                <a:latin typeface="Gill Sans"/>
                <a:cs typeface="Gill Sans"/>
              </a:rPr>
              <a:t>E</a:t>
            </a:r>
            <a:r>
              <a:rPr sz="3200" b="1" spc="-5" dirty="0">
                <a:latin typeface="Gill Sans"/>
                <a:cs typeface="Gill Sans"/>
              </a:rPr>
              <a:t>xt</a:t>
            </a:r>
            <a:r>
              <a:rPr sz="3200" b="1" dirty="0">
                <a:latin typeface="Gill Sans"/>
                <a:cs typeface="Gill Sans"/>
              </a:rPr>
              <a:t>inc</a:t>
            </a:r>
            <a:r>
              <a:rPr sz="3200" b="1" spc="-5" dirty="0">
                <a:latin typeface="Gill Sans"/>
                <a:cs typeface="Gill Sans"/>
              </a:rPr>
              <a:t>t</a:t>
            </a:r>
            <a:r>
              <a:rPr sz="3200" b="1" dirty="0">
                <a:latin typeface="Gill Sans"/>
                <a:cs typeface="Gill Sans"/>
              </a:rPr>
              <a:t>i</a:t>
            </a:r>
            <a:r>
              <a:rPr sz="3200" b="1" spc="-5" dirty="0">
                <a:latin typeface="Gill Sans"/>
                <a:cs typeface="Gill Sans"/>
              </a:rPr>
              <a:t>o</a:t>
            </a:r>
            <a:r>
              <a:rPr sz="3200" b="1" dirty="0">
                <a:latin typeface="Gill Sans"/>
                <a:cs typeface="Gill Sans"/>
              </a:rPr>
              <a:t>n (on</a:t>
            </a:r>
            <a:r>
              <a:rPr sz="3200" b="1" spc="-5" dirty="0">
                <a:latin typeface="Gill Sans"/>
                <a:cs typeface="Gill Sans"/>
              </a:rPr>
              <a:t> b</a:t>
            </a:r>
            <a:r>
              <a:rPr sz="3200" b="1" spc="-50" dirty="0">
                <a:latin typeface="Gill Sans"/>
                <a:cs typeface="Gill Sans"/>
              </a:rPr>
              <a:t>r</a:t>
            </a:r>
            <a:r>
              <a:rPr sz="3200" b="1" spc="20" dirty="0">
                <a:latin typeface="Gill Sans"/>
                <a:cs typeface="Gill Sans"/>
              </a:rPr>
              <a:t>a</a:t>
            </a:r>
            <a:r>
              <a:rPr sz="3200" b="1" spc="-5" dirty="0">
                <a:latin typeface="Gill Sans"/>
                <a:cs typeface="Gill Sans"/>
              </a:rPr>
              <a:t>nches)</a:t>
            </a:r>
            <a:endParaRPr sz="3200">
              <a:latin typeface="Gill Sans"/>
              <a:cs typeface="Gill Sans"/>
            </a:endParaRPr>
          </a:p>
          <a:p>
            <a:pPr marL="1042669" marR="728345" indent="-459105">
              <a:lnSpc>
                <a:spcPts val="3000"/>
              </a:lnSpc>
              <a:spcBef>
                <a:spcPts val="340"/>
              </a:spcBef>
            </a:pPr>
            <a:r>
              <a:rPr sz="2600" i="1" dirty="0">
                <a:latin typeface="Gill Sans"/>
                <a:cs typeface="Gill Sans"/>
              </a:rPr>
              <a:t>d</a:t>
            </a:r>
            <a:r>
              <a:rPr sz="2600" i="1" spc="-5" dirty="0">
                <a:latin typeface="Gill Sans"/>
                <a:cs typeface="Gill Sans"/>
              </a:rPr>
              <a:t> </a:t>
            </a:r>
            <a:r>
              <a:rPr sz="2600" spc="-20" dirty="0">
                <a:latin typeface="Gill Sans"/>
                <a:cs typeface="Gill Sans"/>
              </a:rPr>
              <a:t>=</a:t>
            </a:r>
            <a:r>
              <a:rPr sz="2600" spc="-5" dirty="0">
                <a:latin typeface="Gill Sans"/>
                <a:cs typeface="Gill Sans"/>
              </a:rPr>
              <a:t> </a:t>
            </a:r>
            <a:r>
              <a:rPr sz="2600" spc="-15" dirty="0">
                <a:latin typeface="Gill Sans"/>
                <a:cs typeface="Gill Sans"/>
              </a:rPr>
              <a:t>ra</a:t>
            </a:r>
            <a:r>
              <a:rPr sz="2600" dirty="0">
                <a:latin typeface="Gill Sans"/>
                <a:cs typeface="Gill Sans"/>
              </a:rPr>
              <a:t>te</a:t>
            </a:r>
            <a:r>
              <a:rPr sz="2600" spc="-5" dirty="0">
                <a:latin typeface="Gill Sans"/>
                <a:cs typeface="Gill Sans"/>
              </a:rPr>
              <a:t> </a:t>
            </a:r>
            <a:r>
              <a:rPr sz="2600" spc="-15" dirty="0">
                <a:latin typeface="Gill Sans"/>
                <a:cs typeface="Gill Sans"/>
              </a:rPr>
              <a:t>o</a:t>
            </a:r>
            <a:r>
              <a:rPr sz="2600" dirty="0">
                <a:latin typeface="Gill Sans"/>
                <a:cs typeface="Gill Sans"/>
              </a:rPr>
              <a:t>f</a:t>
            </a:r>
            <a:r>
              <a:rPr sz="2600" spc="-265" dirty="0">
                <a:latin typeface="Gill Sans"/>
                <a:cs typeface="Gill Sans"/>
              </a:rPr>
              <a:t> </a:t>
            </a:r>
            <a:r>
              <a:rPr sz="2600" spc="-15" dirty="0">
                <a:latin typeface="Gill Sans"/>
                <a:cs typeface="Gill Sans"/>
              </a:rPr>
              <a:t>“d</a:t>
            </a:r>
            <a:r>
              <a:rPr sz="2600" dirty="0">
                <a:latin typeface="Gill Sans"/>
                <a:cs typeface="Gill Sans"/>
              </a:rPr>
              <a:t>i</a:t>
            </a:r>
            <a:r>
              <a:rPr sz="2600" spc="-15" dirty="0">
                <a:latin typeface="Gill Sans"/>
                <a:cs typeface="Gill Sans"/>
              </a:rPr>
              <a:t>spersa</a:t>
            </a:r>
            <a:r>
              <a:rPr sz="2600" dirty="0">
                <a:latin typeface="Gill Sans"/>
                <a:cs typeface="Gill Sans"/>
              </a:rPr>
              <a:t>l</a:t>
            </a:r>
            <a:r>
              <a:rPr sz="2600" spc="-15" dirty="0">
                <a:latin typeface="Gill Sans"/>
                <a:cs typeface="Gill Sans"/>
              </a:rPr>
              <a:t>”</a:t>
            </a:r>
            <a:r>
              <a:rPr sz="2600" spc="-10" dirty="0">
                <a:latin typeface="Gill Sans"/>
                <a:cs typeface="Gill Sans"/>
              </a:rPr>
              <a:t> </a:t>
            </a:r>
            <a:r>
              <a:rPr sz="2600" spc="-5" dirty="0">
                <a:latin typeface="Gill Sans"/>
                <a:cs typeface="Gill Sans"/>
              </a:rPr>
              <a:t>(</a:t>
            </a:r>
            <a:r>
              <a:rPr sz="2600" spc="-15" dirty="0">
                <a:latin typeface="Gill Sans"/>
                <a:cs typeface="Gill Sans"/>
              </a:rPr>
              <a:t>rang</a:t>
            </a:r>
            <a:r>
              <a:rPr sz="2600" dirty="0">
                <a:latin typeface="Gill Sans"/>
                <a:cs typeface="Gill Sans"/>
              </a:rPr>
              <a:t>e</a:t>
            </a:r>
            <a:r>
              <a:rPr sz="2600" spc="-5" dirty="0">
                <a:latin typeface="Gill Sans"/>
                <a:cs typeface="Gill Sans"/>
              </a:rPr>
              <a:t> </a:t>
            </a:r>
            <a:r>
              <a:rPr sz="2600" spc="-15" dirty="0">
                <a:latin typeface="Gill Sans"/>
                <a:cs typeface="Gill Sans"/>
              </a:rPr>
              <a:t>expans</a:t>
            </a:r>
            <a:r>
              <a:rPr sz="2600" dirty="0">
                <a:latin typeface="Gill Sans"/>
                <a:cs typeface="Gill Sans"/>
              </a:rPr>
              <a:t>i</a:t>
            </a:r>
            <a:r>
              <a:rPr sz="2600" spc="-15" dirty="0">
                <a:latin typeface="Gill Sans"/>
                <a:cs typeface="Gill Sans"/>
              </a:rPr>
              <a:t>o</a:t>
            </a:r>
            <a:r>
              <a:rPr sz="2600" dirty="0">
                <a:latin typeface="Gill Sans"/>
                <a:cs typeface="Gill Sans"/>
              </a:rPr>
              <a:t>n)</a:t>
            </a:r>
            <a:endParaRPr sz="2600">
              <a:latin typeface="Gill Sans"/>
              <a:cs typeface="Gill Sans"/>
            </a:endParaRPr>
          </a:p>
          <a:p>
            <a:pPr marL="1017269" marR="558800" indent="-459105" algn="just">
              <a:lnSpc>
                <a:spcPts val="3000"/>
              </a:lnSpc>
              <a:spcBef>
                <a:spcPts val="400"/>
              </a:spcBef>
            </a:pPr>
            <a:r>
              <a:rPr sz="2600" i="1" spc="-15" dirty="0">
                <a:latin typeface="Gill Sans"/>
                <a:cs typeface="Gill Sans"/>
              </a:rPr>
              <a:t>e</a:t>
            </a:r>
            <a:r>
              <a:rPr sz="2600" i="1" spc="-5" dirty="0">
                <a:latin typeface="Gill Sans"/>
                <a:cs typeface="Gill Sans"/>
              </a:rPr>
              <a:t> </a:t>
            </a:r>
            <a:r>
              <a:rPr sz="2600" spc="-20" dirty="0">
                <a:latin typeface="Gill Sans"/>
                <a:cs typeface="Gill Sans"/>
              </a:rPr>
              <a:t>=</a:t>
            </a:r>
            <a:r>
              <a:rPr sz="2600" spc="-5" dirty="0">
                <a:latin typeface="Gill Sans"/>
                <a:cs typeface="Gill Sans"/>
              </a:rPr>
              <a:t> </a:t>
            </a:r>
            <a:r>
              <a:rPr sz="2600" spc="-15" dirty="0">
                <a:latin typeface="Gill Sans"/>
                <a:cs typeface="Gill Sans"/>
              </a:rPr>
              <a:t>ra</a:t>
            </a:r>
            <a:r>
              <a:rPr sz="2600" dirty="0">
                <a:latin typeface="Gill Sans"/>
                <a:cs typeface="Gill Sans"/>
              </a:rPr>
              <a:t>te</a:t>
            </a:r>
            <a:r>
              <a:rPr sz="2600" spc="-5" dirty="0">
                <a:latin typeface="Gill Sans"/>
                <a:cs typeface="Gill Sans"/>
              </a:rPr>
              <a:t> </a:t>
            </a:r>
            <a:r>
              <a:rPr sz="2600" spc="-15" dirty="0">
                <a:latin typeface="Gill Sans"/>
                <a:cs typeface="Gill Sans"/>
              </a:rPr>
              <a:t>o</a:t>
            </a:r>
            <a:r>
              <a:rPr sz="2600" dirty="0">
                <a:latin typeface="Gill Sans"/>
                <a:cs typeface="Gill Sans"/>
              </a:rPr>
              <a:t>f</a:t>
            </a:r>
            <a:r>
              <a:rPr sz="2600" spc="-265" dirty="0">
                <a:latin typeface="Gill Sans"/>
                <a:cs typeface="Gill Sans"/>
              </a:rPr>
              <a:t> </a:t>
            </a:r>
            <a:r>
              <a:rPr sz="2600" spc="-15" dirty="0">
                <a:latin typeface="Gill Sans"/>
                <a:cs typeface="Gill Sans"/>
              </a:rPr>
              <a:t>“</a:t>
            </a:r>
            <a:r>
              <a:rPr sz="2600" dirty="0">
                <a:latin typeface="Gill Sans"/>
                <a:cs typeface="Gill Sans"/>
              </a:rPr>
              <a:t>extincti</a:t>
            </a:r>
            <a:r>
              <a:rPr sz="2600" spc="-15" dirty="0">
                <a:latin typeface="Gill Sans"/>
                <a:cs typeface="Gill Sans"/>
              </a:rPr>
              <a:t>on”</a:t>
            </a:r>
            <a:r>
              <a:rPr sz="2600" spc="-10" dirty="0">
                <a:latin typeface="Gill Sans"/>
                <a:cs typeface="Gill Sans"/>
              </a:rPr>
              <a:t> </a:t>
            </a:r>
            <a:r>
              <a:rPr sz="2600" spc="-5" dirty="0">
                <a:latin typeface="Gill Sans"/>
                <a:cs typeface="Gill Sans"/>
              </a:rPr>
              <a:t>(</a:t>
            </a:r>
            <a:r>
              <a:rPr sz="2600" spc="-15" dirty="0">
                <a:latin typeface="Gill Sans"/>
                <a:cs typeface="Gill Sans"/>
              </a:rPr>
              <a:t>rang</a:t>
            </a:r>
            <a:r>
              <a:rPr sz="2600" dirty="0">
                <a:latin typeface="Gill Sans"/>
                <a:cs typeface="Gill Sans"/>
              </a:rPr>
              <a:t>e</a:t>
            </a:r>
            <a:r>
              <a:rPr sz="2600" spc="-5" dirty="0">
                <a:latin typeface="Gill Sans"/>
                <a:cs typeface="Gill Sans"/>
              </a:rPr>
              <a:t> </a:t>
            </a:r>
            <a:r>
              <a:rPr sz="2600" spc="-15" dirty="0">
                <a:latin typeface="Gill Sans"/>
                <a:cs typeface="Gill Sans"/>
              </a:rPr>
              <a:t>contra</a:t>
            </a:r>
            <a:r>
              <a:rPr sz="2600" dirty="0">
                <a:latin typeface="Gill Sans"/>
                <a:cs typeface="Gill Sans"/>
              </a:rPr>
              <a:t>ct</a:t>
            </a:r>
            <a:r>
              <a:rPr sz="2600" spc="-5" dirty="0">
                <a:latin typeface="Gill Sans"/>
                <a:cs typeface="Gill Sans"/>
              </a:rPr>
              <a:t>i</a:t>
            </a:r>
            <a:r>
              <a:rPr sz="2600" spc="-15" dirty="0">
                <a:latin typeface="Gill Sans"/>
                <a:cs typeface="Gill Sans"/>
              </a:rPr>
              <a:t>o</a:t>
            </a:r>
            <a:r>
              <a:rPr sz="2600" dirty="0">
                <a:latin typeface="Gill Sans"/>
                <a:cs typeface="Gill Sans"/>
              </a:rPr>
              <a:t>n</a:t>
            </a:r>
            <a:r>
              <a:rPr sz="2600" spc="-5" dirty="0">
                <a:latin typeface="Gill Sans"/>
                <a:cs typeface="Gill Sans"/>
              </a:rPr>
              <a:t> </a:t>
            </a:r>
            <a:r>
              <a:rPr sz="2600" spc="-10" dirty="0">
                <a:latin typeface="Gill Sans"/>
                <a:cs typeface="Gill Sans"/>
              </a:rPr>
              <a:t>/ </a:t>
            </a:r>
            <a:r>
              <a:rPr sz="2600" dirty="0">
                <a:latin typeface="Gill Sans"/>
                <a:cs typeface="Gill Sans"/>
              </a:rPr>
              <a:t>l</a:t>
            </a:r>
            <a:r>
              <a:rPr sz="2600" spc="-15" dirty="0">
                <a:latin typeface="Gill Sans"/>
                <a:cs typeface="Gill Sans"/>
              </a:rPr>
              <a:t>oca</a:t>
            </a:r>
            <a:r>
              <a:rPr sz="2600" dirty="0">
                <a:latin typeface="Gill Sans"/>
                <a:cs typeface="Gill Sans"/>
              </a:rPr>
              <a:t>l</a:t>
            </a:r>
            <a:r>
              <a:rPr sz="2600" spc="-5" dirty="0">
                <a:latin typeface="Gill Sans"/>
                <a:cs typeface="Gill Sans"/>
              </a:rPr>
              <a:t> </a:t>
            </a:r>
            <a:r>
              <a:rPr sz="2600" dirty="0">
                <a:latin typeface="Gill Sans"/>
                <a:cs typeface="Gill Sans"/>
              </a:rPr>
              <a:t>exti</a:t>
            </a:r>
            <a:r>
              <a:rPr sz="2600" spc="-15" dirty="0">
                <a:latin typeface="Gill Sans"/>
                <a:cs typeface="Gill Sans"/>
              </a:rPr>
              <a:t>rpa</a:t>
            </a:r>
            <a:r>
              <a:rPr sz="2600" dirty="0">
                <a:latin typeface="Gill Sans"/>
                <a:cs typeface="Gill Sans"/>
              </a:rPr>
              <a:t>ti</a:t>
            </a:r>
            <a:r>
              <a:rPr sz="2600" spc="-15" dirty="0">
                <a:latin typeface="Gill Sans"/>
                <a:cs typeface="Gill Sans"/>
              </a:rPr>
              <a:t>o</a:t>
            </a:r>
            <a:r>
              <a:rPr sz="2600" dirty="0">
                <a:latin typeface="Gill Sans"/>
                <a:cs typeface="Gill Sans"/>
              </a:rPr>
              <a:t>n)</a:t>
            </a:r>
            <a:endParaRPr sz="2600">
              <a:latin typeface="Gill Sans"/>
              <a:cs typeface="Gill San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28600" y="7760428"/>
            <a:ext cx="1146810" cy="571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3200" marR="5080" indent="-190500">
              <a:lnSpc>
                <a:spcPts val="2300"/>
              </a:lnSpc>
            </a:pPr>
            <a:r>
              <a:rPr sz="2000" b="1" spc="25" dirty="0">
                <a:latin typeface="Gill Sans"/>
                <a:cs typeface="Gill Sans"/>
              </a:rPr>
              <a:t>a</a:t>
            </a:r>
            <a:r>
              <a:rPr sz="2000" b="1" spc="-5" dirty="0">
                <a:latin typeface="Gill Sans"/>
                <a:cs typeface="Gill Sans"/>
              </a:rPr>
              <a:t>nce</a:t>
            </a:r>
            <a:r>
              <a:rPr sz="2000" b="1" spc="-10" dirty="0">
                <a:latin typeface="Gill Sans"/>
                <a:cs typeface="Gill Sans"/>
              </a:rPr>
              <a:t>s</a:t>
            </a:r>
            <a:r>
              <a:rPr sz="2000" b="1" spc="-5" dirty="0">
                <a:latin typeface="Gill Sans"/>
                <a:cs typeface="Gill Sans"/>
              </a:rPr>
              <a:t>to</a:t>
            </a:r>
            <a:r>
              <a:rPr sz="2000" b="1" dirty="0">
                <a:latin typeface="Gill Sans"/>
                <a:cs typeface="Gill Sans"/>
              </a:rPr>
              <a:t>r </a:t>
            </a:r>
            <a:r>
              <a:rPr sz="2000" b="1" spc="-30" dirty="0">
                <a:latin typeface="Gill Sans"/>
                <a:cs typeface="Gill Sans"/>
              </a:rPr>
              <a:t>r</a:t>
            </a:r>
            <a:r>
              <a:rPr sz="2000" b="1" spc="10" dirty="0">
                <a:latin typeface="Gill Sans"/>
                <a:cs typeface="Gill Sans"/>
              </a:rPr>
              <a:t>a</a:t>
            </a:r>
            <a:r>
              <a:rPr sz="2000" b="1" dirty="0">
                <a:latin typeface="Gill Sans"/>
                <a:cs typeface="Gill Sans"/>
              </a:rPr>
              <a:t>nge</a:t>
            </a:r>
            <a:endParaRPr sz="2000">
              <a:latin typeface="Gill Sans"/>
              <a:cs typeface="Gill San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235700" y="6756572"/>
            <a:ext cx="194945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15" dirty="0">
                <a:latin typeface="Gill Sans"/>
                <a:cs typeface="Gill Sans"/>
              </a:rPr>
              <a:t>A</a:t>
            </a:r>
            <a:endParaRPr sz="2000">
              <a:latin typeface="Gill Sans"/>
              <a:cs typeface="Gill San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083300" y="4546772"/>
            <a:ext cx="499109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42265" algn="l"/>
              </a:tabLst>
            </a:pPr>
            <a:r>
              <a:rPr sz="2000" spc="-15" dirty="0">
                <a:latin typeface="Gill Sans"/>
                <a:cs typeface="Gill Sans"/>
              </a:rPr>
              <a:t>A	B</a:t>
            </a:r>
            <a:endParaRPr sz="2000">
              <a:latin typeface="Gill Sans"/>
              <a:cs typeface="Gill San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321300" y="4546772"/>
            <a:ext cx="194945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15" dirty="0">
                <a:latin typeface="Gill Sans"/>
                <a:cs typeface="Gill Sans"/>
              </a:rPr>
              <a:t>A</a:t>
            </a:r>
            <a:endParaRPr sz="2000">
              <a:latin typeface="Gill Sans"/>
              <a:cs typeface="Gill San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239000" y="4546772"/>
            <a:ext cx="16891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15" dirty="0">
                <a:latin typeface="Gill Sans"/>
                <a:cs typeface="Gill Sans"/>
              </a:rPr>
              <a:t>B</a:t>
            </a:r>
            <a:endParaRPr sz="2000">
              <a:latin typeface="Gill Sans"/>
              <a:cs typeface="Gill San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778500" y="5791372"/>
            <a:ext cx="194945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15" dirty="0">
                <a:latin typeface="Gill Sans"/>
                <a:cs typeface="Gill Sans"/>
              </a:rPr>
              <a:t>A</a:t>
            </a:r>
            <a:endParaRPr sz="2000">
              <a:latin typeface="Gill Sans"/>
              <a:cs typeface="Gill San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807200" y="5791372"/>
            <a:ext cx="511809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2000" spc="-15" dirty="0">
                <a:latin typeface="Gill Sans"/>
                <a:cs typeface="Gill Sans"/>
              </a:rPr>
              <a:t>A	B</a:t>
            </a:r>
            <a:endParaRPr sz="2000">
              <a:latin typeface="Gill Sans"/>
              <a:cs typeface="Gill Sans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321300" y="2514772"/>
            <a:ext cx="208661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929764" algn="l"/>
              </a:tabLst>
            </a:pPr>
            <a:r>
              <a:rPr sz="2000" spc="-15" dirty="0">
                <a:latin typeface="Gill Sans"/>
                <a:cs typeface="Gill Sans"/>
              </a:rPr>
              <a:t>A	B</a:t>
            </a:r>
            <a:endParaRPr sz="2000">
              <a:latin typeface="Gill Sans"/>
              <a:cs typeface="Gill San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68300" y="5893528"/>
            <a:ext cx="3630929" cy="647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40" dirty="0">
                <a:latin typeface="Gill Sans"/>
                <a:cs typeface="Gill Sans"/>
              </a:rPr>
              <a:t>R</a:t>
            </a:r>
            <a:r>
              <a:rPr sz="2000" b="1" spc="-15" dirty="0">
                <a:latin typeface="Gill Sans"/>
                <a:cs typeface="Gill Sans"/>
              </a:rPr>
              <a:t>a</a:t>
            </a:r>
            <a:r>
              <a:rPr sz="2000" b="1" spc="-5" dirty="0">
                <a:latin typeface="Gill Sans"/>
                <a:cs typeface="Gill Sans"/>
              </a:rPr>
              <a:t>t</a:t>
            </a:r>
            <a:r>
              <a:rPr sz="2000" b="1" dirty="0">
                <a:latin typeface="Gill Sans"/>
                <a:cs typeface="Gill Sans"/>
              </a:rPr>
              <a:t>e</a:t>
            </a:r>
            <a:r>
              <a:rPr sz="2000" b="1" spc="-5" dirty="0">
                <a:latin typeface="Gill Sans"/>
                <a:cs typeface="Gill Sans"/>
              </a:rPr>
              <a:t> m</a:t>
            </a:r>
            <a:r>
              <a:rPr sz="2000" b="1" spc="-15" dirty="0">
                <a:latin typeface="Gill Sans"/>
                <a:cs typeface="Gill Sans"/>
              </a:rPr>
              <a:t>a</a:t>
            </a:r>
            <a:r>
              <a:rPr sz="2000" b="1" spc="-5" dirty="0">
                <a:latin typeface="Gill Sans"/>
                <a:cs typeface="Gill Sans"/>
              </a:rPr>
              <a:t>t</a:t>
            </a:r>
            <a:r>
              <a:rPr sz="2000" b="1" spc="-90" dirty="0">
                <a:latin typeface="Gill Sans"/>
                <a:cs typeface="Gill Sans"/>
              </a:rPr>
              <a:t>r</a:t>
            </a:r>
            <a:r>
              <a:rPr sz="2000" b="1" spc="-5" dirty="0">
                <a:latin typeface="Gill Sans"/>
                <a:cs typeface="Gill Sans"/>
              </a:rPr>
              <a:t>ix</a:t>
            </a:r>
            <a:r>
              <a:rPr sz="2000" b="1" spc="-10" dirty="0">
                <a:latin typeface="Gill Sans"/>
                <a:cs typeface="Gill Sans"/>
              </a:rPr>
              <a:t>:</a:t>
            </a:r>
            <a:endParaRPr sz="2000">
              <a:latin typeface="Gill Sans"/>
              <a:cs typeface="Gill Sans"/>
            </a:endParaRPr>
          </a:p>
          <a:p>
            <a:pPr marL="1346200">
              <a:lnSpc>
                <a:spcPct val="100000"/>
              </a:lnSpc>
              <a:spcBef>
                <a:spcPts val="500"/>
              </a:spcBef>
            </a:pPr>
            <a:r>
              <a:rPr sz="2000" b="1" dirty="0">
                <a:latin typeface="Gill Sans"/>
                <a:cs typeface="Gill Sans"/>
              </a:rPr>
              <a:t>de</a:t>
            </a:r>
            <a:r>
              <a:rPr sz="2000" b="1" spc="-10" dirty="0">
                <a:latin typeface="Gill Sans"/>
                <a:cs typeface="Gill Sans"/>
              </a:rPr>
              <a:t>scend</a:t>
            </a:r>
            <a:r>
              <a:rPr sz="2000" b="1" spc="10" dirty="0">
                <a:latin typeface="Gill Sans"/>
                <a:cs typeface="Gill Sans"/>
              </a:rPr>
              <a:t>a</a:t>
            </a:r>
            <a:r>
              <a:rPr sz="2000" b="1" dirty="0">
                <a:latin typeface="Gill Sans"/>
                <a:cs typeface="Gill Sans"/>
              </a:rPr>
              <a:t>nt</a:t>
            </a:r>
            <a:r>
              <a:rPr sz="2000" b="1" spc="-5" dirty="0">
                <a:latin typeface="Gill Sans"/>
                <a:cs typeface="Gill Sans"/>
              </a:rPr>
              <a:t> </a:t>
            </a:r>
            <a:r>
              <a:rPr sz="2000" b="1" spc="-30" dirty="0">
                <a:latin typeface="Gill Sans"/>
                <a:cs typeface="Gill Sans"/>
              </a:rPr>
              <a:t>r</a:t>
            </a:r>
            <a:r>
              <a:rPr sz="2000" b="1" spc="10" dirty="0">
                <a:latin typeface="Gill Sans"/>
                <a:cs typeface="Gill Sans"/>
              </a:rPr>
              <a:t>a</a:t>
            </a:r>
            <a:r>
              <a:rPr sz="2000" b="1" dirty="0">
                <a:latin typeface="Gill Sans"/>
                <a:cs typeface="Gill Sans"/>
              </a:rPr>
              <a:t>nge</a:t>
            </a:r>
            <a:endParaRPr sz="2000">
              <a:latin typeface="Gill Sans"/>
              <a:cs typeface="Gill Sans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4422707" y="6038609"/>
            <a:ext cx="1531039" cy="158351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614980" y="6335934"/>
            <a:ext cx="964565" cy="1082675"/>
          </a:xfrm>
          <a:custGeom>
            <a:avLst/>
            <a:gdLst/>
            <a:ahLst/>
            <a:cxnLst/>
            <a:rect l="l" t="t" r="r" b="b"/>
            <a:pathLst>
              <a:path w="964564" h="1082675">
                <a:moveTo>
                  <a:pt x="964248" y="0"/>
                </a:moveTo>
                <a:lnTo>
                  <a:pt x="312789" y="155853"/>
                </a:lnTo>
                <a:lnTo>
                  <a:pt x="473571" y="293654"/>
                </a:lnTo>
                <a:lnTo>
                  <a:pt x="0" y="846199"/>
                </a:lnTo>
                <a:lnTo>
                  <a:pt x="275568" y="1082381"/>
                </a:lnTo>
                <a:lnTo>
                  <a:pt x="749139" y="529835"/>
                </a:lnTo>
                <a:lnTo>
                  <a:pt x="921134" y="529835"/>
                </a:lnTo>
                <a:lnTo>
                  <a:pt x="964248" y="0"/>
                </a:lnTo>
                <a:close/>
              </a:path>
              <a:path w="964564" h="1082675">
                <a:moveTo>
                  <a:pt x="921134" y="529835"/>
                </a:moveTo>
                <a:lnTo>
                  <a:pt x="749139" y="529835"/>
                </a:lnTo>
                <a:lnTo>
                  <a:pt x="909920" y="667635"/>
                </a:lnTo>
                <a:lnTo>
                  <a:pt x="921134" y="5298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1181100" y="1519334"/>
            <a:ext cx="2769235" cy="609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800" spc="-600" dirty="0">
                <a:latin typeface="Gill Sans"/>
                <a:cs typeface="Gill Sans"/>
              </a:rPr>
              <a:t>T</a:t>
            </a:r>
            <a:r>
              <a:rPr sz="4800" spc="-25" dirty="0">
                <a:latin typeface="Gill Sans"/>
                <a:cs typeface="Gill Sans"/>
              </a:rPr>
              <a:t>rad</a:t>
            </a:r>
            <a:r>
              <a:rPr sz="4800" spc="-5" dirty="0">
                <a:latin typeface="Gill Sans"/>
                <a:cs typeface="Gill Sans"/>
              </a:rPr>
              <a:t>i</a:t>
            </a:r>
            <a:r>
              <a:rPr sz="4800" dirty="0">
                <a:latin typeface="Gill Sans"/>
                <a:cs typeface="Gill Sans"/>
              </a:rPr>
              <a:t>t</a:t>
            </a:r>
            <a:r>
              <a:rPr sz="4800" spc="-5" dirty="0">
                <a:latin typeface="Gill Sans"/>
                <a:cs typeface="Gill Sans"/>
              </a:rPr>
              <a:t>i</a:t>
            </a:r>
            <a:r>
              <a:rPr sz="4800" spc="-25" dirty="0">
                <a:latin typeface="Gill Sans"/>
                <a:cs typeface="Gill Sans"/>
              </a:rPr>
              <a:t>ona</a:t>
            </a:r>
            <a:r>
              <a:rPr sz="4800" spc="-5" dirty="0">
                <a:latin typeface="Gill Sans"/>
                <a:cs typeface="Gill Sans"/>
              </a:rPr>
              <a:t>l</a:t>
            </a:r>
            <a:r>
              <a:rPr sz="4800" dirty="0">
                <a:latin typeface="Gill Sans"/>
                <a:cs typeface="Gill Sans"/>
              </a:rPr>
              <a:t>:</a:t>
            </a:r>
            <a:endParaRPr sz="4800">
              <a:latin typeface="Gill Sans"/>
              <a:cs typeface="Gill Sans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7756155" y="2157380"/>
            <a:ext cx="4864384" cy="72493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7806955" y="2182780"/>
            <a:ext cx="4763135" cy="7148195"/>
          </a:xfrm>
          <a:prstGeom prst="rect">
            <a:avLst/>
          </a:prstGeom>
          <a:solidFill>
            <a:srgbClr val="A6AAA9"/>
          </a:solidFill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95275">
              <a:lnSpc>
                <a:spcPct val="100000"/>
              </a:lnSpc>
            </a:pPr>
            <a:r>
              <a:rPr sz="2000" b="1" spc="40" dirty="0">
                <a:latin typeface="Gill Sans"/>
                <a:cs typeface="Gill Sans"/>
              </a:rPr>
              <a:t>R</a:t>
            </a:r>
            <a:r>
              <a:rPr sz="2000" b="1" spc="-15" dirty="0">
                <a:latin typeface="Gill Sans"/>
                <a:cs typeface="Gill Sans"/>
              </a:rPr>
              <a:t>a</a:t>
            </a:r>
            <a:r>
              <a:rPr sz="2000" b="1" spc="-5" dirty="0">
                <a:latin typeface="Gill Sans"/>
                <a:cs typeface="Gill Sans"/>
              </a:rPr>
              <a:t>t</a:t>
            </a:r>
            <a:r>
              <a:rPr sz="2000" b="1" dirty="0">
                <a:latin typeface="Gill Sans"/>
                <a:cs typeface="Gill Sans"/>
              </a:rPr>
              <a:t>e</a:t>
            </a:r>
            <a:r>
              <a:rPr sz="2000" b="1" spc="-5" dirty="0">
                <a:latin typeface="Gill Sans"/>
                <a:cs typeface="Gill Sans"/>
              </a:rPr>
              <a:t> m</a:t>
            </a:r>
            <a:r>
              <a:rPr sz="2000" b="1" spc="-15" dirty="0">
                <a:latin typeface="Gill Sans"/>
                <a:cs typeface="Gill Sans"/>
              </a:rPr>
              <a:t>a</a:t>
            </a:r>
            <a:r>
              <a:rPr sz="2000" b="1" spc="-5" dirty="0">
                <a:latin typeface="Gill Sans"/>
                <a:cs typeface="Gill Sans"/>
              </a:rPr>
              <a:t>t</a:t>
            </a:r>
            <a:r>
              <a:rPr sz="2000" b="1" spc="-90" dirty="0">
                <a:latin typeface="Gill Sans"/>
                <a:cs typeface="Gill Sans"/>
              </a:rPr>
              <a:t>r</a:t>
            </a:r>
            <a:r>
              <a:rPr sz="2000" b="1" spc="-5" dirty="0">
                <a:latin typeface="Gill Sans"/>
                <a:cs typeface="Gill Sans"/>
              </a:rPr>
              <a:t>ix</a:t>
            </a:r>
            <a:r>
              <a:rPr sz="2000" b="1" spc="-10" dirty="0">
                <a:latin typeface="Gill Sans"/>
                <a:cs typeface="Gill Sans"/>
              </a:rPr>
              <a:t>:</a:t>
            </a:r>
            <a:endParaRPr sz="2000">
              <a:latin typeface="Gill Sans"/>
              <a:cs typeface="Gill Sans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204200" y="1506634"/>
            <a:ext cx="4101465" cy="635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800" spc="-600" dirty="0">
                <a:latin typeface="Gill Sans"/>
                <a:cs typeface="Gill Sans"/>
              </a:rPr>
              <a:t>T</a:t>
            </a:r>
            <a:r>
              <a:rPr sz="4800" spc="-20" dirty="0">
                <a:latin typeface="Gill Sans"/>
                <a:cs typeface="Gill Sans"/>
              </a:rPr>
              <a:t>ra</a:t>
            </a:r>
            <a:r>
              <a:rPr sz="4800" spc="-5" dirty="0">
                <a:latin typeface="Gill Sans"/>
                <a:cs typeface="Gill Sans"/>
              </a:rPr>
              <a:t>i</a:t>
            </a:r>
            <a:r>
              <a:rPr sz="4800" dirty="0">
                <a:latin typeface="Gill Sans"/>
                <a:cs typeface="Gill Sans"/>
              </a:rPr>
              <a:t>t</a:t>
            </a:r>
            <a:r>
              <a:rPr sz="4800" spc="-5" dirty="0">
                <a:latin typeface="Gill Sans"/>
                <a:cs typeface="Gill Sans"/>
              </a:rPr>
              <a:t>-</a:t>
            </a:r>
            <a:r>
              <a:rPr sz="4800" spc="-25" dirty="0">
                <a:latin typeface="Gill Sans"/>
                <a:cs typeface="Gill Sans"/>
              </a:rPr>
              <a:t>depend</a:t>
            </a:r>
            <a:r>
              <a:rPr sz="4800" dirty="0">
                <a:latin typeface="Gill Sans"/>
                <a:cs typeface="Gill Sans"/>
              </a:rPr>
              <a:t>ent:</a:t>
            </a:r>
            <a:endParaRPr sz="4800">
              <a:latin typeface="Gill Sans"/>
              <a:cs typeface="Gill Sans"/>
            </a:endParaRPr>
          </a:p>
        </p:txBody>
      </p:sp>
      <p:graphicFrame>
        <p:nvGraphicFramePr>
          <p:cNvPr id="36" name="object 36"/>
          <p:cNvGraphicFramePr>
            <a:graphicFrameLocks noGrp="1"/>
          </p:cNvGraphicFramePr>
          <p:nvPr/>
        </p:nvGraphicFramePr>
        <p:xfrm>
          <a:off x="1581150" y="6610350"/>
          <a:ext cx="2517177" cy="25792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4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34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3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34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5858">
                <a:tc>
                  <a:txBody>
                    <a:bodyPr/>
                    <a:lstStyle/>
                    <a:p>
                      <a:endParaRPr sz="2600">
                        <a:latin typeface="Gill Sans"/>
                        <a:cs typeface="Gill Sans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sz="1600" b="1" i="1" dirty="0">
                          <a:latin typeface="Helvetica"/>
                          <a:cs typeface="Helvetica"/>
                        </a:rPr>
                        <a:t>null</a:t>
                      </a:r>
                      <a:endParaRPr sz="16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A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B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AB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858"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1600" b="1" i="1" dirty="0">
                          <a:latin typeface="Helvetica"/>
                          <a:cs typeface="Helvetica"/>
                        </a:rPr>
                        <a:t>null</a:t>
                      </a:r>
                      <a:endParaRPr sz="16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600" dirty="0">
                          <a:latin typeface="Helvetica Light"/>
                          <a:cs typeface="Helvetica Light"/>
                        </a:rPr>
                        <a:t>-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858">
                <a:tc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A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</a:pPr>
                      <a:r>
                        <a:rPr sz="2600" i="1" dirty="0">
                          <a:latin typeface="Helvetica Light"/>
                          <a:cs typeface="Helvetica Light"/>
                        </a:rPr>
                        <a:t>e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</a:pPr>
                      <a:r>
                        <a:rPr sz="2600" dirty="0">
                          <a:latin typeface="Helvetica Light"/>
                          <a:cs typeface="Helvetica Light"/>
                        </a:rPr>
                        <a:t>-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</a:pPr>
                      <a:r>
                        <a:rPr sz="2600" i="1" dirty="0">
                          <a:latin typeface="Helvetica Light"/>
                          <a:cs typeface="Helvetica Light"/>
                        </a:rPr>
                        <a:t>d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857">
                <a:tc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B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</a:pPr>
                      <a:r>
                        <a:rPr sz="2600" i="1" dirty="0">
                          <a:latin typeface="Helvetica Light"/>
                          <a:cs typeface="Helvetica Light"/>
                        </a:rPr>
                        <a:t>e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ct val="100000"/>
                        </a:lnSpc>
                      </a:pPr>
                      <a:r>
                        <a:rPr sz="2600" dirty="0">
                          <a:latin typeface="Helvetica Light"/>
                          <a:cs typeface="Helvetica Light"/>
                        </a:rPr>
                        <a:t>-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</a:pPr>
                      <a:r>
                        <a:rPr sz="2600" i="1" dirty="0">
                          <a:latin typeface="Helvetica Light"/>
                          <a:cs typeface="Helvetica Light"/>
                        </a:rPr>
                        <a:t>d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5858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AB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</a:pPr>
                      <a:r>
                        <a:rPr sz="2600" i="1" dirty="0">
                          <a:latin typeface="Helvetica Light"/>
                          <a:cs typeface="Helvetica Light"/>
                        </a:rPr>
                        <a:t>e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</a:pPr>
                      <a:r>
                        <a:rPr sz="2600" i="1" dirty="0">
                          <a:latin typeface="Helvetica Light"/>
                          <a:cs typeface="Helvetica Light"/>
                        </a:rPr>
                        <a:t>e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600" dirty="0">
                          <a:latin typeface="Helvetica Light"/>
                          <a:cs typeface="Helvetica Light"/>
                        </a:rPr>
                        <a:t>-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0277" y="2157380"/>
            <a:ext cx="4864384" cy="72493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91077" y="2182780"/>
            <a:ext cx="4763135" cy="7148195"/>
          </a:xfrm>
          <a:custGeom>
            <a:avLst/>
            <a:gdLst/>
            <a:ahLst/>
            <a:cxnLst/>
            <a:rect l="l" t="t" r="r" b="b"/>
            <a:pathLst>
              <a:path w="4763135" h="7148195">
                <a:moveTo>
                  <a:pt x="0" y="0"/>
                </a:moveTo>
                <a:lnTo>
                  <a:pt x="4762783" y="0"/>
                </a:lnTo>
                <a:lnTo>
                  <a:pt x="4762783" y="7147718"/>
                </a:lnTo>
                <a:lnTo>
                  <a:pt x="0" y="7147718"/>
                </a:lnTo>
                <a:lnTo>
                  <a:pt x="0" y="0"/>
                </a:lnTo>
                <a:close/>
              </a:path>
            </a:pathLst>
          </a:custGeom>
          <a:solidFill>
            <a:srgbClr val="A6AA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1077" y="2182780"/>
            <a:ext cx="4763135" cy="7148195"/>
          </a:xfrm>
          <a:custGeom>
            <a:avLst/>
            <a:gdLst/>
            <a:ahLst/>
            <a:cxnLst/>
            <a:rect l="l" t="t" r="r" b="b"/>
            <a:pathLst>
              <a:path w="4763135" h="7148195">
                <a:moveTo>
                  <a:pt x="0" y="0"/>
                </a:moveTo>
                <a:lnTo>
                  <a:pt x="4762784" y="0"/>
                </a:lnTo>
                <a:lnTo>
                  <a:pt x="4762784" y="7147718"/>
                </a:lnTo>
                <a:lnTo>
                  <a:pt x="0" y="7147718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58800" y="541434"/>
            <a:ext cx="7599045" cy="611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800" spc="-600" dirty="0">
                <a:latin typeface="Gill Sans"/>
                <a:cs typeface="Gill Sans"/>
              </a:rPr>
              <a:t>T</a:t>
            </a:r>
            <a:r>
              <a:rPr sz="4800" spc="-20" dirty="0">
                <a:latin typeface="Gill Sans"/>
                <a:cs typeface="Gill Sans"/>
              </a:rPr>
              <a:t>ra</a:t>
            </a:r>
            <a:r>
              <a:rPr sz="4800" spc="-5" dirty="0">
                <a:latin typeface="Gill Sans"/>
                <a:cs typeface="Gill Sans"/>
              </a:rPr>
              <a:t>i</a:t>
            </a:r>
            <a:r>
              <a:rPr sz="4800" dirty="0">
                <a:latin typeface="Gill Sans"/>
                <a:cs typeface="Gill Sans"/>
              </a:rPr>
              <a:t>t</a:t>
            </a:r>
            <a:r>
              <a:rPr sz="4800" spc="-5" dirty="0">
                <a:latin typeface="Gill Sans"/>
                <a:cs typeface="Gill Sans"/>
              </a:rPr>
              <a:t>-</a:t>
            </a:r>
            <a:r>
              <a:rPr sz="4800" spc="-25" dirty="0">
                <a:latin typeface="Gill Sans"/>
                <a:cs typeface="Gill Sans"/>
              </a:rPr>
              <a:t>depend</a:t>
            </a:r>
            <a:r>
              <a:rPr sz="4800" dirty="0">
                <a:latin typeface="Gill Sans"/>
                <a:cs typeface="Gill Sans"/>
              </a:rPr>
              <a:t>ent</a:t>
            </a:r>
            <a:r>
              <a:rPr sz="4800" spc="-5" dirty="0">
                <a:latin typeface="Gill Sans"/>
                <a:cs typeface="Gill Sans"/>
              </a:rPr>
              <a:t> </a:t>
            </a:r>
            <a:r>
              <a:rPr sz="4800" b="1" spc="-40" dirty="0">
                <a:latin typeface="Gill Sans"/>
                <a:cs typeface="Gill Sans"/>
              </a:rPr>
              <a:t>D</a:t>
            </a:r>
            <a:r>
              <a:rPr sz="4800" b="1" dirty="0">
                <a:latin typeface="Gill Sans"/>
                <a:cs typeface="Gill Sans"/>
              </a:rPr>
              <a:t>EC</a:t>
            </a:r>
            <a:r>
              <a:rPr sz="4800" b="1" spc="-5" dirty="0">
                <a:latin typeface="Gill Sans"/>
                <a:cs typeface="Gill Sans"/>
              </a:rPr>
              <a:t> mo</a:t>
            </a:r>
            <a:r>
              <a:rPr sz="4800" b="1" dirty="0">
                <a:latin typeface="Gill Sans"/>
                <a:cs typeface="Gill Sans"/>
              </a:rPr>
              <a:t>del</a:t>
            </a:r>
            <a:endParaRPr sz="4800">
              <a:latin typeface="Gill Sans"/>
              <a:cs typeface="Gill San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417766" y="2883534"/>
            <a:ext cx="0" cy="1550035"/>
          </a:xfrm>
          <a:custGeom>
            <a:avLst/>
            <a:gdLst/>
            <a:ahLst/>
            <a:cxnLst/>
            <a:rect l="l" t="t" r="r" b="b"/>
            <a:pathLst>
              <a:path h="1550035">
                <a:moveTo>
                  <a:pt x="0" y="0"/>
                </a:moveTo>
                <a:lnTo>
                  <a:pt x="0" y="1549816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283277" y="2883534"/>
            <a:ext cx="0" cy="1550035"/>
          </a:xfrm>
          <a:custGeom>
            <a:avLst/>
            <a:gdLst/>
            <a:ahLst/>
            <a:cxnLst/>
            <a:rect l="l" t="t" r="r" b="b"/>
            <a:pathLst>
              <a:path h="1550035">
                <a:moveTo>
                  <a:pt x="0" y="0"/>
                </a:moveTo>
                <a:lnTo>
                  <a:pt x="0" y="1549816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48000" y="4675604"/>
            <a:ext cx="528320" cy="0"/>
          </a:xfrm>
          <a:custGeom>
            <a:avLst/>
            <a:gdLst/>
            <a:ahLst/>
            <a:cxnLst/>
            <a:rect l="l" t="t" r="r" b="b"/>
            <a:pathLst>
              <a:path w="528320">
                <a:moveTo>
                  <a:pt x="0" y="0"/>
                </a:moveTo>
                <a:lnTo>
                  <a:pt x="527891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351046" y="4643854"/>
            <a:ext cx="0" cy="63500"/>
          </a:xfrm>
          <a:custGeom>
            <a:avLst/>
            <a:gdLst/>
            <a:ahLst/>
            <a:cxnLst/>
            <a:rect l="l" t="t" r="r" b="b"/>
            <a:pathLst>
              <a:path h="63500">
                <a:moveTo>
                  <a:pt x="0" y="63500"/>
                </a:moveTo>
                <a:lnTo>
                  <a:pt x="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584527" y="4675604"/>
            <a:ext cx="433705" cy="0"/>
          </a:xfrm>
          <a:custGeom>
            <a:avLst/>
            <a:gdLst/>
            <a:ahLst/>
            <a:cxnLst/>
            <a:rect l="l" t="t" r="r" b="b"/>
            <a:pathLst>
              <a:path w="433704">
                <a:moveTo>
                  <a:pt x="0" y="0"/>
                </a:moveTo>
                <a:lnTo>
                  <a:pt x="433167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342268" y="4658734"/>
            <a:ext cx="0" cy="1186815"/>
          </a:xfrm>
          <a:custGeom>
            <a:avLst/>
            <a:gdLst/>
            <a:ahLst/>
            <a:cxnLst/>
            <a:rect l="l" t="t" r="r" b="b"/>
            <a:pathLst>
              <a:path h="1186814">
                <a:moveTo>
                  <a:pt x="0" y="0"/>
                </a:moveTo>
                <a:lnTo>
                  <a:pt x="0" y="1186345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342268" y="5921280"/>
            <a:ext cx="0" cy="711835"/>
          </a:xfrm>
          <a:custGeom>
            <a:avLst/>
            <a:gdLst/>
            <a:ahLst/>
            <a:cxnLst/>
            <a:rect l="l" t="t" r="r" b="b"/>
            <a:pathLst>
              <a:path h="711834">
                <a:moveTo>
                  <a:pt x="0" y="0"/>
                </a:moveTo>
                <a:lnTo>
                  <a:pt x="0" y="71181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168356" y="6633090"/>
            <a:ext cx="325120" cy="492125"/>
          </a:xfrm>
          <a:custGeom>
            <a:avLst/>
            <a:gdLst/>
            <a:ahLst/>
            <a:cxnLst/>
            <a:rect l="l" t="t" r="r" b="b"/>
            <a:pathLst>
              <a:path w="325120" h="492125">
                <a:moveTo>
                  <a:pt x="0" y="0"/>
                </a:moveTo>
                <a:lnTo>
                  <a:pt x="325075" y="0"/>
                </a:lnTo>
                <a:lnTo>
                  <a:pt x="325075" y="491609"/>
                </a:lnTo>
                <a:lnTo>
                  <a:pt x="0" y="491609"/>
                </a:lnTo>
                <a:lnTo>
                  <a:pt x="0" y="0"/>
                </a:lnTo>
                <a:close/>
              </a:path>
            </a:pathLst>
          </a:custGeom>
          <a:solidFill>
            <a:srgbClr val="74A7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168356" y="6633090"/>
            <a:ext cx="325120" cy="492125"/>
          </a:xfrm>
          <a:custGeom>
            <a:avLst/>
            <a:gdLst/>
            <a:ahLst/>
            <a:cxnLst/>
            <a:rect l="l" t="t" r="r" b="b"/>
            <a:pathLst>
              <a:path w="325120" h="492125">
                <a:moveTo>
                  <a:pt x="0" y="0"/>
                </a:moveTo>
                <a:lnTo>
                  <a:pt x="325075" y="0"/>
                </a:lnTo>
                <a:lnTo>
                  <a:pt x="325075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017695" y="4433351"/>
            <a:ext cx="325120" cy="492125"/>
          </a:xfrm>
          <a:custGeom>
            <a:avLst/>
            <a:gdLst/>
            <a:ahLst/>
            <a:cxnLst/>
            <a:rect l="l" t="t" r="r" b="b"/>
            <a:pathLst>
              <a:path w="325120" h="492125">
                <a:moveTo>
                  <a:pt x="0" y="0"/>
                </a:moveTo>
                <a:lnTo>
                  <a:pt x="325075" y="0"/>
                </a:lnTo>
                <a:lnTo>
                  <a:pt x="325075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solidFill>
            <a:srgbClr val="74A7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017695" y="4433351"/>
            <a:ext cx="325120" cy="492125"/>
          </a:xfrm>
          <a:custGeom>
            <a:avLst/>
            <a:gdLst/>
            <a:ahLst/>
            <a:cxnLst/>
            <a:rect l="l" t="t" r="r" b="b"/>
            <a:pathLst>
              <a:path w="325120" h="492125">
                <a:moveTo>
                  <a:pt x="0" y="0"/>
                </a:moveTo>
                <a:lnTo>
                  <a:pt x="325075" y="0"/>
                </a:lnTo>
                <a:lnTo>
                  <a:pt x="325075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359321" y="4433351"/>
            <a:ext cx="288925" cy="492125"/>
          </a:xfrm>
          <a:custGeom>
            <a:avLst/>
            <a:gdLst/>
            <a:ahLst/>
            <a:cxnLst/>
            <a:rect l="l" t="t" r="r" b="b"/>
            <a:pathLst>
              <a:path w="288925" h="492125">
                <a:moveTo>
                  <a:pt x="0" y="0"/>
                </a:moveTo>
                <a:lnTo>
                  <a:pt x="288678" y="0"/>
                </a:lnTo>
                <a:lnTo>
                  <a:pt x="288678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solidFill>
            <a:srgbClr val="669C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359321" y="4433351"/>
            <a:ext cx="288925" cy="492125"/>
          </a:xfrm>
          <a:custGeom>
            <a:avLst/>
            <a:gdLst/>
            <a:ahLst/>
            <a:cxnLst/>
            <a:rect l="l" t="t" r="r" b="b"/>
            <a:pathLst>
              <a:path w="288925" h="492125">
                <a:moveTo>
                  <a:pt x="0" y="0"/>
                </a:moveTo>
                <a:lnTo>
                  <a:pt x="288678" y="0"/>
                </a:lnTo>
                <a:lnTo>
                  <a:pt x="288678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259452" y="4433351"/>
            <a:ext cx="325120" cy="492125"/>
          </a:xfrm>
          <a:custGeom>
            <a:avLst/>
            <a:gdLst/>
            <a:ahLst/>
            <a:cxnLst/>
            <a:rect l="l" t="t" r="r" b="b"/>
            <a:pathLst>
              <a:path w="325120" h="492125">
                <a:moveTo>
                  <a:pt x="0" y="0"/>
                </a:moveTo>
                <a:lnTo>
                  <a:pt x="325075" y="0"/>
                </a:lnTo>
                <a:lnTo>
                  <a:pt x="325075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solidFill>
            <a:srgbClr val="74A7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259452" y="4433351"/>
            <a:ext cx="325120" cy="492125"/>
          </a:xfrm>
          <a:custGeom>
            <a:avLst/>
            <a:gdLst/>
            <a:ahLst/>
            <a:cxnLst/>
            <a:rect l="l" t="t" r="r" b="b"/>
            <a:pathLst>
              <a:path w="325120" h="492125">
                <a:moveTo>
                  <a:pt x="0" y="0"/>
                </a:moveTo>
                <a:lnTo>
                  <a:pt x="325075" y="0"/>
                </a:lnTo>
                <a:lnTo>
                  <a:pt x="325075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175892" y="4433351"/>
            <a:ext cx="288925" cy="492125"/>
          </a:xfrm>
          <a:custGeom>
            <a:avLst/>
            <a:gdLst/>
            <a:ahLst/>
            <a:cxnLst/>
            <a:rect l="l" t="t" r="r" b="b"/>
            <a:pathLst>
              <a:path w="288925" h="492125">
                <a:moveTo>
                  <a:pt x="0" y="0"/>
                </a:moveTo>
                <a:lnTo>
                  <a:pt x="288678" y="0"/>
                </a:lnTo>
                <a:lnTo>
                  <a:pt x="288678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solidFill>
            <a:srgbClr val="669C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175892" y="4433351"/>
            <a:ext cx="288925" cy="492125"/>
          </a:xfrm>
          <a:custGeom>
            <a:avLst/>
            <a:gdLst/>
            <a:ahLst/>
            <a:cxnLst/>
            <a:rect l="l" t="t" r="r" b="b"/>
            <a:pathLst>
              <a:path w="288925" h="492125">
                <a:moveTo>
                  <a:pt x="0" y="0"/>
                </a:moveTo>
                <a:lnTo>
                  <a:pt x="288678" y="0"/>
                </a:lnTo>
                <a:lnTo>
                  <a:pt x="288678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717731" y="5674871"/>
            <a:ext cx="325120" cy="492125"/>
          </a:xfrm>
          <a:custGeom>
            <a:avLst/>
            <a:gdLst/>
            <a:ahLst/>
            <a:cxnLst/>
            <a:rect l="l" t="t" r="r" b="b"/>
            <a:pathLst>
              <a:path w="325120" h="492125">
                <a:moveTo>
                  <a:pt x="0" y="0"/>
                </a:moveTo>
                <a:lnTo>
                  <a:pt x="325075" y="0"/>
                </a:lnTo>
                <a:lnTo>
                  <a:pt x="325075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solidFill>
            <a:srgbClr val="74A7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717731" y="5674871"/>
            <a:ext cx="325120" cy="492125"/>
          </a:xfrm>
          <a:custGeom>
            <a:avLst/>
            <a:gdLst/>
            <a:ahLst/>
            <a:cxnLst/>
            <a:rect l="l" t="t" r="r" b="b"/>
            <a:pathLst>
              <a:path w="325120" h="492125">
                <a:moveTo>
                  <a:pt x="0" y="0"/>
                </a:moveTo>
                <a:lnTo>
                  <a:pt x="325075" y="0"/>
                </a:lnTo>
                <a:lnTo>
                  <a:pt x="325075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076022" y="5883180"/>
            <a:ext cx="485775" cy="0"/>
          </a:xfrm>
          <a:custGeom>
            <a:avLst/>
            <a:gdLst/>
            <a:ahLst/>
            <a:cxnLst/>
            <a:rect l="l" t="t" r="r" b="b"/>
            <a:pathLst>
              <a:path w="485775">
                <a:moveTo>
                  <a:pt x="485154" y="0"/>
                </a:moveTo>
                <a:lnTo>
                  <a:pt x="447054" y="0"/>
                </a:lnTo>
                <a:lnTo>
                  <a:pt x="0" y="0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446877" y="573077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76200" y="152400"/>
                </a:lnTo>
                <a:lnTo>
                  <a:pt x="0" y="304800"/>
                </a:lnTo>
                <a:lnTo>
                  <a:pt x="30480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742610" y="5674871"/>
            <a:ext cx="325120" cy="492125"/>
          </a:xfrm>
          <a:custGeom>
            <a:avLst/>
            <a:gdLst/>
            <a:ahLst/>
            <a:cxnLst/>
            <a:rect l="l" t="t" r="r" b="b"/>
            <a:pathLst>
              <a:path w="325120" h="492125">
                <a:moveTo>
                  <a:pt x="0" y="0"/>
                </a:moveTo>
                <a:lnTo>
                  <a:pt x="325075" y="0"/>
                </a:lnTo>
                <a:lnTo>
                  <a:pt x="325075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solidFill>
            <a:srgbClr val="74A7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742610" y="5674871"/>
            <a:ext cx="325120" cy="492125"/>
          </a:xfrm>
          <a:custGeom>
            <a:avLst/>
            <a:gdLst/>
            <a:ahLst/>
            <a:cxnLst/>
            <a:rect l="l" t="t" r="r" b="b"/>
            <a:pathLst>
              <a:path w="325120" h="492125">
                <a:moveTo>
                  <a:pt x="0" y="0"/>
                </a:moveTo>
                <a:lnTo>
                  <a:pt x="325075" y="0"/>
                </a:lnTo>
                <a:lnTo>
                  <a:pt x="325075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084236" y="5674871"/>
            <a:ext cx="288925" cy="492125"/>
          </a:xfrm>
          <a:custGeom>
            <a:avLst/>
            <a:gdLst/>
            <a:ahLst/>
            <a:cxnLst/>
            <a:rect l="l" t="t" r="r" b="b"/>
            <a:pathLst>
              <a:path w="288925" h="492125">
                <a:moveTo>
                  <a:pt x="0" y="0"/>
                </a:moveTo>
                <a:lnTo>
                  <a:pt x="288678" y="0"/>
                </a:lnTo>
                <a:lnTo>
                  <a:pt x="288678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solidFill>
            <a:srgbClr val="669C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084236" y="5674871"/>
            <a:ext cx="288925" cy="492125"/>
          </a:xfrm>
          <a:custGeom>
            <a:avLst/>
            <a:gdLst/>
            <a:ahLst/>
            <a:cxnLst/>
            <a:rect l="l" t="t" r="r" b="b"/>
            <a:pathLst>
              <a:path w="288925" h="492125">
                <a:moveTo>
                  <a:pt x="0" y="0"/>
                </a:moveTo>
                <a:lnTo>
                  <a:pt x="288678" y="0"/>
                </a:lnTo>
                <a:lnTo>
                  <a:pt x="288678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259452" y="2391926"/>
            <a:ext cx="325120" cy="492125"/>
          </a:xfrm>
          <a:custGeom>
            <a:avLst/>
            <a:gdLst/>
            <a:ahLst/>
            <a:cxnLst/>
            <a:rect l="l" t="t" r="r" b="b"/>
            <a:pathLst>
              <a:path w="325120" h="492125">
                <a:moveTo>
                  <a:pt x="0" y="0"/>
                </a:moveTo>
                <a:lnTo>
                  <a:pt x="325075" y="0"/>
                </a:lnTo>
                <a:lnTo>
                  <a:pt x="325075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solidFill>
            <a:srgbClr val="74A7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259452" y="2391926"/>
            <a:ext cx="325120" cy="492125"/>
          </a:xfrm>
          <a:custGeom>
            <a:avLst/>
            <a:gdLst/>
            <a:ahLst/>
            <a:cxnLst/>
            <a:rect l="l" t="t" r="r" b="b"/>
            <a:pathLst>
              <a:path w="325120" h="492125">
                <a:moveTo>
                  <a:pt x="0" y="0"/>
                </a:moveTo>
                <a:lnTo>
                  <a:pt x="325075" y="0"/>
                </a:lnTo>
                <a:lnTo>
                  <a:pt x="325075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175892" y="2391926"/>
            <a:ext cx="288925" cy="492125"/>
          </a:xfrm>
          <a:custGeom>
            <a:avLst/>
            <a:gdLst/>
            <a:ahLst/>
            <a:cxnLst/>
            <a:rect l="l" t="t" r="r" b="b"/>
            <a:pathLst>
              <a:path w="288925" h="492125">
                <a:moveTo>
                  <a:pt x="0" y="0"/>
                </a:moveTo>
                <a:lnTo>
                  <a:pt x="288678" y="0"/>
                </a:lnTo>
                <a:lnTo>
                  <a:pt x="288678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solidFill>
            <a:srgbClr val="669C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175892" y="2391926"/>
            <a:ext cx="288925" cy="492125"/>
          </a:xfrm>
          <a:custGeom>
            <a:avLst/>
            <a:gdLst/>
            <a:ahLst/>
            <a:cxnLst/>
            <a:rect l="l" t="t" r="r" b="b"/>
            <a:pathLst>
              <a:path w="288925" h="492125">
                <a:moveTo>
                  <a:pt x="0" y="0"/>
                </a:moveTo>
                <a:lnTo>
                  <a:pt x="288678" y="0"/>
                </a:lnTo>
                <a:lnTo>
                  <a:pt x="288678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520700" y="2457345"/>
            <a:ext cx="4251325" cy="2917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23900" marR="5080" indent="-711200">
              <a:lnSpc>
                <a:spcPts val="3800"/>
              </a:lnSpc>
            </a:pPr>
            <a:r>
              <a:rPr sz="3200" b="1" spc="-30" dirty="0">
                <a:latin typeface="Gill Sans"/>
                <a:cs typeface="Gill Sans"/>
              </a:rPr>
              <a:t>Di</a:t>
            </a:r>
            <a:r>
              <a:rPr sz="3200" b="1" spc="-20" dirty="0">
                <a:latin typeface="Gill Sans"/>
                <a:cs typeface="Gill Sans"/>
              </a:rPr>
              <a:t>spe</a:t>
            </a:r>
            <a:r>
              <a:rPr sz="3200" b="1" spc="-95" dirty="0">
                <a:latin typeface="Gill Sans"/>
                <a:cs typeface="Gill Sans"/>
              </a:rPr>
              <a:t>r</a:t>
            </a:r>
            <a:r>
              <a:rPr sz="3200" b="1" spc="-20" dirty="0">
                <a:latin typeface="Gill Sans"/>
                <a:cs typeface="Gill Sans"/>
              </a:rPr>
              <a:t>sa</a:t>
            </a:r>
            <a:r>
              <a:rPr sz="3200" b="1" dirty="0">
                <a:latin typeface="Gill Sans"/>
                <a:cs typeface="Gill Sans"/>
              </a:rPr>
              <a:t>l</a:t>
            </a:r>
            <a:r>
              <a:rPr sz="3200" b="1" spc="-5" dirty="0">
                <a:latin typeface="Gill Sans"/>
                <a:cs typeface="Gill Sans"/>
              </a:rPr>
              <a:t>-</a:t>
            </a:r>
            <a:r>
              <a:rPr sz="3200" b="1" dirty="0">
                <a:latin typeface="Gill Sans"/>
                <a:cs typeface="Gill Sans"/>
              </a:rPr>
              <a:t>E</a:t>
            </a:r>
            <a:r>
              <a:rPr sz="3200" b="1" spc="-5" dirty="0">
                <a:latin typeface="Gill Sans"/>
                <a:cs typeface="Gill Sans"/>
              </a:rPr>
              <a:t>xt</a:t>
            </a:r>
            <a:r>
              <a:rPr sz="3200" b="1" dirty="0">
                <a:latin typeface="Gill Sans"/>
                <a:cs typeface="Gill Sans"/>
              </a:rPr>
              <a:t>inc</a:t>
            </a:r>
            <a:r>
              <a:rPr sz="3200" b="1" spc="-5" dirty="0">
                <a:latin typeface="Gill Sans"/>
                <a:cs typeface="Gill Sans"/>
              </a:rPr>
              <a:t>t</a:t>
            </a:r>
            <a:r>
              <a:rPr sz="3200" b="1" dirty="0">
                <a:latin typeface="Gill Sans"/>
                <a:cs typeface="Gill Sans"/>
              </a:rPr>
              <a:t>i</a:t>
            </a:r>
            <a:r>
              <a:rPr sz="3200" b="1" spc="-5" dirty="0">
                <a:latin typeface="Gill Sans"/>
                <a:cs typeface="Gill Sans"/>
              </a:rPr>
              <a:t>o</a:t>
            </a:r>
            <a:r>
              <a:rPr sz="3200" b="1" dirty="0">
                <a:latin typeface="Gill Sans"/>
                <a:cs typeface="Gill Sans"/>
              </a:rPr>
              <a:t>n (on</a:t>
            </a:r>
            <a:r>
              <a:rPr sz="3200" b="1" spc="-5" dirty="0">
                <a:latin typeface="Gill Sans"/>
                <a:cs typeface="Gill Sans"/>
              </a:rPr>
              <a:t> b</a:t>
            </a:r>
            <a:r>
              <a:rPr sz="3200" b="1" spc="-50" dirty="0">
                <a:latin typeface="Gill Sans"/>
                <a:cs typeface="Gill Sans"/>
              </a:rPr>
              <a:t>r</a:t>
            </a:r>
            <a:r>
              <a:rPr sz="3200" b="1" spc="20" dirty="0">
                <a:latin typeface="Gill Sans"/>
                <a:cs typeface="Gill Sans"/>
              </a:rPr>
              <a:t>a</a:t>
            </a:r>
            <a:r>
              <a:rPr sz="3200" b="1" spc="-5" dirty="0">
                <a:latin typeface="Gill Sans"/>
                <a:cs typeface="Gill Sans"/>
              </a:rPr>
              <a:t>nches)</a:t>
            </a:r>
            <a:endParaRPr sz="3200">
              <a:latin typeface="Gill Sans"/>
              <a:cs typeface="Gill Sans"/>
            </a:endParaRPr>
          </a:p>
          <a:p>
            <a:pPr marL="1042669" marR="728345" indent="-459105">
              <a:lnSpc>
                <a:spcPts val="3000"/>
              </a:lnSpc>
              <a:spcBef>
                <a:spcPts val="340"/>
              </a:spcBef>
            </a:pPr>
            <a:r>
              <a:rPr sz="2600" i="1" dirty="0">
                <a:latin typeface="Gill Sans"/>
                <a:cs typeface="Gill Sans"/>
              </a:rPr>
              <a:t>d</a:t>
            </a:r>
            <a:r>
              <a:rPr sz="2600" i="1" spc="-5" dirty="0">
                <a:latin typeface="Gill Sans"/>
                <a:cs typeface="Gill Sans"/>
              </a:rPr>
              <a:t> </a:t>
            </a:r>
            <a:r>
              <a:rPr sz="2600" spc="-20" dirty="0">
                <a:latin typeface="Gill Sans"/>
                <a:cs typeface="Gill Sans"/>
              </a:rPr>
              <a:t>=</a:t>
            </a:r>
            <a:r>
              <a:rPr sz="2600" spc="-5" dirty="0">
                <a:latin typeface="Gill Sans"/>
                <a:cs typeface="Gill Sans"/>
              </a:rPr>
              <a:t> </a:t>
            </a:r>
            <a:r>
              <a:rPr sz="2600" spc="-15" dirty="0">
                <a:latin typeface="Gill Sans"/>
                <a:cs typeface="Gill Sans"/>
              </a:rPr>
              <a:t>ra</a:t>
            </a:r>
            <a:r>
              <a:rPr sz="2600" dirty="0">
                <a:latin typeface="Gill Sans"/>
                <a:cs typeface="Gill Sans"/>
              </a:rPr>
              <a:t>te</a:t>
            </a:r>
            <a:r>
              <a:rPr sz="2600" spc="-5" dirty="0">
                <a:latin typeface="Gill Sans"/>
                <a:cs typeface="Gill Sans"/>
              </a:rPr>
              <a:t> </a:t>
            </a:r>
            <a:r>
              <a:rPr sz="2600" spc="-15" dirty="0">
                <a:latin typeface="Gill Sans"/>
                <a:cs typeface="Gill Sans"/>
              </a:rPr>
              <a:t>o</a:t>
            </a:r>
            <a:r>
              <a:rPr sz="2600" dirty="0">
                <a:latin typeface="Gill Sans"/>
                <a:cs typeface="Gill Sans"/>
              </a:rPr>
              <a:t>f</a:t>
            </a:r>
            <a:r>
              <a:rPr sz="2600" spc="-265" dirty="0">
                <a:latin typeface="Gill Sans"/>
                <a:cs typeface="Gill Sans"/>
              </a:rPr>
              <a:t> </a:t>
            </a:r>
            <a:r>
              <a:rPr sz="2600" spc="-15" dirty="0">
                <a:latin typeface="Gill Sans"/>
                <a:cs typeface="Gill Sans"/>
              </a:rPr>
              <a:t>“d</a:t>
            </a:r>
            <a:r>
              <a:rPr sz="2600" dirty="0">
                <a:latin typeface="Gill Sans"/>
                <a:cs typeface="Gill Sans"/>
              </a:rPr>
              <a:t>i</a:t>
            </a:r>
            <a:r>
              <a:rPr sz="2600" spc="-15" dirty="0">
                <a:latin typeface="Gill Sans"/>
                <a:cs typeface="Gill Sans"/>
              </a:rPr>
              <a:t>spersa</a:t>
            </a:r>
            <a:r>
              <a:rPr sz="2600" dirty="0">
                <a:latin typeface="Gill Sans"/>
                <a:cs typeface="Gill Sans"/>
              </a:rPr>
              <a:t>l</a:t>
            </a:r>
            <a:r>
              <a:rPr sz="2600" spc="-15" dirty="0">
                <a:latin typeface="Gill Sans"/>
                <a:cs typeface="Gill Sans"/>
              </a:rPr>
              <a:t>”</a:t>
            </a:r>
            <a:r>
              <a:rPr sz="2600" spc="-10" dirty="0">
                <a:latin typeface="Gill Sans"/>
                <a:cs typeface="Gill Sans"/>
              </a:rPr>
              <a:t> </a:t>
            </a:r>
            <a:r>
              <a:rPr sz="2600" spc="-5" dirty="0">
                <a:latin typeface="Gill Sans"/>
                <a:cs typeface="Gill Sans"/>
              </a:rPr>
              <a:t>(</a:t>
            </a:r>
            <a:r>
              <a:rPr sz="2600" spc="-15" dirty="0">
                <a:latin typeface="Gill Sans"/>
                <a:cs typeface="Gill Sans"/>
              </a:rPr>
              <a:t>rang</a:t>
            </a:r>
            <a:r>
              <a:rPr sz="2600" dirty="0">
                <a:latin typeface="Gill Sans"/>
                <a:cs typeface="Gill Sans"/>
              </a:rPr>
              <a:t>e</a:t>
            </a:r>
            <a:r>
              <a:rPr sz="2600" spc="-5" dirty="0">
                <a:latin typeface="Gill Sans"/>
                <a:cs typeface="Gill Sans"/>
              </a:rPr>
              <a:t> </a:t>
            </a:r>
            <a:r>
              <a:rPr sz="2600" spc="-15" dirty="0">
                <a:latin typeface="Gill Sans"/>
                <a:cs typeface="Gill Sans"/>
              </a:rPr>
              <a:t>expans</a:t>
            </a:r>
            <a:r>
              <a:rPr sz="2600" dirty="0">
                <a:latin typeface="Gill Sans"/>
                <a:cs typeface="Gill Sans"/>
              </a:rPr>
              <a:t>i</a:t>
            </a:r>
            <a:r>
              <a:rPr sz="2600" spc="-15" dirty="0">
                <a:latin typeface="Gill Sans"/>
                <a:cs typeface="Gill Sans"/>
              </a:rPr>
              <a:t>o</a:t>
            </a:r>
            <a:r>
              <a:rPr sz="2600" dirty="0">
                <a:latin typeface="Gill Sans"/>
                <a:cs typeface="Gill Sans"/>
              </a:rPr>
              <a:t>n)</a:t>
            </a:r>
            <a:endParaRPr sz="2600">
              <a:latin typeface="Gill Sans"/>
              <a:cs typeface="Gill Sans"/>
            </a:endParaRPr>
          </a:p>
          <a:p>
            <a:pPr marL="1017269" marR="558800" indent="-459105" algn="just">
              <a:lnSpc>
                <a:spcPts val="3000"/>
              </a:lnSpc>
              <a:spcBef>
                <a:spcPts val="400"/>
              </a:spcBef>
            </a:pPr>
            <a:r>
              <a:rPr sz="2600" i="1" spc="-15" dirty="0">
                <a:latin typeface="Gill Sans"/>
                <a:cs typeface="Gill Sans"/>
              </a:rPr>
              <a:t>e</a:t>
            </a:r>
            <a:r>
              <a:rPr sz="2600" i="1" spc="-5" dirty="0">
                <a:latin typeface="Gill Sans"/>
                <a:cs typeface="Gill Sans"/>
              </a:rPr>
              <a:t> </a:t>
            </a:r>
            <a:r>
              <a:rPr sz="2600" spc="-20" dirty="0">
                <a:latin typeface="Gill Sans"/>
                <a:cs typeface="Gill Sans"/>
              </a:rPr>
              <a:t>=</a:t>
            </a:r>
            <a:r>
              <a:rPr sz="2600" spc="-5" dirty="0">
                <a:latin typeface="Gill Sans"/>
                <a:cs typeface="Gill Sans"/>
              </a:rPr>
              <a:t> </a:t>
            </a:r>
            <a:r>
              <a:rPr sz="2600" spc="-15" dirty="0">
                <a:latin typeface="Gill Sans"/>
                <a:cs typeface="Gill Sans"/>
              </a:rPr>
              <a:t>ra</a:t>
            </a:r>
            <a:r>
              <a:rPr sz="2600" dirty="0">
                <a:latin typeface="Gill Sans"/>
                <a:cs typeface="Gill Sans"/>
              </a:rPr>
              <a:t>te</a:t>
            </a:r>
            <a:r>
              <a:rPr sz="2600" spc="-5" dirty="0">
                <a:latin typeface="Gill Sans"/>
                <a:cs typeface="Gill Sans"/>
              </a:rPr>
              <a:t> </a:t>
            </a:r>
            <a:r>
              <a:rPr sz="2600" spc="-15" dirty="0">
                <a:latin typeface="Gill Sans"/>
                <a:cs typeface="Gill Sans"/>
              </a:rPr>
              <a:t>o</a:t>
            </a:r>
            <a:r>
              <a:rPr sz="2600" dirty="0">
                <a:latin typeface="Gill Sans"/>
                <a:cs typeface="Gill Sans"/>
              </a:rPr>
              <a:t>f</a:t>
            </a:r>
            <a:r>
              <a:rPr sz="2600" spc="-265" dirty="0">
                <a:latin typeface="Gill Sans"/>
                <a:cs typeface="Gill Sans"/>
              </a:rPr>
              <a:t> </a:t>
            </a:r>
            <a:r>
              <a:rPr sz="2600" spc="-15" dirty="0">
                <a:latin typeface="Gill Sans"/>
                <a:cs typeface="Gill Sans"/>
              </a:rPr>
              <a:t>“</a:t>
            </a:r>
            <a:r>
              <a:rPr sz="2600" dirty="0">
                <a:latin typeface="Gill Sans"/>
                <a:cs typeface="Gill Sans"/>
              </a:rPr>
              <a:t>extincti</a:t>
            </a:r>
            <a:r>
              <a:rPr sz="2600" spc="-15" dirty="0">
                <a:latin typeface="Gill Sans"/>
                <a:cs typeface="Gill Sans"/>
              </a:rPr>
              <a:t>on”</a:t>
            </a:r>
            <a:r>
              <a:rPr sz="2600" spc="-10" dirty="0">
                <a:latin typeface="Gill Sans"/>
                <a:cs typeface="Gill Sans"/>
              </a:rPr>
              <a:t> </a:t>
            </a:r>
            <a:r>
              <a:rPr sz="2600" spc="-5" dirty="0">
                <a:latin typeface="Gill Sans"/>
                <a:cs typeface="Gill Sans"/>
              </a:rPr>
              <a:t>(</a:t>
            </a:r>
            <a:r>
              <a:rPr sz="2600" spc="-15" dirty="0">
                <a:latin typeface="Gill Sans"/>
                <a:cs typeface="Gill Sans"/>
              </a:rPr>
              <a:t>rang</a:t>
            </a:r>
            <a:r>
              <a:rPr sz="2600" dirty="0">
                <a:latin typeface="Gill Sans"/>
                <a:cs typeface="Gill Sans"/>
              </a:rPr>
              <a:t>e</a:t>
            </a:r>
            <a:r>
              <a:rPr sz="2600" spc="-5" dirty="0">
                <a:latin typeface="Gill Sans"/>
                <a:cs typeface="Gill Sans"/>
              </a:rPr>
              <a:t> </a:t>
            </a:r>
            <a:r>
              <a:rPr sz="2600" spc="-15" dirty="0">
                <a:latin typeface="Gill Sans"/>
                <a:cs typeface="Gill Sans"/>
              </a:rPr>
              <a:t>contra</a:t>
            </a:r>
            <a:r>
              <a:rPr sz="2600" dirty="0">
                <a:latin typeface="Gill Sans"/>
                <a:cs typeface="Gill Sans"/>
              </a:rPr>
              <a:t>ct</a:t>
            </a:r>
            <a:r>
              <a:rPr sz="2600" spc="-5" dirty="0">
                <a:latin typeface="Gill Sans"/>
                <a:cs typeface="Gill Sans"/>
              </a:rPr>
              <a:t>i</a:t>
            </a:r>
            <a:r>
              <a:rPr sz="2600" spc="-15" dirty="0">
                <a:latin typeface="Gill Sans"/>
                <a:cs typeface="Gill Sans"/>
              </a:rPr>
              <a:t>o</a:t>
            </a:r>
            <a:r>
              <a:rPr sz="2600" dirty="0">
                <a:latin typeface="Gill Sans"/>
                <a:cs typeface="Gill Sans"/>
              </a:rPr>
              <a:t>n</a:t>
            </a:r>
            <a:r>
              <a:rPr sz="2600" spc="-5" dirty="0">
                <a:latin typeface="Gill Sans"/>
                <a:cs typeface="Gill Sans"/>
              </a:rPr>
              <a:t> </a:t>
            </a:r>
            <a:r>
              <a:rPr sz="2600" spc="-10" dirty="0">
                <a:latin typeface="Gill Sans"/>
                <a:cs typeface="Gill Sans"/>
              </a:rPr>
              <a:t>/ </a:t>
            </a:r>
            <a:r>
              <a:rPr sz="2600" dirty="0">
                <a:latin typeface="Gill Sans"/>
                <a:cs typeface="Gill Sans"/>
              </a:rPr>
              <a:t>l</a:t>
            </a:r>
            <a:r>
              <a:rPr sz="2600" spc="-15" dirty="0">
                <a:latin typeface="Gill Sans"/>
                <a:cs typeface="Gill Sans"/>
              </a:rPr>
              <a:t>oca</a:t>
            </a:r>
            <a:r>
              <a:rPr sz="2600" dirty="0">
                <a:latin typeface="Gill Sans"/>
                <a:cs typeface="Gill Sans"/>
              </a:rPr>
              <a:t>l</a:t>
            </a:r>
            <a:r>
              <a:rPr sz="2600" spc="-5" dirty="0">
                <a:latin typeface="Gill Sans"/>
                <a:cs typeface="Gill Sans"/>
              </a:rPr>
              <a:t> </a:t>
            </a:r>
            <a:r>
              <a:rPr sz="2600" dirty="0">
                <a:latin typeface="Gill Sans"/>
                <a:cs typeface="Gill Sans"/>
              </a:rPr>
              <a:t>exti</a:t>
            </a:r>
            <a:r>
              <a:rPr sz="2600" spc="-15" dirty="0">
                <a:latin typeface="Gill Sans"/>
                <a:cs typeface="Gill Sans"/>
              </a:rPr>
              <a:t>rpa</a:t>
            </a:r>
            <a:r>
              <a:rPr sz="2600" dirty="0">
                <a:latin typeface="Gill Sans"/>
                <a:cs typeface="Gill Sans"/>
              </a:rPr>
              <a:t>ti</a:t>
            </a:r>
            <a:r>
              <a:rPr sz="2600" spc="-15" dirty="0">
                <a:latin typeface="Gill Sans"/>
                <a:cs typeface="Gill Sans"/>
              </a:rPr>
              <a:t>o</a:t>
            </a:r>
            <a:r>
              <a:rPr sz="2600" dirty="0">
                <a:latin typeface="Gill Sans"/>
                <a:cs typeface="Gill Sans"/>
              </a:rPr>
              <a:t>n)</a:t>
            </a:r>
            <a:endParaRPr sz="2600">
              <a:latin typeface="Gill Sans"/>
              <a:cs typeface="Gill San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28600" y="6756572"/>
            <a:ext cx="6202045" cy="157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ct val="100000"/>
              </a:lnSpc>
            </a:pPr>
            <a:r>
              <a:rPr sz="2000" spc="-15" dirty="0">
                <a:latin typeface="Gill Sans"/>
                <a:cs typeface="Gill Sans"/>
              </a:rPr>
              <a:t>A</a:t>
            </a:r>
            <a:endParaRPr sz="2000">
              <a:latin typeface="Gill Sans"/>
              <a:cs typeface="Gill Sans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Times New Roman"/>
              <a:cs typeface="Times New Roman"/>
            </a:endParaRPr>
          </a:p>
          <a:p>
            <a:pPr marL="203200" marR="5060315" indent="-190500">
              <a:lnSpc>
                <a:spcPts val="2300"/>
              </a:lnSpc>
            </a:pPr>
            <a:r>
              <a:rPr sz="2000" b="1" spc="25" dirty="0">
                <a:latin typeface="Gill Sans"/>
                <a:cs typeface="Gill Sans"/>
              </a:rPr>
              <a:t>a</a:t>
            </a:r>
            <a:r>
              <a:rPr sz="2000" b="1" spc="-5" dirty="0">
                <a:latin typeface="Gill Sans"/>
                <a:cs typeface="Gill Sans"/>
              </a:rPr>
              <a:t>nce</a:t>
            </a:r>
            <a:r>
              <a:rPr sz="2000" b="1" spc="-10" dirty="0">
                <a:latin typeface="Gill Sans"/>
                <a:cs typeface="Gill Sans"/>
              </a:rPr>
              <a:t>s</a:t>
            </a:r>
            <a:r>
              <a:rPr sz="2000" b="1" spc="-5" dirty="0">
                <a:latin typeface="Gill Sans"/>
                <a:cs typeface="Gill Sans"/>
              </a:rPr>
              <a:t>to</a:t>
            </a:r>
            <a:r>
              <a:rPr sz="2000" b="1" dirty="0">
                <a:latin typeface="Gill Sans"/>
                <a:cs typeface="Gill Sans"/>
              </a:rPr>
              <a:t>r </a:t>
            </a:r>
            <a:r>
              <a:rPr sz="2000" b="1" spc="-30" dirty="0">
                <a:latin typeface="Gill Sans"/>
                <a:cs typeface="Gill Sans"/>
              </a:rPr>
              <a:t>r</a:t>
            </a:r>
            <a:r>
              <a:rPr sz="2000" b="1" spc="10" dirty="0">
                <a:latin typeface="Gill Sans"/>
                <a:cs typeface="Gill Sans"/>
              </a:rPr>
              <a:t>a</a:t>
            </a:r>
            <a:r>
              <a:rPr sz="2000" b="1" dirty="0">
                <a:latin typeface="Gill Sans"/>
                <a:cs typeface="Gill Sans"/>
              </a:rPr>
              <a:t>nge</a:t>
            </a:r>
            <a:endParaRPr sz="2000">
              <a:latin typeface="Gill Sans"/>
              <a:cs typeface="Gill San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083300" y="4546772"/>
            <a:ext cx="499109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42265" algn="l"/>
              </a:tabLst>
            </a:pPr>
            <a:r>
              <a:rPr sz="2000" spc="-15" dirty="0">
                <a:latin typeface="Gill Sans"/>
                <a:cs typeface="Gill Sans"/>
              </a:rPr>
              <a:t>A	B</a:t>
            </a:r>
            <a:endParaRPr sz="2000">
              <a:latin typeface="Gill Sans"/>
              <a:cs typeface="Gill San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321300" y="4546772"/>
            <a:ext cx="194945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15" dirty="0">
                <a:latin typeface="Gill Sans"/>
                <a:cs typeface="Gill Sans"/>
              </a:rPr>
              <a:t>A</a:t>
            </a:r>
            <a:endParaRPr sz="2000">
              <a:latin typeface="Gill Sans"/>
              <a:cs typeface="Gill San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239000" y="4546772"/>
            <a:ext cx="16891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15" dirty="0">
                <a:latin typeface="Gill Sans"/>
                <a:cs typeface="Gill Sans"/>
              </a:rPr>
              <a:t>B</a:t>
            </a:r>
            <a:endParaRPr sz="2000">
              <a:latin typeface="Gill Sans"/>
              <a:cs typeface="Gill San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778500" y="5791372"/>
            <a:ext cx="194945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15" dirty="0">
                <a:latin typeface="Gill Sans"/>
                <a:cs typeface="Gill Sans"/>
              </a:rPr>
              <a:t>A</a:t>
            </a:r>
            <a:endParaRPr sz="2000">
              <a:latin typeface="Gill Sans"/>
              <a:cs typeface="Gill San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807200" y="5791372"/>
            <a:ext cx="511809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2000" spc="-15" dirty="0">
                <a:latin typeface="Gill Sans"/>
                <a:cs typeface="Gill Sans"/>
              </a:rPr>
              <a:t>A	B</a:t>
            </a:r>
            <a:endParaRPr sz="2000">
              <a:latin typeface="Gill Sans"/>
              <a:cs typeface="Gill San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321300" y="2514772"/>
            <a:ext cx="208661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929764" algn="l"/>
              </a:tabLst>
            </a:pPr>
            <a:r>
              <a:rPr sz="2000" spc="-15" dirty="0">
                <a:latin typeface="Gill Sans"/>
                <a:cs typeface="Gill Sans"/>
              </a:rPr>
              <a:t>A	B</a:t>
            </a:r>
            <a:endParaRPr sz="2000">
              <a:latin typeface="Gill Sans"/>
              <a:cs typeface="Gill Sans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68300" y="5893528"/>
            <a:ext cx="3630929" cy="647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40" dirty="0">
                <a:latin typeface="Gill Sans"/>
                <a:cs typeface="Gill Sans"/>
              </a:rPr>
              <a:t>R</a:t>
            </a:r>
            <a:r>
              <a:rPr sz="2000" b="1" spc="-15" dirty="0">
                <a:latin typeface="Gill Sans"/>
                <a:cs typeface="Gill Sans"/>
              </a:rPr>
              <a:t>a</a:t>
            </a:r>
            <a:r>
              <a:rPr sz="2000" b="1" spc="-5" dirty="0">
                <a:latin typeface="Gill Sans"/>
                <a:cs typeface="Gill Sans"/>
              </a:rPr>
              <a:t>t</a:t>
            </a:r>
            <a:r>
              <a:rPr sz="2000" b="1" dirty="0">
                <a:latin typeface="Gill Sans"/>
                <a:cs typeface="Gill Sans"/>
              </a:rPr>
              <a:t>e</a:t>
            </a:r>
            <a:r>
              <a:rPr sz="2000" b="1" spc="-5" dirty="0">
                <a:latin typeface="Gill Sans"/>
                <a:cs typeface="Gill Sans"/>
              </a:rPr>
              <a:t> m</a:t>
            </a:r>
            <a:r>
              <a:rPr sz="2000" b="1" spc="-15" dirty="0">
                <a:latin typeface="Gill Sans"/>
                <a:cs typeface="Gill Sans"/>
              </a:rPr>
              <a:t>a</a:t>
            </a:r>
            <a:r>
              <a:rPr sz="2000" b="1" spc="-5" dirty="0">
                <a:latin typeface="Gill Sans"/>
                <a:cs typeface="Gill Sans"/>
              </a:rPr>
              <a:t>t</a:t>
            </a:r>
            <a:r>
              <a:rPr sz="2000" b="1" spc="-90" dirty="0">
                <a:latin typeface="Gill Sans"/>
                <a:cs typeface="Gill Sans"/>
              </a:rPr>
              <a:t>r</a:t>
            </a:r>
            <a:r>
              <a:rPr sz="2000" b="1" spc="-5" dirty="0">
                <a:latin typeface="Gill Sans"/>
                <a:cs typeface="Gill Sans"/>
              </a:rPr>
              <a:t>ix</a:t>
            </a:r>
            <a:r>
              <a:rPr sz="2000" b="1" spc="-10" dirty="0">
                <a:latin typeface="Gill Sans"/>
                <a:cs typeface="Gill Sans"/>
              </a:rPr>
              <a:t>:</a:t>
            </a:r>
            <a:endParaRPr sz="2000">
              <a:latin typeface="Gill Sans"/>
              <a:cs typeface="Gill Sans"/>
            </a:endParaRPr>
          </a:p>
          <a:p>
            <a:pPr marL="1346200">
              <a:lnSpc>
                <a:spcPct val="100000"/>
              </a:lnSpc>
              <a:spcBef>
                <a:spcPts val="500"/>
              </a:spcBef>
            </a:pPr>
            <a:r>
              <a:rPr sz="2000" b="1" dirty="0">
                <a:latin typeface="Gill Sans"/>
                <a:cs typeface="Gill Sans"/>
              </a:rPr>
              <a:t>de</a:t>
            </a:r>
            <a:r>
              <a:rPr sz="2000" b="1" spc="-10" dirty="0">
                <a:latin typeface="Gill Sans"/>
                <a:cs typeface="Gill Sans"/>
              </a:rPr>
              <a:t>scend</a:t>
            </a:r>
            <a:r>
              <a:rPr sz="2000" b="1" spc="10" dirty="0">
                <a:latin typeface="Gill Sans"/>
                <a:cs typeface="Gill Sans"/>
              </a:rPr>
              <a:t>a</a:t>
            </a:r>
            <a:r>
              <a:rPr sz="2000" b="1" dirty="0">
                <a:latin typeface="Gill Sans"/>
                <a:cs typeface="Gill Sans"/>
              </a:rPr>
              <a:t>nt</a:t>
            </a:r>
            <a:r>
              <a:rPr sz="2000" b="1" spc="-5" dirty="0">
                <a:latin typeface="Gill Sans"/>
                <a:cs typeface="Gill Sans"/>
              </a:rPr>
              <a:t> </a:t>
            </a:r>
            <a:r>
              <a:rPr sz="2000" b="1" spc="-30" dirty="0">
                <a:latin typeface="Gill Sans"/>
                <a:cs typeface="Gill Sans"/>
              </a:rPr>
              <a:t>r</a:t>
            </a:r>
            <a:r>
              <a:rPr sz="2000" b="1" spc="10" dirty="0">
                <a:latin typeface="Gill Sans"/>
                <a:cs typeface="Gill Sans"/>
              </a:rPr>
              <a:t>a</a:t>
            </a:r>
            <a:r>
              <a:rPr sz="2000" b="1" dirty="0">
                <a:latin typeface="Gill Sans"/>
                <a:cs typeface="Gill Sans"/>
              </a:rPr>
              <a:t>nge</a:t>
            </a:r>
            <a:endParaRPr sz="2000">
              <a:latin typeface="Gill Sans"/>
              <a:cs typeface="Gill Sans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4422707" y="6038609"/>
            <a:ext cx="1531039" cy="158351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4614980" y="6335934"/>
            <a:ext cx="964565" cy="1082675"/>
          </a:xfrm>
          <a:custGeom>
            <a:avLst/>
            <a:gdLst/>
            <a:ahLst/>
            <a:cxnLst/>
            <a:rect l="l" t="t" r="r" b="b"/>
            <a:pathLst>
              <a:path w="964564" h="1082675">
                <a:moveTo>
                  <a:pt x="964248" y="0"/>
                </a:moveTo>
                <a:lnTo>
                  <a:pt x="312789" y="155853"/>
                </a:lnTo>
                <a:lnTo>
                  <a:pt x="473571" y="293654"/>
                </a:lnTo>
                <a:lnTo>
                  <a:pt x="0" y="846199"/>
                </a:lnTo>
                <a:lnTo>
                  <a:pt x="275568" y="1082381"/>
                </a:lnTo>
                <a:lnTo>
                  <a:pt x="749139" y="529835"/>
                </a:lnTo>
                <a:lnTo>
                  <a:pt x="921134" y="529835"/>
                </a:lnTo>
                <a:lnTo>
                  <a:pt x="964248" y="0"/>
                </a:lnTo>
                <a:close/>
              </a:path>
              <a:path w="964564" h="1082675">
                <a:moveTo>
                  <a:pt x="921134" y="529835"/>
                </a:moveTo>
                <a:lnTo>
                  <a:pt x="749139" y="529835"/>
                </a:lnTo>
                <a:lnTo>
                  <a:pt x="909920" y="667635"/>
                </a:lnTo>
                <a:lnTo>
                  <a:pt x="921134" y="5298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1181100" y="1519334"/>
            <a:ext cx="2769235" cy="609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800" spc="-600" dirty="0">
                <a:latin typeface="Gill Sans"/>
                <a:cs typeface="Gill Sans"/>
              </a:rPr>
              <a:t>T</a:t>
            </a:r>
            <a:r>
              <a:rPr sz="4800" spc="-25" dirty="0">
                <a:latin typeface="Gill Sans"/>
                <a:cs typeface="Gill Sans"/>
              </a:rPr>
              <a:t>rad</a:t>
            </a:r>
            <a:r>
              <a:rPr sz="4800" spc="-5" dirty="0">
                <a:latin typeface="Gill Sans"/>
                <a:cs typeface="Gill Sans"/>
              </a:rPr>
              <a:t>i</a:t>
            </a:r>
            <a:r>
              <a:rPr sz="4800" dirty="0">
                <a:latin typeface="Gill Sans"/>
                <a:cs typeface="Gill Sans"/>
              </a:rPr>
              <a:t>t</a:t>
            </a:r>
            <a:r>
              <a:rPr sz="4800" spc="-5" dirty="0">
                <a:latin typeface="Gill Sans"/>
                <a:cs typeface="Gill Sans"/>
              </a:rPr>
              <a:t>i</a:t>
            </a:r>
            <a:r>
              <a:rPr sz="4800" spc="-25" dirty="0">
                <a:latin typeface="Gill Sans"/>
                <a:cs typeface="Gill Sans"/>
              </a:rPr>
              <a:t>ona</a:t>
            </a:r>
            <a:r>
              <a:rPr sz="4800" spc="-5" dirty="0">
                <a:latin typeface="Gill Sans"/>
                <a:cs typeface="Gill Sans"/>
              </a:rPr>
              <a:t>l</a:t>
            </a:r>
            <a:r>
              <a:rPr sz="4800" dirty="0">
                <a:latin typeface="Gill Sans"/>
                <a:cs typeface="Gill Sans"/>
              </a:rPr>
              <a:t>:</a:t>
            </a:r>
            <a:endParaRPr sz="4800">
              <a:latin typeface="Gill Sans"/>
              <a:cs typeface="Gill Sans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7756155" y="2157380"/>
            <a:ext cx="4864384" cy="72493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806955" y="2182780"/>
            <a:ext cx="4763135" cy="7148195"/>
          </a:xfrm>
          <a:custGeom>
            <a:avLst/>
            <a:gdLst/>
            <a:ahLst/>
            <a:cxnLst/>
            <a:rect l="l" t="t" r="r" b="b"/>
            <a:pathLst>
              <a:path w="4763134" h="7148195">
                <a:moveTo>
                  <a:pt x="0" y="0"/>
                </a:moveTo>
                <a:lnTo>
                  <a:pt x="4762784" y="0"/>
                </a:lnTo>
                <a:lnTo>
                  <a:pt x="4762784" y="7147718"/>
                </a:lnTo>
                <a:lnTo>
                  <a:pt x="0" y="7147718"/>
                </a:lnTo>
                <a:lnTo>
                  <a:pt x="0" y="0"/>
                </a:lnTo>
                <a:close/>
              </a:path>
            </a:pathLst>
          </a:custGeom>
          <a:solidFill>
            <a:srgbClr val="A6AA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806955" y="2182780"/>
            <a:ext cx="4763135" cy="7148195"/>
          </a:xfrm>
          <a:custGeom>
            <a:avLst/>
            <a:gdLst/>
            <a:ahLst/>
            <a:cxnLst/>
            <a:rect l="l" t="t" r="r" b="b"/>
            <a:pathLst>
              <a:path w="4763134" h="7148195">
                <a:moveTo>
                  <a:pt x="0" y="0"/>
                </a:moveTo>
                <a:lnTo>
                  <a:pt x="4762784" y="0"/>
                </a:lnTo>
                <a:lnTo>
                  <a:pt x="4762784" y="7147718"/>
                </a:lnTo>
                <a:lnTo>
                  <a:pt x="0" y="714771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8102600" y="2502628"/>
            <a:ext cx="1649095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40" dirty="0">
                <a:latin typeface="Gill Sans"/>
                <a:cs typeface="Gill Sans"/>
              </a:rPr>
              <a:t>R</a:t>
            </a:r>
            <a:r>
              <a:rPr sz="2000" b="1" spc="-15" dirty="0">
                <a:latin typeface="Gill Sans"/>
                <a:cs typeface="Gill Sans"/>
              </a:rPr>
              <a:t>a</a:t>
            </a:r>
            <a:r>
              <a:rPr sz="2000" b="1" spc="-5" dirty="0">
                <a:latin typeface="Gill Sans"/>
                <a:cs typeface="Gill Sans"/>
              </a:rPr>
              <a:t>t</a:t>
            </a:r>
            <a:r>
              <a:rPr sz="2000" b="1" dirty="0">
                <a:latin typeface="Gill Sans"/>
                <a:cs typeface="Gill Sans"/>
              </a:rPr>
              <a:t>e</a:t>
            </a:r>
            <a:r>
              <a:rPr sz="2000" b="1" spc="-5" dirty="0">
                <a:latin typeface="Gill Sans"/>
                <a:cs typeface="Gill Sans"/>
              </a:rPr>
              <a:t> m</a:t>
            </a:r>
            <a:r>
              <a:rPr sz="2000" b="1" spc="-15" dirty="0">
                <a:latin typeface="Gill Sans"/>
                <a:cs typeface="Gill Sans"/>
              </a:rPr>
              <a:t>a</a:t>
            </a:r>
            <a:r>
              <a:rPr sz="2000" b="1" spc="-5" dirty="0">
                <a:latin typeface="Gill Sans"/>
                <a:cs typeface="Gill Sans"/>
              </a:rPr>
              <a:t>t</a:t>
            </a:r>
            <a:r>
              <a:rPr sz="2000" b="1" spc="-90" dirty="0">
                <a:latin typeface="Gill Sans"/>
                <a:cs typeface="Gill Sans"/>
              </a:rPr>
              <a:t>r</a:t>
            </a:r>
            <a:r>
              <a:rPr sz="2000" b="1" spc="-5" dirty="0">
                <a:latin typeface="Gill Sans"/>
                <a:cs typeface="Gill Sans"/>
              </a:rPr>
              <a:t>ix</a:t>
            </a:r>
            <a:r>
              <a:rPr sz="2000" b="1" spc="-10" dirty="0">
                <a:latin typeface="Gill Sans"/>
                <a:cs typeface="Gill Sans"/>
              </a:rPr>
              <a:t>:</a:t>
            </a:r>
            <a:endParaRPr sz="2000">
              <a:latin typeface="Gill Sans"/>
              <a:cs typeface="Gill Sans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204200" y="1506634"/>
            <a:ext cx="4101465" cy="635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800" spc="-600" dirty="0">
                <a:latin typeface="Gill Sans"/>
                <a:cs typeface="Gill Sans"/>
              </a:rPr>
              <a:t>T</a:t>
            </a:r>
            <a:r>
              <a:rPr sz="4800" spc="-20" dirty="0">
                <a:latin typeface="Gill Sans"/>
                <a:cs typeface="Gill Sans"/>
              </a:rPr>
              <a:t>ra</a:t>
            </a:r>
            <a:r>
              <a:rPr sz="4800" spc="-5" dirty="0">
                <a:latin typeface="Gill Sans"/>
                <a:cs typeface="Gill Sans"/>
              </a:rPr>
              <a:t>i</a:t>
            </a:r>
            <a:r>
              <a:rPr sz="4800" dirty="0">
                <a:latin typeface="Gill Sans"/>
                <a:cs typeface="Gill Sans"/>
              </a:rPr>
              <a:t>t</a:t>
            </a:r>
            <a:r>
              <a:rPr sz="4800" spc="-5" dirty="0">
                <a:latin typeface="Gill Sans"/>
                <a:cs typeface="Gill Sans"/>
              </a:rPr>
              <a:t>-</a:t>
            </a:r>
            <a:r>
              <a:rPr sz="4800" spc="-25" dirty="0">
                <a:latin typeface="Gill Sans"/>
                <a:cs typeface="Gill Sans"/>
              </a:rPr>
              <a:t>depend</a:t>
            </a:r>
            <a:r>
              <a:rPr sz="4800" dirty="0">
                <a:latin typeface="Gill Sans"/>
                <a:cs typeface="Gill Sans"/>
              </a:rPr>
              <a:t>ent:</a:t>
            </a:r>
            <a:endParaRPr sz="4800">
              <a:latin typeface="Gill Sans"/>
              <a:cs typeface="Gill Sans"/>
            </a:endParaRPr>
          </a:p>
        </p:txBody>
      </p:sp>
      <p:graphicFrame>
        <p:nvGraphicFramePr>
          <p:cNvPr id="36" name="object 36"/>
          <p:cNvGraphicFramePr>
            <a:graphicFrameLocks noGrp="1"/>
          </p:cNvGraphicFramePr>
          <p:nvPr/>
        </p:nvGraphicFramePr>
        <p:xfrm>
          <a:off x="1581150" y="6610350"/>
          <a:ext cx="2517177" cy="25792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4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34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3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34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5858">
                <a:tc>
                  <a:txBody>
                    <a:bodyPr/>
                    <a:lstStyle/>
                    <a:p>
                      <a:endParaRPr sz="2600">
                        <a:latin typeface="Gill Sans"/>
                        <a:cs typeface="Gill Sans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sz="1600" b="1" i="1" dirty="0">
                          <a:latin typeface="Helvetica"/>
                          <a:cs typeface="Helvetica"/>
                        </a:rPr>
                        <a:t>null</a:t>
                      </a:r>
                      <a:endParaRPr sz="16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A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B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AB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858"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1600" b="1" i="1" dirty="0">
                          <a:latin typeface="Helvetica"/>
                          <a:cs typeface="Helvetica"/>
                        </a:rPr>
                        <a:t>null</a:t>
                      </a:r>
                      <a:endParaRPr sz="16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600" dirty="0">
                          <a:latin typeface="Helvetica Light"/>
                          <a:cs typeface="Helvetica Light"/>
                        </a:rPr>
                        <a:t>-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858">
                <a:tc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A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</a:pPr>
                      <a:r>
                        <a:rPr sz="2600" i="1" dirty="0">
                          <a:latin typeface="Helvetica Light"/>
                          <a:cs typeface="Helvetica Light"/>
                        </a:rPr>
                        <a:t>e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</a:pPr>
                      <a:r>
                        <a:rPr sz="2600" dirty="0">
                          <a:latin typeface="Helvetica Light"/>
                          <a:cs typeface="Helvetica Light"/>
                        </a:rPr>
                        <a:t>-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</a:pPr>
                      <a:r>
                        <a:rPr sz="2600" i="1" dirty="0">
                          <a:latin typeface="Helvetica Light"/>
                          <a:cs typeface="Helvetica Light"/>
                        </a:rPr>
                        <a:t>d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857">
                <a:tc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B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</a:pPr>
                      <a:r>
                        <a:rPr sz="2600" i="1" dirty="0">
                          <a:latin typeface="Helvetica Light"/>
                          <a:cs typeface="Helvetica Light"/>
                        </a:rPr>
                        <a:t>e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ct val="100000"/>
                        </a:lnSpc>
                      </a:pPr>
                      <a:r>
                        <a:rPr sz="2600" dirty="0">
                          <a:latin typeface="Helvetica Light"/>
                          <a:cs typeface="Helvetica Light"/>
                        </a:rPr>
                        <a:t>-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</a:pPr>
                      <a:r>
                        <a:rPr sz="2600" i="1" dirty="0">
                          <a:latin typeface="Helvetica Light"/>
                          <a:cs typeface="Helvetica Light"/>
                        </a:rPr>
                        <a:t>d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5858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AB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</a:pPr>
                      <a:r>
                        <a:rPr sz="2600" i="1" dirty="0">
                          <a:latin typeface="Helvetica Light"/>
                          <a:cs typeface="Helvetica Light"/>
                        </a:rPr>
                        <a:t>e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</a:pPr>
                      <a:r>
                        <a:rPr sz="2600" i="1" dirty="0">
                          <a:latin typeface="Helvetica Light"/>
                          <a:cs typeface="Helvetica Light"/>
                        </a:rPr>
                        <a:t>e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600" dirty="0">
                          <a:latin typeface="Helvetica Light"/>
                          <a:cs typeface="Helvetica Light"/>
                        </a:rPr>
                        <a:t>-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3" name="object 53"/>
          <p:cNvGraphicFramePr>
            <a:graphicFrameLocks noGrp="1"/>
          </p:cNvGraphicFramePr>
          <p:nvPr/>
        </p:nvGraphicFramePr>
        <p:xfrm>
          <a:off x="9201150" y="3219450"/>
          <a:ext cx="2508782" cy="25792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6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6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6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9763">
                <a:tc>
                  <a:txBody>
                    <a:bodyPr/>
                    <a:lstStyle/>
                    <a:p>
                      <a:endParaRPr sz="4800">
                        <a:latin typeface="Gill Sans"/>
                        <a:cs typeface="Gill Sans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8605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F</a:t>
                      </a:r>
                      <a:r>
                        <a:rPr sz="2000" b="1" spc="-185" dirty="0">
                          <a:latin typeface="Helvetica"/>
                          <a:cs typeface="Helvetica"/>
                        </a:rPr>
                        <a:t>L</a:t>
                      </a:r>
                      <a:r>
                        <a:rPr sz="2000" b="1" dirty="0">
                          <a:latin typeface="Helvetica"/>
                          <a:cs typeface="Helvetica"/>
                        </a:rPr>
                        <a:t>Y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49860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NOT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9763">
                <a:tc>
                  <a:txBody>
                    <a:bodyPr/>
                    <a:lstStyle/>
                    <a:p>
                      <a:pPr marL="184150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F</a:t>
                      </a:r>
                      <a:r>
                        <a:rPr sz="2000" b="1" spc="-185" dirty="0">
                          <a:latin typeface="Helvetica"/>
                          <a:cs typeface="Helvetica"/>
                        </a:rPr>
                        <a:t>L</a:t>
                      </a:r>
                      <a:r>
                        <a:rPr sz="2000" b="1" dirty="0">
                          <a:latin typeface="Helvetica"/>
                          <a:cs typeface="Helvetica"/>
                        </a:rPr>
                        <a:t>Y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</a:pPr>
                      <a:r>
                        <a:rPr sz="2600" dirty="0">
                          <a:latin typeface="Helvetica Light"/>
                          <a:cs typeface="Helvetica Light"/>
                        </a:rPr>
                        <a:t>-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</a:pPr>
                      <a:r>
                        <a:rPr sz="2600" dirty="0">
                          <a:latin typeface="Helvetica Light"/>
                          <a:cs typeface="Helvetica Light"/>
                        </a:rPr>
                        <a:t>t12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9764"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NOT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86055">
                        <a:lnSpc>
                          <a:spcPct val="100000"/>
                        </a:lnSpc>
                      </a:pPr>
                      <a:r>
                        <a:rPr sz="2600" dirty="0">
                          <a:latin typeface="Helvetica Light"/>
                          <a:cs typeface="Helvetica Light"/>
                        </a:rPr>
                        <a:t>t21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600" dirty="0">
                          <a:latin typeface="Helvetica Light"/>
                          <a:cs typeface="Helvetica Light"/>
                        </a:rPr>
                        <a:t>-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0277" y="2157380"/>
            <a:ext cx="4864384" cy="72493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91077" y="2182780"/>
            <a:ext cx="4763135" cy="7148195"/>
          </a:xfrm>
          <a:custGeom>
            <a:avLst/>
            <a:gdLst/>
            <a:ahLst/>
            <a:cxnLst/>
            <a:rect l="l" t="t" r="r" b="b"/>
            <a:pathLst>
              <a:path w="4763135" h="7148195">
                <a:moveTo>
                  <a:pt x="0" y="0"/>
                </a:moveTo>
                <a:lnTo>
                  <a:pt x="4762783" y="0"/>
                </a:lnTo>
                <a:lnTo>
                  <a:pt x="4762783" y="7147718"/>
                </a:lnTo>
                <a:lnTo>
                  <a:pt x="0" y="7147718"/>
                </a:lnTo>
                <a:lnTo>
                  <a:pt x="0" y="0"/>
                </a:lnTo>
                <a:close/>
              </a:path>
            </a:pathLst>
          </a:custGeom>
          <a:solidFill>
            <a:srgbClr val="A6AA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1077" y="2182780"/>
            <a:ext cx="4763135" cy="7148195"/>
          </a:xfrm>
          <a:custGeom>
            <a:avLst/>
            <a:gdLst/>
            <a:ahLst/>
            <a:cxnLst/>
            <a:rect l="l" t="t" r="r" b="b"/>
            <a:pathLst>
              <a:path w="4763135" h="7148195">
                <a:moveTo>
                  <a:pt x="0" y="0"/>
                </a:moveTo>
                <a:lnTo>
                  <a:pt x="4762784" y="0"/>
                </a:lnTo>
                <a:lnTo>
                  <a:pt x="4762784" y="7147718"/>
                </a:lnTo>
                <a:lnTo>
                  <a:pt x="0" y="7147718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58800" y="541434"/>
            <a:ext cx="7599045" cy="611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800" spc="-600" dirty="0">
                <a:latin typeface="Gill Sans"/>
                <a:cs typeface="Gill Sans"/>
              </a:rPr>
              <a:t>T</a:t>
            </a:r>
            <a:r>
              <a:rPr sz="4800" spc="-20" dirty="0">
                <a:latin typeface="Gill Sans"/>
                <a:cs typeface="Gill Sans"/>
              </a:rPr>
              <a:t>ra</a:t>
            </a:r>
            <a:r>
              <a:rPr sz="4800" spc="-5" dirty="0">
                <a:latin typeface="Gill Sans"/>
                <a:cs typeface="Gill Sans"/>
              </a:rPr>
              <a:t>i</a:t>
            </a:r>
            <a:r>
              <a:rPr sz="4800" dirty="0">
                <a:latin typeface="Gill Sans"/>
                <a:cs typeface="Gill Sans"/>
              </a:rPr>
              <a:t>t</a:t>
            </a:r>
            <a:r>
              <a:rPr sz="4800" spc="-5" dirty="0">
                <a:latin typeface="Gill Sans"/>
                <a:cs typeface="Gill Sans"/>
              </a:rPr>
              <a:t>-</a:t>
            </a:r>
            <a:r>
              <a:rPr sz="4800" spc="-25" dirty="0">
                <a:latin typeface="Gill Sans"/>
                <a:cs typeface="Gill Sans"/>
              </a:rPr>
              <a:t>depend</a:t>
            </a:r>
            <a:r>
              <a:rPr sz="4800" dirty="0">
                <a:latin typeface="Gill Sans"/>
                <a:cs typeface="Gill Sans"/>
              </a:rPr>
              <a:t>ent</a:t>
            </a:r>
            <a:r>
              <a:rPr sz="4800" spc="-5" dirty="0">
                <a:latin typeface="Gill Sans"/>
                <a:cs typeface="Gill Sans"/>
              </a:rPr>
              <a:t> </a:t>
            </a:r>
            <a:r>
              <a:rPr sz="4800" b="1" spc="-40" dirty="0">
                <a:latin typeface="Gill Sans"/>
                <a:cs typeface="Gill Sans"/>
              </a:rPr>
              <a:t>D</a:t>
            </a:r>
            <a:r>
              <a:rPr sz="4800" b="1" dirty="0">
                <a:latin typeface="Gill Sans"/>
                <a:cs typeface="Gill Sans"/>
              </a:rPr>
              <a:t>EC</a:t>
            </a:r>
            <a:r>
              <a:rPr sz="4800" b="1" spc="-5" dirty="0">
                <a:latin typeface="Gill Sans"/>
                <a:cs typeface="Gill Sans"/>
              </a:rPr>
              <a:t> mo</a:t>
            </a:r>
            <a:r>
              <a:rPr sz="4800" b="1" dirty="0">
                <a:latin typeface="Gill Sans"/>
                <a:cs typeface="Gill Sans"/>
              </a:rPr>
              <a:t>del</a:t>
            </a:r>
            <a:endParaRPr sz="4800">
              <a:latin typeface="Gill Sans"/>
              <a:cs typeface="Gill San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417766" y="2883534"/>
            <a:ext cx="0" cy="1550035"/>
          </a:xfrm>
          <a:custGeom>
            <a:avLst/>
            <a:gdLst/>
            <a:ahLst/>
            <a:cxnLst/>
            <a:rect l="l" t="t" r="r" b="b"/>
            <a:pathLst>
              <a:path h="1550035">
                <a:moveTo>
                  <a:pt x="0" y="0"/>
                </a:moveTo>
                <a:lnTo>
                  <a:pt x="0" y="1549816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283277" y="2883534"/>
            <a:ext cx="0" cy="1550035"/>
          </a:xfrm>
          <a:custGeom>
            <a:avLst/>
            <a:gdLst/>
            <a:ahLst/>
            <a:cxnLst/>
            <a:rect l="l" t="t" r="r" b="b"/>
            <a:pathLst>
              <a:path h="1550035">
                <a:moveTo>
                  <a:pt x="0" y="0"/>
                </a:moveTo>
                <a:lnTo>
                  <a:pt x="0" y="1549816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48000" y="4675604"/>
            <a:ext cx="528320" cy="0"/>
          </a:xfrm>
          <a:custGeom>
            <a:avLst/>
            <a:gdLst/>
            <a:ahLst/>
            <a:cxnLst/>
            <a:rect l="l" t="t" r="r" b="b"/>
            <a:pathLst>
              <a:path w="528320">
                <a:moveTo>
                  <a:pt x="0" y="0"/>
                </a:moveTo>
                <a:lnTo>
                  <a:pt x="527891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351046" y="4643854"/>
            <a:ext cx="0" cy="63500"/>
          </a:xfrm>
          <a:custGeom>
            <a:avLst/>
            <a:gdLst/>
            <a:ahLst/>
            <a:cxnLst/>
            <a:rect l="l" t="t" r="r" b="b"/>
            <a:pathLst>
              <a:path h="63500">
                <a:moveTo>
                  <a:pt x="0" y="63500"/>
                </a:moveTo>
                <a:lnTo>
                  <a:pt x="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584527" y="4675604"/>
            <a:ext cx="433705" cy="0"/>
          </a:xfrm>
          <a:custGeom>
            <a:avLst/>
            <a:gdLst/>
            <a:ahLst/>
            <a:cxnLst/>
            <a:rect l="l" t="t" r="r" b="b"/>
            <a:pathLst>
              <a:path w="433704">
                <a:moveTo>
                  <a:pt x="0" y="0"/>
                </a:moveTo>
                <a:lnTo>
                  <a:pt x="433167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342268" y="4658734"/>
            <a:ext cx="0" cy="1186815"/>
          </a:xfrm>
          <a:custGeom>
            <a:avLst/>
            <a:gdLst/>
            <a:ahLst/>
            <a:cxnLst/>
            <a:rect l="l" t="t" r="r" b="b"/>
            <a:pathLst>
              <a:path h="1186814">
                <a:moveTo>
                  <a:pt x="0" y="0"/>
                </a:moveTo>
                <a:lnTo>
                  <a:pt x="0" y="1186345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342268" y="5921280"/>
            <a:ext cx="0" cy="711835"/>
          </a:xfrm>
          <a:custGeom>
            <a:avLst/>
            <a:gdLst/>
            <a:ahLst/>
            <a:cxnLst/>
            <a:rect l="l" t="t" r="r" b="b"/>
            <a:pathLst>
              <a:path h="711834">
                <a:moveTo>
                  <a:pt x="0" y="0"/>
                </a:moveTo>
                <a:lnTo>
                  <a:pt x="0" y="71181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168356" y="6633090"/>
            <a:ext cx="325120" cy="492125"/>
          </a:xfrm>
          <a:custGeom>
            <a:avLst/>
            <a:gdLst/>
            <a:ahLst/>
            <a:cxnLst/>
            <a:rect l="l" t="t" r="r" b="b"/>
            <a:pathLst>
              <a:path w="325120" h="492125">
                <a:moveTo>
                  <a:pt x="0" y="0"/>
                </a:moveTo>
                <a:lnTo>
                  <a:pt x="325075" y="0"/>
                </a:lnTo>
                <a:lnTo>
                  <a:pt x="325075" y="491609"/>
                </a:lnTo>
                <a:lnTo>
                  <a:pt x="0" y="491609"/>
                </a:lnTo>
                <a:lnTo>
                  <a:pt x="0" y="0"/>
                </a:lnTo>
                <a:close/>
              </a:path>
            </a:pathLst>
          </a:custGeom>
          <a:solidFill>
            <a:srgbClr val="74A7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168356" y="6633090"/>
            <a:ext cx="325120" cy="492125"/>
          </a:xfrm>
          <a:custGeom>
            <a:avLst/>
            <a:gdLst/>
            <a:ahLst/>
            <a:cxnLst/>
            <a:rect l="l" t="t" r="r" b="b"/>
            <a:pathLst>
              <a:path w="325120" h="492125">
                <a:moveTo>
                  <a:pt x="0" y="0"/>
                </a:moveTo>
                <a:lnTo>
                  <a:pt x="325075" y="0"/>
                </a:lnTo>
                <a:lnTo>
                  <a:pt x="325075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017695" y="4433351"/>
            <a:ext cx="325120" cy="492125"/>
          </a:xfrm>
          <a:custGeom>
            <a:avLst/>
            <a:gdLst/>
            <a:ahLst/>
            <a:cxnLst/>
            <a:rect l="l" t="t" r="r" b="b"/>
            <a:pathLst>
              <a:path w="325120" h="492125">
                <a:moveTo>
                  <a:pt x="0" y="0"/>
                </a:moveTo>
                <a:lnTo>
                  <a:pt x="325075" y="0"/>
                </a:lnTo>
                <a:lnTo>
                  <a:pt x="325075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solidFill>
            <a:srgbClr val="74A7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017695" y="4433351"/>
            <a:ext cx="325120" cy="492125"/>
          </a:xfrm>
          <a:custGeom>
            <a:avLst/>
            <a:gdLst/>
            <a:ahLst/>
            <a:cxnLst/>
            <a:rect l="l" t="t" r="r" b="b"/>
            <a:pathLst>
              <a:path w="325120" h="492125">
                <a:moveTo>
                  <a:pt x="0" y="0"/>
                </a:moveTo>
                <a:lnTo>
                  <a:pt x="325075" y="0"/>
                </a:lnTo>
                <a:lnTo>
                  <a:pt x="325075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359321" y="4433351"/>
            <a:ext cx="288925" cy="492125"/>
          </a:xfrm>
          <a:custGeom>
            <a:avLst/>
            <a:gdLst/>
            <a:ahLst/>
            <a:cxnLst/>
            <a:rect l="l" t="t" r="r" b="b"/>
            <a:pathLst>
              <a:path w="288925" h="492125">
                <a:moveTo>
                  <a:pt x="0" y="0"/>
                </a:moveTo>
                <a:lnTo>
                  <a:pt x="288678" y="0"/>
                </a:lnTo>
                <a:lnTo>
                  <a:pt x="288678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solidFill>
            <a:srgbClr val="669C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359321" y="4433351"/>
            <a:ext cx="288925" cy="492125"/>
          </a:xfrm>
          <a:custGeom>
            <a:avLst/>
            <a:gdLst/>
            <a:ahLst/>
            <a:cxnLst/>
            <a:rect l="l" t="t" r="r" b="b"/>
            <a:pathLst>
              <a:path w="288925" h="492125">
                <a:moveTo>
                  <a:pt x="0" y="0"/>
                </a:moveTo>
                <a:lnTo>
                  <a:pt x="288678" y="0"/>
                </a:lnTo>
                <a:lnTo>
                  <a:pt x="288678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259452" y="4433351"/>
            <a:ext cx="325120" cy="492125"/>
          </a:xfrm>
          <a:custGeom>
            <a:avLst/>
            <a:gdLst/>
            <a:ahLst/>
            <a:cxnLst/>
            <a:rect l="l" t="t" r="r" b="b"/>
            <a:pathLst>
              <a:path w="325120" h="492125">
                <a:moveTo>
                  <a:pt x="0" y="0"/>
                </a:moveTo>
                <a:lnTo>
                  <a:pt x="325075" y="0"/>
                </a:lnTo>
                <a:lnTo>
                  <a:pt x="325075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solidFill>
            <a:srgbClr val="74A7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259452" y="4433351"/>
            <a:ext cx="325120" cy="492125"/>
          </a:xfrm>
          <a:custGeom>
            <a:avLst/>
            <a:gdLst/>
            <a:ahLst/>
            <a:cxnLst/>
            <a:rect l="l" t="t" r="r" b="b"/>
            <a:pathLst>
              <a:path w="325120" h="492125">
                <a:moveTo>
                  <a:pt x="0" y="0"/>
                </a:moveTo>
                <a:lnTo>
                  <a:pt x="325075" y="0"/>
                </a:lnTo>
                <a:lnTo>
                  <a:pt x="325075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175892" y="4433351"/>
            <a:ext cx="288925" cy="492125"/>
          </a:xfrm>
          <a:custGeom>
            <a:avLst/>
            <a:gdLst/>
            <a:ahLst/>
            <a:cxnLst/>
            <a:rect l="l" t="t" r="r" b="b"/>
            <a:pathLst>
              <a:path w="288925" h="492125">
                <a:moveTo>
                  <a:pt x="0" y="0"/>
                </a:moveTo>
                <a:lnTo>
                  <a:pt x="288678" y="0"/>
                </a:lnTo>
                <a:lnTo>
                  <a:pt x="288678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solidFill>
            <a:srgbClr val="669C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175892" y="4433351"/>
            <a:ext cx="288925" cy="492125"/>
          </a:xfrm>
          <a:custGeom>
            <a:avLst/>
            <a:gdLst/>
            <a:ahLst/>
            <a:cxnLst/>
            <a:rect l="l" t="t" r="r" b="b"/>
            <a:pathLst>
              <a:path w="288925" h="492125">
                <a:moveTo>
                  <a:pt x="0" y="0"/>
                </a:moveTo>
                <a:lnTo>
                  <a:pt x="288678" y="0"/>
                </a:lnTo>
                <a:lnTo>
                  <a:pt x="288678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717731" y="5674871"/>
            <a:ext cx="325120" cy="492125"/>
          </a:xfrm>
          <a:custGeom>
            <a:avLst/>
            <a:gdLst/>
            <a:ahLst/>
            <a:cxnLst/>
            <a:rect l="l" t="t" r="r" b="b"/>
            <a:pathLst>
              <a:path w="325120" h="492125">
                <a:moveTo>
                  <a:pt x="0" y="0"/>
                </a:moveTo>
                <a:lnTo>
                  <a:pt x="325075" y="0"/>
                </a:lnTo>
                <a:lnTo>
                  <a:pt x="325075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solidFill>
            <a:srgbClr val="74A7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717731" y="5674871"/>
            <a:ext cx="325120" cy="492125"/>
          </a:xfrm>
          <a:custGeom>
            <a:avLst/>
            <a:gdLst/>
            <a:ahLst/>
            <a:cxnLst/>
            <a:rect l="l" t="t" r="r" b="b"/>
            <a:pathLst>
              <a:path w="325120" h="492125">
                <a:moveTo>
                  <a:pt x="0" y="0"/>
                </a:moveTo>
                <a:lnTo>
                  <a:pt x="325075" y="0"/>
                </a:lnTo>
                <a:lnTo>
                  <a:pt x="325075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076022" y="5883180"/>
            <a:ext cx="485775" cy="0"/>
          </a:xfrm>
          <a:custGeom>
            <a:avLst/>
            <a:gdLst/>
            <a:ahLst/>
            <a:cxnLst/>
            <a:rect l="l" t="t" r="r" b="b"/>
            <a:pathLst>
              <a:path w="485775">
                <a:moveTo>
                  <a:pt x="485154" y="0"/>
                </a:moveTo>
                <a:lnTo>
                  <a:pt x="447054" y="0"/>
                </a:lnTo>
                <a:lnTo>
                  <a:pt x="0" y="0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446877" y="573077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76200" y="152400"/>
                </a:lnTo>
                <a:lnTo>
                  <a:pt x="0" y="304800"/>
                </a:lnTo>
                <a:lnTo>
                  <a:pt x="30480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742610" y="5674871"/>
            <a:ext cx="325120" cy="492125"/>
          </a:xfrm>
          <a:custGeom>
            <a:avLst/>
            <a:gdLst/>
            <a:ahLst/>
            <a:cxnLst/>
            <a:rect l="l" t="t" r="r" b="b"/>
            <a:pathLst>
              <a:path w="325120" h="492125">
                <a:moveTo>
                  <a:pt x="0" y="0"/>
                </a:moveTo>
                <a:lnTo>
                  <a:pt x="325075" y="0"/>
                </a:lnTo>
                <a:lnTo>
                  <a:pt x="325075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solidFill>
            <a:srgbClr val="74A7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742610" y="5674871"/>
            <a:ext cx="325120" cy="492125"/>
          </a:xfrm>
          <a:custGeom>
            <a:avLst/>
            <a:gdLst/>
            <a:ahLst/>
            <a:cxnLst/>
            <a:rect l="l" t="t" r="r" b="b"/>
            <a:pathLst>
              <a:path w="325120" h="492125">
                <a:moveTo>
                  <a:pt x="0" y="0"/>
                </a:moveTo>
                <a:lnTo>
                  <a:pt x="325075" y="0"/>
                </a:lnTo>
                <a:lnTo>
                  <a:pt x="325075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084236" y="5674871"/>
            <a:ext cx="288925" cy="492125"/>
          </a:xfrm>
          <a:custGeom>
            <a:avLst/>
            <a:gdLst/>
            <a:ahLst/>
            <a:cxnLst/>
            <a:rect l="l" t="t" r="r" b="b"/>
            <a:pathLst>
              <a:path w="288925" h="492125">
                <a:moveTo>
                  <a:pt x="0" y="0"/>
                </a:moveTo>
                <a:lnTo>
                  <a:pt x="288678" y="0"/>
                </a:lnTo>
                <a:lnTo>
                  <a:pt x="288678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solidFill>
            <a:srgbClr val="669C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084236" y="5674871"/>
            <a:ext cx="288925" cy="492125"/>
          </a:xfrm>
          <a:custGeom>
            <a:avLst/>
            <a:gdLst/>
            <a:ahLst/>
            <a:cxnLst/>
            <a:rect l="l" t="t" r="r" b="b"/>
            <a:pathLst>
              <a:path w="288925" h="492125">
                <a:moveTo>
                  <a:pt x="0" y="0"/>
                </a:moveTo>
                <a:lnTo>
                  <a:pt x="288678" y="0"/>
                </a:lnTo>
                <a:lnTo>
                  <a:pt x="288678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259452" y="2391926"/>
            <a:ext cx="325120" cy="492125"/>
          </a:xfrm>
          <a:custGeom>
            <a:avLst/>
            <a:gdLst/>
            <a:ahLst/>
            <a:cxnLst/>
            <a:rect l="l" t="t" r="r" b="b"/>
            <a:pathLst>
              <a:path w="325120" h="492125">
                <a:moveTo>
                  <a:pt x="0" y="0"/>
                </a:moveTo>
                <a:lnTo>
                  <a:pt x="325075" y="0"/>
                </a:lnTo>
                <a:lnTo>
                  <a:pt x="325075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solidFill>
            <a:srgbClr val="74A7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259452" y="2391926"/>
            <a:ext cx="325120" cy="492125"/>
          </a:xfrm>
          <a:custGeom>
            <a:avLst/>
            <a:gdLst/>
            <a:ahLst/>
            <a:cxnLst/>
            <a:rect l="l" t="t" r="r" b="b"/>
            <a:pathLst>
              <a:path w="325120" h="492125">
                <a:moveTo>
                  <a:pt x="0" y="0"/>
                </a:moveTo>
                <a:lnTo>
                  <a:pt x="325075" y="0"/>
                </a:lnTo>
                <a:lnTo>
                  <a:pt x="325075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175892" y="2391926"/>
            <a:ext cx="288925" cy="492125"/>
          </a:xfrm>
          <a:custGeom>
            <a:avLst/>
            <a:gdLst/>
            <a:ahLst/>
            <a:cxnLst/>
            <a:rect l="l" t="t" r="r" b="b"/>
            <a:pathLst>
              <a:path w="288925" h="492125">
                <a:moveTo>
                  <a:pt x="0" y="0"/>
                </a:moveTo>
                <a:lnTo>
                  <a:pt x="288678" y="0"/>
                </a:lnTo>
                <a:lnTo>
                  <a:pt x="288678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solidFill>
            <a:srgbClr val="669C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175892" y="2391926"/>
            <a:ext cx="288925" cy="492125"/>
          </a:xfrm>
          <a:custGeom>
            <a:avLst/>
            <a:gdLst/>
            <a:ahLst/>
            <a:cxnLst/>
            <a:rect l="l" t="t" r="r" b="b"/>
            <a:pathLst>
              <a:path w="288925" h="492125">
                <a:moveTo>
                  <a:pt x="0" y="0"/>
                </a:moveTo>
                <a:lnTo>
                  <a:pt x="288678" y="0"/>
                </a:lnTo>
                <a:lnTo>
                  <a:pt x="288678" y="491608"/>
                </a:lnTo>
                <a:lnTo>
                  <a:pt x="0" y="49160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520700" y="2457345"/>
            <a:ext cx="4251325" cy="2917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23900" marR="5080" indent="-711200">
              <a:lnSpc>
                <a:spcPts val="3800"/>
              </a:lnSpc>
            </a:pPr>
            <a:r>
              <a:rPr sz="3200" b="1" spc="-30" dirty="0">
                <a:latin typeface="Gill Sans"/>
                <a:cs typeface="Gill Sans"/>
              </a:rPr>
              <a:t>Di</a:t>
            </a:r>
            <a:r>
              <a:rPr sz="3200" b="1" spc="-20" dirty="0">
                <a:latin typeface="Gill Sans"/>
                <a:cs typeface="Gill Sans"/>
              </a:rPr>
              <a:t>spe</a:t>
            </a:r>
            <a:r>
              <a:rPr sz="3200" b="1" spc="-95" dirty="0">
                <a:latin typeface="Gill Sans"/>
                <a:cs typeface="Gill Sans"/>
              </a:rPr>
              <a:t>r</a:t>
            </a:r>
            <a:r>
              <a:rPr sz="3200" b="1" spc="-20" dirty="0">
                <a:latin typeface="Gill Sans"/>
                <a:cs typeface="Gill Sans"/>
              </a:rPr>
              <a:t>sa</a:t>
            </a:r>
            <a:r>
              <a:rPr sz="3200" b="1" dirty="0">
                <a:latin typeface="Gill Sans"/>
                <a:cs typeface="Gill Sans"/>
              </a:rPr>
              <a:t>l</a:t>
            </a:r>
            <a:r>
              <a:rPr sz="3200" b="1" spc="-5" dirty="0">
                <a:latin typeface="Gill Sans"/>
                <a:cs typeface="Gill Sans"/>
              </a:rPr>
              <a:t>-</a:t>
            </a:r>
            <a:r>
              <a:rPr sz="3200" b="1" dirty="0">
                <a:latin typeface="Gill Sans"/>
                <a:cs typeface="Gill Sans"/>
              </a:rPr>
              <a:t>E</a:t>
            </a:r>
            <a:r>
              <a:rPr sz="3200" b="1" spc="-5" dirty="0">
                <a:latin typeface="Gill Sans"/>
                <a:cs typeface="Gill Sans"/>
              </a:rPr>
              <a:t>xt</a:t>
            </a:r>
            <a:r>
              <a:rPr sz="3200" b="1" dirty="0">
                <a:latin typeface="Gill Sans"/>
                <a:cs typeface="Gill Sans"/>
              </a:rPr>
              <a:t>inc</a:t>
            </a:r>
            <a:r>
              <a:rPr sz="3200" b="1" spc="-5" dirty="0">
                <a:latin typeface="Gill Sans"/>
                <a:cs typeface="Gill Sans"/>
              </a:rPr>
              <a:t>t</a:t>
            </a:r>
            <a:r>
              <a:rPr sz="3200" b="1" dirty="0">
                <a:latin typeface="Gill Sans"/>
                <a:cs typeface="Gill Sans"/>
              </a:rPr>
              <a:t>i</a:t>
            </a:r>
            <a:r>
              <a:rPr sz="3200" b="1" spc="-5" dirty="0">
                <a:latin typeface="Gill Sans"/>
                <a:cs typeface="Gill Sans"/>
              </a:rPr>
              <a:t>o</a:t>
            </a:r>
            <a:r>
              <a:rPr sz="3200" b="1" dirty="0">
                <a:latin typeface="Gill Sans"/>
                <a:cs typeface="Gill Sans"/>
              </a:rPr>
              <a:t>n (on</a:t>
            </a:r>
            <a:r>
              <a:rPr sz="3200" b="1" spc="-5" dirty="0">
                <a:latin typeface="Gill Sans"/>
                <a:cs typeface="Gill Sans"/>
              </a:rPr>
              <a:t> b</a:t>
            </a:r>
            <a:r>
              <a:rPr sz="3200" b="1" spc="-50" dirty="0">
                <a:latin typeface="Gill Sans"/>
                <a:cs typeface="Gill Sans"/>
              </a:rPr>
              <a:t>r</a:t>
            </a:r>
            <a:r>
              <a:rPr sz="3200" b="1" spc="20" dirty="0">
                <a:latin typeface="Gill Sans"/>
                <a:cs typeface="Gill Sans"/>
              </a:rPr>
              <a:t>a</a:t>
            </a:r>
            <a:r>
              <a:rPr sz="3200" b="1" spc="-5" dirty="0">
                <a:latin typeface="Gill Sans"/>
                <a:cs typeface="Gill Sans"/>
              </a:rPr>
              <a:t>nches)</a:t>
            </a:r>
            <a:endParaRPr sz="3200">
              <a:latin typeface="Gill Sans"/>
              <a:cs typeface="Gill Sans"/>
            </a:endParaRPr>
          </a:p>
          <a:p>
            <a:pPr marL="1042669" marR="728345" indent="-459105">
              <a:lnSpc>
                <a:spcPts val="3000"/>
              </a:lnSpc>
              <a:spcBef>
                <a:spcPts val="340"/>
              </a:spcBef>
            </a:pPr>
            <a:r>
              <a:rPr sz="2600" i="1" dirty="0">
                <a:latin typeface="Gill Sans"/>
                <a:cs typeface="Gill Sans"/>
              </a:rPr>
              <a:t>d</a:t>
            </a:r>
            <a:r>
              <a:rPr sz="2600" i="1" spc="-5" dirty="0">
                <a:latin typeface="Gill Sans"/>
                <a:cs typeface="Gill Sans"/>
              </a:rPr>
              <a:t> </a:t>
            </a:r>
            <a:r>
              <a:rPr sz="2600" spc="-20" dirty="0">
                <a:latin typeface="Gill Sans"/>
                <a:cs typeface="Gill Sans"/>
              </a:rPr>
              <a:t>=</a:t>
            </a:r>
            <a:r>
              <a:rPr sz="2600" spc="-5" dirty="0">
                <a:latin typeface="Gill Sans"/>
                <a:cs typeface="Gill Sans"/>
              </a:rPr>
              <a:t> </a:t>
            </a:r>
            <a:r>
              <a:rPr sz="2600" spc="-15" dirty="0">
                <a:latin typeface="Gill Sans"/>
                <a:cs typeface="Gill Sans"/>
              </a:rPr>
              <a:t>ra</a:t>
            </a:r>
            <a:r>
              <a:rPr sz="2600" dirty="0">
                <a:latin typeface="Gill Sans"/>
                <a:cs typeface="Gill Sans"/>
              </a:rPr>
              <a:t>te</a:t>
            </a:r>
            <a:r>
              <a:rPr sz="2600" spc="-5" dirty="0">
                <a:latin typeface="Gill Sans"/>
                <a:cs typeface="Gill Sans"/>
              </a:rPr>
              <a:t> </a:t>
            </a:r>
            <a:r>
              <a:rPr sz="2600" spc="-15" dirty="0">
                <a:latin typeface="Gill Sans"/>
                <a:cs typeface="Gill Sans"/>
              </a:rPr>
              <a:t>o</a:t>
            </a:r>
            <a:r>
              <a:rPr sz="2600" dirty="0">
                <a:latin typeface="Gill Sans"/>
                <a:cs typeface="Gill Sans"/>
              </a:rPr>
              <a:t>f</a:t>
            </a:r>
            <a:r>
              <a:rPr sz="2600" spc="-265" dirty="0">
                <a:latin typeface="Gill Sans"/>
                <a:cs typeface="Gill Sans"/>
              </a:rPr>
              <a:t> </a:t>
            </a:r>
            <a:r>
              <a:rPr sz="2600" spc="-15" dirty="0">
                <a:latin typeface="Gill Sans"/>
                <a:cs typeface="Gill Sans"/>
              </a:rPr>
              <a:t>“d</a:t>
            </a:r>
            <a:r>
              <a:rPr sz="2600" dirty="0">
                <a:latin typeface="Gill Sans"/>
                <a:cs typeface="Gill Sans"/>
              </a:rPr>
              <a:t>i</a:t>
            </a:r>
            <a:r>
              <a:rPr sz="2600" spc="-15" dirty="0">
                <a:latin typeface="Gill Sans"/>
                <a:cs typeface="Gill Sans"/>
              </a:rPr>
              <a:t>spersa</a:t>
            </a:r>
            <a:r>
              <a:rPr sz="2600" dirty="0">
                <a:latin typeface="Gill Sans"/>
                <a:cs typeface="Gill Sans"/>
              </a:rPr>
              <a:t>l</a:t>
            </a:r>
            <a:r>
              <a:rPr sz="2600" spc="-15" dirty="0">
                <a:latin typeface="Gill Sans"/>
                <a:cs typeface="Gill Sans"/>
              </a:rPr>
              <a:t>”</a:t>
            </a:r>
            <a:r>
              <a:rPr sz="2600" spc="-10" dirty="0">
                <a:latin typeface="Gill Sans"/>
                <a:cs typeface="Gill Sans"/>
              </a:rPr>
              <a:t> </a:t>
            </a:r>
            <a:r>
              <a:rPr sz="2600" spc="-5" dirty="0">
                <a:latin typeface="Gill Sans"/>
                <a:cs typeface="Gill Sans"/>
              </a:rPr>
              <a:t>(</a:t>
            </a:r>
            <a:r>
              <a:rPr sz="2600" spc="-15" dirty="0">
                <a:latin typeface="Gill Sans"/>
                <a:cs typeface="Gill Sans"/>
              </a:rPr>
              <a:t>rang</a:t>
            </a:r>
            <a:r>
              <a:rPr sz="2600" dirty="0">
                <a:latin typeface="Gill Sans"/>
                <a:cs typeface="Gill Sans"/>
              </a:rPr>
              <a:t>e</a:t>
            </a:r>
            <a:r>
              <a:rPr sz="2600" spc="-5" dirty="0">
                <a:latin typeface="Gill Sans"/>
                <a:cs typeface="Gill Sans"/>
              </a:rPr>
              <a:t> </a:t>
            </a:r>
            <a:r>
              <a:rPr sz="2600" spc="-15" dirty="0">
                <a:latin typeface="Gill Sans"/>
                <a:cs typeface="Gill Sans"/>
              </a:rPr>
              <a:t>expans</a:t>
            </a:r>
            <a:r>
              <a:rPr sz="2600" dirty="0">
                <a:latin typeface="Gill Sans"/>
                <a:cs typeface="Gill Sans"/>
              </a:rPr>
              <a:t>i</a:t>
            </a:r>
            <a:r>
              <a:rPr sz="2600" spc="-15" dirty="0">
                <a:latin typeface="Gill Sans"/>
                <a:cs typeface="Gill Sans"/>
              </a:rPr>
              <a:t>o</a:t>
            </a:r>
            <a:r>
              <a:rPr sz="2600" dirty="0">
                <a:latin typeface="Gill Sans"/>
                <a:cs typeface="Gill Sans"/>
              </a:rPr>
              <a:t>n)</a:t>
            </a:r>
            <a:endParaRPr sz="2600">
              <a:latin typeface="Gill Sans"/>
              <a:cs typeface="Gill Sans"/>
            </a:endParaRPr>
          </a:p>
          <a:p>
            <a:pPr marL="1017269" marR="558800" indent="-459105" algn="just">
              <a:lnSpc>
                <a:spcPts val="3000"/>
              </a:lnSpc>
              <a:spcBef>
                <a:spcPts val="400"/>
              </a:spcBef>
            </a:pPr>
            <a:r>
              <a:rPr sz="2600" i="1" spc="-15" dirty="0">
                <a:latin typeface="Gill Sans"/>
                <a:cs typeface="Gill Sans"/>
              </a:rPr>
              <a:t>e</a:t>
            </a:r>
            <a:r>
              <a:rPr sz="2600" i="1" spc="-5" dirty="0">
                <a:latin typeface="Gill Sans"/>
                <a:cs typeface="Gill Sans"/>
              </a:rPr>
              <a:t> </a:t>
            </a:r>
            <a:r>
              <a:rPr sz="2600" spc="-20" dirty="0">
                <a:latin typeface="Gill Sans"/>
                <a:cs typeface="Gill Sans"/>
              </a:rPr>
              <a:t>=</a:t>
            </a:r>
            <a:r>
              <a:rPr sz="2600" spc="-5" dirty="0">
                <a:latin typeface="Gill Sans"/>
                <a:cs typeface="Gill Sans"/>
              </a:rPr>
              <a:t> </a:t>
            </a:r>
            <a:r>
              <a:rPr sz="2600" spc="-15" dirty="0">
                <a:latin typeface="Gill Sans"/>
                <a:cs typeface="Gill Sans"/>
              </a:rPr>
              <a:t>ra</a:t>
            </a:r>
            <a:r>
              <a:rPr sz="2600" dirty="0">
                <a:latin typeface="Gill Sans"/>
                <a:cs typeface="Gill Sans"/>
              </a:rPr>
              <a:t>te</a:t>
            </a:r>
            <a:r>
              <a:rPr sz="2600" spc="-5" dirty="0">
                <a:latin typeface="Gill Sans"/>
                <a:cs typeface="Gill Sans"/>
              </a:rPr>
              <a:t> </a:t>
            </a:r>
            <a:r>
              <a:rPr sz="2600" spc="-15" dirty="0">
                <a:latin typeface="Gill Sans"/>
                <a:cs typeface="Gill Sans"/>
              </a:rPr>
              <a:t>o</a:t>
            </a:r>
            <a:r>
              <a:rPr sz="2600" dirty="0">
                <a:latin typeface="Gill Sans"/>
                <a:cs typeface="Gill Sans"/>
              </a:rPr>
              <a:t>f</a:t>
            </a:r>
            <a:r>
              <a:rPr sz="2600" spc="-265" dirty="0">
                <a:latin typeface="Gill Sans"/>
                <a:cs typeface="Gill Sans"/>
              </a:rPr>
              <a:t> </a:t>
            </a:r>
            <a:r>
              <a:rPr sz="2600" spc="-15" dirty="0">
                <a:latin typeface="Gill Sans"/>
                <a:cs typeface="Gill Sans"/>
              </a:rPr>
              <a:t>“</a:t>
            </a:r>
            <a:r>
              <a:rPr sz="2600" dirty="0">
                <a:latin typeface="Gill Sans"/>
                <a:cs typeface="Gill Sans"/>
              </a:rPr>
              <a:t>extincti</a:t>
            </a:r>
            <a:r>
              <a:rPr sz="2600" spc="-15" dirty="0">
                <a:latin typeface="Gill Sans"/>
                <a:cs typeface="Gill Sans"/>
              </a:rPr>
              <a:t>on”</a:t>
            </a:r>
            <a:r>
              <a:rPr sz="2600" spc="-10" dirty="0">
                <a:latin typeface="Gill Sans"/>
                <a:cs typeface="Gill Sans"/>
              </a:rPr>
              <a:t> </a:t>
            </a:r>
            <a:r>
              <a:rPr sz="2600" spc="-5" dirty="0">
                <a:latin typeface="Gill Sans"/>
                <a:cs typeface="Gill Sans"/>
              </a:rPr>
              <a:t>(</a:t>
            </a:r>
            <a:r>
              <a:rPr sz="2600" spc="-15" dirty="0">
                <a:latin typeface="Gill Sans"/>
                <a:cs typeface="Gill Sans"/>
              </a:rPr>
              <a:t>rang</a:t>
            </a:r>
            <a:r>
              <a:rPr sz="2600" dirty="0">
                <a:latin typeface="Gill Sans"/>
                <a:cs typeface="Gill Sans"/>
              </a:rPr>
              <a:t>e</a:t>
            </a:r>
            <a:r>
              <a:rPr sz="2600" spc="-5" dirty="0">
                <a:latin typeface="Gill Sans"/>
                <a:cs typeface="Gill Sans"/>
              </a:rPr>
              <a:t> </a:t>
            </a:r>
            <a:r>
              <a:rPr sz="2600" spc="-15" dirty="0">
                <a:latin typeface="Gill Sans"/>
                <a:cs typeface="Gill Sans"/>
              </a:rPr>
              <a:t>contra</a:t>
            </a:r>
            <a:r>
              <a:rPr sz="2600" dirty="0">
                <a:latin typeface="Gill Sans"/>
                <a:cs typeface="Gill Sans"/>
              </a:rPr>
              <a:t>ct</a:t>
            </a:r>
            <a:r>
              <a:rPr sz="2600" spc="-5" dirty="0">
                <a:latin typeface="Gill Sans"/>
                <a:cs typeface="Gill Sans"/>
              </a:rPr>
              <a:t>i</a:t>
            </a:r>
            <a:r>
              <a:rPr sz="2600" spc="-15" dirty="0">
                <a:latin typeface="Gill Sans"/>
                <a:cs typeface="Gill Sans"/>
              </a:rPr>
              <a:t>o</a:t>
            </a:r>
            <a:r>
              <a:rPr sz="2600" dirty="0">
                <a:latin typeface="Gill Sans"/>
                <a:cs typeface="Gill Sans"/>
              </a:rPr>
              <a:t>n</a:t>
            </a:r>
            <a:r>
              <a:rPr sz="2600" spc="-5" dirty="0">
                <a:latin typeface="Gill Sans"/>
                <a:cs typeface="Gill Sans"/>
              </a:rPr>
              <a:t> </a:t>
            </a:r>
            <a:r>
              <a:rPr sz="2600" spc="-10" dirty="0">
                <a:latin typeface="Gill Sans"/>
                <a:cs typeface="Gill Sans"/>
              </a:rPr>
              <a:t>/ </a:t>
            </a:r>
            <a:r>
              <a:rPr sz="2600" dirty="0">
                <a:latin typeface="Gill Sans"/>
                <a:cs typeface="Gill Sans"/>
              </a:rPr>
              <a:t>l</a:t>
            </a:r>
            <a:r>
              <a:rPr sz="2600" spc="-15" dirty="0">
                <a:latin typeface="Gill Sans"/>
                <a:cs typeface="Gill Sans"/>
              </a:rPr>
              <a:t>oca</a:t>
            </a:r>
            <a:r>
              <a:rPr sz="2600" dirty="0">
                <a:latin typeface="Gill Sans"/>
                <a:cs typeface="Gill Sans"/>
              </a:rPr>
              <a:t>l</a:t>
            </a:r>
            <a:r>
              <a:rPr sz="2600" spc="-5" dirty="0">
                <a:latin typeface="Gill Sans"/>
                <a:cs typeface="Gill Sans"/>
              </a:rPr>
              <a:t> </a:t>
            </a:r>
            <a:r>
              <a:rPr sz="2600" dirty="0">
                <a:latin typeface="Gill Sans"/>
                <a:cs typeface="Gill Sans"/>
              </a:rPr>
              <a:t>exti</a:t>
            </a:r>
            <a:r>
              <a:rPr sz="2600" spc="-15" dirty="0">
                <a:latin typeface="Gill Sans"/>
                <a:cs typeface="Gill Sans"/>
              </a:rPr>
              <a:t>rpa</a:t>
            </a:r>
            <a:r>
              <a:rPr sz="2600" dirty="0">
                <a:latin typeface="Gill Sans"/>
                <a:cs typeface="Gill Sans"/>
              </a:rPr>
              <a:t>ti</a:t>
            </a:r>
            <a:r>
              <a:rPr sz="2600" spc="-15" dirty="0">
                <a:latin typeface="Gill Sans"/>
                <a:cs typeface="Gill Sans"/>
              </a:rPr>
              <a:t>o</a:t>
            </a:r>
            <a:r>
              <a:rPr sz="2600" dirty="0">
                <a:latin typeface="Gill Sans"/>
                <a:cs typeface="Gill Sans"/>
              </a:rPr>
              <a:t>n)</a:t>
            </a:r>
            <a:endParaRPr sz="2600">
              <a:latin typeface="Gill Sans"/>
              <a:cs typeface="Gill San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28600" y="7760428"/>
            <a:ext cx="1146810" cy="571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3200" marR="5080" indent="-190500">
              <a:lnSpc>
                <a:spcPts val="2300"/>
              </a:lnSpc>
            </a:pPr>
            <a:r>
              <a:rPr sz="2000" b="1" spc="25" dirty="0">
                <a:latin typeface="Gill Sans"/>
                <a:cs typeface="Gill Sans"/>
              </a:rPr>
              <a:t>a</a:t>
            </a:r>
            <a:r>
              <a:rPr sz="2000" b="1" spc="-5" dirty="0">
                <a:latin typeface="Gill Sans"/>
                <a:cs typeface="Gill Sans"/>
              </a:rPr>
              <a:t>nce</a:t>
            </a:r>
            <a:r>
              <a:rPr sz="2000" b="1" spc="-10" dirty="0">
                <a:latin typeface="Gill Sans"/>
                <a:cs typeface="Gill Sans"/>
              </a:rPr>
              <a:t>s</a:t>
            </a:r>
            <a:r>
              <a:rPr sz="2000" b="1" spc="-5" dirty="0">
                <a:latin typeface="Gill Sans"/>
                <a:cs typeface="Gill Sans"/>
              </a:rPr>
              <a:t>to</a:t>
            </a:r>
            <a:r>
              <a:rPr sz="2000" b="1" dirty="0">
                <a:latin typeface="Gill Sans"/>
                <a:cs typeface="Gill Sans"/>
              </a:rPr>
              <a:t>r </a:t>
            </a:r>
            <a:r>
              <a:rPr sz="2000" b="1" spc="-30" dirty="0">
                <a:latin typeface="Gill Sans"/>
                <a:cs typeface="Gill Sans"/>
              </a:rPr>
              <a:t>r</a:t>
            </a:r>
            <a:r>
              <a:rPr sz="2000" b="1" spc="10" dirty="0">
                <a:latin typeface="Gill Sans"/>
                <a:cs typeface="Gill Sans"/>
              </a:rPr>
              <a:t>a</a:t>
            </a:r>
            <a:r>
              <a:rPr sz="2000" b="1" dirty="0">
                <a:latin typeface="Gill Sans"/>
                <a:cs typeface="Gill Sans"/>
              </a:rPr>
              <a:t>nge</a:t>
            </a:r>
            <a:endParaRPr sz="2000">
              <a:latin typeface="Gill Sans"/>
              <a:cs typeface="Gill San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235700" y="6756572"/>
            <a:ext cx="194945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15" dirty="0">
                <a:latin typeface="Gill Sans"/>
                <a:cs typeface="Gill Sans"/>
              </a:rPr>
              <a:t>A</a:t>
            </a:r>
            <a:endParaRPr sz="2000">
              <a:latin typeface="Gill Sans"/>
              <a:cs typeface="Gill San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083300" y="4546772"/>
            <a:ext cx="499109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42265" algn="l"/>
              </a:tabLst>
            </a:pPr>
            <a:r>
              <a:rPr sz="2000" spc="-15" dirty="0">
                <a:latin typeface="Gill Sans"/>
                <a:cs typeface="Gill Sans"/>
              </a:rPr>
              <a:t>A	B</a:t>
            </a:r>
            <a:endParaRPr sz="2000">
              <a:latin typeface="Gill Sans"/>
              <a:cs typeface="Gill San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321300" y="4546772"/>
            <a:ext cx="194945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15" dirty="0">
                <a:latin typeface="Gill Sans"/>
                <a:cs typeface="Gill Sans"/>
              </a:rPr>
              <a:t>A</a:t>
            </a:r>
            <a:endParaRPr sz="2000">
              <a:latin typeface="Gill Sans"/>
              <a:cs typeface="Gill San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239000" y="4546772"/>
            <a:ext cx="16891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15" dirty="0">
                <a:latin typeface="Gill Sans"/>
                <a:cs typeface="Gill Sans"/>
              </a:rPr>
              <a:t>B</a:t>
            </a:r>
            <a:endParaRPr sz="2000">
              <a:latin typeface="Gill Sans"/>
              <a:cs typeface="Gill San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778500" y="5791372"/>
            <a:ext cx="194945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15" dirty="0">
                <a:latin typeface="Gill Sans"/>
                <a:cs typeface="Gill Sans"/>
              </a:rPr>
              <a:t>A</a:t>
            </a:r>
            <a:endParaRPr sz="2000">
              <a:latin typeface="Gill Sans"/>
              <a:cs typeface="Gill San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807200" y="5791372"/>
            <a:ext cx="511809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2000" spc="-15" dirty="0">
                <a:latin typeface="Gill Sans"/>
                <a:cs typeface="Gill Sans"/>
              </a:rPr>
              <a:t>A	B</a:t>
            </a:r>
            <a:endParaRPr sz="2000">
              <a:latin typeface="Gill Sans"/>
              <a:cs typeface="Gill Sans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321300" y="2514772"/>
            <a:ext cx="208661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929764" algn="l"/>
              </a:tabLst>
            </a:pPr>
            <a:r>
              <a:rPr sz="2000" spc="-15" dirty="0">
                <a:latin typeface="Gill Sans"/>
                <a:cs typeface="Gill Sans"/>
              </a:rPr>
              <a:t>A	B</a:t>
            </a:r>
            <a:endParaRPr sz="2000">
              <a:latin typeface="Gill Sans"/>
              <a:cs typeface="Gill San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68300" y="5893528"/>
            <a:ext cx="3630929" cy="647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40" dirty="0">
                <a:latin typeface="Gill Sans"/>
                <a:cs typeface="Gill Sans"/>
              </a:rPr>
              <a:t>R</a:t>
            </a:r>
            <a:r>
              <a:rPr sz="2000" b="1" spc="-15" dirty="0">
                <a:latin typeface="Gill Sans"/>
                <a:cs typeface="Gill Sans"/>
              </a:rPr>
              <a:t>a</a:t>
            </a:r>
            <a:r>
              <a:rPr sz="2000" b="1" spc="-5" dirty="0">
                <a:latin typeface="Gill Sans"/>
                <a:cs typeface="Gill Sans"/>
              </a:rPr>
              <a:t>t</a:t>
            </a:r>
            <a:r>
              <a:rPr sz="2000" b="1" dirty="0">
                <a:latin typeface="Gill Sans"/>
                <a:cs typeface="Gill Sans"/>
              </a:rPr>
              <a:t>e</a:t>
            </a:r>
            <a:r>
              <a:rPr sz="2000" b="1" spc="-5" dirty="0">
                <a:latin typeface="Gill Sans"/>
                <a:cs typeface="Gill Sans"/>
              </a:rPr>
              <a:t> m</a:t>
            </a:r>
            <a:r>
              <a:rPr sz="2000" b="1" spc="-15" dirty="0">
                <a:latin typeface="Gill Sans"/>
                <a:cs typeface="Gill Sans"/>
              </a:rPr>
              <a:t>a</a:t>
            </a:r>
            <a:r>
              <a:rPr sz="2000" b="1" spc="-5" dirty="0">
                <a:latin typeface="Gill Sans"/>
                <a:cs typeface="Gill Sans"/>
              </a:rPr>
              <a:t>t</a:t>
            </a:r>
            <a:r>
              <a:rPr sz="2000" b="1" spc="-90" dirty="0">
                <a:latin typeface="Gill Sans"/>
                <a:cs typeface="Gill Sans"/>
              </a:rPr>
              <a:t>r</a:t>
            </a:r>
            <a:r>
              <a:rPr sz="2000" b="1" spc="-5" dirty="0">
                <a:latin typeface="Gill Sans"/>
                <a:cs typeface="Gill Sans"/>
              </a:rPr>
              <a:t>ix</a:t>
            </a:r>
            <a:r>
              <a:rPr sz="2000" b="1" spc="-10" dirty="0">
                <a:latin typeface="Gill Sans"/>
                <a:cs typeface="Gill Sans"/>
              </a:rPr>
              <a:t>:</a:t>
            </a:r>
            <a:endParaRPr sz="2000">
              <a:latin typeface="Gill Sans"/>
              <a:cs typeface="Gill Sans"/>
            </a:endParaRPr>
          </a:p>
          <a:p>
            <a:pPr marL="1346200">
              <a:lnSpc>
                <a:spcPct val="100000"/>
              </a:lnSpc>
              <a:spcBef>
                <a:spcPts val="500"/>
              </a:spcBef>
            </a:pPr>
            <a:r>
              <a:rPr sz="2000" b="1" dirty="0">
                <a:latin typeface="Gill Sans"/>
                <a:cs typeface="Gill Sans"/>
              </a:rPr>
              <a:t>de</a:t>
            </a:r>
            <a:r>
              <a:rPr sz="2000" b="1" spc="-10" dirty="0">
                <a:latin typeface="Gill Sans"/>
                <a:cs typeface="Gill Sans"/>
              </a:rPr>
              <a:t>scend</a:t>
            </a:r>
            <a:r>
              <a:rPr sz="2000" b="1" spc="10" dirty="0">
                <a:latin typeface="Gill Sans"/>
                <a:cs typeface="Gill Sans"/>
              </a:rPr>
              <a:t>a</a:t>
            </a:r>
            <a:r>
              <a:rPr sz="2000" b="1" dirty="0">
                <a:latin typeface="Gill Sans"/>
                <a:cs typeface="Gill Sans"/>
              </a:rPr>
              <a:t>nt</a:t>
            </a:r>
            <a:r>
              <a:rPr sz="2000" b="1" spc="-5" dirty="0">
                <a:latin typeface="Gill Sans"/>
                <a:cs typeface="Gill Sans"/>
              </a:rPr>
              <a:t> </a:t>
            </a:r>
            <a:r>
              <a:rPr sz="2000" b="1" spc="-30" dirty="0">
                <a:latin typeface="Gill Sans"/>
                <a:cs typeface="Gill Sans"/>
              </a:rPr>
              <a:t>r</a:t>
            </a:r>
            <a:r>
              <a:rPr sz="2000" b="1" spc="10" dirty="0">
                <a:latin typeface="Gill Sans"/>
                <a:cs typeface="Gill Sans"/>
              </a:rPr>
              <a:t>a</a:t>
            </a:r>
            <a:r>
              <a:rPr sz="2000" b="1" dirty="0">
                <a:latin typeface="Gill Sans"/>
                <a:cs typeface="Gill Sans"/>
              </a:rPr>
              <a:t>nge</a:t>
            </a:r>
            <a:endParaRPr sz="2000">
              <a:latin typeface="Gill Sans"/>
              <a:cs typeface="Gill Sans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4422707" y="6038609"/>
            <a:ext cx="1531039" cy="158351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614980" y="6335934"/>
            <a:ext cx="964565" cy="1082675"/>
          </a:xfrm>
          <a:custGeom>
            <a:avLst/>
            <a:gdLst/>
            <a:ahLst/>
            <a:cxnLst/>
            <a:rect l="l" t="t" r="r" b="b"/>
            <a:pathLst>
              <a:path w="964564" h="1082675">
                <a:moveTo>
                  <a:pt x="964248" y="0"/>
                </a:moveTo>
                <a:lnTo>
                  <a:pt x="312789" y="155853"/>
                </a:lnTo>
                <a:lnTo>
                  <a:pt x="473571" y="293654"/>
                </a:lnTo>
                <a:lnTo>
                  <a:pt x="0" y="846199"/>
                </a:lnTo>
                <a:lnTo>
                  <a:pt x="275568" y="1082381"/>
                </a:lnTo>
                <a:lnTo>
                  <a:pt x="749139" y="529835"/>
                </a:lnTo>
                <a:lnTo>
                  <a:pt x="921134" y="529835"/>
                </a:lnTo>
                <a:lnTo>
                  <a:pt x="964248" y="0"/>
                </a:lnTo>
                <a:close/>
              </a:path>
              <a:path w="964564" h="1082675">
                <a:moveTo>
                  <a:pt x="921134" y="529835"/>
                </a:moveTo>
                <a:lnTo>
                  <a:pt x="749139" y="529835"/>
                </a:lnTo>
                <a:lnTo>
                  <a:pt x="909920" y="667635"/>
                </a:lnTo>
                <a:lnTo>
                  <a:pt x="921134" y="5298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1181100" y="1519334"/>
            <a:ext cx="2769235" cy="609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800" spc="-600" dirty="0">
                <a:latin typeface="Gill Sans"/>
                <a:cs typeface="Gill Sans"/>
              </a:rPr>
              <a:t>T</a:t>
            </a:r>
            <a:r>
              <a:rPr sz="4800" spc="-25" dirty="0">
                <a:latin typeface="Gill Sans"/>
                <a:cs typeface="Gill Sans"/>
              </a:rPr>
              <a:t>rad</a:t>
            </a:r>
            <a:r>
              <a:rPr sz="4800" spc="-5" dirty="0">
                <a:latin typeface="Gill Sans"/>
                <a:cs typeface="Gill Sans"/>
              </a:rPr>
              <a:t>i</a:t>
            </a:r>
            <a:r>
              <a:rPr sz="4800" dirty="0">
                <a:latin typeface="Gill Sans"/>
                <a:cs typeface="Gill Sans"/>
              </a:rPr>
              <a:t>t</a:t>
            </a:r>
            <a:r>
              <a:rPr sz="4800" spc="-5" dirty="0">
                <a:latin typeface="Gill Sans"/>
                <a:cs typeface="Gill Sans"/>
              </a:rPr>
              <a:t>i</a:t>
            </a:r>
            <a:r>
              <a:rPr sz="4800" spc="-25" dirty="0">
                <a:latin typeface="Gill Sans"/>
                <a:cs typeface="Gill Sans"/>
              </a:rPr>
              <a:t>ona</a:t>
            </a:r>
            <a:r>
              <a:rPr sz="4800" spc="-5" dirty="0">
                <a:latin typeface="Gill Sans"/>
                <a:cs typeface="Gill Sans"/>
              </a:rPr>
              <a:t>l</a:t>
            </a:r>
            <a:r>
              <a:rPr sz="4800" dirty="0">
                <a:latin typeface="Gill Sans"/>
                <a:cs typeface="Gill Sans"/>
              </a:rPr>
              <a:t>:</a:t>
            </a:r>
            <a:endParaRPr sz="4800">
              <a:latin typeface="Gill Sans"/>
              <a:cs typeface="Gill Sans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7756155" y="2157380"/>
            <a:ext cx="4864384" cy="72493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806955" y="2182780"/>
            <a:ext cx="4763135" cy="7148195"/>
          </a:xfrm>
          <a:custGeom>
            <a:avLst/>
            <a:gdLst/>
            <a:ahLst/>
            <a:cxnLst/>
            <a:rect l="l" t="t" r="r" b="b"/>
            <a:pathLst>
              <a:path w="4763134" h="7148195">
                <a:moveTo>
                  <a:pt x="0" y="0"/>
                </a:moveTo>
                <a:lnTo>
                  <a:pt x="4762784" y="0"/>
                </a:lnTo>
                <a:lnTo>
                  <a:pt x="4762784" y="7147718"/>
                </a:lnTo>
                <a:lnTo>
                  <a:pt x="0" y="7147718"/>
                </a:lnTo>
                <a:lnTo>
                  <a:pt x="0" y="0"/>
                </a:lnTo>
                <a:close/>
              </a:path>
            </a:pathLst>
          </a:custGeom>
          <a:solidFill>
            <a:srgbClr val="A6AA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7806955" y="2182780"/>
            <a:ext cx="4763135" cy="7148195"/>
          </a:xfrm>
          <a:custGeom>
            <a:avLst/>
            <a:gdLst/>
            <a:ahLst/>
            <a:cxnLst/>
            <a:rect l="l" t="t" r="r" b="b"/>
            <a:pathLst>
              <a:path w="4763134" h="7148195">
                <a:moveTo>
                  <a:pt x="0" y="0"/>
                </a:moveTo>
                <a:lnTo>
                  <a:pt x="4762784" y="0"/>
                </a:lnTo>
                <a:lnTo>
                  <a:pt x="4762784" y="7147718"/>
                </a:lnTo>
                <a:lnTo>
                  <a:pt x="0" y="714771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7848600" y="7760428"/>
            <a:ext cx="1146810" cy="571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3200" marR="5080" indent="-190500">
              <a:lnSpc>
                <a:spcPts val="2300"/>
              </a:lnSpc>
            </a:pPr>
            <a:r>
              <a:rPr sz="2000" b="1" spc="25" dirty="0">
                <a:latin typeface="Gill Sans"/>
                <a:cs typeface="Gill Sans"/>
              </a:rPr>
              <a:t>a</a:t>
            </a:r>
            <a:r>
              <a:rPr sz="2000" b="1" spc="-5" dirty="0">
                <a:latin typeface="Gill Sans"/>
                <a:cs typeface="Gill Sans"/>
              </a:rPr>
              <a:t>nce</a:t>
            </a:r>
            <a:r>
              <a:rPr sz="2000" b="1" spc="-10" dirty="0">
                <a:latin typeface="Gill Sans"/>
                <a:cs typeface="Gill Sans"/>
              </a:rPr>
              <a:t>s</a:t>
            </a:r>
            <a:r>
              <a:rPr sz="2000" b="1" spc="-5" dirty="0">
                <a:latin typeface="Gill Sans"/>
                <a:cs typeface="Gill Sans"/>
              </a:rPr>
              <a:t>to</a:t>
            </a:r>
            <a:r>
              <a:rPr sz="2000" b="1" dirty="0">
                <a:latin typeface="Gill Sans"/>
                <a:cs typeface="Gill Sans"/>
              </a:rPr>
              <a:t>r </a:t>
            </a:r>
            <a:r>
              <a:rPr sz="2000" b="1" spc="-30" dirty="0">
                <a:latin typeface="Gill Sans"/>
                <a:cs typeface="Gill Sans"/>
              </a:rPr>
              <a:t>r</a:t>
            </a:r>
            <a:r>
              <a:rPr sz="2000" b="1" spc="10" dirty="0">
                <a:latin typeface="Gill Sans"/>
                <a:cs typeface="Gill Sans"/>
              </a:rPr>
              <a:t>a</a:t>
            </a:r>
            <a:r>
              <a:rPr sz="2000" b="1" dirty="0">
                <a:latin typeface="Gill Sans"/>
                <a:cs typeface="Gill Sans"/>
              </a:rPr>
              <a:t>nge</a:t>
            </a:r>
            <a:endParaRPr sz="2000">
              <a:latin typeface="Gill Sans"/>
              <a:cs typeface="Gill Sans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9309100" y="6261828"/>
            <a:ext cx="229743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dirty="0">
                <a:latin typeface="Gill Sans"/>
                <a:cs typeface="Gill Sans"/>
              </a:rPr>
              <a:t>de</a:t>
            </a:r>
            <a:r>
              <a:rPr sz="2000" b="1" spc="-10" dirty="0">
                <a:latin typeface="Gill Sans"/>
                <a:cs typeface="Gill Sans"/>
              </a:rPr>
              <a:t>scend</a:t>
            </a:r>
            <a:r>
              <a:rPr sz="2000" b="1" spc="10" dirty="0">
                <a:latin typeface="Gill Sans"/>
                <a:cs typeface="Gill Sans"/>
              </a:rPr>
              <a:t>a</a:t>
            </a:r>
            <a:r>
              <a:rPr sz="2000" b="1" dirty="0">
                <a:latin typeface="Gill Sans"/>
                <a:cs typeface="Gill Sans"/>
              </a:rPr>
              <a:t>nt</a:t>
            </a:r>
            <a:r>
              <a:rPr sz="2000" b="1" spc="-5" dirty="0">
                <a:latin typeface="Gill Sans"/>
                <a:cs typeface="Gill Sans"/>
              </a:rPr>
              <a:t> </a:t>
            </a:r>
            <a:r>
              <a:rPr sz="2000" b="1" spc="-30" dirty="0">
                <a:latin typeface="Gill Sans"/>
                <a:cs typeface="Gill Sans"/>
              </a:rPr>
              <a:t>r</a:t>
            </a:r>
            <a:r>
              <a:rPr sz="2000" b="1" spc="10" dirty="0">
                <a:latin typeface="Gill Sans"/>
                <a:cs typeface="Gill Sans"/>
              </a:rPr>
              <a:t>a</a:t>
            </a:r>
            <a:r>
              <a:rPr sz="2000" b="1" dirty="0">
                <a:latin typeface="Gill Sans"/>
                <a:cs typeface="Gill Sans"/>
              </a:rPr>
              <a:t>nge</a:t>
            </a:r>
            <a:endParaRPr sz="2000">
              <a:latin typeface="Gill Sans"/>
              <a:cs typeface="Gill Sans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8102600" y="2502628"/>
            <a:ext cx="1649095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40" dirty="0">
                <a:latin typeface="Gill Sans"/>
                <a:cs typeface="Gill Sans"/>
              </a:rPr>
              <a:t>R</a:t>
            </a:r>
            <a:r>
              <a:rPr sz="2000" b="1" spc="-15" dirty="0">
                <a:latin typeface="Gill Sans"/>
                <a:cs typeface="Gill Sans"/>
              </a:rPr>
              <a:t>a</a:t>
            </a:r>
            <a:r>
              <a:rPr sz="2000" b="1" spc="-5" dirty="0">
                <a:latin typeface="Gill Sans"/>
                <a:cs typeface="Gill Sans"/>
              </a:rPr>
              <a:t>t</a:t>
            </a:r>
            <a:r>
              <a:rPr sz="2000" b="1" dirty="0">
                <a:latin typeface="Gill Sans"/>
                <a:cs typeface="Gill Sans"/>
              </a:rPr>
              <a:t>e</a:t>
            </a:r>
            <a:r>
              <a:rPr sz="2000" b="1" spc="-5" dirty="0">
                <a:latin typeface="Gill Sans"/>
                <a:cs typeface="Gill Sans"/>
              </a:rPr>
              <a:t> m</a:t>
            </a:r>
            <a:r>
              <a:rPr sz="2000" b="1" spc="-15" dirty="0">
                <a:latin typeface="Gill Sans"/>
                <a:cs typeface="Gill Sans"/>
              </a:rPr>
              <a:t>a</a:t>
            </a:r>
            <a:r>
              <a:rPr sz="2000" b="1" spc="-5" dirty="0">
                <a:latin typeface="Gill Sans"/>
                <a:cs typeface="Gill Sans"/>
              </a:rPr>
              <a:t>t</a:t>
            </a:r>
            <a:r>
              <a:rPr sz="2000" b="1" spc="-90" dirty="0">
                <a:latin typeface="Gill Sans"/>
                <a:cs typeface="Gill Sans"/>
              </a:rPr>
              <a:t>r</a:t>
            </a:r>
            <a:r>
              <a:rPr sz="2000" b="1" spc="-5" dirty="0">
                <a:latin typeface="Gill Sans"/>
                <a:cs typeface="Gill Sans"/>
              </a:rPr>
              <a:t>ix</a:t>
            </a:r>
            <a:r>
              <a:rPr sz="2000" b="1" spc="-10" dirty="0">
                <a:latin typeface="Gill Sans"/>
                <a:cs typeface="Gill Sans"/>
              </a:rPr>
              <a:t>:</a:t>
            </a:r>
            <a:endParaRPr sz="2000">
              <a:latin typeface="Gill Sans"/>
              <a:cs typeface="Gill Sans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8204200" y="1506634"/>
            <a:ext cx="4101465" cy="635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800" spc="-600" dirty="0">
                <a:latin typeface="Gill Sans"/>
                <a:cs typeface="Gill Sans"/>
              </a:rPr>
              <a:t>T</a:t>
            </a:r>
            <a:r>
              <a:rPr sz="4800" spc="-20" dirty="0">
                <a:latin typeface="Gill Sans"/>
                <a:cs typeface="Gill Sans"/>
              </a:rPr>
              <a:t>ra</a:t>
            </a:r>
            <a:r>
              <a:rPr sz="4800" spc="-5" dirty="0">
                <a:latin typeface="Gill Sans"/>
                <a:cs typeface="Gill Sans"/>
              </a:rPr>
              <a:t>i</a:t>
            </a:r>
            <a:r>
              <a:rPr sz="4800" dirty="0">
                <a:latin typeface="Gill Sans"/>
                <a:cs typeface="Gill Sans"/>
              </a:rPr>
              <a:t>t</a:t>
            </a:r>
            <a:r>
              <a:rPr sz="4800" spc="-5" dirty="0">
                <a:latin typeface="Gill Sans"/>
                <a:cs typeface="Gill Sans"/>
              </a:rPr>
              <a:t>-</a:t>
            </a:r>
            <a:r>
              <a:rPr sz="4800" spc="-25" dirty="0">
                <a:latin typeface="Gill Sans"/>
                <a:cs typeface="Gill Sans"/>
              </a:rPr>
              <a:t>depend</a:t>
            </a:r>
            <a:r>
              <a:rPr sz="4800" dirty="0">
                <a:latin typeface="Gill Sans"/>
                <a:cs typeface="Gill Sans"/>
              </a:rPr>
              <a:t>ent:</a:t>
            </a:r>
            <a:endParaRPr sz="4800">
              <a:latin typeface="Gill Sans"/>
              <a:cs typeface="Gill Sans"/>
            </a:endParaRPr>
          </a:p>
        </p:txBody>
      </p:sp>
      <p:graphicFrame>
        <p:nvGraphicFramePr>
          <p:cNvPr id="36" name="object 36"/>
          <p:cNvGraphicFramePr>
            <a:graphicFrameLocks noGrp="1"/>
          </p:cNvGraphicFramePr>
          <p:nvPr/>
        </p:nvGraphicFramePr>
        <p:xfrm>
          <a:off x="1581150" y="6610350"/>
          <a:ext cx="2517177" cy="25792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4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34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3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34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5858">
                <a:tc>
                  <a:txBody>
                    <a:bodyPr/>
                    <a:lstStyle/>
                    <a:p>
                      <a:endParaRPr sz="2600">
                        <a:latin typeface="Gill Sans"/>
                        <a:cs typeface="Gill Sans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sz="1600" b="1" i="1" dirty="0">
                          <a:latin typeface="Helvetica"/>
                          <a:cs typeface="Helvetica"/>
                        </a:rPr>
                        <a:t>null</a:t>
                      </a:r>
                      <a:endParaRPr sz="16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A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B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AB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858"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1600" b="1" i="1" dirty="0">
                          <a:latin typeface="Helvetica"/>
                          <a:cs typeface="Helvetica"/>
                        </a:rPr>
                        <a:t>null</a:t>
                      </a:r>
                      <a:endParaRPr sz="16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600" dirty="0">
                          <a:latin typeface="Helvetica Light"/>
                          <a:cs typeface="Helvetica Light"/>
                        </a:rPr>
                        <a:t>-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858">
                <a:tc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A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</a:pPr>
                      <a:r>
                        <a:rPr sz="2600" i="1" dirty="0">
                          <a:latin typeface="Helvetica Light"/>
                          <a:cs typeface="Helvetica Light"/>
                        </a:rPr>
                        <a:t>e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</a:pPr>
                      <a:r>
                        <a:rPr sz="2600" dirty="0">
                          <a:latin typeface="Helvetica Light"/>
                          <a:cs typeface="Helvetica Light"/>
                        </a:rPr>
                        <a:t>-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</a:pPr>
                      <a:r>
                        <a:rPr sz="2600" i="1" dirty="0">
                          <a:latin typeface="Helvetica Light"/>
                          <a:cs typeface="Helvetica Light"/>
                        </a:rPr>
                        <a:t>d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857">
                <a:tc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B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</a:pPr>
                      <a:r>
                        <a:rPr sz="2600" i="1" dirty="0">
                          <a:latin typeface="Helvetica Light"/>
                          <a:cs typeface="Helvetica Light"/>
                        </a:rPr>
                        <a:t>e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ct val="100000"/>
                        </a:lnSpc>
                      </a:pPr>
                      <a:r>
                        <a:rPr sz="2600" dirty="0">
                          <a:latin typeface="Helvetica Light"/>
                          <a:cs typeface="Helvetica Light"/>
                        </a:rPr>
                        <a:t>-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</a:pPr>
                      <a:r>
                        <a:rPr sz="2600" i="1" dirty="0">
                          <a:latin typeface="Helvetica Light"/>
                          <a:cs typeface="Helvetica Light"/>
                        </a:rPr>
                        <a:t>d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5858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AB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</a:pPr>
                      <a:r>
                        <a:rPr sz="2600" i="1" dirty="0">
                          <a:latin typeface="Helvetica Light"/>
                          <a:cs typeface="Helvetica Light"/>
                        </a:rPr>
                        <a:t>e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</a:pPr>
                      <a:r>
                        <a:rPr sz="2600" i="1" dirty="0">
                          <a:latin typeface="Helvetica Light"/>
                          <a:cs typeface="Helvetica Light"/>
                        </a:rPr>
                        <a:t>e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600" dirty="0">
                          <a:latin typeface="Helvetica Light"/>
                          <a:cs typeface="Helvetica Light"/>
                        </a:rPr>
                        <a:t>-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2" name="object 52"/>
          <p:cNvGraphicFramePr>
            <a:graphicFrameLocks noGrp="1"/>
          </p:cNvGraphicFramePr>
          <p:nvPr/>
        </p:nvGraphicFramePr>
        <p:xfrm>
          <a:off x="9201150" y="6610350"/>
          <a:ext cx="2517177" cy="27949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4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34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3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34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5858">
                <a:tc>
                  <a:txBody>
                    <a:bodyPr/>
                    <a:lstStyle/>
                    <a:p>
                      <a:endParaRPr sz="4800">
                        <a:latin typeface="Gill Sans"/>
                        <a:cs typeface="Gill Sans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sz="1600" b="1" i="1" dirty="0">
                          <a:latin typeface="Helvetica"/>
                          <a:cs typeface="Helvetica"/>
                        </a:rPr>
                        <a:t>null</a:t>
                      </a:r>
                      <a:endParaRPr sz="16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A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B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AB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858"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1600" b="1" i="1" dirty="0">
                          <a:latin typeface="Helvetica"/>
                          <a:cs typeface="Helvetica"/>
                        </a:rPr>
                        <a:t>null</a:t>
                      </a:r>
                      <a:endParaRPr sz="16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600" dirty="0">
                          <a:latin typeface="Helvetica Light"/>
                          <a:cs typeface="Helvetica Light"/>
                        </a:rPr>
                        <a:t>-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858">
                <a:tc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A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</a:pPr>
                      <a:r>
                        <a:rPr sz="2600" i="1" dirty="0">
                          <a:latin typeface="Helvetica Light"/>
                          <a:cs typeface="Helvetica Light"/>
                        </a:rPr>
                        <a:t>e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</a:pPr>
                      <a:r>
                        <a:rPr sz="2600" dirty="0">
                          <a:latin typeface="Helvetica Light"/>
                          <a:cs typeface="Helvetica Light"/>
                        </a:rPr>
                        <a:t>-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</a:pPr>
                      <a:r>
                        <a:rPr sz="2600" i="1" dirty="0">
                          <a:latin typeface="Helvetica Light"/>
                          <a:cs typeface="Helvetica Light"/>
                        </a:rPr>
                        <a:t>d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857">
                <a:tc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B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</a:pPr>
                      <a:r>
                        <a:rPr sz="2600" i="1" dirty="0">
                          <a:latin typeface="Helvetica Light"/>
                          <a:cs typeface="Helvetica Light"/>
                        </a:rPr>
                        <a:t>e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ct val="100000"/>
                        </a:lnSpc>
                      </a:pPr>
                      <a:r>
                        <a:rPr sz="2600" dirty="0">
                          <a:latin typeface="Helvetica Light"/>
                          <a:cs typeface="Helvetica Light"/>
                        </a:rPr>
                        <a:t>-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</a:pPr>
                      <a:r>
                        <a:rPr sz="2600" i="1" dirty="0">
                          <a:latin typeface="Helvetica Light"/>
                          <a:cs typeface="Helvetica Light"/>
                        </a:rPr>
                        <a:t>d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5858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AB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</a:pPr>
                      <a:r>
                        <a:rPr sz="2600" i="1" dirty="0">
                          <a:latin typeface="Helvetica Light"/>
                          <a:cs typeface="Helvetica Light"/>
                        </a:rPr>
                        <a:t>e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</a:pPr>
                      <a:r>
                        <a:rPr sz="2600" i="1" dirty="0">
                          <a:latin typeface="Helvetica Light"/>
                          <a:cs typeface="Helvetica Light"/>
                        </a:rPr>
                        <a:t>e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600" dirty="0">
                          <a:latin typeface="Helvetica Light"/>
                          <a:cs typeface="Helvetica Light"/>
                        </a:rPr>
                        <a:t>-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7" name="object 57"/>
          <p:cNvGraphicFramePr>
            <a:graphicFrameLocks noGrp="1"/>
          </p:cNvGraphicFramePr>
          <p:nvPr/>
        </p:nvGraphicFramePr>
        <p:xfrm>
          <a:off x="9201150" y="3219450"/>
          <a:ext cx="2508782" cy="25792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6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6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6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9763">
                <a:tc>
                  <a:txBody>
                    <a:bodyPr/>
                    <a:lstStyle/>
                    <a:p>
                      <a:endParaRPr sz="4800">
                        <a:latin typeface="Gill Sans"/>
                        <a:cs typeface="Gill Sans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8605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F</a:t>
                      </a:r>
                      <a:r>
                        <a:rPr sz="2000" b="1" spc="-185" dirty="0">
                          <a:latin typeface="Helvetica"/>
                          <a:cs typeface="Helvetica"/>
                        </a:rPr>
                        <a:t>L</a:t>
                      </a:r>
                      <a:r>
                        <a:rPr sz="2000" b="1" dirty="0">
                          <a:latin typeface="Helvetica"/>
                          <a:cs typeface="Helvetica"/>
                        </a:rPr>
                        <a:t>Y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49860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NOT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9763">
                <a:tc>
                  <a:txBody>
                    <a:bodyPr/>
                    <a:lstStyle/>
                    <a:p>
                      <a:pPr marL="184150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F</a:t>
                      </a:r>
                      <a:r>
                        <a:rPr sz="2000" b="1" spc="-185" dirty="0">
                          <a:latin typeface="Helvetica"/>
                          <a:cs typeface="Helvetica"/>
                        </a:rPr>
                        <a:t>L</a:t>
                      </a:r>
                      <a:r>
                        <a:rPr sz="2000" b="1" dirty="0">
                          <a:latin typeface="Helvetica"/>
                          <a:cs typeface="Helvetica"/>
                        </a:rPr>
                        <a:t>Y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</a:pPr>
                      <a:r>
                        <a:rPr sz="2600" dirty="0">
                          <a:latin typeface="Helvetica Light"/>
                          <a:cs typeface="Helvetica Light"/>
                        </a:rPr>
                        <a:t>-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</a:pPr>
                      <a:r>
                        <a:rPr sz="2600" dirty="0">
                          <a:latin typeface="Helvetica Light"/>
                          <a:cs typeface="Helvetica Light"/>
                        </a:rPr>
                        <a:t>t12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9764"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NOT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86055">
                        <a:lnSpc>
                          <a:spcPct val="100000"/>
                        </a:lnSpc>
                      </a:pPr>
                      <a:r>
                        <a:rPr sz="2600" dirty="0">
                          <a:latin typeface="Helvetica Light"/>
                          <a:cs typeface="Helvetica Light"/>
                        </a:rPr>
                        <a:t>t21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600" dirty="0">
                          <a:latin typeface="Helvetica Light"/>
                          <a:cs typeface="Helvetica Light"/>
                        </a:rPr>
                        <a:t>-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147528" y="1404288"/>
            <a:ext cx="279400" cy="194881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5" dirty="0">
                <a:latin typeface="Gill Sans"/>
                <a:cs typeface="Gill Sans"/>
              </a:rPr>
              <a:t>a</a:t>
            </a:r>
            <a:r>
              <a:rPr sz="2000" b="1" dirty="0">
                <a:latin typeface="Gill Sans"/>
                <a:cs typeface="Gill Sans"/>
              </a:rPr>
              <a:t>ncestor</a:t>
            </a:r>
            <a:r>
              <a:rPr sz="2000" b="1" spc="-5" dirty="0">
                <a:latin typeface="Gill Sans"/>
                <a:cs typeface="Gill Sans"/>
              </a:rPr>
              <a:t> </a:t>
            </a:r>
            <a:r>
              <a:rPr sz="2000" b="1" spc="-30" dirty="0">
                <a:latin typeface="Gill Sans"/>
                <a:cs typeface="Gill Sans"/>
              </a:rPr>
              <a:t>r</a:t>
            </a:r>
            <a:r>
              <a:rPr sz="2000" b="1" spc="25" dirty="0">
                <a:latin typeface="Gill Sans"/>
                <a:cs typeface="Gill Sans"/>
              </a:rPr>
              <a:t>a</a:t>
            </a:r>
            <a:r>
              <a:rPr sz="2000" b="1" dirty="0">
                <a:latin typeface="Gill Sans"/>
                <a:cs typeface="Gill Sans"/>
              </a:rPr>
              <a:t>nge</a:t>
            </a:r>
            <a:endParaRPr sz="2000">
              <a:latin typeface="Gill Sans"/>
              <a:cs typeface="Gill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65800" y="3487"/>
            <a:ext cx="3615054" cy="1064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000"/>
              </a:lnSpc>
            </a:pPr>
            <a:r>
              <a:rPr sz="2600" b="1" spc="-25" dirty="0">
                <a:latin typeface="Gill Sans"/>
                <a:cs typeface="Gill Sans"/>
              </a:rPr>
              <a:t>Geo</a:t>
            </a:r>
            <a:r>
              <a:rPr sz="2600" b="1" spc="95" dirty="0">
                <a:latin typeface="Gill Sans"/>
                <a:cs typeface="Gill Sans"/>
              </a:rPr>
              <a:t>g</a:t>
            </a:r>
            <a:r>
              <a:rPr sz="2600" b="1" spc="-40" dirty="0">
                <a:latin typeface="Gill Sans"/>
                <a:cs typeface="Gill Sans"/>
              </a:rPr>
              <a:t>r</a:t>
            </a:r>
            <a:r>
              <a:rPr sz="2600" b="1" spc="20" dirty="0">
                <a:latin typeface="Gill Sans"/>
                <a:cs typeface="Gill Sans"/>
              </a:rPr>
              <a:t>a</a:t>
            </a:r>
            <a:r>
              <a:rPr sz="2600" b="1" dirty="0">
                <a:latin typeface="Gill Sans"/>
                <a:cs typeface="Gill Sans"/>
              </a:rPr>
              <a:t>phy</a:t>
            </a:r>
            <a:r>
              <a:rPr sz="2600" b="1" spc="-5" dirty="0">
                <a:latin typeface="Gill Sans"/>
                <a:cs typeface="Gill Sans"/>
              </a:rPr>
              <a:t> </a:t>
            </a:r>
            <a:r>
              <a:rPr sz="2600" b="1" dirty="0">
                <a:latin typeface="Gill Sans"/>
                <a:cs typeface="Gill Sans"/>
              </a:rPr>
              <a:t>t</a:t>
            </a:r>
            <a:r>
              <a:rPr sz="2600" b="1" spc="-40" dirty="0">
                <a:latin typeface="Gill Sans"/>
                <a:cs typeface="Gill Sans"/>
              </a:rPr>
              <a:t>r</a:t>
            </a:r>
            <a:r>
              <a:rPr sz="2600" b="1" spc="20" dirty="0">
                <a:latin typeface="Gill Sans"/>
                <a:cs typeface="Gill Sans"/>
              </a:rPr>
              <a:t>a</a:t>
            </a:r>
            <a:r>
              <a:rPr sz="2600" b="1" dirty="0">
                <a:latin typeface="Gill Sans"/>
                <a:cs typeface="Gill Sans"/>
              </a:rPr>
              <a:t>n</a:t>
            </a:r>
            <a:r>
              <a:rPr sz="2600" b="1" spc="-15" dirty="0">
                <a:latin typeface="Gill Sans"/>
                <a:cs typeface="Gill Sans"/>
              </a:rPr>
              <a:t>s</a:t>
            </a:r>
            <a:r>
              <a:rPr sz="2600" b="1" dirty="0">
                <a:latin typeface="Gill Sans"/>
                <a:cs typeface="Gill Sans"/>
              </a:rPr>
              <a:t>ition m</a:t>
            </a:r>
            <a:r>
              <a:rPr sz="2600" b="1" spc="-15" dirty="0">
                <a:latin typeface="Gill Sans"/>
                <a:cs typeface="Gill Sans"/>
              </a:rPr>
              <a:t>a</a:t>
            </a:r>
            <a:r>
              <a:rPr sz="2600" b="1" dirty="0">
                <a:latin typeface="Gill Sans"/>
                <a:cs typeface="Gill Sans"/>
              </a:rPr>
              <a:t>t</a:t>
            </a:r>
            <a:r>
              <a:rPr sz="2600" b="1" spc="-114" dirty="0">
                <a:latin typeface="Gill Sans"/>
                <a:cs typeface="Gill Sans"/>
              </a:rPr>
              <a:t>r</a:t>
            </a:r>
            <a:r>
              <a:rPr sz="2600" b="1" dirty="0">
                <a:latin typeface="Gill Sans"/>
                <a:cs typeface="Gill Sans"/>
              </a:rPr>
              <a:t>ix</a:t>
            </a:r>
            <a:r>
              <a:rPr sz="2600" b="1" spc="-5" dirty="0">
                <a:latin typeface="Gill Sans"/>
                <a:cs typeface="Gill Sans"/>
              </a:rPr>
              <a:t> </a:t>
            </a:r>
            <a:r>
              <a:rPr sz="2600" b="1" spc="-10" dirty="0">
                <a:latin typeface="Gill Sans"/>
                <a:cs typeface="Gill Sans"/>
              </a:rPr>
              <a:t>(</a:t>
            </a:r>
            <a:r>
              <a:rPr sz="2600" b="1" spc="20" dirty="0">
                <a:latin typeface="Gill Sans"/>
                <a:cs typeface="Gill Sans"/>
              </a:rPr>
              <a:t>a</a:t>
            </a:r>
            <a:r>
              <a:rPr sz="2600" b="1" dirty="0">
                <a:latin typeface="Gill Sans"/>
                <a:cs typeface="Gill Sans"/>
              </a:rPr>
              <a:t>n</a:t>
            </a:r>
            <a:r>
              <a:rPr sz="2600" b="1" spc="20" dirty="0">
                <a:latin typeface="Gill Sans"/>
                <a:cs typeface="Gill Sans"/>
              </a:rPr>
              <a:t>a</a:t>
            </a:r>
            <a:r>
              <a:rPr sz="2600" b="1" dirty="0">
                <a:latin typeface="Gill Sans"/>
                <a:cs typeface="Gill Sans"/>
              </a:rPr>
              <a:t>genetic</a:t>
            </a:r>
            <a:r>
              <a:rPr sz="2600" b="1" spc="-10" dirty="0">
                <a:latin typeface="Gill Sans"/>
                <a:cs typeface="Gill Sans"/>
              </a:rPr>
              <a:t>):</a:t>
            </a:r>
            <a:endParaRPr sz="2600">
              <a:latin typeface="Gill Sans"/>
              <a:cs typeface="Gill Sans"/>
            </a:endParaRPr>
          </a:p>
          <a:p>
            <a:pPr marL="9652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Gill Sans"/>
                <a:cs typeface="Gill Sans"/>
              </a:rPr>
              <a:t>de</a:t>
            </a:r>
            <a:r>
              <a:rPr sz="2000" b="1" spc="-10" dirty="0">
                <a:latin typeface="Gill Sans"/>
                <a:cs typeface="Gill Sans"/>
              </a:rPr>
              <a:t>scend</a:t>
            </a:r>
            <a:r>
              <a:rPr sz="2000" b="1" spc="10" dirty="0">
                <a:latin typeface="Gill Sans"/>
                <a:cs typeface="Gill Sans"/>
              </a:rPr>
              <a:t>a</a:t>
            </a:r>
            <a:r>
              <a:rPr sz="2000" b="1" dirty="0">
                <a:latin typeface="Gill Sans"/>
                <a:cs typeface="Gill Sans"/>
              </a:rPr>
              <a:t>nt</a:t>
            </a:r>
            <a:r>
              <a:rPr sz="2000" b="1" spc="-5" dirty="0">
                <a:latin typeface="Gill Sans"/>
                <a:cs typeface="Gill Sans"/>
              </a:rPr>
              <a:t> </a:t>
            </a:r>
            <a:r>
              <a:rPr sz="2000" b="1" spc="-30" dirty="0">
                <a:latin typeface="Gill Sans"/>
                <a:cs typeface="Gill Sans"/>
              </a:rPr>
              <a:t>r</a:t>
            </a:r>
            <a:r>
              <a:rPr sz="2000" b="1" spc="10" dirty="0">
                <a:latin typeface="Gill Sans"/>
                <a:cs typeface="Gill Sans"/>
              </a:rPr>
              <a:t>a</a:t>
            </a:r>
            <a:r>
              <a:rPr sz="2000" b="1" dirty="0">
                <a:latin typeface="Gill Sans"/>
                <a:cs typeface="Gill Sans"/>
              </a:rPr>
              <a:t>nge</a:t>
            </a:r>
            <a:endParaRPr sz="2000">
              <a:latin typeface="Gill Sans"/>
              <a:cs typeface="Gill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94800" y="2186585"/>
            <a:ext cx="534035" cy="787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6000" b="1" spc="-40" dirty="0">
                <a:latin typeface="Gill Sans"/>
                <a:cs typeface="Gill Sans"/>
              </a:rPr>
              <a:t>=</a:t>
            </a:r>
            <a:endParaRPr sz="6000">
              <a:latin typeface="Gill Sans"/>
              <a:cs typeface="Gill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35600" y="2021485"/>
            <a:ext cx="534035" cy="787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6000" b="1" spc="-40" dirty="0">
                <a:latin typeface="Gill Sans"/>
                <a:cs typeface="Gill Sans"/>
              </a:rPr>
              <a:t>+</a:t>
            </a:r>
            <a:endParaRPr sz="6000">
              <a:latin typeface="Gill Sans"/>
              <a:cs typeface="Gill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79600" y="5985186"/>
            <a:ext cx="2183765" cy="1879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000"/>
              </a:lnSpc>
            </a:pPr>
            <a:r>
              <a:rPr sz="2600" b="1" dirty="0">
                <a:latin typeface="Gill Sans"/>
                <a:cs typeface="Gill Sans"/>
              </a:rPr>
              <a:t>Combined t</a:t>
            </a:r>
            <a:r>
              <a:rPr sz="2600" b="1" spc="-40" dirty="0">
                <a:latin typeface="Gill Sans"/>
                <a:cs typeface="Gill Sans"/>
              </a:rPr>
              <a:t>r</a:t>
            </a:r>
            <a:r>
              <a:rPr sz="2600" b="1" spc="20" dirty="0">
                <a:latin typeface="Gill Sans"/>
                <a:cs typeface="Gill Sans"/>
              </a:rPr>
              <a:t>a</a:t>
            </a:r>
            <a:r>
              <a:rPr sz="2600" b="1" spc="-5" dirty="0">
                <a:latin typeface="Gill Sans"/>
                <a:cs typeface="Gill Sans"/>
              </a:rPr>
              <a:t>i</a:t>
            </a:r>
            <a:r>
              <a:rPr sz="2600" b="1" dirty="0">
                <a:latin typeface="Gill Sans"/>
                <a:cs typeface="Gill Sans"/>
              </a:rPr>
              <a:t>t </a:t>
            </a:r>
            <a:r>
              <a:rPr sz="2600" b="1" spc="-20" dirty="0">
                <a:latin typeface="Gill Sans"/>
                <a:cs typeface="Gill Sans"/>
              </a:rPr>
              <a:t>+</a:t>
            </a:r>
            <a:r>
              <a:rPr sz="2600" b="1" spc="-10" dirty="0">
                <a:latin typeface="Gill Sans"/>
                <a:cs typeface="Gill Sans"/>
              </a:rPr>
              <a:t> </a:t>
            </a:r>
            <a:r>
              <a:rPr sz="2600" b="1" dirty="0">
                <a:latin typeface="Gill Sans"/>
                <a:cs typeface="Gill Sans"/>
              </a:rPr>
              <a:t>geo</a:t>
            </a:r>
            <a:r>
              <a:rPr sz="2600" b="1" spc="95" dirty="0">
                <a:latin typeface="Gill Sans"/>
                <a:cs typeface="Gill Sans"/>
              </a:rPr>
              <a:t>g</a:t>
            </a:r>
            <a:r>
              <a:rPr sz="2600" b="1" spc="-40" dirty="0">
                <a:latin typeface="Gill Sans"/>
                <a:cs typeface="Gill Sans"/>
              </a:rPr>
              <a:t>r</a:t>
            </a:r>
            <a:r>
              <a:rPr sz="2600" b="1" spc="20" dirty="0">
                <a:latin typeface="Gill Sans"/>
                <a:cs typeface="Gill Sans"/>
              </a:rPr>
              <a:t>a</a:t>
            </a:r>
            <a:r>
              <a:rPr sz="2600" b="1" dirty="0">
                <a:latin typeface="Gill Sans"/>
                <a:cs typeface="Gill Sans"/>
              </a:rPr>
              <a:t>phy ma</a:t>
            </a:r>
            <a:r>
              <a:rPr sz="2600" b="1" spc="-5" dirty="0">
                <a:latin typeface="Gill Sans"/>
                <a:cs typeface="Gill Sans"/>
              </a:rPr>
              <a:t>t</a:t>
            </a:r>
            <a:r>
              <a:rPr sz="2600" b="1" spc="-110" dirty="0">
                <a:latin typeface="Gill Sans"/>
                <a:cs typeface="Gill Sans"/>
              </a:rPr>
              <a:t>r</a:t>
            </a:r>
            <a:r>
              <a:rPr sz="2600" b="1" dirty="0">
                <a:latin typeface="Gill Sans"/>
                <a:cs typeface="Gill Sans"/>
              </a:rPr>
              <a:t>ix </a:t>
            </a:r>
            <a:r>
              <a:rPr sz="2600" b="1" spc="-10" dirty="0">
                <a:latin typeface="Gill Sans"/>
                <a:cs typeface="Gill Sans"/>
              </a:rPr>
              <a:t>(</a:t>
            </a:r>
            <a:r>
              <a:rPr sz="2600" b="1" spc="20" dirty="0">
                <a:latin typeface="Gill Sans"/>
                <a:cs typeface="Gill Sans"/>
              </a:rPr>
              <a:t>a</a:t>
            </a:r>
            <a:r>
              <a:rPr sz="2600" b="1" dirty="0">
                <a:latin typeface="Gill Sans"/>
                <a:cs typeface="Gill Sans"/>
              </a:rPr>
              <a:t>n</a:t>
            </a:r>
            <a:r>
              <a:rPr sz="2600" b="1" spc="20" dirty="0">
                <a:latin typeface="Gill Sans"/>
                <a:cs typeface="Gill Sans"/>
              </a:rPr>
              <a:t>a</a:t>
            </a:r>
            <a:r>
              <a:rPr sz="2600" b="1" dirty="0">
                <a:latin typeface="Gill Sans"/>
                <a:cs typeface="Gill Sans"/>
              </a:rPr>
              <a:t>genetic</a:t>
            </a:r>
            <a:r>
              <a:rPr sz="2600" b="1" spc="-10" dirty="0">
                <a:latin typeface="Gill Sans"/>
                <a:cs typeface="Gill Sans"/>
              </a:rPr>
              <a:t>):</a:t>
            </a:r>
            <a:endParaRPr sz="2600">
              <a:latin typeface="Gill Sans"/>
              <a:cs typeface="Gill San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76325">
              <a:lnSpc>
                <a:spcPct val="100000"/>
              </a:lnSpc>
            </a:pPr>
            <a:r>
              <a:rPr sz="2600" spc="-75" dirty="0">
                <a:latin typeface="Gill Sans"/>
                <a:cs typeface="Gill Sans"/>
              </a:rPr>
              <a:t>T</a:t>
            </a:r>
            <a:r>
              <a:rPr sz="2600" spc="-40" dirty="0">
                <a:latin typeface="Gill Sans"/>
                <a:cs typeface="Gill Sans"/>
              </a:rPr>
              <a:t>r</a:t>
            </a:r>
            <a:r>
              <a:rPr sz="2600" spc="20" dirty="0">
                <a:latin typeface="Gill Sans"/>
                <a:cs typeface="Gill Sans"/>
              </a:rPr>
              <a:t>a</a:t>
            </a:r>
            <a:r>
              <a:rPr sz="2600" dirty="0">
                <a:latin typeface="Gill Sans"/>
                <a:cs typeface="Gill Sans"/>
              </a:rPr>
              <a:t>it m</a:t>
            </a:r>
            <a:r>
              <a:rPr sz="2600" spc="-15" dirty="0">
                <a:latin typeface="Gill Sans"/>
                <a:cs typeface="Gill Sans"/>
              </a:rPr>
              <a:t>a</a:t>
            </a:r>
            <a:r>
              <a:rPr sz="2600" dirty="0">
                <a:latin typeface="Gill Sans"/>
                <a:cs typeface="Gill Sans"/>
              </a:rPr>
              <a:t>t</a:t>
            </a:r>
            <a:r>
              <a:rPr sz="2600" spc="-114" dirty="0">
                <a:latin typeface="Gill Sans"/>
                <a:cs typeface="Gill Sans"/>
              </a:rPr>
              <a:t>r</a:t>
            </a:r>
            <a:r>
              <a:rPr sz="2600" dirty="0">
                <a:latin typeface="Gill Sans"/>
                <a:cs typeface="Gill Sans"/>
              </a:rPr>
              <a:t>ix</a:t>
            </a:r>
            <a:endParaRPr sz="2600">
              <a:latin typeface="Gill Sans"/>
              <a:cs typeface="Gill San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51100" y="397187"/>
            <a:ext cx="2640965" cy="695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00" b="1" spc="-10" dirty="0">
                <a:latin typeface="Gill Sans"/>
                <a:cs typeface="Gill Sans"/>
              </a:rPr>
              <a:t>(</a:t>
            </a:r>
            <a:r>
              <a:rPr sz="2600" b="1" spc="20" dirty="0">
                <a:latin typeface="Gill Sans"/>
                <a:cs typeface="Gill Sans"/>
              </a:rPr>
              <a:t>a</a:t>
            </a:r>
            <a:r>
              <a:rPr sz="2600" b="1" dirty="0">
                <a:latin typeface="Gill Sans"/>
                <a:cs typeface="Gill Sans"/>
              </a:rPr>
              <a:t>n</a:t>
            </a:r>
            <a:r>
              <a:rPr sz="2600" b="1" spc="20" dirty="0">
                <a:latin typeface="Gill Sans"/>
                <a:cs typeface="Gill Sans"/>
              </a:rPr>
              <a:t>a</a:t>
            </a:r>
            <a:r>
              <a:rPr sz="2600" b="1" dirty="0">
                <a:latin typeface="Gill Sans"/>
                <a:cs typeface="Gill Sans"/>
              </a:rPr>
              <a:t>genetic</a:t>
            </a:r>
            <a:r>
              <a:rPr sz="2600" b="1" spc="-10" dirty="0">
                <a:latin typeface="Gill Sans"/>
                <a:cs typeface="Gill Sans"/>
              </a:rPr>
              <a:t>):</a:t>
            </a:r>
            <a:endParaRPr sz="2600">
              <a:latin typeface="Gill Sans"/>
              <a:cs typeface="Gill Sans"/>
            </a:endParaRPr>
          </a:p>
          <a:p>
            <a:pPr marL="495300">
              <a:lnSpc>
                <a:spcPct val="100000"/>
              </a:lnSpc>
              <a:spcBef>
                <a:spcPts val="480"/>
              </a:spcBef>
            </a:pPr>
            <a:r>
              <a:rPr sz="2000" b="1" dirty="0">
                <a:latin typeface="Gill Sans"/>
                <a:cs typeface="Gill Sans"/>
              </a:rPr>
              <a:t>descend</a:t>
            </a:r>
            <a:r>
              <a:rPr sz="2000" b="1" spc="25" dirty="0">
                <a:latin typeface="Gill Sans"/>
                <a:cs typeface="Gill Sans"/>
              </a:rPr>
              <a:t>a</a:t>
            </a:r>
            <a:r>
              <a:rPr sz="2000" b="1" spc="-5" dirty="0">
                <a:latin typeface="Gill Sans"/>
                <a:cs typeface="Gill Sans"/>
              </a:rPr>
              <a:t>n</a:t>
            </a:r>
            <a:r>
              <a:rPr sz="2000" b="1" dirty="0">
                <a:latin typeface="Gill Sans"/>
                <a:cs typeface="Gill Sans"/>
              </a:rPr>
              <a:t>t t</a:t>
            </a:r>
            <a:r>
              <a:rPr sz="2000" b="1" spc="-30" dirty="0">
                <a:latin typeface="Gill Sans"/>
                <a:cs typeface="Gill Sans"/>
              </a:rPr>
              <a:t>r</a:t>
            </a:r>
            <a:r>
              <a:rPr sz="2000" b="1" spc="10" dirty="0">
                <a:latin typeface="Gill Sans"/>
                <a:cs typeface="Gill Sans"/>
              </a:rPr>
              <a:t>a</a:t>
            </a:r>
            <a:r>
              <a:rPr sz="2000" b="1" dirty="0">
                <a:latin typeface="Gill Sans"/>
                <a:cs typeface="Gill Sans"/>
              </a:rPr>
              <a:t>it</a:t>
            </a:r>
            <a:endParaRPr sz="2000">
              <a:latin typeface="Gill Sans"/>
              <a:cs typeface="Gill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01028" y="1557213"/>
            <a:ext cx="279400" cy="180848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5" dirty="0">
                <a:latin typeface="Gill Sans"/>
                <a:cs typeface="Gill Sans"/>
              </a:rPr>
              <a:t>a</a:t>
            </a:r>
            <a:r>
              <a:rPr sz="2000" b="1" spc="-5" dirty="0">
                <a:latin typeface="Gill Sans"/>
                <a:cs typeface="Gill Sans"/>
              </a:rPr>
              <a:t>nce</a:t>
            </a:r>
            <a:r>
              <a:rPr sz="2000" b="1" dirty="0">
                <a:latin typeface="Gill Sans"/>
                <a:cs typeface="Gill Sans"/>
              </a:rPr>
              <a:t>s</a:t>
            </a:r>
            <a:r>
              <a:rPr sz="2000" b="1" spc="-5" dirty="0">
                <a:latin typeface="Gill Sans"/>
                <a:cs typeface="Gill Sans"/>
              </a:rPr>
              <a:t>to</a:t>
            </a:r>
            <a:r>
              <a:rPr sz="2000" b="1" dirty="0">
                <a:latin typeface="Gill Sans"/>
                <a:cs typeface="Gill Sans"/>
              </a:rPr>
              <a:t>r</a:t>
            </a:r>
            <a:r>
              <a:rPr sz="2000" b="1" spc="-5" dirty="0">
                <a:latin typeface="Gill Sans"/>
                <a:cs typeface="Gill Sans"/>
              </a:rPr>
              <a:t> t</a:t>
            </a:r>
            <a:r>
              <a:rPr sz="2000" b="1" spc="-30" dirty="0">
                <a:latin typeface="Gill Sans"/>
                <a:cs typeface="Gill Sans"/>
              </a:rPr>
              <a:t>r</a:t>
            </a:r>
            <a:r>
              <a:rPr sz="2000" b="1" spc="25" dirty="0">
                <a:latin typeface="Gill Sans"/>
                <a:cs typeface="Gill Sans"/>
              </a:rPr>
              <a:t>a</a:t>
            </a:r>
            <a:r>
              <a:rPr sz="2000" b="1" spc="-5" dirty="0">
                <a:latin typeface="Gill Sans"/>
                <a:cs typeface="Gill Sans"/>
              </a:rPr>
              <a:t>i</a:t>
            </a:r>
            <a:r>
              <a:rPr sz="2000" b="1" dirty="0">
                <a:latin typeface="Gill Sans"/>
                <a:cs typeface="Gill Sans"/>
              </a:rPr>
              <a:t>t</a:t>
            </a:r>
            <a:endParaRPr sz="2000">
              <a:latin typeface="Gill Sans"/>
              <a:cs typeface="Gill San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64728" y="4812308"/>
            <a:ext cx="279400" cy="419227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5" dirty="0">
                <a:latin typeface="Gill Sans"/>
                <a:cs typeface="Gill Sans"/>
              </a:rPr>
              <a:t>a</a:t>
            </a:r>
            <a:r>
              <a:rPr sz="2000" b="1" dirty="0">
                <a:latin typeface="Gill Sans"/>
                <a:cs typeface="Gill Sans"/>
              </a:rPr>
              <a:t>ncestor</a:t>
            </a:r>
            <a:r>
              <a:rPr sz="2000" b="1" spc="-5" dirty="0">
                <a:latin typeface="Gill Sans"/>
                <a:cs typeface="Gill Sans"/>
              </a:rPr>
              <a:t> </a:t>
            </a:r>
            <a:r>
              <a:rPr sz="2000" b="1" dirty="0">
                <a:latin typeface="Gill Sans"/>
                <a:cs typeface="Gill Sans"/>
              </a:rPr>
              <a:t>t</a:t>
            </a:r>
            <a:r>
              <a:rPr sz="2000" b="1" spc="-30" dirty="0">
                <a:latin typeface="Gill Sans"/>
                <a:cs typeface="Gill Sans"/>
              </a:rPr>
              <a:t>r</a:t>
            </a:r>
            <a:r>
              <a:rPr sz="2000" b="1" spc="25" dirty="0">
                <a:latin typeface="Gill Sans"/>
                <a:cs typeface="Gill Sans"/>
              </a:rPr>
              <a:t>a</a:t>
            </a:r>
            <a:r>
              <a:rPr sz="2000" b="1" dirty="0">
                <a:latin typeface="Gill Sans"/>
                <a:cs typeface="Gill Sans"/>
              </a:rPr>
              <a:t>it+geo</a:t>
            </a:r>
            <a:r>
              <a:rPr sz="2000" b="1" spc="85" dirty="0">
                <a:latin typeface="Gill Sans"/>
                <a:cs typeface="Gill Sans"/>
              </a:rPr>
              <a:t>g</a:t>
            </a:r>
            <a:r>
              <a:rPr sz="2000" b="1" spc="-30" dirty="0">
                <a:latin typeface="Gill Sans"/>
                <a:cs typeface="Gill Sans"/>
              </a:rPr>
              <a:t>r</a:t>
            </a:r>
            <a:r>
              <a:rPr sz="2000" b="1" spc="25" dirty="0">
                <a:latin typeface="Gill Sans"/>
                <a:cs typeface="Gill Sans"/>
              </a:rPr>
              <a:t>a</a:t>
            </a:r>
            <a:r>
              <a:rPr sz="2000" b="1" dirty="0">
                <a:latin typeface="Gill Sans"/>
                <a:cs typeface="Gill Sans"/>
              </a:rPr>
              <a:t>phic</a:t>
            </a:r>
            <a:r>
              <a:rPr sz="2000" b="1" spc="-5" dirty="0">
                <a:latin typeface="Gill Sans"/>
                <a:cs typeface="Gill Sans"/>
              </a:rPr>
              <a:t> </a:t>
            </a:r>
            <a:r>
              <a:rPr sz="2000" b="1" spc="-30" dirty="0">
                <a:latin typeface="Gill Sans"/>
                <a:cs typeface="Gill Sans"/>
              </a:rPr>
              <a:t>r</a:t>
            </a:r>
            <a:r>
              <a:rPr sz="2000" b="1" spc="25" dirty="0">
                <a:latin typeface="Gill Sans"/>
                <a:cs typeface="Gill Sans"/>
              </a:rPr>
              <a:t>a</a:t>
            </a:r>
            <a:r>
              <a:rPr sz="2000" b="1" dirty="0">
                <a:latin typeface="Gill Sans"/>
                <a:cs typeface="Gill Sans"/>
              </a:rPr>
              <a:t>nge</a:t>
            </a:r>
            <a:endParaRPr sz="2000">
              <a:latin typeface="Gill Sans"/>
              <a:cs typeface="Gill San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80000" y="3861528"/>
            <a:ext cx="4540885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dirty="0">
                <a:latin typeface="Gill Sans"/>
                <a:cs typeface="Gill Sans"/>
              </a:rPr>
              <a:t>de</a:t>
            </a:r>
            <a:r>
              <a:rPr sz="2000" b="1" spc="-10" dirty="0">
                <a:latin typeface="Gill Sans"/>
                <a:cs typeface="Gill Sans"/>
              </a:rPr>
              <a:t>scend</a:t>
            </a:r>
            <a:r>
              <a:rPr sz="2000" b="1" spc="10" dirty="0">
                <a:latin typeface="Gill Sans"/>
                <a:cs typeface="Gill Sans"/>
              </a:rPr>
              <a:t>a</a:t>
            </a:r>
            <a:r>
              <a:rPr sz="2000" b="1" dirty="0">
                <a:latin typeface="Gill Sans"/>
                <a:cs typeface="Gill Sans"/>
              </a:rPr>
              <a:t>nt</a:t>
            </a:r>
            <a:r>
              <a:rPr sz="2000" b="1" spc="-5" dirty="0">
                <a:latin typeface="Gill Sans"/>
                <a:cs typeface="Gill Sans"/>
              </a:rPr>
              <a:t> </a:t>
            </a:r>
            <a:r>
              <a:rPr sz="2000" b="1" dirty="0">
                <a:latin typeface="Gill Sans"/>
                <a:cs typeface="Gill Sans"/>
              </a:rPr>
              <a:t>t</a:t>
            </a:r>
            <a:r>
              <a:rPr sz="2000" b="1" spc="-30" dirty="0">
                <a:latin typeface="Gill Sans"/>
                <a:cs typeface="Gill Sans"/>
              </a:rPr>
              <a:t>r</a:t>
            </a:r>
            <a:r>
              <a:rPr sz="2000" b="1" spc="10" dirty="0">
                <a:latin typeface="Gill Sans"/>
                <a:cs typeface="Gill Sans"/>
              </a:rPr>
              <a:t>a</a:t>
            </a:r>
            <a:r>
              <a:rPr sz="2000" b="1" dirty="0">
                <a:latin typeface="Gill Sans"/>
                <a:cs typeface="Gill Sans"/>
              </a:rPr>
              <a:t>it+geo</a:t>
            </a:r>
            <a:r>
              <a:rPr sz="2000" b="1" spc="70" dirty="0">
                <a:latin typeface="Gill Sans"/>
                <a:cs typeface="Gill Sans"/>
              </a:rPr>
              <a:t>g</a:t>
            </a:r>
            <a:r>
              <a:rPr sz="2000" b="1" spc="-30" dirty="0">
                <a:latin typeface="Gill Sans"/>
                <a:cs typeface="Gill Sans"/>
              </a:rPr>
              <a:t>r</a:t>
            </a:r>
            <a:r>
              <a:rPr sz="2000" b="1" spc="10" dirty="0">
                <a:latin typeface="Gill Sans"/>
                <a:cs typeface="Gill Sans"/>
              </a:rPr>
              <a:t>a</a:t>
            </a:r>
            <a:r>
              <a:rPr sz="2000" b="1" dirty="0">
                <a:latin typeface="Gill Sans"/>
                <a:cs typeface="Gill Sans"/>
              </a:rPr>
              <a:t>phic</a:t>
            </a:r>
            <a:r>
              <a:rPr sz="2000" b="1" spc="-5" dirty="0">
                <a:latin typeface="Gill Sans"/>
                <a:cs typeface="Gill Sans"/>
              </a:rPr>
              <a:t> </a:t>
            </a:r>
            <a:r>
              <a:rPr sz="2000" b="1" spc="-30" dirty="0">
                <a:latin typeface="Gill Sans"/>
                <a:cs typeface="Gill Sans"/>
              </a:rPr>
              <a:t>r</a:t>
            </a:r>
            <a:r>
              <a:rPr sz="2000" b="1" spc="10" dirty="0">
                <a:latin typeface="Gill Sans"/>
                <a:cs typeface="Gill Sans"/>
              </a:rPr>
              <a:t>a</a:t>
            </a:r>
            <a:r>
              <a:rPr sz="2000" b="1" dirty="0">
                <a:latin typeface="Gill Sans"/>
                <a:cs typeface="Gill Sans"/>
              </a:rPr>
              <a:t>nge</a:t>
            </a:r>
            <a:endParaRPr sz="2000">
              <a:latin typeface="Gill Sans"/>
              <a:cs typeface="Gill Sans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610350" y="1123950"/>
          <a:ext cx="2517177" cy="25792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4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34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3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34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5858">
                <a:tc>
                  <a:txBody>
                    <a:bodyPr/>
                    <a:lstStyle/>
                    <a:p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sz="1600" b="1" i="1" dirty="0">
                          <a:latin typeface="Helvetica"/>
                          <a:cs typeface="Helvetica"/>
                        </a:rPr>
                        <a:t>null</a:t>
                      </a:r>
                      <a:endParaRPr sz="16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A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B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AB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858"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1600" b="1" i="1" dirty="0">
                          <a:latin typeface="Helvetica"/>
                          <a:cs typeface="Helvetica"/>
                        </a:rPr>
                        <a:t>null</a:t>
                      </a:r>
                      <a:endParaRPr sz="16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600" dirty="0">
                          <a:latin typeface="Helvetica Light"/>
                          <a:cs typeface="Helvetica Light"/>
                        </a:rPr>
                        <a:t>-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858">
                <a:tc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A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</a:pPr>
                      <a:r>
                        <a:rPr sz="2600" i="1" dirty="0">
                          <a:latin typeface="Helvetica Light"/>
                          <a:cs typeface="Helvetica Light"/>
                        </a:rPr>
                        <a:t>e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</a:pPr>
                      <a:r>
                        <a:rPr sz="2600" dirty="0">
                          <a:latin typeface="Helvetica Light"/>
                          <a:cs typeface="Helvetica Light"/>
                        </a:rPr>
                        <a:t>-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</a:pPr>
                      <a:r>
                        <a:rPr sz="2600" i="1" dirty="0">
                          <a:latin typeface="Helvetica Light"/>
                          <a:cs typeface="Helvetica Light"/>
                        </a:rPr>
                        <a:t>d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857">
                <a:tc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B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</a:pPr>
                      <a:r>
                        <a:rPr sz="2600" i="1" dirty="0">
                          <a:latin typeface="Helvetica Light"/>
                          <a:cs typeface="Helvetica Light"/>
                        </a:rPr>
                        <a:t>e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ct val="100000"/>
                        </a:lnSpc>
                      </a:pPr>
                      <a:r>
                        <a:rPr sz="2600" dirty="0">
                          <a:latin typeface="Helvetica Light"/>
                          <a:cs typeface="Helvetica Light"/>
                        </a:rPr>
                        <a:t>-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</a:pPr>
                      <a:r>
                        <a:rPr sz="2600" i="1" dirty="0">
                          <a:latin typeface="Helvetica Light"/>
                          <a:cs typeface="Helvetica Light"/>
                        </a:rPr>
                        <a:t>d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5858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AB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</a:pPr>
                      <a:r>
                        <a:rPr sz="2600" i="1" dirty="0">
                          <a:latin typeface="Helvetica Light"/>
                          <a:cs typeface="Helvetica Light"/>
                        </a:rPr>
                        <a:t>e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</a:pPr>
                      <a:r>
                        <a:rPr sz="2600" i="1" dirty="0">
                          <a:latin typeface="Helvetica Light"/>
                          <a:cs typeface="Helvetica Light"/>
                        </a:rPr>
                        <a:t>e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600" dirty="0">
                          <a:latin typeface="Helvetica Light"/>
                          <a:cs typeface="Helvetica Light"/>
                        </a:rPr>
                        <a:t>-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749550" y="1123950"/>
          <a:ext cx="2508782" cy="25792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6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6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6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9763">
                <a:tc>
                  <a:txBody>
                    <a:bodyPr/>
                    <a:lstStyle/>
                    <a:p>
                      <a:endParaRPr sz="2000">
                        <a:latin typeface="Gill Sans"/>
                        <a:cs typeface="Gill Sans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338455" marR="113030" indent="-228600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state 1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340360" marR="111125" indent="-228600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state 2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9763">
                <a:tc>
                  <a:txBody>
                    <a:bodyPr/>
                    <a:lstStyle/>
                    <a:p>
                      <a:pPr marL="336550" marR="102235" indent="-215900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state 1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</a:pPr>
                      <a:r>
                        <a:rPr sz="2600" dirty="0">
                          <a:latin typeface="Helvetica Light"/>
                          <a:cs typeface="Helvetica Light"/>
                        </a:rPr>
                        <a:t>-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38760">
                        <a:lnSpc>
                          <a:spcPct val="100000"/>
                        </a:lnSpc>
                      </a:pPr>
                      <a:r>
                        <a:rPr sz="3900" i="1" baseline="4273" dirty="0">
                          <a:latin typeface="Helvetica Light"/>
                          <a:cs typeface="Helvetica Light"/>
                        </a:rPr>
                        <a:t>t</a:t>
                      </a:r>
                      <a:r>
                        <a:rPr sz="1700" dirty="0">
                          <a:latin typeface="Helvetica Light"/>
                          <a:cs typeface="Helvetica Light"/>
                        </a:rPr>
                        <a:t>12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9764">
                <a:tc>
                  <a:txBody>
                    <a:bodyPr/>
                    <a:lstStyle/>
                    <a:p>
                      <a:pPr marL="336550" marR="102235" indent="-215900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state 2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49554">
                        <a:lnSpc>
                          <a:spcPct val="100000"/>
                        </a:lnSpc>
                      </a:pPr>
                      <a:r>
                        <a:rPr sz="3900" i="1" baseline="4273" dirty="0">
                          <a:latin typeface="Helvetica Light"/>
                          <a:cs typeface="Helvetica Light"/>
                        </a:rPr>
                        <a:t>t</a:t>
                      </a:r>
                      <a:r>
                        <a:rPr sz="1700" dirty="0">
                          <a:latin typeface="Helvetica Light"/>
                          <a:cs typeface="Helvetica Light"/>
                        </a:rPr>
                        <a:t>21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600" dirty="0">
                          <a:latin typeface="Helvetica Light"/>
                          <a:cs typeface="Helvetica Light"/>
                        </a:rPr>
                        <a:t>-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387850" y="4146550"/>
          <a:ext cx="5914825" cy="581153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72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2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72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72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72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72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720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720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720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12141">
                <a:tc>
                  <a:txBody>
                    <a:bodyPr/>
                    <a:lstStyle/>
                    <a:p>
                      <a:endParaRPr sz="6000">
                        <a:latin typeface="Gill Sans"/>
                        <a:cs typeface="Gill Sans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Helvetica"/>
                          <a:cs typeface="Helvetica"/>
                        </a:rPr>
                        <a:t>1,null</a:t>
                      </a:r>
                      <a:endParaRPr sz="14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Helvetica"/>
                          <a:cs typeface="Helvetica"/>
                        </a:rPr>
                        <a:t>1,A</a:t>
                      </a:r>
                      <a:endParaRPr sz="14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Helvetica"/>
                          <a:cs typeface="Helvetica"/>
                        </a:rPr>
                        <a:t>1,B</a:t>
                      </a:r>
                      <a:endParaRPr sz="14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Helvetica"/>
                          <a:cs typeface="Helvetica"/>
                        </a:rPr>
                        <a:t>1,AB</a:t>
                      </a:r>
                      <a:endParaRPr sz="14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Helvetica"/>
                          <a:cs typeface="Helvetica"/>
                        </a:rPr>
                        <a:t>2,null</a:t>
                      </a:r>
                      <a:endParaRPr sz="14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Helvetica"/>
                          <a:cs typeface="Helvetica"/>
                        </a:rPr>
                        <a:t>2,A</a:t>
                      </a:r>
                      <a:endParaRPr sz="14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Helvetica"/>
                          <a:cs typeface="Helvetica"/>
                        </a:rPr>
                        <a:t>2,B</a:t>
                      </a:r>
                      <a:endParaRPr sz="14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Helvetica"/>
                          <a:cs typeface="Helvetica"/>
                        </a:rPr>
                        <a:t>2,AB</a:t>
                      </a:r>
                      <a:endParaRPr sz="14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141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Helvetica"/>
                          <a:cs typeface="Helvetica"/>
                        </a:rPr>
                        <a:t>1,null</a:t>
                      </a:r>
                      <a:endParaRPr sz="14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600" dirty="0">
                          <a:latin typeface="Helvetica Light"/>
                          <a:cs typeface="Helvetica Light"/>
                        </a:rPr>
                        <a:t>-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</a:pPr>
                      <a:r>
                        <a:rPr sz="3900" i="1" baseline="4273" dirty="0">
                          <a:latin typeface="Helvetica Light"/>
                          <a:cs typeface="Helvetica Light"/>
                        </a:rPr>
                        <a:t>t</a:t>
                      </a:r>
                      <a:r>
                        <a:rPr sz="1700" dirty="0">
                          <a:latin typeface="Helvetica Light"/>
                          <a:cs typeface="Helvetica Light"/>
                        </a:rPr>
                        <a:t>12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141">
                <a:tc>
                  <a:txBody>
                    <a:bodyPr/>
                    <a:lstStyle/>
                    <a:p>
                      <a:pPr marL="184150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Helvetica"/>
                          <a:cs typeface="Helvetica"/>
                        </a:rPr>
                        <a:t>1,A</a:t>
                      </a:r>
                      <a:endParaRPr sz="14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</a:pPr>
                      <a:r>
                        <a:rPr sz="2600" i="1" dirty="0">
                          <a:latin typeface="Helvetica Light"/>
                          <a:cs typeface="Helvetica Light"/>
                        </a:rPr>
                        <a:t>e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600" dirty="0">
                          <a:latin typeface="Helvetica Light"/>
                          <a:cs typeface="Helvetica Light"/>
                        </a:rPr>
                        <a:t>-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</a:pPr>
                      <a:r>
                        <a:rPr sz="1600" i="1" dirty="0">
                          <a:latin typeface="Helvetica Light"/>
                          <a:cs typeface="Helvetica Light"/>
                        </a:rPr>
                        <a:t>m</a:t>
                      </a:r>
                      <a:r>
                        <a:rPr sz="1575" baseline="-5291" dirty="0">
                          <a:latin typeface="Helvetica Light"/>
                          <a:cs typeface="Helvetica Light"/>
                        </a:rPr>
                        <a:t>1</a:t>
                      </a:r>
                      <a:r>
                        <a:rPr sz="1600" i="1" dirty="0">
                          <a:latin typeface="Helvetica Light"/>
                          <a:cs typeface="Helvetica Light"/>
                        </a:rPr>
                        <a:t>d</a:t>
                      </a:r>
                      <a:endParaRPr sz="1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</a:pPr>
                      <a:r>
                        <a:rPr sz="3900" i="1" baseline="4273" dirty="0">
                          <a:latin typeface="Helvetica Light"/>
                          <a:cs typeface="Helvetica Light"/>
                        </a:rPr>
                        <a:t>t</a:t>
                      </a:r>
                      <a:r>
                        <a:rPr sz="1700" dirty="0">
                          <a:latin typeface="Helvetica Light"/>
                          <a:cs typeface="Helvetica Light"/>
                        </a:rPr>
                        <a:t>12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142">
                <a:tc>
                  <a:txBody>
                    <a:bodyPr/>
                    <a:lstStyle/>
                    <a:p>
                      <a:pPr marL="184150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Helvetica"/>
                          <a:cs typeface="Helvetica"/>
                        </a:rPr>
                        <a:t>1,B</a:t>
                      </a:r>
                      <a:endParaRPr sz="14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</a:pPr>
                      <a:r>
                        <a:rPr sz="2600" i="1" dirty="0">
                          <a:latin typeface="Helvetica Light"/>
                          <a:cs typeface="Helvetica Light"/>
                        </a:rPr>
                        <a:t>e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</a:pPr>
                      <a:r>
                        <a:rPr sz="2600" dirty="0">
                          <a:latin typeface="Helvetica Light"/>
                          <a:cs typeface="Helvetica Light"/>
                        </a:rPr>
                        <a:t>-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</a:pPr>
                      <a:r>
                        <a:rPr sz="1600" i="1" dirty="0">
                          <a:latin typeface="Helvetica Light"/>
                          <a:cs typeface="Helvetica Light"/>
                        </a:rPr>
                        <a:t>m</a:t>
                      </a:r>
                      <a:r>
                        <a:rPr sz="1575" baseline="-5291" dirty="0">
                          <a:latin typeface="Helvetica Light"/>
                          <a:cs typeface="Helvetica Light"/>
                        </a:rPr>
                        <a:t>1</a:t>
                      </a:r>
                      <a:r>
                        <a:rPr sz="1600" i="1" dirty="0">
                          <a:latin typeface="Helvetica Light"/>
                          <a:cs typeface="Helvetica Light"/>
                        </a:rPr>
                        <a:t>d</a:t>
                      </a:r>
                      <a:endParaRPr sz="1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55575">
                        <a:lnSpc>
                          <a:spcPct val="100000"/>
                        </a:lnSpc>
                      </a:pPr>
                      <a:r>
                        <a:rPr sz="3900" i="1" baseline="4273" dirty="0">
                          <a:latin typeface="Helvetica Light"/>
                          <a:cs typeface="Helvetica Light"/>
                        </a:rPr>
                        <a:t>t</a:t>
                      </a:r>
                      <a:r>
                        <a:rPr sz="1700" dirty="0">
                          <a:latin typeface="Helvetica Light"/>
                          <a:cs typeface="Helvetica Light"/>
                        </a:rPr>
                        <a:t>12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141">
                <a:tc>
                  <a:txBody>
                    <a:bodyPr/>
                    <a:lstStyle/>
                    <a:p>
                      <a:pPr marL="120650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Helvetica"/>
                          <a:cs typeface="Helvetica"/>
                        </a:rPr>
                        <a:t>1,AB</a:t>
                      </a:r>
                      <a:endParaRPr sz="14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600" i="1" dirty="0">
                          <a:latin typeface="Helvetica Light"/>
                          <a:cs typeface="Helvetica Light"/>
                        </a:rPr>
                        <a:t>e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2600" i="1" dirty="0">
                          <a:latin typeface="Helvetica Light"/>
                          <a:cs typeface="Helvetica Light"/>
                        </a:rPr>
                        <a:t>e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</a:pPr>
                      <a:r>
                        <a:rPr sz="2600" dirty="0">
                          <a:latin typeface="Helvetica Light"/>
                          <a:cs typeface="Helvetica Light"/>
                        </a:rPr>
                        <a:t>-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</a:pPr>
                      <a:r>
                        <a:rPr sz="3900" i="1" baseline="4273" dirty="0">
                          <a:latin typeface="Helvetica Light"/>
                          <a:cs typeface="Helvetica Light"/>
                        </a:rPr>
                        <a:t>t</a:t>
                      </a:r>
                      <a:r>
                        <a:rPr sz="1700" dirty="0">
                          <a:latin typeface="Helvetica Light"/>
                          <a:cs typeface="Helvetica Light"/>
                        </a:rPr>
                        <a:t>12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142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Helvetica"/>
                          <a:cs typeface="Helvetica"/>
                        </a:rPr>
                        <a:t>2,null</a:t>
                      </a:r>
                      <a:endParaRPr sz="14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</a:pPr>
                      <a:r>
                        <a:rPr sz="3900" i="1" baseline="4273" dirty="0">
                          <a:latin typeface="Helvetica Light"/>
                          <a:cs typeface="Helvetica Light"/>
                        </a:rPr>
                        <a:t>t</a:t>
                      </a:r>
                      <a:r>
                        <a:rPr sz="1700" dirty="0">
                          <a:latin typeface="Helvetica Light"/>
                          <a:cs typeface="Helvetica Light"/>
                        </a:rPr>
                        <a:t>21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600" dirty="0">
                          <a:latin typeface="Helvetica Light"/>
                          <a:cs typeface="Helvetica Light"/>
                        </a:rPr>
                        <a:t>-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2141">
                <a:tc>
                  <a:txBody>
                    <a:bodyPr/>
                    <a:lstStyle/>
                    <a:p>
                      <a:pPr marL="184150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Helvetica"/>
                          <a:cs typeface="Helvetica"/>
                        </a:rPr>
                        <a:t>2,A</a:t>
                      </a:r>
                      <a:endParaRPr sz="14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</a:pPr>
                      <a:r>
                        <a:rPr sz="3900" i="1" baseline="4273" dirty="0">
                          <a:latin typeface="Helvetica Light"/>
                          <a:cs typeface="Helvetica Light"/>
                        </a:rPr>
                        <a:t>t</a:t>
                      </a:r>
                      <a:r>
                        <a:rPr sz="1700" dirty="0">
                          <a:latin typeface="Helvetica Light"/>
                          <a:cs typeface="Helvetica Light"/>
                        </a:rPr>
                        <a:t>21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</a:pPr>
                      <a:r>
                        <a:rPr sz="2600" i="1" dirty="0">
                          <a:latin typeface="Helvetica Light"/>
                          <a:cs typeface="Helvetica Light"/>
                        </a:rPr>
                        <a:t>e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600" dirty="0">
                          <a:latin typeface="Helvetica Light"/>
                          <a:cs typeface="Helvetica Light"/>
                        </a:rPr>
                        <a:t>-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</a:pPr>
                      <a:r>
                        <a:rPr sz="1600" i="1" dirty="0">
                          <a:latin typeface="Helvetica Light"/>
                          <a:cs typeface="Helvetica Light"/>
                        </a:rPr>
                        <a:t>m</a:t>
                      </a:r>
                      <a:r>
                        <a:rPr sz="1575" baseline="-5291" dirty="0">
                          <a:latin typeface="Helvetica Light"/>
                          <a:cs typeface="Helvetica Light"/>
                        </a:rPr>
                        <a:t>2</a:t>
                      </a:r>
                      <a:r>
                        <a:rPr sz="1600" i="1" dirty="0">
                          <a:latin typeface="Helvetica Light"/>
                          <a:cs typeface="Helvetica Light"/>
                        </a:rPr>
                        <a:t>d</a:t>
                      </a:r>
                      <a:endParaRPr sz="1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2142">
                <a:tc>
                  <a:txBody>
                    <a:bodyPr/>
                    <a:lstStyle/>
                    <a:p>
                      <a:pPr marL="184150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Helvetica"/>
                          <a:cs typeface="Helvetica"/>
                        </a:rPr>
                        <a:t>2,B</a:t>
                      </a:r>
                      <a:endParaRPr sz="14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55575">
                        <a:lnSpc>
                          <a:spcPct val="100000"/>
                        </a:lnSpc>
                      </a:pPr>
                      <a:r>
                        <a:rPr sz="3900" i="1" baseline="4273" dirty="0">
                          <a:latin typeface="Helvetica Light"/>
                          <a:cs typeface="Helvetica Light"/>
                        </a:rPr>
                        <a:t>t</a:t>
                      </a:r>
                      <a:r>
                        <a:rPr sz="1700" dirty="0">
                          <a:latin typeface="Helvetica Light"/>
                          <a:cs typeface="Helvetica Light"/>
                        </a:rPr>
                        <a:t>21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</a:pPr>
                      <a:r>
                        <a:rPr sz="2600" i="1" dirty="0">
                          <a:latin typeface="Helvetica Light"/>
                          <a:cs typeface="Helvetica Light"/>
                        </a:rPr>
                        <a:t>e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</a:pPr>
                      <a:r>
                        <a:rPr sz="2600" dirty="0">
                          <a:latin typeface="Helvetica Light"/>
                          <a:cs typeface="Helvetica Light"/>
                        </a:rPr>
                        <a:t>-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</a:pPr>
                      <a:r>
                        <a:rPr sz="1600" i="1" dirty="0">
                          <a:latin typeface="Helvetica Light"/>
                          <a:cs typeface="Helvetica Light"/>
                        </a:rPr>
                        <a:t>m</a:t>
                      </a:r>
                      <a:r>
                        <a:rPr sz="1575" baseline="-5291" dirty="0">
                          <a:latin typeface="Helvetica Light"/>
                          <a:cs typeface="Helvetica Light"/>
                        </a:rPr>
                        <a:t>2</a:t>
                      </a:r>
                      <a:r>
                        <a:rPr sz="1600" i="1" dirty="0">
                          <a:latin typeface="Helvetica Light"/>
                          <a:cs typeface="Helvetica Light"/>
                        </a:rPr>
                        <a:t>d</a:t>
                      </a:r>
                      <a:endParaRPr sz="1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2141">
                <a:tc>
                  <a:txBody>
                    <a:bodyPr/>
                    <a:lstStyle/>
                    <a:p>
                      <a:pPr marL="120650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Helvetica"/>
                          <a:cs typeface="Helvetica"/>
                        </a:rPr>
                        <a:t>2,AB</a:t>
                      </a:r>
                      <a:endParaRPr sz="14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</a:pPr>
                      <a:r>
                        <a:rPr sz="3900" i="1" baseline="4273" dirty="0">
                          <a:latin typeface="Helvetica Light"/>
                          <a:cs typeface="Helvetica Light"/>
                        </a:rPr>
                        <a:t>t</a:t>
                      </a:r>
                      <a:r>
                        <a:rPr sz="1700" dirty="0">
                          <a:latin typeface="Helvetica Light"/>
                          <a:cs typeface="Helvetica Light"/>
                        </a:rPr>
                        <a:t>21</a:t>
                      </a:r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endParaRPr sz="17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600" i="1" dirty="0">
                          <a:latin typeface="Helvetica Light"/>
                          <a:cs typeface="Helvetica Light"/>
                        </a:rPr>
                        <a:t>e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2600" i="1" dirty="0">
                          <a:latin typeface="Helvetica Light"/>
                          <a:cs typeface="Helvetica Light"/>
                        </a:rPr>
                        <a:t>e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</a:pPr>
                      <a:r>
                        <a:rPr sz="2600" dirty="0">
                          <a:latin typeface="Helvetica Light"/>
                          <a:cs typeface="Helvetica Light"/>
                        </a:rPr>
                        <a:t>-</a:t>
                      </a:r>
                      <a:endParaRPr sz="2600">
                        <a:latin typeface="Helvetica Light"/>
                        <a:cs typeface="Helvetica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2956" y="620199"/>
            <a:ext cx="7586980" cy="8680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b="1" spc="5" dirty="0">
                <a:latin typeface="Calibri"/>
                <a:cs typeface="Calibri"/>
              </a:rPr>
              <a:t>Ta</a:t>
            </a:r>
            <a:r>
              <a:rPr sz="1900" b="1" dirty="0">
                <a:latin typeface="Calibri"/>
                <a:cs typeface="Calibri"/>
              </a:rPr>
              <a:t>ble D. </a:t>
            </a:r>
            <a:r>
              <a:rPr sz="1900" spc="5" dirty="0">
                <a:latin typeface="Calibri"/>
                <a:cs typeface="Calibri"/>
              </a:rPr>
              <a:t>Statistical model comparison with sample-size corrected AIC (AICc).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100">
              <a:latin typeface="Times New Roman"/>
              <a:cs typeface="Times New Roman"/>
            </a:endParaRPr>
          </a:p>
          <a:p>
            <a:pPr marL="1530985">
              <a:lnSpc>
                <a:spcPct val="100000"/>
              </a:lnSpc>
            </a:pPr>
            <a:r>
              <a:rPr sz="1900" b="1" spc="10" dirty="0">
                <a:latin typeface="Calibri"/>
                <a:cs typeface="Calibri"/>
              </a:rPr>
              <a:t>Model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1447" y="2387976"/>
            <a:ext cx="3709670" cy="2101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975">
              <a:lnSpc>
                <a:spcPct val="100000"/>
              </a:lnSpc>
            </a:pPr>
            <a:r>
              <a:rPr sz="1900" b="1" spc="5" dirty="0">
                <a:latin typeface="Calibri"/>
                <a:cs typeface="Calibri"/>
              </a:rPr>
              <a:t>2.</a:t>
            </a:r>
            <a:r>
              <a:rPr sz="1900" spc="5" dirty="0">
                <a:latin typeface="Calibri"/>
                <a:cs typeface="Calibri"/>
              </a:rPr>
              <a:t> DEC+J+x (distance-based </a:t>
            </a:r>
            <a:endParaRPr sz="19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u="heavy" spc="-130" dirty="0">
                <a:latin typeface="Calibri"/>
                <a:cs typeface="Calibri"/>
              </a:rPr>
              <a:t> </a:t>
            </a:r>
            <a:r>
              <a:rPr sz="1900" u="heavy" spc="5" dirty="0">
                <a:latin typeface="Calibri"/>
                <a:cs typeface="Calibri"/>
              </a:rPr>
              <a:t>dispersal)</a:t>
            </a:r>
            <a:r>
              <a:rPr sz="1900" u="heavy" dirty="0">
                <a:latin typeface="Calibri"/>
                <a:cs typeface="Calibri"/>
              </a:rPr>
              <a:t>,</a:t>
            </a:r>
            <a:r>
              <a:rPr sz="1900" u="heavy" spc="5" dirty="0">
                <a:latin typeface="Calibri"/>
                <a:cs typeface="Calibri"/>
              </a:rPr>
              <a:t> with trait transitions </a:t>
            </a:r>
            <a:endParaRPr sz="1900" dirty="0">
              <a:latin typeface="Calibri"/>
              <a:cs typeface="Calibri"/>
            </a:endParaRPr>
          </a:p>
          <a:p>
            <a:pPr marL="53975">
              <a:lnSpc>
                <a:spcPct val="100000"/>
              </a:lnSpc>
              <a:spcBef>
                <a:spcPts val="120"/>
              </a:spcBef>
            </a:pPr>
            <a:r>
              <a:rPr sz="1900" b="1" spc="5" dirty="0">
                <a:latin typeface="Calibri"/>
                <a:cs typeface="Calibri"/>
              </a:rPr>
              <a:t>3.</a:t>
            </a:r>
            <a:r>
              <a:rPr sz="1900" spc="5" dirty="0">
                <a:latin typeface="Calibri"/>
                <a:cs typeface="Calibri"/>
              </a:rPr>
              <a:t> DEC+J, with trait transitions, and </a:t>
            </a:r>
            <a:endParaRPr sz="1900" dirty="0">
              <a:latin typeface="Calibri"/>
              <a:cs typeface="Calibri"/>
            </a:endParaRPr>
          </a:p>
          <a:p>
            <a:pPr marL="51435" marR="5080" indent="-39370">
              <a:lnSpc>
                <a:spcPct val="105400"/>
              </a:lnSpc>
            </a:pPr>
            <a:r>
              <a:rPr sz="1900" u="heavy" spc="-105" dirty="0">
                <a:latin typeface="Calibri"/>
                <a:cs typeface="Calibri"/>
              </a:rPr>
              <a:t> </a:t>
            </a:r>
            <a:r>
              <a:rPr sz="1900" u="heavy" spc="5" dirty="0">
                <a:latin typeface="Calibri"/>
                <a:cs typeface="Calibri"/>
              </a:rPr>
              <a:t>dispersal multiplier for trait 'littoral' 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b="1" spc="5" dirty="0">
                <a:latin typeface="Calibri"/>
                <a:cs typeface="Calibri"/>
              </a:rPr>
              <a:t>4.</a:t>
            </a:r>
            <a:r>
              <a:rPr sz="1900" spc="5" dirty="0">
                <a:latin typeface="Calibri"/>
                <a:cs typeface="Calibri"/>
              </a:rPr>
              <a:t> DEC+J+x (distance-based dispersal)</a:t>
            </a:r>
            <a:r>
              <a:rPr sz="1900" dirty="0">
                <a:latin typeface="Calibri"/>
                <a:cs typeface="Calibri"/>
              </a:rPr>
              <a:t>,</a:t>
            </a:r>
            <a:r>
              <a:rPr sz="1900" spc="5" dirty="0">
                <a:latin typeface="Calibri"/>
                <a:cs typeface="Calibri"/>
              </a:rPr>
              <a:t> with trait transitions</a:t>
            </a:r>
            <a:r>
              <a:rPr sz="1900" dirty="0">
                <a:latin typeface="Calibri"/>
                <a:cs typeface="Calibri"/>
              </a:rPr>
              <a:t>,</a:t>
            </a:r>
            <a:r>
              <a:rPr sz="1900" spc="5" dirty="0">
                <a:latin typeface="Calibri"/>
                <a:cs typeface="Calibri"/>
              </a:rPr>
              <a:t> and dispersal multiplier for trait 'littoral'</a:t>
            </a:r>
            <a:endParaRPr sz="19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44147" y="2357947"/>
            <a:ext cx="3768090" cy="0"/>
          </a:xfrm>
          <a:custGeom>
            <a:avLst/>
            <a:gdLst/>
            <a:ahLst/>
            <a:cxnLst/>
            <a:rect l="l" t="t" r="r" b="b"/>
            <a:pathLst>
              <a:path w="3768090">
                <a:moveTo>
                  <a:pt x="0" y="0"/>
                </a:moveTo>
                <a:lnTo>
                  <a:pt x="3767514" y="0"/>
                </a:lnTo>
              </a:path>
            </a:pathLst>
          </a:custGeom>
          <a:ln w="19533">
            <a:solidFill>
              <a:srgbClr val="BFBF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44147" y="988164"/>
            <a:ext cx="11906250" cy="59055"/>
          </a:xfrm>
          <a:custGeom>
            <a:avLst/>
            <a:gdLst/>
            <a:ahLst/>
            <a:cxnLst/>
            <a:rect l="l" t="t" r="r" b="b"/>
            <a:pathLst>
              <a:path w="11906250" h="59055">
                <a:moveTo>
                  <a:pt x="0" y="58600"/>
                </a:moveTo>
                <a:lnTo>
                  <a:pt x="11905640" y="58600"/>
                </a:lnTo>
                <a:lnTo>
                  <a:pt x="11905640" y="0"/>
                </a:lnTo>
                <a:lnTo>
                  <a:pt x="0" y="0"/>
                </a:lnTo>
                <a:lnTo>
                  <a:pt x="0" y="58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44147" y="1637652"/>
            <a:ext cx="11906250" cy="59055"/>
          </a:xfrm>
          <a:custGeom>
            <a:avLst/>
            <a:gdLst/>
            <a:ahLst/>
            <a:cxnLst/>
            <a:rect l="l" t="t" r="r" b="b"/>
            <a:pathLst>
              <a:path w="11906250" h="59055">
                <a:moveTo>
                  <a:pt x="0" y="58600"/>
                </a:moveTo>
                <a:lnTo>
                  <a:pt x="11905640" y="58600"/>
                </a:lnTo>
                <a:lnTo>
                  <a:pt x="11905640" y="0"/>
                </a:lnTo>
                <a:lnTo>
                  <a:pt x="0" y="0"/>
                </a:lnTo>
                <a:lnTo>
                  <a:pt x="0" y="58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72956" y="1889873"/>
            <a:ext cx="3011805" cy="269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b="1" spc="5" dirty="0">
                <a:latin typeface="Calibri"/>
                <a:cs typeface="Calibri"/>
              </a:rPr>
              <a:t>1.</a:t>
            </a:r>
            <a:r>
              <a:rPr sz="1900" spc="5" dirty="0">
                <a:latin typeface="Calibri"/>
                <a:cs typeface="Calibri"/>
              </a:rPr>
              <a:t> DEC+J, with trait transitions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36132" y="1889873"/>
            <a:ext cx="100330" cy="269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spc="5" dirty="0">
                <a:latin typeface="Calibri"/>
                <a:cs typeface="Calibri"/>
              </a:rPr>
              <a:t>-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44147" y="4504185"/>
            <a:ext cx="11906250" cy="59055"/>
          </a:xfrm>
          <a:custGeom>
            <a:avLst/>
            <a:gdLst/>
            <a:ahLst/>
            <a:cxnLst/>
            <a:rect l="l" t="t" r="r" b="b"/>
            <a:pathLst>
              <a:path w="11906250" h="59054">
                <a:moveTo>
                  <a:pt x="0" y="58600"/>
                </a:moveTo>
                <a:lnTo>
                  <a:pt x="11905640" y="58600"/>
                </a:lnTo>
                <a:lnTo>
                  <a:pt x="11905640" y="0"/>
                </a:lnTo>
                <a:lnTo>
                  <a:pt x="0" y="0"/>
                </a:lnTo>
                <a:lnTo>
                  <a:pt x="0" y="58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874949" y="1016227"/>
          <a:ext cx="7574836" cy="31903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85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1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97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90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61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49612">
                <a:tc rowSpan="2" gridSpan="3">
                  <a:txBody>
                    <a:bodyPr/>
                    <a:lstStyle/>
                    <a:p>
                      <a:pPr marL="1308735" marR="437515" indent="-1191895">
                        <a:lnSpc>
                          <a:spcPct val="105400"/>
                        </a:lnSpc>
                        <a:tabLst>
                          <a:tab pos="1470025" algn="l"/>
                          <a:tab pos="3289300" algn="l"/>
                        </a:tabLst>
                      </a:pPr>
                      <a:r>
                        <a:rPr sz="2850" b="1" baseline="-35087" dirty="0">
                          <a:latin typeface="Calibri"/>
                          <a:cs typeface="Calibri"/>
                        </a:rPr>
                        <a:t>LnL		</a:t>
                      </a:r>
                      <a:r>
                        <a:rPr sz="1900" b="1" dirty="0">
                          <a:latin typeface="Calibri"/>
                          <a:cs typeface="Calibri"/>
                        </a:rPr>
                        <a:t># of free par</a:t>
                      </a:r>
                      <a:r>
                        <a:rPr sz="1900" b="1" spc="-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900" b="1" dirty="0">
                          <a:latin typeface="Calibri"/>
                          <a:cs typeface="Calibri"/>
                        </a:rPr>
                        <a:t>me</a:t>
                      </a:r>
                      <a:r>
                        <a:rPr sz="1900" b="1" spc="-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900" b="1" dirty="0">
                          <a:latin typeface="Calibri"/>
                          <a:cs typeface="Calibri"/>
                        </a:rPr>
                        <a:t>ers	</a:t>
                      </a:r>
                      <a:r>
                        <a:rPr sz="2850" b="1" baseline="35087" dirty="0">
                          <a:latin typeface="Calibri"/>
                          <a:cs typeface="Calibri"/>
                        </a:rPr>
                        <a:t>AICc</a:t>
                      </a:r>
                      <a:endParaRPr sz="2850" baseline="35087">
                        <a:latin typeface="Calibri"/>
                        <a:cs typeface="Calibri"/>
                      </a:endParaRPr>
                    </a:p>
                    <a:p>
                      <a:pPr marL="48260">
                        <a:lnSpc>
                          <a:spcPct val="100000"/>
                        </a:lnSpc>
                        <a:spcBef>
                          <a:spcPts val="1795"/>
                        </a:spcBef>
                        <a:tabLst>
                          <a:tab pos="1833880" algn="l"/>
                          <a:tab pos="3233420" algn="l"/>
                        </a:tabLst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106.5	5	224.2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13410" marR="132715" indent="-224790">
                        <a:lnSpc>
                          <a:spcPct val="105400"/>
                        </a:lnSpc>
                      </a:pPr>
                      <a:r>
                        <a:rPr sz="1900" b="1" dirty="0">
                          <a:latin typeface="Calibri"/>
                          <a:cs typeface="Calibri"/>
                        </a:rPr>
                        <a:t>AICc model we</a:t>
                      </a:r>
                      <a:r>
                        <a:rPr sz="1900" b="1" spc="-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900" b="1" dirty="0">
                          <a:latin typeface="Calibri"/>
                          <a:cs typeface="Calibri"/>
                        </a:rPr>
                        <a:t>g</a:t>
                      </a:r>
                      <a:r>
                        <a:rPr sz="1900" b="1" spc="-5" dirty="0">
                          <a:latin typeface="Calibri"/>
                          <a:cs typeface="Calibri"/>
                        </a:rPr>
                        <a:t>h</a:t>
                      </a:r>
                      <a:r>
                        <a:rPr sz="1900" b="1" dirty="0">
                          <a:latin typeface="Calibri"/>
                          <a:cs typeface="Calibri"/>
                        </a:rPr>
                        <a:t>t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0335" marR="121920" indent="128270">
                        <a:lnSpc>
                          <a:spcPct val="105400"/>
                        </a:lnSpc>
                      </a:pPr>
                      <a:r>
                        <a:rPr sz="1900" b="1" dirty="0">
                          <a:latin typeface="Calibri"/>
                          <a:cs typeface="Calibri"/>
                        </a:rPr>
                        <a:t>Perce</a:t>
                      </a:r>
                      <a:r>
                        <a:rPr sz="1900" b="1" spc="-5" dirty="0">
                          <a:latin typeface="Calibri"/>
                          <a:cs typeface="Calibri"/>
                        </a:rPr>
                        <a:t>nta</a:t>
                      </a:r>
                      <a:r>
                        <a:rPr sz="1900" b="1" dirty="0">
                          <a:latin typeface="Calibri"/>
                          <a:cs typeface="Calibri"/>
                        </a:rPr>
                        <a:t>ge m</a:t>
                      </a:r>
                      <a:r>
                        <a:rPr sz="1900" b="1" spc="-5" dirty="0">
                          <a:latin typeface="Calibri"/>
                          <a:cs typeface="Calibri"/>
                        </a:rPr>
                        <a:t>od</a:t>
                      </a:r>
                      <a:r>
                        <a:rPr sz="1900" b="1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900" b="1" spc="-5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1900" b="1" dirty="0">
                          <a:latin typeface="Calibri"/>
                          <a:cs typeface="Calibri"/>
                        </a:rPr>
                        <a:t> we</a:t>
                      </a:r>
                      <a:r>
                        <a:rPr sz="1900" b="1" spc="-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900" b="1" dirty="0">
                          <a:latin typeface="Calibri"/>
                          <a:cs typeface="Calibri"/>
                        </a:rPr>
                        <a:t>g</a:t>
                      </a:r>
                      <a:r>
                        <a:rPr sz="1900" b="1" spc="-5" dirty="0">
                          <a:latin typeface="Calibri"/>
                          <a:cs typeface="Calibri"/>
                        </a:rPr>
                        <a:t>h</a:t>
                      </a:r>
                      <a:r>
                        <a:rPr sz="1900" b="1" dirty="0">
                          <a:latin typeface="Calibri"/>
                          <a:cs typeface="Calibri"/>
                        </a:rPr>
                        <a:t>t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874"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1990">
                        <a:lnSpc>
                          <a:spcPct val="100000"/>
                        </a:lnSpc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0.000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19533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2765">
                        <a:lnSpc>
                          <a:spcPct val="100000"/>
                        </a:lnSpc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0.00%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19533">
                      <a:solidFill>
                        <a:srgbClr val="BFBFB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0420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-98.8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100" algn="ctr">
                        <a:lnSpc>
                          <a:spcPct val="100000"/>
                        </a:lnSpc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6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82930">
                        <a:lnSpc>
                          <a:spcPct val="100000"/>
                        </a:lnSpc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211.5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9533">
                      <a:solidFill>
                        <a:srgbClr val="BFBFBF"/>
                      </a:solidFill>
                      <a:prstDash val="solid"/>
                    </a:lnT>
                    <a:lnB w="19533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1990">
                        <a:lnSpc>
                          <a:spcPct val="100000"/>
                        </a:lnSpc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0.000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9533">
                      <a:solidFill>
                        <a:srgbClr val="BFBFBF"/>
                      </a:solidFill>
                      <a:prstDash val="solid"/>
                    </a:lnT>
                    <a:lnB w="19533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2765">
                        <a:lnSpc>
                          <a:spcPct val="100000"/>
                        </a:lnSpc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0.01%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9533">
                      <a:solidFill>
                        <a:srgbClr val="BFBFBF"/>
                      </a:solidFill>
                      <a:prstDash val="solid"/>
                    </a:lnT>
                    <a:lnB w="19533">
                      <a:solidFill>
                        <a:srgbClr val="BFBFB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0420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-95.5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100" algn="ctr">
                        <a:lnSpc>
                          <a:spcPct val="100000"/>
                        </a:lnSpc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6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82930">
                        <a:lnSpc>
                          <a:spcPct val="100000"/>
                        </a:lnSpc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204.8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9533">
                      <a:solidFill>
                        <a:srgbClr val="BFBFBF"/>
                      </a:solidFill>
                      <a:prstDash val="solid"/>
                    </a:lnT>
                    <a:lnB w="19533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1990">
                        <a:lnSpc>
                          <a:spcPct val="100000"/>
                        </a:lnSpc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0.002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9533">
                      <a:solidFill>
                        <a:srgbClr val="BFBFBF"/>
                      </a:solidFill>
                      <a:prstDash val="solid"/>
                    </a:lnT>
                    <a:lnB w="19533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2765">
                        <a:lnSpc>
                          <a:spcPct val="100000"/>
                        </a:lnSpc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0.22%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9533">
                      <a:solidFill>
                        <a:srgbClr val="BFBFBF"/>
                      </a:solidFill>
                      <a:prstDash val="solid"/>
                    </a:lnT>
                    <a:lnB w="19533">
                      <a:solidFill>
                        <a:srgbClr val="BFBFB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7983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-88.0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100" algn="ctr">
                        <a:lnSpc>
                          <a:spcPct val="100000"/>
                        </a:lnSpc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7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82930">
                        <a:lnSpc>
                          <a:spcPct val="100000"/>
                        </a:lnSpc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192.6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9533">
                      <a:solidFill>
                        <a:srgbClr val="BFBFB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81990">
                        <a:lnSpc>
                          <a:spcPct val="100000"/>
                        </a:lnSpc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0.998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9533">
                      <a:solidFill>
                        <a:srgbClr val="BFBFB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71805">
                        <a:lnSpc>
                          <a:spcPct val="100000"/>
                        </a:lnSpc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99.77%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9533">
                      <a:solidFill>
                        <a:srgbClr val="BFBFB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2956" y="620199"/>
            <a:ext cx="7586980" cy="8680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b="1" spc="5" dirty="0">
                <a:latin typeface="Calibri"/>
                <a:cs typeface="Calibri"/>
              </a:rPr>
              <a:t>Ta</a:t>
            </a:r>
            <a:r>
              <a:rPr sz="1900" b="1" dirty="0">
                <a:latin typeface="Calibri"/>
                <a:cs typeface="Calibri"/>
              </a:rPr>
              <a:t>bl</a:t>
            </a:r>
            <a:r>
              <a:rPr sz="1900" b="1" spc="5" dirty="0">
                <a:latin typeface="Calibri"/>
                <a:cs typeface="Calibri"/>
              </a:rPr>
              <a:t>e</a:t>
            </a:r>
            <a:r>
              <a:rPr sz="1900" b="1" dirty="0">
                <a:latin typeface="Calibri"/>
                <a:cs typeface="Calibri"/>
              </a:rPr>
              <a:t> </a:t>
            </a:r>
            <a:r>
              <a:rPr sz="1900" b="1" spc="5" dirty="0">
                <a:latin typeface="Calibri"/>
                <a:cs typeface="Calibri"/>
              </a:rPr>
              <a:t>D. </a:t>
            </a:r>
            <a:r>
              <a:rPr sz="1900" spc="5" dirty="0">
                <a:latin typeface="Calibri"/>
                <a:cs typeface="Calibri"/>
              </a:rPr>
              <a:t>Statistical model comparison with sample-size corrected AIC (AICc).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100">
              <a:latin typeface="Times New Roman"/>
              <a:cs typeface="Times New Roman"/>
            </a:endParaRPr>
          </a:p>
          <a:p>
            <a:pPr marL="1530985">
              <a:lnSpc>
                <a:spcPct val="100000"/>
              </a:lnSpc>
            </a:pPr>
            <a:r>
              <a:rPr sz="1900" b="1" spc="10" dirty="0">
                <a:latin typeface="Calibri"/>
                <a:cs typeface="Calibri"/>
              </a:rPr>
              <a:t>Model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2956" y="1889873"/>
            <a:ext cx="3011805" cy="269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b="1" spc="5" dirty="0">
                <a:latin typeface="Calibri"/>
                <a:cs typeface="Calibri"/>
              </a:rPr>
              <a:t>1. </a:t>
            </a:r>
            <a:r>
              <a:rPr sz="1900" spc="5" dirty="0">
                <a:latin typeface="Calibri"/>
                <a:cs typeface="Calibri"/>
              </a:rPr>
              <a:t>DEC+J</a:t>
            </a:r>
            <a:r>
              <a:rPr sz="1900" dirty="0">
                <a:latin typeface="Calibri"/>
                <a:cs typeface="Calibri"/>
              </a:rPr>
              <a:t>,</a:t>
            </a:r>
            <a:r>
              <a:rPr sz="1900" spc="5" dirty="0">
                <a:latin typeface="Calibri"/>
                <a:cs typeface="Calibri"/>
              </a:rPr>
              <a:t> with trait transitions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36132" y="1889873"/>
            <a:ext cx="100330" cy="269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spc="5" dirty="0">
                <a:latin typeface="Calibri"/>
                <a:cs typeface="Calibri"/>
              </a:rPr>
              <a:t>-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1447" y="2387976"/>
            <a:ext cx="3671570" cy="2101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1435" indent="2540">
              <a:lnSpc>
                <a:spcPct val="100000"/>
              </a:lnSpc>
              <a:buFont typeface="Calibri"/>
              <a:buAutoNum type="arabicPeriod" startAt="2"/>
              <a:tabLst>
                <a:tab pos="298450" algn="l"/>
              </a:tabLst>
            </a:pPr>
            <a:r>
              <a:rPr sz="1900" spc="5" dirty="0">
                <a:latin typeface="Calibri"/>
                <a:cs typeface="Calibri"/>
              </a:rPr>
              <a:t>DEC+J+x (distance-based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u="heavy" spc="-130" dirty="0">
                <a:latin typeface="Calibri"/>
                <a:cs typeface="Calibri"/>
              </a:rPr>
              <a:t> </a:t>
            </a:r>
            <a:r>
              <a:rPr sz="1900" u="heavy" spc="5" dirty="0">
                <a:latin typeface="Calibri"/>
                <a:cs typeface="Calibri"/>
              </a:rPr>
              <a:t>dispersal)</a:t>
            </a:r>
            <a:r>
              <a:rPr sz="1900" u="heavy" dirty="0">
                <a:latin typeface="Calibri"/>
                <a:cs typeface="Calibri"/>
              </a:rPr>
              <a:t>,</a:t>
            </a:r>
            <a:r>
              <a:rPr sz="1900" u="heavy" spc="5" dirty="0">
                <a:latin typeface="Calibri"/>
                <a:cs typeface="Calibri"/>
              </a:rPr>
              <a:t> with trait transitions </a:t>
            </a:r>
            <a:endParaRPr sz="1900">
              <a:latin typeface="Calibri"/>
              <a:cs typeface="Calibri"/>
            </a:endParaRPr>
          </a:p>
          <a:p>
            <a:pPr marL="297815" indent="-243840">
              <a:lnSpc>
                <a:spcPct val="100000"/>
              </a:lnSpc>
              <a:spcBef>
                <a:spcPts val="120"/>
              </a:spcBef>
              <a:buFont typeface="Calibri"/>
              <a:buAutoNum type="arabicPeriod" startAt="3"/>
              <a:tabLst>
                <a:tab pos="298450" algn="l"/>
              </a:tabLst>
            </a:pPr>
            <a:r>
              <a:rPr sz="1900" spc="5" dirty="0">
                <a:latin typeface="Calibri"/>
                <a:cs typeface="Calibri"/>
              </a:rPr>
              <a:t>DEC+J</a:t>
            </a:r>
            <a:r>
              <a:rPr sz="1900" dirty="0">
                <a:latin typeface="Calibri"/>
                <a:cs typeface="Calibri"/>
              </a:rPr>
              <a:t>,</a:t>
            </a:r>
            <a:r>
              <a:rPr sz="1900" spc="5" dirty="0">
                <a:latin typeface="Calibri"/>
                <a:cs typeface="Calibri"/>
              </a:rPr>
              <a:t> with trait transitions</a:t>
            </a:r>
            <a:r>
              <a:rPr sz="1900" dirty="0">
                <a:latin typeface="Calibri"/>
                <a:cs typeface="Calibri"/>
              </a:rPr>
              <a:t>,</a:t>
            </a:r>
            <a:r>
              <a:rPr sz="1900" spc="5" dirty="0">
                <a:latin typeface="Calibri"/>
                <a:cs typeface="Calibri"/>
              </a:rPr>
              <a:t> and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u="heavy" spc="-105" dirty="0">
                <a:latin typeface="Calibri"/>
                <a:cs typeface="Calibri"/>
              </a:rPr>
              <a:t> </a:t>
            </a:r>
            <a:r>
              <a:rPr sz="1900" u="heavy" spc="5" dirty="0">
                <a:latin typeface="Calibri"/>
                <a:cs typeface="Calibri"/>
              </a:rPr>
              <a:t>dispersal multiplier for trait 'littoral' </a:t>
            </a:r>
            <a:endParaRPr sz="1900">
              <a:latin typeface="Calibri"/>
              <a:cs typeface="Calibri"/>
            </a:endParaRPr>
          </a:p>
          <a:p>
            <a:pPr marL="51435" marR="21590" indent="2540">
              <a:lnSpc>
                <a:spcPct val="105400"/>
              </a:lnSpc>
              <a:buFont typeface="Calibri"/>
              <a:buAutoNum type="arabicPeriod" startAt="4"/>
              <a:tabLst>
                <a:tab pos="298450" algn="l"/>
              </a:tabLst>
            </a:pPr>
            <a:r>
              <a:rPr sz="1900" spc="5" dirty="0">
                <a:latin typeface="Calibri"/>
                <a:cs typeface="Calibri"/>
              </a:rPr>
              <a:t>DEC+J+x (distance-based dispersal)</a:t>
            </a:r>
            <a:r>
              <a:rPr sz="1900" dirty="0">
                <a:latin typeface="Calibri"/>
                <a:cs typeface="Calibri"/>
              </a:rPr>
              <a:t>,</a:t>
            </a:r>
            <a:r>
              <a:rPr sz="1900" spc="5" dirty="0">
                <a:latin typeface="Calibri"/>
                <a:cs typeface="Calibri"/>
              </a:rPr>
              <a:t> with trait transitions</a:t>
            </a:r>
            <a:r>
              <a:rPr sz="1900" dirty="0">
                <a:latin typeface="Calibri"/>
                <a:cs typeface="Calibri"/>
              </a:rPr>
              <a:t>,</a:t>
            </a:r>
            <a:r>
              <a:rPr sz="1900" spc="5" dirty="0">
                <a:latin typeface="Calibri"/>
                <a:cs typeface="Calibri"/>
              </a:rPr>
              <a:t> and dispersal multiplier for trait 'littoral'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44147" y="2357947"/>
            <a:ext cx="3768090" cy="0"/>
          </a:xfrm>
          <a:custGeom>
            <a:avLst/>
            <a:gdLst/>
            <a:ahLst/>
            <a:cxnLst/>
            <a:rect l="l" t="t" r="r" b="b"/>
            <a:pathLst>
              <a:path w="3768090">
                <a:moveTo>
                  <a:pt x="0" y="0"/>
                </a:moveTo>
                <a:lnTo>
                  <a:pt x="3767514" y="0"/>
                </a:lnTo>
              </a:path>
            </a:pathLst>
          </a:custGeom>
          <a:ln w="19533">
            <a:solidFill>
              <a:srgbClr val="BFBF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44147" y="988164"/>
            <a:ext cx="11906250" cy="59055"/>
          </a:xfrm>
          <a:custGeom>
            <a:avLst/>
            <a:gdLst/>
            <a:ahLst/>
            <a:cxnLst/>
            <a:rect l="l" t="t" r="r" b="b"/>
            <a:pathLst>
              <a:path w="11906250" h="59055">
                <a:moveTo>
                  <a:pt x="0" y="58600"/>
                </a:moveTo>
                <a:lnTo>
                  <a:pt x="11905640" y="58600"/>
                </a:lnTo>
                <a:lnTo>
                  <a:pt x="11905640" y="0"/>
                </a:lnTo>
                <a:lnTo>
                  <a:pt x="0" y="0"/>
                </a:lnTo>
                <a:lnTo>
                  <a:pt x="0" y="58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44147" y="1637652"/>
            <a:ext cx="11906250" cy="59055"/>
          </a:xfrm>
          <a:custGeom>
            <a:avLst/>
            <a:gdLst/>
            <a:ahLst/>
            <a:cxnLst/>
            <a:rect l="l" t="t" r="r" b="b"/>
            <a:pathLst>
              <a:path w="11906250" h="59055">
                <a:moveTo>
                  <a:pt x="0" y="58600"/>
                </a:moveTo>
                <a:lnTo>
                  <a:pt x="11905640" y="58600"/>
                </a:lnTo>
                <a:lnTo>
                  <a:pt x="11905640" y="0"/>
                </a:lnTo>
                <a:lnTo>
                  <a:pt x="0" y="0"/>
                </a:lnTo>
                <a:lnTo>
                  <a:pt x="0" y="58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44147" y="4504185"/>
            <a:ext cx="11906250" cy="59055"/>
          </a:xfrm>
          <a:custGeom>
            <a:avLst/>
            <a:gdLst/>
            <a:ahLst/>
            <a:cxnLst/>
            <a:rect l="l" t="t" r="r" b="b"/>
            <a:pathLst>
              <a:path w="11906250" h="59054">
                <a:moveTo>
                  <a:pt x="0" y="58600"/>
                </a:moveTo>
                <a:lnTo>
                  <a:pt x="11905640" y="58600"/>
                </a:lnTo>
                <a:lnTo>
                  <a:pt x="11905640" y="0"/>
                </a:lnTo>
                <a:lnTo>
                  <a:pt x="0" y="0"/>
                </a:lnTo>
                <a:lnTo>
                  <a:pt x="0" y="58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52583" y="3583183"/>
            <a:ext cx="12011025" cy="999490"/>
          </a:xfrm>
          <a:custGeom>
            <a:avLst/>
            <a:gdLst/>
            <a:ahLst/>
            <a:cxnLst/>
            <a:rect l="l" t="t" r="r" b="b"/>
            <a:pathLst>
              <a:path w="12011025" h="999489">
                <a:moveTo>
                  <a:pt x="0" y="0"/>
                </a:moveTo>
                <a:lnTo>
                  <a:pt x="12010646" y="0"/>
                </a:lnTo>
                <a:lnTo>
                  <a:pt x="12010646" y="999305"/>
                </a:lnTo>
                <a:lnTo>
                  <a:pt x="0" y="999305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FF330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4874949" y="1016227"/>
          <a:ext cx="7588278" cy="31903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85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1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97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14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071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49612">
                <a:tc rowSpan="2" gridSpan="3">
                  <a:txBody>
                    <a:bodyPr/>
                    <a:lstStyle/>
                    <a:p>
                      <a:pPr marL="117475" marR="437515" algn="ctr">
                        <a:lnSpc>
                          <a:spcPct val="105400"/>
                        </a:lnSpc>
                        <a:tabLst>
                          <a:tab pos="1470025" algn="l"/>
                          <a:tab pos="3289300" algn="l"/>
                        </a:tabLst>
                      </a:pPr>
                      <a:r>
                        <a:rPr sz="2850" b="1" baseline="-35087" dirty="0">
                          <a:latin typeface="Calibri"/>
                          <a:cs typeface="Calibri"/>
                        </a:rPr>
                        <a:t>LnL	</a:t>
                      </a:r>
                      <a:r>
                        <a:rPr sz="1900" b="1" dirty="0">
                          <a:latin typeface="Calibri"/>
                          <a:cs typeface="Calibri"/>
                        </a:rPr>
                        <a:t>#</a:t>
                      </a:r>
                      <a:r>
                        <a:rPr sz="1900" b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b="1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900" b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b="1" dirty="0">
                          <a:latin typeface="Calibri"/>
                          <a:cs typeface="Calibri"/>
                        </a:rPr>
                        <a:t>free	</a:t>
                      </a:r>
                      <a:r>
                        <a:rPr sz="2850" b="1" baseline="-35087" dirty="0">
                          <a:latin typeface="Calibri"/>
                          <a:cs typeface="Calibri"/>
                        </a:rPr>
                        <a:t>AICc </a:t>
                      </a:r>
                      <a:r>
                        <a:rPr sz="1900" b="1" dirty="0">
                          <a:latin typeface="Calibri"/>
                          <a:cs typeface="Calibri"/>
                        </a:rPr>
                        <a:t>par</a:t>
                      </a:r>
                      <a:r>
                        <a:rPr sz="1900" b="1" spc="-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900" b="1" dirty="0">
                          <a:latin typeface="Calibri"/>
                          <a:cs typeface="Calibri"/>
                        </a:rPr>
                        <a:t>me</a:t>
                      </a:r>
                      <a:r>
                        <a:rPr sz="1900" b="1" spc="-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900" b="1" dirty="0">
                          <a:latin typeface="Calibri"/>
                          <a:cs typeface="Calibri"/>
                        </a:rPr>
                        <a:t>ers</a:t>
                      </a:r>
                      <a:endParaRPr sz="19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3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R="332740" algn="ctr">
                        <a:lnSpc>
                          <a:spcPct val="100000"/>
                        </a:lnSpc>
                        <a:tabLst>
                          <a:tab pos="1785620" algn="l"/>
                          <a:tab pos="3184525" algn="l"/>
                        </a:tabLst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106.5	5	224.2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13410" marR="160655" indent="-224790">
                        <a:lnSpc>
                          <a:spcPct val="105400"/>
                        </a:lnSpc>
                      </a:pPr>
                      <a:r>
                        <a:rPr sz="1900" b="1" dirty="0">
                          <a:latin typeface="Calibri"/>
                          <a:cs typeface="Calibri"/>
                        </a:rPr>
                        <a:t>AICc</a:t>
                      </a:r>
                      <a:r>
                        <a:rPr sz="1900" b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b="1" dirty="0">
                          <a:latin typeface="Calibri"/>
                          <a:cs typeface="Calibri"/>
                        </a:rPr>
                        <a:t>model we</a:t>
                      </a:r>
                      <a:r>
                        <a:rPr sz="1900" b="1" spc="-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900" b="1" dirty="0">
                          <a:latin typeface="Calibri"/>
                          <a:cs typeface="Calibri"/>
                        </a:rPr>
                        <a:t>g</a:t>
                      </a:r>
                      <a:r>
                        <a:rPr sz="1900" b="1" spc="-5" dirty="0">
                          <a:latin typeface="Calibri"/>
                          <a:cs typeface="Calibri"/>
                        </a:rPr>
                        <a:t>h</a:t>
                      </a:r>
                      <a:r>
                        <a:rPr sz="1900" b="1" dirty="0">
                          <a:latin typeface="Calibri"/>
                          <a:cs typeface="Calibri"/>
                        </a:rPr>
                        <a:t>t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8275" marR="135255" indent="128270">
                        <a:lnSpc>
                          <a:spcPct val="105400"/>
                        </a:lnSpc>
                      </a:pPr>
                      <a:r>
                        <a:rPr sz="1900" b="1" dirty="0">
                          <a:latin typeface="Calibri"/>
                          <a:cs typeface="Calibri"/>
                        </a:rPr>
                        <a:t>Perce</a:t>
                      </a:r>
                      <a:r>
                        <a:rPr sz="1900" b="1" spc="-5" dirty="0">
                          <a:latin typeface="Calibri"/>
                          <a:cs typeface="Calibri"/>
                        </a:rPr>
                        <a:t>nta</a:t>
                      </a:r>
                      <a:r>
                        <a:rPr sz="1900" b="1" dirty="0">
                          <a:latin typeface="Calibri"/>
                          <a:cs typeface="Calibri"/>
                        </a:rPr>
                        <a:t>ge m</a:t>
                      </a:r>
                      <a:r>
                        <a:rPr sz="1900" b="1" spc="-5" dirty="0">
                          <a:latin typeface="Calibri"/>
                          <a:cs typeface="Calibri"/>
                        </a:rPr>
                        <a:t>od</a:t>
                      </a:r>
                      <a:r>
                        <a:rPr sz="1900" b="1" dirty="0">
                          <a:latin typeface="Calibri"/>
                          <a:cs typeface="Calibri"/>
                        </a:rPr>
                        <a:t>el</a:t>
                      </a:r>
                      <a:r>
                        <a:rPr sz="1900" b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b="1" dirty="0">
                          <a:latin typeface="Calibri"/>
                          <a:cs typeface="Calibri"/>
                        </a:rPr>
                        <a:t>we</a:t>
                      </a:r>
                      <a:r>
                        <a:rPr sz="1900" b="1" spc="-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900" b="1" dirty="0">
                          <a:latin typeface="Calibri"/>
                          <a:cs typeface="Calibri"/>
                        </a:rPr>
                        <a:t>g</a:t>
                      </a:r>
                      <a:r>
                        <a:rPr sz="1900" b="1" spc="-5" dirty="0">
                          <a:latin typeface="Calibri"/>
                          <a:cs typeface="Calibri"/>
                        </a:rPr>
                        <a:t>h</a:t>
                      </a:r>
                      <a:r>
                        <a:rPr sz="1900" b="1" dirty="0">
                          <a:latin typeface="Calibri"/>
                          <a:cs typeface="Calibri"/>
                        </a:rPr>
                        <a:t>t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874"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1990">
                        <a:lnSpc>
                          <a:spcPct val="100000"/>
                        </a:lnSpc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0.000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19533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ct val="100000"/>
                        </a:lnSpc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0.00%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19533">
                      <a:solidFill>
                        <a:srgbClr val="BFBFB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0420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-98.8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100" algn="ctr">
                        <a:lnSpc>
                          <a:spcPct val="100000"/>
                        </a:lnSpc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6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82930">
                        <a:lnSpc>
                          <a:spcPct val="100000"/>
                        </a:lnSpc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211.5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9533">
                      <a:solidFill>
                        <a:srgbClr val="BFBFBF"/>
                      </a:solidFill>
                      <a:prstDash val="solid"/>
                    </a:lnT>
                    <a:lnB w="19533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1990">
                        <a:lnSpc>
                          <a:spcPct val="100000"/>
                        </a:lnSpc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0.000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9533">
                      <a:solidFill>
                        <a:srgbClr val="BFBFBF"/>
                      </a:solidFill>
                      <a:prstDash val="solid"/>
                    </a:lnT>
                    <a:lnB w="19533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ct val="100000"/>
                        </a:lnSpc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0.01%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9533">
                      <a:solidFill>
                        <a:srgbClr val="BFBFBF"/>
                      </a:solidFill>
                      <a:prstDash val="solid"/>
                    </a:lnT>
                    <a:lnB w="19533">
                      <a:solidFill>
                        <a:srgbClr val="BFBFB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3148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-95.5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76199">
                      <a:solidFill>
                        <a:srgbClr val="FF330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0" algn="ctr">
                        <a:lnSpc>
                          <a:spcPct val="100000"/>
                        </a:lnSpc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6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76199">
                      <a:solidFill>
                        <a:srgbClr val="FF330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2930">
                        <a:lnSpc>
                          <a:spcPct val="100000"/>
                        </a:lnSpc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204.8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9533">
                      <a:solidFill>
                        <a:srgbClr val="BFBFBF"/>
                      </a:solidFill>
                      <a:prstDash val="solid"/>
                    </a:lnT>
                    <a:lnB w="76199">
                      <a:solidFill>
                        <a:srgbClr val="FF330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1990">
                        <a:lnSpc>
                          <a:spcPct val="100000"/>
                        </a:lnSpc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0.002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9533">
                      <a:solidFill>
                        <a:srgbClr val="BFBFBF"/>
                      </a:solidFill>
                      <a:prstDash val="solid"/>
                    </a:lnT>
                    <a:lnB w="76199">
                      <a:solidFill>
                        <a:srgbClr val="FF330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ct val="100000"/>
                        </a:lnSpc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0.22%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9533">
                      <a:solidFill>
                        <a:srgbClr val="BFBFBF"/>
                      </a:solidFill>
                      <a:prstDash val="solid"/>
                    </a:lnT>
                    <a:lnB w="76199">
                      <a:solidFill>
                        <a:srgbClr val="FF330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54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-88.0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76199">
                      <a:solidFill>
                        <a:srgbClr val="FF330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8100" algn="ctr">
                        <a:lnSpc>
                          <a:spcPct val="100000"/>
                        </a:lnSpc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7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76199">
                      <a:solidFill>
                        <a:srgbClr val="FF330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82930">
                        <a:lnSpc>
                          <a:spcPct val="100000"/>
                        </a:lnSpc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192.6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76199">
                      <a:solidFill>
                        <a:srgbClr val="FF330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81990">
                        <a:lnSpc>
                          <a:spcPct val="100000"/>
                        </a:lnSpc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0.998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76199">
                      <a:solidFill>
                        <a:srgbClr val="FF330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99109">
                        <a:lnSpc>
                          <a:spcPct val="100000"/>
                        </a:lnSpc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99.77%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76199">
                      <a:solidFill>
                        <a:srgbClr val="FF330B"/>
                      </a:solidFill>
                      <a:prstDash val="solid"/>
                    </a:lnR>
                    <a:lnT w="76199">
                      <a:solidFill>
                        <a:srgbClr val="FF330B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10076" y="2235583"/>
            <a:ext cx="119380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i="1" spc="-10" dirty="0">
                <a:latin typeface="Calibri"/>
                <a:cs typeface="Calibri"/>
              </a:rPr>
              <a:t>d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81479" y="2235583"/>
            <a:ext cx="113030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i="1" dirty="0">
                <a:latin typeface="Calibri"/>
                <a:cs typeface="Calibri"/>
              </a:rPr>
              <a:t>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81322" y="2235583"/>
            <a:ext cx="71120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i="1" dirty="0">
                <a:latin typeface="Calibri"/>
                <a:cs typeface="Calibri"/>
              </a:rPr>
              <a:t>j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83400" y="1992059"/>
            <a:ext cx="1593215" cy="447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spc="-10" dirty="0">
                <a:latin typeface="Calibri"/>
                <a:cs typeface="Calibri"/>
              </a:rPr>
              <a:t>P</a:t>
            </a:r>
            <a:r>
              <a:rPr sz="1400" b="1" spc="-15" dirty="0">
                <a:latin typeface="Calibri"/>
                <a:cs typeface="Calibri"/>
              </a:rPr>
              <a:t>a</a:t>
            </a:r>
            <a:r>
              <a:rPr sz="1400" b="1" spc="-5" dirty="0">
                <a:latin typeface="Calibri"/>
                <a:cs typeface="Calibri"/>
              </a:rPr>
              <a:t>rameters </a:t>
            </a:r>
            <a:r>
              <a:rPr sz="1400" b="1" dirty="0">
                <a:latin typeface="Calibri"/>
                <a:cs typeface="Calibri"/>
              </a:rPr>
              <a:t>(</a:t>
            </a:r>
            <a:r>
              <a:rPr sz="1400" b="1" spc="-15" dirty="0">
                <a:latin typeface="Calibri"/>
                <a:cs typeface="Calibri"/>
              </a:rPr>
              <a:t>d</a:t>
            </a:r>
            <a:r>
              <a:rPr sz="1400" b="1" spc="-5" dirty="0">
                <a:latin typeface="Calibri"/>
                <a:cs typeface="Calibri"/>
              </a:rPr>
              <a:t>efi</a:t>
            </a:r>
            <a:r>
              <a:rPr sz="1400" b="1" spc="-15" dirty="0">
                <a:latin typeface="Calibri"/>
                <a:cs typeface="Calibri"/>
              </a:rPr>
              <a:t>n</a:t>
            </a:r>
            <a:r>
              <a:rPr sz="1400" b="1" spc="-5" dirty="0">
                <a:latin typeface="Calibri"/>
                <a:cs typeface="Calibri"/>
              </a:rPr>
              <a:t>ed)</a:t>
            </a:r>
            <a:endParaRPr sz="1400">
              <a:latin typeface="Calibri"/>
              <a:cs typeface="Calibri"/>
            </a:endParaRPr>
          </a:p>
          <a:p>
            <a:pPr marR="100330" algn="ctr">
              <a:lnSpc>
                <a:spcPct val="100000"/>
              </a:lnSpc>
              <a:spcBef>
                <a:spcPts val="235"/>
              </a:spcBef>
              <a:tabLst>
                <a:tab pos="1089025" algn="l"/>
              </a:tabLst>
            </a:pPr>
            <a:r>
              <a:rPr sz="1400" b="1" i="1" dirty="0">
                <a:latin typeface="Calibri"/>
                <a:cs typeface="Calibri"/>
              </a:rPr>
              <a:t>x	</a:t>
            </a:r>
            <a:r>
              <a:rPr sz="1400" b="1" i="1" spc="-10" dirty="0">
                <a:latin typeface="Calibri"/>
                <a:cs typeface="Calibri"/>
              </a:rPr>
              <a:t>t12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67088" y="2235583"/>
            <a:ext cx="26733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i="1" spc="-10" dirty="0">
                <a:latin typeface="Calibri"/>
                <a:cs typeface="Calibri"/>
              </a:rPr>
              <a:t>t21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616703" y="2235583"/>
            <a:ext cx="25844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i="1" spc="-10" dirty="0">
                <a:latin typeface="Calibri"/>
                <a:cs typeface="Calibri"/>
              </a:rPr>
              <a:t>m1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860985" y="2235583"/>
            <a:ext cx="25844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i="1" spc="-10" dirty="0">
                <a:latin typeface="Calibri"/>
                <a:cs typeface="Calibri"/>
              </a:rPr>
              <a:t>m2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29028" y="2916383"/>
            <a:ext cx="505459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10" dirty="0">
                <a:latin typeface="Calibri"/>
                <a:cs typeface="Calibri"/>
              </a:rPr>
              <a:t>Mode</a:t>
            </a:r>
            <a:r>
              <a:rPr sz="1400" b="1" spc="-5" dirty="0">
                <a:latin typeface="Calibri"/>
                <a:cs typeface="Calibri"/>
              </a:rPr>
              <a:t>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76813" y="2694190"/>
            <a:ext cx="1223010" cy="647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" marR="5080" algn="ctr">
              <a:lnSpc>
                <a:spcPct val="104099"/>
              </a:lnSpc>
            </a:pPr>
            <a:r>
              <a:rPr sz="1400" b="1" spc="-10" dirty="0">
                <a:latin typeface="Calibri"/>
                <a:cs typeface="Calibri"/>
              </a:rPr>
              <a:t>disp</a:t>
            </a:r>
            <a:r>
              <a:rPr sz="1400" b="1" spc="-15" dirty="0">
                <a:latin typeface="Calibri"/>
                <a:cs typeface="Calibri"/>
              </a:rPr>
              <a:t>e</a:t>
            </a:r>
            <a:r>
              <a:rPr sz="1400" b="1" dirty="0">
                <a:latin typeface="Calibri"/>
                <a:cs typeface="Calibri"/>
              </a:rPr>
              <a:t>r</a:t>
            </a:r>
            <a:r>
              <a:rPr sz="1400" b="1" spc="-15" dirty="0">
                <a:latin typeface="Calibri"/>
                <a:cs typeface="Calibri"/>
              </a:rPr>
              <a:t>sal/</a:t>
            </a:r>
            <a:r>
              <a:rPr sz="1400" b="1" spc="-10" dirty="0">
                <a:latin typeface="Calibri"/>
                <a:cs typeface="Calibri"/>
              </a:rPr>
              <a:t>rang</a:t>
            </a:r>
            <a:r>
              <a:rPr sz="1400" b="1" dirty="0">
                <a:latin typeface="Calibri"/>
                <a:cs typeface="Calibri"/>
              </a:rPr>
              <a:t>e </a:t>
            </a:r>
            <a:r>
              <a:rPr sz="1400" b="1" spc="-10" dirty="0">
                <a:latin typeface="Calibri"/>
                <a:cs typeface="Calibri"/>
              </a:rPr>
              <a:t>gai</a:t>
            </a:r>
            <a:r>
              <a:rPr sz="1400" b="1" spc="-15" dirty="0">
                <a:latin typeface="Calibri"/>
                <a:cs typeface="Calibri"/>
              </a:rPr>
              <a:t>n</a:t>
            </a:r>
            <a:r>
              <a:rPr sz="1400" b="1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(anag</a:t>
            </a:r>
            <a:r>
              <a:rPr sz="1400" b="1" dirty="0">
                <a:latin typeface="Calibri"/>
                <a:cs typeface="Calibri"/>
              </a:rPr>
              <a:t>e</a:t>
            </a:r>
            <a:r>
              <a:rPr sz="1400" b="1" spc="-5" dirty="0">
                <a:latin typeface="Calibri"/>
                <a:cs typeface="Calibri"/>
              </a:rPr>
              <a:t>n</a:t>
            </a:r>
            <a:r>
              <a:rPr sz="1400" b="1" dirty="0">
                <a:latin typeface="Calibri"/>
                <a:cs typeface="Calibri"/>
              </a:rPr>
              <a:t>e</a:t>
            </a:r>
            <a:r>
              <a:rPr sz="1400" b="1" spc="-10" dirty="0">
                <a:latin typeface="Calibri"/>
                <a:cs typeface="Calibri"/>
              </a:rPr>
              <a:t>tic)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64907" y="2804398"/>
            <a:ext cx="945515" cy="425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88900">
              <a:lnSpc>
                <a:spcPct val="104099"/>
              </a:lnSpc>
            </a:pPr>
            <a:r>
              <a:rPr sz="1400" b="1" dirty="0">
                <a:latin typeface="Calibri"/>
                <a:cs typeface="Calibri"/>
              </a:rPr>
              <a:t>r</a:t>
            </a:r>
            <a:r>
              <a:rPr sz="1400" b="1" spc="-5" dirty="0">
                <a:latin typeface="Calibri"/>
                <a:cs typeface="Calibri"/>
              </a:rPr>
              <a:t>a</a:t>
            </a:r>
            <a:r>
              <a:rPr sz="1400" b="1" spc="-15" dirty="0">
                <a:latin typeface="Calibri"/>
                <a:cs typeface="Calibri"/>
              </a:rPr>
              <a:t>n</a:t>
            </a:r>
            <a:r>
              <a:rPr sz="1400" b="1" dirty="0">
                <a:latin typeface="Calibri"/>
                <a:cs typeface="Calibri"/>
              </a:rPr>
              <a:t>ge </a:t>
            </a:r>
            <a:r>
              <a:rPr sz="1400" b="1" spc="-5" dirty="0">
                <a:latin typeface="Calibri"/>
                <a:cs typeface="Calibri"/>
              </a:rPr>
              <a:t>l</a:t>
            </a:r>
            <a:r>
              <a:rPr sz="1400" b="1" spc="-15" dirty="0">
                <a:latin typeface="Calibri"/>
                <a:cs typeface="Calibri"/>
              </a:rPr>
              <a:t>oss</a:t>
            </a:r>
            <a:r>
              <a:rPr sz="1400" b="1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(anag</a:t>
            </a:r>
            <a:r>
              <a:rPr sz="1400" b="1" dirty="0">
                <a:latin typeface="Calibri"/>
                <a:cs typeface="Calibri"/>
              </a:rPr>
              <a:t>e</a:t>
            </a:r>
            <a:r>
              <a:rPr sz="1400" b="1" spc="-5" dirty="0">
                <a:latin typeface="Calibri"/>
                <a:cs typeface="Calibri"/>
              </a:rPr>
              <a:t>n</a:t>
            </a:r>
            <a:r>
              <a:rPr sz="1400" b="1" dirty="0">
                <a:latin typeface="Calibri"/>
                <a:cs typeface="Calibri"/>
              </a:rPr>
              <a:t>e</a:t>
            </a:r>
            <a:r>
              <a:rPr sz="1400" b="1" spc="-10" dirty="0">
                <a:latin typeface="Calibri"/>
                <a:cs typeface="Calibri"/>
              </a:rPr>
              <a:t>tic)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15735" y="2582204"/>
            <a:ext cx="1200150" cy="425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396240">
              <a:lnSpc>
                <a:spcPct val="104099"/>
              </a:lnSpc>
            </a:pPr>
            <a:r>
              <a:rPr sz="1400" b="1" spc="-5" dirty="0">
                <a:latin typeface="Calibri"/>
                <a:cs typeface="Calibri"/>
              </a:rPr>
              <a:t>j</a:t>
            </a:r>
            <a:r>
              <a:rPr sz="1400" b="1" spc="-15" dirty="0">
                <a:latin typeface="Calibri"/>
                <a:cs typeface="Calibri"/>
              </a:rPr>
              <a:t>u</a:t>
            </a:r>
            <a:r>
              <a:rPr sz="1400" b="1" spc="-5" dirty="0">
                <a:latin typeface="Calibri"/>
                <a:cs typeface="Calibri"/>
              </a:rPr>
              <a:t>mp</a:t>
            </a:r>
            <a:r>
              <a:rPr sz="1400" b="1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disp</a:t>
            </a:r>
            <a:r>
              <a:rPr sz="1400" b="1" spc="-15" dirty="0">
                <a:latin typeface="Calibri"/>
                <a:cs typeface="Calibri"/>
              </a:rPr>
              <a:t>e</a:t>
            </a:r>
            <a:r>
              <a:rPr sz="1400" b="1" dirty="0">
                <a:latin typeface="Calibri"/>
                <a:cs typeface="Calibri"/>
              </a:rPr>
              <a:t>r</a:t>
            </a:r>
            <a:r>
              <a:rPr sz="1400" b="1" spc="-15" dirty="0">
                <a:latin typeface="Calibri"/>
                <a:cs typeface="Calibri"/>
              </a:rPr>
              <a:t>sal/</a:t>
            </a:r>
            <a:r>
              <a:rPr sz="1400" b="1" spc="-10" dirty="0">
                <a:latin typeface="Calibri"/>
                <a:cs typeface="Calibri"/>
              </a:rPr>
              <a:t>found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15451" y="3026591"/>
            <a:ext cx="2326005" cy="425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835" marR="5080" indent="-64769">
              <a:lnSpc>
                <a:spcPct val="104099"/>
              </a:lnSpc>
              <a:tabLst>
                <a:tab pos="1395730" algn="l"/>
              </a:tabLst>
            </a:pPr>
            <a:r>
              <a:rPr sz="1400" b="1" dirty="0">
                <a:latin typeface="Calibri"/>
                <a:cs typeface="Calibri"/>
              </a:rPr>
              <a:t>er-even</a:t>
            </a:r>
            <a:r>
              <a:rPr sz="1400" b="1" spc="-10" dirty="0">
                <a:latin typeface="Calibri"/>
                <a:cs typeface="Calibri"/>
              </a:rPr>
              <a:t>t</a:t>
            </a:r>
            <a:r>
              <a:rPr sz="1400" b="1" dirty="0">
                <a:latin typeface="Calibri"/>
                <a:cs typeface="Calibri"/>
              </a:rPr>
              <a:t> we</a:t>
            </a:r>
            <a:r>
              <a:rPr sz="1400" b="1" spc="-5" dirty="0">
                <a:latin typeface="Calibri"/>
                <a:cs typeface="Calibri"/>
              </a:rPr>
              <a:t>i</a:t>
            </a:r>
            <a:r>
              <a:rPr sz="1400" b="1" spc="-10" dirty="0">
                <a:latin typeface="Calibri"/>
                <a:cs typeface="Calibri"/>
              </a:rPr>
              <a:t>g</a:t>
            </a:r>
            <a:r>
              <a:rPr sz="1400" b="1" spc="-15" dirty="0">
                <a:latin typeface="Calibri"/>
                <a:cs typeface="Calibri"/>
              </a:rPr>
              <a:t>ht</a:t>
            </a:r>
            <a:r>
              <a:rPr sz="1400" b="1" dirty="0">
                <a:latin typeface="Calibri"/>
                <a:cs typeface="Calibri"/>
              </a:rPr>
              <a:t>  </a:t>
            </a:r>
            <a:r>
              <a:rPr sz="1400" b="1" spc="-8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m</a:t>
            </a:r>
            <a:r>
              <a:rPr sz="1400" b="1" spc="-5" dirty="0">
                <a:latin typeface="Calibri"/>
                <a:cs typeface="Calibri"/>
              </a:rPr>
              <a:t>u</a:t>
            </a:r>
            <a:r>
              <a:rPr sz="1400" b="1" spc="-10" dirty="0">
                <a:latin typeface="Calibri"/>
                <a:cs typeface="Calibri"/>
              </a:rPr>
              <a:t>ltipli</a:t>
            </a:r>
            <a:r>
              <a:rPr sz="1400" b="1" dirty="0">
                <a:latin typeface="Calibri"/>
                <a:cs typeface="Calibri"/>
              </a:rPr>
              <a:t>e</a:t>
            </a:r>
            <a:r>
              <a:rPr sz="1400" b="1" spc="-5" dirty="0">
                <a:latin typeface="Calibri"/>
                <a:cs typeface="Calibri"/>
              </a:rPr>
              <a:t>d </a:t>
            </a:r>
            <a:r>
              <a:rPr sz="1400" b="1" spc="-15" dirty="0">
                <a:latin typeface="Calibri"/>
                <a:cs typeface="Calibri"/>
              </a:rPr>
              <a:t>by</a:t>
            </a:r>
            <a:r>
              <a:rPr sz="1400" b="1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(c</a:t>
            </a:r>
            <a:r>
              <a:rPr sz="1400" b="1" spc="-15" dirty="0">
                <a:latin typeface="Calibri"/>
                <a:cs typeface="Calibri"/>
              </a:rPr>
              <a:t>lado</a:t>
            </a:r>
            <a:r>
              <a:rPr sz="1400" b="1" spc="-10" dirty="0">
                <a:latin typeface="Calibri"/>
                <a:cs typeface="Calibri"/>
              </a:rPr>
              <a:t>g</a:t>
            </a:r>
            <a:r>
              <a:rPr sz="1400" b="1" dirty="0">
                <a:latin typeface="Calibri"/>
                <a:cs typeface="Calibri"/>
              </a:rPr>
              <a:t>e</a:t>
            </a:r>
            <a:r>
              <a:rPr sz="1400" b="1" spc="-5" dirty="0">
                <a:latin typeface="Calibri"/>
                <a:cs typeface="Calibri"/>
              </a:rPr>
              <a:t>n</a:t>
            </a:r>
            <a:r>
              <a:rPr sz="1400" b="1" dirty="0">
                <a:latin typeface="Calibri"/>
                <a:cs typeface="Calibri"/>
              </a:rPr>
              <a:t>e</a:t>
            </a:r>
            <a:r>
              <a:rPr sz="1400" b="1" spc="-10" dirty="0">
                <a:latin typeface="Calibri"/>
                <a:cs typeface="Calibri"/>
              </a:rPr>
              <a:t>tic)</a:t>
            </a:r>
            <a:r>
              <a:rPr sz="1400" b="1" dirty="0">
                <a:latin typeface="Calibri"/>
                <a:cs typeface="Calibri"/>
              </a:rPr>
              <a:t>	</a:t>
            </a:r>
            <a:r>
              <a:rPr sz="1400" b="1" spc="-10" dirty="0">
                <a:latin typeface="Calibri"/>
                <a:cs typeface="Calibri"/>
              </a:rPr>
              <a:t>distan</a:t>
            </a:r>
            <a:r>
              <a:rPr sz="1400" b="1" spc="-15" dirty="0">
                <a:latin typeface="Calibri"/>
                <a:cs typeface="Calibri"/>
              </a:rPr>
              <a:t>c</a:t>
            </a:r>
            <a:r>
              <a:rPr sz="1400" b="1" dirty="0">
                <a:latin typeface="Calibri"/>
                <a:cs typeface="Calibri"/>
              </a:rPr>
              <a:t>e^</a:t>
            </a:r>
            <a:r>
              <a:rPr sz="1400" b="1" i="1" dirty="0">
                <a:latin typeface="Calibri"/>
                <a:cs typeface="Calibri"/>
              </a:rPr>
              <a:t>x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83158" y="2582204"/>
            <a:ext cx="875665" cy="425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74295">
              <a:lnSpc>
                <a:spcPct val="104099"/>
              </a:lnSpc>
            </a:pPr>
            <a:r>
              <a:rPr sz="1400" b="1" spc="-10" dirty="0">
                <a:latin typeface="Calibri"/>
                <a:cs typeface="Calibri"/>
              </a:rPr>
              <a:t>disp</a:t>
            </a:r>
            <a:r>
              <a:rPr sz="1400" b="1" spc="-15" dirty="0">
                <a:latin typeface="Calibri"/>
                <a:cs typeface="Calibri"/>
              </a:rPr>
              <a:t>e</a:t>
            </a:r>
            <a:r>
              <a:rPr sz="1400" b="1" dirty="0">
                <a:latin typeface="Calibri"/>
                <a:cs typeface="Calibri"/>
              </a:rPr>
              <a:t>r</a:t>
            </a:r>
            <a:r>
              <a:rPr sz="1400" b="1" spc="-10" dirty="0">
                <a:latin typeface="Calibri"/>
                <a:cs typeface="Calibri"/>
              </a:rPr>
              <a:t>sal </a:t>
            </a:r>
            <a:r>
              <a:rPr sz="1400" b="1" dirty="0">
                <a:latin typeface="Calibri"/>
                <a:cs typeface="Calibri"/>
              </a:rPr>
              <a:t>pr</a:t>
            </a:r>
            <a:r>
              <a:rPr sz="1400" b="1" spc="-10" dirty="0">
                <a:latin typeface="Calibri"/>
                <a:cs typeface="Calibri"/>
              </a:rPr>
              <a:t>obability 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728191" y="2582204"/>
            <a:ext cx="1127125" cy="869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ctr">
              <a:lnSpc>
                <a:spcPct val="104099"/>
              </a:lnSpc>
            </a:pPr>
            <a:r>
              <a:rPr sz="1400" b="1" dirty="0">
                <a:latin typeface="Calibri"/>
                <a:cs typeface="Calibri"/>
              </a:rPr>
              <a:t>tr</a:t>
            </a:r>
            <a:r>
              <a:rPr sz="1400" b="1" spc="-10" dirty="0">
                <a:latin typeface="Calibri"/>
                <a:cs typeface="Calibri"/>
              </a:rPr>
              <a:t>ansition rate</a:t>
            </a:r>
            <a:r>
              <a:rPr sz="1400" b="1" dirty="0">
                <a:latin typeface="Calibri"/>
                <a:cs typeface="Calibri"/>
              </a:rPr>
              <a:t> fr</a:t>
            </a:r>
            <a:r>
              <a:rPr sz="1400" b="1" spc="-5" dirty="0">
                <a:latin typeface="Calibri"/>
                <a:cs typeface="Calibri"/>
              </a:rPr>
              <a:t>om </a:t>
            </a:r>
            <a:r>
              <a:rPr sz="1400" b="1" spc="-10" dirty="0">
                <a:latin typeface="Calibri"/>
                <a:cs typeface="Calibri"/>
              </a:rPr>
              <a:t>nonlittoral </a:t>
            </a:r>
            <a:r>
              <a:rPr sz="1400" b="1" spc="-15" dirty="0">
                <a:latin typeface="Calibri"/>
                <a:cs typeface="Calibri"/>
              </a:rPr>
              <a:t>to </a:t>
            </a:r>
            <a:r>
              <a:rPr sz="1400" b="1" spc="-5" dirty="0">
                <a:latin typeface="Calibri"/>
                <a:cs typeface="Calibri"/>
              </a:rPr>
              <a:t>littoral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936001" y="2694190"/>
            <a:ext cx="3662045" cy="647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0320">
              <a:lnSpc>
                <a:spcPct val="104099"/>
              </a:lnSpc>
              <a:tabLst>
                <a:tab pos="1328420" algn="l"/>
                <a:tab pos="2573020" algn="l"/>
              </a:tabLst>
            </a:pPr>
            <a:r>
              <a:rPr sz="1400" b="1" dirty="0">
                <a:latin typeface="Calibri"/>
                <a:cs typeface="Calibri"/>
              </a:rPr>
              <a:t>tr</a:t>
            </a:r>
            <a:r>
              <a:rPr sz="1400" b="1" spc="-10" dirty="0">
                <a:latin typeface="Calibri"/>
                <a:cs typeface="Calibri"/>
              </a:rPr>
              <a:t>ansition rate</a:t>
            </a:r>
            <a:r>
              <a:rPr sz="1400" b="1" dirty="0">
                <a:latin typeface="Calibri"/>
                <a:cs typeface="Calibri"/>
              </a:rPr>
              <a:t> 	m</a:t>
            </a:r>
            <a:r>
              <a:rPr sz="1400" b="1" spc="-5" dirty="0">
                <a:latin typeface="Calibri"/>
                <a:cs typeface="Calibri"/>
              </a:rPr>
              <a:t>u</a:t>
            </a:r>
            <a:r>
              <a:rPr sz="1400" b="1" spc="-10" dirty="0">
                <a:latin typeface="Calibri"/>
                <a:cs typeface="Calibri"/>
              </a:rPr>
              <a:t>ltipli</a:t>
            </a:r>
            <a:r>
              <a:rPr sz="1400" b="1" dirty="0">
                <a:latin typeface="Calibri"/>
                <a:cs typeface="Calibri"/>
              </a:rPr>
              <a:t>er o</a:t>
            </a:r>
            <a:r>
              <a:rPr sz="1400" b="1" spc="-15" dirty="0">
                <a:latin typeface="Calibri"/>
                <a:cs typeface="Calibri"/>
              </a:rPr>
              <a:t>n</a:t>
            </a:r>
            <a:r>
              <a:rPr sz="1400" b="1" dirty="0">
                <a:latin typeface="Calibri"/>
                <a:cs typeface="Calibri"/>
              </a:rPr>
              <a:t> 	m</a:t>
            </a:r>
            <a:r>
              <a:rPr sz="1400" b="1" spc="-5" dirty="0">
                <a:latin typeface="Calibri"/>
                <a:cs typeface="Calibri"/>
              </a:rPr>
              <a:t>u</a:t>
            </a:r>
            <a:r>
              <a:rPr sz="1400" b="1" spc="-10" dirty="0">
                <a:latin typeface="Calibri"/>
                <a:cs typeface="Calibri"/>
              </a:rPr>
              <a:t>ltipli</a:t>
            </a:r>
            <a:r>
              <a:rPr sz="1400" b="1" dirty="0">
                <a:latin typeface="Calibri"/>
                <a:cs typeface="Calibri"/>
              </a:rPr>
              <a:t>er o</a:t>
            </a:r>
            <a:r>
              <a:rPr sz="1400" b="1" spc="-15" dirty="0">
                <a:latin typeface="Calibri"/>
                <a:cs typeface="Calibri"/>
              </a:rPr>
              <a:t>n</a:t>
            </a:r>
            <a:r>
              <a:rPr sz="1400" b="1" dirty="0">
                <a:latin typeface="Calibri"/>
                <a:cs typeface="Calibri"/>
              </a:rPr>
              <a:t> fr</a:t>
            </a:r>
            <a:r>
              <a:rPr sz="1400" b="1" spc="-5" dirty="0">
                <a:latin typeface="Calibri"/>
                <a:cs typeface="Calibri"/>
              </a:rPr>
              <a:t>om </a:t>
            </a:r>
            <a:r>
              <a:rPr sz="1400" b="1" dirty="0">
                <a:latin typeface="Calibri"/>
                <a:cs typeface="Calibri"/>
              </a:rPr>
              <a:t>l</a:t>
            </a:r>
            <a:r>
              <a:rPr sz="1400" b="1" spc="-15" dirty="0">
                <a:latin typeface="Calibri"/>
                <a:cs typeface="Calibri"/>
              </a:rPr>
              <a:t>itto</a:t>
            </a:r>
            <a:r>
              <a:rPr sz="1400" b="1" dirty="0">
                <a:latin typeface="Calibri"/>
                <a:cs typeface="Calibri"/>
              </a:rPr>
              <a:t>r</a:t>
            </a:r>
            <a:r>
              <a:rPr sz="1400" b="1" spc="-5" dirty="0">
                <a:latin typeface="Calibri"/>
                <a:cs typeface="Calibri"/>
              </a:rPr>
              <a:t>a</a:t>
            </a:r>
            <a:r>
              <a:rPr sz="1400" b="1" spc="-10" dirty="0">
                <a:latin typeface="Calibri"/>
                <a:cs typeface="Calibri"/>
              </a:rPr>
              <a:t>l</a:t>
            </a:r>
            <a:r>
              <a:rPr sz="1400" b="1" spc="-5" dirty="0">
                <a:latin typeface="Calibri"/>
                <a:cs typeface="Calibri"/>
              </a:rPr>
              <a:t> </a:t>
            </a:r>
            <a:r>
              <a:rPr sz="1400" b="1" spc="-15" dirty="0">
                <a:latin typeface="Calibri"/>
                <a:cs typeface="Calibri"/>
              </a:rPr>
              <a:t>to</a:t>
            </a:r>
            <a:r>
              <a:rPr sz="1400" b="1" dirty="0">
                <a:latin typeface="Calibri"/>
                <a:cs typeface="Calibri"/>
              </a:rPr>
              <a:t>   </a:t>
            </a:r>
            <a:r>
              <a:rPr sz="1400" b="1" spc="-16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disp</a:t>
            </a:r>
            <a:r>
              <a:rPr sz="1400" b="1" spc="-15" dirty="0">
                <a:latin typeface="Calibri"/>
                <a:cs typeface="Calibri"/>
              </a:rPr>
              <a:t>e</a:t>
            </a:r>
            <a:r>
              <a:rPr sz="1400" b="1" dirty="0">
                <a:latin typeface="Calibri"/>
                <a:cs typeface="Calibri"/>
              </a:rPr>
              <a:t>r</a:t>
            </a:r>
            <a:r>
              <a:rPr sz="1400" b="1" spc="-15" dirty="0">
                <a:latin typeface="Calibri"/>
                <a:cs typeface="Calibri"/>
              </a:rPr>
              <a:t>sal</a:t>
            </a:r>
            <a:r>
              <a:rPr sz="1400" b="1" spc="-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whe</a:t>
            </a:r>
            <a:r>
              <a:rPr sz="1400" b="1" spc="-10" dirty="0">
                <a:latin typeface="Calibri"/>
                <a:cs typeface="Calibri"/>
              </a:rPr>
              <a:t>n </a:t>
            </a:r>
            <a:r>
              <a:rPr sz="1400" b="1" dirty="0">
                <a:latin typeface="Calibri"/>
                <a:cs typeface="Calibri"/>
              </a:rPr>
              <a:t> </a:t>
            </a:r>
            <a:r>
              <a:rPr sz="1400" b="1" spc="8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disp</a:t>
            </a:r>
            <a:r>
              <a:rPr sz="1400" b="1" spc="-15" dirty="0">
                <a:latin typeface="Calibri"/>
                <a:cs typeface="Calibri"/>
              </a:rPr>
              <a:t>e</a:t>
            </a:r>
            <a:r>
              <a:rPr sz="1400" b="1" dirty="0">
                <a:latin typeface="Calibri"/>
                <a:cs typeface="Calibri"/>
              </a:rPr>
              <a:t>r</a:t>
            </a:r>
            <a:r>
              <a:rPr sz="1400" b="1" spc="-15" dirty="0">
                <a:latin typeface="Calibri"/>
                <a:cs typeface="Calibri"/>
              </a:rPr>
              <a:t>sal</a:t>
            </a:r>
            <a:r>
              <a:rPr sz="1400" b="1" spc="-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whe</a:t>
            </a:r>
            <a:r>
              <a:rPr sz="1400" b="1" spc="-10" dirty="0">
                <a:latin typeface="Calibri"/>
                <a:cs typeface="Calibri"/>
              </a:rPr>
              <a:t>n </a:t>
            </a:r>
            <a:endParaRPr sz="1400">
              <a:latin typeface="Calibri"/>
              <a:cs typeface="Calibri"/>
            </a:endParaRPr>
          </a:p>
          <a:p>
            <a:pPr marL="168910">
              <a:lnSpc>
                <a:spcPct val="100000"/>
              </a:lnSpc>
              <a:spcBef>
                <a:spcPts val="70"/>
              </a:spcBef>
              <a:tabLst>
                <a:tab pos="1414145" algn="l"/>
                <a:tab pos="2802255" algn="l"/>
              </a:tabLst>
            </a:pPr>
            <a:r>
              <a:rPr sz="1400" b="1" spc="-10" dirty="0">
                <a:latin typeface="Calibri"/>
                <a:cs typeface="Calibri"/>
              </a:rPr>
              <a:t>nonlittoral	nonlittoral	</a:t>
            </a:r>
            <a:r>
              <a:rPr sz="1400" b="1" spc="-5" dirty="0">
                <a:latin typeface="Calibri"/>
                <a:cs typeface="Calibri"/>
              </a:rPr>
              <a:t>littoral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3395" y="1430355"/>
            <a:ext cx="12115800" cy="425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335" marR="5080" indent="-1270">
              <a:lnSpc>
                <a:spcPct val="104099"/>
              </a:lnSpc>
            </a:pPr>
            <a:r>
              <a:rPr sz="1400" b="1" spc="-10" dirty="0">
                <a:latin typeface="Calibri"/>
                <a:cs typeface="Calibri"/>
              </a:rPr>
              <a:t>Tabl</a:t>
            </a:r>
            <a:r>
              <a:rPr sz="1400" b="1" spc="-5" dirty="0">
                <a:latin typeface="Calibri"/>
                <a:cs typeface="Calibri"/>
              </a:rPr>
              <a:t>e B</a:t>
            </a:r>
            <a:r>
              <a:rPr sz="1400" b="1" dirty="0">
                <a:latin typeface="Calibri"/>
                <a:cs typeface="Calibri"/>
              </a:rPr>
              <a:t>.</a:t>
            </a:r>
            <a:r>
              <a:rPr sz="1400" dirty="0">
                <a:latin typeface="Calibri"/>
                <a:cs typeface="Calibri"/>
              </a:rPr>
              <a:t> Maxi</a:t>
            </a:r>
            <a:r>
              <a:rPr sz="1400" spc="-15" dirty="0">
                <a:latin typeface="Calibri"/>
                <a:cs typeface="Calibri"/>
              </a:rPr>
              <a:t>m</a:t>
            </a:r>
            <a:r>
              <a:rPr sz="1400" dirty="0">
                <a:latin typeface="Calibri"/>
                <a:cs typeface="Calibri"/>
              </a:rPr>
              <a:t>u</a:t>
            </a:r>
            <a:r>
              <a:rPr sz="1400" spc="-15" dirty="0">
                <a:latin typeface="Calibri"/>
                <a:cs typeface="Calibri"/>
              </a:rPr>
              <a:t>m</a:t>
            </a:r>
            <a:r>
              <a:rPr sz="1400" dirty="0">
                <a:latin typeface="Calibri"/>
                <a:cs typeface="Calibri"/>
              </a:rPr>
              <a:t>-li</a:t>
            </a:r>
            <a:r>
              <a:rPr sz="1400" spc="-10" dirty="0">
                <a:latin typeface="Calibri"/>
                <a:cs typeface="Calibri"/>
              </a:rPr>
              <a:t>ke</a:t>
            </a:r>
            <a:r>
              <a:rPr sz="1400" dirty="0">
                <a:latin typeface="Calibri"/>
                <a:cs typeface="Calibri"/>
              </a:rPr>
              <a:t>lihood </a:t>
            </a:r>
            <a:r>
              <a:rPr sz="1400" spc="-10" dirty="0">
                <a:latin typeface="Calibri"/>
                <a:cs typeface="Calibri"/>
              </a:rPr>
              <a:t>e</a:t>
            </a:r>
            <a:r>
              <a:rPr sz="1400" dirty="0">
                <a:latin typeface="Calibri"/>
                <a:cs typeface="Calibri"/>
              </a:rPr>
              <a:t>sti</a:t>
            </a:r>
            <a:r>
              <a:rPr sz="1400" spc="-10" dirty="0">
                <a:latin typeface="Calibri"/>
                <a:cs typeface="Calibri"/>
              </a:rPr>
              <a:t>mate</a:t>
            </a:r>
            <a:r>
              <a:rPr sz="1400" dirty="0">
                <a:latin typeface="Calibri"/>
                <a:cs typeface="Calibri"/>
              </a:rPr>
              <a:t>s of p</a:t>
            </a:r>
            <a:r>
              <a:rPr sz="1400" spc="-10" dirty="0">
                <a:latin typeface="Calibri"/>
                <a:cs typeface="Calibri"/>
              </a:rPr>
              <a:t>arameter</a:t>
            </a:r>
            <a:r>
              <a:rPr sz="1400" dirty="0">
                <a:latin typeface="Calibri"/>
                <a:cs typeface="Calibri"/>
              </a:rPr>
              <a:t>s inf</a:t>
            </a:r>
            <a:r>
              <a:rPr sz="1400" spc="-10" dirty="0">
                <a:latin typeface="Calibri"/>
                <a:cs typeface="Calibri"/>
              </a:rPr>
              <a:t>erre</a:t>
            </a:r>
            <a:r>
              <a:rPr sz="1400" dirty="0">
                <a:latin typeface="Calibri"/>
                <a:cs typeface="Calibri"/>
              </a:rPr>
              <a:t>d </a:t>
            </a:r>
            <a:r>
              <a:rPr sz="1400" spc="-10" dirty="0">
                <a:latin typeface="Calibri"/>
                <a:cs typeface="Calibri"/>
              </a:rPr>
              <a:t>w</a:t>
            </a:r>
            <a:r>
              <a:rPr sz="1400" dirty="0">
                <a:latin typeface="Calibri"/>
                <a:cs typeface="Calibri"/>
              </a:rPr>
              <a:t>ith </a:t>
            </a:r>
            <a:r>
              <a:rPr sz="1400" spc="-10" dirty="0">
                <a:latin typeface="Calibri"/>
                <a:cs typeface="Calibri"/>
              </a:rPr>
              <a:t>B</a:t>
            </a:r>
            <a:r>
              <a:rPr sz="1400" dirty="0">
                <a:latin typeface="Calibri"/>
                <a:cs typeface="Calibri"/>
              </a:rPr>
              <a:t>io</a:t>
            </a:r>
            <a:r>
              <a:rPr sz="1400" spc="-10" dirty="0">
                <a:latin typeface="Calibri"/>
                <a:cs typeface="Calibri"/>
              </a:rPr>
              <a:t>Ge</a:t>
            </a:r>
            <a:r>
              <a:rPr sz="1400" dirty="0">
                <a:latin typeface="Calibri"/>
                <a:cs typeface="Calibri"/>
              </a:rPr>
              <a:t>o</a:t>
            </a:r>
            <a:r>
              <a:rPr sz="1400" spc="-10" dirty="0">
                <a:latin typeface="Calibri"/>
                <a:cs typeface="Calibri"/>
              </a:rPr>
              <a:t>B</a:t>
            </a:r>
            <a:r>
              <a:rPr sz="1400" dirty="0">
                <a:latin typeface="Calibri"/>
                <a:cs typeface="Calibri"/>
              </a:rPr>
              <a:t>E</a:t>
            </a:r>
            <a:r>
              <a:rPr sz="1400" spc="-10" dirty="0">
                <a:latin typeface="Calibri"/>
                <a:cs typeface="Calibri"/>
              </a:rPr>
              <a:t>A</a:t>
            </a:r>
            <a:r>
              <a:rPr sz="1400" dirty="0">
                <a:latin typeface="Calibri"/>
                <a:cs typeface="Calibri"/>
              </a:rPr>
              <a:t>RS fo</a:t>
            </a:r>
            <a:r>
              <a:rPr sz="1400" spc="-5" dirty="0">
                <a:latin typeface="Calibri"/>
                <a:cs typeface="Calibri"/>
              </a:rPr>
              <a:t>r</a:t>
            </a:r>
            <a:r>
              <a:rPr sz="1400" dirty="0">
                <a:latin typeface="Calibri"/>
                <a:cs typeface="Calibri"/>
              </a:rPr>
              <a:t> th</a:t>
            </a:r>
            <a:r>
              <a:rPr sz="1400" spc="-10" dirty="0">
                <a:latin typeface="Calibri"/>
                <a:cs typeface="Calibri"/>
              </a:rPr>
              <a:t>e</a:t>
            </a:r>
            <a:r>
              <a:rPr sz="1400" dirty="0">
                <a:latin typeface="Calibri"/>
                <a:cs typeface="Calibri"/>
              </a:rPr>
              <a:t> DEC</a:t>
            </a:r>
            <a:r>
              <a:rPr sz="1400" spc="-10" dirty="0">
                <a:latin typeface="Calibri"/>
                <a:cs typeface="Calibri"/>
              </a:rPr>
              <a:t>+J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5" dirty="0">
                <a:latin typeface="Calibri"/>
                <a:cs typeface="Calibri"/>
              </a:rPr>
              <a:t>m</a:t>
            </a:r>
            <a:r>
              <a:rPr sz="1400" dirty="0">
                <a:latin typeface="Calibri"/>
                <a:cs typeface="Calibri"/>
              </a:rPr>
              <a:t>od</a:t>
            </a:r>
            <a:r>
              <a:rPr sz="1400" spc="-10" dirty="0">
                <a:latin typeface="Calibri"/>
                <a:cs typeface="Calibri"/>
              </a:rPr>
              <a:t>e</a:t>
            </a:r>
            <a:r>
              <a:rPr sz="1400" dirty="0">
                <a:latin typeface="Calibri"/>
                <a:cs typeface="Calibri"/>
              </a:rPr>
              <a:t>l</a:t>
            </a:r>
            <a:r>
              <a:rPr sz="1400" spc="-5" dirty="0">
                <a:latin typeface="Calibri"/>
                <a:cs typeface="Calibri"/>
              </a:rPr>
              <a:t>,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w</a:t>
            </a:r>
            <a:r>
              <a:rPr sz="1400" dirty="0">
                <a:latin typeface="Calibri"/>
                <a:cs typeface="Calibri"/>
              </a:rPr>
              <a:t>ith and </a:t>
            </a:r>
            <a:r>
              <a:rPr sz="1400" spc="-10" dirty="0">
                <a:latin typeface="Calibri"/>
                <a:cs typeface="Calibri"/>
              </a:rPr>
              <a:t>w</a:t>
            </a:r>
            <a:r>
              <a:rPr sz="1400" dirty="0">
                <a:latin typeface="Calibri"/>
                <a:cs typeface="Calibri"/>
              </a:rPr>
              <a:t>ithout distan</a:t>
            </a:r>
            <a:r>
              <a:rPr sz="1400" spc="-10" dirty="0">
                <a:latin typeface="Calibri"/>
                <a:cs typeface="Calibri"/>
              </a:rPr>
              <a:t>ce</a:t>
            </a:r>
            <a:r>
              <a:rPr sz="1400" dirty="0">
                <a:latin typeface="Calibri"/>
                <a:cs typeface="Calibri"/>
              </a:rPr>
              <a:t>-bas</a:t>
            </a:r>
            <a:r>
              <a:rPr sz="1400" spc="-10" dirty="0">
                <a:latin typeface="Calibri"/>
                <a:cs typeface="Calibri"/>
              </a:rPr>
              <a:t>e</a:t>
            </a:r>
            <a:r>
              <a:rPr sz="1400" dirty="0">
                <a:latin typeface="Calibri"/>
                <a:cs typeface="Calibri"/>
              </a:rPr>
              <a:t>d disp</a:t>
            </a:r>
            <a:r>
              <a:rPr sz="1400" spc="-10" dirty="0">
                <a:latin typeface="Calibri"/>
                <a:cs typeface="Calibri"/>
              </a:rPr>
              <a:t>er</a:t>
            </a:r>
            <a:r>
              <a:rPr sz="1400" dirty="0">
                <a:latin typeface="Calibri"/>
                <a:cs typeface="Calibri"/>
              </a:rPr>
              <a:t>sal (+</a:t>
            </a:r>
            <a:r>
              <a:rPr sz="1400" i="1" spc="10" dirty="0">
                <a:latin typeface="Calibri"/>
                <a:cs typeface="Calibri"/>
              </a:rPr>
              <a:t>x</a:t>
            </a:r>
            <a:r>
              <a:rPr sz="1400" dirty="0">
                <a:latin typeface="Calibri"/>
                <a:cs typeface="Calibri"/>
              </a:rPr>
              <a:t>) and </a:t>
            </a:r>
            <a:r>
              <a:rPr sz="1400" spc="-5" dirty="0">
                <a:latin typeface="Calibri"/>
                <a:cs typeface="Calibri"/>
              </a:rPr>
              <a:t>tr</a:t>
            </a:r>
            <a:r>
              <a:rPr sz="1400" dirty="0">
                <a:latin typeface="Calibri"/>
                <a:cs typeface="Calibri"/>
              </a:rPr>
              <a:t>ait-bas</a:t>
            </a:r>
            <a:r>
              <a:rPr sz="1400" spc="-10" dirty="0">
                <a:latin typeface="Calibri"/>
                <a:cs typeface="Calibri"/>
              </a:rPr>
              <a:t>e</a:t>
            </a:r>
            <a:r>
              <a:rPr sz="1400" dirty="0">
                <a:latin typeface="Calibri"/>
                <a:cs typeface="Calibri"/>
              </a:rPr>
              <a:t>d disp</a:t>
            </a:r>
            <a:r>
              <a:rPr sz="1400" spc="-10" dirty="0">
                <a:latin typeface="Calibri"/>
                <a:cs typeface="Calibri"/>
              </a:rPr>
              <a:t>er</a:t>
            </a:r>
            <a:r>
              <a:rPr sz="1400" dirty="0">
                <a:latin typeface="Calibri"/>
                <a:cs typeface="Calibri"/>
              </a:rPr>
              <a:t>sal (+</a:t>
            </a:r>
            <a:r>
              <a:rPr sz="1400" i="1" spc="-15" dirty="0">
                <a:latin typeface="Calibri"/>
                <a:cs typeface="Calibri"/>
              </a:rPr>
              <a:t>m</a:t>
            </a:r>
            <a:r>
              <a:rPr sz="1400" i="1" dirty="0">
                <a:latin typeface="Calibri"/>
                <a:cs typeface="Calibri"/>
              </a:rPr>
              <a:t>2</a:t>
            </a:r>
            <a:r>
              <a:rPr sz="1400" dirty="0">
                <a:latin typeface="Calibri"/>
                <a:cs typeface="Calibri"/>
              </a:rPr>
              <a:t>).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657346" y="5864699"/>
            <a:ext cx="4949190" cy="224154"/>
          </a:xfrm>
          <a:prstGeom prst="rect">
            <a:avLst/>
          </a:prstGeom>
          <a:solidFill>
            <a:srgbClr val="BFBFBF"/>
          </a:solidFill>
        </p:spPr>
        <p:txBody>
          <a:bodyPr vert="horz" wrap="square" lIns="0" tIns="0" rIns="0" bIns="0" rtlCol="0">
            <a:spAutoFit/>
          </a:bodyPr>
          <a:lstStyle/>
          <a:p>
            <a:pPr marL="1308100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(p</a:t>
            </a:r>
            <a:r>
              <a:rPr sz="1400" spc="-10" dirty="0">
                <a:latin typeface="Calibri"/>
                <a:cs typeface="Calibri"/>
              </a:rPr>
              <a:t>arameter is fixed to this value)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05877" y="1959431"/>
            <a:ext cx="12400280" cy="0"/>
          </a:xfrm>
          <a:custGeom>
            <a:avLst/>
            <a:gdLst/>
            <a:ahLst/>
            <a:cxnLst/>
            <a:rect l="l" t="t" r="r" b="b"/>
            <a:pathLst>
              <a:path w="12400280">
                <a:moveTo>
                  <a:pt x="0" y="0"/>
                </a:moveTo>
                <a:lnTo>
                  <a:pt x="12400155" y="0"/>
                </a:lnTo>
              </a:path>
            </a:pathLst>
          </a:custGeom>
          <a:ln w="439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946852" y="2210065"/>
            <a:ext cx="9659620" cy="0"/>
          </a:xfrm>
          <a:custGeom>
            <a:avLst/>
            <a:gdLst/>
            <a:ahLst/>
            <a:cxnLst/>
            <a:rect l="l" t="t" r="r" b="b"/>
            <a:pathLst>
              <a:path w="9659620">
                <a:moveTo>
                  <a:pt x="0" y="0"/>
                </a:moveTo>
                <a:lnTo>
                  <a:pt x="9659180" y="0"/>
                </a:lnTo>
              </a:path>
            </a:pathLst>
          </a:custGeom>
          <a:ln w="29710">
            <a:solidFill>
              <a:srgbClr val="BFBF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946852" y="2446478"/>
            <a:ext cx="9659620" cy="0"/>
          </a:xfrm>
          <a:custGeom>
            <a:avLst/>
            <a:gdLst/>
            <a:ahLst/>
            <a:cxnLst/>
            <a:rect l="l" t="t" r="r" b="b"/>
            <a:pathLst>
              <a:path w="9659620">
                <a:moveTo>
                  <a:pt x="0" y="0"/>
                </a:moveTo>
                <a:lnTo>
                  <a:pt x="9659180" y="0"/>
                </a:lnTo>
              </a:path>
            </a:pathLst>
          </a:custGeom>
          <a:ln w="29710">
            <a:solidFill>
              <a:srgbClr val="BFBF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183911" y="3549700"/>
          <a:ext cx="12400151" cy="20566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98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07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36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36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69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75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290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460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4428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72828"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Calibri"/>
                          <a:cs typeface="Calibri"/>
                        </a:rPr>
                        <a:t>1.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 DEC+J, with trait transitions</a:t>
                      </a:r>
                    </a:p>
                  </a:txBody>
                  <a:tcPr marL="0" marR="0" marT="0" marB="0">
                    <a:lnT w="43931">
                      <a:solidFill>
                        <a:srgbClr val="000000"/>
                      </a:solidFill>
                      <a:prstDash val="solid"/>
                    </a:lnT>
                    <a:lnB w="14220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0.0017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43931">
                      <a:solidFill>
                        <a:srgbClr val="000000"/>
                      </a:solidFill>
                      <a:prstDash val="solid"/>
                    </a:lnT>
                    <a:lnB w="14220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145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43931">
                      <a:solidFill>
                        <a:srgbClr val="000000"/>
                      </a:solidFill>
                      <a:prstDash val="solid"/>
                    </a:lnT>
                    <a:lnB w="14220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4184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0.012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43931">
                      <a:solidFill>
                        <a:srgbClr val="000000"/>
                      </a:solidFill>
                      <a:prstDash val="solid"/>
                    </a:lnT>
                    <a:lnB w="14220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43931">
                      <a:solidFill>
                        <a:srgbClr val="000000"/>
                      </a:solidFill>
                      <a:prstDash val="solid"/>
                    </a:lnT>
                    <a:lnB w="14220">
                      <a:solidFill>
                        <a:srgbClr val="BFBFBF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0.0071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43931">
                      <a:solidFill>
                        <a:srgbClr val="000000"/>
                      </a:solidFill>
                      <a:prstDash val="solid"/>
                    </a:lnT>
                    <a:lnB w="14220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0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43931">
                      <a:solidFill>
                        <a:srgbClr val="000000"/>
                      </a:solidFill>
                      <a:prstDash val="solid"/>
                    </a:lnT>
                    <a:lnB w="14220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43931">
                      <a:solidFill>
                        <a:srgbClr val="000000"/>
                      </a:solidFill>
                      <a:prstDash val="solid"/>
                    </a:lnT>
                    <a:lnB w="14220">
                      <a:solidFill>
                        <a:srgbClr val="BFBFBF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43931">
                      <a:solidFill>
                        <a:srgbClr val="000000"/>
                      </a:solidFill>
                      <a:prstDash val="solid"/>
                    </a:lnT>
                    <a:lnB w="14220">
                      <a:solidFill>
                        <a:srgbClr val="BFBFBF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386">
                <a:tc>
                  <a:txBody>
                    <a:bodyPr/>
                    <a:lstStyle/>
                    <a:p>
                      <a:pPr marL="27940" marR="604520" indent="1270">
                        <a:lnSpc>
                          <a:spcPct val="104099"/>
                        </a:lnSpc>
                      </a:pPr>
                      <a:r>
                        <a:rPr sz="1400" b="1" dirty="0">
                          <a:latin typeface="Calibri"/>
                          <a:cs typeface="Calibri"/>
                        </a:rPr>
                        <a:t>2.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 DEC+J+x (distance-based dispersal), with trait transitions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4220">
                      <a:solidFill>
                        <a:srgbClr val="BFBFBF"/>
                      </a:solidFill>
                      <a:prstDash val="solid"/>
                    </a:lnT>
                    <a:lnB w="14220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0.0244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4220">
                      <a:solidFill>
                        <a:srgbClr val="BFBFBF"/>
                      </a:solidFill>
                      <a:prstDash val="solid"/>
                    </a:lnT>
                    <a:lnB w="14220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145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4220">
                      <a:solidFill>
                        <a:srgbClr val="BFBFBF"/>
                      </a:solidFill>
                      <a:prstDash val="solid"/>
                    </a:lnT>
                    <a:lnB w="14220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4184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0.174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4220">
                      <a:solidFill>
                        <a:srgbClr val="BFBFBF"/>
                      </a:solidFill>
                      <a:prstDash val="solid"/>
                    </a:lnT>
                    <a:lnB w="14220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3540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-1.23</a:t>
                      </a:r>
                    </a:p>
                  </a:txBody>
                  <a:tcPr marL="0" marR="0" marT="0" marB="0">
                    <a:lnT w="14220">
                      <a:solidFill>
                        <a:srgbClr val="BFBFBF"/>
                      </a:solidFill>
                      <a:prstDash val="solid"/>
                    </a:lnT>
                    <a:lnB w="14220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0.0071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4220">
                      <a:solidFill>
                        <a:srgbClr val="BFBFBF"/>
                      </a:solidFill>
                      <a:prstDash val="solid"/>
                    </a:lnT>
                    <a:lnB w="14220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0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4220">
                      <a:solidFill>
                        <a:srgbClr val="BFBFBF"/>
                      </a:solidFill>
                      <a:prstDash val="solid"/>
                    </a:lnT>
                    <a:lnB w="14220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4220">
                      <a:solidFill>
                        <a:srgbClr val="BFBFBF"/>
                      </a:solidFill>
                      <a:prstDash val="solid"/>
                    </a:lnT>
                    <a:lnB w="14220">
                      <a:solidFill>
                        <a:srgbClr val="BFBFBF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4220">
                      <a:solidFill>
                        <a:srgbClr val="BFBFBF"/>
                      </a:solidFill>
                      <a:prstDash val="solid"/>
                    </a:lnT>
                    <a:lnB w="14220">
                      <a:solidFill>
                        <a:srgbClr val="BFBFBF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386">
                <a:tc>
                  <a:txBody>
                    <a:bodyPr/>
                    <a:lstStyle/>
                    <a:p>
                      <a:pPr marL="29845" marR="276225" indent="-635">
                        <a:lnSpc>
                          <a:spcPct val="104099"/>
                        </a:lnSpc>
                      </a:pPr>
                      <a:r>
                        <a:rPr sz="1400" b="1" dirty="0">
                          <a:latin typeface="Calibri"/>
                          <a:cs typeface="Calibri"/>
                        </a:rPr>
                        <a:t>3.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 DEC+J, with trait transitions, and dispersal multiplier for trait 'littoral'</a:t>
                      </a:r>
                    </a:p>
                  </a:txBody>
                  <a:tcPr marL="0" marR="0" marT="0" marB="0">
                    <a:lnT w="14220">
                      <a:solidFill>
                        <a:srgbClr val="BFBFBF"/>
                      </a:solidFill>
                      <a:prstDash val="solid"/>
                    </a:lnT>
                    <a:lnB w="14220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0.0007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4220">
                      <a:solidFill>
                        <a:srgbClr val="BFBFBF"/>
                      </a:solidFill>
                      <a:prstDash val="solid"/>
                    </a:lnT>
                    <a:lnB w="14220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145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4220">
                      <a:solidFill>
                        <a:srgbClr val="BFBFBF"/>
                      </a:solidFill>
                      <a:prstDash val="solid"/>
                    </a:lnT>
                    <a:lnB w="14220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4184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0.005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4220">
                      <a:solidFill>
                        <a:srgbClr val="BFBFBF"/>
                      </a:solidFill>
                      <a:prstDash val="solid"/>
                    </a:lnT>
                    <a:lnB w="14220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4220">
                      <a:solidFill>
                        <a:srgbClr val="BFBFBF"/>
                      </a:solidFill>
                      <a:prstDash val="solid"/>
                    </a:lnT>
                    <a:lnB w="14220">
                      <a:solidFill>
                        <a:srgbClr val="BFBFBF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0.0070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4220">
                      <a:solidFill>
                        <a:srgbClr val="BFBFBF"/>
                      </a:solidFill>
                      <a:prstDash val="solid"/>
                    </a:lnT>
                    <a:lnB w="14220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0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4220">
                      <a:solidFill>
                        <a:srgbClr val="BFBFBF"/>
                      </a:solidFill>
                      <a:prstDash val="solid"/>
                    </a:lnT>
                    <a:lnB w="14220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4220">
                      <a:solidFill>
                        <a:srgbClr val="BFBFBF"/>
                      </a:solidFill>
                      <a:prstDash val="solid"/>
                    </a:lnT>
                    <a:lnB w="14220">
                      <a:solidFill>
                        <a:srgbClr val="BFBFBF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8.51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4220">
                      <a:solidFill>
                        <a:srgbClr val="BFBFBF"/>
                      </a:solidFill>
                      <a:prstDash val="solid"/>
                    </a:lnT>
                    <a:lnB w="14220">
                      <a:solidFill>
                        <a:srgbClr val="BFBFB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018">
                <a:tc>
                  <a:txBody>
                    <a:bodyPr/>
                    <a:lstStyle/>
                    <a:p>
                      <a:pPr marL="27940" marR="208279" indent="1270">
                        <a:lnSpc>
                          <a:spcPct val="104099"/>
                        </a:lnSpc>
                      </a:pPr>
                      <a:r>
                        <a:rPr sz="1400" b="1" dirty="0">
                          <a:latin typeface="Calibri"/>
                          <a:cs typeface="Calibri"/>
                        </a:rPr>
                        <a:t>4.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 DEC+J+x (distance-based dispersal), with trait transitions, and dispersal multiplier for trait 'littoral'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4220">
                      <a:solidFill>
                        <a:srgbClr val="BFBFBF"/>
                      </a:solidFill>
                      <a:prstDash val="solid"/>
                    </a:lnT>
                    <a:lnB w="4393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0.0125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4220">
                      <a:solidFill>
                        <a:srgbClr val="BFBFBF"/>
                      </a:solidFill>
                      <a:prstDash val="solid"/>
                    </a:lnT>
                    <a:lnB w="4393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145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4220">
                      <a:solidFill>
                        <a:srgbClr val="BFBFBF"/>
                      </a:solidFill>
                      <a:prstDash val="solid"/>
                    </a:lnT>
                    <a:lnB w="4393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4184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0.095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4220">
                      <a:solidFill>
                        <a:srgbClr val="BFBFBF"/>
                      </a:solidFill>
                      <a:prstDash val="solid"/>
                    </a:lnT>
                    <a:lnB w="4393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3540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-1.23</a:t>
                      </a:r>
                    </a:p>
                  </a:txBody>
                  <a:tcPr marL="0" marR="0" marT="0" marB="0">
                    <a:lnT w="14220">
                      <a:solidFill>
                        <a:srgbClr val="BFBFBF"/>
                      </a:solidFill>
                      <a:prstDash val="solid"/>
                    </a:lnT>
                    <a:lnB w="4393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0.0070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4220">
                      <a:solidFill>
                        <a:srgbClr val="BFBFBF"/>
                      </a:solidFill>
                      <a:prstDash val="solid"/>
                    </a:lnT>
                    <a:lnB w="4393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0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4220">
                      <a:solidFill>
                        <a:srgbClr val="BFBFBF"/>
                      </a:solidFill>
                      <a:prstDash val="solid"/>
                    </a:lnT>
                    <a:lnB w="4393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4220">
                      <a:solidFill>
                        <a:srgbClr val="BFBFBF"/>
                      </a:solidFill>
                      <a:prstDash val="solid"/>
                    </a:lnT>
                    <a:lnB w="43931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6.12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4220">
                      <a:solidFill>
                        <a:srgbClr val="BFBFBF"/>
                      </a:solidFill>
                      <a:prstDash val="solid"/>
                    </a:lnT>
                    <a:lnB w="43931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10076" y="2235583"/>
            <a:ext cx="119380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i="1" spc="-10" dirty="0">
                <a:latin typeface="Calibri"/>
                <a:cs typeface="Calibri"/>
              </a:rPr>
              <a:t>d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81479" y="2235583"/>
            <a:ext cx="113030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i="1" dirty="0">
                <a:latin typeface="Calibri"/>
                <a:cs typeface="Calibri"/>
              </a:rPr>
              <a:t>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81322" y="2235583"/>
            <a:ext cx="71120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i="1" dirty="0">
                <a:latin typeface="Calibri"/>
                <a:cs typeface="Calibri"/>
              </a:rPr>
              <a:t>j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83400" y="1992059"/>
            <a:ext cx="1593215" cy="447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spc="-10" dirty="0">
                <a:latin typeface="Calibri"/>
                <a:cs typeface="Calibri"/>
              </a:rPr>
              <a:t>P</a:t>
            </a:r>
            <a:r>
              <a:rPr sz="1400" b="1" spc="-15" dirty="0">
                <a:latin typeface="Calibri"/>
                <a:cs typeface="Calibri"/>
              </a:rPr>
              <a:t>a</a:t>
            </a:r>
            <a:r>
              <a:rPr sz="1400" b="1" spc="-5" dirty="0">
                <a:latin typeface="Calibri"/>
                <a:cs typeface="Calibri"/>
              </a:rPr>
              <a:t>rameter</a:t>
            </a:r>
            <a:r>
              <a:rPr sz="1400" b="1" dirty="0">
                <a:latin typeface="Calibri"/>
                <a:cs typeface="Calibri"/>
              </a:rPr>
              <a:t>s </a:t>
            </a:r>
            <a:r>
              <a:rPr sz="1400" b="1" spc="-15" dirty="0">
                <a:latin typeface="Calibri"/>
                <a:cs typeface="Calibri"/>
              </a:rPr>
              <a:t>(d</a:t>
            </a:r>
            <a:r>
              <a:rPr sz="1400" b="1" spc="-5" dirty="0">
                <a:latin typeface="Calibri"/>
                <a:cs typeface="Calibri"/>
              </a:rPr>
              <a:t>efi</a:t>
            </a:r>
            <a:r>
              <a:rPr sz="1400" b="1" spc="-15" dirty="0">
                <a:latin typeface="Calibri"/>
                <a:cs typeface="Calibri"/>
              </a:rPr>
              <a:t>n</a:t>
            </a:r>
            <a:r>
              <a:rPr sz="1400" b="1" spc="-5" dirty="0">
                <a:latin typeface="Calibri"/>
                <a:cs typeface="Calibri"/>
              </a:rPr>
              <a:t>ed)</a:t>
            </a:r>
            <a:endParaRPr sz="1400">
              <a:latin typeface="Calibri"/>
              <a:cs typeface="Calibri"/>
            </a:endParaRPr>
          </a:p>
          <a:p>
            <a:pPr marR="100330" algn="ctr">
              <a:lnSpc>
                <a:spcPct val="100000"/>
              </a:lnSpc>
              <a:spcBef>
                <a:spcPts val="235"/>
              </a:spcBef>
              <a:tabLst>
                <a:tab pos="1089025" algn="l"/>
              </a:tabLst>
            </a:pPr>
            <a:r>
              <a:rPr sz="1400" b="1" i="1" dirty="0">
                <a:latin typeface="Calibri"/>
                <a:cs typeface="Calibri"/>
              </a:rPr>
              <a:t>x	</a:t>
            </a:r>
            <a:r>
              <a:rPr sz="1400" b="1" i="1" spc="-10" dirty="0">
                <a:latin typeface="Calibri"/>
                <a:cs typeface="Calibri"/>
              </a:rPr>
              <a:t>t12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67088" y="2235583"/>
            <a:ext cx="26733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i="1" spc="-10" dirty="0">
                <a:latin typeface="Calibri"/>
                <a:cs typeface="Calibri"/>
              </a:rPr>
              <a:t>t21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616703" y="2235583"/>
            <a:ext cx="25844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i="1" spc="-10" dirty="0">
                <a:latin typeface="Calibri"/>
                <a:cs typeface="Calibri"/>
              </a:rPr>
              <a:t>m1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860985" y="2235583"/>
            <a:ext cx="25844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i="1" spc="-10" dirty="0">
                <a:latin typeface="Calibri"/>
                <a:cs typeface="Calibri"/>
              </a:rPr>
              <a:t>m2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29028" y="2916383"/>
            <a:ext cx="505459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10" dirty="0">
                <a:latin typeface="Calibri"/>
                <a:cs typeface="Calibri"/>
              </a:rPr>
              <a:t>Mode</a:t>
            </a:r>
            <a:r>
              <a:rPr sz="1400" b="1" spc="-5" dirty="0">
                <a:latin typeface="Calibri"/>
                <a:cs typeface="Calibri"/>
              </a:rPr>
              <a:t>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76813" y="2694190"/>
            <a:ext cx="1182370" cy="647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ctr">
              <a:lnSpc>
                <a:spcPct val="104099"/>
              </a:lnSpc>
            </a:pPr>
            <a:r>
              <a:rPr sz="1400" b="1" spc="-10" dirty="0">
                <a:latin typeface="Calibri"/>
                <a:cs typeface="Calibri"/>
              </a:rPr>
              <a:t>disp</a:t>
            </a:r>
            <a:r>
              <a:rPr sz="1400" b="1" spc="-15" dirty="0">
                <a:latin typeface="Calibri"/>
                <a:cs typeface="Calibri"/>
              </a:rPr>
              <a:t>e</a:t>
            </a:r>
            <a:r>
              <a:rPr sz="1400" b="1" dirty="0">
                <a:latin typeface="Calibri"/>
                <a:cs typeface="Calibri"/>
              </a:rPr>
              <a:t>r</a:t>
            </a:r>
            <a:r>
              <a:rPr sz="1400" b="1" spc="-15" dirty="0">
                <a:latin typeface="Calibri"/>
                <a:cs typeface="Calibri"/>
              </a:rPr>
              <a:t>sal/</a:t>
            </a:r>
            <a:r>
              <a:rPr sz="1400" b="1" spc="-10" dirty="0">
                <a:latin typeface="Calibri"/>
                <a:cs typeface="Calibri"/>
              </a:rPr>
              <a:t>rang</a:t>
            </a:r>
            <a:r>
              <a:rPr sz="1400" b="1" dirty="0">
                <a:latin typeface="Calibri"/>
                <a:cs typeface="Calibri"/>
              </a:rPr>
              <a:t>e </a:t>
            </a:r>
            <a:r>
              <a:rPr sz="1400" b="1" spc="-10" dirty="0">
                <a:latin typeface="Calibri"/>
                <a:cs typeface="Calibri"/>
              </a:rPr>
              <a:t>gain (anag</a:t>
            </a:r>
            <a:r>
              <a:rPr sz="1400" b="1" dirty="0">
                <a:latin typeface="Calibri"/>
                <a:cs typeface="Calibri"/>
              </a:rPr>
              <a:t>e</a:t>
            </a:r>
            <a:r>
              <a:rPr sz="1400" b="1" spc="-5" dirty="0">
                <a:latin typeface="Calibri"/>
                <a:cs typeface="Calibri"/>
              </a:rPr>
              <a:t>n</a:t>
            </a:r>
            <a:r>
              <a:rPr sz="1400" b="1" dirty="0">
                <a:latin typeface="Calibri"/>
                <a:cs typeface="Calibri"/>
              </a:rPr>
              <a:t>e</a:t>
            </a:r>
            <a:r>
              <a:rPr sz="1400" b="1" spc="-10" dirty="0">
                <a:latin typeface="Calibri"/>
                <a:cs typeface="Calibri"/>
              </a:rPr>
              <a:t>tic)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64907" y="2804398"/>
            <a:ext cx="945515" cy="425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88900">
              <a:lnSpc>
                <a:spcPct val="104099"/>
              </a:lnSpc>
            </a:pPr>
            <a:r>
              <a:rPr sz="1400" b="1" dirty="0">
                <a:latin typeface="Calibri"/>
                <a:cs typeface="Calibri"/>
              </a:rPr>
              <a:t>r</a:t>
            </a:r>
            <a:r>
              <a:rPr sz="1400" b="1" spc="-5" dirty="0">
                <a:latin typeface="Calibri"/>
                <a:cs typeface="Calibri"/>
              </a:rPr>
              <a:t>a</a:t>
            </a:r>
            <a:r>
              <a:rPr sz="1400" b="1" spc="-15" dirty="0">
                <a:latin typeface="Calibri"/>
                <a:cs typeface="Calibri"/>
              </a:rPr>
              <a:t>n</a:t>
            </a:r>
            <a:r>
              <a:rPr sz="1400" b="1" dirty="0">
                <a:latin typeface="Calibri"/>
                <a:cs typeface="Calibri"/>
              </a:rPr>
              <a:t>ge </a:t>
            </a:r>
            <a:r>
              <a:rPr sz="1400" b="1" spc="-15" dirty="0">
                <a:latin typeface="Calibri"/>
                <a:cs typeface="Calibri"/>
              </a:rPr>
              <a:t>los</a:t>
            </a:r>
            <a:r>
              <a:rPr sz="1400" b="1" spc="-10" dirty="0">
                <a:latin typeface="Calibri"/>
                <a:cs typeface="Calibri"/>
              </a:rPr>
              <a:t>s (anag</a:t>
            </a:r>
            <a:r>
              <a:rPr sz="1400" b="1" dirty="0">
                <a:latin typeface="Calibri"/>
                <a:cs typeface="Calibri"/>
              </a:rPr>
              <a:t>e</a:t>
            </a:r>
            <a:r>
              <a:rPr sz="1400" b="1" spc="-5" dirty="0">
                <a:latin typeface="Calibri"/>
                <a:cs typeface="Calibri"/>
              </a:rPr>
              <a:t>n</a:t>
            </a:r>
            <a:r>
              <a:rPr sz="1400" b="1" dirty="0">
                <a:latin typeface="Calibri"/>
                <a:cs typeface="Calibri"/>
              </a:rPr>
              <a:t>e</a:t>
            </a:r>
            <a:r>
              <a:rPr sz="1400" b="1" spc="-10" dirty="0">
                <a:latin typeface="Calibri"/>
                <a:cs typeface="Calibri"/>
              </a:rPr>
              <a:t>tic)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15451" y="2582204"/>
            <a:ext cx="1200785" cy="869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635" algn="ctr">
              <a:lnSpc>
                <a:spcPct val="104099"/>
              </a:lnSpc>
            </a:pPr>
            <a:r>
              <a:rPr sz="1400" b="1" spc="-5" dirty="0">
                <a:latin typeface="Calibri"/>
                <a:cs typeface="Calibri"/>
              </a:rPr>
              <a:t>j</a:t>
            </a:r>
            <a:r>
              <a:rPr sz="1400" b="1" spc="-15" dirty="0">
                <a:latin typeface="Calibri"/>
                <a:cs typeface="Calibri"/>
              </a:rPr>
              <a:t>u</a:t>
            </a:r>
            <a:r>
              <a:rPr sz="1400" b="1" spc="-5" dirty="0">
                <a:latin typeface="Calibri"/>
                <a:cs typeface="Calibri"/>
              </a:rPr>
              <a:t>mp </a:t>
            </a:r>
            <a:r>
              <a:rPr sz="1400" b="1" spc="-10" dirty="0">
                <a:latin typeface="Calibri"/>
                <a:cs typeface="Calibri"/>
              </a:rPr>
              <a:t>disp</a:t>
            </a:r>
            <a:r>
              <a:rPr sz="1400" b="1" spc="-15" dirty="0">
                <a:latin typeface="Calibri"/>
                <a:cs typeface="Calibri"/>
              </a:rPr>
              <a:t>e</a:t>
            </a:r>
            <a:r>
              <a:rPr sz="1400" b="1" dirty="0">
                <a:latin typeface="Calibri"/>
                <a:cs typeface="Calibri"/>
              </a:rPr>
              <a:t>r</a:t>
            </a:r>
            <a:r>
              <a:rPr sz="1400" b="1" spc="-15" dirty="0">
                <a:latin typeface="Calibri"/>
                <a:cs typeface="Calibri"/>
              </a:rPr>
              <a:t>sal/</a:t>
            </a:r>
            <a:r>
              <a:rPr sz="1400" b="1" spc="-10" dirty="0">
                <a:latin typeface="Calibri"/>
                <a:cs typeface="Calibri"/>
              </a:rPr>
              <a:t>found</a:t>
            </a:r>
            <a:r>
              <a:rPr sz="1400" b="1" spc="-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er-even</a:t>
            </a:r>
            <a:r>
              <a:rPr sz="1400" b="1" spc="-5" dirty="0">
                <a:latin typeface="Calibri"/>
                <a:cs typeface="Calibri"/>
              </a:rPr>
              <a:t>t</a:t>
            </a:r>
            <a:r>
              <a:rPr sz="1400" b="1" dirty="0">
                <a:latin typeface="Calibri"/>
                <a:cs typeface="Calibri"/>
              </a:rPr>
              <a:t> we</a:t>
            </a:r>
            <a:r>
              <a:rPr sz="1400" b="1" spc="-5" dirty="0">
                <a:latin typeface="Calibri"/>
                <a:cs typeface="Calibri"/>
              </a:rPr>
              <a:t>i</a:t>
            </a:r>
            <a:r>
              <a:rPr sz="1400" b="1" spc="-10" dirty="0">
                <a:latin typeface="Calibri"/>
                <a:cs typeface="Calibri"/>
              </a:rPr>
              <a:t>g</a:t>
            </a:r>
            <a:r>
              <a:rPr sz="1400" b="1" spc="-15" dirty="0">
                <a:latin typeface="Calibri"/>
                <a:cs typeface="Calibri"/>
              </a:rPr>
              <a:t>h</a:t>
            </a:r>
            <a:r>
              <a:rPr sz="1400" b="1" spc="-5" dirty="0">
                <a:latin typeface="Calibri"/>
                <a:cs typeface="Calibri"/>
              </a:rPr>
              <a:t>t (c</a:t>
            </a:r>
            <a:r>
              <a:rPr sz="1400" b="1" spc="-15" dirty="0">
                <a:latin typeface="Calibri"/>
                <a:cs typeface="Calibri"/>
              </a:rPr>
              <a:t>lado</a:t>
            </a:r>
            <a:r>
              <a:rPr sz="1400" b="1" spc="-10" dirty="0">
                <a:latin typeface="Calibri"/>
                <a:cs typeface="Calibri"/>
              </a:rPr>
              <a:t>g</a:t>
            </a:r>
            <a:r>
              <a:rPr sz="1400" b="1" dirty="0">
                <a:latin typeface="Calibri"/>
                <a:cs typeface="Calibri"/>
              </a:rPr>
              <a:t>e</a:t>
            </a:r>
            <a:r>
              <a:rPr sz="1400" b="1" spc="-5" dirty="0">
                <a:latin typeface="Calibri"/>
                <a:cs typeface="Calibri"/>
              </a:rPr>
              <a:t>n</a:t>
            </a:r>
            <a:r>
              <a:rPr sz="1400" b="1" dirty="0">
                <a:latin typeface="Calibri"/>
                <a:cs typeface="Calibri"/>
              </a:rPr>
              <a:t>e</a:t>
            </a:r>
            <a:r>
              <a:rPr sz="1400" b="1" spc="-10" dirty="0">
                <a:latin typeface="Calibri"/>
                <a:cs typeface="Calibri"/>
              </a:rPr>
              <a:t>tic)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99575" y="2582204"/>
            <a:ext cx="1002030" cy="869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ctr">
              <a:lnSpc>
                <a:spcPct val="104099"/>
              </a:lnSpc>
            </a:pPr>
            <a:r>
              <a:rPr sz="1400" b="1" spc="-10" dirty="0">
                <a:latin typeface="Calibri"/>
                <a:cs typeface="Calibri"/>
              </a:rPr>
              <a:t>disp</a:t>
            </a:r>
            <a:r>
              <a:rPr sz="1400" b="1" spc="-15" dirty="0">
                <a:latin typeface="Calibri"/>
                <a:cs typeface="Calibri"/>
              </a:rPr>
              <a:t>e</a:t>
            </a:r>
            <a:r>
              <a:rPr sz="1400" b="1" dirty="0">
                <a:latin typeface="Calibri"/>
                <a:cs typeface="Calibri"/>
              </a:rPr>
              <a:t>r</a:t>
            </a:r>
            <a:r>
              <a:rPr sz="1400" b="1" spc="-15" dirty="0">
                <a:latin typeface="Calibri"/>
                <a:cs typeface="Calibri"/>
              </a:rPr>
              <a:t>sal</a:t>
            </a:r>
            <a:r>
              <a:rPr sz="1400" b="1" spc="-1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pr</a:t>
            </a:r>
            <a:r>
              <a:rPr sz="1400" b="1" spc="-10" dirty="0">
                <a:latin typeface="Calibri"/>
                <a:cs typeface="Calibri"/>
              </a:rPr>
              <a:t>obability</a:t>
            </a:r>
            <a:r>
              <a:rPr sz="1400" b="1" spc="-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m</a:t>
            </a:r>
            <a:r>
              <a:rPr sz="1400" b="1" spc="-5" dirty="0">
                <a:latin typeface="Calibri"/>
                <a:cs typeface="Calibri"/>
              </a:rPr>
              <a:t>u</a:t>
            </a:r>
            <a:r>
              <a:rPr sz="1400" b="1" spc="-10" dirty="0">
                <a:latin typeface="Calibri"/>
                <a:cs typeface="Calibri"/>
              </a:rPr>
              <a:t>ltipli</a:t>
            </a:r>
            <a:r>
              <a:rPr sz="1400" b="1" dirty="0">
                <a:latin typeface="Calibri"/>
                <a:cs typeface="Calibri"/>
              </a:rPr>
              <a:t>ed </a:t>
            </a:r>
            <a:r>
              <a:rPr sz="1400" b="1" spc="-15" dirty="0">
                <a:latin typeface="Calibri"/>
                <a:cs typeface="Calibri"/>
              </a:rPr>
              <a:t>b</a:t>
            </a:r>
            <a:r>
              <a:rPr sz="1400" b="1" spc="-10" dirty="0">
                <a:latin typeface="Calibri"/>
                <a:cs typeface="Calibri"/>
              </a:rPr>
              <a:t>y distan</a:t>
            </a:r>
            <a:r>
              <a:rPr sz="1400" b="1" spc="-15" dirty="0">
                <a:latin typeface="Calibri"/>
                <a:cs typeface="Calibri"/>
              </a:rPr>
              <a:t>c</a:t>
            </a:r>
            <a:r>
              <a:rPr sz="1400" b="1" dirty="0">
                <a:latin typeface="Calibri"/>
                <a:cs typeface="Calibri"/>
              </a:rPr>
              <a:t>e^</a:t>
            </a:r>
            <a:r>
              <a:rPr sz="1400" b="1" i="1" dirty="0">
                <a:latin typeface="Calibri"/>
                <a:cs typeface="Calibri"/>
              </a:rPr>
              <a:t>x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728191" y="2582204"/>
            <a:ext cx="1086485" cy="869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ctr">
              <a:lnSpc>
                <a:spcPct val="104099"/>
              </a:lnSpc>
            </a:pPr>
            <a:r>
              <a:rPr sz="1400" b="1" dirty="0">
                <a:latin typeface="Calibri"/>
                <a:cs typeface="Calibri"/>
              </a:rPr>
              <a:t>tr</a:t>
            </a:r>
            <a:r>
              <a:rPr sz="1400" b="1" spc="-10" dirty="0">
                <a:latin typeface="Calibri"/>
                <a:cs typeface="Calibri"/>
              </a:rPr>
              <a:t>ansition</a:t>
            </a:r>
            <a:r>
              <a:rPr sz="1400" b="1" spc="-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r</a:t>
            </a:r>
            <a:r>
              <a:rPr sz="1400" b="1" spc="-10" dirty="0">
                <a:latin typeface="Calibri"/>
                <a:cs typeface="Calibri"/>
              </a:rPr>
              <a:t>ate</a:t>
            </a:r>
            <a:r>
              <a:rPr sz="1400" b="1" spc="-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fr</a:t>
            </a:r>
            <a:r>
              <a:rPr sz="1400" b="1" spc="-5" dirty="0">
                <a:latin typeface="Calibri"/>
                <a:cs typeface="Calibri"/>
              </a:rPr>
              <a:t>o</a:t>
            </a:r>
            <a:r>
              <a:rPr sz="1400" b="1" dirty="0">
                <a:latin typeface="Calibri"/>
                <a:cs typeface="Calibri"/>
              </a:rPr>
              <a:t>m </a:t>
            </a:r>
            <a:r>
              <a:rPr sz="1400" b="1" spc="-10" dirty="0">
                <a:latin typeface="Calibri"/>
                <a:cs typeface="Calibri"/>
              </a:rPr>
              <a:t>nonlittoral</a:t>
            </a:r>
            <a:r>
              <a:rPr sz="1400" b="1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to</a:t>
            </a:r>
            <a:r>
              <a:rPr sz="1400" b="1" spc="-5" dirty="0">
                <a:latin typeface="Calibri"/>
                <a:cs typeface="Calibri"/>
              </a:rPr>
              <a:t> littoral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936001" y="2694190"/>
            <a:ext cx="1123315" cy="647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4445" algn="ctr">
              <a:lnSpc>
                <a:spcPct val="104099"/>
              </a:lnSpc>
            </a:pPr>
            <a:r>
              <a:rPr sz="1400" b="1" dirty="0">
                <a:latin typeface="Calibri"/>
                <a:cs typeface="Calibri"/>
              </a:rPr>
              <a:t>tr</a:t>
            </a:r>
            <a:r>
              <a:rPr sz="1400" b="1" spc="-10" dirty="0">
                <a:latin typeface="Calibri"/>
                <a:cs typeface="Calibri"/>
              </a:rPr>
              <a:t>ansition</a:t>
            </a:r>
            <a:r>
              <a:rPr sz="1400" b="1" spc="-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r</a:t>
            </a:r>
            <a:r>
              <a:rPr sz="1400" b="1" spc="-10" dirty="0">
                <a:latin typeface="Calibri"/>
                <a:cs typeface="Calibri"/>
              </a:rPr>
              <a:t>ate</a:t>
            </a:r>
            <a:r>
              <a:rPr sz="1400" b="1" spc="-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fr</a:t>
            </a:r>
            <a:r>
              <a:rPr sz="1400" b="1" spc="-5" dirty="0">
                <a:latin typeface="Calibri"/>
                <a:cs typeface="Calibri"/>
              </a:rPr>
              <a:t>o</a:t>
            </a:r>
            <a:r>
              <a:rPr sz="1400" b="1" dirty="0">
                <a:latin typeface="Calibri"/>
                <a:cs typeface="Calibri"/>
              </a:rPr>
              <a:t>m </a:t>
            </a:r>
            <a:r>
              <a:rPr sz="1400" b="1" spc="-10" dirty="0">
                <a:latin typeface="Calibri"/>
                <a:cs typeface="Calibri"/>
              </a:rPr>
              <a:t>litto</a:t>
            </a:r>
            <a:r>
              <a:rPr sz="1400" b="1" dirty="0">
                <a:latin typeface="Calibri"/>
                <a:cs typeface="Calibri"/>
              </a:rPr>
              <a:t>r</a:t>
            </a:r>
            <a:r>
              <a:rPr sz="1400" b="1" spc="-5" dirty="0">
                <a:latin typeface="Calibri"/>
                <a:cs typeface="Calibri"/>
              </a:rPr>
              <a:t>al</a:t>
            </a:r>
            <a:r>
              <a:rPr sz="1400" b="1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to nonlittoral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174286" y="2694190"/>
            <a:ext cx="1139190" cy="647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2540" algn="ctr">
              <a:lnSpc>
                <a:spcPct val="104099"/>
              </a:lnSpc>
            </a:pPr>
            <a:r>
              <a:rPr sz="1400" b="1" dirty="0">
                <a:latin typeface="Calibri"/>
                <a:cs typeface="Calibri"/>
              </a:rPr>
              <a:t>m</a:t>
            </a:r>
            <a:r>
              <a:rPr sz="1400" b="1" spc="-5" dirty="0">
                <a:latin typeface="Calibri"/>
                <a:cs typeface="Calibri"/>
              </a:rPr>
              <a:t>u</a:t>
            </a:r>
            <a:r>
              <a:rPr sz="1400" b="1" spc="-10" dirty="0">
                <a:latin typeface="Calibri"/>
                <a:cs typeface="Calibri"/>
              </a:rPr>
              <a:t>ltipli</a:t>
            </a:r>
            <a:r>
              <a:rPr sz="1400" b="1" spc="-5" dirty="0">
                <a:latin typeface="Calibri"/>
                <a:cs typeface="Calibri"/>
              </a:rPr>
              <a:t>e</a:t>
            </a:r>
            <a:r>
              <a:rPr sz="1400" b="1" dirty="0">
                <a:latin typeface="Calibri"/>
                <a:cs typeface="Calibri"/>
              </a:rPr>
              <a:t>r </a:t>
            </a:r>
            <a:r>
              <a:rPr sz="1400" b="1" spc="-15" dirty="0">
                <a:latin typeface="Calibri"/>
                <a:cs typeface="Calibri"/>
              </a:rPr>
              <a:t>o</a:t>
            </a:r>
            <a:r>
              <a:rPr sz="1400" b="1" spc="-10" dirty="0">
                <a:latin typeface="Calibri"/>
                <a:cs typeface="Calibri"/>
              </a:rPr>
              <a:t>n disp</a:t>
            </a:r>
            <a:r>
              <a:rPr sz="1400" b="1" spc="-15" dirty="0">
                <a:latin typeface="Calibri"/>
                <a:cs typeface="Calibri"/>
              </a:rPr>
              <a:t>e</a:t>
            </a:r>
            <a:r>
              <a:rPr sz="1400" b="1" dirty="0">
                <a:latin typeface="Calibri"/>
                <a:cs typeface="Calibri"/>
              </a:rPr>
              <a:t>r</a:t>
            </a:r>
            <a:r>
              <a:rPr sz="1400" b="1" spc="-15" dirty="0">
                <a:latin typeface="Calibri"/>
                <a:cs typeface="Calibri"/>
              </a:rPr>
              <a:t>sa</a:t>
            </a:r>
            <a:r>
              <a:rPr sz="1400" b="1" spc="-5" dirty="0">
                <a:latin typeface="Calibri"/>
                <a:cs typeface="Calibri"/>
              </a:rPr>
              <a:t>l</a:t>
            </a:r>
            <a:r>
              <a:rPr sz="1400" b="1" dirty="0">
                <a:latin typeface="Calibri"/>
                <a:cs typeface="Calibri"/>
              </a:rPr>
              <a:t> whe</a:t>
            </a:r>
            <a:r>
              <a:rPr sz="1400" b="1" spc="-10" dirty="0">
                <a:latin typeface="Calibri"/>
                <a:cs typeface="Calibri"/>
              </a:rPr>
              <a:t>n nonlittoral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418568" y="2694190"/>
            <a:ext cx="1139190" cy="647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2540" algn="ctr">
              <a:lnSpc>
                <a:spcPct val="104099"/>
              </a:lnSpc>
            </a:pPr>
            <a:r>
              <a:rPr sz="1400" b="1" dirty="0">
                <a:latin typeface="Calibri"/>
                <a:cs typeface="Calibri"/>
              </a:rPr>
              <a:t>m</a:t>
            </a:r>
            <a:r>
              <a:rPr sz="1400" b="1" spc="-5" dirty="0">
                <a:latin typeface="Calibri"/>
                <a:cs typeface="Calibri"/>
              </a:rPr>
              <a:t>u</a:t>
            </a:r>
            <a:r>
              <a:rPr sz="1400" b="1" spc="-10" dirty="0">
                <a:latin typeface="Calibri"/>
                <a:cs typeface="Calibri"/>
              </a:rPr>
              <a:t>ltipli</a:t>
            </a:r>
            <a:r>
              <a:rPr sz="1400" b="1" spc="-5" dirty="0">
                <a:latin typeface="Calibri"/>
                <a:cs typeface="Calibri"/>
              </a:rPr>
              <a:t>e</a:t>
            </a:r>
            <a:r>
              <a:rPr sz="1400" b="1" dirty="0">
                <a:latin typeface="Calibri"/>
                <a:cs typeface="Calibri"/>
              </a:rPr>
              <a:t>r </a:t>
            </a:r>
            <a:r>
              <a:rPr sz="1400" b="1" spc="-15" dirty="0">
                <a:latin typeface="Calibri"/>
                <a:cs typeface="Calibri"/>
              </a:rPr>
              <a:t>o</a:t>
            </a:r>
            <a:r>
              <a:rPr sz="1400" b="1" spc="-10" dirty="0">
                <a:latin typeface="Calibri"/>
                <a:cs typeface="Calibri"/>
              </a:rPr>
              <a:t>n disp</a:t>
            </a:r>
            <a:r>
              <a:rPr sz="1400" b="1" spc="-15" dirty="0">
                <a:latin typeface="Calibri"/>
                <a:cs typeface="Calibri"/>
              </a:rPr>
              <a:t>e</a:t>
            </a:r>
            <a:r>
              <a:rPr sz="1400" b="1" dirty="0">
                <a:latin typeface="Calibri"/>
                <a:cs typeface="Calibri"/>
              </a:rPr>
              <a:t>r</a:t>
            </a:r>
            <a:r>
              <a:rPr sz="1400" b="1" spc="-15" dirty="0">
                <a:latin typeface="Calibri"/>
                <a:cs typeface="Calibri"/>
              </a:rPr>
              <a:t>sa</a:t>
            </a:r>
            <a:r>
              <a:rPr sz="1400" b="1" spc="-5" dirty="0">
                <a:latin typeface="Calibri"/>
                <a:cs typeface="Calibri"/>
              </a:rPr>
              <a:t>l</a:t>
            </a:r>
            <a:r>
              <a:rPr sz="1400" b="1" dirty="0">
                <a:latin typeface="Calibri"/>
                <a:cs typeface="Calibri"/>
              </a:rPr>
              <a:t> whe</a:t>
            </a:r>
            <a:r>
              <a:rPr sz="1400" b="1" spc="-10" dirty="0">
                <a:latin typeface="Calibri"/>
                <a:cs typeface="Calibri"/>
              </a:rPr>
              <a:t>n</a:t>
            </a:r>
            <a:r>
              <a:rPr sz="1400" b="1" spc="-5" dirty="0">
                <a:latin typeface="Calibri"/>
                <a:cs typeface="Calibri"/>
              </a:rPr>
              <a:t> littoral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3395" y="1430355"/>
            <a:ext cx="12075795" cy="425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335" marR="5080" indent="-1270">
              <a:lnSpc>
                <a:spcPct val="104099"/>
              </a:lnSpc>
            </a:pPr>
            <a:r>
              <a:rPr sz="1400" b="1" spc="-10" dirty="0">
                <a:latin typeface="Calibri"/>
                <a:cs typeface="Calibri"/>
              </a:rPr>
              <a:t>Tabl</a:t>
            </a:r>
            <a:r>
              <a:rPr sz="1400" b="1" dirty="0">
                <a:latin typeface="Calibri"/>
                <a:cs typeface="Calibri"/>
              </a:rPr>
              <a:t>e</a:t>
            </a:r>
            <a:r>
              <a:rPr sz="1400" b="1" spc="-5" dirty="0">
                <a:latin typeface="Calibri"/>
                <a:cs typeface="Calibri"/>
              </a:rPr>
              <a:t> </a:t>
            </a:r>
            <a:r>
              <a:rPr sz="1400" b="1" spc="-15" dirty="0">
                <a:latin typeface="Calibri"/>
                <a:cs typeface="Calibri"/>
              </a:rPr>
              <a:t>B</a:t>
            </a:r>
            <a:r>
              <a:rPr sz="1400" b="1" dirty="0">
                <a:latin typeface="Calibri"/>
                <a:cs typeface="Calibri"/>
              </a:rPr>
              <a:t>. </a:t>
            </a:r>
            <a:r>
              <a:rPr sz="1400" dirty="0">
                <a:latin typeface="Calibri"/>
                <a:cs typeface="Calibri"/>
              </a:rPr>
              <a:t>Maxi</a:t>
            </a:r>
            <a:r>
              <a:rPr sz="1400" spc="-15" dirty="0">
                <a:latin typeface="Calibri"/>
                <a:cs typeface="Calibri"/>
              </a:rPr>
              <a:t>m</a:t>
            </a:r>
            <a:r>
              <a:rPr sz="1400" dirty="0">
                <a:latin typeface="Calibri"/>
                <a:cs typeface="Calibri"/>
              </a:rPr>
              <a:t>u</a:t>
            </a:r>
            <a:r>
              <a:rPr sz="1400" spc="-15" dirty="0">
                <a:latin typeface="Calibri"/>
                <a:cs typeface="Calibri"/>
              </a:rPr>
              <a:t>m</a:t>
            </a:r>
            <a:r>
              <a:rPr sz="1400" dirty="0">
                <a:latin typeface="Calibri"/>
                <a:cs typeface="Calibri"/>
              </a:rPr>
              <a:t>-li</a:t>
            </a:r>
            <a:r>
              <a:rPr sz="1400" spc="-10" dirty="0">
                <a:latin typeface="Calibri"/>
                <a:cs typeface="Calibri"/>
              </a:rPr>
              <a:t>ke</a:t>
            </a:r>
            <a:r>
              <a:rPr sz="1400" dirty="0">
                <a:latin typeface="Calibri"/>
                <a:cs typeface="Calibri"/>
              </a:rPr>
              <a:t>lihood </a:t>
            </a:r>
            <a:r>
              <a:rPr sz="1400" spc="-10" dirty="0">
                <a:latin typeface="Calibri"/>
                <a:cs typeface="Calibri"/>
              </a:rPr>
              <a:t>e</a:t>
            </a:r>
            <a:r>
              <a:rPr sz="1400" dirty="0">
                <a:latin typeface="Calibri"/>
                <a:cs typeface="Calibri"/>
              </a:rPr>
              <a:t>sti</a:t>
            </a:r>
            <a:r>
              <a:rPr sz="1400" spc="-10" dirty="0">
                <a:latin typeface="Calibri"/>
                <a:cs typeface="Calibri"/>
              </a:rPr>
              <a:t>mate</a:t>
            </a:r>
            <a:r>
              <a:rPr sz="1400" dirty="0">
                <a:latin typeface="Calibri"/>
                <a:cs typeface="Calibri"/>
              </a:rPr>
              <a:t>s of p</a:t>
            </a:r>
            <a:r>
              <a:rPr sz="1400" spc="-10" dirty="0">
                <a:latin typeface="Calibri"/>
                <a:cs typeface="Calibri"/>
              </a:rPr>
              <a:t>arameter</a:t>
            </a:r>
            <a:r>
              <a:rPr sz="1400" dirty="0">
                <a:latin typeface="Calibri"/>
                <a:cs typeface="Calibri"/>
              </a:rPr>
              <a:t>s inf</a:t>
            </a:r>
            <a:r>
              <a:rPr sz="1400" spc="-10" dirty="0">
                <a:latin typeface="Calibri"/>
                <a:cs typeface="Calibri"/>
              </a:rPr>
              <a:t>erre</a:t>
            </a:r>
            <a:r>
              <a:rPr sz="1400" dirty="0">
                <a:latin typeface="Calibri"/>
                <a:cs typeface="Calibri"/>
              </a:rPr>
              <a:t>d </a:t>
            </a:r>
            <a:r>
              <a:rPr sz="1400" spc="-10" dirty="0">
                <a:latin typeface="Calibri"/>
                <a:cs typeface="Calibri"/>
              </a:rPr>
              <a:t>w</a:t>
            </a:r>
            <a:r>
              <a:rPr sz="1400" dirty="0">
                <a:latin typeface="Calibri"/>
                <a:cs typeface="Calibri"/>
              </a:rPr>
              <a:t>ith </a:t>
            </a:r>
            <a:r>
              <a:rPr sz="1400" spc="-10" dirty="0">
                <a:latin typeface="Calibri"/>
                <a:cs typeface="Calibri"/>
              </a:rPr>
              <a:t>B</a:t>
            </a:r>
            <a:r>
              <a:rPr sz="1400" dirty="0">
                <a:latin typeface="Calibri"/>
                <a:cs typeface="Calibri"/>
              </a:rPr>
              <a:t>io</a:t>
            </a:r>
            <a:r>
              <a:rPr sz="1400" spc="-10" dirty="0">
                <a:latin typeface="Calibri"/>
                <a:cs typeface="Calibri"/>
              </a:rPr>
              <a:t>Ge</a:t>
            </a:r>
            <a:r>
              <a:rPr sz="1400" dirty="0">
                <a:latin typeface="Calibri"/>
                <a:cs typeface="Calibri"/>
              </a:rPr>
              <a:t>o</a:t>
            </a:r>
            <a:r>
              <a:rPr sz="1400" spc="-10" dirty="0">
                <a:latin typeface="Calibri"/>
                <a:cs typeface="Calibri"/>
              </a:rPr>
              <a:t>B</a:t>
            </a:r>
            <a:r>
              <a:rPr sz="1400" dirty="0">
                <a:latin typeface="Calibri"/>
                <a:cs typeface="Calibri"/>
              </a:rPr>
              <a:t>E</a:t>
            </a:r>
            <a:r>
              <a:rPr sz="1400" spc="-10" dirty="0">
                <a:latin typeface="Calibri"/>
                <a:cs typeface="Calibri"/>
              </a:rPr>
              <a:t>A</a:t>
            </a:r>
            <a:r>
              <a:rPr sz="1400" dirty="0">
                <a:latin typeface="Calibri"/>
                <a:cs typeface="Calibri"/>
              </a:rPr>
              <a:t>RS fo</a:t>
            </a:r>
            <a:r>
              <a:rPr sz="1400" spc="-5" dirty="0">
                <a:latin typeface="Calibri"/>
                <a:cs typeface="Calibri"/>
              </a:rPr>
              <a:t>r</a:t>
            </a:r>
            <a:r>
              <a:rPr sz="1400" dirty="0">
                <a:latin typeface="Calibri"/>
                <a:cs typeface="Calibri"/>
              </a:rPr>
              <a:t> th</a:t>
            </a:r>
            <a:r>
              <a:rPr sz="1400" spc="-10" dirty="0">
                <a:latin typeface="Calibri"/>
                <a:cs typeface="Calibri"/>
              </a:rPr>
              <a:t>e</a:t>
            </a:r>
            <a:r>
              <a:rPr sz="1400" dirty="0">
                <a:latin typeface="Calibri"/>
                <a:cs typeface="Calibri"/>
              </a:rPr>
              <a:t> DEC</a:t>
            </a:r>
            <a:r>
              <a:rPr sz="1400" spc="-10" dirty="0">
                <a:latin typeface="Calibri"/>
                <a:cs typeface="Calibri"/>
              </a:rPr>
              <a:t>+J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5" dirty="0">
                <a:latin typeface="Calibri"/>
                <a:cs typeface="Calibri"/>
              </a:rPr>
              <a:t>m</a:t>
            </a:r>
            <a:r>
              <a:rPr sz="1400" dirty="0">
                <a:latin typeface="Calibri"/>
                <a:cs typeface="Calibri"/>
              </a:rPr>
              <a:t>od</a:t>
            </a:r>
            <a:r>
              <a:rPr sz="1400" spc="-10" dirty="0">
                <a:latin typeface="Calibri"/>
                <a:cs typeface="Calibri"/>
              </a:rPr>
              <a:t>e</a:t>
            </a:r>
            <a:r>
              <a:rPr sz="1400" dirty="0">
                <a:latin typeface="Calibri"/>
                <a:cs typeface="Calibri"/>
              </a:rPr>
              <a:t>l</a:t>
            </a:r>
            <a:r>
              <a:rPr sz="1400" spc="-5" dirty="0">
                <a:latin typeface="Calibri"/>
                <a:cs typeface="Calibri"/>
              </a:rPr>
              <a:t>,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w</a:t>
            </a:r>
            <a:r>
              <a:rPr sz="1400" dirty="0">
                <a:latin typeface="Calibri"/>
                <a:cs typeface="Calibri"/>
              </a:rPr>
              <a:t>ith and </a:t>
            </a:r>
            <a:r>
              <a:rPr sz="1400" spc="-10" dirty="0">
                <a:latin typeface="Calibri"/>
                <a:cs typeface="Calibri"/>
              </a:rPr>
              <a:t>w</a:t>
            </a:r>
            <a:r>
              <a:rPr sz="1400" dirty="0">
                <a:latin typeface="Calibri"/>
                <a:cs typeface="Calibri"/>
              </a:rPr>
              <a:t>ithou</a:t>
            </a:r>
            <a:r>
              <a:rPr sz="1400" spc="-5" dirty="0">
                <a:latin typeface="Calibri"/>
                <a:cs typeface="Calibri"/>
              </a:rPr>
              <a:t>t</a:t>
            </a:r>
            <a:r>
              <a:rPr sz="1400" dirty="0">
                <a:latin typeface="Calibri"/>
                <a:cs typeface="Calibri"/>
              </a:rPr>
              <a:t> distan</a:t>
            </a:r>
            <a:r>
              <a:rPr sz="1400" spc="-10" dirty="0">
                <a:latin typeface="Calibri"/>
                <a:cs typeface="Calibri"/>
              </a:rPr>
              <a:t>ce</a:t>
            </a:r>
            <a:r>
              <a:rPr sz="1400" dirty="0">
                <a:latin typeface="Calibri"/>
                <a:cs typeface="Calibri"/>
              </a:rPr>
              <a:t>-bas</a:t>
            </a:r>
            <a:r>
              <a:rPr sz="1400" spc="-10" dirty="0">
                <a:latin typeface="Calibri"/>
                <a:cs typeface="Calibri"/>
              </a:rPr>
              <a:t>e</a:t>
            </a:r>
            <a:r>
              <a:rPr sz="1400" dirty="0">
                <a:latin typeface="Calibri"/>
                <a:cs typeface="Calibri"/>
              </a:rPr>
              <a:t>d disp</a:t>
            </a:r>
            <a:r>
              <a:rPr sz="1400" spc="-10" dirty="0">
                <a:latin typeface="Calibri"/>
                <a:cs typeface="Calibri"/>
              </a:rPr>
              <a:t>er</a:t>
            </a:r>
            <a:r>
              <a:rPr sz="1400" dirty="0">
                <a:latin typeface="Calibri"/>
                <a:cs typeface="Calibri"/>
              </a:rPr>
              <a:t>sal (+</a:t>
            </a:r>
            <a:r>
              <a:rPr sz="1400" i="1" spc="10" dirty="0">
                <a:latin typeface="Calibri"/>
                <a:cs typeface="Calibri"/>
              </a:rPr>
              <a:t>x</a:t>
            </a:r>
            <a:r>
              <a:rPr sz="1400" dirty="0">
                <a:latin typeface="Calibri"/>
                <a:cs typeface="Calibri"/>
              </a:rPr>
              <a:t>) and </a:t>
            </a:r>
            <a:r>
              <a:rPr sz="1400" spc="-5" dirty="0">
                <a:latin typeface="Calibri"/>
                <a:cs typeface="Calibri"/>
              </a:rPr>
              <a:t>tr</a:t>
            </a:r>
            <a:r>
              <a:rPr sz="1400" dirty="0">
                <a:latin typeface="Calibri"/>
                <a:cs typeface="Calibri"/>
              </a:rPr>
              <a:t>ait-bas</a:t>
            </a:r>
            <a:r>
              <a:rPr sz="1400" spc="-10" dirty="0">
                <a:latin typeface="Calibri"/>
                <a:cs typeface="Calibri"/>
              </a:rPr>
              <a:t>e</a:t>
            </a:r>
            <a:r>
              <a:rPr sz="1400" dirty="0">
                <a:latin typeface="Calibri"/>
                <a:cs typeface="Calibri"/>
              </a:rPr>
              <a:t>d disp</a:t>
            </a:r>
            <a:r>
              <a:rPr sz="1400" spc="-10" dirty="0">
                <a:latin typeface="Calibri"/>
                <a:cs typeface="Calibri"/>
              </a:rPr>
              <a:t>er</a:t>
            </a:r>
            <a:r>
              <a:rPr sz="1400" dirty="0">
                <a:latin typeface="Calibri"/>
                <a:cs typeface="Calibri"/>
              </a:rPr>
              <a:t>sal (+</a:t>
            </a:r>
            <a:r>
              <a:rPr sz="1400" i="1" spc="-15" dirty="0">
                <a:latin typeface="Calibri"/>
                <a:cs typeface="Calibri"/>
              </a:rPr>
              <a:t>m</a:t>
            </a:r>
            <a:r>
              <a:rPr sz="1400" i="1" dirty="0">
                <a:latin typeface="Calibri"/>
                <a:cs typeface="Calibri"/>
              </a:rPr>
              <a:t>2</a:t>
            </a:r>
            <a:r>
              <a:rPr sz="1400" dirty="0">
                <a:latin typeface="Calibri"/>
                <a:cs typeface="Calibri"/>
              </a:rPr>
              <a:t>).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657346" y="5864699"/>
            <a:ext cx="4949190" cy="224154"/>
          </a:xfrm>
          <a:prstGeom prst="rect">
            <a:avLst/>
          </a:prstGeom>
          <a:solidFill>
            <a:srgbClr val="BFBFBF"/>
          </a:solidFill>
        </p:spPr>
        <p:txBody>
          <a:bodyPr vert="horz" wrap="square" lIns="0" tIns="0" rIns="0" bIns="0" rtlCol="0">
            <a:spAutoFit/>
          </a:bodyPr>
          <a:lstStyle/>
          <a:p>
            <a:pPr marL="1308100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(p</a:t>
            </a:r>
            <a:r>
              <a:rPr sz="1400" spc="-10" dirty="0">
                <a:latin typeface="Calibri"/>
                <a:cs typeface="Calibri"/>
              </a:rPr>
              <a:t>arameter is fixed to this value)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05877" y="1959431"/>
            <a:ext cx="12400280" cy="0"/>
          </a:xfrm>
          <a:custGeom>
            <a:avLst/>
            <a:gdLst/>
            <a:ahLst/>
            <a:cxnLst/>
            <a:rect l="l" t="t" r="r" b="b"/>
            <a:pathLst>
              <a:path w="12400280">
                <a:moveTo>
                  <a:pt x="0" y="0"/>
                </a:moveTo>
                <a:lnTo>
                  <a:pt x="12400155" y="0"/>
                </a:lnTo>
              </a:path>
            </a:pathLst>
          </a:custGeom>
          <a:ln w="439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946852" y="2210065"/>
            <a:ext cx="9659620" cy="0"/>
          </a:xfrm>
          <a:custGeom>
            <a:avLst/>
            <a:gdLst/>
            <a:ahLst/>
            <a:cxnLst/>
            <a:rect l="l" t="t" r="r" b="b"/>
            <a:pathLst>
              <a:path w="9659620">
                <a:moveTo>
                  <a:pt x="0" y="0"/>
                </a:moveTo>
                <a:lnTo>
                  <a:pt x="9659180" y="0"/>
                </a:lnTo>
              </a:path>
            </a:pathLst>
          </a:custGeom>
          <a:ln w="29710">
            <a:solidFill>
              <a:srgbClr val="BFBF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946852" y="2446478"/>
            <a:ext cx="9659620" cy="0"/>
          </a:xfrm>
          <a:custGeom>
            <a:avLst/>
            <a:gdLst/>
            <a:ahLst/>
            <a:cxnLst/>
            <a:rect l="l" t="t" r="r" b="b"/>
            <a:pathLst>
              <a:path w="9659620">
                <a:moveTo>
                  <a:pt x="0" y="0"/>
                </a:moveTo>
                <a:lnTo>
                  <a:pt x="9659180" y="0"/>
                </a:lnTo>
              </a:path>
            </a:pathLst>
          </a:custGeom>
          <a:ln w="29710">
            <a:solidFill>
              <a:srgbClr val="BFBF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167777" y="3549700"/>
          <a:ext cx="12444955" cy="22699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99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36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36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69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75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290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7069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536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4428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480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72828"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Calibri"/>
                          <a:cs typeface="Calibri"/>
                        </a:rPr>
                        <a:t>1.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DEC+J, with trait transitions</a:t>
                      </a:r>
                    </a:p>
                  </a:txBody>
                  <a:tcPr marL="0" marR="0" marT="0" marB="0">
                    <a:lnT w="43931">
                      <a:solidFill>
                        <a:srgbClr val="000000"/>
                      </a:solidFill>
                      <a:prstDash val="solid"/>
                    </a:lnT>
                    <a:lnB w="14220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4020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0.0017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43931">
                      <a:solidFill>
                        <a:srgbClr val="000000"/>
                      </a:solidFill>
                      <a:prstDash val="solid"/>
                    </a:lnT>
                    <a:lnB w="14220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145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43931">
                      <a:solidFill>
                        <a:srgbClr val="000000"/>
                      </a:solidFill>
                      <a:prstDash val="solid"/>
                    </a:lnT>
                    <a:lnB w="14220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4184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0.012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43931">
                      <a:solidFill>
                        <a:srgbClr val="000000"/>
                      </a:solidFill>
                      <a:prstDash val="solid"/>
                    </a:lnT>
                    <a:lnB w="14220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43931">
                      <a:solidFill>
                        <a:srgbClr val="000000"/>
                      </a:solidFill>
                      <a:prstDash val="solid"/>
                    </a:lnT>
                    <a:lnB w="14220">
                      <a:solidFill>
                        <a:srgbClr val="BFBFBF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0.0071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43931">
                      <a:solidFill>
                        <a:srgbClr val="000000"/>
                      </a:solidFill>
                      <a:prstDash val="solid"/>
                    </a:lnT>
                    <a:lnB w="14220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0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43931">
                      <a:solidFill>
                        <a:srgbClr val="000000"/>
                      </a:solidFill>
                      <a:prstDash val="solid"/>
                    </a:lnT>
                    <a:lnB w="14220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43931">
                      <a:solidFill>
                        <a:srgbClr val="000000"/>
                      </a:solidFill>
                      <a:prstDash val="solid"/>
                    </a:lnT>
                    <a:lnB w="14220">
                      <a:solidFill>
                        <a:srgbClr val="BFBFBF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83185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43931">
                      <a:solidFill>
                        <a:srgbClr val="000000"/>
                      </a:solidFill>
                      <a:prstDash val="solid"/>
                    </a:lnT>
                    <a:lnB w="14220">
                      <a:solidFill>
                        <a:srgbClr val="BFBFBF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386">
                <a:tc>
                  <a:txBody>
                    <a:bodyPr/>
                    <a:lstStyle/>
                    <a:p>
                      <a:pPr marL="27940" marR="406400" indent="1270">
                        <a:lnSpc>
                          <a:spcPct val="104099"/>
                        </a:lnSpc>
                      </a:pPr>
                      <a:r>
                        <a:rPr sz="1400" b="1" dirty="0">
                          <a:latin typeface="Calibri"/>
                          <a:cs typeface="Calibri"/>
                        </a:rPr>
                        <a:t>2.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DEC+J+x (distance-based dispersal), with trait transitions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4220">
                      <a:solidFill>
                        <a:srgbClr val="BFBFBF"/>
                      </a:solidFill>
                      <a:prstDash val="solid"/>
                    </a:lnT>
                    <a:lnB w="14220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4020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0.0244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4220">
                      <a:solidFill>
                        <a:srgbClr val="BFBFBF"/>
                      </a:solidFill>
                      <a:prstDash val="solid"/>
                    </a:lnT>
                    <a:lnB w="14220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145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4220">
                      <a:solidFill>
                        <a:srgbClr val="BFBFBF"/>
                      </a:solidFill>
                      <a:prstDash val="solid"/>
                    </a:lnT>
                    <a:lnB w="14220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4184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0.174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4220">
                      <a:solidFill>
                        <a:srgbClr val="BFBFBF"/>
                      </a:solidFill>
                      <a:prstDash val="solid"/>
                    </a:lnT>
                    <a:lnB w="14220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3540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-1.23</a:t>
                      </a:r>
                    </a:p>
                  </a:txBody>
                  <a:tcPr marL="0" marR="0" marT="0" marB="0">
                    <a:lnT w="14220">
                      <a:solidFill>
                        <a:srgbClr val="BFBFBF"/>
                      </a:solidFill>
                      <a:prstDash val="solid"/>
                    </a:lnT>
                    <a:lnB w="14220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0.0071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4220">
                      <a:solidFill>
                        <a:srgbClr val="BFBFBF"/>
                      </a:solidFill>
                      <a:prstDash val="solid"/>
                    </a:lnT>
                    <a:lnB w="14220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0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4220">
                      <a:solidFill>
                        <a:srgbClr val="BFBFBF"/>
                      </a:solidFill>
                      <a:prstDash val="solid"/>
                    </a:lnT>
                    <a:lnB w="14220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4220">
                      <a:solidFill>
                        <a:srgbClr val="BFBFBF"/>
                      </a:solidFill>
                      <a:prstDash val="solid"/>
                    </a:lnT>
                    <a:lnB w="14220">
                      <a:solidFill>
                        <a:srgbClr val="BFBFBF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83185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4220">
                      <a:solidFill>
                        <a:srgbClr val="BFBFBF"/>
                      </a:solidFill>
                      <a:prstDash val="solid"/>
                    </a:lnT>
                    <a:lnB w="76200">
                      <a:solidFill>
                        <a:srgbClr val="FF330B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76200">
                      <a:solidFill>
                        <a:srgbClr val="FF330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386">
                <a:tc>
                  <a:txBody>
                    <a:bodyPr/>
                    <a:lstStyle/>
                    <a:p>
                      <a:pPr marL="29845" marR="78105" indent="-635">
                        <a:lnSpc>
                          <a:spcPct val="104099"/>
                        </a:lnSpc>
                      </a:pPr>
                      <a:r>
                        <a:rPr sz="1400" b="1" dirty="0">
                          <a:latin typeface="Calibri"/>
                          <a:cs typeface="Calibri"/>
                        </a:rPr>
                        <a:t>3.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DEC+J, with trait transitions, and dispersal multiplier for trait 'littoral'</a:t>
                      </a:r>
                    </a:p>
                  </a:txBody>
                  <a:tcPr marL="0" marR="0" marT="0" marB="0">
                    <a:lnT w="14220">
                      <a:solidFill>
                        <a:srgbClr val="BFBFBF"/>
                      </a:solidFill>
                      <a:prstDash val="solid"/>
                    </a:lnT>
                    <a:lnB w="14220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4020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0.0007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4220">
                      <a:solidFill>
                        <a:srgbClr val="BFBFBF"/>
                      </a:solidFill>
                      <a:prstDash val="solid"/>
                    </a:lnT>
                    <a:lnB w="14220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145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4220">
                      <a:solidFill>
                        <a:srgbClr val="BFBFBF"/>
                      </a:solidFill>
                      <a:prstDash val="solid"/>
                    </a:lnT>
                    <a:lnB w="14220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4184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0.005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4220">
                      <a:solidFill>
                        <a:srgbClr val="BFBFBF"/>
                      </a:solidFill>
                      <a:prstDash val="solid"/>
                    </a:lnT>
                    <a:lnB w="14220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4220">
                      <a:solidFill>
                        <a:srgbClr val="BFBFBF"/>
                      </a:solidFill>
                      <a:prstDash val="solid"/>
                    </a:lnT>
                    <a:lnB w="14220">
                      <a:solidFill>
                        <a:srgbClr val="BFBFBF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0.0070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4220">
                      <a:solidFill>
                        <a:srgbClr val="BFBFBF"/>
                      </a:solidFill>
                      <a:prstDash val="solid"/>
                    </a:lnT>
                    <a:lnB w="14220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0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4220">
                      <a:solidFill>
                        <a:srgbClr val="BFBFBF"/>
                      </a:solidFill>
                      <a:prstDash val="solid"/>
                    </a:lnT>
                    <a:lnB w="14220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189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76200">
                      <a:solidFill>
                        <a:srgbClr val="FF330B"/>
                      </a:solidFill>
                      <a:prstDash val="solid"/>
                    </a:lnR>
                    <a:lnT w="14220">
                      <a:solidFill>
                        <a:srgbClr val="BFBFBF"/>
                      </a:solidFill>
                      <a:prstDash val="solid"/>
                    </a:lnT>
                    <a:lnB w="14220">
                      <a:solidFill>
                        <a:srgbClr val="BFBFBF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76200">
                      <a:solidFill>
                        <a:srgbClr val="FF330B"/>
                      </a:solidFill>
                      <a:prstDash val="solid"/>
                    </a:lnL>
                    <a:lnT w="76200">
                      <a:solidFill>
                        <a:srgbClr val="FF330B"/>
                      </a:solidFill>
                      <a:prstDash val="solid"/>
                    </a:lnT>
                    <a:lnB w="14220">
                      <a:solidFill>
                        <a:srgbClr val="BFBFBF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8.51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76200">
                      <a:solidFill>
                        <a:srgbClr val="FF330B"/>
                      </a:solidFill>
                      <a:prstDash val="solid"/>
                    </a:lnR>
                    <a:lnT w="76200">
                      <a:solidFill>
                        <a:srgbClr val="FF330B"/>
                      </a:solidFill>
                      <a:prstDash val="solid"/>
                    </a:lnT>
                    <a:lnB w="14220">
                      <a:solidFill>
                        <a:srgbClr val="BFBFB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018">
                <a:tc>
                  <a:txBody>
                    <a:bodyPr/>
                    <a:lstStyle/>
                    <a:p>
                      <a:pPr marL="27940" marR="50165" indent="1270">
                        <a:lnSpc>
                          <a:spcPct val="104099"/>
                        </a:lnSpc>
                      </a:pPr>
                      <a:r>
                        <a:rPr sz="1400" b="1" dirty="0">
                          <a:latin typeface="Calibri"/>
                          <a:cs typeface="Calibri"/>
                        </a:rPr>
                        <a:t>4.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DEC+J+x (distance-based dispersal), with trait transitions, and dispersal multiplier for trait 'littoral'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4220">
                      <a:solidFill>
                        <a:srgbClr val="BFBFBF"/>
                      </a:solidFill>
                      <a:prstDash val="solid"/>
                    </a:lnT>
                    <a:lnB w="4393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4020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0.0125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4220">
                      <a:solidFill>
                        <a:srgbClr val="BFBFBF"/>
                      </a:solidFill>
                      <a:prstDash val="solid"/>
                    </a:lnT>
                    <a:lnB w="4393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145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4220">
                      <a:solidFill>
                        <a:srgbClr val="BFBFBF"/>
                      </a:solidFill>
                      <a:prstDash val="solid"/>
                    </a:lnT>
                    <a:lnB w="4393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4184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0.095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4220">
                      <a:solidFill>
                        <a:srgbClr val="BFBFBF"/>
                      </a:solidFill>
                      <a:prstDash val="solid"/>
                    </a:lnT>
                    <a:lnB w="4393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3540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-1.23</a:t>
                      </a:r>
                    </a:p>
                  </a:txBody>
                  <a:tcPr marL="0" marR="0" marT="0" marB="0">
                    <a:lnT w="14220">
                      <a:solidFill>
                        <a:srgbClr val="BFBFBF"/>
                      </a:solidFill>
                      <a:prstDash val="solid"/>
                    </a:lnT>
                    <a:lnB w="4393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0.0070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4220">
                      <a:solidFill>
                        <a:srgbClr val="BFBFBF"/>
                      </a:solidFill>
                      <a:prstDash val="solid"/>
                    </a:lnT>
                    <a:lnB w="4393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0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4220">
                      <a:solidFill>
                        <a:srgbClr val="BFBFBF"/>
                      </a:solidFill>
                      <a:prstDash val="solid"/>
                    </a:lnT>
                    <a:lnB w="4393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189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76200">
                      <a:solidFill>
                        <a:srgbClr val="FF330B"/>
                      </a:solidFill>
                      <a:prstDash val="solid"/>
                    </a:lnR>
                    <a:lnT w="14220">
                      <a:solidFill>
                        <a:srgbClr val="BFBFBF"/>
                      </a:solidFill>
                      <a:prstDash val="solid"/>
                    </a:lnT>
                    <a:lnB w="43931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76200">
                      <a:solidFill>
                        <a:srgbClr val="FF330B"/>
                      </a:solidFill>
                      <a:prstDash val="solid"/>
                    </a:lnL>
                    <a:lnT w="14220">
                      <a:solidFill>
                        <a:srgbClr val="BFBFBF"/>
                      </a:solidFill>
                      <a:prstDash val="solid"/>
                    </a:lnT>
                    <a:lnB w="43931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6.12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76200">
                      <a:solidFill>
                        <a:srgbClr val="FF330B"/>
                      </a:solidFill>
                      <a:prstDash val="solid"/>
                    </a:lnR>
                    <a:lnT w="14220">
                      <a:solidFill>
                        <a:srgbClr val="BFBFBF"/>
                      </a:solidFill>
                      <a:prstDash val="solid"/>
                    </a:lnT>
                    <a:lnB w="4393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085">
                <a:tc gridSpan="8">
                  <a:txBody>
                    <a:bodyPr/>
                    <a:lstStyle/>
                    <a:p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76200">
                      <a:solidFill>
                        <a:srgbClr val="FF330B"/>
                      </a:solidFill>
                      <a:prstDash val="solid"/>
                    </a:lnR>
                    <a:lnT w="43931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76200">
                      <a:solidFill>
                        <a:srgbClr val="FF330B"/>
                      </a:solidFill>
                      <a:prstDash val="solid"/>
                    </a:lnL>
                    <a:lnR w="76200">
                      <a:solidFill>
                        <a:srgbClr val="FF330B"/>
                      </a:solidFill>
                      <a:prstDash val="solid"/>
                    </a:lnR>
                    <a:lnT w="43931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FF330B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431690" y="3571664"/>
            <a:ext cx="174625" cy="474980"/>
          </a:xfrm>
          <a:custGeom>
            <a:avLst/>
            <a:gdLst/>
            <a:ahLst/>
            <a:cxnLst/>
            <a:rect l="l" t="t" r="r" b="b"/>
            <a:pathLst>
              <a:path w="174625" h="474979">
                <a:moveTo>
                  <a:pt x="0" y="474604"/>
                </a:moveTo>
                <a:lnTo>
                  <a:pt x="174341" y="474604"/>
                </a:lnTo>
                <a:lnTo>
                  <a:pt x="174341" y="0"/>
                </a:lnTo>
                <a:lnTo>
                  <a:pt x="0" y="0"/>
                </a:lnTo>
                <a:lnTo>
                  <a:pt x="0" y="474604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431690" y="4044492"/>
            <a:ext cx="174625" cy="446405"/>
          </a:xfrm>
          <a:custGeom>
            <a:avLst/>
            <a:gdLst/>
            <a:ahLst/>
            <a:cxnLst/>
            <a:rect l="l" t="t" r="r" b="b"/>
            <a:pathLst>
              <a:path w="174625" h="446404">
                <a:moveTo>
                  <a:pt x="0" y="446163"/>
                </a:moveTo>
                <a:lnTo>
                  <a:pt x="174341" y="446163"/>
                </a:lnTo>
                <a:lnTo>
                  <a:pt x="174341" y="0"/>
                </a:lnTo>
                <a:lnTo>
                  <a:pt x="0" y="0"/>
                </a:lnTo>
                <a:lnTo>
                  <a:pt x="0" y="446163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431690" y="5864699"/>
            <a:ext cx="174625" cy="224154"/>
          </a:xfrm>
          <a:custGeom>
            <a:avLst/>
            <a:gdLst/>
            <a:ahLst/>
            <a:cxnLst/>
            <a:rect l="l" t="t" r="r" b="b"/>
            <a:pathLst>
              <a:path w="174625" h="224154">
                <a:moveTo>
                  <a:pt x="0" y="223970"/>
                </a:moveTo>
                <a:lnTo>
                  <a:pt x="174341" y="223970"/>
                </a:lnTo>
                <a:lnTo>
                  <a:pt x="174341" y="0"/>
                </a:lnTo>
                <a:lnTo>
                  <a:pt x="0" y="0"/>
                </a:lnTo>
                <a:lnTo>
                  <a:pt x="0" y="22397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23209" y="746660"/>
            <a:ext cx="11941810" cy="8677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795" marR="170815" indent="16510">
              <a:lnSpc>
                <a:spcPct val="104099"/>
              </a:lnSpc>
            </a:pPr>
            <a:r>
              <a:rPr sz="1400" b="1" dirty="0">
                <a:latin typeface="Calibri"/>
                <a:cs typeface="Calibri"/>
              </a:rPr>
              <a:t>e</a:t>
            </a:r>
            <a:r>
              <a:rPr sz="1400" b="1" spc="-5" dirty="0">
                <a:latin typeface="Calibri"/>
                <a:cs typeface="Calibri"/>
              </a:rPr>
              <a:t> </a:t>
            </a:r>
            <a:r>
              <a:rPr sz="1400" b="1" spc="-15" dirty="0">
                <a:latin typeface="Calibri"/>
                <a:cs typeface="Calibri"/>
              </a:rPr>
              <a:t>B</a:t>
            </a:r>
            <a:r>
              <a:rPr sz="1400" b="1" dirty="0">
                <a:latin typeface="Calibri"/>
                <a:cs typeface="Calibri"/>
              </a:rPr>
              <a:t>. </a:t>
            </a:r>
            <a:r>
              <a:rPr sz="1400" dirty="0">
                <a:latin typeface="Calibri"/>
                <a:cs typeface="Calibri"/>
              </a:rPr>
              <a:t>Maxi</a:t>
            </a:r>
            <a:r>
              <a:rPr sz="1400" spc="-15" dirty="0">
                <a:latin typeface="Calibri"/>
                <a:cs typeface="Calibri"/>
              </a:rPr>
              <a:t>m</a:t>
            </a:r>
            <a:r>
              <a:rPr sz="1400" dirty="0">
                <a:latin typeface="Calibri"/>
                <a:cs typeface="Calibri"/>
              </a:rPr>
              <a:t>u</a:t>
            </a:r>
            <a:r>
              <a:rPr sz="1400" spc="-15" dirty="0">
                <a:latin typeface="Calibri"/>
                <a:cs typeface="Calibri"/>
              </a:rPr>
              <a:t>m</a:t>
            </a:r>
            <a:r>
              <a:rPr sz="1400" dirty="0">
                <a:latin typeface="Calibri"/>
                <a:cs typeface="Calibri"/>
              </a:rPr>
              <a:t>-li</a:t>
            </a:r>
            <a:r>
              <a:rPr sz="1400" spc="-10" dirty="0">
                <a:latin typeface="Calibri"/>
                <a:cs typeface="Calibri"/>
              </a:rPr>
              <a:t>ke</a:t>
            </a:r>
            <a:r>
              <a:rPr sz="1400" dirty="0">
                <a:latin typeface="Calibri"/>
                <a:cs typeface="Calibri"/>
              </a:rPr>
              <a:t>lihood </a:t>
            </a:r>
            <a:r>
              <a:rPr sz="1400" spc="-10" dirty="0">
                <a:latin typeface="Calibri"/>
                <a:cs typeface="Calibri"/>
              </a:rPr>
              <a:t>e</a:t>
            </a:r>
            <a:r>
              <a:rPr sz="1400" dirty="0">
                <a:latin typeface="Calibri"/>
                <a:cs typeface="Calibri"/>
              </a:rPr>
              <a:t>sti</a:t>
            </a:r>
            <a:r>
              <a:rPr sz="1400" spc="-10" dirty="0">
                <a:latin typeface="Calibri"/>
                <a:cs typeface="Calibri"/>
              </a:rPr>
              <a:t>mate</a:t>
            </a:r>
            <a:r>
              <a:rPr sz="1400" dirty="0">
                <a:latin typeface="Calibri"/>
                <a:cs typeface="Calibri"/>
              </a:rPr>
              <a:t>s of p</a:t>
            </a:r>
            <a:r>
              <a:rPr sz="1400" spc="-10" dirty="0">
                <a:latin typeface="Calibri"/>
                <a:cs typeface="Calibri"/>
              </a:rPr>
              <a:t>arameter</a:t>
            </a:r>
            <a:r>
              <a:rPr sz="1400" dirty="0">
                <a:latin typeface="Calibri"/>
                <a:cs typeface="Calibri"/>
              </a:rPr>
              <a:t>s inf</a:t>
            </a:r>
            <a:r>
              <a:rPr sz="1400" spc="-10" dirty="0">
                <a:latin typeface="Calibri"/>
                <a:cs typeface="Calibri"/>
              </a:rPr>
              <a:t>erre</a:t>
            </a:r>
            <a:r>
              <a:rPr sz="1400" dirty="0">
                <a:latin typeface="Calibri"/>
                <a:cs typeface="Calibri"/>
              </a:rPr>
              <a:t>d </a:t>
            </a:r>
            <a:r>
              <a:rPr sz="1400" spc="-10" dirty="0">
                <a:latin typeface="Calibri"/>
                <a:cs typeface="Calibri"/>
              </a:rPr>
              <a:t>w</a:t>
            </a:r>
            <a:r>
              <a:rPr sz="1400" dirty="0">
                <a:latin typeface="Calibri"/>
                <a:cs typeface="Calibri"/>
              </a:rPr>
              <a:t>ith </a:t>
            </a:r>
            <a:r>
              <a:rPr sz="1400" spc="-10" dirty="0">
                <a:latin typeface="Calibri"/>
                <a:cs typeface="Calibri"/>
              </a:rPr>
              <a:t>B</a:t>
            </a:r>
            <a:r>
              <a:rPr sz="1400" dirty="0">
                <a:latin typeface="Calibri"/>
                <a:cs typeface="Calibri"/>
              </a:rPr>
              <a:t>io</a:t>
            </a:r>
            <a:r>
              <a:rPr sz="1400" spc="-10" dirty="0">
                <a:latin typeface="Calibri"/>
                <a:cs typeface="Calibri"/>
              </a:rPr>
              <a:t>Ge</a:t>
            </a:r>
            <a:r>
              <a:rPr sz="1400" dirty="0">
                <a:latin typeface="Calibri"/>
                <a:cs typeface="Calibri"/>
              </a:rPr>
              <a:t>o</a:t>
            </a:r>
            <a:r>
              <a:rPr sz="1400" spc="-10" dirty="0">
                <a:latin typeface="Calibri"/>
                <a:cs typeface="Calibri"/>
              </a:rPr>
              <a:t>B</a:t>
            </a:r>
            <a:r>
              <a:rPr sz="1400" dirty="0">
                <a:latin typeface="Calibri"/>
                <a:cs typeface="Calibri"/>
              </a:rPr>
              <a:t>E</a:t>
            </a:r>
            <a:r>
              <a:rPr sz="1400" spc="-10" dirty="0">
                <a:latin typeface="Calibri"/>
                <a:cs typeface="Calibri"/>
              </a:rPr>
              <a:t>A</a:t>
            </a:r>
            <a:r>
              <a:rPr sz="1400" dirty="0">
                <a:latin typeface="Calibri"/>
                <a:cs typeface="Calibri"/>
              </a:rPr>
              <a:t>RS fo</a:t>
            </a:r>
            <a:r>
              <a:rPr sz="1400" spc="-5" dirty="0">
                <a:latin typeface="Calibri"/>
                <a:cs typeface="Calibri"/>
              </a:rPr>
              <a:t>r</a:t>
            </a:r>
            <a:r>
              <a:rPr sz="1400" dirty="0">
                <a:latin typeface="Calibri"/>
                <a:cs typeface="Calibri"/>
              </a:rPr>
              <a:t> th</a:t>
            </a:r>
            <a:r>
              <a:rPr sz="1400" spc="-10" dirty="0">
                <a:latin typeface="Calibri"/>
                <a:cs typeface="Calibri"/>
              </a:rPr>
              <a:t>e</a:t>
            </a:r>
            <a:r>
              <a:rPr sz="1400" dirty="0">
                <a:latin typeface="Calibri"/>
                <a:cs typeface="Calibri"/>
              </a:rPr>
              <a:t> DEC</a:t>
            </a:r>
            <a:r>
              <a:rPr sz="1400" spc="-10" dirty="0">
                <a:latin typeface="Calibri"/>
                <a:cs typeface="Calibri"/>
              </a:rPr>
              <a:t>+J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5" dirty="0">
                <a:latin typeface="Calibri"/>
                <a:cs typeface="Calibri"/>
              </a:rPr>
              <a:t>m</a:t>
            </a:r>
            <a:r>
              <a:rPr sz="1400" dirty="0">
                <a:latin typeface="Calibri"/>
                <a:cs typeface="Calibri"/>
              </a:rPr>
              <a:t>od</a:t>
            </a:r>
            <a:r>
              <a:rPr sz="1400" spc="-10" dirty="0">
                <a:latin typeface="Calibri"/>
                <a:cs typeface="Calibri"/>
              </a:rPr>
              <a:t>e</a:t>
            </a:r>
            <a:r>
              <a:rPr sz="1400" dirty="0">
                <a:latin typeface="Calibri"/>
                <a:cs typeface="Calibri"/>
              </a:rPr>
              <a:t>l</a:t>
            </a:r>
            <a:r>
              <a:rPr sz="1400" spc="-5" dirty="0">
                <a:latin typeface="Calibri"/>
                <a:cs typeface="Calibri"/>
              </a:rPr>
              <a:t>,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w</a:t>
            </a:r>
            <a:r>
              <a:rPr sz="1400" dirty="0">
                <a:latin typeface="Calibri"/>
                <a:cs typeface="Calibri"/>
              </a:rPr>
              <a:t>ith and </a:t>
            </a:r>
            <a:r>
              <a:rPr sz="1400" spc="-10" dirty="0">
                <a:latin typeface="Calibri"/>
                <a:cs typeface="Calibri"/>
              </a:rPr>
              <a:t>w</a:t>
            </a:r>
            <a:r>
              <a:rPr sz="1400" dirty="0">
                <a:latin typeface="Calibri"/>
                <a:cs typeface="Calibri"/>
              </a:rPr>
              <a:t>ithou</a:t>
            </a:r>
            <a:r>
              <a:rPr sz="1400" spc="-5" dirty="0">
                <a:latin typeface="Calibri"/>
                <a:cs typeface="Calibri"/>
              </a:rPr>
              <a:t>t</a:t>
            </a:r>
            <a:r>
              <a:rPr sz="1400" dirty="0">
                <a:latin typeface="Calibri"/>
                <a:cs typeface="Calibri"/>
              </a:rPr>
              <a:t> distan</a:t>
            </a:r>
            <a:r>
              <a:rPr sz="1400" spc="-10" dirty="0">
                <a:latin typeface="Calibri"/>
                <a:cs typeface="Calibri"/>
              </a:rPr>
              <a:t>ce</a:t>
            </a:r>
            <a:r>
              <a:rPr sz="1400" dirty="0">
                <a:latin typeface="Calibri"/>
                <a:cs typeface="Calibri"/>
              </a:rPr>
              <a:t>-bas</a:t>
            </a:r>
            <a:r>
              <a:rPr sz="1400" spc="-10" dirty="0">
                <a:latin typeface="Calibri"/>
                <a:cs typeface="Calibri"/>
              </a:rPr>
              <a:t>e</a:t>
            </a:r>
            <a:r>
              <a:rPr sz="1400" dirty="0">
                <a:latin typeface="Calibri"/>
                <a:cs typeface="Calibri"/>
              </a:rPr>
              <a:t>d disp</a:t>
            </a:r>
            <a:r>
              <a:rPr sz="1400" spc="-10" dirty="0">
                <a:latin typeface="Calibri"/>
                <a:cs typeface="Calibri"/>
              </a:rPr>
              <a:t>er</a:t>
            </a:r>
            <a:r>
              <a:rPr sz="1400" dirty="0">
                <a:latin typeface="Calibri"/>
                <a:cs typeface="Calibri"/>
              </a:rPr>
              <a:t>sal (+</a:t>
            </a:r>
            <a:r>
              <a:rPr sz="1400" i="1" spc="10" dirty="0">
                <a:latin typeface="Calibri"/>
                <a:cs typeface="Calibri"/>
              </a:rPr>
              <a:t>x</a:t>
            </a:r>
            <a:r>
              <a:rPr sz="1400" dirty="0">
                <a:latin typeface="Calibri"/>
                <a:cs typeface="Calibri"/>
              </a:rPr>
              <a:t>) and </a:t>
            </a:r>
            <a:r>
              <a:rPr sz="1400" spc="-5" dirty="0">
                <a:latin typeface="Calibri"/>
                <a:cs typeface="Calibri"/>
              </a:rPr>
              <a:t>tr</a:t>
            </a:r>
            <a:r>
              <a:rPr sz="1400" dirty="0">
                <a:latin typeface="Calibri"/>
                <a:cs typeface="Calibri"/>
              </a:rPr>
              <a:t>ait-bas</a:t>
            </a:r>
            <a:r>
              <a:rPr sz="1400" spc="-10" dirty="0">
                <a:latin typeface="Calibri"/>
                <a:cs typeface="Calibri"/>
              </a:rPr>
              <a:t>e</a:t>
            </a:r>
            <a:r>
              <a:rPr sz="1400" dirty="0">
                <a:latin typeface="Calibri"/>
                <a:cs typeface="Calibri"/>
              </a:rPr>
              <a:t>d </a:t>
            </a:r>
            <a:r>
              <a:rPr sz="1400" spc="-10" dirty="0">
                <a:latin typeface="Calibri"/>
                <a:cs typeface="Calibri"/>
              </a:rPr>
              <a:t>er</a:t>
            </a:r>
            <a:r>
              <a:rPr sz="1400" dirty="0">
                <a:latin typeface="Calibri"/>
                <a:cs typeface="Calibri"/>
              </a:rPr>
              <a:t>sal (+</a:t>
            </a:r>
            <a:r>
              <a:rPr sz="1400" i="1" spc="-15" dirty="0">
                <a:latin typeface="Calibri"/>
                <a:cs typeface="Calibri"/>
              </a:rPr>
              <a:t>m</a:t>
            </a:r>
            <a:r>
              <a:rPr sz="1400" i="1" dirty="0">
                <a:latin typeface="Calibri"/>
                <a:cs typeface="Calibri"/>
              </a:rPr>
              <a:t>2</a:t>
            </a:r>
            <a:r>
              <a:rPr sz="1400" dirty="0">
                <a:latin typeface="Calibri"/>
                <a:cs typeface="Calibri"/>
              </a:rPr>
              <a:t>).</a:t>
            </a:r>
          </a:p>
          <a:p>
            <a:pPr marL="6472555">
              <a:lnSpc>
                <a:spcPct val="100000"/>
              </a:lnSpc>
              <a:spcBef>
                <a:spcPts val="990"/>
              </a:spcBef>
            </a:pPr>
            <a:r>
              <a:rPr sz="1400" b="1" spc="-10" dirty="0">
                <a:latin typeface="Calibri"/>
                <a:cs typeface="Calibri"/>
              </a:rPr>
              <a:t>P</a:t>
            </a:r>
            <a:r>
              <a:rPr sz="1400" b="1" spc="-15" dirty="0">
                <a:latin typeface="Calibri"/>
                <a:cs typeface="Calibri"/>
              </a:rPr>
              <a:t>a</a:t>
            </a:r>
            <a:r>
              <a:rPr sz="1400" b="1" spc="-5" dirty="0">
                <a:latin typeface="Calibri"/>
                <a:cs typeface="Calibri"/>
              </a:rPr>
              <a:t>rameter</a:t>
            </a:r>
            <a:r>
              <a:rPr sz="1400" b="1" dirty="0">
                <a:latin typeface="Calibri"/>
                <a:cs typeface="Calibri"/>
              </a:rPr>
              <a:t>s </a:t>
            </a:r>
            <a:r>
              <a:rPr sz="1400" b="1" spc="-15" dirty="0">
                <a:latin typeface="Calibri"/>
                <a:cs typeface="Calibri"/>
              </a:rPr>
              <a:t>(d</a:t>
            </a:r>
            <a:r>
              <a:rPr sz="1400" b="1" spc="-5" dirty="0">
                <a:latin typeface="Calibri"/>
                <a:cs typeface="Calibri"/>
              </a:rPr>
              <a:t>efi</a:t>
            </a:r>
            <a:r>
              <a:rPr sz="1400" b="1" spc="-15" dirty="0">
                <a:latin typeface="Calibri"/>
                <a:cs typeface="Calibri"/>
              </a:rPr>
              <a:t>n</a:t>
            </a:r>
            <a:r>
              <a:rPr sz="1400" b="1" spc="-5" dirty="0">
                <a:latin typeface="Calibri"/>
                <a:cs typeface="Calibri"/>
              </a:rPr>
              <a:t>ed)</a:t>
            </a:r>
            <a:endParaRPr sz="1400" dirty="0">
              <a:latin typeface="Calibri"/>
              <a:cs typeface="Calibri"/>
            </a:endParaRPr>
          </a:p>
          <a:p>
            <a:pPr marL="5201920" indent="-2202815">
              <a:lnSpc>
                <a:spcPct val="100000"/>
              </a:lnSpc>
              <a:spcBef>
                <a:spcPts val="235"/>
              </a:spcBef>
              <a:tabLst>
                <a:tab pos="4170679" algn="l"/>
                <a:tab pos="5370195" algn="l"/>
                <a:tab pos="6536690" algn="l"/>
                <a:tab pos="7626350" algn="l"/>
                <a:tab pos="8856345" algn="l"/>
                <a:tab pos="10106025" algn="l"/>
                <a:tab pos="11349990" algn="l"/>
              </a:tabLst>
            </a:pPr>
            <a:r>
              <a:rPr sz="1400" b="1" i="1" spc="-10" dirty="0">
                <a:latin typeface="Calibri"/>
                <a:cs typeface="Calibri"/>
              </a:rPr>
              <a:t>d	e	j	x	t12	t21	m1	m2</a:t>
            </a:r>
            <a:endParaRPr sz="1400" dirty="0">
              <a:latin typeface="Calibri"/>
              <a:cs typeface="Calibri"/>
            </a:endParaRPr>
          </a:p>
          <a:p>
            <a:pPr marL="5201920">
              <a:lnSpc>
                <a:spcPts val="1280"/>
              </a:lnSpc>
              <a:spcBef>
                <a:spcPts val="1050"/>
              </a:spcBef>
              <a:tabLst>
                <a:tab pos="6246495" algn="l"/>
                <a:tab pos="7217409" algn="l"/>
              </a:tabLst>
            </a:pPr>
            <a:r>
              <a:rPr sz="1400" b="1" spc="-5" dirty="0">
                <a:latin typeface="Calibri"/>
                <a:cs typeface="Calibri"/>
              </a:rPr>
              <a:t>j</a:t>
            </a:r>
            <a:r>
              <a:rPr sz="1400" b="1" spc="-15" dirty="0">
                <a:latin typeface="Calibri"/>
                <a:cs typeface="Calibri"/>
              </a:rPr>
              <a:t>u</a:t>
            </a:r>
            <a:r>
              <a:rPr sz="1400" b="1" spc="-5" dirty="0">
                <a:latin typeface="Calibri"/>
                <a:cs typeface="Calibri"/>
              </a:rPr>
              <a:t>m</a:t>
            </a:r>
            <a:r>
              <a:rPr sz="1400" b="1" dirty="0">
                <a:latin typeface="Calibri"/>
                <a:cs typeface="Calibri"/>
              </a:rPr>
              <a:t>p	</a:t>
            </a:r>
            <a:r>
              <a:rPr sz="1400" b="1" spc="-10" dirty="0">
                <a:latin typeface="Calibri"/>
                <a:cs typeface="Calibri"/>
              </a:rPr>
              <a:t>disp</a:t>
            </a:r>
            <a:r>
              <a:rPr sz="1400" b="1" spc="-15" dirty="0">
                <a:latin typeface="Calibri"/>
                <a:cs typeface="Calibri"/>
              </a:rPr>
              <a:t>e</a:t>
            </a:r>
            <a:r>
              <a:rPr sz="1400" b="1" dirty="0">
                <a:latin typeface="Calibri"/>
                <a:cs typeface="Calibri"/>
              </a:rPr>
              <a:t>r</a:t>
            </a:r>
            <a:r>
              <a:rPr sz="1400" b="1" spc="-15" dirty="0">
                <a:latin typeface="Calibri"/>
                <a:cs typeface="Calibri"/>
              </a:rPr>
              <a:t>sa</a:t>
            </a:r>
            <a:r>
              <a:rPr sz="1400" b="1" spc="-5" dirty="0">
                <a:latin typeface="Calibri"/>
                <a:cs typeface="Calibri"/>
              </a:rPr>
              <a:t>l</a:t>
            </a:r>
            <a:r>
              <a:rPr sz="1400" b="1" dirty="0">
                <a:latin typeface="Calibri"/>
                <a:cs typeface="Calibri"/>
              </a:rPr>
              <a:t>	tr</a:t>
            </a:r>
            <a:r>
              <a:rPr sz="1400" b="1" spc="-10" dirty="0">
                <a:latin typeface="Calibri"/>
                <a:cs typeface="Calibri"/>
              </a:rPr>
              <a:t>ansition</a:t>
            </a:r>
            <a:r>
              <a:rPr sz="1400" b="1" spc="-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r</a:t>
            </a:r>
            <a:r>
              <a:rPr sz="1400" b="1" spc="-10" dirty="0">
                <a:latin typeface="Calibri"/>
                <a:cs typeface="Calibri"/>
              </a:rPr>
              <a:t>ate</a:t>
            </a:r>
            <a:endParaRPr sz="1400" dirty="0">
              <a:latin typeface="Calibri"/>
              <a:cs typeface="Calibri"/>
            </a:endParaRPr>
          </a:p>
          <a:p>
            <a:pPr marL="818515" indent="1647189">
              <a:lnSpc>
                <a:spcPts val="1280"/>
              </a:lnSpc>
              <a:tabLst>
                <a:tab pos="3843654" algn="l"/>
                <a:tab pos="4805045" algn="l"/>
                <a:tab pos="6172200" algn="l"/>
                <a:tab pos="7566659" algn="l"/>
                <a:tab pos="8445500" algn="l"/>
                <a:tab pos="9741535" algn="l"/>
                <a:tab pos="10985500" algn="l"/>
              </a:tabLst>
            </a:pPr>
            <a:r>
              <a:rPr sz="1400" b="1" spc="-10" dirty="0">
                <a:latin typeface="Calibri"/>
                <a:cs typeface="Calibri"/>
              </a:rPr>
              <a:t>disp</a:t>
            </a:r>
            <a:r>
              <a:rPr sz="1400" b="1" spc="-15" dirty="0">
                <a:latin typeface="Calibri"/>
                <a:cs typeface="Calibri"/>
              </a:rPr>
              <a:t>e</a:t>
            </a:r>
            <a:r>
              <a:rPr sz="1400" b="1" dirty="0">
                <a:latin typeface="Calibri"/>
                <a:cs typeface="Calibri"/>
              </a:rPr>
              <a:t>r</a:t>
            </a:r>
            <a:r>
              <a:rPr sz="1400" b="1" spc="-15" dirty="0">
                <a:latin typeface="Calibri"/>
                <a:cs typeface="Calibri"/>
              </a:rPr>
              <a:t>sal/</a:t>
            </a:r>
            <a:r>
              <a:rPr sz="1400" b="1" spc="-10" dirty="0">
                <a:latin typeface="Calibri"/>
                <a:cs typeface="Calibri"/>
              </a:rPr>
              <a:t>rang</a:t>
            </a:r>
            <a:r>
              <a:rPr sz="1400" b="1" dirty="0">
                <a:latin typeface="Calibri"/>
                <a:cs typeface="Calibri"/>
              </a:rPr>
              <a:t>e	</a:t>
            </a:r>
            <a:r>
              <a:rPr sz="2100" b="1" baseline="-33730" dirty="0">
                <a:latin typeface="Calibri"/>
                <a:cs typeface="Calibri"/>
              </a:rPr>
              <a:t>r</a:t>
            </a:r>
            <a:r>
              <a:rPr sz="2100" b="1" spc="-7" baseline="-33730" dirty="0">
                <a:latin typeface="Calibri"/>
                <a:cs typeface="Calibri"/>
              </a:rPr>
              <a:t>a</a:t>
            </a:r>
            <a:r>
              <a:rPr sz="2100" b="1" spc="-22" baseline="-33730" dirty="0">
                <a:latin typeface="Calibri"/>
                <a:cs typeface="Calibri"/>
              </a:rPr>
              <a:t>n</a:t>
            </a:r>
            <a:r>
              <a:rPr sz="2100" b="1" baseline="-33730" dirty="0">
                <a:latin typeface="Calibri"/>
                <a:cs typeface="Calibri"/>
              </a:rPr>
              <a:t>ge </a:t>
            </a:r>
            <a:r>
              <a:rPr sz="2100" b="1" spc="-22" baseline="-33730" dirty="0">
                <a:latin typeface="Calibri"/>
                <a:cs typeface="Calibri"/>
              </a:rPr>
              <a:t>los</a:t>
            </a:r>
            <a:r>
              <a:rPr sz="2100" b="1" spc="-15" baseline="-33730" dirty="0">
                <a:latin typeface="Calibri"/>
                <a:cs typeface="Calibri"/>
              </a:rPr>
              <a:t>s</a:t>
            </a:r>
            <a:r>
              <a:rPr sz="2100" b="1" baseline="-33730" dirty="0">
                <a:latin typeface="Calibri"/>
                <a:cs typeface="Calibri"/>
              </a:rPr>
              <a:t>	</a:t>
            </a:r>
            <a:r>
              <a:rPr sz="2100" b="1" spc="-15" baseline="-33730" dirty="0">
                <a:latin typeface="Calibri"/>
                <a:cs typeface="Calibri"/>
              </a:rPr>
              <a:t>disp</a:t>
            </a:r>
            <a:r>
              <a:rPr sz="2100" b="1" spc="-22" baseline="-33730" dirty="0">
                <a:latin typeface="Calibri"/>
                <a:cs typeface="Calibri"/>
              </a:rPr>
              <a:t>e</a:t>
            </a:r>
            <a:r>
              <a:rPr sz="2100" b="1" baseline="-33730" dirty="0">
                <a:latin typeface="Calibri"/>
                <a:cs typeface="Calibri"/>
              </a:rPr>
              <a:t>r</a:t>
            </a:r>
            <a:r>
              <a:rPr sz="2100" b="1" spc="-22" baseline="-33730" dirty="0">
                <a:latin typeface="Calibri"/>
                <a:cs typeface="Calibri"/>
              </a:rPr>
              <a:t>sal/</a:t>
            </a:r>
            <a:r>
              <a:rPr sz="2100" b="1" spc="-15" baseline="-33730" dirty="0">
                <a:latin typeface="Calibri"/>
                <a:cs typeface="Calibri"/>
              </a:rPr>
              <a:t>found</a:t>
            </a:r>
            <a:r>
              <a:rPr sz="2100" b="1" baseline="-33730" dirty="0">
                <a:latin typeface="Calibri"/>
                <a:cs typeface="Calibri"/>
              </a:rPr>
              <a:t>	pr</a:t>
            </a:r>
            <a:r>
              <a:rPr sz="2100" b="1" spc="-15" baseline="-33730" dirty="0">
                <a:latin typeface="Calibri"/>
                <a:cs typeface="Calibri"/>
              </a:rPr>
              <a:t>obability</a:t>
            </a:r>
            <a:r>
              <a:rPr sz="2100" b="1" baseline="-33730" dirty="0">
                <a:latin typeface="Calibri"/>
                <a:cs typeface="Calibri"/>
              </a:rPr>
              <a:t>	fr</a:t>
            </a:r>
            <a:r>
              <a:rPr sz="2100" b="1" spc="-7" baseline="-33730" dirty="0">
                <a:latin typeface="Calibri"/>
                <a:cs typeface="Calibri"/>
              </a:rPr>
              <a:t>o</a:t>
            </a:r>
            <a:r>
              <a:rPr sz="2100" b="1" baseline="-33730" dirty="0">
                <a:latin typeface="Calibri"/>
                <a:cs typeface="Calibri"/>
              </a:rPr>
              <a:t>m	</a:t>
            </a:r>
            <a:r>
              <a:rPr sz="1400" b="1" dirty="0">
                <a:latin typeface="Calibri"/>
                <a:cs typeface="Calibri"/>
              </a:rPr>
              <a:t>tr</a:t>
            </a:r>
            <a:r>
              <a:rPr sz="1400" b="1" spc="-10" dirty="0">
                <a:latin typeface="Calibri"/>
                <a:cs typeface="Calibri"/>
              </a:rPr>
              <a:t>ansition</a:t>
            </a:r>
            <a:r>
              <a:rPr sz="1400" b="1" spc="-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r</a:t>
            </a:r>
            <a:r>
              <a:rPr sz="1400" b="1" spc="-10" dirty="0">
                <a:latin typeface="Calibri"/>
                <a:cs typeface="Calibri"/>
              </a:rPr>
              <a:t>ate</a:t>
            </a:r>
            <a:r>
              <a:rPr sz="1400" b="1" dirty="0">
                <a:latin typeface="Calibri"/>
                <a:cs typeface="Calibri"/>
              </a:rPr>
              <a:t>	m</a:t>
            </a:r>
            <a:r>
              <a:rPr sz="1400" b="1" spc="-5" dirty="0">
                <a:latin typeface="Calibri"/>
                <a:cs typeface="Calibri"/>
              </a:rPr>
              <a:t>u</a:t>
            </a:r>
            <a:r>
              <a:rPr sz="1400" b="1" spc="-10" dirty="0">
                <a:latin typeface="Calibri"/>
                <a:cs typeface="Calibri"/>
              </a:rPr>
              <a:t>ltipli</a:t>
            </a:r>
            <a:r>
              <a:rPr sz="1400" b="1" spc="-5" dirty="0">
                <a:latin typeface="Calibri"/>
                <a:cs typeface="Calibri"/>
              </a:rPr>
              <a:t>e</a:t>
            </a:r>
            <a:r>
              <a:rPr sz="1400" b="1" dirty="0">
                <a:latin typeface="Calibri"/>
                <a:cs typeface="Calibri"/>
              </a:rPr>
              <a:t>r </a:t>
            </a:r>
            <a:r>
              <a:rPr sz="1400" b="1" spc="-15" dirty="0">
                <a:latin typeface="Calibri"/>
                <a:cs typeface="Calibri"/>
              </a:rPr>
              <a:t>o</a:t>
            </a:r>
            <a:r>
              <a:rPr sz="1400" b="1" spc="-10" dirty="0">
                <a:latin typeface="Calibri"/>
                <a:cs typeface="Calibri"/>
              </a:rPr>
              <a:t>n</a:t>
            </a:r>
            <a:r>
              <a:rPr sz="1400" b="1" dirty="0">
                <a:latin typeface="Calibri"/>
                <a:cs typeface="Calibri"/>
              </a:rPr>
              <a:t>	m</a:t>
            </a:r>
            <a:r>
              <a:rPr sz="1400" b="1" spc="-5" dirty="0">
                <a:latin typeface="Calibri"/>
                <a:cs typeface="Calibri"/>
              </a:rPr>
              <a:t>u</a:t>
            </a:r>
            <a:r>
              <a:rPr sz="1400" b="1" spc="-10" dirty="0">
                <a:latin typeface="Calibri"/>
                <a:cs typeface="Calibri"/>
              </a:rPr>
              <a:t>ltipli</a:t>
            </a:r>
            <a:r>
              <a:rPr sz="1400" b="1" spc="-5" dirty="0">
                <a:latin typeface="Calibri"/>
                <a:cs typeface="Calibri"/>
              </a:rPr>
              <a:t>e</a:t>
            </a:r>
            <a:r>
              <a:rPr sz="1400" b="1" dirty="0">
                <a:latin typeface="Calibri"/>
                <a:cs typeface="Calibri"/>
              </a:rPr>
              <a:t>r </a:t>
            </a:r>
            <a:r>
              <a:rPr sz="1400" b="1" spc="-15" dirty="0">
                <a:latin typeface="Calibri"/>
                <a:cs typeface="Calibri"/>
              </a:rPr>
              <a:t>o</a:t>
            </a:r>
            <a:r>
              <a:rPr sz="1400" b="1" spc="-10" dirty="0">
                <a:latin typeface="Calibri"/>
                <a:cs typeface="Calibri"/>
              </a:rPr>
              <a:t>n</a:t>
            </a:r>
            <a:endParaRPr sz="1400" dirty="0">
              <a:latin typeface="Calibri"/>
              <a:cs typeface="Calibri"/>
            </a:endParaRPr>
          </a:p>
          <a:p>
            <a:pPr marL="2583180" marR="7620" indent="-1765300">
              <a:lnSpc>
                <a:spcPct val="52500"/>
              </a:lnSpc>
              <a:spcBef>
                <a:spcPts val="1735"/>
              </a:spcBef>
              <a:tabLst>
                <a:tab pos="2887980" algn="l"/>
                <a:tab pos="3754120" algn="l"/>
                <a:tab pos="4804410" algn="l"/>
                <a:tab pos="4869180" algn="l"/>
                <a:tab pos="6188075" algn="l"/>
                <a:tab pos="7255509" algn="l"/>
                <a:tab pos="7498080" algn="l"/>
                <a:tab pos="8425180" algn="l"/>
                <a:tab pos="8582025" algn="l"/>
                <a:tab pos="9663430" algn="l"/>
                <a:tab pos="9826625" algn="l"/>
                <a:tab pos="10907395" algn="l"/>
                <a:tab pos="11214735" algn="l"/>
              </a:tabLst>
            </a:pPr>
            <a:r>
              <a:rPr sz="2100" b="1" spc="-15" baseline="33730" dirty="0">
                <a:latin typeface="Calibri"/>
                <a:cs typeface="Calibri"/>
              </a:rPr>
              <a:t>Mode</a:t>
            </a:r>
            <a:r>
              <a:rPr sz="2100" b="1" spc="-7" baseline="33730" dirty="0">
                <a:latin typeface="Calibri"/>
                <a:cs typeface="Calibri"/>
              </a:rPr>
              <a:t>l		</a:t>
            </a:r>
            <a:r>
              <a:rPr sz="2100" b="1" spc="-15" baseline="33730" dirty="0">
                <a:latin typeface="Calibri"/>
                <a:cs typeface="Calibri"/>
              </a:rPr>
              <a:t>gain	</a:t>
            </a:r>
            <a:r>
              <a:rPr sz="1400" b="1" spc="-10" dirty="0">
                <a:latin typeface="Calibri"/>
                <a:cs typeface="Calibri"/>
              </a:rPr>
              <a:t>(anage</a:t>
            </a:r>
            <a:r>
              <a:rPr sz="1400" b="1" spc="-5" dirty="0">
                <a:latin typeface="Calibri"/>
                <a:cs typeface="Calibri"/>
              </a:rPr>
              <a:t>n</a:t>
            </a:r>
            <a:r>
              <a:rPr sz="1400" b="1" dirty="0">
                <a:latin typeface="Calibri"/>
                <a:cs typeface="Calibri"/>
              </a:rPr>
              <a:t>e</a:t>
            </a:r>
            <a:r>
              <a:rPr sz="1400" b="1" spc="-10" dirty="0">
                <a:latin typeface="Calibri"/>
                <a:cs typeface="Calibri"/>
              </a:rPr>
              <a:t>tic)</a:t>
            </a:r>
            <a:r>
              <a:rPr sz="1400" b="1" dirty="0">
                <a:latin typeface="Calibri"/>
                <a:cs typeface="Calibri"/>
              </a:rPr>
              <a:t>	er-even</a:t>
            </a:r>
            <a:r>
              <a:rPr sz="1400" b="1" spc="-5" dirty="0">
                <a:latin typeface="Calibri"/>
                <a:cs typeface="Calibri"/>
              </a:rPr>
              <a:t>t</a:t>
            </a:r>
            <a:r>
              <a:rPr sz="1400" b="1" dirty="0">
                <a:latin typeface="Calibri"/>
                <a:cs typeface="Calibri"/>
              </a:rPr>
              <a:t> we</a:t>
            </a:r>
            <a:r>
              <a:rPr sz="1400" b="1" spc="-5" dirty="0">
                <a:latin typeface="Calibri"/>
                <a:cs typeface="Calibri"/>
              </a:rPr>
              <a:t>i</a:t>
            </a:r>
            <a:r>
              <a:rPr sz="1400" b="1" spc="-10" dirty="0">
                <a:latin typeface="Calibri"/>
                <a:cs typeface="Calibri"/>
              </a:rPr>
              <a:t>g</a:t>
            </a:r>
            <a:r>
              <a:rPr sz="1400" b="1" spc="-15" dirty="0">
                <a:latin typeface="Calibri"/>
                <a:cs typeface="Calibri"/>
              </a:rPr>
              <a:t>h</a:t>
            </a:r>
            <a:r>
              <a:rPr sz="1400" b="1" spc="-5" dirty="0">
                <a:latin typeface="Calibri"/>
                <a:cs typeface="Calibri"/>
              </a:rPr>
              <a:t>t</a:t>
            </a:r>
            <a:r>
              <a:rPr sz="1400" b="1" dirty="0">
                <a:latin typeface="Calibri"/>
                <a:cs typeface="Calibri"/>
              </a:rPr>
              <a:t>  </a:t>
            </a:r>
            <a:r>
              <a:rPr sz="1400" b="1" spc="-8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m</a:t>
            </a:r>
            <a:r>
              <a:rPr sz="1400" b="1" spc="-5" dirty="0">
                <a:latin typeface="Calibri"/>
                <a:cs typeface="Calibri"/>
              </a:rPr>
              <a:t>u</a:t>
            </a:r>
            <a:r>
              <a:rPr sz="1400" b="1" spc="-10" dirty="0">
                <a:latin typeface="Calibri"/>
                <a:cs typeface="Calibri"/>
              </a:rPr>
              <a:t>ltipli</a:t>
            </a:r>
            <a:r>
              <a:rPr sz="1400" b="1" dirty="0">
                <a:latin typeface="Calibri"/>
                <a:cs typeface="Calibri"/>
              </a:rPr>
              <a:t>ed </a:t>
            </a:r>
            <a:r>
              <a:rPr sz="1400" b="1" spc="-15" dirty="0">
                <a:latin typeface="Calibri"/>
                <a:cs typeface="Calibri"/>
              </a:rPr>
              <a:t>b</a:t>
            </a:r>
            <a:r>
              <a:rPr sz="1400" b="1" spc="-10" dirty="0">
                <a:latin typeface="Calibri"/>
                <a:cs typeface="Calibri"/>
              </a:rPr>
              <a:t>y</a:t>
            </a:r>
            <a:r>
              <a:rPr sz="1400" b="1" dirty="0">
                <a:latin typeface="Calibri"/>
                <a:cs typeface="Calibri"/>
              </a:rPr>
              <a:t>	</a:t>
            </a:r>
            <a:r>
              <a:rPr sz="1400" b="1" spc="-10" dirty="0">
                <a:latin typeface="Calibri"/>
                <a:cs typeface="Calibri"/>
              </a:rPr>
              <a:t>nonlittoral</a:t>
            </a:r>
            <a:r>
              <a:rPr sz="1400" b="1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to</a:t>
            </a:r>
            <a:r>
              <a:rPr sz="1400" b="1" dirty="0">
                <a:latin typeface="Calibri"/>
                <a:cs typeface="Calibri"/>
              </a:rPr>
              <a:t>	</a:t>
            </a:r>
            <a:r>
              <a:rPr sz="2100" b="1" baseline="33730" dirty="0">
                <a:latin typeface="Calibri"/>
                <a:cs typeface="Calibri"/>
              </a:rPr>
              <a:t>fr</a:t>
            </a:r>
            <a:r>
              <a:rPr sz="2100" b="1" spc="-7" baseline="33730" dirty="0">
                <a:latin typeface="Calibri"/>
                <a:cs typeface="Calibri"/>
              </a:rPr>
              <a:t>o</a:t>
            </a:r>
            <a:r>
              <a:rPr sz="2100" b="1" baseline="33730" dirty="0">
                <a:latin typeface="Calibri"/>
                <a:cs typeface="Calibri"/>
              </a:rPr>
              <a:t>m </a:t>
            </a:r>
            <a:r>
              <a:rPr sz="2100" b="1" spc="-15" baseline="33730" dirty="0">
                <a:latin typeface="Calibri"/>
                <a:cs typeface="Calibri"/>
              </a:rPr>
              <a:t>litto</a:t>
            </a:r>
            <a:r>
              <a:rPr sz="2100" b="1" baseline="33730" dirty="0">
                <a:latin typeface="Calibri"/>
                <a:cs typeface="Calibri"/>
              </a:rPr>
              <a:t>r</a:t>
            </a:r>
            <a:r>
              <a:rPr sz="2100" b="1" spc="-7" baseline="33730" dirty="0">
                <a:latin typeface="Calibri"/>
                <a:cs typeface="Calibri"/>
              </a:rPr>
              <a:t>al</a:t>
            </a:r>
            <a:r>
              <a:rPr sz="2100" b="1" baseline="33730" dirty="0">
                <a:latin typeface="Calibri"/>
                <a:cs typeface="Calibri"/>
              </a:rPr>
              <a:t> </a:t>
            </a:r>
            <a:r>
              <a:rPr sz="2100" b="1" spc="-15" baseline="33730" dirty="0">
                <a:latin typeface="Calibri"/>
                <a:cs typeface="Calibri"/>
              </a:rPr>
              <a:t>to</a:t>
            </a:r>
            <a:r>
              <a:rPr sz="2100" b="1" baseline="33730" dirty="0">
                <a:latin typeface="Calibri"/>
                <a:cs typeface="Calibri"/>
              </a:rPr>
              <a:t>	</a:t>
            </a:r>
            <a:r>
              <a:rPr sz="2100" b="1" spc="-15" baseline="33730" dirty="0">
                <a:latin typeface="Calibri"/>
                <a:cs typeface="Calibri"/>
              </a:rPr>
              <a:t>disp</a:t>
            </a:r>
            <a:r>
              <a:rPr sz="2100" b="1" spc="-22" baseline="33730" dirty="0">
                <a:latin typeface="Calibri"/>
                <a:cs typeface="Calibri"/>
              </a:rPr>
              <a:t>e</a:t>
            </a:r>
            <a:r>
              <a:rPr sz="2100" b="1" baseline="33730" dirty="0">
                <a:latin typeface="Calibri"/>
                <a:cs typeface="Calibri"/>
              </a:rPr>
              <a:t>r</a:t>
            </a:r>
            <a:r>
              <a:rPr sz="2100" b="1" spc="-22" baseline="33730" dirty="0">
                <a:latin typeface="Calibri"/>
                <a:cs typeface="Calibri"/>
              </a:rPr>
              <a:t>sa</a:t>
            </a:r>
            <a:r>
              <a:rPr sz="2100" b="1" spc="-7" baseline="33730" dirty="0">
                <a:latin typeface="Calibri"/>
                <a:cs typeface="Calibri"/>
              </a:rPr>
              <a:t>l</a:t>
            </a:r>
            <a:r>
              <a:rPr sz="2100" b="1" baseline="33730" dirty="0">
                <a:latin typeface="Calibri"/>
                <a:cs typeface="Calibri"/>
              </a:rPr>
              <a:t> whe</a:t>
            </a:r>
            <a:r>
              <a:rPr sz="2100" b="1" spc="-15" baseline="33730" dirty="0">
                <a:latin typeface="Calibri"/>
                <a:cs typeface="Calibri"/>
              </a:rPr>
              <a:t>n</a:t>
            </a:r>
            <a:r>
              <a:rPr sz="2100" b="1" baseline="33730" dirty="0">
                <a:latin typeface="Calibri"/>
                <a:cs typeface="Calibri"/>
              </a:rPr>
              <a:t>	</a:t>
            </a:r>
            <a:r>
              <a:rPr sz="2100" b="1" spc="-15" baseline="33730" dirty="0">
                <a:latin typeface="Calibri"/>
                <a:cs typeface="Calibri"/>
              </a:rPr>
              <a:t>disp</a:t>
            </a:r>
            <a:r>
              <a:rPr sz="2100" b="1" spc="-22" baseline="33730" dirty="0">
                <a:latin typeface="Calibri"/>
                <a:cs typeface="Calibri"/>
              </a:rPr>
              <a:t>e</a:t>
            </a:r>
            <a:r>
              <a:rPr sz="2100" b="1" baseline="33730" dirty="0">
                <a:latin typeface="Calibri"/>
                <a:cs typeface="Calibri"/>
              </a:rPr>
              <a:t>r</a:t>
            </a:r>
            <a:r>
              <a:rPr sz="2100" b="1" spc="-22" baseline="33730" dirty="0">
                <a:latin typeface="Calibri"/>
                <a:cs typeface="Calibri"/>
              </a:rPr>
              <a:t>sa</a:t>
            </a:r>
            <a:r>
              <a:rPr sz="2100" b="1" spc="-7" baseline="33730" dirty="0">
                <a:latin typeface="Calibri"/>
                <a:cs typeface="Calibri"/>
              </a:rPr>
              <a:t>l</a:t>
            </a:r>
            <a:r>
              <a:rPr sz="2100" b="1" baseline="33730" dirty="0">
                <a:latin typeface="Calibri"/>
                <a:cs typeface="Calibri"/>
              </a:rPr>
              <a:t> whe </a:t>
            </a:r>
            <a:r>
              <a:rPr sz="1400" b="1" spc="-10" dirty="0">
                <a:latin typeface="Calibri"/>
                <a:cs typeface="Calibri"/>
              </a:rPr>
              <a:t>(anag</a:t>
            </a:r>
            <a:r>
              <a:rPr sz="1400" b="1" dirty="0">
                <a:latin typeface="Calibri"/>
                <a:cs typeface="Calibri"/>
              </a:rPr>
              <a:t>e</a:t>
            </a:r>
            <a:r>
              <a:rPr sz="1400" b="1" spc="-5" dirty="0">
                <a:latin typeface="Calibri"/>
                <a:cs typeface="Calibri"/>
              </a:rPr>
              <a:t>n</a:t>
            </a:r>
            <a:r>
              <a:rPr sz="1400" b="1" dirty="0">
                <a:latin typeface="Calibri"/>
                <a:cs typeface="Calibri"/>
              </a:rPr>
              <a:t>e</a:t>
            </a:r>
            <a:r>
              <a:rPr sz="1400" b="1" spc="-10" dirty="0">
                <a:latin typeface="Calibri"/>
                <a:cs typeface="Calibri"/>
              </a:rPr>
              <a:t>tic)</a:t>
            </a:r>
            <a:r>
              <a:rPr sz="1400" b="1" dirty="0">
                <a:latin typeface="Calibri"/>
                <a:cs typeface="Calibri"/>
              </a:rPr>
              <a:t>			</a:t>
            </a:r>
            <a:r>
              <a:rPr sz="2100" b="1" spc="-15" baseline="-33730" dirty="0">
                <a:latin typeface="Calibri"/>
                <a:cs typeface="Calibri"/>
              </a:rPr>
              <a:t>(c</a:t>
            </a:r>
            <a:r>
              <a:rPr sz="2100" b="1" spc="-22" baseline="-33730" dirty="0">
                <a:latin typeface="Calibri"/>
                <a:cs typeface="Calibri"/>
              </a:rPr>
              <a:t>lado</a:t>
            </a:r>
            <a:r>
              <a:rPr sz="2100" b="1" spc="-15" baseline="-33730" dirty="0">
                <a:latin typeface="Calibri"/>
                <a:cs typeface="Calibri"/>
              </a:rPr>
              <a:t>g</a:t>
            </a:r>
            <a:r>
              <a:rPr sz="2100" b="1" baseline="-33730" dirty="0">
                <a:latin typeface="Calibri"/>
                <a:cs typeface="Calibri"/>
              </a:rPr>
              <a:t>e</a:t>
            </a:r>
            <a:r>
              <a:rPr sz="2100" b="1" spc="-7" baseline="-33730" dirty="0">
                <a:latin typeface="Calibri"/>
                <a:cs typeface="Calibri"/>
              </a:rPr>
              <a:t>n</a:t>
            </a:r>
            <a:r>
              <a:rPr sz="2100" b="1" baseline="-33730" dirty="0">
                <a:latin typeface="Calibri"/>
                <a:cs typeface="Calibri"/>
              </a:rPr>
              <a:t>e</a:t>
            </a:r>
            <a:r>
              <a:rPr sz="2100" b="1" spc="-15" baseline="-33730" dirty="0">
                <a:latin typeface="Calibri"/>
                <a:cs typeface="Calibri"/>
              </a:rPr>
              <a:t>tic)</a:t>
            </a:r>
            <a:r>
              <a:rPr sz="2100" b="1" baseline="-33730" dirty="0">
                <a:latin typeface="Calibri"/>
                <a:cs typeface="Calibri"/>
              </a:rPr>
              <a:t>	</a:t>
            </a:r>
            <a:r>
              <a:rPr sz="2100" b="1" spc="-15" baseline="-33730" dirty="0">
                <a:latin typeface="Calibri"/>
                <a:cs typeface="Calibri"/>
              </a:rPr>
              <a:t>distan</a:t>
            </a:r>
            <a:r>
              <a:rPr sz="2100" b="1" spc="-22" baseline="-33730" dirty="0">
                <a:latin typeface="Calibri"/>
                <a:cs typeface="Calibri"/>
              </a:rPr>
              <a:t>c</a:t>
            </a:r>
            <a:r>
              <a:rPr sz="2100" b="1" baseline="-33730" dirty="0">
                <a:latin typeface="Calibri"/>
                <a:cs typeface="Calibri"/>
              </a:rPr>
              <a:t>e^</a:t>
            </a:r>
            <a:r>
              <a:rPr sz="2100" b="1" i="1" baseline="-33730" dirty="0">
                <a:latin typeface="Calibri"/>
                <a:cs typeface="Calibri"/>
              </a:rPr>
              <a:t>x		</a:t>
            </a:r>
            <a:r>
              <a:rPr sz="2100" b="1" spc="-7" baseline="-33730" dirty="0">
                <a:latin typeface="Calibri"/>
                <a:cs typeface="Calibri"/>
              </a:rPr>
              <a:t>littoral</a:t>
            </a:r>
            <a:r>
              <a:rPr sz="2100" b="1" baseline="-33730" dirty="0">
                <a:latin typeface="Calibri"/>
                <a:cs typeface="Calibri"/>
              </a:rPr>
              <a:t>		</a:t>
            </a:r>
            <a:r>
              <a:rPr sz="1400" b="1" spc="-10" dirty="0">
                <a:latin typeface="Calibri"/>
                <a:cs typeface="Calibri"/>
              </a:rPr>
              <a:t>nonlittoral</a:t>
            </a:r>
            <a:r>
              <a:rPr sz="1400" b="1" dirty="0">
                <a:latin typeface="Calibri"/>
                <a:cs typeface="Calibri"/>
              </a:rPr>
              <a:t>		</a:t>
            </a:r>
            <a:r>
              <a:rPr sz="1400" b="1" spc="-10" dirty="0">
                <a:latin typeface="Calibri"/>
                <a:cs typeface="Calibri"/>
              </a:rPr>
              <a:t>nonlittoral</a:t>
            </a:r>
            <a:r>
              <a:rPr sz="1400" b="1" dirty="0">
                <a:latin typeface="Calibri"/>
                <a:cs typeface="Calibri"/>
              </a:rPr>
              <a:t>		</a:t>
            </a:r>
            <a:r>
              <a:rPr sz="1400" b="1" spc="-5" dirty="0">
                <a:latin typeface="Calibri"/>
                <a:cs typeface="Calibri"/>
              </a:rPr>
              <a:t>littoral</a:t>
            </a:r>
            <a:endParaRPr sz="1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855"/>
              </a:spcBef>
              <a:tabLst>
                <a:tab pos="2796540" algn="l"/>
                <a:tab pos="4170679" algn="l"/>
                <a:tab pos="5189220" algn="l"/>
                <a:tab pos="6532880" algn="l"/>
                <a:tab pos="7499984" algn="l"/>
                <a:tab pos="8930640" algn="l"/>
                <a:tab pos="10175240" algn="l"/>
                <a:tab pos="11509375" algn="r"/>
              </a:tabLst>
            </a:pPr>
            <a:r>
              <a:rPr sz="1400" dirty="0">
                <a:latin typeface="Calibri"/>
                <a:cs typeface="Calibri"/>
              </a:rPr>
              <a:t>EC</a:t>
            </a:r>
            <a:r>
              <a:rPr sz="1400" spc="-5" dirty="0">
                <a:latin typeface="Calibri"/>
                <a:cs typeface="Calibri"/>
              </a:rPr>
              <a:t>+J, </a:t>
            </a:r>
            <a:r>
              <a:rPr sz="1400" spc="-10" dirty="0">
                <a:latin typeface="Calibri"/>
                <a:cs typeface="Calibri"/>
              </a:rPr>
              <a:t>with </a:t>
            </a:r>
            <a:r>
              <a:rPr sz="1400" spc="-5" dirty="0">
                <a:latin typeface="Calibri"/>
                <a:cs typeface="Calibri"/>
              </a:rPr>
              <a:t>trait transitions	0.</a:t>
            </a:r>
            <a:r>
              <a:rPr sz="1400" spc="-10" dirty="0">
                <a:latin typeface="Calibri"/>
                <a:cs typeface="Calibri"/>
              </a:rPr>
              <a:t>0017	0	0.012	0	0.0071	0	1 	1</a:t>
            </a:r>
            <a:endParaRPr sz="1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60"/>
              </a:spcBef>
            </a:pPr>
            <a:r>
              <a:rPr sz="1400" dirty="0">
                <a:latin typeface="Calibri"/>
                <a:cs typeface="Calibri"/>
              </a:rPr>
              <a:t>EC</a:t>
            </a:r>
            <a:r>
              <a:rPr sz="1400" spc="-10" dirty="0">
                <a:latin typeface="Calibri"/>
                <a:cs typeface="Calibri"/>
              </a:rPr>
              <a:t>+J+x (distance-based</a:t>
            </a:r>
            <a:endParaRPr sz="1400" dirty="0">
              <a:latin typeface="Calibri"/>
              <a:cs typeface="Calibri"/>
            </a:endParaRPr>
          </a:p>
          <a:p>
            <a:pPr marL="8255">
              <a:lnSpc>
                <a:spcPct val="100000"/>
              </a:lnSpc>
              <a:spcBef>
                <a:spcPts val="70"/>
              </a:spcBef>
              <a:tabLst>
                <a:tab pos="2796540" algn="l"/>
                <a:tab pos="4170679" algn="l"/>
                <a:tab pos="5189220" algn="l"/>
                <a:tab pos="6392545" algn="l"/>
                <a:tab pos="7499984" algn="l"/>
                <a:tab pos="8930640" algn="l"/>
                <a:tab pos="10175240" algn="l"/>
                <a:tab pos="11509375" algn="r"/>
              </a:tabLst>
            </a:pPr>
            <a:r>
              <a:rPr sz="2100" spc="-15" baseline="-35714" dirty="0">
                <a:latin typeface="Calibri"/>
                <a:cs typeface="Calibri"/>
              </a:rPr>
              <a:t>ersal)</a:t>
            </a:r>
            <a:r>
              <a:rPr sz="2100" spc="-7" baseline="-35714" dirty="0">
                <a:latin typeface="Calibri"/>
                <a:cs typeface="Calibri"/>
              </a:rPr>
              <a:t>, </a:t>
            </a:r>
            <a:r>
              <a:rPr sz="2100" spc="-15" baseline="-35714" dirty="0">
                <a:latin typeface="Calibri"/>
                <a:cs typeface="Calibri"/>
              </a:rPr>
              <a:t>with </a:t>
            </a:r>
            <a:r>
              <a:rPr sz="2100" spc="-7" baseline="-35714" dirty="0">
                <a:latin typeface="Calibri"/>
                <a:cs typeface="Calibri"/>
              </a:rPr>
              <a:t>trait transitions	</a:t>
            </a:r>
            <a:r>
              <a:rPr sz="1400" spc="-5" dirty="0">
                <a:latin typeface="Calibri"/>
                <a:cs typeface="Calibri"/>
              </a:rPr>
              <a:t>0.</a:t>
            </a:r>
            <a:r>
              <a:rPr sz="1400" spc="-10" dirty="0">
                <a:latin typeface="Calibri"/>
                <a:cs typeface="Calibri"/>
              </a:rPr>
              <a:t>0244	0	0.174	-1.23	0.0071	0	1 	1</a:t>
            </a:r>
            <a:endParaRPr sz="1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r>
              <a:rPr sz="1400" dirty="0">
                <a:latin typeface="Calibri"/>
                <a:cs typeface="Calibri"/>
              </a:rPr>
              <a:t>EC</a:t>
            </a:r>
            <a:r>
              <a:rPr sz="1400" spc="-5" dirty="0">
                <a:latin typeface="Calibri"/>
                <a:cs typeface="Calibri"/>
              </a:rPr>
              <a:t>+J, </a:t>
            </a:r>
            <a:r>
              <a:rPr sz="1400" spc="-10" dirty="0">
                <a:latin typeface="Calibri"/>
                <a:cs typeface="Calibri"/>
              </a:rPr>
              <a:t>with </a:t>
            </a:r>
            <a:r>
              <a:rPr sz="1400" spc="-5" dirty="0">
                <a:latin typeface="Calibri"/>
                <a:cs typeface="Calibri"/>
              </a:rPr>
              <a:t>trait transitions, and</a:t>
            </a:r>
            <a:endParaRPr sz="1400" dirty="0">
              <a:latin typeface="Calibri"/>
              <a:cs typeface="Calibri"/>
            </a:endParaRPr>
          </a:p>
          <a:p>
            <a:pPr marL="10160">
              <a:lnSpc>
                <a:spcPct val="100000"/>
              </a:lnSpc>
              <a:spcBef>
                <a:spcPts val="70"/>
              </a:spcBef>
              <a:tabLst>
                <a:tab pos="2796540" algn="l"/>
                <a:tab pos="4170679" algn="l"/>
                <a:tab pos="5189220" algn="l"/>
                <a:tab pos="6532880" algn="l"/>
                <a:tab pos="7499984" algn="l"/>
                <a:tab pos="8930640" algn="l"/>
                <a:tab pos="10175240" algn="l"/>
                <a:tab pos="11622405" algn="r"/>
              </a:tabLst>
            </a:pPr>
            <a:r>
              <a:rPr sz="1400" spc="-10" dirty="0">
                <a:latin typeface="Calibri"/>
                <a:cs typeface="Calibri"/>
              </a:rPr>
              <a:t>ersal </a:t>
            </a:r>
            <a:r>
              <a:rPr sz="1400" spc="-15" dirty="0">
                <a:latin typeface="Calibri"/>
                <a:cs typeface="Calibri"/>
              </a:rPr>
              <a:t>multipli</a:t>
            </a:r>
            <a:r>
              <a:rPr sz="1400" spc="-10" dirty="0">
                <a:latin typeface="Calibri"/>
                <a:cs typeface="Calibri"/>
              </a:rPr>
              <a:t>er fo</a:t>
            </a:r>
            <a:r>
              <a:rPr sz="1400" spc="-5" dirty="0">
                <a:latin typeface="Calibri"/>
                <a:cs typeface="Calibri"/>
              </a:rPr>
              <a:t>r trait 'littoral'	</a:t>
            </a:r>
            <a:r>
              <a:rPr sz="2100" spc="-7" baseline="35714" dirty="0">
                <a:latin typeface="Calibri"/>
                <a:cs typeface="Calibri"/>
              </a:rPr>
              <a:t>0.</a:t>
            </a:r>
            <a:r>
              <a:rPr sz="2100" spc="-15" baseline="35714" dirty="0">
                <a:latin typeface="Calibri"/>
                <a:cs typeface="Calibri"/>
              </a:rPr>
              <a:t>0007	0	0.005	0	0.0070	0	1 	8.51</a:t>
            </a:r>
            <a:endParaRPr sz="2100" baseline="35714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r>
              <a:rPr sz="1400" dirty="0">
                <a:latin typeface="Calibri"/>
                <a:cs typeface="Calibri"/>
              </a:rPr>
              <a:t>EC</a:t>
            </a:r>
            <a:r>
              <a:rPr sz="1400" spc="-10" dirty="0">
                <a:latin typeface="Calibri"/>
                <a:cs typeface="Calibri"/>
              </a:rPr>
              <a:t>+J+x (distance-based</a:t>
            </a:r>
            <a:endParaRPr sz="1400" dirty="0">
              <a:latin typeface="Calibri"/>
              <a:cs typeface="Calibri"/>
            </a:endParaRPr>
          </a:p>
          <a:p>
            <a:pPr marL="8255">
              <a:lnSpc>
                <a:spcPct val="100000"/>
              </a:lnSpc>
              <a:spcBef>
                <a:spcPts val="70"/>
              </a:spcBef>
              <a:tabLst>
                <a:tab pos="2796540" algn="l"/>
                <a:tab pos="4170679" algn="l"/>
                <a:tab pos="5189220" algn="l"/>
                <a:tab pos="6392545" algn="l"/>
                <a:tab pos="7499984" algn="l"/>
                <a:tab pos="8930640" algn="l"/>
                <a:tab pos="10175240" algn="l"/>
                <a:tab pos="11622405" algn="r"/>
              </a:tabLst>
            </a:pPr>
            <a:r>
              <a:rPr sz="1400" spc="-10" dirty="0">
                <a:latin typeface="Calibri"/>
                <a:cs typeface="Calibri"/>
              </a:rPr>
              <a:t>ersal)</a:t>
            </a:r>
            <a:r>
              <a:rPr sz="1400" spc="-5" dirty="0">
                <a:latin typeface="Calibri"/>
                <a:cs typeface="Calibri"/>
              </a:rPr>
              <a:t>, </a:t>
            </a:r>
            <a:r>
              <a:rPr sz="1400" spc="-10" dirty="0">
                <a:latin typeface="Calibri"/>
                <a:cs typeface="Calibri"/>
              </a:rPr>
              <a:t>with </a:t>
            </a:r>
            <a:r>
              <a:rPr sz="1400" spc="-5" dirty="0">
                <a:latin typeface="Calibri"/>
                <a:cs typeface="Calibri"/>
              </a:rPr>
              <a:t>trait transitions, and	0.</a:t>
            </a:r>
            <a:r>
              <a:rPr sz="1400" spc="-10" dirty="0">
                <a:latin typeface="Calibri"/>
                <a:cs typeface="Calibri"/>
              </a:rPr>
              <a:t>0125	0	0.095	-1.23	0.0070	0	1 	6.12</a:t>
            </a:r>
            <a:endParaRPr sz="1400" dirty="0">
              <a:latin typeface="Calibri"/>
              <a:cs typeface="Calibri"/>
            </a:endParaRPr>
          </a:p>
          <a:p>
            <a:pPr marL="9525">
              <a:lnSpc>
                <a:spcPct val="100000"/>
              </a:lnSpc>
              <a:spcBef>
                <a:spcPts val="70"/>
              </a:spcBef>
            </a:pPr>
            <a:r>
              <a:rPr sz="1400" spc="-10" dirty="0">
                <a:latin typeface="Calibri"/>
                <a:cs typeface="Calibri"/>
              </a:rPr>
              <a:t>ersal </a:t>
            </a:r>
            <a:r>
              <a:rPr sz="1400" spc="-15" dirty="0">
                <a:latin typeface="Calibri"/>
                <a:cs typeface="Calibri"/>
              </a:rPr>
              <a:t>multipli</a:t>
            </a:r>
            <a:r>
              <a:rPr sz="1400" spc="-10" dirty="0">
                <a:latin typeface="Calibri"/>
                <a:cs typeface="Calibri"/>
              </a:rPr>
              <a:t>er fo</a:t>
            </a:r>
            <a:r>
              <a:rPr sz="1400" spc="-5" dirty="0">
                <a:latin typeface="Calibri"/>
                <a:cs typeface="Calibri"/>
              </a:rPr>
              <a:t>r trait 'littoral'</a:t>
            </a:r>
            <a:endParaRPr sz="1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7"/>
              </a:spcBef>
            </a:pPr>
            <a:endParaRPr sz="1850" dirty="0">
              <a:latin typeface="Times New Roman"/>
              <a:cs typeface="Times New Roman"/>
            </a:endParaRPr>
          </a:p>
          <a:p>
            <a:pPr marR="1147445" algn="r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(p</a:t>
            </a:r>
            <a:r>
              <a:rPr sz="1400" spc="-10" dirty="0">
                <a:latin typeface="Calibri"/>
                <a:cs typeface="Calibri"/>
              </a:rPr>
              <a:t>arameter is fixed to this value)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436533" y="2916383"/>
            <a:ext cx="12128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10" dirty="0">
                <a:latin typeface="Calibri"/>
                <a:cs typeface="Calibri"/>
              </a:rPr>
              <a:t>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3395" y="3714501"/>
            <a:ext cx="31305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10" dirty="0">
                <a:latin typeface="Calibri"/>
                <a:cs typeface="Calibri"/>
              </a:rPr>
              <a:t>1. </a:t>
            </a:r>
            <a:r>
              <a:rPr sz="1400" spc="-10" dirty="0">
                <a:latin typeface="Calibri"/>
                <a:cs typeface="Calibri"/>
              </a:rPr>
              <a:t>D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1708" y="4062900"/>
            <a:ext cx="322580" cy="425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270">
              <a:lnSpc>
                <a:spcPct val="104099"/>
              </a:lnSpc>
            </a:pPr>
            <a:r>
              <a:rPr sz="1400" b="1" spc="-10" dirty="0">
                <a:latin typeface="Calibri"/>
                <a:cs typeface="Calibri"/>
              </a:rPr>
              <a:t>2. </a:t>
            </a:r>
            <a:r>
              <a:rPr sz="1400" spc="-10" dirty="0">
                <a:latin typeface="Calibri"/>
                <a:cs typeface="Calibri"/>
              </a:rPr>
              <a:t>D disp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1708" y="4507286"/>
            <a:ext cx="324485" cy="1092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604" marR="5080" indent="-635" algn="just">
              <a:lnSpc>
                <a:spcPct val="104099"/>
              </a:lnSpc>
              <a:buFont typeface="Calibri"/>
              <a:buAutoNum type="arabicPeriod" startAt="3"/>
              <a:tabLst>
                <a:tab pos="192405" algn="l"/>
              </a:tabLst>
            </a:pPr>
            <a:r>
              <a:rPr sz="1400" dirty="0">
                <a:latin typeface="Calibri"/>
                <a:cs typeface="Calibri"/>
              </a:rPr>
              <a:t>D disp</a:t>
            </a:r>
            <a:endParaRPr sz="1400">
              <a:latin typeface="Calibri"/>
              <a:cs typeface="Calibri"/>
            </a:endParaRPr>
          </a:p>
          <a:p>
            <a:pPr marL="12700" marR="5080" indent="1270" algn="just">
              <a:lnSpc>
                <a:spcPct val="104099"/>
              </a:lnSpc>
              <a:buFont typeface="Calibri"/>
              <a:buAutoNum type="arabicPeriod" startAt="3"/>
              <a:tabLst>
                <a:tab pos="192405" algn="l"/>
              </a:tabLst>
            </a:pPr>
            <a:r>
              <a:rPr sz="1400" dirty="0">
                <a:latin typeface="Calibri"/>
                <a:cs typeface="Calibri"/>
              </a:rPr>
              <a:t>D disp disp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3395" y="1430355"/>
            <a:ext cx="340360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10" dirty="0">
                <a:latin typeface="Calibri"/>
                <a:cs typeface="Calibri"/>
              </a:rPr>
              <a:t>Tabl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4350" y="1652548"/>
            <a:ext cx="322580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disp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2431690" y="1959431"/>
            <a:ext cx="174625" cy="0"/>
          </a:xfrm>
          <a:custGeom>
            <a:avLst/>
            <a:gdLst/>
            <a:ahLst/>
            <a:cxnLst/>
            <a:rect l="l" t="t" r="r" b="b"/>
            <a:pathLst>
              <a:path w="174625">
                <a:moveTo>
                  <a:pt x="0" y="0"/>
                </a:moveTo>
                <a:lnTo>
                  <a:pt x="174341" y="0"/>
                </a:lnTo>
              </a:path>
            </a:pathLst>
          </a:custGeom>
          <a:ln w="439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05877" y="1959431"/>
            <a:ext cx="367665" cy="0"/>
          </a:xfrm>
          <a:custGeom>
            <a:avLst/>
            <a:gdLst/>
            <a:ahLst/>
            <a:cxnLst/>
            <a:rect l="l" t="t" r="r" b="b"/>
            <a:pathLst>
              <a:path w="367665">
                <a:moveTo>
                  <a:pt x="0" y="0"/>
                </a:moveTo>
                <a:lnTo>
                  <a:pt x="367231" y="0"/>
                </a:lnTo>
              </a:path>
            </a:pathLst>
          </a:custGeom>
          <a:ln w="439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2431690" y="2210065"/>
            <a:ext cx="174625" cy="0"/>
          </a:xfrm>
          <a:custGeom>
            <a:avLst/>
            <a:gdLst/>
            <a:ahLst/>
            <a:cxnLst/>
            <a:rect l="l" t="t" r="r" b="b"/>
            <a:pathLst>
              <a:path w="174625">
                <a:moveTo>
                  <a:pt x="0" y="0"/>
                </a:moveTo>
                <a:lnTo>
                  <a:pt x="174341" y="0"/>
                </a:lnTo>
              </a:path>
            </a:pathLst>
          </a:custGeom>
          <a:ln w="29710">
            <a:solidFill>
              <a:srgbClr val="BFBF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2431690" y="2446478"/>
            <a:ext cx="174625" cy="0"/>
          </a:xfrm>
          <a:custGeom>
            <a:avLst/>
            <a:gdLst/>
            <a:ahLst/>
            <a:cxnLst/>
            <a:rect l="l" t="t" r="r" b="b"/>
            <a:pathLst>
              <a:path w="174625">
                <a:moveTo>
                  <a:pt x="0" y="0"/>
                </a:moveTo>
                <a:lnTo>
                  <a:pt x="174341" y="0"/>
                </a:lnTo>
              </a:path>
            </a:pathLst>
          </a:custGeom>
          <a:ln w="29710">
            <a:solidFill>
              <a:srgbClr val="BFBF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2431690" y="3571665"/>
            <a:ext cx="174625" cy="0"/>
          </a:xfrm>
          <a:custGeom>
            <a:avLst/>
            <a:gdLst/>
            <a:ahLst/>
            <a:cxnLst/>
            <a:rect l="l" t="t" r="r" b="b"/>
            <a:pathLst>
              <a:path w="174625">
                <a:moveTo>
                  <a:pt x="0" y="0"/>
                </a:moveTo>
                <a:lnTo>
                  <a:pt x="174341" y="0"/>
                </a:lnTo>
              </a:path>
            </a:pathLst>
          </a:custGeom>
          <a:ln w="439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05877" y="3571665"/>
            <a:ext cx="367665" cy="0"/>
          </a:xfrm>
          <a:custGeom>
            <a:avLst/>
            <a:gdLst/>
            <a:ahLst/>
            <a:cxnLst/>
            <a:rect l="l" t="t" r="r" b="b"/>
            <a:pathLst>
              <a:path w="367665">
                <a:moveTo>
                  <a:pt x="0" y="0"/>
                </a:moveTo>
                <a:lnTo>
                  <a:pt x="367231" y="0"/>
                </a:lnTo>
              </a:path>
            </a:pathLst>
          </a:custGeom>
          <a:ln w="439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2431690" y="4044494"/>
            <a:ext cx="174625" cy="0"/>
          </a:xfrm>
          <a:custGeom>
            <a:avLst/>
            <a:gdLst/>
            <a:ahLst/>
            <a:cxnLst/>
            <a:rect l="l" t="t" r="r" b="b"/>
            <a:pathLst>
              <a:path w="174625">
                <a:moveTo>
                  <a:pt x="0" y="0"/>
                </a:moveTo>
                <a:lnTo>
                  <a:pt x="174342" y="0"/>
                </a:lnTo>
              </a:path>
            </a:pathLst>
          </a:custGeom>
          <a:ln w="14220">
            <a:solidFill>
              <a:srgbClr val="BFBF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05877" y="4044494"/>
            <a:ext cx="367665" cy="0"/>
          </a:xfrm>
          <a:custGeom>
            <a:avLst/>
            <a:gdLst/>
            <a:ahLst/>
            <a:cxnLst/>
            <a:rect l="l" t="t" r="r" b="b"/>
            <a:pathLst>
              <a:path w="367665">
                <a:moveTo>
                  <a:pt x="0" y="0"/>
                </a:moveTo>
                <a:lnTo>
                  <a:pt x="367231" y="0"/>
                </a:lnTo>
              </a:path>
            </a:pathLst>
          </a:custGeom>
          <a:ln w="14220">
            <a:solidFill>
              <a:srgbClr val="BFBF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2431690" y="4488880"/>
            <a:ext cx="174625" cy="0"/>
          </a:xfrm>
          <a:custGeom>
            <a:avLst/>
            <a:gdLst/>
            <a:ahLst/>
            <a:cxnLst/>
            <a:rect l="l" t="t" r="r" b="b"/>
            <a:pathLst>
              <a:path w="174625">
                <a:moveTo>
                  <a:pt x="0" y="0"/>
                </a:moveTo>
                <a:lnTo>
                  <a:pt x="174342" y="0"/>
                </a:lnTo>
              </a:path>
            </a:pathLst>
          </a:custGeom>
          <a:ln w="14220">
            <a:solidFill>
              <a:srgbClr val="BFBF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05877" y="4488880"/>
            <a:ext cx="367665" cy="0"/>
          </a:xfrm>
          <a:custGeom>
            <a:avLst/>
            <a:gdLst/>
            <a:ahLst/>
            <a:cxnLst/>
            <a:rect l="l" t="t" r="r" b="b"/>
            <a:pathLst>
              <a:path w="367665">
                <a:moveTo>
                  <a:pt x="0" y="0"/>
                </a:moveTo>
                <a:lnTo>
                  <a:pt x="367231" y="0"/>
                </a:lnTo>
              </a:path>
            </a:pathLst>
          </a:custGeom>
          <a:ln w="14220">
            <a:solidFill>
              <a:srgbClr val="BFBF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2431690" y="4933266"/>
            <a:ext cx="174625" cy="0"/>
          </a:xfrm>
          <a:custGeom>
            <a:avLst/>
            <a:gdLst/>
            <a:ahLst/>
            <a:cxnLst/>
            <a:rect l="l" t="t" r="r" b="b"/>
            <a:pathLst>
              <a:path w="174625">
                <a:moveTo>
                  <a:pt x="0" y="0"/>
                </a:moveTo>
                <a:lnTo>
                  <a:pt x="174342" y="0"/>
                </a:lnTo>
              </a:path>
            </a:pathLst>
          </a:custGeom>
          <a:ln w="14220">
            <a:solidFill>
              <a:srgbClr val="BFBF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05877" y="4933266"/>
            <a:ext cx="367665" cy="0"/>
          </a:xfrm>
          <a:custGeom>
            <a:avLst/>
            <a:gdLst/>
            <a:ahLst/>
            <a:cxnLst/>
            <a:rect l="l" t="t" r="r" b="b"/>
            <a:pathLst>
              <a:path w="367665">
                <a:moveTo>
                  <a:pt x="0" y="0"/>
                </a:moveTo>
                <a:lnTo>
                  <a:pt x="367231" y="0"/>
                </a:lnTo>
              </a:path>
            </a:pathLst>
          </a:custGeom>
          <a:ln w="14220">
            <a:solidFill>
              <a:srgbClr val="BFBF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2431690" y="5628284"/>
            <a:ext cx="174625" cy="0"/>
          </a:xfrm>
          <a:custGeom>
            <a:avLst/>
            <a:gdLst/>
            <a:ahLst/>
            <a:cxnLst/>
            <a:rect l="l" t="t" r="r" b="b"/>
            <a:pathLst>
              <a:path w="174625">
                <a:moveTo>
                  <a:pt x="0" y="0"/>
                </a:moveTo>
                <a:lnTo>
                  <a:pt x="174341" y="0"/>
                </a:lnTo>
              </a:path>
            </a:pathLst>
          </a:custGeom>
          <a:ln w="439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05877" y="5628284"/>
            <a:ext cx="367665" cy="0"/>
          </a:xfrm>
          <a:custGeom>
            <a:avLst/>
            <a:gdLst/>
            <a:ahLst/>
            <a:cxnLst/>
            <a:rect l="l" t="t" r="r" b="b"/>
            <a:pathLst>
              <a:path w="367665">
                <a:moveTo>
                  <a:pt x="0" y="0"/>
                </a:moveTo>
                <a:lnTo>
                  <a:pt x="367231" y="0"/>
                </a:lnTo>
              </a:path>
            </a:pathLst>
          </a:custGeom>
          <a:ln w="439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1286387" y="4455583"/>
            <a:ext cx="1364615" cy="1259840"/>
          </a:xfrm>
          <a:custGeom>
            <a:avLst/>
            <a:gdLst/>
            <a:ahLst/>
            <a:cxnLst/>
            <a:rect l="l" t="t" r="r" b="b"/>
            <a:pathLst>
              <a:path w="1364615" h="1259839">
                <a:moveTo>
                  <a:pt x="0" y="0"/>
                </a:moveTo>
                <a:lnTo>
                  <a:pt x="1364451" y="0"/>
                </a:lnTo>
                <a:lnTo>
                  <a:pt x="1364451" y="1259787"/>
                </a:lnTo>
                <a:lnTo>
                  <a:pt x="0" y="1259787"/>
                </a:lnTo>
                <a:lnTo>
                  <a:pt x="0" y="0"/>
                </a:lnTo>
                <a:close/>
              </a:path>
            </a:pathLst>
          </a:custGeom>
          <a:ln w="76200">
            <a:solidFill>
              <a:srgbClr val="FF330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03259" y="702210"/>
            <a:ext cx="11998281" cy="88173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73109" y="746660"/>
            <a:ext cx="11858625" cy="8677910"/>
          </a:xfrm>
          <a:custGeom>
            <a:avLst/>
            <a:gdLst/>
            <a:ahLst/>
            <a:cxnLst/>
            <a:rect l="l" t="t" r="r" b="b"/>
            <a:pathLst>
              <a:path w="11858625" h="8677910">
                <a:moveTo>
                  <a:pt x="0" y="0"/>
                </a:moveTo>
                <a:lnTo>
                  <a:pt x="11858581" y="0"/>
                </a:lnTo>
                <a:lnTo>
                  <a:pt x="11858581" y="8677631"/>
                </a:lnTo>
                <a:lnTo>
                  <a:pt x="0" y="8677631"/>
                </a:lnTo>
                <a:lnTo>
                  <a:pt x="0" y="0"/>
                </a:lnTo>
                <a:close/>
              </a:path>
            </a:pathLst>
          </a:custGeom>
          <a:solidFill>
            <a:srgbClr val="51A7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73109" y="746660"/>
            <a:ext cx="11858625" cy="8677910"/>
          </a:xfrm>
          <a:custGeom>
            <a:avLst/>
            <a:gdLst/>
            <a:ahLst/>
            <a:cxnLst/>
            <a:rect l="l" t="t" r="r" b="b"/>
            <a:pathLst>
              <a:path w="11858625" h="8677910">
                <a:moveTo>
                  <a:pt x="0" y="0"/>
                </a:moveTo>
                <a:lnTo>
                  <a:pt x="11858581" y="0"/>
                </a:lnTo>
                <a:lnTo>
                  <a:pt x="11858581" y="8677631"/>
                </a:lnTo>
                <a:lnTo>
                  <a:pt x="0" y="8677631"/>
                </a:lnTo>
                <a:lnTo>
                  <a:pt x="0" y="0"/>
                </a:lnTo>
                <a:close/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927100" y="1346200"/>
            <a:ext cx="7851140" cy="30226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2400"/>
              </a:lnSpc>
            </a:pPr>
            <a:r>
              <a:rPr sz="4800" b="1" i="1" spc="-25" dirty="0">
                <a:latin typeface="Calibri"/>
                <a:cs typeface="Calibri"/>
              </a:rPr>
              <a:t>C</a:t>
            </a:r>
            <a:r>
              <a:rPr sz="4800" b="1" i="1" spc="10" dirty="0">
                <a:latin typeface="Calibri"/>
                <a:cs typeface="Calibri"/>
              </a:rPr>
              <a:t>r</a:t>
            </a:r>
            <a:r>
              <a:rPr sz="4800" b="1" i="1" dirty="0">
                <a:latin typeface="Calibri"/>
                <a:cs typeface="Calibri"/>
              </a:rPr>
              <a:t>y</a:t>
            </a:r>
            <a:r>
              <a:rPr sz="4800" b="1" i="1" spc="-55" dirty="0">
                <a:latin typeface="Calibri"/>
                <a:cs typeface="Calibri"/>
              </a:rPr>
              <a:t>p</a:t>
            </a:r>
            <a:r>
              <a:rPr sz="4800" b="1" i="1" spc="-75" dirty="0">
                <a:latin typeface="Calibri"/>
                <a:cs typeface="Calibri"/>
              </a:rPr>
              <a:t>t</a:t>
            </a:r>
            <a:r>
              <a:rPr sz="4800" b="1" i="1" dirty="0">
                <a:latin typeface="Calibri"/>
                <a:cs typeface="Calibri"/>
              </a:rPr>
              <a:t>o</a:t>
            </a:r>
            <a:r>
              <a:rPr sz="4800" b="1" i="1" spc="-25" dirty="0">
                <a:latin typeface="Calibri"/>
                <a:cs typeface="Calibri"/>
              </a:rPr>
              <a:t>ble</a:t>
            </a:r>
            <a:r>
              <a:rPr sz="4800" b="1" i="1" spc="-5" dirty="0">
                <a:latin typeface="Calibri"/>
                <a:cs typeface="Calibri"/>
              </a:rPr>
              <a:t>p</a:t>
            </a:r>
            <a:r>
              <a:rPr sz="4800" b="1" i="1" dirty="0">
                <a:latin typeface="Calibri"/>
                <a:cs typeface="Calibri"/>
              </a:rPr>
              <a:t>h</a:t>
            </a:r>
            <a:r>
              <a:rPr sz="4800" b="1" i="1" spc="-35" dirty="0">
                <a:latin typeface="Calibri"/>
                <a:cs typeface="Calibri"/>
              </a:rPr>
              <a:t>a</a:t>
            </a:r>
            <a:r>
              <a:rPr sz="4800" b="1" i="1" spc="-20" dirty="0">
                <a:latin typeface="Calibri"/>
                <a:cs typeface="Calibri"/>
              </a:rPr>
              <a:t>r</a:t>
            </a:r>
            <a:r>
              <a:rPr sz="4800" b="1" i="1" dirty="0">
                <a:latin typeface="Calibri"/>
                <a:cs typeface="Calibri"/>
              </a:rPr>
              <a:t>us</a:t>
            </a:r>
            <a:r>
              <a:rPr sz="4800" b="1" i="1" spc="-5" dirty="0">
                <a:latin typeface="Calibri"/>
                <a:cs typeface="Calibri"/>
              </a:rPr>
              <a:t> </a:t>
            </a:r>
            <a:r>
              <a:rPr sz="4800" b="1" spc="-20" dirty="0">
                <a:latin typeface="Calibri"/>
                <a:cs typeface="Calibri"/>
              </a:rPr>
              <a:t>li</a:t>
            </a:r>
            <a:r>
              <a:rPr sz="4800" b="1" spc="-60" dirty="0">
                <a:latin typeface="Calibri"/>
                <a:cs typeface="Calibri"/>
              </a:rPr>
              <a:t>z</a:t>
            </a:r>
            <a:r>
              <a:rPr sz="4800" b="1" dirty="0">
                <a:latin typeface="Calibri"/>
                <a:cs typeface="Calibri"/>
              </a:rPr>
              <a:t>a</a:t>
            </a:r>
            <a:r>
              <a:rPr sz="4800" b="1" spc="-60" dirty="0">
                <a:latin typeface="Calibri"/>
                <a:cs typeface="Calibri"/>
              </a:rPr>
              <a:t>r</a:t>
            </a:r>
            <a:r>
              <a:rPr sz="4800" b="1" spc="-35" dirty="0">
                <a:latin typeface="Calibri"/>
                <a:cs typeface="Calibri"/>
              </a:rPr>
              <a:t>d</a:t>
            </a:r>
            <a:r>
              <a:rPr sz="4800" b="1" spc="-20" dirty="0">
                <a:latin typeface="Calibri"/>
                <a:cs typeface="Calibri"/>
              </a:rPr>
              <a:t>s</a:t>
            </a:r>
            <a:r>
              <a:rPr lang="en-US" sz="4800" b="1" spc="-20" dirty="0">
                <a:latin typeface="Calibri"/>
                <a:cs typeface="Calibri"/>
              </a:rPr>
              <a:t>: littor</a:t>
            </a:r>
            <a:r>
              <a:rPr sz="4800" b="1" spc="-20" dirty="0">
                <a:latin typeface="Calibri"/>
                <a:cs typeface="Calibri"/>
              </a:rPr>
              <a:t>al</a:t>
            </a:r>
            <a:r>
              <a:rPr sz="4800" b="1" dirty="0">
                <a:latin typeface="Calibri"/>
                <a:cs typeface="Calibri"/>
              </a:rPr>
              <a:t> </a:t>
            </a:r>
            <a:r>
              <a:rPr sz="4800" b="1" spc="-30" dirty="0">
                <a:latin typeface="Calibri"/>
                <a:cs typeface="Calibri"/>
              </a:rPr>
              <a:t>sp</a:t>
            </a:r>
            <a:r>
              <a:rPr sz="4800" b="1" spc="-25" dirty="0">
                <a:latin typeface="Calibri"/>
                <a:cs typeface="Calibri"/>
              </a:rPr>
              <a:t>e</a:t>
            </a:r>
            <a:r>
              <a:rPr sz="4800" b="1" dirty="0">
                <a:latin typeface="Calibri"/>
                <a:cs typeface="Calibri"/>
              </a:rPr>
              <a:t>cie</a:t>
            </a:r>
            <a:r>
              <a:rPr sz="4800" b="1" spc="-20" dirty="0">
                <a:latin typeface="Calibri"/>
                <a:cs typeface="Calibri"/>
              </a:rPr>
              <a:t>s</a:t>
            </a:r>
            <a:r>
              <a:rPr sz="4800" b="1" dirty="0">
                <a:latin typeface="Calibri"/>
                <a:cs typeface="Calibri"/>
              </a:rPr>
              <a:t> </a:t>
            </a:r>
            <a:r>
              <a:rPr sz="4800" b="1" spc="-35" dirty="0">
                <a:latin typeface="Calibri"/>
                <a:cs typeface="Calibri"/>
              </a:rPr>
              <a:t>h</a:t>
            </a:r>
            <a:r>
              <a:rPr sz="4800" b="1" spc="-95" dirty="0">
                <a:latin typeface="Calibri"/>
                <a:cs typeface="Calibri"/>
              </a:rPr>
              <a:t>a</a:t>
            </a:r>
            <a:r>
              <a:rPr sz="4800" b="1" spc="-50" dirty="0">
                <a:latin typeface="Calibri"/>
                <a:cs typeface="Calibri"/>
              </a:rPr>
              <a:t>v</a:t>
            </a:r>
            <a:r>
              <a:rPr sz="4800" b="1" dirty="0">
                <a:latin typeface="Calibri"/>
                <a:cs typeface="Calibri"/>
              </a:rPr>
              <a:t>e </a:t>
            </a:r>
            <a:r>
              <a:rPr sz="4800" b="1" spc="-25" dirty="0">
                <a:latin typeface="Calibri"/>
                <a:cs typeface="Calibri"/>
              </a:rPr>
              <a:t>a</a:t>
            </a:r>
            <a:r>
              <a:rPr sz="4800" b="1" spc="-10" dirty="0">
                <a:latin typeface="Calibri"/>
                <a:cs typeface="Calibri"/>
              </a:rPr>
              <a:t> </a:t>
            </a:r>
            <a:r>
              <a:rPr sz="4800" b="1" u="heavy" spc="-30" dirty="0">
                <a:latin typeface="Calibri"/>
                <a:cs typeface="Calibri"/>
              </a:rPr>
              <a:t>dispe</a:t>
            </a:r>
            <a:r>
              <a:rPr sz="4800" b="1" u="heavy" spc="-60" dirty="0">
                <a:latin typeface="Calibri"/>
                <a:cs typeface="Calibri"/>
              </a:rPr>
              <a:t>r</a:t>
            </a:r>
            <a:r>
              <a:rPr sz="4800" b="1" u="heavy" spc="-25" dirty="0">
                <a:latin typeface="Calibri"/>
                <a:cs typeface="Calibri"/>
              </a:rPr>
              <a:t>sal</a:t>
            </a:r>
            <a:r>
              <a:rPr sz="4800" b="1" spc="-20" dirty="0">
                <a:latin typeface="Calibri"/>
                <a:cs typeface="Calibri"/>
              </a:rPr>
              <a:t> </a:t>
            </a:r>
            <a:r>
              <a:rPr sz="4800" b="1" u="heavy" spc="-110" dirty="0">
                <a:latin typeface="Calibri"/>
                <a:cs typeface="Calibri"/>
              </a:rPr>
              <a:t>r</a:t>
            </a:r>
            <a:r>
              <a:rPr sz="4800" b="1" u="heavy" spc="-70" dirty="0">
                <a:latin typeface="Calibri"/>
                <a:cs typeface="Calibri"/>
              </a:rPr>
              <a:t>a</a:t>
            </a:r>
            <a:r>
              <a:rPr sz="4800" b="1" u="heavy" spc="-80" dirty="0">
                <a:latin typeface="Calibri"/>
                <a:cs typeface="Calibri"/>
              </a:rPr>
              <a:t>t</a:t>
            </a:r>
            <a:r>
              <a:rPr sz="4800" b="1" u="heavy" dirty="0">
                <a:latin typeface="Calibri"/>
                <a:cs typeface="Calibri"/>
              </a:rPr>
              <a:t>e </a:t>
            </a:r>
            <a:r>
              <a:rPr sz="4800" b="1" u="heavy" spc="-30" dirty="0">
                <a:latin typeface="Calibri"/>
                <a:cs typeface="Calibri"/>
              </a:rPr>
              <a:t>~6</a:t>
            </a:r>
            <a:r>
              <a:rPr sz="4800" b="1" u="heavy" dirty="0">
                <a:latin typeface="Calibri"/>
                <a:cs typeface="Calibri"/>
              </a:rPr>
              <a:t> </a:t>
            </a:r>
            <a:r>
              <a:rPr lang="en-US" sz="4800" b="1" u="heavy" spc="360" dirty="0">
                <a:latin typeface="Calibri"/>
                <a:cs typeface="Calibri"/>
              </a:rPr>
              <a:t>ti</a:t>
            </a:r>
            <a:r>
              <a:rPr sz="4800" b="1" u="heavy" dirty="0">
                <a:latin typeface="Calibri"/>
                <a:cs typeface="Calibri"/>
              </a:rPr>
              <a:t>me</a:t>
            </a:r>
            <a:r>
              <a:rPr sz="4800" b="1" u="heavy" spc="-20" dirty="0">
                <a:latin typeface="Calibri"/>
                <a:cs typeface="Calibri"/>
              </a:rPr>
              <a:t>s</a:t>
            </a:r>
            <a:r>
              <a:rPr sz="4800" b="1" u="heavy" dirty="0">
                <a:latin typeface="Calibri"/>
                <a:cs typeface="Calibri"/>
              </a:rPr>
              <a:t> </a:t>
            </a:r>
            <a:r>
              <a:rPr sz="4800" b="1" u="heavy" spc="-35" dirty="0">
                <a:latin typeface="Calibri"/>
                <a:cs typeface="Calibri"/>
              </a:rPr>
              <a:t>h</a:t>
            </a:r>
            <a:r>
              <a:rPr sz="4800" b="1" u="heavy" spc="-15" dirty="0">
                <a:latin typeface="Calibri"/>
                <a:cs typeface="Calibri"/>
              </a:rPr>
              <a:t>i</a:t>
            </a:r>
            <a:r>
              <a:rPr sz="4800" b="1" u="heavy" spc="-5" dirty="0">
                <a:latin typeface="Calibri"/>
                <a:cs typeface="Calibri"/>
              </a:rPr>
              <a:t>g</a:t>
            </a:r>
            <a:r>
              <a:rPr sz="4800" b="1" u="heavy" spc="-35" dirty="0">
                <a:latin typeface="Calibri"/>
                <a:cs typeface="Calibri"/>
              </a:rPr>
              <a:t>h</a:t>
            </a:r>
            <a:r>
              <a:rPr sz="4800" b="1" u="heavy" dirty="0">
                <a:latin typeface="Calibri"/>
                <a:cs typeface="Calibri"/>
              </a:rPr>
              <a:t>er</a:t>
            </a:r>
            <a:r>
              <a:rPr sz="4800" b="1" dirty="0">
                <a:latin typeface="Calibri"/>
                <a:cs typeface="Calibri"/>
              </a:rPr>
              <a:t> </a:t>
            </a:r>
            <a:r>
              <a:rPr sz="4800" b="1" spc="-45" dirty="0">
                <a:latin typeface="Calibri"/>
                <a:cs typeface="Calibri"/>
              </a:rPr>
              <a:t>ov</a:t>
            </a:r>
            <a:r>
              <a:rPr sz="4800" b="1" spc="-5" dirty="0">
                <a:latin typeface="Calibri"/>
                <a:cs typeface="Calibri"/>
              </a:rPr>
              <a:t>er </a:t>
            </a:r>
            <a:r>
              <a:rPr sz="4800" b="1" spc="-25" dirty="0">
                <a:latin typeface="Calibri"/>
                <a:cs typeface="Calibri"/>
              </a:rPr>
              <a:t>e</a:t>
            </a:r>
            <a:r>
              <a:rPr sz="4800" b="1" spc="-50" dirty="0">
                <a:latin typeface="Calibri"/>
                <a:cs typeface="Calibri"/>
              </a:rPr>
              <a:t>v</a:t>
            </a:r>
            <a:r>
              <a:rPr sz="4800" b="1" spc="-30" dirty="0">
                <a:latin typeface="Calibri"/>
                <a:cs typeface="Calibri"/>
              </a:rPr>
              <a:t>olu</a:t>
            </a:r>
            <a:r>
              <a:rPr lang="en-US" sz="4800" b="1" spc="365" dirty="0">
                <a:latin typeface="Calibri"/>
                <a:cs typeface="Calibri"/>
              </a:rPr>
              <a:t>ti</a:t>
            </a:r>
            <a:r>
              <a:rPr sz="4800" b="1" spc="-35" dirty="0">
                <a:latin typeface="Calibri"/>
                <a:cs typeface="Calibri"/>
              </a:rPr>
              <a:t>ona</a:t>
            </a:r>
            <a:r>
              <a:rPr sz="4800" b="1" spc="15" dirty="0">
                <a:latin typeface="Calibri"/>
                <a:cs typeface="Calibri"/>
              </a:rPr>
              <a:t>r</a:t>
            </a:r>
            <a:r>
              <a:rPr sz="4800" b="1" spc="-25" dirty="0">
                <a:latin typeface="Calibri"/>
                <a:cs typeface="Calibri"/>
              </a:rPr>
              <a:t>y</a:t>
            </a:r>
            <a:r>
              <a:rPr sz="4800" b="1" dirty="0">
                <a:latin typeface="Calibri"/>
                <a:cs typeface="Calibri"/>
              </a:rPr>
              <a:t> </a:t>
            </a:r>
            <a:r>
              <a:rPr lang="en-US" sz="4800" b="1" spc="365" dirty="0">
                <a:latin typeface="Calibri"/>
                <a:cs typeface="Calibri"/>
              </a:rPr>
              <a:t>ti</a:t>
            </a:r>
            <a:r>
              <a:rPr sz="4800" b="1" dirty="0">
                <a:latin typeface="Calibri"/>
                <a:cs typeface="Calibri"/>
              </a:rPr>
              <a:t>me</a:t>
            </a:r>
            <a:endParaRPr sz="4800" dirty="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321471" y="4787469"/>
            <a:ext cx="6987562" cy="421629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9537700" y="3897622"/>
            <a:ext cx="2650490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b="1" spc="-10" dirty="0">
                <a:latin typeface="Helvetica"/>
                <a:cs typeface="Helvetica"/>
              </a:rPr>
              <a:t>litt</a:t>
            </a:r>
            <a:r>
              <a:rPr sz="3000" b="1" spc="-25" dirty="0">
                <a:latin typeface="Helvetica"/>
                <a:cs typeface="Helvetica"/>
              </a:rPr>
              <a:t>o</a:t>
            </a:r>
            <a:r>
              <a:rPr sz="3000" b="1" dirty="0">
                <a:latin typeface="Helvetica"/>
                <a:cs typeface="Helvetica"/>
              </a:rPr>
              <a:t>ra</a:t>
            </a:r>
            <a:r>
              <a:rPr sz="3000" b="1" spc="-10" dirty="0">
                <a:latin typeface="Helvetica"/>
                <a:cs typeface="Helvetica"/>
              </a:rPr>
              <a:t>l</a:t>
            </a:r>
            <a:r>
              <a:rPr sz="3000" b="1" spc="-5" dirty="0">
                <a:latin typeface="Helvetica"/>
                <a:cs typeface="Helvetica"/>
              </a:rPr>
              <a:t> </a:t>
            </a:r>
            <a:r>
              <a:rPr sz="3000" b="1" spc="-10" dirty="0">
                <a:latin typeface="Helvetica"/>
                <a:cs typeface="Helvetica"/>
              </a:rPr>
              <a:t>(</a:t>
            </a:r>
            <a:r>
              <a:rPr sz="3000" b="1" spc="-25" dirty="0">
                <a:latin typeface="Helvetica"/>
                <a:cs typeface="Helvetica"/>
              </a:rPr>
              <a:t>b</a:t>
            </a:r>
            <a:r>
              <a:rPr sz="3000" b="1" dirty="0">
                <a:latin typeface="Helvetica"/>
                <a:cs typeface="Helvetica"/>
              </a:rPr>
              <a:t>eac</a:t>
            </a:r>
            <a:r>
              <a:rPr sz="3000" b="1" spc="-25" dirty="0">
                <a:latin typeface="Helvetica"/>
                <a:cs typeface="Helvetica"/>
              </a:rPr>
              <a:t>h</a:t>
            </a:r>
            <a:r>
              <a:rPr sz="3000" b="1" dirty="0">
                <a:latin typeface="Helvetica"/>
                <a:cs typeface="Helvetica"/>
              </a:rPr>
              <a:t>)</a:t>
            </a:r>
            <a:endParaRPr sz="3000">
              <a:latin typeface="Helvetica"/>
              <a:cs typeface="Helvetic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537700" y="4354822"/>
            <a:ext cx="1423670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b="1" dirty="0">
                <a:latin typeface="Helvetica"/>
                <a:cs typeface="Helvetica"/>
              </a:rPr>
              <a:t>species</a:t>
            </a:r>
            <a:endParaRPr sz="300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7266" y="1881744"/>
            <a:ext cx="7162800" cy="7162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5400" y="6882213"/>
            <a:ext cx="12558395" cy="282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72400" marR="5080">
              <a:lnSpc>
                <a:spcPts val="2300"/>
              </a:lnSpc>
            </a:pPr>
            <a:r>
              <a:rPr sz="2000" b="1" spc="-10" dirty="0">
                <a:latin typeface="Times New Roman"/>
                <a:cs typeface="Times New Roman"/>
              </a:rPr>
              <a:t>Figu</a:t>
            </a:r>
            <a:r>
              <a:rPr sz="2000" b="1" spc="-50" dirty="0">
                <a:latin typeface="Times New Roman"/>
                <a:cs typeface="Times New Roman"/>
              </a:rPr>
              <a:t>r</a:t>
            </a:r>
            <a:r>
              <a:rPr sz="2000" b="1" spc="-10" dirty="0">
                <a:latin typeface="Times New Roman"/>
                <a:cs typeface="Times New Roman"/>
              </a:rPr>
              <a:t>e</a:t>
            </a:r>
            <a:r>
              <a:rPr sz="2000" b="1" dirty="0">
                <a:latin typeface="Times New Roman"/>
                <a:cs typeface="Times New Roman"/>
              </a:rPr>
              <a:t> 1. </a:t>
            </a: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-10" dirty="0">
                <a:latin typeface="Times New Roman"/>
                <a:cs typeface="Times New Roman"/>
              </a:rPr>
              <a:t>ee</a:t>
            </a:r>
            <a:r>
              <a:rPr sz="2000" dirty="0">
                <a:latin typeface="Times New Roman"/>
                <a:cs typeface="Times New Roman"/>
              </a:rPr>
              <a:t>d </a:t>
            </a:r>
            <a:r>
              <a:rPr sz="2000" spc="-10" dirty="0">
                <a:latin typeface="Times New Roman"/>
                <a:cs typeface="Times New Roman"/>
              </a:rPr>
              <a:t>cone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variabilit</a:t>
            </a:r>
            <a:r>
              <a:rPr sz="2000" dirty="0">
                <a:latin typeface="Times New Roman"/>
                <a:cs typeface="Times New Roman"/>
              </a:rPr>
              <a:t>y </a:t>
            </a:r>
            <a:r>
              <a:rPr sz="2000" spc="-1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n </a:t>
            </a:r>
            <a:r>
              <a:rPr sz="2000" spc="-1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</a:t>
            </a:r>
            <a:r>
              <a:rPr sz="2000" spc="-10" dirty="0">
                <a:latin typeface="Times New Roman"/>
                <a:cs typeface="Times New Roman"/>
              </a:rPr>
              <a:t>odocarpaceae</a:t>
            </a:r>
            <a:r>
              <a:rPr sz="2000" dirty="0">
                <a:latin typeface="Times New Roman"/>
                <a:cs typeface="Times New Roman"/>
              </a:rPr>
              <a:t>. </a:t>
            </a:r>
            <a:r>
              <a:rPr sz="2000" b="1" dirty="0">
                <a:latin typeface="Times New Roman"/>
                <a:cs typeface="Times New Roman"/>
              </a:rPr>
              <a:t>a </a:t>
            </a:r>
            <a:r>
              <a:rPr sz="2000" i="1" spc="-15" dirty="0">
                <a:latin typeface="Times New Roman"/>
                <a:cs typeface="Times New Roman"/>
              </a:rPr>
              <a:t>Podoc</a:t>
            </a:r>
            <a:r>
              <a:rPr sz="2000" i="1" dirty="0">
                <a:latin typeface="Times New Roman"/>
                <a:cs typeface="Times New Roman"/>
              </a:rPr>
              <a:t>arpus m</a:t>
            </a:r>
            <a:r>
              <a:rPr sz="2000" i="1" spc="-10" dirty="0">
                <a:latin typeface="Times New Roman"/>
                <a:cs typeface="Times New Roman"/>
              </a:rPr>
              <a:t>ac</a:t>
            </a:r>
            <a:r>
              <a:rPr sz="2000" i="1" spc="-75" dirty="0">
                <a:latin typeface="Times New Roman"/>
                <a:cs typeface="Times New Roman"/>
              </a:rPr>
              <a:t>r</a:t>
            </a:r>
            <a:r>
              <a:rPr sz="2000" i="1" spc="-10" dirty="0">
                <a:latin typeface="Times New Roman"/>
                <a:cs typeface="Times New Roman"/>
              </a:rPr>
              <a:t>ophyll</a:t>
            </a:r>
            <a:r>
              <a:rPr sz="2000" i="1" dirty="0">
                <a:latin typeface="Times New Roman"/>
                <a:cs typeface="Times New Roman"/>
              </a:rPr>
              <a:t>us</a:t>
            </a:r>
            <a:r>
              <a:rPr sz="2000" dirty="0">
                <a:latin typeface="Times New Roman"/>
                <a:cs typeface="Times New Roman"/>
              </a:rPr>
              <a:t>, </a:t>
            </a:r>
            <a:r>
              <a:rPr sz="2000" b="1" dirty="0">
                <a:latin typeface="Times New Roman"/>
                <a:cs typeface="Times New Roman"/>
              </a:rPr>
              <a:t>b </a:t>
            </a:r>
            <a:r>
              <a:rPr sz="2000" i="1" spc="-15" dirty="0">
                <a:latin typeface="Times New Roman"/>
                <a:cs typeface="Times New Roman"/>
              </a:rPr>
              <a:t>Podoc</a:t>
            </a:r>
            <a:r>
              <a:rPr sz="2000" i="1" dirty="0">
                <a:latin typeface="Times New Roman"/>
                <a:cs typeface="Times New Roman"/>
              </a:rPr>
              <a:t>arpus </a:t>
            </a:r>
            <a:r>
              <a:rPr sz="2000" i="1" spc="-10" dirty="0">
                <a:latin typeface="Times New Roman"/>
                <a:cs typeface="Times New Roman"/>
              </a:rPr>
              <a:t>nivali</a:t>
            </a:r>
            <a:r>
              <a:rPr sz="2000" i="1" dirty="0">
                <a:latin typeface="Times New Roman"/>
                <a:cs typeface="Times New Roman"/>
              </a:rPr>
              <a:t>s</a:t>
            </a:r>
            <a:r>
              <a:rPr sz="2000" dirty="0">
                <a:latin typeface="Times New Roman"/>
                <a:cs typeface="Times New Roman"/>
              </a:rPr>
              <a:t>, </a:t>
            </a:r>
            <a:r>
              <a:rPr sz="2000" b="1" spc="-10" dirty="0">
                <a:latin typeface="Times New Roman"/>
                <a:cs typeface="Times New Roman"/>
              </a:rPr>
              <a:t>c</a:t>
            </a:r>
            <a:r>
              <a:rPr sz="2000" b="1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Phyllocl</a:t>
            </a:r>
            <a:r>
              <a:rPr sz="2000" i="1" dirty="0">
                <a:latin typeface="Times New Roman"/>
                <a:cs typeface="Times New Roman"/>
              </a:rPr>
              <a:t>adus as</a:t>
            </a:r>
            <a:r>
              <a:rPr sz="2000" i="1" spc="-10" dirty="0">
                <a:latin typeface="Times New Roman"/>
                <a:cs typeface="Times New Roman"/>
              </a:rPr>
              <a:t>plenifoli</a:t>
            </a:r>
            <a:r>
              <a:rPr sz="2000" i="1" dirty="0">
                <a:latin typeface="Times New Roman"/>
                <a:cs typeface="Times New Roman"/>
              </a:rPr>
              <a:t>us</a:t>
            </a:r>
            <a:r>
              <a:rPr sz="2000" dirty="0">
                <a:latin typeface="Times New Roman"/>
                <a:cs typeface="Times New Roman"/>
              </a:rPr>
              <a:t>, </a:t>
            </a:r>
            <a:r>
              <a:rPr sz="2000" b="1" dirty="0">
                <a:latin typeface="Times New Roman"/>
                <a:cs typeface="Times New Roman"/>
              </a:rPr>
              <a:t>d </a:t>
            </a:r>
            <a:r>
              <a:rPr sz="2000" i="1" spc="-15" dirty="0">
                <a:latin typeface="Times New Roman"/>
                <a:cs typeface="Times New Roman"/>
              </a:rPr>
              <a:t>Mic</a:t>
            </a:r>
            <a:r>
              <a:rPr sz="2000" i="1" spc="-75" dirty="0">
                <a:latin typeface="Times New Roman"/>
                <a:cs typeface="Times New Roman"/>
              </a:rPr>
              <a:t>r</a:t>
            </a:r>
            <a:r>
              <a:rPr sz="2000" i="1" spc="-10" dirty="0">
                <a:latin typeface="Times New Roman"/>
                <a:cs typeface="Times New Roman"/>
              </a:rPr>
              <a:t>ocachy</a:t>
            </a:r>
            <a:r>
              <a:rPr sz="2000" i="1" dirty="0">
                <a:latin typeface="Times New Roman"/>
                <a:cs typeface="Times New Roman"/>
              </a:rPr>
              <a:t>s </a:t>
            </a:r>
            <a:r>
              <a:rPr sz="2000" i="1" spc="-10" dirty="0">
                <a:latin typeface="Times New Roman"/>
                <a:cs typeface="Times New Roman"/>
              </a:rPr>
              <a:t>tet</a:t>
            </a:r>
            <a:r>
              <a:rPr sz="2000" i="1" dirty="0">
                <a:latin typeface="Times New Roman"/>
                <a:cs typeface="Times New Roman"/>
              </a:rPr>
              <a:t>ragona</a:t>
            </a:r>
            <a:r>
              <a:rPr sz="2000" dirty="0">
                <a:latin typeface="Times New Roman"/>
                <a:cs typeface="Times New Roman"/>
              </a:rPr>
              <a:t>, </a:t>
            </a:r>
            <a:r>
              <a:rPr sz="2000" b="1" spc="-10" dirty="0">
                <a:latin typeface="Times New Roman"/>
                <a:cs typeface="Times New Roman"/>
              </a:rPr>
              <a:t>e </a:t>
            </a:r>
            <a:r>
              <a:rPr sz="2000" i="1" dirty="0">
                <a:latin typeface="Times New Roman"/>
                <a:cs typeface="Times New Roman"/>
              </a:rPr>
              <a:t>D</a:t>
            </a:r>
            <a:r>
              <a:rPr sz="2000" i="1" spc="-10" dirty="0">
                <a:latin typeface="Times New Roman"/>
                <a:cs typeface="Times New Roman"/>
              </a:rPr>
              <a:t>ac</a:t>
            </a:r>
            <a:r>
              <a:rPr sz="2000" i="1" dirty="0">
                <a:latin typeface="Times New Roman"/>
                <a:cs typeface="Times New Roman"/>
              </a:rPr>
              <a:t>r</a:t>
            </a:r>
            <a:r>
              <a:rPr sz="2000" i="1" spc="-10" dirty="0">
                <a:latin typeface="Times New Roman"/>
                <a:cs typeface="Times New Roman"/>
              </a:rPr>
              <a:t>yc</a:t>
            </a:r>
            <a:r>
              <a:rPr sz="2000" i="1" dirty="0">
                <a:latin typeface="Times New Roman"/>
                <a:cs typeface="Times New Roman"/>
              </a:rPr>
              <a:t>arpus </a:t>
            </a:r>
            <a:r>
              <a:rPr sz="2000" i="1" spc="-10" dirty="0">
                <a:latin typeface="Times New Roman"/>
                <a:cs typeface="Times New Roman"/>
              </a:rPr>
              <a:t>dac</a:t>
            </a:r>
            <a:r>
              <a:rPr sz="2000" i="1" dirty="0">
                <a:latin typeface="Times New Roman"/>
                <a:cs typeface="Times New Roman"/>
              </a:rPr>
              <a:t>r</a:t>
            </a:r>
            <a:r>
              <a:rPr sz="2000" i="1" spc="-10" dirty="0">
                <a:latin typeface="Times New Roman"/>
                <a:cs typeface="Times New Roman"/>
              </a:rPr>
              <a:t>ydioide</a:t>
            </a:r>
            <a:r>
              <a:rPr sz="2000" i="1" dirty="0">
                <a:latin typeface="Times New Roman"/>
                <a:cs typeface="Times New Roman"/>
              </a:rPr>
              <a:t>s </a:t>
            </a:r>
            <a:r>
              <a:rPr sz="2000" b="1" dirty="0">
                <a:latin typeface="Times New Roman"/>
                <a:cs typeface="Times New Roman"/>
              </a:rPr>
              <a:t>f </a:t>
            </a:r>
            <a:r>
              <a:rPr sz="2000" i="1" spc="-15" dirty="0">
                <a:latin typeface="Times New Roman"/>
                <a:cs typeface="Times New Roman"/>
              </a:rPr>
              <a:t>Podoc</a:t>
            </a:r>
            <a:r>
              <a:rPr sz="2000" i="1" dirty="0">
                <a:latin typeface="Times New Roman"/>
                <a:cs typeface="Times New Roman"/>
              </a:rPr>
              <a:t>arpus </a:t>
            </a:r>
            <a:r>
              <a:rPr sz="2000" i="1" spc="-10" dirty="0">
                <a:latin typeface="Times New Roman"/>
                <a:cs typeface="Times New Roman"/>
              </a:rPr>
              <a:t>elat</a:t>
            </a:r>
            <a:r>
              <a:rPr sz="2000" i="1" dirty="0">
                <a:latin typeface="Times New Roman"/>
                <a:cs typeface="Times New Roman"/>
              </a:rPr>
              <a:t>us</a:t>
            </a:r>
            <a:r>
              <a:rPr sz="2000" dirty="0">
                <a:latin typeface="Times New Roman"/>
                <a:cs typeface="Times New Roman"/>
              </a:rPr>
              <a:t>, </a:t>
            </a:r>
            <a:r>
              <a:rPr sz="2000" b="1" dirty="0">
                <a:latin typeface="Times New Roman"/>
                <a:cs typeface="Times New Roman"/>
              </a:rPr>
              <a:t>g </a:t>
            </a:r>
            <a:r>
              <a:rPr sz="2000" i="1" spc="-10" dirty="0">
                <a:latin typeface="Times New Roman"/>
                <a:cs typeface="Times New Roman"/>
              </a:rPr>
              <a:t>Af</a:t>
            </a:r>
            <a:r>
              <a:rPr sz="2000" i="1" spc="-75" dirty="0">
                <a:latin typeface="Times New Roman"/>
                <a:cs typeface="Times New Roman"/>
              </a:rPr>
              <a:t>r</a:t>
            </a:r>
            <a:r>
              <a:rPr sz="2000" i="1" spc="-10" dirty="0">
                <a:latin typeface="Times New Roman"/>
                <a:cs typeface="Times New Roman"/>
              </a:rPr>
              <a:t>oc</a:t>
            </a:r>
            <a:r>
              <a:rPr sz="2000" i="1" dirty="0">
                <a:latin typeface="Times New Roman"/>
                <a:cs typeface="Times New Roman"/>
              </a:rPr>
              <a:t>arpus </a:t>
            </a:r>
            <a:r>
              <a:rPr sz="2000" i="1" spc="-10" dirty="0">
                <a:latin typeface="Times New Roman"/>
                <a:cs typeface="Times New Roman"/>
              </a:rPr>
              <a:t>falcat</a:t>
            </a:r>
            <a:r>
              <a:rPr sz="2000" i="1" dirty="0">
                <a:latin typeface="Times New Roman"/>
                <a:cs typeface="Times New Roman"/>
              </a:rPr>
              <a:t>us</a:t>
            </a:r>
            <a:r>
              <a:rPr sz="2000" dirty="0">
                <a:latin typeface="Times New Roman"/>
                <a:cs typeface="Times New Roman"/>
              </a:rPr>
              <a:t>, </a:t>
            </a:r>
            <a:r>
              <a:rPr sz="2000" b="1" dirty="0">
                <a:latin typeface="Times New Roman"/>
                <a:cs typeface="Times New Roman"/>
              </a:rPr>
              <a:t>h </a:t>
            </a:r>
            <a:r>
              <a:rPr sz="2000" i="1" spc="-10" dirty="0">
                <a:latin typeface="Times New Roman"/>
                <a:cs typeface="Times New Roman"/>
              </a:rPr>
              <a:t>Saxegothae</a:t>
            </a:r>
            <a:r>
              <a:rPr sz="2000" i="1" dirty="0">
                <a:latin typeface="Times New Roman"/>
                <a:cs typeface="Times New Roman"/>
              </a:rPr>
              <a:t>a </a:t>
            </a:r>
            <a:r>
              <a:rPr sz="2000" i="1" spc="-10" dirty="0">
                <a:latin typeface="Times New Roman"/>
                <a:cs typeface="Times New Roman"/>
              </a:rPr>
              <a:t>c</a:t>
            </a:r>
            <a:r>
              <a:rPr sz="2000" i="1" dirty="0">
                <a:latin typeface="Times New Roman"/>
                <a:cs typeface="Times New Roman"/>
              </a:rPr>
              <a:t>ons</a:t>
            </a:r>
            <a:r>
              <a:rPr sz="2000" i="1" spc="-10" dirty="0">
                <a:latin typeface="Times New Roman"/>
                <a:cs typeface="Times New Roman"/>
              </a:rPr>
              <a:t>pic</a:t>
            </a:r>
            <a:r>
              <a:rPr sz="2000" i="1" dirty="0">
                <a:latin typeface="Times New Roman"/>
                <a:cs typeface="Times New Roman"/>
              </a:rPr>
              <a:t>ua</a:t>
            </a:r>
            <a:r>
              <a:rPr sz="2000" dirty="0">
                <a:latin typeface="Times New Roman"/>
                <a:cs typeface="Times New Roman"/>
              </a:rPr>
              <a:t>, </a:t>
            </a:r>
            <a:r>
              <a:rPr sz="2000" b="1" spc="-10" dirty="0">
                <a:latin typeface="Times New Roman"/>
                <a:cs typeface="Times New Roman"/>
              </a:rPr>
              <a:t>i</a:t>
            </a:r>
            <a:r>
              <a:rPr sz="2000" b="1" dirty="0">
                <a:latin typeface="Times New Roman"/>
                <a:cs typeface="Times New Roman"/>
              </a:rPr>
              <a:t> </a:t>
            </a:r>
            <a:r>
              <a:rPr sz="2000" i="1" spc="-15" dirty="0">
                <a:latin typeface="Times New Roman"/>
                <a:cs typeface="Times New Roman"/>
              </a:rPr>
              <a:t>P</a:t>
            </a:r>
            <a:r>
              <a:rPr sz="2000" i="1" dirty="0">
                <a:latin typeface="Times New Roman"/>
                <a:cs typeface="Times New Roman"/>
              </a:rPr>
              <a:t>rum</a:t>
            </a:r>
            <a:r>
              <a:rPr sz="2000" i="1" spc="-10" dirty="0">
                <a:latin typeface="Times New Roman"/>
                <a:cs typeface="Times New Roman"/>
              </a:rPr>
              <a:t>nopity</a:t>
            </a:r>
            <a:r>
              <a:rPr sz="2000" i="1" dirty="0">
                <a:latin typeface="Times New Roman"/>
                <a:cs typeface="Times New Roman"/>
              </a:rPr>
              <a:t>s amara</a:t>
            </a:r>
            <a:r>
              <a:rPr sz="200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35" dirty="0">
                <a:latin typeface="Calibri"/>
                <a:cs typeface="Calibri"/>
              </a:rPr>
              <a:t>K</a:t>
            </a:r>
            <a:r>
              <a:rPr sz="1600" spc="-10" dirty="0">
                <a:latin typeface="Calibri"/>
                <a:cs typeface="Calibri"/>
              </a:rPr>
              <a:t>r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20" dirty="0">
                <a:latin typeface="Calibri"/>
                <a:cs typeface="Calibri"/>
              </a:rPr>
              <a:t>s</a:t>
            </a:r>
            <a:r>
              <a:rPr sz="1600" spc="-265" dirty="0">
                <a:latin typeface="Calibri"/>
                <a:cs typeface="Calibri"/>
              </a:rPr>
              <a:t>%</a:t>
            </a:r>
            <a:r>
              <a:rPr sz="1600" dirty="0">
                <a:latin typeface="Calibri"/>
                <a:cs typeface="Calibri"/>
              </a:rPr>
              <a:t>na </a:t>
            </a:r>
            <a:r>
              <a:rPr sz="1600" spc="-10" dirty="0">
                <a:latin typeface="Calibri"/>
                <a:cs typeface="Calibri"/>
              </a:rPr>
              <a:t>K</a:t>
            </a:r>
            <a:r>
              <a:rPr sz="1600" dirty="0">
                <a:latin typeface="Calibri"/>
                <a:cs typeface="Calibri"/>
              </a:rPr>
              <a:t>laus</a:t>
            </a:r>
            <a:r>
              <a:rPr sz="1600" spc="-5" dirty="0">
                <a:latin typeface="Calibri"/>
                <a:cs typeface="Calibri"/>
              </a:rPr>
              <a:t>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N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10" dirty="0">
                <a:latin typeface="Calibri"/>
                <a:cs typeface="Calibri"/>
              </a:rPr>
              <a:t>ck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M</a:t>
            </a:r>
            <a:r>
              <a:rPr sz="1600" spc="-25" dirty="0">
                <a:latin typeface="Calibri"/>
                <a:cs typeface="Calibri"/>
              </a:rPr>
              <a:t>a</a:t>
            </a:r>
            <a:r>
              <a:rPr sz="1600" spc="-10" dirty="0">
                <a:latin typeface="Calibri"/>
                <a:cs typeface="Calibri"/>
              </a:rPr>
              <a:t>tz</a:t>
            </a:r>
            <a:r>
              <a:rPr sz="1600" spc="-65" dirty="0">
                <a:latin typeface="Calibri"/>
                <a:cs typeface="Calibri"/>
              </a:rPr>
              <a:t>k</a:t>
            </a:r>
            <a:r>
              <a:rPr sz="1600" spc="-10" dirty="0">
                <a:latin typeface="Calibri"/>
                <a:cs typeface="Calibri"/>
              </a:rPr>
              <a:t>e,</a:t>
            </a:r>
            <a:r>
              <a:rPr sz="1600" dirty="0">
                <a:latin typeface="Calibri"/>
                <a:cs typeface="Calibri"/>
              </a:rPr>
              <a:t> in </a:t>
            </a:r>
            <a:r>
              <a:rPr sz="1600" spc="-35" dirty="0">
                <a:latin typeface="Calibri"/>
                <a:cs typeface="Calibri"/>
              </a:rPr>
              <a:t>r</a:t>
            </a:r>
            <a:r>
              <a:rPr sz="1600" spc="-20" dirty="0">
                <a:latin typeface="Calibri"/>
                <a:cs typeface="Calibri"/>
              </a:rPr>
              <a:t>e</a:t>
            </a:r>
            <a:r>
              <a:rPr sz="1600" spc="-10" dirty="0">
                <a:latin typeface="Calibri"/>
                <a:cs typeface="Calibri"/>
              </a:rPr>
              <a:t>v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20" dirty="0">
                <a:latin typeface="Calibri"/>
                <a:cs typeface="Calibri"/>
              </a:rPr>
              <a:t>e</a:t>
            </a:r>
            <a:r>
              <a:rPr sz="1600" spc="-15" dirty="0">
                <a:latin typeface="Calibri"/>
                <a:cs typeface="Calibri"/>
              </a:rPr>
              <a:t>w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51025" marR="844550" indent="10160" algn="ctr">
              <a:lnSpc>
                <a:spcPct val="100000"/>
              </a:lnSpc>
            </a:pPr>
            <a:r>
              <a:rPr spc="-245" dirty="0"/>
              <a:t>T</a:t>
            </a:r>
            <a:r>
              <a:rPr dirty="0"/>
              <a:t>ra</a:t>
            </a:r>
            <a:r>
              <a:rPr spc="-20" dirty="0"/>
              <a:t>i</a:t>
            </a:r>
            <a:r>
              <a:rPr spc="-15" dirty="0"/>
              <a:t>t-</a:t>
            </a:r>
            <a:r>
              <a:rPr spc="-30" dirty="0"/>
              <a:t>d</a:t>
            </a:r>
            <a:r>
              <a:rPr dirty="0"/>
              <a:t>e</a:t>
            </a:r>
            <a:r>
              <a:rPr spc="-30" dirty="0"/>
              <a:t>p</a:t>
            </a:r>
            <a:r>
              <a:rPr dirty="0"/>
              <a:t>e</a:t>
            </a:r>
            <a:r>
              <a:rPr spc="-30" dirty="0"/>
              <a:t>nd</a:t>
            </a:r>
            <a:r>
              <a:rPr dirty="0"/>
              <a:t>e</a:t>
            </a:r>
            <a:r>
              <a:rPr spc="-30" dirty="0"/>
              <a:t>n</a:t>
            </a:r>
            <a:r>
              <a:rPr dirty="0"/>
              <a:t>t</a:t>
            </a:r>
            <a:r>
              <a:rPr spc="-5" dirty="0"/>
              <a:t> </a:t>
            </a:r>
            <a:r>
              <a:rPr spc="-25" dirty="0"/>
              <a:t>di</a:t>
            </a:r>
            <a:r>
              <a:rPr dirty="0"/>
              <a:t>s</a:t>
            </a:r>
            <a:r>
              <a:rPr spc="-30" dirty="0"/>
              <a:t>p</a:t>
            </a:r>
            <a:r>
              <a:rPr dirty="0"/>
              <a:t>ersa</a:t>
            </a:r>
            <a:r>
              <a:rPr spc="-15" dirty="0"/>
              <a:t>l</a:t>
            </a:r>
            <a:r>
              <a:rPr spc="-5" dirty="0"/>
              <a:t> </a:t>
            </a:r>
            <a:r>
              <a:rPr spc="-20" dirty="0"/>
              <a:t>i</a:t>
            </a:r>
            <a:r>
              <a:rPr spc="-25" dirty="0"/>
              <a:t>n</a:t>
            </a:r>
            <a:r>
              <a:rPr spc="-20" dirty="0"/>
              <a:t> P</a:t>
            </a:r>
            <a:r>
              <a:rPr spc="-30" dirty="0"/>
              <a:t>odo</a:t>
            </a:r>
            <a:r>
              <a:rPr dirty="0"/>
              <a:t>car</a:t>
            </a:r>
            <a:r>
              <a:rPr spc="-30" dirty="0"/>
              <a:t>p</a:t>
            </a:r>
            <a:r>
              <a:rPr dirty="0"/>
              <a:t>aceae+Ara</a:t>
            </a:r>
            <a:r>
              <a:rPr spc="-30" dirty="0"/>
              <a:t>u</a:t>
            </a:r>
            <a:r>
              <a:rPr dirty="0"/>
              <a:t>car</a:t>
            </a:r>
            <a:r>
              <a:rPr spc="-20" dirty="0"/>
              <a:t>i</a:t>
            </a:r>
            <a:r>
              <a:rPr dirty="0"/>
              <a:t>aceae</a:t>
            </a:r>
          </a:p>
          <a:p>
            <a:pPr marL="1012825" algn="ctr">
              <a:lnSpc>
                <a:spcPct val="100000"/>
              </a:lnSpc>
            </a:pPr>
            <a:r>
              <a:rPr spc="-15" dirty="0"/>
              <a:t>(</a:t>
            </a:r>
            <a:r>
              <a:rPr spc="-30" dirty="0"/>
              <a:t>wi</a:t>
            </a:r>
            <a:r>
              <a:rPr spc="-20" dirty="0"/>
              <a:t>th</a:t>
            </a:r>
            <a:r>
              <a:rPr spc="-5" dirty="0"/>
              <a:t> </a:t>
            </a:r>
            <a:r>
              <a:rPr dirty="0"/>
              <a:t>Kr</a:t>
            </a:r>
            <a:r>
              <a:rPr spc="-20" dirty="0"/>
              <a:t>i</a:t>
            </a:r>
            <a:r>
              <a:rPr dirty="0"/>
              <a:t>s</a:t>
            </a:r>
            <a:r>
              <a:rPr spc="-15" dirty="0"/>
              <a:t>t</a:t>
            </a:r>
            <a:r>
              <a:rPr spc="-25" dirty="0"/>
              <a:t>in</a:t>
            </a:r>
            <a:r>
              <a:rPr dirty="0"/>
              <a:t>a</a:t>
            </a:r>
            <a:r>
              <a:rPr spc="-5" dirty="0"/>
              <a:t> </a:t>
            </a:r>
            <a:r>
              <a:rPr dirty="0"/>
              <a:t>K</a:t>
            </a:r>
            <a:r>
              <a:rPr spc="-20" dirty="0"/>
              <a:t>l</a:t>
            </a:r>
            <a:r>
              <a:rPr dirty="0"/>
              <a:t>a</a:t>
            </a:r>
            <a:r>
              <a:rPr spc="-30" dirty="0"/>
              <a:t>u</a:t>
            </a:r>
            <a:r>
              <a:rPr dirty="0"/>
              <a:t>s</a:t>
            </a:r>
            <a:r>
              <a:rPr spc="-15" dirty="0"/>
              <a:t>,</a:t>
            </a:r>
            <a:r>
              <a:rPr spc="-5" dirty="0"/>
              <a:t> </a:t>
            </a:r>
            <a:r>
              <a:rPr dirty="0"/>
              <a:t>U</a:t>
            </a:r>
            <a:r>
              <a:rPr spc="-25" dirty="0"/>
              <a:t>ni</a:t>
            </a:r>
            <a:r>
              <a:rPr spc="-295" dirty="0"/>
              <a:t>v</a:t>
            </a:r>
            <a:r>
              <a:rPr spc="-15" dirty="0"/>
              <a:t>.</a:t>
            </a:r>
            <a:r>
              <a:rPr spc="-5" dirty="0"/>
              <a:t> </a:t>
            </a:r>
            <a:r>
              <a:rPr spc="-30" dirty="0"/>
              <a:t>o</a:t>
            </a:r>
            <a:r>
              <a:rPr dirty="0"/>
              <a:t>f</a:t>
            </a:r>
            <a:r>
              <a:rPr spc="-5" dirty="0"/>
              <a:t> </a:t>
            </a:r>
            <a:r>
              <a:rPr dirty="0"/>
              <a:t>B</a:t>
            </a:r>
            <a:r>
              <a:rPr spc="-30" dirty="0"/>
              <a:t>o</a:t>
            </a:r>
            <a:r>
              <a:rPr dirty="0"/>
              <a:t>c</a:t>
            </a:r>
            <a:r>
              <a:rPr spc="-30" dirty="0"/>
              <a:t>hu</a:t>
            </a:r>
            <a:r>
              <a:rPr dirty="0"/>
              <a:t>m)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77300" y="2428230"/>
            <a:ext cx="3130550" cy="297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just">
              <a:lnSpc>
                <a:spcPct val="100000"/>
              </a:lnSpc>
            </a:pPr>
            <a:r>
              <a:rPr sz="4000" b="1" u="heavy" dirty="0">
                <a:latin typeface="Helvetica"/>
                <a:cs typeface="Helvetica"/>
              </a:rPr>
              <a:t>Hy</a:t>
            </a:r>
            <a:r>
              <a:rPr sz="4000" b="1" u="heavy" spc="-30" dirty="0">
                <a:latin typeface="Helvetica"/>
                <a:cs typeface="Helvetica"/>
              </a:rPr>
              <a:t>po</a:t>
            </a:r>
            <a:r>
              <a:rPr sz="4000" b="1" u="heavy" spc="-15" dirty="0">
                <a:latin typeface="Helvetica"/>
                <a:cs typeface="Helvetica"/>
              </a:rPr>
              <a:t>t</a:t>
            </a:r>
            <a:r>
              <a:rPr sz="4000" b="1" u="heavy" spc="-30" dirty="0">
                <a:latin typeface="Helvetica"/>
                <a:cs typeface="Helvetica"/>
              </a:rPr>
              <a:t>h</a:t>
            </a:r>
            <a:r>
              <a:rPr sz="4000" b="1" u="heavy" dirty="0">
                <a:latin typeface="Helvetica"/>
                <a:cs typeface="Helvetica"/>
              </a:rPr>
              <a:t>es</a:t>
            </a:r>
            <a:r>
              <a:rPr sz="4000" b="1" u="heavy" spc="-20" dirty="0">
                <a:latin typeface="Helvetica"/>
                <a:cs typeface="Helvetica"/>
              </a:rPr>
              <a:t>i</a:t>
            </a:r>
            <a:r>
              <a:rPr sz="4000" b="1" u="heavy" dirty="0">
                <a:latin typeface="Helvetica"/>
                <a:cs typeface="Helvetica"/>
              </a:rPr>
              <a:t>s</a:t>
            </a:r>
            <a:r>
              <a:rPr sz="4000" b="1" dirty="0">
                <a:latin typeface="Helvetica"/>
                <a:cs typeface="Helvetica"/>
              </a:rPr>
              <a:t>:</a:t>
            </a:r>
            <a:endParaRPr sz="4000">
              <a:latin typeface="Helvetica"/>
              <a:cs typeface="Helvetica"/>
            </a:endParaRPr>
          </a:p>
          <a:p>
            <a:pPr>
              <a:lnSpc>
                <a:spcPct val="100000"/>
              </a:lnSpc>
              <a:spcBef>
                <a:spcPts val="27"/>
              </a:spcBef>
            </a:pPr>
            <a:endParaRPr sz="415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4000" b="1" dirty="0">
                <a:latin typeface="Helvetica"/>
                <a:cs typeface="Helvetica"/>
              </a:rPr>
              <a:t>fleshy</a:t>
            </a:r>
            <a:r>
              <a:rPr sz="4000" b="1" spc="-10" dirty="0">
                <a:latin typeface="Helvetica"/>
                <a:cs typeface="Helvetica"/>
              </a:rPr>
              <a:t> </a:t>
            </a:r>
            <a:r>
              <a:rPr sz="4000" b="1" spc="-5" dirty="0">
                <a:latin typeface="Helvetica"/>
                <a:cs typeface="Helvetica"/>
              </a:rPr>
              <a:t>cones </a:t>
            </a:r>
            <a:r>
              <a:rPr sz="4000" b="1" spc="-25" dirty="0">
                <a:latin typeface="Helvetica"/>
                <a:cs typeface="Helvetica"/>
              </a:rPr>
              <a:t>wil</a:t>
            </a:r>
            <a:r>
              <a:rPr sz="4000" b="1" spc="-15" dirty="0">
                <a:latin typeface="Helvetica"/>
                <a:cs typeface="Helvetica"/>
              </a:rPr>
              <a:t>l</a:t>
            </a:r>
            <a:r>
              <a:rPr sz="4000" b="1" spc="-5" dirty="0">
                <a:latin typeface="Helvetica"/>
                <a:cs typeface="Helvetica"/>
              </a:rPr>
              <a:t> </a:t>
            </a:r>
            <a:r>
              <a:rPr sz="4000" b="1" spc="-30" dirty="0">
                <a:latin typeface="Helvetica"/>
                <a:cs typeface="Helvetica"/>
              </a:rPr>
              <a:t>b</a:t>
            </a:r>
            <a:r>
              <a:rPr sz="4000" b="1" dirty="0">
                <a:latin typeface="Helvetica"/>
                <a:cs typeface="Helvetica"/>
              </a:rPr>
              <a:t>e</a:t>
            </a:r>
            <a:r>
              <a:rPr sz="4000" b="1" spc="-5" dirty="0">
                <a:latin typeface="Helvetica"/>
                <a:cs typeface="Helvetica"/>
              </a:rPr>
              <a:t> </a:t>
            </a:r>
            <a:r>
              <a:rPr sz="4000" b="1" spc="-30" dirty="0">
                <a:latin typeface="Helvetica"/>
                <a:cs typeface="Helvetica"/>
              </a:rPr>
              <a:t>b</a:t>
            </a:r>
            <a:r>
              <a:rPr sz="4000" b="1" dirty="0">
                <a:latin typeface="Helvetica"/>
                <a:cs typeface="Helvetica"/>
              </a:rPr>
              <a:t>etter </a:t>
            </a:r>
            <a:r>
              <a:rPr sz="4000" b="1" spc="-5" dirty="0">
                <a:latin typeface="Helvetica"/>
                <a:cs typeface="Helvetica"/>
              </a:rPr>
              <a:t>dispersers</a:t>
            </a:r>
            <a:endParaRPr sz="4000">
              <a:latin typeface="Helvetica"/>
              <a:cs typeface="Helvetic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67266" y="1881744"/>
            <a:ext cx="7162800" cy="7162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5400" y="6882213"/>
            <a:ext cx="12558395" cy="282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72400" marR="5080">
              <a:lnSpc>
                <a:spcPts val="2300"/>
              </a:lnSpc>
            </a:pPr>
            <a:r>
              <a:rPr sz="2000" b="1" spc="-10" dirty="0">
                <a:latin typeface="Times New Roman"/>
                <a:cs typeface="Times New Roman"/>
              </a:rPr>
              <a:t>Figu</a:t>
            </a:r>
            <a:r>
              <a:rPr sz="2000" b="1" spc="-50" dirty="0">
                <a:latin typeface="Times New Roman"/>
                <a:cs typeface="Times New Roman"/>
              </a:rPr>
              <a:t>r</a:t>
            </a:r>
            <a:r>
              <a:rPr sz="2000" b="1" spc="-10" dirty="0">
                <a:latin typeface="Times New Roman"/>
                <a:cs typeface="Times New Roman"/>
              </a:rPr>
              <a:t>e</a:t>
            </a:r>
            <a:r>
              <a:rPr sz="2000" b="1" dirty="0">
                <a:latin typeface="Times New Roman"/>
                <a:cs typeface="Times New Roman"/>
              </a:rPr>
              <a:t> 1. </a:t>
            </a: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-10" dirty="0">
                <a:latin typeface="Times New Roman"/>
                <a:cs typeface="Times New Roman"/>
              </a:rPr>
              <a:t>ee</a:t>
            </a:r>
            <a:r>
              <a:rPr sz="2000" dirty="0">
                <a:latin typeface="Times New Roman"/>
                <a:cs typeface="Times New Roman"/>
              </a:rPr>
              <a:t>d </a:t>
            </a:r>
            <a:r>
              <a:rPr sz="2000" spc="-10" dirty="0">
                <a:latin typeface="Times New Roman"/>
                <a:cs typeface="Times New Roman"/>
              </a:rPr>
              <a:t>cone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variabilit</a:t>
            </a:r>
            <a:r>
              <a:rPr sz="2000" dirty="0">
                <a:latin typeface="Times New Roman"/>
                <a:cs typeface="Times New Roman"/>
              </a:rPr>
              <a:t>y </a:t>
            </a:r>
            <a:r>
              <a:rPr sz="2000" spc="-1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n </a:t>
            </a:r>
            <a:r>
              <a:rPr sz="2000" spc="-1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</a:t>
            </a:r>
            <a:r>
              <a:rPr sz="2000" spc="-10" dirty="0">
                <a:latin typeface="Times New Roman"/>
                <a:cs typeface="Times New Roman"/>
              </a:rPr>
              <a:t>odocarpaceae</a:t>
            </a:r>
            <a:r>
              <a:rPr sz="2000" dirty="0">
                <a:latin typeface="Times New Roman"/>
                <a:cs typeface="Times New Roman"/>
              </a:rPr>
              <a:t>. </a:t>
            </a:r>
            <a:r>
              <a:rPr sz="2000" b="1" dirty="0">
                <a:latin typeface="Times New Roman"/>
                <a:cs typeface="Times New Roman"/>
              </a:rPr>
              <a:t>a </a:t>
            </a:r>
            <a:r>
              <a:rPr sz="2000" i="1" spc="-15" dirty="0">
                <a:latin typeface="Times New Roman"/>
                <a:cs typeface="Times New Roman"/>
              </a:rPr>
              <a:t>Podoc</a:t>
            </a:r>
            <a:r>
              <a:rPr sz="2000" i="1" dirty="0">
                <a:latin typeface="Times New Roman"/>
                <a:cs typeface="Times New Roman"/>
              </a:rPr>
              <a:t>arpus m</a:t>
            </a:r>
            <a:r>
              <a:rPr sz="2000" i="1" spc="-10" dirty="0">
                <a:latin typeface="Times New Roman"/>
                <a:cs typeface="Times New Roman"/>
              </a:rPr>
              <a:t>ac</a:t>
            </a:r>
            <a:r>
              <a:rPr sz="2000" i="1" spc="-75" dirty="0">
                <a:latin typeface="Times New Roman"/>
                <a:cs typeface="Times New Roman"/>
              </a:rPr>
              <a:t>r</a:t>
            </a:r>
            <a:r>
              <a:rPr sz="2000" i="1" spc="-10" dirty="0">
                <a:latin typeface="Times New Roman"/>
                <a:cs typeface="Times New Roman"/>
              </a:rPr>
              <a:t>ophyll</a:t>
            </a:r>
            <a:r>
              <a:rPr sz="2000" i="1" dirty="0">
                <a:latin typeface="Times New Roman"/>
                <a:cs typeface="Times New Roman"/>
              </a:rPr>
              <a:t>us</a:t>
            </a:r>
            <a:r>
              <a:rPr sz="2000" dirty="0">
                <a:latin typeface="Times New Roman"/>
                <a:cs typeface="Times New Roman"/>
              </a:rPr>
              <a:t>, </a:t>
            </a:r>
            <a:r>
              <a:rPr sz="2000" b="1" dirty="0">
                <a:latin typeface="Times New Roman"/>
                <a:cs typeface="Times New Roman"/>
              </a:rPr>
              <a:t>b </a:t>
            </a:r>
            <a:r>
              <a:rPr sz="2000" i="1" spc="-15" dirty="0">
                <a:latin typeface="Times New Roman"/>
                <a:cs typeface="Times New Roman"/>
              </a:rPr>
              <a:t>Podoc</a:t>
            </a:r>
            <a:r>
              <a:rPr sz="2000" i="1" dirty="0">
                <a:latin typeface="Times New Roman"/>
                <a:cs typeface="Times New Roman"/>
              </a:rPr>
              <a:t>arpus </a:t>
            </a:r>
            <a:r>
              <a:rPr sz="2000" i="1" spc="-10" dirty="0">
                <a:latin typeface="Times New Roman"/>
                <a:cs typeface="Times New Roman"/>
              </a:rPr>
              <a:t>nivali</a:t>
            </a:r>
            <a:r>
              <a:rPr sz="2000" i="1" dirty="0">
                <a:latin typeface="Times New Roman"/>
                <a:cs typeface="Times New Roman"/>
              </a:rPr>
              <a:t>s</a:t>
            </a:r>
            <a:r>
              <a:rPr sz="2000" dirty="0">
                <a:latin typeface="Times New Roman"/>
                <a:cs typeface="Times New Roman"/>
              </a:rPr>
              <a:t>, </a:t>
            </a:r>
            <a:r>
              <a:rPr sz="2000" b="1" spc="-10" dirty="0">
                <a:latin typeface="Times New Roman"/>
                <a:cs typeface="Times New Roman"/>
              </a:rPr>
              <a:t>c</a:t>
            </a:r>
            <a:r>
              <a:rPr sz="2000" b="1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Phyllocl</a:t>
            </a:r>
            <a:r>
              <a:rPr sz="2000" i="1" dirty="0">
                <a:latin typeface="Times New Roman"/>
                <a:cs typeface="Times New Roman"/>
              </a:rPr>
              <a:t>adus as</a:t>
            </a:r>
            <a:r>
              <a:rPr sz="2000" i="1" spc="-10" dirty="0">
                <a:latin typeface="Times New Roman"/>
                <a:cs typeface="Times New Roman"/>
              </a:rPr>
              <a:t>plenifoli</a:t>
            </a:r>
            <a:r>
              <a:rPr sz="2000" i="1" dirty="0">
                <a:latin typeface="Times New Roman"/>
                <a:cs typeface="Times New Roman"/>
              </a:rPr>
              <a:t>us</a:t>
            </a:r>
            <a:r>
              <a:rPr sz="2000" dirty="0">
                <a:latin typeface="Times New Roman"/>
                <a:cs typeface="Times New Roman"/>
              </a:rPr>
              <a:t>, </a:t>
            </a:r>
            <a:r>
              <a:rPr sz="2000" b="1" dirty="0">
                <a:latin typeface="Times New Roman"/>
                <a:cs typeface="Times New Roman"/>
              </a:rPr>
              <a:t>d </a:t>
            </a:r>
            <a:r>
              <a:rPr sz="2000" i="1" spc="-15" dirty="0">
                <a:latin typeface="Times New Roman"/>
                <a:cs typeface="Times New Roman"/>
              </a:rPr>
              <a:t>Mic</a:t>
            </a:r>
            <a:r>
              <a:rPr sz="2000" i="1" spc="-75" dirty="0">
                <a:latin typeface="Times New Roman"/>
                <a:cs typeface="Times New Roman"/>
              </a:rPr>
              <a:t>r</a:t>
            </a:r>
            <a:r>
              <a:rPr sz="2000" i="1" spc="-10" dirty="0">
                <a:latin typeface="Times New Roman"/>
                <a:cs typeface="Times New Roman"/>
              </a:rPr>
              <a:t>ocachy</a:t>
            </a:r>
            <a:r>
              <a:rPr sz="2000" i="1" dirty="0">
                <a:latin typeface="Times New Roman"/>
                <a:cs typeface="Times New Roman"/>
              </a:rPr>
              <a:t>s </a:t>
            </a:r>
            <a:r>
              <a:rPr sz="2000" i="1" spc="-10" dirty="0">
                <a:latin typeface="Times New Roman"/>
                <a:cs typeface="Times New Roman"/>
              </a:rPr>
              <a:t>tet</a:t>
            </a:r>
            <a:r>
              <a:rPr sz="2000" i="1" dirty="0">
                <a:latin typeface="Times New Roman"/>
                <a:cs typeface="Times New Roman"/>
              </a:rPr>
              <a:t>ragona</a:t>
            </a:r>
            <a:r>
              <a:rPr sz="2000" dirty="0">
                <a:latin typeface="Times New Roman"/>
                <a:cs typeface="Times New Roman"/>
              </a:rPr>
              <a:t>, </a:t>
            </a:r>
            <a:r>
              <a:rPr sz="2000" b="1" spc="-10" dirty="0">
                <a:latin typeface="Times New Roman"/>
                <a:cs typeface="Times New Roman"/>
              </a:rPr>
              <a:t>e </a:t>
            </a:r>
            <a:r>
              <a:rPr sz="2000" i="1" dirty="0">
                <a:latin typeface="Times New Roman"/>
                <a:cs typeface="Times New Roman"/>
              </a:rPr>
              <a:t>D</a:t>
            </a:r>
            <a:r>
              <a:rPr sz="2000" i="1" spc="-10" dirty="0">
                <a:latin typeface="Times New Roman"/>
                <a:cs typeface="Times New Roman"/>
              </a:rPr>
              <a:t>ac</a:t>
            </a:r>
            <a:r>
              <a:rPr sz="2000" i="1" dirty="0">
                <a:latin typeface="Times New Roman"/>
                <a:cs typeface="Times New Roman"/>
              </a:rPr>
              <a:t>r</a:t>
            </a:r>
            <a:r>
              <a:rPr sz="2000" i="1" spc="-10" dirty="0">
                <a:latin typeface="Times New Roman"/>
                <a:cs typeface="Times New Roman"/>
              </a:rPr>
              <a:t>yc</a:t>
            </a:r>
            <a:r>
              <a:rPr sz="2000" i="1" dirty="0">
                <a:latin typeface="Times New Roman"/>
                <a:cs typeface="Times New Roman"/>
              </a:rPr>
              <a:t>arpus </a:t>
            </a:r>
            <a:r>
              <a:rPr sz="2000" i="1" spc="-10" dirty="0">
                <a:latin typeface="Times New Roman"/>
                <a:cs typeface="Times New Roman"/>
              </a:rPr>
              <a:t>dac</a:t>
            </a:r>
            <a:r>
              <a:rPr sz="2000" i="1" dirty="0">
                <a:latin typeface="Times New Roman"/>
                <a:cs typeface="Times New Roman"/>
              </a:rPr>
              <a:t>r</a:t>
            </a:r>
            <a:r>
              <a:rPr sz="2000" i="1" spc="-10" dirty="0">
                <a:latin typeface="Times New Roman"/>
                <a:cs typeface="Times New Roman"/>
              </a:rPr>
              <a:t>ydioide</a:t>
            </a:r>
            <a:r>
              <a:rPr sz="2000" i="1" dirty="0">
                <a:latin typeface="Times New Roman"/>
                <a:cs typeface="Times New Roman"/>
              </a:rPr>
              <a:t>s </a:t>
            </a:r>
            <a:r>
              <a:rPr sz="2000" b="1" dirty="0">
                <a:latin typeface="Times New Roman"/>
                <a:cs typeface="Times New Roman"/>
              </a:rPr>
              <a:t>f </a:t>
            </a:r>
            <a:r>
              <a:rPr sz="2000" i="1" spc="-15" dirty="0">
                <a:latin typeface="Times New Roman"/>
                <a:cs typeface="Times New Roman"/>
              </a:rPr>
              <a:t>Podoc</a:t>
            </a:r>
            <a:r>
              <a:rPr sz="2000" i="1" dirty="0">
                <a:latin typeface="Times New Roman"/>
                <a:cs typeface="Times New Roman"/>
              </a:rPr>
              <a:t>arpus </a:t>
            </a:r>
            <a:r>
              <a:rPr sz="2000" i="1" spc="-10" dirty="0">
                <a:latin typeface="Times New Roman"/>
                <a:cs typeface="Times New Roman"/>
              </a:rPr>
              <a:t>elat</a:t>
            </a:r>
            <a:r>
              <a:rPr sz="2000" i="1" dirty="0">
                <a:latin typeface="Times New Roman"/>
                <a:cs typeface="Times New Roman"/>
              </a:rPr>
              <a:t>us</a:t>
            </a:r>
            <a:r>
              <a:rPr sz="2000" dirty="0">
                <a:latin typeface="Times New Roman"/>
                <a:cs typeface="Times New Roman"/>
              </a:rPr>
              <a:t>, </a:t>
            </a:r>
            <a:r>
              <a:rPr sz="2000" b="1" dirty="0">
                <a:latin typeface="Times New Roman"/>
                <a:cs typeface="Times New Roman"/>
              </a:rPr>
              <a:t>g </a:t>
            </a:r>
            <a:r>
              <a:rPr sz="2000" i="1" spc="-10" dirty="0">
                <a:latin typeface="Times New Roman"/>
                <a:cs typeface="Times New Roman"/>
              </a:rPr>
              <a:t>Af</a:t>
            </a:r>
            <a:r>
              <a:rPr sz="2000" i="1" spc="-75" dirty="0">
                <a:latin typeface="Times New Roman"/>
                <a:cs typeface="Times New Roman"/>
              </a:rPr>
              <a:t>r</a:t>
            </a:r>
            <a:r>
              <a:rPr sz="2000" i="1" spc="-10" dirty="0">
                <a:latin typeface="Times New Roman"/>
                <a:cs typeface="Times New Roman"/>
              </a:rPr>
              <a:t>oc</a:t>
            </a:r>
            <a:r>
              <a:rPr sz="2000" i="1" dirty="0">
                <a:latin typeface="Times New Roman"/>
                <a:cs typeface="Times New Roman"/>
              </a:rPr>
              <a:t>arpus </a:t>
            </a:r>
            <a:r>
              <a:rPr sz="2000" i="1" spc="-10" dirty="0">
                <a:latin typeface="Times New Roman"/>
                <a:cs typeface="Times New Roman"/>
              </a:rPr>
              <a:t>falcat</a:t>
            </a:r>
            <a:r>
              <a:rPr sz="2000" i="1" dirty="0">
                <a:latin typeface="Times New Roman"/>
                <a:cs typeface="Times New Roman"/>
              </a:rPr>
              <a:t>us</a:t>
            </a:r>
            <a:r>
              <a:rPr sz="2000" dirty="0">
                <a:latin typeface="Times New Roman"/>
                <a:cs typeface="Times New Roman"/>
              </a:rPr>
              <a:t>, </a:t>
            </a:r>
            <a:r>
              <a:rPr sz="2000" b="1" dirty="0">
                <a:latin typeface="Times New Roman"/>
                <a:cs typeface="Times New Roman"/>
              </a:rPr>
              <a:t>h </a:t>
            </a:r>
            <a:r>
              <a:rPr sz="2000" i="1" spc="-10" dirty="0">
                <a:latin typeface="Times New Roman"/>
                <a:cs typeface="Times New Roman"/>
              </a:rPr>
              <a:t>Saxegothae</a:t>
            </a:r>
            <a:r>
              <a:rPr sz="2000" i="1" dirty="0">
                <a:latin typeface="Times New Roman"/>
                <a:cs typeface="Times New Roman"/>
              </a:rPr>
              <a:t>a </a:t>
            </a:r>
            <a:r>
              <a:rPr sz="2000" i="1" spc="-10" dirty="0">
                <a:latin typeface="Times New Roman"/>
                <a:cs typeface="Times New Roman"/>
              </a:rPr>
              <a:t>c</a:t>
            </a:r>
            <a:r>
              <a:rPr sz="2000" i="1" dirty="0">
                <a:latin typeface="Times New Roman"/>
                <a:cs typeface="Times New Roman"/>
              </a:rPr>
              <a:t>ons</a:t>
            </a:r>
            <a:r>
              <a:rPr sz="2000" i="1" spc="-10" dirty="0">
                <a:latin typeface="Times New Roman"/>
                <a:cs typeface="Times New Roman"/>
              </a:rPr>
              <a:t>pic</a:t>
            </a:r>
            <a:r>
              <a:rPr sz="2000" i="1" dirty="0">
                <a:latin typeface="Times New Roman"/>
                <a:cs typeface="Times New Roman"/>
              </a:rPr>
              <a:t>ua</a:t>
            </a:r>
            <a:r>
              <a:rPr sz="2000" dirty="0">
                <a:latin typeface="Times New Roman"/>
                <a:cs typeface="Times New Roman"/>
              </a:rPr>
              <a:t>, </a:t>
            </a:r>
            <a:r>
              <a:rPr sz="2000" b="1" spc="-10" dirty="0">
                <a:latin typeface="Times New Roman"/>
                <a:cs typeface="Times New Roman"/>
              </a:rPr>
              <a:t>i</a:t>
            </a:r>
            <a:r>
              <a:rPr sz="2000" b="1" dirty="0">
                <a:latin typeface="Times New Roman"/>
                <a:cs typeface="Times New Roman"/>
              </a:rPr>
              <a:t> </a:t>
            </a:r>
            <a:r>
              <a:rPr sz="2000" i="1" spc="-15" dirty="0">
                <a:latin typeface="Times New Roman"/>
                <a:cs typeface="Times New Roman"/>
              </a:rPr>
              <a:t>P</a:t>
            </a:r>
            <a:r>
              <a:rPr sz="2000" i="1" dirty="0">
                <a:latin typeface="Times New Roman"/>
                <a:cs typeface="Times New Roman"/>
              </a:rPr>
              <a:t>rum</a:t>
            </a:r>
            <a:r>
              <a:rPr sz="2000" i="1" spc="-10" dirty="0">
                <a:latin typeface="Times New Roman"/>
                <a:cs typeface="Times New Roman"/>
              </a:rPr>
              <a:t>nopity</a:t>
            </a:r>
            <a:r>
              <a:rPr sz="2000" i="1" dirty="0">
                <a:latin typeface="Times New Roman"/>
                <a:cs typeface="Times New Roman"/>
              </a:rPr>
              <a:t>s amara</a:t>
            </a:r>
            <a:r>
              <a:rPr sz="200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35" dirty="0">
                <a:latin typeface="Calibri"/>
                <a:cs typeface="Calibri"/>
              </a:rPr>
              <a:t>K</a:t>
            </a:r>
            <a:r>
              <a:rPr sz="1600" spc="-10" dirty="0">
                <a:latin typeface="Calibri"/>
                <a:cs typeface="Calibri"/>
              </a:rPr>
              <a:t>r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20" dirty="0">
                <a:latin typeface="Calibri"/>
                <a:cs typeface="Calibri"/>
              </a:rPr>
              <a:t>s</a:t>
            </a:r>
            <a:r>
              <a:rPr sz="1600" spc="-265" dirty="0">
                <a:latin typeface="Calibri"/>
                <a:cs typeface="Calibri"/>
              </a:rPr>
              <a:t>%</a:t>
            </a:r>
            <a:r>
              <a:rPr sz="1600" dirty="0">
                <a:latin typeface="Calibri"/>
                <a:cs typeface="Calibri"/>
              </a:rPr>
              <a:t>na </a:t>
            </a:r>
            <a:r>
              <a:rPr sz="1600" spc="-10" dirty="0">
                <a:latin typeface="Calibri"/>
                <a:cs typeface="Calibri"/>
              </a:rPr>
              <a:t>K</a:t>
            </a:r>
            <a:r>
              <a:rPr sz="1600" dirty="0">
                <a:latin typeface="Calibri"/>
                <a:cs typeface="Calibri"/>
              </a:rPr>
              <a:t>laus</a:t>
            </a:r>
            <a:r>
              <a:rPr sz="1600" spc="-5" dirty="0">
                <a:latin typeface="Calibri"/>
                <a:cs typeface="Calibri"/>
              </a:rPr>
              <a:t>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N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10" dirty="0">
                <a:latin typeface="Calibri"/>
                <a:cs typeface="Calibri"/>
              </a:rPr>
              <a:t>ck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M</a:t>
            </a:r>
            <a:r>
              <a:rPr sz="1600" spc="-25" dirty="0">
                <a:latin typeface="Calibri"/>
                <a:cs typeface="Calibri"/>
              </a:rPr>
              <a:t>a</a:t>
            </a:r>
            <a:r>
              <a:rPr sz="1600" spc="-10" dirty="0">
                <a:latin typeface="Calibri"/>
                <a:cs typeface="Calibri"/>
              </a:rPr>
              <a:t>tz</a:t>
            </a:r>
            <a:r>
              <a:rPr sz="1600" spc="-65" dirty="0">
                <a:latin typeface="Calibri"/>
                <a:cs typeface="Calibri"/>
              </a:rPr>
              <a:t>k</a:t>
            </a:r>
            <a:r>
              <a:rPr sz="1600" spc="-10" dirty="0">
                <a:latin typeface="Calibri"/>
                <a:cs typeface="Calibri"/>
              </a:rPr>
              <a:t>e,</a:t>
            </a:r>
            <a:r>
              <a:rPr sz="1600" dirty="0">
                <a:latin typeface="Calibri"/>
                <a:cs typeface="Calibri"/>
              </a:rPr>
              <a:t> in </a:t>
            </a:r>
            <a:r>
              <a:rPr sz="1600" spc="-35" dirty="0">
                <a:latin typeface="Calibri"/>
                <a:cs typeface="Calibri"/>
              </a:rPr>
              <a:t>r</a:t>
            </a:r>
            <a:r>
              <a:rPr sz="1600" spc="-20" dirty="0">
                <a:latin typeface="Calibri"/>
                <a:cs typeface="Calibri"/>
              </a:rPr>
              <a:t>e</a:t>
            </a:r>
            <a:r>
              <a:rPr sz="1600" spc="-10" dirty="0">
                <a:latin typeface="Calibri"/>
                <a:cs typeface="Calibri"/>
              </a:rPr>
              <a:t>v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20" dirty="0">
                <a:latin typeface="Calibri"/>
                <a:cs typeface="Calibri"/>
              </a:rPr>
              <a:t>e</a:t>
            </a:r>
            <a:r>
              <a:rPr sz="1600" spc="-15" dirty="0">
                <a:latin typeface="Calibri"/>
                <a:cs typeface="Calibri"/>
              </a:rPr>
              <a:t>w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51025" marR="844550" indent="10160" algn="ctr">
              <a:lnSpc>
                <a:spcPct val="100000"/>
              </a:lnSpc>
            </a:pPr>
            <a:r>
              <a:rPr spc="-245" dirty="0"/>
              <a:t>T</a:t>
            </a:r>
            <a:r>
              <a:rPr dirty="0"/>
              <a:t>ra</a:t>
            </a:r>
            <a:r>
              <a:rPr spc="-20" dirty="0"/>
              <a:t>i</a:t>
            </a:r>
            <a:r>
              <a:rPr spc="-15" dirty="0"/>
              <a:t>t-</a:t>
            </a:r>
            <a:r>
              <a:rPr spc="-30" dirty="0"/>
              <a:t>d</a:t>
            </a:r>
            <a:r>
              <a:rPr dirty="0"/>
              <a:t>e</a:t>
            </a:r>
            <a:r>
              <a:rPr spc="-30" dirty="0"/>
              <a:t>p</a:t>
            </a:r>
            <a:r>
              <a:rPr dirty="0"/>
              <a:t>e</a:t>
            </a:r>
            <a:r>
              <a:rPr spc="-30" dirty="0"/>
              <a:t>nd</a:t>
            </a:r>
            <a:r>
              <a:rPr dirty="0"/>
              <a:t>e</a:t>
            </a:r>
            <a:r>
              <a:rPr spc="-30" dirty="0"/>
              <a:t>n</a:t>
            </a:r>
            <a:r>
              <a:rPr dirty="0"/>
              <a:t>t</a:t>
            </a:r>
            <a:r>
              <a:rPr spc="-5" dirty="0"/>
              <a:t> </a:t>
            </a:r>
            <a:r>
              <a:rPr spc="-25" dirty="0"/>
              <a:t>di</a:t>
            </a:r>
            <a:r>
              <a:rPr dirty="0"/>
              <a:t>s</a:t>
            </a:r>
            <a:r>
              <a:rPr spc="-30" dirty="0"/>
              <a:t>p</a:t>
            </a:r>
            <a:r>
              <a:rPr dirty="0"/>
              <a:t>ersa</a:t>
            </a:r>
            <a:r>
              <a:rPr spc="-15" dirty="0"/>
              <a:t>l</a:t>
            </a:r>
            <a:r>
              <a:rPr spc="-5" dirty="0"/>
              <a:t> </a:t>
            </a:r>
            <a:r>
              <a:rPr spc="-20" dirty="0"/>
              <a:t>i</a:t>
            </a:r>
            <a:r>
              <a:rPr spc="-25" dirty="0"/>
              <a:t>n</a:t>
            </a:r>
            <a:r>
              <a:rPr spc="-20" dirty="0"/>
              <a:t> P</a:t>
            </a:r>
            <a:r>
              <a:rPr spc="-30" dirty="0"/>
              <a:t>odo</a:t>
            </a:r>
            <a:r>
              <a:rPr dirty="0"/>
              <a:t>car</a:t>
            </a:r>
            <a:r>
              <a:rPr spc="-30" dirty="0"/>
              <a:t>p</a:t>
            </a:r>
            <a:r>
              <a:rPr dirty="0"/>
              <a:t>aceae+Ara</a:t>
            </a:r>
            <a:r>
              <a:rPr spc="-30" dirty="0"/>
              <a:t>u</a:t>
            </a:r>
            <a:r>
              <a:rPr dirty="0"/>
              <a:t>car</a:t>
            </a:r>
            <a:r>
              <a:rPr spc="-20" dirty="0"/>
              <a:t>i</a:t>
            </a:r>
            <a:r>
              <a:rPr dirty="0"/>
              <a:t>aceae</a:t>
            </a:r>
          </a:p>
          <a:p>
            <a:pPr marL="1012825" algn="ctr">
              <a:lnSpc>
                <a:spcPct val="100000"/>
              </a:lnSpc>
            </a:pPr>
            <a:r>
              <a:rPr spc="-15" dirty="0"/>
              <a:t>(</a:t>
            </a:r>
            <a:r>
              <a:rPr spc="-30" dirty="0"/>
              <a:t>wi</a:t>
            </a:r>
            <a:r>
              <a:rPr spc="-20" dirty="0"/>
              <a:t>th</a:t>
            </a:r>
            <a:r>
              <a:rPr spc="-5" dirty="0"/>
              <a:t> </a:t>
            </a:r>
            <a:r>
              <a:rPr dirty="0"/>
              <a:t>Kr</a:t>
            </a:r>
            <a:r>
              <a:rPr spc="-20" dirty="0"/>
              <a:t>i</a:t>
            </a:r>
            <a:r>
              <a:rPr dirty="0"/>
              <a:t>s</a:t>
            </a:r>
            <a:r>
              <a:rPr spc="-15" dirty="0"/>
              <a:t>t</a:t>
            </a:r>
            <a:r>
              <a:rPr spc="-25" dirty="0"/>
              <a:t>in</a:t>
            </a:r>
            <a:r>
              <a:rPr dirty="0"/>
              <a:t>a</a:t>
            </a:r>
            <a:r>
              <a:rPr spc="-5" dirty="0"/>
              <a:t> </a:t>
            </a:r>
            <a:r>
              <a:rPr dirty="0"/>
              <a:t>K</a:t>
            </a:r>
            <a:r>
              <a:rPr spc="-20" dirty="0"/>
              <a:t>l</a:t>
            </a:r>
            <a:r>
              <a:rPr dirty="0"/>
              <a:t>a</a:t>
            </a:r>
            <a:r>
              <a:rPr spc="-30" dirty="0"/>
              <a:t>u</a:t>
            </a:r>
            <a:r>
              <a:rPr dirty="0"/>
              <a:t>s</a:t>
            </a:r>
            <a:r>
              <a:rPr spc="-15" dirty="0"/>
              <a:t>,</a:t>
            </a:r>
            <a:r>
              <a:rPr spc="-5" dirty="0"/>
              <a:t> </a:t>
            </a:r>
            <a:r>
              <a:rPr dirty="0"/>
              <a:t>U</a:t>
            </a:r>
            <a:r>
              <a:rPr spc="-25" dirty="0"/>
              <a:t>ni</a:t>
            </a:r>
            <a:r>
              <a:rPr spc="-295" dirty="0"/>
              <a:t>v</a:t>
            </a:r>
            <a:r>
              <a:rPr spc="-15" dirty="0"/>
              <a:t>.</a:t>
            </a:r>
            <a:r>
              <a:rPr spc="-5" dirty="0"/>
              <a:t> </a:t>
            </a:r>
            <a:r>
              <a:rPr spc="-30" dirty="0"/>
              <a:t>o</a:t>
            </a:r>
            <a:r>
              <a:rPr dirty="0"/>
              <a:t>f</a:t>
            </a:r>
            <a:r>
              <a:rPr spc="-5" dirty="0"/>
              <a:t> </a:t>
            </a:r>
            <a:r>
              <a:rPr dirty="0"/>
              <a:t>B</a:t>
            </a:r>
            <a:r>
              <a:rPr spc="-30" dirty="0"/>
              <a:t>o</a:t>
            </a:r>
            <a:r>
              <a:rPr dirty="0"/>
              <a:t>c</a:t>
            </a:r>
            <a:r>
              <a:rPr spc="-30" dirty="0"/>
              <a:t>hu</a:t>
            </a:r>
            <a:r>
              <a:rPr dirty="0"/>
              <a:t>m)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22666" y="0"/>
            <a:ext cx="7282133" cy="9753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4038197"/>
            <a:ext cx="9046020" cy="53994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441266" y="4038600"/>
            <a:ext cx="643255" cy="1323975"/>
          </a:xfrm>
          <a:custGeom>
            <a:avLst/>
            <a:gdLst/>
            <a:ahLst/>
            <a:cxnLst/>
            <a:rect l="l" t="t" r="r" b="b"/>
            <a:pathLst>
              <a:path w="643254" h="1323975">
                <a:moveTo>
                  <a:pt x="0" y="0"/>
                </a:moveTo>
                <a:lnTo>
                  <a:pt x="643003" y="0"/>
                </a:lnTo>
                <a:lnTo>
                  <a:pt x="643003" y="1323644"/>
                </a:lnTo>
                <a:lnTo>
                  <a:pt x="0" y="13236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974666" y="6671733"/>
            <a:ext cx="1318895" cy="2658745"/>
          </a:xfrm>
          <a:custGeom>
            <a:avLst/>
            <a:gdLst/>
            <a:ahLst/>
            <a:cxnLst/>
            <a:rect l="l" t="t" r="r" b="b"/>
            <a:pathLst>
              <a:path w="1318895" h="2658745">
                <a:moveTo>
                  <a:pt x="0" y="0"/>
                </a:moveTo>
                <a:lnTo>
                  <a:pt x="1318484" y="0"/>
                </a:lnTo>
                <a:lnTo>
                  <a:pt x="1318484" y="2658665"/>
                </a:lnTo>
                <a:lnTo>
                  <a:pt x="0" y="26586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570600" y="8097505"/>
            <a:ext cx="1318895" cy="1063625"/>
          </a:xfrm>
          <a:custGeom>
            <a:avLst/>
            <a:gdLst/>
            <a:ahLst/>
            <a:cxnLst/>
            <a:rect l="l" t="t" r="r" b="b"/>
            <a:pathLst>
              <a:path w="1318895" h="1063625">
                <a:moveTo>
                  <a:pt x="0" y="0"/>
                </a:moveTo>
                <a:lnTo>
                  <a:pt x="1318484" y="0"/>
                </a:lnTo>
                <a:lnTo>
                  <a:pt x="1318484" y="1063559"/>
                </a:lnTo>
                <a:lnTo>
                  <a:pt x="0" y="10635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19100" y="434330"/>
            <a:ext cx="5460365" cy="11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838200">
              <a:lnSpc>
                <a:spcPct val="100000"/>
              </a:lnSpc>
            </a:pPr>
            <a:r>
              <a:rPr sz="4000" b="1" spc="-30" dirty="0">
                <a:latin typeface="Helvetica"/>
                <a:cs typeface="Helvetica"/>
              </a:rPr>
              <a:t>Podo</a:t>
            </a:r>
            <a:r>
              <a:rPr sz="4000" b="1" dirty="0">
                <a:latin typeface="Helvetica"/>
                <a:cs typeface="Helvetica"/>
              </a:rPr>
              <a:t>car</a:t>
            </a:r>
            <a:r>
              <a:rPr sz="4000" b="1" spc="-30" dirty="0">
                <a:latin typeface="Helvetica"/>
                <a:cs typeface="Helvetica"/>
              </a:rPr>
              <a:t>p</a:t>
            </a:r>
            <a:r>
              <a:rPr sz="4000" b="1" dirty="0">
                <a:latin typeface="Helvetica"/>
                <a:cs typeface="Helvetica"/>
              </a:rPr>
              <a:t>aceae DEC</a:t>
            </a:r>
            <a:r>
              <a:rPr sz="4000" b="1" spc="-30" dirty="0">
                <a:latin typeface="Helvetica"/>
                <a:cs typeface="Helvetica"/>
              </a:rPr>
              <a:t>+</a:t>
            </a:r>
            <a:r>
              <a:rPr sz="4000" b="1" i="1" spc="-15" dirty="0">
                <a:latin typeface="Helvetica"/>
                <a:cs typeface="Helvetica"/>
              </a:rPr>
              <a:t>j</a:t>
            </a:r>
            <a:r>
              <a:rPr sz="4000" b="1" spc="-25" dirty="0">
                <a:latin typeface="Helvetica"/>
                <a:cs typeface="Helvetica"/>
              </a:rPr>
              <a:t>+</a:t>
            </a:r>
            <a:r>
              <a:rPr sz="4000" b="1" i="1" dirty="0">
                <a:latin typeface="Helvetica"/>
                <a:cs typeface="Helvetica"/>
              </a:rPr>
              <a:t>x</a:t>
            </a:r>
            <a:r>
              <a:rPr sz="4000" b="1" dirty="0">
                <a:latin typeface="Helvetica"/>
                <a:cs typeface="Helvetica"/>
              </a:rPr>
              <a:t>+tra</a:t>
            </a:r>
            <a:r>
              <a:rPr sz="4000" b="1" spc="-20" dirty="0">
                <a:latin typeface="Helvetica"/>
                <a:cs typeface="Helvetica"/>
              </a:rPr>
              <a:t>i</a:t>
            </a:r>
            <a:r>
              <a:rPr sz="4000" b="1" dirty="0">
                <a:latin typeface="Helvetica"/>
                <a:cs typeface="Helvetica"/>
              </a:rPr>
              <a:t>ts</a:t>
            </a:r>
            <a:r>
              <a:rPr sz="4000" b="1" spc="-5" dirty="0">
                <a:latin typeface="Helvetica"/>
                <a:cs typeface="Helvetica"/>
              </a:rPr>
              <a:t> </a:t>
            </a:r>
            <a:r>
              <a:rPr sz="4000" b="1" dirty="0">
                <a:latin typeface="Helvetica"/>
                <a:cs typeface="Helvetica"/>
              </a:rPr>
              <a:t>m</a:t>
            </a:r>
            <a:r>
              <a:rPr sz="4000" b="1" spc="-30" dirty="0">
                <a:latin typeface="Helvetica"/>
                <a:cs typeface="Helvetica"/>
              </a:rPr>
              <a:t>od</a:t>
            </a:r>
            <a:r>
              <a:rPr sz="4000" b="1" dirty="0">
                <a:latin typeface="Helvetica"/>
                <a:cs typeface="Helvetica"/>
              </a:rPr>
              <a:t>e</a:t>
            </a:r>
            <a:r>
              <a:rPr sz="4000" b="1" spc="-20" dirty="0">
                <a:latin typeface="Helvetica"/>
                <a:cs typeface="Helvetica"/>
              </a:rPr>
              <a:t>l</a:t>
            </a:r>
            <a:r>
              <a:rPr sz="4000" b="1" dirty="0">
                <a:latin typeface="Helvetica"/>
                <a:cs typeface="Helvetica"/>
              </a:rPr>
              <a:t>:</a:t>
            </a:r>
            <a:endParaRPr sz="4000" dirty="0">
              <a:latin typeface="Helvetica"/>
              <a:cs typeface="Helvetic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22400" y="2263130"/>
            <a:ext cx="3441065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b="1" u="heavy" spc="-25" dirty="0">
                <a:latin typeface="Helvetica"/>
                <a:cs typeface="Helvetica"/>
              </a:rPr>
              <a:t>Biogeography</a:t>
            </a:r>
            <a:endParaRPr sz="4000">
              <a:latin typeface="Helvetica"/>
              <a:cs typeface="Helvetic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400" y="9474200"/>
            <a:ext cx="307276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35" dirty="0">
                <a:latin typeface="Calibri"/>
                <a:cs typeface="Calibri"/>
              </a:rPr>
              <a:t>K</a:t>
            </a:r>
            <a:r>
              <a:rPr sz="1600" spc="-10" dirty="0">
                <a:latin typeface="Calibri"/>
                <a:cs typeface="Calibri"/>
              </a:rPr>
              <a:t>r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20" dirty="0">
                <a:latin typeface="Calibri"/>
                <a:cs typeface="Calibri"/>
              </a:rPr>
              <a:t>s</a:t>
            </a:r>
            <a:r>
              <a:rPr sz="1600" spc="-265" dirty="0">
                <a:latin typeface="Calibri"/>
                <a:cs typeface="Calibri"/>
              </a:rPr>
              <a:t>%</a:t>
            </a:r>
            <a:r>
              <a:rPr sz="1600" dirty="0">
                <a:latin typeface="Calibri"/>
                <a:cs typeface="Calibri"/>
              </a:rPr>
              <a:t>na </a:t>
            </a:r>
            <a:r>
              <a:rPr sz="1600" spc="-10" dirty="0">
                <a:latin typeface="Calibri"/>
                <a:cs typeface="Calibri"/>
              </a:rPr>
              <a:t>K</a:t>
            </a:r>
            <a:r>
              <a:rPr sz="1600" dirty="0">
                <a:latin typeface="Calibri"/>
                <a:cs typeface="Calibri"/>
              </a:rPr>
              <a:t>laus</a:t>
            </a:r>
            <a:r>
              <a:rPr sz="1600" spc="-5" dirty="0">
                <a:latin typeface="Calibri"/>
                <a:cs typeface="Calibri"/>
              </a:rPr>
              <a:t>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N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10" dirty="0">
                <a:latin typeface="Calibri"/>
                <a:cs typeface="Calibri"/>
              </a:rPr>
              <a:t>ck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M</a:t>
            </a:r>
            <a:r>
              <a:rPr sz="1600" spc="-25" dirty="0">
                <a:latin typeface="Calibri"/>
                <a:cs typeface="Calibri"/>
              </a:rPr>
              <a:t>a</a:t>
            </a:r>
            <a:r>
              <a:rPr sz="1600" spc="-10" dirty="0">
                <a:latin typeface="Calibri"/>
                <a:cs typeface="Calibri"/>
              </a:rPr>
              <a:t>tz</a:t>
            </a:r>
            <a:r>
              <a:rPr sz="1600" spc="-65" dirty="0">
                <a:latin typeface="Calibri"/>
                <a:cs typeface="Calibri"/>
              </a:rPr>
              <a:t>k</a:t>
            </a:r>
            <a:r>
              <a:rPr sz="1600" spc="-10" dirty="0">
                <a:latin typeface="Calibri"/>
                <a:cs typeface="Calibri"/>
              </a:rPr>
              <a:t>e,</a:t>
            </a:r>
            <a:r>
              <a:rPr sz="1600" dirty="0">
                <a:latin typeface="Calibri"/>
                <a:cs typeface="Calibri"/>
              </a:rPr>
              <a:t> in </a:t>
            </a:r>
            <a:r>
              <a:rPr sz="1600" spc="-35" dirty="0">
                <a:latin typeface="Calibri"/>
                <a:cs typeface="Calibri"/>
              </a:rPr>
              <a:t>r</a:t>
            </a:r>
            <a:r>
              <a:rPr sz="1600" spc="-20" dirty="0">
                <a:latin typeface="Calibri"/>
                <a:cs typeface="Calibri"/>
              </a:rPr>
              <a:t>e</a:t>
            </a:r>
            <a:r>
              <a:rPr sz="1600" spc="-10" dirty="0">
                <a:latin typeface="Calibri"/>
                <a:cs typeface="Calibri"/>
              </a:rPr>
              <a:t>v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20" dirty="0">
                <a:latin typeface="Calibri"/>
                <a:cs typeface="Calibri"/>
              </a:rPr>
              <a:t>e</a:t>
            </a:r>
            <a:r>
              <a:rPr sz="1600" spc="-15" dirty="0">
                <a:latin typeface="Calibri"/>
                <a:cs typeface="Calibri"/>
              </a:rPr>
              <a:t>w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34062" y="0"/>
            <a:ext cx="7070737" cy="964324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93700" y="447030"/>
            <a:ext cx="5460365" cy="11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838200">
              <a:lnSpc>
                <a:spcPct val="100000"/>
              </a:lnSpc>
            </a:pPr>
            <a:r>
              <a:rPr sz="4000" b="1" spc="-30" dirty="0">
                <a:latin typeface="Helvetica"/>
                <a:cs typeface="Helvetica"/>
              </a:rPr>
              <a:t>Podo</a:t>
            </a:r>
            <a:r>
              <a:rPr sz="4000" b="1" dirty="0">
                <a:latin typeface="Helvetica"/>
                <a:cs typeface="Helvetica"/>
              </a:rPr>
              <a:t>car</a:t>
            </a:r>
            <a:r>
              <a:rPr sz="4000" b="1" spc="-30" dirty="0">
                <a:latin typeface="Helvetica"/>
                <a:cs typeface="Helvetica"/>
              </a:rPr>
              <a:t>p</a:t>
            </a:r>
            <a:r>
              <a:rPr sz="4000" b="1" dirty="0">
                <a:latin typeface="Helvetica"/>
                <a:cs typeface="Helvetica"/>
              </a:rPr>
              <a:t>aceae DEC</a:t>
            </a:r>
            <a:r>
              <a:rPr sz="4000" b="1" spc="-30" dirty="0">
                <a:latin typeface="Helvetica"/>
                <a:cs typeface="Helvetica"/>
              </a:rPr>
              <a:t>+</a:t>
            </a:r>
            <a:r>
              <a:rPr sz="4000" b="1" i="1" spc="-15" dirty="0">
                <a:latin typeface="Helvetica"/>
                <a:cs typeface="Helvetica"/>
              </a:rPr>
              <a:t>j</a:t>
            </a:r>
            <a:r>
              <a:rPr sz="4000" b="1" spc="-25" dirty="0">
                <a:latin typeface="Helvetica"/>
                <a:cs typeface="Helvetica"/>
              </a:rPr>
              <a:t>+</a:t>
            </a:r>
            <a:r>
              <a:rPr sz="4000" b="1" i="1" dirty="0">
                <a:latin typeface="Helvetica"/>
                <a:cs typeface="Helvetica"/>
              </a:rPr>
              <a:t>x</a:t>
            </a:r>
            <a:r>
              <a:rPr sz="4000" b="1" dirty="0">
                <a:latin typeface="Helvetica"/>
                <a:cs typeface="Helvetica"/>
              </a:rPr>
              <a:t>+tra</a:t>
            </a:r>
            <a:r>
              <a:rPr sz="4000" b="1" spc="-20" dirty="0">
                <a:latin typeface="Helvetica"/>
                <a:cs typeface="Helvetica"/>
              </a:rPr>
              <a:t>i</a:t>
            </a:r>
            <a:r>
              <a:rPr sz="4000" b="1" dirty="0">
                <a:latin typeface="Helvetica"/>
                <a:cs typeface="Helvetica"/>
              </a:rPr>
              <a:t>ts</a:t>
            </a:r>
            <a:r>
              <a:rPr sz="4000" b="1" spc="-5" dirty="0">
                <a:latin typeface="Helvetica"/>
                <a:cs typeface="Helvetica"/>
              </a:rPr>
              <a:t> </a:t>
            </a:r>
            <a:r>
              <a:rPr sz="4000" b="1" dirty="0">
                <a:latin typeface="Helvetica"/>
                <a:cs typeface="Helvetica"/>
              </a:rPr>
              <a:t>m</a:t>
            </a:r>
            <a:r>
              <a:rPr sz="4000" b="1" spc="-30" dirty="0">
                <a:latin typeface="Helvetica"/>
                <a:cs typeface="Helvetica"/>
              </a:rPr>
              <a:t>od</a:t>
            </a:r>
            <a:r>
              <a:rPr sz="4000" b="1" dirty="0">
                <a:latin typeface="Helvetica"/>
                <a:cs typeface="Helvetica"/>
              </a:rPr>
              <a:t>e</a:t>
            </a:r>
            <a:r>
              <a:rPr sz="4000" b="1" spc="-20" dirty="0">
                <a:latin typeface="Helvetica"/>
                <a:cs typeface="Helvetica"/>
              </a:rPr>
              <a:t>l</a:t>
            </a:r>
            <a:r>
              <a:rPr sz="4000" b="1" dirty="0">
                <a:latin typeface="Helvetica"/>
                <a:cs typeface="Helvetica"/>
              </a:rPr>
              <a:t>:</a:t>
            </a:r>
            <a:endParaRPr sz="4000">
              <a:latin typeface="Helvetica"/>
              <a:cs typeface="Helvetic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38400" y="2275830"/>
            <a:ext cx="1381125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b="1" u="heavy" spc="-245" dirty="0">
                <a:latin typeface="Helvetica"/>
                <a:cs typeface="Helvetica"/>
              </a:rPr>
              <a:t>T</a:t>
            </a:r>
            <a:r>
              <a:rPr sz="4000" b="1" u="heavy" dirty="0">
                <a:latin typeface="Helvetica"/>
                <a:cs typeface="Helvetica"/>
              </a:rPr>
              <a:t>ra</a:t>
            </a:r>
            <a:r>
              <a:rPr sz="4000" b="1" u="heavy" spc="-20" dirty="0">
                <a:latin typeface="Helvetica"/>
                <a:cs typeface="Helvetica"/>
              </a:rPr>
              <a:t>i</a:t>
            </a:r>
            <a:r>
              <a:rPr sz="4000" b="1" u="heavy" dirty="0">
                <a:latin typeface="Helvetica"/>
                <a:cs typeface="Helvetica"/>
              </a:rPr>
              <a:t>ts</a:t>
            </a:r>
            <a:endParaRPr sz="4000">
              <a:latin typeface="Helvetica"/>
              <a:cs typeface="Helvetic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6013" y="6816163"/>
            <a:ext cx="474806" cy="56279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9881" y="5109914"/>
            <a:ext cx="407127" cy="48257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65200" y="4968230"/>
            <a:ext cx="5466715" cy="2800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2400">
              <a:lnSpc>
                <a:spcPct val="100000"/>
              </a:lnSpc>
            </a:pPr>
            <a:r>
              <a:rPr sz="4000" b="1" spc="-25" dirty="0">
                <a:latin typeface="Helvetica"/>
                <a:cs typeface="Helvetica"/>
              </a:rPr>
              <a:t>Fleshy</a:t>
            </a:r>
            <a:r>
              <a:rPr sz="4000" b="1" spc="-10" dirty="0">
                <a:latin typeface="Helvetica"/>
                <a:cs typeface="Helvetica"/>
              </a:rPr>
              <a:t> </a:t>
            </a:r>
            <a:r>
              <a:rPr sz="4000" b="1" spc="-5" dirty="0">
                <a:latin typeface="Helvetica"/>
                <a:cs typeface="Helvetica"/>
              </a:rPr>
              <a:t>cones</a:t>
            </a:r>
            <a:endParaRPr sz="4000">
              <a:latin typeface="Helvetica"/>
              <a:cs typeface="Helvetica"/>
            </a:endParaRPr>
          </a:p>
          <a:p>
            <a:pPr marL="342900">
              <a:lnSpc>
                <a:spcPct val="100000"/>
              </a:lnSpc>
              <a:spcBef>
                <a:spcPts val="1300"/>
              </a:spcBef>
            </a:pPr>
            <a:r>
              <a:rPr sz="2500" b="1" dirty="0">
                <a:latin typeface="Helvetica"/>
                <a:cs typeface="Helvetica"/>
              </a:rPr>
              <a:t>-</a:t>
            </a:r>
            <a:r>
              <a:rPr sz="2500" b="1" spc="-5" dirty="0">
                <a:latin typeface="Helvetica"/>
                <a:cs typeface="Helvetica"/>
              </a:rPr>
              <a:t> </a:t>
            </a:r>
            <a:r>
              <a:rPr sz="2500" b="1" dirty="0">
                <a:latin typeface="Helvetica"/>
                <a:cs typeface="Helvetica"/>
              </a:rPr>
              <a:t>D</a:t>
            </a:r>
            <a:r>
              <a:rPr sz="2500" b="1" spc="-10" dirty="0">
                <a:latin typeface="Helvetica"/>
                <a:cs typeface="Helvetica"/>
              </a:rPr>
              <a:t>i</a:t>
            </a:r>
            <a:r>
              <a:rPr sz="2500" b="1" dirty="0">
                <a:latin typeface="Helvetica"/>
                <a:cs typeface="Helvetica"/>
              </a:rPr>
              <a:t>s</a:t>
            </a:r>
            <a:r>
              <a:rPr sz="2500" b="1" spc="-20" dirty="0">
                <a:latin typeface="Helvetica"/>
                <a:cs typeface="Helvetica"/>
              </a:rPr>
              <a:t>p</a:t>
            </a:r>
            <a:r>
              <a:rPr sz="2500" b="1" dirty="0">
                <a:latin typeface="Helvetica"/>
                <a:cs typeface="Helvetica"/>
              </a:rPr>
              <a:t>ersa</a:t>
            </a:r>
            <a:r>
              <a:rPr sz="2500" b="1" spc="-10" dirty="0">
                <a:latin typeface="Helvetica"/>
                <a:cs typeface="Helvetica"/>
              </a:rPr>
              <a:t>l</a:t>
            </a:r>
            <a:r>
              <a:rPr sz="2500" b="1" spc="-5" dirty="0">
                <a:latin typeface="Helvetica"/>
                <a:cs typeface="Helvetica"/>
              </a:rPr>
              <a:t> </a:t>
            </a:r>
            <a:r>
              <a:rPr sz="2500" b="1" dirty="0">
                <a:latin typeface="Helvetica"/>
                <a:cs typeface="Helvetica"/>
              </a:rPr>
              <a:t>m</a:t>
            </a:r>
            <a:r>
              <a:rPr sz="2500" b="1" spc="-10" dirty="0">
                <a:latin typeface="Helvetica"/>
                <a:cs typeface="Helvetica"/>
              </a:rPr>
              <a:t>ultipli</a:t>
            </a:r>
            <a:r>
              <a:rPr sz="2500" b="1" dirty="0">
                <a:latin typeface="Helvetica"/>
                <a:cs typeface="Helvetica"/>
              </a:rPr>
              <a:t>er</a:t>
            </a:r>
            <a:r>
              <a:rPr sz="2500" b="1" spc="-5" dirty="0">
                <a:latin typeface="Helvetica"/>
                <a:cs typeface="Helvetica"/>
              </a:rPr>
              <a:t> </a:t>
            </a:r>
            <a:r>
              <a:rPr sz="2500" b="1" i="1" dirty="0">
                <a:latin typeface="Helvetica"/>
                <a:cs typeface="Helvetica"/>
              </a:rPr>
              <a:t>m</a:t>
            </a:r>
            <a:r>
              <a:rPr sz="2475" b="1" spc="7" baseline="-6734" dirty="0">
                <a:latin typeface="Helvetica"/>
                <a:cs typeface="Helvetica"/>
              </a:rPr>
              <a:t>1</a:t>
            </a:r>
            <a:r>
              <a:rPr sz="2475" b="1" baseline="-6734" dirty="0">
                <a:latin typeface="Helvetica"/>
                <a:cs typeface="Helvetica"/>
              </a:rPr>
              <a:t> </a:t>
            </a:r>
            <a:r>
              <a:rPr sz="2475" b="1" spc="-337" baseline="-6734" dirty="0">
                <a:latin typeface="Helvetica"/>
                <a:cs typeface="Helvetica"/>
              </a:rPr>
              <a:t> </a:t>
            </a:r>
            <a:r>
              <a:rPr sz="2500" b="1" spc="-10" dirty="0">
                <a:latin typeface="Helvetica"/>
                <a:cs typeface="Helvetica"/>
              </a:rPr>
              <a:t>fi</a:t>
            </a:r>
            <a:r>
              <a:rPr sz="2500" b="1" dirty="0">
                <a:latin typeface="Helvetica"/>
                <a:cs typeface="Helvetica"/>
              </a:rPr>
              <a:t>xe</a:t>
            </a:r>
            <a:r>
              <a:rPr sz="2500" b="1" spc="-20" dirty="0">
                <a:latin typeface="Helvetica"/>
                <a:cs typeface="Helvetica"/>
              </a:rPr>
              <a:t>d</a:t>
            </a:r>
            <a:r>
              <a:rPr sz="2500" b="1" spc="-5" dirty="0">
                <a:latin typeface="Helvetica"/>
                <a:cs typeface="Helvetica"/>
              </a:rPr>
              <a:t> </a:t>
            </a:r>
            <a:r>
              <a:rPr sz="2500" b="1" spc="-15" dirty="0">
                <a:latin typeface="Helvetica"/>
                <a:cs typeface="Helvetica"/>
              </a:rPr>
              <a:t>to</a:t>
            </a:r>
            <a:r>
              <a:rPr sz="2500" b="1" spc="-5" dirty="0">
                <a:latin typeface="Helvetica"/>
                <a:cs typeface="Helvetica"/>
              </a:rPr>
              <a:t> </a:t>
            </a:r>
            <a:r>
              <a:rPr sz="2500" b="1" dirty="0">
                <a:latin typeface="Helvetica"/>
                <a:cs typeface="Helvetica"/>
              </a:rPr>
              <a:t>1</a:t>
            </a:r>
            <a:endParaRPr sz="2500">
              <a:latin typeface="Helvetica"/>
              <a:cs typeface="Helvetica"/>
            </a:endParaRPr>
          </a:p>
          <a:p>
            <a:pPr>
              <a:lnSpc>
                <a:spcPct val="100000"/>
              </a:lnSpc>
            </a:pP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25"/>
              </a:spcBef>
            </a:pPr>
            <a:r>
              <a:rPr sz="4000" b="1" dirty="0">
                <a:latin typeface="Helvetica"/>
                <a:cs typeface="Helvetica"/>
              </a:rPr>
              <a:t>N</a:t>
            </a:r>
            <a:r>
              <a:rPr sz="4000" b="1" spc="-30" dirty="0">
                <a:latin typeface="Helvetica"/>
                <a:cs typeface="Helvetica"/>
              </a:rPr>
              <a:t>on</a:t>
            </a:r>
            <a:r>
              <a:rPr sz="4000" b="1" spc="-15" dirty="0">
                <a:latin typeface="Helvetica"/>
                <a:cs typeface="Helvetica"/>
              </a:rPr>
              <a:t>-f</a:t>
            </a:r>
            <a:r>
              <a:rPr sz="4000" b="1" spc="-20" dirty="0">
                <a:latin typeface="Helvetica"/>
                <a:cs typeface="Helvetica"/>
              </a:rPr>
              <a:t>l</a:t>
            </a:r>
            <a:r>
              <a:rPr sz="4000" b="1" dirty="0">
                <a:latin typeface="Helvetica"/>
                <a:cs typeface="Helvetica"/>
              </a:rPr>
              <a:t>es</a:t>
            </a:r>
            <a:r>
              <a:rPr sz="4000" b="1" spc="-30" dirty="0">
                <a:latin typeface="Helvetica"/>
                <a:cs typeface="Helvetica"/>
              </a:rPr>
              <a:t>h</a:t>
            </a:r>
            <a:r>
              <a:rPr sz="4000" b="1" dirty="0">
                <a:latin typeface="Helvetica"/>
                <a:cs typeface="Helvetica"/>
              </a:rPr>
              <a:t>y</a:t>
            </a:r>
            <a:r>
              <a:rPr sz="4000" b="1" spc="-5" dirty="0">
                <a:latin typeface="Helvetica"/>
                <a:cs typeface="Helvetica"/>
              </a:rPr>
              <a:t> </a:t>
            </a:r>
            <a:r>
              <a:rPr sz="4000" b="1" dirty="0">
                <a:latin typeface="Helvetica"/>
                <a:cs typeface="Helvetica"/>
              </a:rPr>
              <a:t>c</a:t>
            </a:r>
            <a:r>
              <a:rPr sz="4000" b="1" spc="-30" dirty="0">
                <a:latin typeface="Helvetica"/>
                <a:cs typeface="Helvetica"/>
              </a:rPr>
              <a:t>on</a:t>
            </a:r>
            <a:r>
              <a:rPr sz="4000" b="1" dirty="0">
                <a:latin typeface="Helvetica"/>
                <a:cs typeface="Helvetica"/>
              </a:rPr>
              <a:t>es</a:t>
            </a:r>
            <a:endParaRPr sz="4000">
              <a:latin typeface="Helvetica"/>
              <a:cs typeface="Helvetica"/>
            </a:endParaRPr>
          </a:p>
          <a:p>
            <a:pPr marL="228600">
              <a:lnSpc>
                <a:spcPct val="100000"/>
              </a:lnSpc>
              <a:spcBef>
                <a:spcPts val="800"/>
              </a:spcBef>
            </a:pPr>
            <a:r>
              <a:rPr sz="2500" b="1" dirty="0">
                <a:latin typeface="Helvetica"/>
                <a:cs typeface="Helvetica"/>
              </a:rPr>
              <a:t>-</a:t>
            </a:r>
            <a:r>
              <a:rPr sz="2500" b="1" spc="-5" dirty="0">
                <a:latin typeface="Helvetica"/>
                <a:cs typeface="Helvetica"/>
              </a:rPr>
              <a:t> </a:t>
            </a:r>
            <a:r>
              <a:rPr sz="2500" b="1" dirty="0">
                <a:latin typeface="Helvetica"/>
                <a:cs typeface="Helvetica"/>
              </a:rPr>
              <a:t>D</a:t>
            </a:r>
            <a:r>
              <a:rPr sz="2500" b="1" spc="-10" dirty="0">
                <a:latin typeface="Helvetica"/>
                <a:cs typeface="Helvetica"/>
              </a:rPr>
              <a:t>i</a:t>
            </a:r>
            <a:r>
              <a:rPr sz="2500" b="1" dirty="0">
                <a:latin typeface="Helvetica"/>
                <a:cs typeface="Helvetica"/>
              </a:rPr>
              <a:t>s</a:t>
            </a:r>
            <a:r>
              <a:rPr sz="2500" b="1" spc="-20" dirty="0">
                <a:latin typeface="Helvetica"/>
                <a:cs typeface="Helvetica"/>
              </a:rPr>
              <a:t>p</a:t>
            </a:r>
            <a:r>
              <a:rPr sz="2500" b="1" dirty="0">
                <a:latin typeface="Helvetica"/>
                <a:cs typeface="Helvetica"/>
              </a:rPr>
              <a:t>ersa</a:t>
            </a:r>
            <a:r>
              <a:rPr sz="2500" b="1" spc="-10" dirty="0">
                <a:latin typeface="Helvetica"/>
                <a:cs typeface="Helvetica"/>
              </a:rPr>
              <a:t>l</a:t>
            </a:r>
            <a:r>
              <a:rPr sz="2500" b="1" spc="-5" dirty="0">
                <a:latin typeface="Helvetica"/>
                <a:cs typeface="Helvetica"/>
              </a:rPr>
              <a:t> </a:t>
            </a:r>
            <a:r>
              <a:rPr sz="2500" b="1" dirty="0">
                <a:latin typeface="Helvetica"/>
                <a:cs typeface="Helvetica"/>
              </a:rPr>
              <a:t>m</a:t>
            </a:r>
            <a:r>
              <a:rPr sz="2500" b="1" spc="-10" dirty="0">
                <a:latin typeface="Helvetica"/>
                <a:cs typeface="Helvetica"/>
              </a:rPr>
              <a:t>ultipli</a:t>
            </a:r>
            <a:r>
              <a:rPr sz="2500" b="1" dirty="0">
                <a:latin typeface="Helvetica"/>
                <a:cs typeface="Helvetica"/>
              </a:rPr>
              <a:t>er</a:t>
            </a:r>
            <a:r>
              <a:rPr sz="2500" b="1" spc="-5" dirty="0">
                <a:latin typeface="Helvetica"/>
                <a:cs typeface="Helvetica"/>
              </a:rPr>
              <a:t> </a:t>
            </a:r>
            <a:r>
              <a:rPr sz="2500" b="1" i="1" dirty="0">
                <a:latin typeface="Helvetica"/>
                <a:cs typeface="Helvetica"/>
              </a:rPr>
              <a:t>m</a:t>
            </a:r>
            <a:r>
              <a:rPr sz="2475" b="1" spc="7" baseline="-6734" dirty="0">
                <a:latin typeface="Helvetica"/>
                <a:cs typeface="Helvetica"/>
              </a:rPr>
              <a:t>2</a:t>
            </a:r>
            <a:r>
              <a:rPr sz="2475" b="1" baseline="-6734" dirty="0">
                <a:latin typeface="Helvetica"/>
                <a:cs typeface="Helvetica"/>
              </a:rPr>
              <a:t> </a:t>
            </a:r>
            <a:r>
              <a:rPr sz="2475" b="1" spc="-337" baseline="-6734" dirty="0">
                <a:latin typeface="Helvetica"/>
                <a:cs typeface="Helvetica"/>
              </a:rPr>
              <a:t> </a:t>
            </a:r>
            <a:r>
              <a:rPr sz="2500" b="1" spc="-15" dirty="0">
                <a:latin typeface="Helvetica"/>
                <a:cs typeface="Helvetica"/>
              </a:rPr>
              <a:t>=</a:t>
            </a:r>
            <a:r>
              <a:rPr sz="2500" b="1" spc="-5" dirty="0">
                <a:latin typeface="Helvetica"/>
                <a:cs typeface="Helvetica"/>
              </a:rPr>
              <a:t> </a:t>
            </a:r>
            <a:r>
              <a:rPr sz="2500" b="1" dirty="0">
                <a:latin typeface="Helvetica"/>
                <a:cs typeface="Helvetica"/>
              </a:rPr>
              <a:t>0</a:t>
            </a:r>
            <a:r>
              <a:rPr sz="2500" b="1" spc="-10" dirty="0">
                <a:latin typeface="Helvetica"/>
                <a:cs typeface="Helvetica"/>
              </a:rPr>
              <a:t>.</a:t>
            </a:r>
            <a:r>
              <a:rPr sz="2500" b="1" dirty="0">
                <a:latin typeface="Helvetica"/>
                <a:cs typeface="Helvetica"/>
              </a:rPr>
              <a:t>5</a:t>
            </a:r>
            <a:endParaRPr sz="2500">
              <a:latin typeface="Helvetica"/>
              <a:cs typeface="Helvetic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400" y="9474200"/>
            <a:ext cx="307276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35" dirty="0">
                <a:latin typeface="Calibri"/>
                <a:cs typeface="Calibri"/>
              </a:rPr>
              <a:t>K</a:t>
            </a:r>
            <a:r>
              <a:rPr sz="1600" spc="-10" dirty="0">
                <a:latin typeface="Calibri"/>
                <a:cs typeface="Calibri"/>
              </a:rPr>
              <a:t>r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20" dirty="0">
                <a:latin typeface="Calibri"/>
                <a:cs typeface="Calibri"/>
              </a:rPr>
              <a:t>s</a:t>
            </a:r>
            <a:r>
              <a:rPr sz="1600" spc="-265" dirty="0">
                <a:latin typeface="Calibri"/>
                <a:cs typeface="Calibri"/>
              </a:rPr>
              <a:t>%</a:t>
            </a:r>
            <a:r>
              <a:rPr sz="1600" dirty="0">
                <a:latin typeface="Calibri"/>
                <a:cs typeface="Calibri"/>
              </a:rPr>
              <a:t>na </a:t>
            </a:r>
            <a:r>
              <a:rPr sz="1600" spc="-10" dirty="0">
                <a:latin typeface="Calibri"/>
                <a:cs typeface="Calibri"/>
              </a:rPr>
              <a:t>K</a:t>
            </a:r>
            <a:r>
              <a:rPr sz="1600" dirty="0">
                <a:latin typeface="Calibri"/>
                <a:cs typeface="Calibri"/>
              </a:rPr>
              <a:t>laus</a:t>
            </a:r>
            <a:r>
              <a:rPr sz="1600" spc="-5" dirty="0">
                <a:latin typeface="Calibri"/>
                <a:cs typeface="Calibri"/>
              </a:rPr>
              <a:t>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N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10" dirty="0">
                <a:latin typeface="Calibri"/>
                <a:cs typeface="Calibri"/>
              </a:rPr>
              <a:t>ck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M</a:t>
            </a:r>
            <a:r>
              <a:rPr sz="1600" spc="-25" dirty="0">
                <a:latin typeface="Calibri"/>
                <a:cs typeface="Calibri"/>
              </a:rPr>
              <a:t>a</a:t>
            </a:r>
            <a:r>
              <a:rPr sz="1600" spc="-10" dirty="0">
                <a:latin typeface="Calibri"/>
                <a:cs typeface="Calibri"/>
              </a:rPr>
              <a:t>tz</a:t>
            </a:r>
            <a:r>
              <a:rPr sz="1600" spc="-65" dirty="0">
                <a:latin typeface="Calibri"/>
                <a:cs typeface="Calibri"/>
              </a:rPr>
              <a:t>k</a:t>
            </a:r>
            <a:r>
              <a:rPr sz="1600" spc="-10" dirty="0">
                <a:latin typeface="Calibri"/>
                <a:cs typeface="Calibri"/>
              </a:rPr>
              <a:t>e,</a:t>
            </a:r>
            <a:r>
              <a:rPr sz="1600" dirty="0">
                <a:latin typeface="Calibri"/>
                <a:cs typeface="Calibri"/>
              </a:rPr>
              <a:t> in </a:t>
            </a:r>
            <a:r>
              <a:rPr sz="1600" spc="-35" dirty="0">
                <a:latin typeface="Calibri"/>
                <a:cs typeface="Calibri"/>
              </a:rPr>
              <a:t>r</a:t>
            </a:r>
            <a:r>
              <a:rPr sz="1600" spc="-20" dirty="0">
                <a:latin typeface="Calibri"/>
                <a:cs typeface="Calibri"/>
              </a:rPr>
              <a:t>e</a:t>
            </a:r>
            <a:r>
              <a:rPr sz="1600" spc="-10" dirty="0">
                <a:latin typeface="Calibri"/>
                <a:cs typeface="Calibri"/>
              </a:rPr>
              <a:t>v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20" dirty="0">
                <a:latin typeface="Calibri"/>
                <a:cs typeface="Calibri"/>
              </a:rPr>
              <a:t>e</a:t>
            </a:r>
            <a:r>
              <a:rPr sz="1600" spc="-15" dirty="0">
                <a:latin typeface="Calibri"/>
                <a:cs typeface="Calibri"/>
              </a:rPr>
              <a:t>w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332730"/>
            <a:ext cx="9093200" cy="5728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900" marR="5080" indent="-76200">
              <a:lnSpc>
                <a:spcPts val="4400"/>
              </a:lnSpc>
            </a:pPr>
            <a:r>
              <a:rPr sz="4000" b="1" spc="-245" dirty="0">
                <a:latin typeface="Helvetica"/>
                <a:cs typeface="Helvetica"/>
              </a:rPr>
              <a:t>T</a:t>
            </a:r>
            <a:r>
              <a:rPr sz="4000" b="1" dirty="0">
                <a:latin typeface="Helvetica"/>
                <a:cs typeface="Helvetica"/>
              </a:rPr>
              <a:t>ra</a:t>
            </a:r>
            <a:r>
              <a:rPr sz="4000" b="1" spc="-20" dirty="0">
                <a:latin typeface="Helvetica"/>
                <a:cs typeface="Helvetica"/>
              </a:rPr>
              <a:t>i</a:t>
            </a:r>
            <a:r>
              <a:rPr sz="4000" b="1" spc="-15" dirty="0">
                <a:latin typeface="Helvetica"/>
                <a:cs typeface="Helvetica"/>
              </a:rPr>
              <a:t>t-</a:t>
            </a:r>
            <a:r>
              <a:rPr sz="4000" b="1" spc="-30" dirty="0">
                <a:latin typeface="Helvetica"/>
                <a:cs typeface="Helvetica"/>
              </a:rPr>
              <a:t>d</a:t>
            </a:r>
            <a:r>
              <a:rPr sz="4000" b="1" dirty="0">
                <a:latin typeface="Helvetica"/>
                <a:cs typeface="Helvetica"/>
              </a:rPr>
              <a:t>e</a:t>
            </a:r>
            <a:r>
              <a:rPr sz="4000" b="1" spc="-30" dirty="0">
                <a:latin typeface="Helvetica"/>
                <a:cs typeface="Helvetica"/>
              </a:rPr>
              <a:t>p</a:t>
            </a:r>
            <a:r>
              <a:rPr sz="4000" b="1" dirty="0">
                <a:latin typeface="Helvetica"/>
                <a:cs typeface="Helvetica"/>
              </a:rPr>
              <a:t>e</a:t>
            </a:r>
            <a:r>
              <a:rPr sz="4000" b="1" spc="-30" dirty="0">
                <a:latin typeface="Helvetica"/>
                <a:cs typeface="Helvetica"/>
              </a:rPr>
              <a:t>nd</a:t>
            </a:r>
            <a:r>
              <a:rPr sz="4000" b="1" dirty="0">
                <a:latin typeface="Helvetica"/>
                <a:cs typeface="Helvetica"/>
              </a:rPr>
              <a:t>e</a:t>
            </a:r>
            <a:r>
              <a:rPr sz="4000" b="1" spc="-30" dirty="0">
                <a:latin typeface="Helvetica"/>
                <a:cs typeface="Helvetica"/>
              </a:rPr>
              <a:t>n</a:t>
            </a:r>
            <a:r>
              <a:rPr sz="4000" b="1" dirty="0">
                <a:latin typeface="Helvetica"/>
                <a:cs typeface="Helvetica"/>
              </a:rPr>
              <a:t>t </a:t>
            </a:r>
            <a:r>
              <a:rPr sz="4000" b="1" spc="-30" dirty="0">
                <a:latin typeface="Helvetica"/>
                <a:cs typeface="Helvetica"/>
              </a:rPr>
              <a:t>model</a:t>
            </a:r>
            <a:r>
              <a:rPr lang="en-US" sz="4000" b="1" spc="-30" dirty="0">
                <a:latin typeface="Helvetica"/>
                <a:cs typeface="Helvetica"/>
              </a:rPr>
              <a:t> results</a:t>
            </a:r>
            <a:endParaRPr sz="4000" dirty="0">
              <a:latin typeface="Helvetica"/>
              <a:cs typeface="Helvetic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400" y="9474200"/>
            <a:ext cx="3072765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600" spc="-35" dirty="0">
                <a:latin typeface="Calibri"/>
                <a:cs typeface="Calibri"/>
              </a:rPr>
              <a:t>Klaus &amp; Matzke 2020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00" y="609600"/>
            <a:ext cx="11301472" cy="8894058"/>
          </a:xfrm>
          <a:prstGeom prst="rect">
            <a:avLst/>
          </a:prstGeom>
        </p:spPr>
      </p:pic>
      <p:sp>
        <p:nvSpPr>
          <p:cNvPr id="7" name="object 3"/>
          <p:cNvSpPr txBox="1"/>
          <p:nvPr/>
        </p:nvSpPr>
        <p:spPr>
          <a:xfrm>
            <a:off x="254000" y="1498"/>
            <a:ext cx="9093200" cy="5728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900" marR="5080" indent="-76200">
              <a:lnSpc>
                <a:spcPts val="4400"/>
              </a:lnSpc>
            </a:pPr>
            <a:r>
              <a:rPr sz="4000" b="1" spc="-245" dirty="0">
                <a:latin typeface="Helvetica"/>
                <a:cs typeface="Helvetica"/>
              </a:rPr>
              <a:t>T</a:t>
            </a:r>
            <a:r>
              <a:rPr sz="4000" b="1" dirty="0">
                <a:latin typeface="Helvetica"/>
                <a:cs typeface="Helvetica"/>
              </a:rPr>
              <a:t>ra</a:t>
            </a:r>
            <a:r>
              <a:rPr sz="4000" b="1" spc="-20" dirty="0">
                <a:latin typeface="Helvetica"/>
                <a:cs typeface="Helvetica"/>
              </a:rPr>
              <a:t>i</a:t>
            </a:r>
            <a:r>
              <a:rPr sz="4000" b="1" spc="-15" dirty="0">
                <a:latin typeface="Helvetica"/>
                <a:cs typeface="Helvetica"/>
              </a:rPr>
              <a:t>t-</a:t>
            </a:r>
            <a:r>
              <a:rPr sz="4000" b="1" spc="-30" dirty="0">
                <a:latin typeface="Helvetica"/>
                <a:cs typeface="Helvetica"/>
              </a:rPr>
              <a:t>d</a:t>
            </a:r>
            <a:r>
              <a:rPr sz="4000" b="1" dirty="0">
                <a:latin typeface="Helvetica"/>
                <a:cs typeface="Helvetica"/>
              </a:rPr>
              <a:t>e</a:t>
            </a:r>
            <a:r>
              <a:rPr sz="4000" b="1" spc="-30" dirty="0">
                <a:latin typeface="Helvetica"/>
                <a:cs typeface="Helvetica"/>
              </a:rPr>
              <a:t>p</a:t>
            </a:r>
            <a:r>
              <a:rPr sz="4000" b="1" dirty="0">
                <a:latin typeface="Helvetica"/>
                <a:cs typeface="Helvetica"/>
              </a:rPr>
              <a:t>e</a:t>
            </a:r>
            <a:r>
              <a:rPr sz="4000" b="1" spc="-30" dirty="0">
                <a:latin typeface="Helvetica"/>
                <a:cs typeface="Helvetica"/>
              </a:rPr>
              <a:t>nd</a:t>
            </a:r>
            <a:r>
              <a:rPr sz="4000" b="1" dirty="0">
                <a:latin typeface="Helvetica"/>
                <a:cs typeface="Helvetica"/>
              </a:rPr>
              <a:t>e</a:t>
            </a:r>
            <a:r>
              <a:rPr sz="4000" b="1" spc="-30" dirty="0">
                <a:latin typeface="Helvetica"/>
                <a:cs typeface="Helvetica"/>
              </a:rPr>
              <a:t>n</a:t>
            </a:r>
            <a:r>
              <a:rPr sz="4000" b="1" dirty="0">
                <a:latin typeface="Helvetica"/>
                <a:cs typeface="Helvetica"/>
              </a:rPr>
              <a:t>t </a:t>
            </a:r>
            <a:r>
              <a:rPr sz="4000" b="1" spc="-30" dirty="0">
                <a:latin typeface="Helvetica"/>
                <a:cs typeface="Helvetica"/>
              </a:rPr>
              <a:t>model</a:t>
            </a:r>
            <a:r>
              <a:rPr lang="en-US" sz="4000" b="1" spc="-30" dirty="0">
                <a:latin typeface="Helvetica"/>
                <a:cs typeface="Helvetica"/>
              </a:rPr>
              <a:t> results</a:t>
            </a:r>
            <a:endParaRPr sz="4000" dirty="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00" y="609600"/>
            <a:ext cx="11301472" cy="889405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321800" y="1066800"/>
            <a:ext cx="633095" cy="8229600"/>
          </a:xfrm>
          <a:custGeom>
            <a:avLst/>
            <a:gdLst/>
            <a:ahLst/>
            <a:cxnLst/>
            <a:rect l="l" t="t" r="r" b="b"/>
            <a:pathLst>
              <a:path w="633095" h="8046084">
                <a:moveTo>
                  <a:pt x="0" y="0"/>
                </a:moveTo>
                <a:lnTo>
                  <a:pt x="632924" y="0"/>
                </a:lnTo>
                <a:lnTo>
                  <a:pt x="632924" y="8045648"/>
                </a:lnTo>
                <a:lnTo>
                  <a:pt x="0" y="8045648"/>
                </a:lnTo>
                <a:lnTo>
                  <a:pt x="0" y="0"/>
                </a:lnTo>
                <a:close/>
              </a:path>
            </a:pathLst>
          </a:custGeom>
          <a:ln w="76200">
            <a:solidFill>
              <a:srgbClr val="FF330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3"/>
          <p:cNvSpPr txBox="1"/>
          <p:nvPr/>
        </p:nvSpPr>
        <p:spPr>
          <a:xfrm>
            <a:off x="254000" y="1498"/>
            <a:ext cx="9093200" cy="5728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900" marR="5080" indent="-76200">
              <a:lnSpc>
                <a:spcPts val="4400"/>
              </a:lnSpc>
            </a:pPr>
            <a:r>
              <a:rPr sz="4000" b="1" spc="-245" dirty="0">
                <a:latin typeface="Helvetica"/>
                <a:cs typeface="Helvetica"/>
              </a:rPr>
              <a:t>T</a:t>
            </a:r>
            <a:r>
              <a:rPr sz="4000" b="1" dirty="0">
                <a:latin typeface="Helvetica"/>
                <a:cs typeface="Helvetica"/>
              </a:rPr>
              <a:t>ra</a:t>
            </a:r>
            <a:r>
              <a:rPr sz="4000" b="1" spc="-20" dirty="0">
                <a:latin typeface="Helvetica"/>
                <a:cs typeface="Helvetica"/>
              </a:rPr>
              <a:t>i</a:t>
            </a:r>
            <a:r>
              <a:rPr sz="4000" b="1" spc="-15" dirty="0">
                <a:latin typeface="Helvetica"/>
                <a:cs typeface="Helvetica"/>
              </a:rPr>
              <a:t>t-</a:t>
            </a:r>
            <a:r>
              <a:rPr sz="4000" b="1" spc="-30" dirty="0">
                <a:latin typeface="Helvetica"/>
                <a:cs typeface="Helvetica"/>
              </a:rPr>
              <a:t>d</a:t>
            </a:r>
            <a:r>
              <a:rPr sz="4000" b="1" dirty="0">
                <a:latin typeface="Helvetica"/>
                <a:cs typeface="Helvetica"/>
              </a:rPr>
              <a:t>e</a:t>
            </a:r>
            <a:r>
              <a:rPr sz="4000" b="1" spc="-30" dirty="0">
                <a:latin typeface="Helvetica"/>
                <a:cs typeface="Helvetica"/>
              </a:rPr>
              <a:t>p</a:t>
            </a:r>
            <a:r>
              <a:rPr sz="4000" b="1" dirty="0">
                <a:latin typeface="Helvetica"/>
                <a:cs typeface="Helvetica"/>
              </a:rPr>
              <a:t>e</a:t>
            </a:r>
            <a:r>
              <a:rPr sz="4000" b="1" spc="-30" dirty="0">
                <a:latin typeface="Helvetica"/>
                <a:cs typeface="Helvetica"/>
              </a:rPr>
              <a:t>nd</a:t>
            </a:r>
            <a:r>
              <a:rPr sz="4000" b="1" dirty="0">
                <a:latin typeface="Helvetica"/>
                <a:cs typeface="Helvetica"/>
              </a:rPr>
              <a:t>e</a:t>
            </a:r>
            <a:r>
              <a:rPr sz="4000" b="1" spc="-30" dirty="0">
                <a:latin typeface="Helvetica"/>
                <a:cs typeface="Helvetica"/>
              </a:rPr>
              <a:t>n</a:t>
            </a:r>
            <a:r>
              <a:rPr sz="4000" b="1" dirty="0">
                <a:latin typeface="Helvetica"/>
                <a:cs typeface="Helvetica"/>
              </a:rPr>
              <a:t>t </a:t>
            </a:r>
            <a:r>
              <a:rPr sz="4000" b="1" spc="-30" dirty="0">
                <a:latin typeface="Helvetica"/>
                <a:cs typeface="Helvetica"/>
              </a:rPr>
              <a:t>model</a:t>
            </a:r>
            <a:r>
              <a:rPr lang="en-US" sz="4000" b="1" spc="-30" dirty="0">
                <a:latin typeface="Helvetica"/>
                <a:cs typeface="Helvetica"/>
              </a:rPr>
              <a:t> results</a:t>
            </a:r>
            <a:endParaRPr sz="4000" dirty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856182014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88818" y="969939"/>
            <a:ext cx="11015981" cy="81816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363525" y="1095109"/>
            <a:ext cx="633095" cy="8046084"/>
          </a:xfrm>
          <a:custGeom>
            <a:avLst/>
            <a:gdLst/>
            <a:ahLst/>
            <a:cxnLst/>
            <a:rect l="l" t="t" r="r" b="b"/>
            <a:pathLst>
              <a:path w="633095" h="8046084">
                <a:moveTo>
                  <a:pt x="0" y="0"/>
                </a:moveTo>
                <a:lnTo>
                  <a:pt x="632924" y="0"/>
                </a:lnTo>
                <a:lnTo>
                  <a:pt x="632924" y="8045648"/>
                </a:lnTo>
                <a:lnTo>
                  <a:pt x="0" y="8045648"/>
                </a:lnTo>
                <a:lnTo>
                  <a:pt x="0" y="0"/>
                </a:lnTo>
                <a:close/>
              </a:path>
            </a:pathLst>
          </a:custGeom>
          <a:ln w="76200">
            <a:solidFill>
              <a:srgbClr val="FF330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03259" y="702210"/>
            <a:ext cx="11998281" cy="881733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3109" y="746660"/>
            <a:ext cx="11858625" cy="8677910"/>
          </a:xfrm>
          <a:custGeom>
            <a:avLst/>
            <a:gdLst/>
            <a:ahLst/>
            <a:cxnLst/>
            <a:rect l="l" t="t" r="r" b="b"/>
            <a:pathLst>
              <a:path w="11858625" h="8677910">
                <a:moveTo>
                  <a:pt x="0" y="0"/>
                </a:moveTo>
                <a:lnTo>
                  <a:pt x="11858581" y="0"/>
                </a:lnTo>
                <a:lnTo>
                  <a:pt x="11858581" y="8677631"/>
                </a:lnTo>
                <a:lnTo>
                  <a:pt x="0" y="8677631"/>
                </a:lnTo>
                <a:lnTo>
                  <a:pt x="0" y="0"/>
                </a:lnTo>
                <a:close/>
              </a:path>
            </a:pathLst>
          </a:custGeom>
          <a:solidFill>
            <a:srgbClr val="51A7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3109" y="746660"/>
            <a:ext cx="11858625" cy="8677910"/>
          </a:xfrm>
          <a:custGeom>
            <a:avLst/>
            <a:gdLst/>
            <a:ahLst/>
            <a:cxnLst/>
            <a:rect l="l" t="t" r="r" b="b"/>
            <a:pathLst>
              <a:path w="11858625" h="8677910">
                <a:moveTo>
                  <a:pt x="0" y="0"/>
                </a:moveTo>
                <a:lnTo>
                  <a:pt x="11858581" y="0"/>
                </a:lnTo>
                <a:lnTo>
                  <a:pt x="11858581" y="8677631"/>
                </a:lnTo>
                <a:lnTo>
                  <a:pt x="0" y="8677631"/>
                </a:lnTo>
                <a:lnTo>
                  <a:pt x="0" y="0"/>
                </a:lnTo>
                <a:close/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11200" y="1143000"/>
            <a:ext cx="11591925" cy="60472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73760" indent="-378460">
              <a:lnSpc>
                <a:spcPct val="100000"/>
              </a:lnSpc>
              <a:spcBef>
                <a:spcPts val="240"/>
              </a:spcBef>
              <a:buFont typeface="Calibri"/>
              <a:buChar char="*"/>
              <a:tabLst>
                <a:tab pos="900430" algn="l"/>
              </a:tabLst>
            </a:pPr>
            <a:r>
              <a:rPr sz="4400" b="1" spc="-30" dirty="0">
                <a:latin typeface="Calibri"/>
                <a:cs typeface="Calibri"/>
              </a:rPr>
              <a:t>87</a:t>
            </a:r>
            <a:r>
              <a:rPr sz="4400" b="1" dirty="0">
                <a:latin typeface="Calibri"/>
                <a:cs typeface="Calibri"/>
              </a:rPr>
              <a:t>.</a:t>
            </a:r>
            <a:r>
              <a:rPr sz="4400" b="1" spc="-30" dirty="0">
                <a:latin typeface="Calibri"/>
                <a:cs typeface="Calibri"/>
              </a:rPr>
              <a:t>5</a:t>
            </a:r>
            <a:r>
              <a:rPr sz="4400" b="1" dirty="0">
                <a:latin typeface="Calibri"/>
                <a:cs typeface="Calibri"/>
              </a:rPr>
              <a:t>% </a:t>
            </a:r>
            <a:r>
              <a:rPr sz="4400" b="1" spc="-20" dirty="0">
                <a:latin typeface="Calibri"/>
                <a:cs typeface="Calibri"/>
              </a:rPr>
              <a:t>AI</a:t>
            </a:r>
            <a:r>
              <a:rPr sz="4400" b="1" dirty="0">
                <a:latin typeface="Calibri"/>
                <a:cs typeface="Calibri"/>
              </a:rPr>
              <a:t>Cc </a:t>
            </a:r>
            <a:r>
              <a:rPr sz="4400" b="1" spc="-35" dirty="0">
                <a:latin typeface="Calibri"/>
                <a:cs typeface="Calibri"/>
              </a:rPr>
              <a:t>w</a:t>
            </a:r>
            <a:r>
              <a:rPr sz="4400" b="1" dirty="0">
                <a:latin typeface="Calibri"/>
                <a:cs typeface="Calibri"/>
              </a:rPr>
              <a:t>e</a:t>
            </a:r>
            <a:r>
              <a:rPr sz="4400" b="1" spc="-15" dirty="0">
                <a:latin typeface="Calibri"/>
                <a:cs typeface="Calibri"/>
              </a:rPr>
              <a:t>i</a:t>
            </a:r>
            <a:r>
              <a:rPr sz="4400" b="1" dirty="0">
                <a:latin typeface="Calibri"/>
                <a:cs typeface="Calibri"/>
              </a:rPr>
              <a:t>g</a:t>
            </a:r>
            <a:r>
              <a:rPr sz="4400" b="1" spc="-70" dirty="0">
                <a:latin typeface="Calibri"/>
                <a:cs typeface="Calibri"/>
              </a:rPr>
              <a:t>h</a:t>
            </a:r>
            <a:r>
              <a:rPr sz="4400" b="1" spc="-20" dirty="0">
                <a:latin typeface="Calibri"/>
                <a:cs typeface="Calibri"/>
              </a:rPr>
              <a:t>t</a:t>
            </a:r>
            <a:r>
              <a:rPr sz="4400" b="1" dirty="0">
                <a:latin typeface="Calibri"/>
                <a:cs typeface="Calibri"/>
              </a:rPr>
              <a:t> </a:t>
            </a:r>
            <a:r>
              <a:rPr sz="4400" b="1" spc="-70" dirty="0">
                <a:latin typeface="Calibri"/>
                <a:cs typeface="Calibri"/>
              </a:rPr>
              <a:t>f</a:t>
            </a:r>
            <a:r>
              <a:rPr sz="4400" b="1" spc="-25" dirty="0">
                <a:latin typeface="Calibri"/>
                <a:cs typeface="Calibri"/>
              </a:rPr>
              <a:t>o</a:t>
            </a:r>
            <a:r>
              <a:rPr sz="4400" b="1" dirty="0">
                <a:latin typeface="Calibri"/>
                <a:cs typeface="Calibri"/>
              </a:rPr>
              <a:t>r </a:t>
            </a:r>
            <a:r>
              <a:rPr sz="4400" b="1" spc="-20" dirty="0">
                <a:latin typeface="Calibri"/>
                <a:cs typeface="Calibri"/>
              </a:rPr>
              <a:t>t</a:t>
            </a:r>
            <a:r>
              <a:rPr sz="4400" b="1" spc="-100" dirty="0">
                <a:latin typeface="Calibri"/>
                <a:cs typeface="Calibri"/>
              </a:rPr>
              <a:t>r</a:t>
            </a:r>
            <a:r>
              <a:rPr sz="4400" b="1" spc="-20" dirty="0">
                <a:latin typeface="Calibri"/>
                <a:cs typeface="Calibri"/>
              </a:rPr>
              <a:t>ai</a:t>
            </a:r>
            <a:r>
              <a:rPr sz="4400" b="1" spc="-130" dirty="0">
                <a:latin typeface="Calibri"/>
                <a:cs typeface="Calibri"/>
              </a:rPr>
              <a:t>t</a:t>
            </a:r>
            <a:r>
              <a:rPr sz="4400" b="1" dirty="0">
                <a:latin typeface="Calibri"/>
                <a:cs typeface="Calibri"/>
              </a:rPr>
              <a:t>-</a:t>
            </a:r>
            <a:r>
              <a:rPr sz="4400" b="1" spc="-25" dirty="0">
                <a:latin typeface="Calibri"/>
                <a:cs typeface="Calibri"/>
              </a:rPr>
              <a:t>d</a:t>
            </a:r>
            <a:r>
              <a:rPr sz="4400" b="1" dirty="0">
                <a:latin typeface="Calibri"/>
                <a:cs typeface="Calibri"/>
              </a:rPr>
              <a:t>e</a:t>
            </a:r>
            <a:r>
              <a:rPr sz="4400" b="1" spc="-25" dirty="0">
                <a:latin typeface="Calibri"/>
                <a:cs typeface="Calibri"/>
              </a:rPr>
              <a:t>p</a:t>
            </a:r>
            <a:r>
              <a:rPr sz="4400" b="1" dirty="0">
                <a:latin typeface="Calibri"/>
                <a:cs typeface="Calibri"/>
              </a:rPr>
              <a:t>e</a:t>
            </a:r>
            <a:r>
              <a:rPr sz="4400" b="1" spc="-25" dirty="0">
                <a:latin typeface="Calibri"/>
                <a:cs typeface="Calibri"/>
              </a:rPr>
              <a:t>nd</a:t>
            </a:r>
            <a:r>
              <a:rPr sz="4400" b="1" dirty="0">
                <a:latin typeface="Calibri"/>
                <a:cs typeface="Calibri"/>
              </a:rPr>
              <a:t>e</a:t>
            </a:r>
            <a:r>
              <a:rPr sz="4400" b="1" spc="-70" dirty="0">
                <a:latin typeface="Calibri"/>
                <a:cs typeface="Calibri"/>
              </a:rPr>
              <a:t>n</a:t>
            </a:r>
            <a:r>
              <a:rPr sz="4400" b="1" spc="-20" dirty="0">
                <a:latin typeface="Calibri"/>
                <a:cs typeface="Calibri"/>
              </a:rPr>
              <a:t>t</a:t>
            </a:r>
            <a:r>
              <a:rPr sz="4400" b="1" dirty="0">
                <a:latin typeface="Calibri"/>
                <a:cs typeface="Calibri"/>
              </a:rPr>
              <a:t> m</a:t>
            </a:r>
            <a:r>
              <a:rPr sz="4400" b="1" spc="-25" dirty="0">
                <a:latin typeface="Calibri"/>
                <a:cs typeface="Calibri"/>
              </a:rPr>
              <a:t>od</a:t>
            </a:r>
            <a:r>
              <a:rPr sz="4400" b="1" dirty="0">
                <a:latin typeface="Calibri"/>
                <a:cs typeface="Calibri"/>
              </a:rPr>
              <a:t>e</a:t>
            </a:r>
            <a:r>
              <a:rPr sz="4400" b="1" spc="-15" dirty="0">
                <a:latin typeface="Calibri"/>
                <a:cs typeface="Calibri"/>
              </a:rPr>
              <a:t>ls</a:t>
            </a:r>
            <a:endParaRPr sz="4400" dirty="0">
              <a:latin typeface="Calibri"/>
              <a:cs typeface="Calibri"/>
            </a:endParaRPr>
          </a:p>
          <a:p>
            <a:pPr marL="873760" marR="1400810" indent="-378460">
              <a:lnSpc>
                <a:spcPct val="102299"/>
              </a:lnSpc>
              <a:buFont typeface="Calibri"/>
              <a:buChar char="*"/>
              <a:tabLst>
                <a:tab pos="900430" algn="l"/>
              </a:tabLst>
            </a:pPr>
            <a:r>
              <a:rPr sz="4400" b="1" spc="-20" dirty="0">
                <a:latin typeface="Calibri"/>
                <a:cs typeface="Calibri"/>
              </a:rPr>
              <a:t>Line</a:t>
            </a:r>
            <a:r>
              <a:rPr sz="4400" b="1" spc="-25" dirty="0">
                <a:latin typeface="Calibri"/>
                <a:cs typeface="Calibri"/>
              </a:rPr>
              <a:t>a</a:t>
            </a:r>
            <a:r>
              <a:rPr sz="4400" b="1" spc="-50" dirty="0">
                <a:latin typeface="Calibri"/>
                <a:cs typeface="Calibri"/>
              </a:rPr>
              <a:t>g</a:t>
            </a:r>
            <a:r>
              <a:rPr sz="4400" b="1" dirty="0">
                <a:latin typeface="Calibri"/>
                <a:cs typeface="Calibri"/>
              </a:rPr>
              <a:t>e</a:t>
            </a:r>
            <a:r>
              <a:rPr sz="4400" b="1" spc="-20" dirty="0">
                <a:latin typeface="Calibri"/>
                <a:cs typeface="Calibri"/>
              </a:rPr>
              <a:t>s</a:t>
            </a:r>
            <a:r>
              <a:rPr sz="4400" b="1" dirty="0">
                <a:latin typeface="Calibri"/>
                <a:cs typeface="Calibri"/>
              </a:rPr>
              <a:t> w</a:t>
            </a:r>
            <a:r>
              <a:rPr sz="4400" b="1" spc="-20" dirty="0">
                <a:latin typeface="Calibri"/>
                <a:cs typeface="Calibri"/>
              </a:rPr>
              <a:t>ith</a:t>
            </a:r>
            <a:r>
              <a:rPr sz="4400" b="1" dirty="0">
                <a:latin typeface="Calibri"/>
                <a:cs typeface="Calibri"/>
              </a:rPr>
              <a:t> </a:t>
            </a:r>
            <a:r>
              <a:rPr sz="4400" b="1" spc="-25" dirty="0">
                <a:latin typeface="Calibri"/>
                <a:cs typeface="Calibri"/>
              </a:rPr>
              <a:t>no</a:t>
            </a:r>
            <a:r>
              <a:rPr sz="4400" b="1" spc="-50" dirty="0">
                <a:latin typeface="Calibri"/>
                <a:cs typeface="Calibri"/>
              </a:rPr>
              <a:t>n</a:t>
            </a:r>
            <a:r>
              <a:rPr sz="4400" b="1" dirty="0">
                <a:latin typeface="Calibri"/>
                <a:cs typeface="Calibri"/>
              </a:rPr>
              <a:t>ﬂe</a:t>
            </a:r>
            <a:r>
              <a:rPr sz="4400" b="1" spc="-25" dirty="0">
                <a:latin typeface="Calibri"/>
                <a:cs typeface="Calibri"/>
              </a:rPr>
              <a:t>s</a:t>
            </a:r>
            <a:r>
              <a:rPr sz="4400" b="1" spc="-105" dirty="0">
                <a:latin typeface="Calibri"/>
                <a:cs typeface="Calibri"/>
              </a:rPr>
              <a:t>h</a:t>
            </a:r>
            <a:r>
              <a:rPr sz="4400" b="1" spc="-25" dirty="0">
                <a:latin typeface="Calibri"/>
                <a:cs typeface="Calibri"/>
              </a:rPr>
              <a:t>y</a:t>
            </a:r>
            <a:r>
              <a:rPr sz="4400" b="1" dirty="0">
                <a:latin typeface="Calibri"/>
                <a:cs typeface="Calibri"/>
              </a:rPr>
              <a:t> </a:t>
            </a:r>
            <a:r>
              <a:rPr sz="4400" b="1" spc="-25" dirty="0">
                <a:latin typeface="Calibri"/>
                <a:cs typeface="Calibri"/>
              </a:rPr>
              <a:t>con</a:t>
            </a:r>
            <a:r>
              <a:rPr sz="4400" b="1" dirty="0">
                <a:latin typeface="Calibri"/>
                <a:cs typeface="Calibri"/>
              </a:rPr>
              <a:t>e</a:t>
            </a:r>
            <a:r>
              <a:rPr sz="4400" b="1" spc="-20" dirty="0">
                <a:latin typeface="Calibri"/>
                <a:cs typeface="Calibri"/>
              </a:rPr>
              <a:t>s</a:t>
            </a:r>
            <a:r>
              <a:rPr sz="4400" b="1" dirty="0">
                <a:latin typeface="Calibri"/>
                <a:cs typeface="Calibri"/>
              </a:rPr>
              <a:t> </a:t>
            </a:r>
            <a:r>
              <a:rPr sz="4400" b="1" spc="-25" dirty="0">
                <a:latin typeface="Calibri"/>
                <a:cs typeface="Calibri"/>
              </a:rPr>
              <a:t>h</a:t>
            </a:r>
            <a:r>
              <a:rPr sz="4400" b="1" spc="-90" dirty="0">
                <a:latin typeface="Calibri"/>
                <a:cs typeface="Calibri"/>
              </a:rPr>
              <a:t>a</a:t>
            </a:r>
            <a:r>
              <a:rPr sz="4400" b="1" spc="-45" dirty="0">
                <a:latin typeface="Calibri"/>
                <a:cs typeface="Calibri"/>
              </a:rPr>
              <a:t>v</a:t>
            </a:r>
            <a:r>
              <a:rPr sz="4400" b="1" dirty="0">
                <a:latin typeface="Calibri"/>
                <a:cs typeface="Calibri"/>
              </a:rPr>
              <a:t>e </a:t>
            </a:r>
            <a:r>
              <a:rPr sz="4400" b="1" spc="-25" dirty="0">
                <a:latin typeface="Calibri"/>
                <a:cs typeface="Calibri"/>
              </a:rPr>
              <a:t>a</a:t>
            </a:r>
            <a:r>
              <a:rPr sz="4400" b="1" spc="-10" dirty="0">
                <a:latin typeface="Calibri"/>
                <a:cs typeface="Calibri"/>
              </a:rPr>
              <a:t> </a:t>
            </a:r>
            <a:r>
              <a:rPr sz="4400" b="1" spc="-30" dirty="0">
                <a:latin typeface="Calibri"/>
                <a:cs typeface="Calibri"/>
              </a:rPr>
              <a:t>d</a:t>
            </a:r>
            <a:r>
              <a:rPr sz="4400" b="1" spc="-20" dirty="0">
                <a:latin typeface="Calibri"/>
                <a:cs typeface="Calibri"/>
              </a:rPr>
              <a:t>is</a:t>
            </a:r>
            <a:r>
              <a:rPr sz="4400" b="1" spc="-30" dirty="0">
                <a:latin typeface="Calibri"/>
                <a:cs typeface="Calibri"/>
              </a:rPr>
              <a:t>p</a:t>
            </a:r>
            <a:r>
              <a:rPr sz="4400" b="1" spc="-5" dirty="0">
                <a:latin typeface="Calibri"/>
                <a:cs typeface="Calibri"/>
              </a:rPr>
              <a:t>e</a:t>
            </a:r>
            <a:r>
              <a:rPr sz="4400" b="1" spc="-55" dirty="0">
                <a:latin typeface="Calibri"/>
                <a:cs typeface="Calibri"/>
              </a:rPr>
              <a:t>r</a:t>
            </a:r>
            <a:r>
              <a:rPr sz="4400" b="1" spc="-20" dirty="0">
                <a:latin typeface="Calibri"/>
                <a:cs typeface="Calibri"/>
              </a:rPr>
              <a:t>sal</a:t>
            </a:r>
            <a:r>
              <a:rPr sz="4400" b="1" spc="-5" dirty="0">
                <a:latin typeface="Calibri"/>
                <a:cs typeface="Calibri"/>
              </a:rPr>
              <a:t> </a:t>
            </a:r>
            <a:r>
              <a:rPr sz="4400" b="1" spc="-100" dirty="0">
                <a:latin typeface="Calibri"/>
                <a:cs typeface="Calibri"/>
              </a:rPr>
              <a:t>r</a:t>
            </a:r>
            <a:r>
              <a:rPr sz="4400" b="1" spc="-70" dirty="0">
                <a:latin typeface="Calibri"/>
                <a:cs typeface="Calibri"/>
              </a:rPr>
              <a:t>a</a:t>
            </a:r>
            <a:r>
              <a:rPr sz="4400" b="1" spc="-80" dirty="0">
                <a:latin typeface="Calibri"/>
                <a:cs typeface="Calibri"/>
              </a:rPr>
              <a:t>t</a:t>
            </a:r>
            <a:r>
              <a:rPr sz="4400" b="1" dirty="0">
                <a:latin typeface="Calibri"/>
                <a:cs typeface="Calibri"/>
              </a:rPr>
              <a:t>e</a:t>
            </a:r>
            <a:r>
              <a:rPr sz="4400" b="1" spc="-5" dirty="0">
                <a:latin typeface="Calibri"/>
                <a:cs typeface="Calibri"/>
              </a:rPr>
              <a:t> </a:t>
            </a:r>
            <a:r>
              <a:rPr sz="4400" b="1" spc="-25" dirty="0">
                <a:latin typeface="Calibri"/>
                <a:cs typeface="Calibri"/>
              </a:rPr>
              <a:t>a</a:t>
            </a:r>
            <a:r>
              <a:rPr sz="4400" b="1" spc="-30" dirty="0">
                <a:latin typeface="Calibri"/>
                <a:cs typeface="Calibri"/>
              </a:rPr>
              <a:t>bou</a:t>
            </a:r>
            <a:r>
              <a:rPr sz="4400" b="1" spc="-20" dirty="0">
                <a:latin typeface="Calibri"/>
                <a:cs typeface="Calibri"/>
              </a:rPr>
              <a:t>t</a:t>
            </a:r>
            <a:r>
              <a:rPr sz="4400" b="1" spc="15" dirty="0">
                <a:latin typeface="Calibri"/>
                <a:cs typeface="Calibri"/>
              </a:rPr>
              <a:t> </a:t>
            </a:r>
            <a:r>
              <a:rPr sz="4400" b="1" i="1" spc="-40" dirty="0">
                <a:latin typeface="Calibri"/>
                <a:cs typeface="Calibri"/>
              </a:rPr>
              <a:t>m</a:t>
            </a:r>
            <a:r>
              <a:rPr sz="4350" b="1" spc="15" baseline="-6704" dirty="0">
                <a:latin typeface="Calibri"/>
                <a:cs typeface="Calibri"/>
              </a:rPr>
              <a:t>2</a:t>
            </a:r>
            <a:r>
              <a:rPr sz="4400" b="1" spc="-30" dirty="0">
                <a:latin typeface="Calibri"/>
                <a:cs typeface="Calibri"/>
              </a:rPr>
              <a:t>=0</a:t>
            </a:r>
            <a:r>
              <a:rPr sz="4400" b="1" dirty="0">
                <a:latin typeface="Calibri"/>
                <a:cs typeface="Calibri"/>
              </a:rPr>
              <a:t>.</a:t>
            </a:r>
            <a:r>
              <a:rPr sz="4400" b="1" spc="-30" dirty="0">
                <a:latin typeface="Calibri"/>
                <a:cs typeface="Calibri"/>
              </a:rPr>
              <a:t>4</a:t>
            </a:r>
            <a:r>
              <a:rPr sz="4400" b="1" spc="-25" dirty="0">
                <a:latin typeface="Calibri"/>
                <a:cs typeface="Calibri"/>
              </a:rPr>
              <a:t>9</a:t>
            </a:r>
            <a:r>
              <a:rPr sz="4400" b="1" dirty="0">
                <a:latin typeface="Calibri"/>
                <a:cs typeface="Calibri"/>
              </a:rPr>
              <a:t> </a:t>
            </a:r>
            <a:r>
              <a:rPr sz="4400" b="1" spc="-15" dirty="0">
                <a:latin typeface="Calibri"/>
                <a:cs typeface="Calibri"/>
              </a:rPr>
              <a:t>l</a:t>
            </a:r>
            <a:r>
              <a:rPr sz="4400" b="1" spc="-35" dirty="0">
                <a:latin typeface="Calibri"/>
                <a:cs typeface="Calibri"/>
              </a:rPr>
              <a:t>ow</a:t>
            </a:r>
            <a:r>
              <a:rPr sz="4400" b="1" dirty="0">
                <a:latin typeface="Calibri"/>
                <a:cs typeface="Calibri"/>
              </a:rPr>
              <a:t>er </a:t>
            </a:r>
            <a:r>
              <a:rPr sz="4400" b="1" spc="-25" dirty="0">
                <a:latin typeface="Calibri"/>
                <a:cs typeface="Calibri"/>
              </a:rPr>
              <a:t>than</a:t>
            </a:r>
            <a:r>
              <a:rPr sz="4400" b="1" spc="-10" dirty="0">
                <a:latin typeface="Calibri"/>
                <a:cs typeface="Calibri"/>
              </a:rPr>
              <a:t> </a:t>
            </a:r>
            <a:r>
              <a:rPr sz="4400" b="1" spc="-5" dirty="0">
                <a:latin typeface="Calibri"/>
                <a:cs typeface="Calibri"/>
              </a:rPr>
              <a:t>ﬂes</a:t>
            </a:r>
            <a:r>
              <a:rPr sz="4400" b="1" spc="-85" dirty="0">
                <a:latin typeface="Calibri"/>
                <a:cs typeface="Calibri"/>
              </a:rPr>
              <a:t>h</a:t>
            </a:r>
            <a:r>
              <a:rPr sz="4400" b="1" spc="-25" dirty="0">
                <a:latin typeface="Calibri"/>
                <a:cs typeface="Calibri"/>
              </a:rPr>
              <a:t>y</a:t>
            </a:r>
            <a:r>
              <a:rPr sz="4400" b="1" spc="-5" dirty="0">
                <a:latin typeface="Calibri"/>
                <a:cs typeface="Calibri"/>
              </a:rPr>
              <a:t> </a:t>
            </a:r>
            <a:r>
              <a:rPr sz="4400" b="1" spc="-25" dirty="0">
                <a:latin typeface="Calibri"/>
                <a:cs typeface="Calibri"/>
              </a:rPr>
              <a:t>c</a:t>
            </a:r>
            <a:r>
              <a:rPr sz="4400" b="1" spc="-30" dirty="0">
                <a:latin typeface="Calibri"/>
                <a:cs typeface="Calibri"/>
              </a:rPr>
              <a:t>on</a:t>
            </a:r>
            <a:r>
              <a:rPr sz="4400" b="1" dirty="0">
                <a:latin typeface="Calibri"/>
                <a:cs typeface="Calibri"/>
              </a:rPr>
              <a:t>e</a:t>
            </a:r>
            <a:r>
              <a:rPr sz="4400" b="1" spc="-5" dirty="0">
                <a:latin typeface="Calibri"/>
                <a:cs typeface="Calibri"/>
              </a:rPr>
              <a:t> </a:t>
            </a:r>
            <a:r>
              <a:rPr sz="4400" b="1" spc="-20" dirty="0">
                <a:latin typeface="Calibri"/>
                <a:cs typeface="Calibri"/>
              </a:rPr>
              <a:t>li</a:t>
            </a:r>
            <a:r>
              <a:rPr sz="4400" b="1" spc="-30" dirty="0">
                <a:latin typeface="Calibri"/>
                <a:cs typeface="Calibri"/>
              </a:rPr>
              <a:t>n</a:t>
            </a:r>
            <a:r>
              <a:rPr sz="4400" b="1" spc="-5" dirty="0">
                <a:latin typeface="Calibri"/>
                <a:cs typeface="Calibri"/>
              </a:rPr>
              <a:t>ea</a:t>
            </a:r>
            <a:r>
              <a:rPr sz="4400" b="1" spc="-50" dirty="0">
                <a:latin typeface="Calibri"/>
                <a:cs typeface="Calibri"/>
              </a:rPr>
              <a:t>g</a:t>
            </a:r>
            <a:r>
              <a:rPr sz="4400" b="1" spc="-5" dirty="0">
                <a:latin typeface="Calibri"/>
                <a:cs typeface="Calibri"/>
              </a:rPr>
              <a:t>es</a:t>
            </a:r>
            <a:endParaRPr sz="4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4400" dirty="0">
              <a:latin typeface="Times New Roman"/>
              <a:cs typeface="Times New Roman"/>
            </a:endParaRPr>
          </a:p>
          <a:p>
            <a:pPr marL="1181100" marR="8237855" algn="ctr">
              <a:lnSpc>
                <a:spcPct val="102400"/>
              </a:lnSpc>
              <a:spcBef>
                <a:spcPts val="2720"/>
              </a:spcBef>
            </a:pPr>
            <a:r>
              <a:rPr sz="4800" b="1" spc="-35" dirty="0">
                <a:latin typeface="Calibri"/>
                <a:cs typeface="Calibri"/>
              </a:rPr>
              <a:t>D</a:t>
            </a:r>
            <a:r>
              <a:rPr sz="4800" b="1" spc="-20" dirty="0">
                <a:latin typeface="Calibri"/>
                <a:cs typeface="Calibri"/>
              </a:rPr>
              <a:t>i</a:t>
            </a:r>
            <a:r>
              <a:rPr sz="4800" b="1" spc="-80" dirty="0">
                <a:latin typeface="Calibri"/>
                <a:cs typeface="Calibri"/>
              </a:rPr>
              <a:t>s</a:t>
            </a:r>
            <a:r>
              <a:rPr sz="4800" b="1" spc="-70" dirty="0">
                <a:latin typeface="Calibri"/>
                <a:cs typeface="Calibri"/>
              </a:rPr>
              <a:t>t</a:t>
            </a:r>
            <a:r>
              <a:rPr sz="4800" b="1" spc="-30" dirty="0">
                <a:latin typeface="Calibri"/>
                <a:cs typeface="Calibri"/>
              </a:rPr>
              <a:t>an</a:t>
            </a:r>
            <a:r>
              <a:rPr sz="4800" b="1" spc="-5" dirty="0">
                <a:latin typeface="Calibri"/>
                <a:cs typeface="Calibri"/>
              </a:rPr>
              <a:t>ce </a:t>
            </a:r>
            <a:r>
              <a:rPr sz="4800" b="1" spc="-40" dirty="0">
                <a:latin typeface="Calibri"/>
                <a:cs typeface="Calibri"/>
              </a:rPr>
              <a:t>e</a:t>
            </a:r>
            <a:r>
              <a:rPr sz="4800" b="1" spc="-85" dirty="0">
                <a:latin typeface="Calibri"/>
                <a:cs typeface="Calibri"/>
              </a:rPr>
              <a:t>ﬀ</a:t>
            </a:r>
            <a:r>
              <a:rPr sz="4800" b="1" spc="-5" dirty="0">
                <a:latin typeface="Calibri"/>
                <a:cs typeface="Calibri"/>
              </a:rPr>
              <a:t>ec</a:t>
            </a:r>
            <a:r>
              <a:rPr sz="4800" b="1" spc="-15" dirty="0">
                <a:latin typeface="Calibri"/>
                <a:cs typeface="Calibri"/>
              </a:rPr>
              <a:t>t: </a:t>
            </a:r>
            <a:r>
              <a:rPr sz="4800" b="1" i="1" dirty="0">
                <a:latin typeface="Calibri"/>
                <a:cs typeface="Calibri"/>
              </a:rPr>
              <a:t>x</a:t>
            </a:r>
            <a:r>
              <a:rPr sz="4800" b="1" spc="-5" dirty="0">
                <a:latin typeface="Calibri"/>
                <a:cs typeface="Calibri"/>
              </a:rPr>
              <a:t>=</a:t>
            </a:r>
            <a:r>
              <a:rPr sz="4800" b="1" dirty="0">
                <a:latin typeface="Calibri"/>
                <a:cs typeface="Calibri"/>
              </a:rPr>
              <a:t>-</a:t>
            </a:r>
            <a:r>
              <a:rPr sz="4800" b="1" spc="-30" dirty="0">
                <a:latin typeface="Calibri"/>
                <a:cs typeface="Calibri"/>
              </a:rPr>
              <a:t>0</a:t>
            </a:r>
            <a:r>
              <a:rPr sz="4800" b="1" dirty="0">
                <a:latin typeface="Calibri"/>
                <a:cs typeface="Calibri"/>
              </a:rPr>
              <a:t>.</a:t>
            </a:r>
            <a:r>
              <a:rPr sz="4800" b="1" spc="-30" dirty="0">
                <a:latin typeface="Calibri"/>
                <a:cs typeface="Calibri"/>
              </a:rPr>
              <a:t>8</a:t>
            </a:r>
            <a:r>
              <a:rPr sz="4800" b="1" spc="-25" dirty="0">
                <a:latin typeface="Calibri"/>
                <a:cs typeface="Calibri"/>
              </a:rPr>
              <a:t>6</a:t>
            </a:r>
            <a:endParaRPr sz="4800" dirty="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701065" y="5228880"/>
            <a:ext cx="3567429" cy="3621404"/>
          </a:xfrm>
          <a:custGeom>
            <a:avLst/>
            <a:gdLst/>
            <a:ahLst/>
            <a:cxnLst/>
            <a:rect l="l" t="t" r="r" b="b"/>
            <a:pathLst>
              <a:path w="3567429" h="3621404">
                <a:moveTo>
                  <a:pt x="0" y="0"/>
                </a:moveTo>
                <a:lnTo>
                  <a:pt x="3567135" y="0"/>
                </a:lnTo>
                <a:lnTo>
                  <a:pt x="3567135" y="3621202"/>
                </a:lnTo>
                <a:lnTo>
                  <a:pt x="0" y="362120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701065" y="5228880"/>
            <a:ext cx="3567135" cy="362120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008582" y="5267355"/>
            <a:ext cx="3567429" cy="3592195"/>
          </a:xfrm>
          <a:custGeom>
            <a:avLst/>
            <a:gdLst/>
            <a:ahLst/>
            <a:cxnLst/>
            <a:rect l="l" t="t" r="r" b="b"/>
            <a:pathLst>
              <a:path w="3567429" h="3592195">
                <a:moveTo>
                  <a:pt x="0" y="0"/>
                </a:moveTo>
                <a:lnTo>
                  <a:pt x="3567047" y="0"/>
                </a:lnTo>
                <a:lnTo>
                  <a:pt x="3567047" y="3591792"/>
                </a:lnTo>
                <a:lnTo>
                  <a:pt x="0" y="35917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008582" y="5267355"/>
            <a:ext cx="3567047" cy="359179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62000" y="8839200"/>
            <a:ext cx="4728210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b="1" spc="-185" dirty="0">
                <a:latin typeface="Calibri"/>
                <a:cs typeface="Calibri"/>
              </a:rPr>
              <a:t>T</a:t>
            </a:r>
            <a:r>
              <a:rPr sz="3600" b="1" spc="-80" dirty="0">
                <a:latin typeface="Calibri"/>
                <a:cs typeface="Calibri"/>
              </a:rPr>
              <a:t>r</a:t>
            </a:r>
            <a:r>
              <a:rPr sz="3600" b="1" spc="-15" dirty="0">
                <a:latin typeface="Calibri"/>
                <a:cs typeface="Calibri"/>
              </a:rPr>
              <a:t>ai</a:t>
            </a:r>
            <a:r>
              <a:rPr sz="3600" b="1" spc="-105" dirty="0">
                <a:latin typeface="Calibri"/>
                <a:cs typeface="Calibri"/>
              </a:rPr>
              <a:t>t</a:t>
            </a:r>
            <a:r>
              <a:rPr sz="3600" b="1" spc="-5" dirty="0">
                <a:latin typeface="Calibri"/>
                <a:cs typeface="Calibri"/>
              </a:rPr>
              <a:t>-</a:t>
            </a:r>
            <a:r>
              <a:rPr sz="3600" b="1" spc="-15" dirty="0">
                <a:latin typeface="Calibri"/>
                <a:cs typeface="Calibri"/>
              </a:rPr>
              <a:t>di</a:t>
            </a:r>
            <a:r>
              <a:rPr sz="3600" b="1" spc="-20" dirty="0">
                <a:latin typeface="Calibri"/>
                <a:cs typeface="Calibri"/>
              </a:rPr>
              <a:t>sp</a:t>
            </a:r>
            <a:r>
              <a:rPr sz="3600" b="1" dirty="0">
                <a:latin typeface="Calibri"/>
                <a:cs typeface="Calibri"/>
              </a:rPr>
              <a:t>e</a:t>
            </a:r>
            <a:r>
              <a:rPr sz="3600" b="1" spc="-45" dirty="0">
                <a:latin typeface="Calibri"/>
                <a:cs typeface="Calibri"/>
              </a:rPr>
              <a:t>r</a:t>
            </a:r>
            <a:r>
              <a:rPr sz="3600" b="1" spc="-20" dirty="0">
                <a:latin typeface="Calibri"/>
                <a:cs typeface="Calibri"/>
              </a:rPr>
              <a:t>s</a:t>
            </a:r>
            <a:r>
              <a:rPr sz="3600" b="1" spc="-15" dirty="0">
                <a:latin typeface="Calibri"/>
                <a:cs typeface="Calibri"/>
              </a:rPr>
              <a:t>al</a:t>
            </a:r>
            <a:r>
              <a:rPr sz="3600" b="1" dirty="0">
                <a:latin typeface="Calibri"/>
                <a:cs typeface="Calibri"/>
              </a:rPr>
              <a:t> m</a:t>
            </a:r>
            <a:r>
              <a:rPr sz="3600" b="1" spc="-20" dirty="0">
                <a:latin typeface="Calibri"/>
                <a:cs typeface="Calibri"/>
              </a:rPr>
              <a:t>odi</a:t>
            </a:r>
            <a:r>
              <a:rPr sz="3600" b="1" spc="-5" dirty="0">
                <a:latin typeface="Calibri"/>
                <a:cs typeface="Calibri"/>
              </a:rPr>
              <a:t>ﬁ</a:t>
            </a:r>
            <a:r>
              <a:rPr sz="3600" b="1" dirty="0">
                <a:latin typeface="Calibri"/>
                <a:cs typeface="Calibri"/>
              </a:rPr>
              <a:t>e</a:t>
            </a:r>
            <a:r>
              <a:rPr sz="3600" b="1" spc="-45" dirty="0">
                <a:latin typeface="Calibri"/>
                <a:cs typeface="Calibri"/>
              </a:rPr>
              <a:t>r</a:t>
            </a:r>
            <a:r>
              <a:rPr sz="3600" b="1" spc="-20" dirty="0">
                <a:latin typeface="Calibri"/>
                <a:cs typeface="Calibri"/>
              </a:rPr>
              <a:t>s</a:t>
            </a:r>
            <a:r>
              <a:rPr sz="3600" b="1" spc="-10" dirty="0">
                <a:latin typeface="Calibri"/>
                <a:cs typeface="Calibri"/>
              </a:rPr>
              <a:t>: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537700" y="8839200"/>
            <a:ext cx="1592580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b="1" i="1" spc="-30" dirty="0">
                <a:latin typeface="Calibri"/>
                <a:cs typeface="Calibri"/>
              </a:rPr>
              <a:t>m</a:t>
            </a:r>
            <a:r>
              <a:rPr sz="3600" b="1" spc="-22" baseline="-6944" dirty="0">
                <a:latin typeface="Calibri"/>
                <a:cs typeface="Calibri"/>
              </a:rPr>
              <a:t>2</a:t>
            </a:r>
            <a:r>
              <a:rPr sz="3600" b="1" spc="-25" dirty="0">
                <a:latin typeface="Calibri"/>
                <a:cs typeface="Calibri"/>
              </a:rPr>
              <a:t>=0</a:t>
            </a:r>
            <a:r>
              <a:rPr sz="3600" b="1" dirty="0">
                <a:latin typeface="Calibri"/>
                <a:cs typeface="Calibri"/>
              </a:rPr>
              <a:t>.</a:t>
            </a:r>
            <a:r>
              <a:rPr sz="3600" b="1" spc="-25" dirty="0">
                <a:latin typeface="Calibri"/>
                <a:cs typeface="Calibri"/>
              </a:rPr>
              <a:t>4</a:t>
            </a:r>
            <a:r>
              <a:rPr sz="3600" b="1" spc="-20" dirty="0">
                <a:latin typeface="Calibri"/>
                <a:cs typeface="Calibri"/>
              </a:rPr>
              <a:t>9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32500" y="8813800"/>
            <a:ext cx="1360805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b="1" i="1" spc="-30" dirty="0">
                <a:latin typeface="Calibri"/>
                <a:cs typeface="Calibri"/>
              </a:rPr>
              <a:t>m</a:t>
            </a:r>
            <a:r>
              <a:rPr sz="3600" b="1" spc="-22" baseline="-6944" dirty="0">
                <a:latin typeface="Calibri"/>
                <a:cs typeface="Calibri"/>
              </a:rPr>
              <a:t>1</a:t>
            </a:r>
            <a:r>
              <a:rPr sz="3600" b="1" spc="-25" dirty="0">
                <a:latin typeface="Calibri"/>
                <a:cs typeface="Calibri"/>
              </a:rPr>
              <a:t>=1</a:t>
            </a:r>
            <a:r>
              <a:rPr sz="3600" b="1" dirty="0">
                <a:latin typeface="Calibri"/>
                <a:cs typeface="Calibri"/>
              </a:rPr>
              <a:t>.</a:t>
            </a:r>
            <a:r>
              <a:rPr sz="3600" b="1" spc="-20" dirty="0">
                <a:latin typeface="Calibri"/>
                <a:cs typeface="Calibri"/>
              </a:rPr>
              <a:t>0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18" name="object 3"/>
          <p:cNvSpPr txBox="1"/>
          <p:nvPr/>
        </p:nvSpPr>
        <p:spPr>
          <a:xfrm>
            <a:off x="406400" y="2996"/>
            <a:ext cx="9093200" cy="5728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900" marR="5080" indent="-76200">
              <a:lnSpc>
                <a:spcPts val="4400"/>
              </a:lnSpc>
            </a:pPr>
            <a:r>
              <a:rPr sz="4000" b="1" spc="-245" dirty="0">
                <a:latin typeface="Helvetica"/>
                <a:cs typeface="Helvetica"/>
              </a:rPr>
              <a:t>T</a:t>
            </a:r>
            <a:r>
              <a:rPr sz="4000" b="1" dirty="0">
                <a:latin typeface="Helvetica"/>
                <a:cs typeface="Helvetica"/>
              </a:rPr>
              <a:t>ra</a:t>
            </a:r>
            <a:r>
              <a:rPr sz="4000" b="1" spc="-20" dirty="0">
                <a:latin typeface="Helvetica"/>
                <a:cs typeface="Helvetica"/>
              </a:rPr>
              <a:t>i</a:t>
            </a:r>
            <a:r>
              <a:rPr sz="4000" b="1" spc="-15" dirty="0">
                <a:latin typeface="Helvetica"/>
                <a:cs typeface="Helvetica"/>
              </a:rPr>
              <a:t>t-</a:t>
            </a:r>
            <a:r>
              <a:rPr sz="4000" b="1" spc="-30" dirty="0">
                <a:latin typeface="Helvetica"/>
                <a:cs typeface="Helvetica"/>
              </a:rPr>
              <a:t>d</a:t>
            </a:r>
            <a:r>
              <a:rPr sz="4000" b="1" dirty="0">
                <a:latin typeface="Helvetica"/>
                <a:cs typeface="Helvetica"/>
              </a:rPr>
              <a:t>e</a:t>
            </a:r>
            <a:r>
              <a:rPr sz="4000" b="1" spc="-30" dirty="0">
                <a:latin typeface="Helvetica"/>
                <a:cs typeface="Helvetica"/>
              </a:rPr>
              <a:t>p</a:t>
            </a:r>
            <a:r>
              <a:rPr sz="4000" b="1" dirty="0">
                <a:latin typeface="Helvetica"/>
                <a:cs typeface="Helvetica"/>
              </a:rPr>
              <a:t>e</a:t>
            </a:r>
            <a:r>
              <a:rPr sz="4000" b="1" spc="-30" dirty="0">
                <a:latin typeface="Helvetica"/>
                <a:cs typeface="Helvetica"/>
              </a:rPr>
              <a:t>nd</a:t>
            </a:r>
            <a:r>
              <a:rPr sz="4000" b="1" dirty="0">
                <a:latin typeface="Helvetica"/>
                <a:cs typeface="Helvetica"/>
              </a:rPr>
              <a:t>e</a:t>
            </a:r>
            <a:r>
              <a:rPr sz="4000" b="1" spc="-30" dirty="0">
                <a:latin typeface="Helvetica"/>
                <a:cs typeface="Helvetica"/>
              </a:rPr>
              <a:t>n</a:t>
            </a:r>
            <a:r>
              <a:rPr sz="4000" b="1" dirty="0">
                <a:latin typeface="Helvetica"/>
                <a:cs typeface="Helvetica"/>
              </a:rPr>
              <a:t>t </a:t>
            </a:r>
            <a:r>
              <a:rPr sz="4000" b="1" spc="-30" dirty="0">
                <a:latin typeface="Helvetica"/>
                <a:cs typeface="Helvetica"/>
              </a:rPr>
              <a:t>model</a:t>
            </a:r>
            <a:r>
              <a:rPr lang="en-US" sz="4000" b="1" spc="-30" dirty="0">
                <a:latin typeface="Helvetica"/>
                <a:cs typeface="Helvetica"/>
              </a:rPr>
              <a:t> results</a:t>
            </a:r>
            <a:endParaRPr sz="4000" dirty="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60132" y="524933"/>
            <a:ext cx="9753600" cy="922866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79400" y="345430"/>
            <a:ext cx="8455660" cy="50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b="1" spc="-30" dirty="0">
                <a:latin typeface="Helvetica"/>
                <a:cs typeface="Helvetica"/>
              </a:rPr>
              <a:t>S</a:t>
            </a:r>
            <a:r>
              <a:rPr sz="4000" b="1" spc="-20" dirty="0">
                <a:latin typeface="Helvetica"/>
                <a:cs typeface="Helvetica"/>
              </a:rPr>
              <a:t>i</a:t>
            </a:r>
            <a:r>
              <a:rPr sz="4000" b="1" dirty="0">
                <a:latin typeface="Helvetica"/>
                <a:cs typeface="Helvetica"/>
              </a:rPr>
              <a:t>m</a:t>
            </a:r>
            <a:r>
              <a:rPr sz="4000" b="1" spc="-25" dirty="0">
                <a:latin typeface="Helvetica"/>
                <a:cs typeface="Helvetica"/>
              </a:rPr>
              <a:t>ul</a:t>
            </a:r>
            <a:r>
              <a:rPr sz="4000" b="1" dirty="0">
                <a:latin typeface="Helvetica"/>
                <a:cs typeface="Helvetica"/>
              </a:rPr>
              <a:t>a</a:t>
            </a:r>
            <a:r>
              <a:rPr sz="4000" b="1" spc="-15" dirty="0">
                <a:latin typeface="Helvetica"/>
                <a:cs typeface="Helvetica"/>
              </a:rPr>
              <a:t>t</a:t>
            </a:r>
            <a:r>
              <a:rPr sz="4000" b="1" spc="-25" dirty="0">
                <a:latin typeface="Helvetica"/>
                <a:cs typeface="Helvetica"/>
              </a:rPr>
              <a:t>ion</a:t>
            </a:r>
            <a:r>
              <a:rPr sz="4000" b="1" spc="-5" dirty="0">
                <a:latin typeface="Helvetica"/>
                <a:cs typeface="Helvetica"/>
              </a:rPr>
              <a:t> </a:t>
            </a:r>
            <a:r>
              <a:rPr sz="4000" b="1" dirty="0">
                <a:latin typeface="Helvetica"/>
                <a:cs typeface="Helvetica"/>
              </a:rPr>
              <a:t>test</a:t>
            </a:r>
            <a:r>
              <a:rPr sz="4000" b="1" spc="-5" dirty="0">
                <a:latin typeface="Helvetica"/>
                <a:cs typeface="Helvetica"/>
              </a:rPr>
              <a:t> </a:t>
            </a:r>
            <a:r>
              <a:rPr sz="4000" b="1" spc="-15" dirty="0">
                <a:latin typeface="Helvetica"/>
                <a:cs typeface="Helvetica"/>
              </a:rPr>
              <a:t>f</a:t>
            </a:r>
            <a:r>
              <a:rPr sz="4000" b="1" spc="-30" dirty="0">
                <a:latin typeface="Helvetica"/>
                <a:cs typeface="Helvetica"/>
              </a:rPr>
              <a:t>o</a:t>
            </a:r>
            <a:r>
              <a:rPr sz="4000" b="1" dirty="0">
                <a:latin typeface="Helvetica"/>
                <a:cs typeface="Helvetica"/>
              </a:rPr>
              <a:t>r</a:t>
            </a:r>
            <a:r>
              <a:rPr sz="4000" b="1" spc="-5" dirty="0">
                <a:latin typeface="Helvetica"/>
                <a:cs typeface="Helvetica"/>
              </a:rPr>
              <a:t> </a:t>
            </a:r>
            <a:r>
              <a:rPr sz="4000" b="1" spc="-25" dirty="0">
                <a:latin typeface="Helvetica"/>
                <a:cs typeface="Helvetica"/>
              </a:rPr>
              <a:t>in</a:t>
            </a:r>
            <a:r>
              <a:rPr sz="4000" b="1" dirty="0">
                <a:latin typeface="Helvetica"/>
                <a:cs typeface="Helvetica"/>
              </a:rPr>
              <a:t>fere</a:t>
            </a:r>
            <a:r>
              <a:rPr sz="4000" b="1" spc="-30" dirty="0">
                <a:latin typeface="Helvetica"/>
                <a:cs typeface="Helvetica"/>
              </a:rPr>
              <a:t>n</a:t>
            </a:r>
            <a:r>
              <a:rPr sz="4000" b="1" dirty="0">
                <a:latin typeface="Helvetica"/>
                <a:cs typeface="Helvetica"/>
              </a:rPr>
              <a:t>ce</a:t>
            </a:r>
            <a:r>
              <a:rPr sz="4000" b="1" spc="-5" dirty="0">
                <a:latin typeface="Helvetica"/>
                <a:cs typeface="Helvetica"/>
              </a:rPr>
              <a:t> </a:t>
            </a:r>
            <a:r>
              <a:rPr sz="4000" b="1" spc="-30" dirty="0">
                <a:latin typeface="Helvetica"/>
                <a:cs typeface="Helvetica"/>
              </a:rPr>
              <a:t>o</a:t>
            </a:r>
            <a:r>
              <a:rPr sz="4000" b="1" dirty="0">
                <a:latin typeface="Helvetica"/>
                <a:cs typeface="Helvetica"/>
              </a:rPr>
              <a:t>f</a:t>
            </a:r>
            <a:r>
              <a:rPr sz="4000" b="1" spc="-5" dirty="0">
                <a:latin typeface="Helvetica"/>
                <a:cs typeface="Helvetica"/>
              </a:rPr>
              <a:t> </a:t>
            </a:r>
            <a:r>
              <a:rPr sz="4000" b="1" i="1" dirty="0">
                <a:latin typeface="Helvetica"/>
                <a:cs typeface="Helvetica"/>
              </a:rPr>
              <a:t>m</a:t>
            </a:r>
            <a:r>
              <a:rPr sz="3975" b="1" baseline="-6289" dirty="0">
                <a:latin typeface="Helvetica"/>
                <a:cs typeface="Helvetica"/>
              </a:rPr>
              <a:t>2</a:t>
            </a:r>
            <a:r>
              <a:rPr sz="4000" b="1" dirty="0">
                <a:latin typeface="Helvetica"/>
                <a:cs typeface="Helvetica"/>
              </a:rPr>
              <a:t>:</a:t>
            </a:r>
            <a:endParaRPr sz="4000">
              <a:latin typeface="Helvetica"/>
              <a:cs typeface="Helvetic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9400" y="931664"/>
            <a:ext cx="4745990" cy="889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0350" indent="-247650">
              <a:lnSpc>
                <a:spcPts val="3820"/>
              </a:lnSpc>
              <a:buFont typeface="Helvetica"/>
              <a:buChar char="-"/>
              <a:tabLst>
                <a:tab pos="260985" algn="l"/>
              </a:tabLst>
            </a:pPr>
            <a:r>
              <a:rPr sz="3200" b="1" dirty="0">
                <a:latin typeface="Helvetica"/>
                <a:cs typeface="Helvetica"/>
              </a:rPr>
              <a:t>str</a:t>
            </a:r>
            <a:r>
              <a:rPr sz="3200" b="1" spc="-25" dirty="0">
                <a:latin typeface="Helvetica"/>
                <a:cs typeface="Helvetica"/>
              </a:rPr>
              <a:t>on</a:t>
            </a:r>
            <a:r>
              <a:rPr sz="3200" b="1" spc="-20" dirty="0">
                <a:latin typeface="Helvetica"/>
                <a:cs typeface="Helvetica"/>
              </a:rPr>
              <a:t>g</a:t>
            </a:r>
            <a:r>
              <a:rPr sz="3200" b="1" spc="-5" dirty="0">
                <a:latin typeface="Helvetica"/>
                <a:cs typeface="Helvetica"/>
              </a:rPr>
              <a:t> </a:t>
            </a:r>
            <a:r>
              <a:rPr sz="3200" b="1" dirty="0">
                <a:latin typeface="Helvetica"/>
                <a:cs typeface="Helvetica"/>
              </a:rPr>
              <a:t>vs</a:t>
            </a:r>
            <a:r>
              <a:rPr sz="3200" b="1" spc="-10" dirty="0">
                <a:latin typeface="Helvetica"/>
                <a:cs typeface="Helvetica"/>
              </a:rPr>
              <a:t>.</a:t>
            </a:r>
            <a:r>
              <a:rPr sz="3200" b="1" spc="-5" dirty="0">
                <a:latin typeface="Helvetica"/>
                <a:cs typeface="Helvetica"/>
              </a:rPr>
              <a:t> </a:t>
            </a:r>
            <a:r>
              <a:rPr sz="3200" b="1" spc="-30" dirty="0">
                <a:latin typeface="Helvetica"/>
                <a:cs typeface="Helvetica"/>
              </a:rPr>
              <a:t>w</a:t>
            </a:r>
            <a:r>
              <a:rPr sz="3200" b="1" dirty="0">
                <a:latin typeface="Helvetica"/>
                <a:cs typeface="Helvetica"/>
              </a:rPr>
              <a:t>eak</a:t>
            </a:r>
            <a:r>
              <a:rPr sz="3200" b="1" spc="-5" dirty="0">
                <a:latin typeface="Helvetica"/>
                <a:cs typeface="Helvetica"/>
              </a:rPr>
              <a:t> </a:t>
            </a:r>
            <a:r>
              <a:rPr sz="3200" b="1" dirty="0">
                <a:latin typeface="Helvetica"/>
                <a:cs typeface="Helvetica"/>
              </a:rPr>
              <a:t>effects</a:t>
            </a:r>
            <a:endParaRPr sz="3200">
              <a:latin typeface="Helvetica"/>
              <a:cs typeface="Helvetica"/>
            </a:endParaRPr>
          </a:p>
          <a:p>
            <a:pPr marL="260350" indent="-247650">
              <a:lnSpc>
                <a:spcPts val="3820"/>
              </a:lnSpc>
              <a:buFont typeface="Helvetica"/>
              <a:buChar char="-"/>
              <a:tabLst>
                <a:tab pos="260985" algn="l"/>
              </a:tabLst>
            </a:pPr>
            <a:r>
              <a:rPr sz="3200" b="1" spc="-25" dirty="0">
                <a:latin typeface="Helvetica"/>
                <a:cs typeface="Helvetica"/>
              </a:rPr>
              <a:t>d</a:t>
            </a:r>
            <a:r>
              <a:rPr sz="3200" b="1" dirty="0">
                <a:latin typeface="Helvetica"/>
                <a:cs typeface="Helvetica"/>
              </a:rPr>
              <a:t>ataset</a:t>
            </a:r>
            <a:r>
              <a:rPr sz="3200" b="1" spc="-5" dirty="0">
                <a:latin typeface="Helvetica"/>
                <a:cs typeface="Helvetica"/>
              </a:rPr>
              <a:t> </a:t>
            </a:r>
            <a:r>
              <a:rPr sz="3200" b="1" dirty="0">
                <a:latin typeface="Helvetica"/>
                <a:cs typeface="Helvetica"/>
              </a:rPr>
              <a:t>s</a:t>
            </a:r>
            <a:r>
              <a:rPr sz="3200" b="1" spc="-15" dirty="0">
                <a:latin typeface="Helvetica"/>
                <a:cs typeface="Helvetica"/>
              </a:rPr>
              <a:t>i</a:t>
            </a:r>
            <a:r>
              <a:rPr sz="3200" b="1" dirty="0">
                <a:latin typeface="Helvetica"/>
                <a:cs typeface="Helvetica"/>
              </a:rPr>
              <a:t>ze</a:t>
            </a:r>
            <a:endParaRPr sz="320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8100" y="383530"/>
            <a:ext cx="10384155" cy="11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 algn="ctr">
              <a:lnSpc>
                <a:spcPct val="100000"/>
              </a:lnSpc>
            </a:pPr>
            <a:r>
              <a:rPr sz="4000" b="1" dirty="0">
                <a:latin typeface="Helvetica"/>
                <a:cs typeface="Helvetica"/>
              </a:rPr>
              <a:t>Ec</a:t>
            </a:r>
            <a:r>
              <a:rPr sz="4000" b="1" spc="-30" dirty="0">
                <a:latin typeface="Helvetica"/>
                <a:cs typeface="Helvetica"/>
              </a:rPr>
              <a:t>olog</a:t>
            </a:r>
            <a:r>
              <a:rPr sz="4000" b="1" dirty="0">
                <a:latin typeface="Helvetica"/>
                <a:cs typeface="Helvetica"/>
              </a:rPr>
              <a:t>y</a:t>
            </a:r>
            <a:r>
              <a:rPr sz="4000" b="1" spc="-15" dirty="0">
                <a:latin typeface="Helvetica"/>
                <a:cs typeface="Helvetica"/>
              </a:rPr>
              <a:t>-</a:t>
            </a:r>
            <a:r>
              <a:rPr sz="4000" b="1" spc="-30" dirty="0">
                <a:latin typeface="Helvetica"/>
                <a:cs typeface="Helvetica"/>
              </a:rPr>
              <a:t>d</a:t>
            </a:r>
            <a:r>
              <a:rPr sz="4000" b="1" dirty="0">
                <a:latin typeface="Helvetica"/>
                <a:cs typeface="Helvetica"/>
              </a:rPr>
              <a:t>e</a:t>
            </a:r>
            <a:r>
              <a:rPr sz="4000" b="1" spc="-30" dirty="0">
                <a:latin typeface="Helvetica"/>
                <a:cs typeface="Helvetica"/>
              </a:rPr>
              <a:t>p</a:t>
            </a:r>
            <a:r>
              <a:rPr sz="4000" b="1" dirty="0">
                <a:latin typeface="Helvetica"/>
                <a:cs typeface="Helvetica"/>
              </a:rPr>
              <a:t>e</a:t>
            </a:r>
            <a:r>
              <a:rPr sz="4000" b="1" spc="-30" dirty="0">
                <a:latin typeface="Helvetica"/>
                <a:cs typeface="Helvetica"/>
              </a:rPr>
              <a:t>nd</a:t>
            </a:r>
            <a:r>
              <a:rPr sz="4000" b="1" dirty="0">
                <a:latin typeface="Helvetica"/>
                <a:cs typeface="Helvetica"/>
              </a:rPr>
              <a:t>e</a:t>
            </a:r>
            <a:r>
              <a:rPr sz="4000" b="1" spc="-30" dirty="0">
                <a:latin typeface="Helvetica"/>
                <a:cs typeface="Helvetica"/>
              </a:rPr>
              <a:t>n</a:t>
            </a:r>
            <a:r>
              <a:rPr sz="4000" b="1" dirty="0">
                <a:latin typeface="Helvetica"/>
                <a:cs typeface="Helvetica"/>
              </a:rPr>
              <a:t>t</a:t>
            </a:r>
            <a:r>
              <a:rPr sz="4000" b="1" spc="-5" dirty="0">
                <a:latin typeface="Helvetica"/>
                <a:cs typeface="Helvetica"/>
              </a:rPr>
              <a:t> </a:t>
            </a:r>
            <a:r>
              <a:rPr sz="4000" b="1" spc="-25" dirty="0">
                <a:latin typeface="Helvetica"/>
                <a:cs typeface="Helvetica"/>
              </a:rPr>
              <a:t>di</a:t>
            </a:r>
            <a:r>
              <a:rPr sz="4000" b="1" dirty="0">
                <a:latin typeface="Helvetica"/>
                <a:cs typeface="Helvetica"/>
              </a:rPr>
              <a:t>s</a:t>
            </a:r>
            <a:r>
              <a:rPr sz="4000" b="1" spc="-30" dirty="0">
                <a:latin typeface="Helvetica"/>
                <a:cs typeface="Helvetica"/>
              </a:rPr>
              <a:t>p</a:t>
            </a:r>
            <a:r>
              <a:rPr sz="4000" b="1" dirty="0">
                <a:latin typeface="Helvetica"/>
                <a:cs typeface="Helvetica"/>
              </a:rPr>
              <a:t>ersa</a:t>
            </a:r>
            <a:r>
              <a:rPr sz="4000" b="1" spc="-15" dirty="0">
                <a:latin typeface="Helvetica"/>
                <a:cs typeface="Helvetica"/>
              </a:rPr>
              <a:t>l</a:t>
            </a:r>
            <a:r>
              <a:rPr sz="4000" b="1" spc="-5" dirty="0">
                <a:latin typeface="Helvetica"/>
                <a:cs typeface="Helvetica"/>
              </a:rPr>
              <a:t> </a:t>
            </a:r>
            <a:r>
              <a:rPr sz="4000" b="1" spc="-20" dirty="0">
                <a:latin typeface="Helvetica"/>
                <a:cs typeface="Helvetica"/>
              </a:rPr>
              <a:t>i</a:t>
            </a:r>
            <a:r>
              <a:rPr sz="4000" b="1" spc="-25" dirty="0">
                <a:latin typeface="Helvetica"/>
                <a:cs typeface="Helvetica"/>
              </a:rPr>
              <a:t>n</a:t>
            </a:r>
            <a:endParaRPr sz="4000">
              <a:latin typeface="Helvetica"/>
              <a:cs typeface="Helvetica"/>
            </a:endParaRPr>
          </a:p>
          <a:p>
            <a:pPr algn="ctr">
              <a:lnSpc>
                <a:spcPct val="100000"/>
              </a:lnSpc>
            </a:pPr>
            <a:r>
              <a:rPr sz="4000" b="1" spc="-30" dirty="0">
                <a:latin typeface="Helvetica"/>
                <a:cs typeface="Helvetica"/>
              </a:rPr>
              <a:t>Indo</a:t>
            </a:r>
            <a:r>
              <a:rPr sz="4000" b="1" dirty="0">
                <a:latin typeface="Helvetica"/>
                <a:cs typeface="Helvetica"/>
              </a:rPr>
              <a:t>-Pac</a:t>
            </a:r>
            <a:r>
              <a:rPr sz="4000" b="1" spc="-20" dirty="0">
                <a:latin typeface="Helvetica"/>
                <a:cs typeface="Helvetica"/>
              </a:rPr>
              <a:t>i</a:t>
            </a:r>
            <a:r>
              <a:rPr sz="4000" b="1" spc="-15" dirty="0">
                <a:latin typeface="Helvetica"/>
                <a:cs typeface="Helvetica"/>
              </a:rPr>
              <a:t>f</a:t>
            </a:r>
            <a:r>
              <a:rPr sz="4000" b="1" spc="-20" dirty="0">
                <a:latin typeface="Helvetica"/>
                <a:cs typeface="Helvetica"/>
              </a:rPr>
              <a:t>i</a:t>
            </a:r>
            <a:r>
              <a:rPr sz="4000" b="1" dirty="0">
                <a:latin typeface="Helvetica"/>
                <a:cs typeface="Helvetica"/>
              </a:rPr>
              <a:t>c</a:t>
            </a:r>
            <a:r>
              <a:rPr sz="4000" b="1" spc="-5" dirty="0">
                <a:latin typeface="Helvetica"/>
                <a:cs typeface="Helvetica"/>
              </a:rPr>
              <a:t> </a:t>
            </a:r>
            <a:r>
              <a:rPr sz="4000" b="1" dirty="0">
                <a:latin typeface="Helvetica"/>
                <a:cs typeface="Helvetica"/>
              </a:rPr>
              <a:t>tra</a:t>
            </a:r>
            <a:r>
              <a:rPr sz="4000" b="1" spc="-30" dirty="0">
                <a:latin typeface="Helvetica"/>
                <a:cs typeface="Helvetica"/>
              </a:rPr>
              <a:t>p</a:t>
            </a:r>
            <a:r>
              <a:rPr sz="4000" b="1" spc="-15" dirty="0">
                <a:latin typeface="Helvetica"/>
                <a:cs typeface="Helvetica"/>
              </a:rPr>
              <a:t>-</a:t>
            </a:r>
            <a:r>
              <a:rPr sz="4000" b="1" spc="-20" dirty="0">
                <a:latin typeface="Helvetica"/>
                <a:cs typeface="Helvetica"/>
              </a:rPr>
              <a:t>j</a:t>
            </a:r>
            <a:r>
              <a:rPr sz="4000" b="1" dirty="0">
                <a:latin typeface="Helvetica"/>
                <a:cs typeface="Helvetica"/>
              </a:rPr>
              <a:t>a</a:t>
            </a:r>
            <a:r>
              <a:rPr sz="4000" b="1" spc="-35" dirty="0">
                <a:latin typeface="Helvetica"/>
                <a:cs typeface="Helvetica"/>
              </a:rPr>
              <a:t>w</a:t>
            </a:r>
            <a:r>
              <a:rPr sz="4000" b="1" spc="-5" dirty="0">
                <a:latin typeface="Helvetica"/>
                <a:cs typeface="Helvetica"/>
              </a:rPr>
              <a:t> </a:t>
            </a:r>
            <a:r>
              <a:rPr sz="4000" b="1" dirty="0">
                <a:latin typeface="Helvetica"/>
                <a:cs typeface="Helvetica"/>
              </a:rPr>
              <a:t>a</a:t>
            </a:r>
            <a:r>
              <a:rPr sz="4000" b="1" spc="-30" dirty="0">
                <a:latin typeface="Helvetica"/>
                <a:cs typeface="Helvetica"/>
              </a:rPr>
              <a:t>n</a:t>
            </a:r>
            <a:r>
              <a:rPr sz="4000" b="1" dirty="0">
                <a:latin typeface="Helvetica"/>
                <a:cs typeface="Helvetica"/>
              </a:rPr>
              <a:t>ts</a:t>
            </a:r>
            <a:r>
              <a:rPr sz="4000" b="1" spc="-5" dirty="0">
                <a:latin typeface="Helvetica"/>
                <a:cs typeface="Helvetica"/>
              </a:rPr>
              <a:t> </a:t>
            </a:r>
            <a:r>
              <a:rPr sz="4000" b="1" dirty="0">
                <a:latin typeface="Helvetica"/>
                <a:cs typeface="Helvetica"/>
              </a:rPr>
              <a:t>(</a:t>
            </a:r>
            <a:r>
              <a:rPr sz="4000" b="1" i="1" spc="-35" dirty="0">
                <a:latin typeface="Helvetica"/>
                <a:cs typeface="Helvetica"/>
              </a:rPr>
              <a:t>Odon</a:t>
            </a:r>
            <a:r>
              <a:rPr sz="4000" b="1" i="1" spc="-15" dirty="0">
                <a:latin typeface="Helvetica"/>
                <a:cs typeface="Helvetica"/>
              </a:rPr>
              <a:t>t</a:t>
            </a:r>
            <a:r>
              <a:rPr sz="4000" b="1" i="1" spc="-30" dirty="0">
                <a:latin typeface="Helvetica"/>
                <a:cs typeface="Helvetica"/>
              </a:rPr>
              <a:t>o</a:t>
            </a:r>
            <a:r>
              <a:rPr sz="4000" b="1" i="1" dirty="0">
                <a:latin typeface="Helvetica"/>
                <a:cs typeface="Helvetica"/>
              </a:rPr>
              <a:t>mac</a:t>
            </a:r>
            <a:r>
              <a:rPr sz="4000" b="1" i="1" spc="-30" dirty="0">
                <a:latin typeface="Helvetica"/>
                <a:cs typeface="Helvetica"/>
              </a:rPr>
              <a:t>hu</a:t>
            </a:r>
            <a:r>
              <a:rPr sz="4000" b="1" i="1" dirty="0">
                <a:latin typeface="Helvetica"/>
                <a:cs typeface="Helvetica"/>
              </a:rPr>
              <a:t>s</a:t>
            </a:r>
            <a:r>
              <a:rPr sz="4000" b="1" dirty="0">
                <a:latin typeface="Helvetica"/>
                <a:cs typeface="Helvetica"/>
              </a:rPr>
              <a:t>)</a:t>
            </a:r>
            <a:endParaRPr sz="4000">
              <a:latin typeface="Helvetica"/>
              <a:cs typeface="Helvetic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12705" y="1769588"/>
            <a:ext cx="8875053" cy="31537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12705" y="1769587"/>
            <a:ext cx="8875395" cy="3154045"/>
          </a:xfrm>
          <a:custGeom>
            <a:avLst/>
            <a:gdLst/>
            <a:ahLst/>
            <a:cxnLst/>
            <a:rect l="l" t="t" r="r" b="b"/>
            <a:pathLst>
              <a:path w="8875395" h="3154045">
                <a:moveTo>
                  <a:pt x="0" y="0"/>
                </a:moveTo>
                <a:lnTo>
                  <a:pt x="8875053" y="0"/>
                </a:lnTo>
                <a:lnTo>
                  <a:pt x="8875053" y="3153713"/>
                </a:lnTo>
                <a:lnTo>
                  <a:pt x="0" y="3153713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937187" y="2253110"/>
            <a:ext cx="2465321" cy="246532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1304" y="4964146"/>
            <a:ext cx="6662028" cy="44302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5400" y="8944607"/>
            <a:ext cx="12569190" cy="758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81900" marR="5080">
              <a:lnSpc>
                <a:spcPct val="100000"/>
              </a:lnSpc>
            </a:pPr>
            <a:r>
              <a:rPr sz="1000" spc="-10" dirty="0">
                <a:solidFill>
                  <a:srgbClr val="888888"/>
                </a:solidFill>
                <a:latin typeface="Helvetica"/>
                <a:cs typeface="Helvetica"/>
              </a:rPr>
              <a:t>Wheele</a:t>
            </a:r>
            <a:r>
              <a:rPr sz="1000" spc="-55" dirty="0">
                <a:solidFill>
                  <a:srgbClr val="888888"/>
                </a:solidFill>
                <a:latin typeface="Helvetica"/>
                <a:cs typeface="Helvetica"/>
              </a:rPr>
              <a:t>r</a:t>
            </a:r>
            <a:r>
              <a:rPr sz="1000" spc="-5" dirty="0">
                <a:solidFill>
                  <a:srgbClr val="888888"/>
                </a:solidFill>
                <a:latin typeface="Helvetica"/>
                <a:cs typeface="Helvetica"/>
              </a:rPr>
              <a:t>, </a:t>
            </a:r>
            <a:r>
              <a:rPr sz="1000" spc="-65" dirty="0">
                <a:solidFill>
                  <a:srgbClr val="888888"/>
                </a:solidFill>
                <a:latin typeface="Helvetica"/>
                <a:cs typeface="Helvetica"/>
              </a:rPr>
              <a:t>W</a:t>
            </a:r>
            <a:r>
              <a:rPr sz="1000" spc="-5" dirty="0">
                <a:solidFill>
                  <a:srgbClr val="888888"/>
                </a:solidFill>
                <a:latin typeface="Helvetica"/>
                <a:cs typeface="Helvetica"/>
              </a:rPr>
              <a:t>.M. </a:t>
            </a:r>
            <a:r>
              <a:rPr sz="1000" dirty="0">
                <a:solidFill>
                  <a:srgbClr val="888888"/>
                </a:solidFill>
                <a:latin typeface="Helvetica"/>
                <a:cs typeface="Helvetica"/>
              </a:rPr>
              <a:t>(1927</a:t>
            </a:r>
            <a:r>
              <a:rPr sz="1000" spc="-5" dirty="0">
                <a:solidFill>
                  <a:srgbClr val="888888"/>
                </a:solidFill>
                <a:latin typeface="Helvetica"/>
                <a:cs typeface="Helvetica"/>
              </a:rPr>
              <a:t>):</a:t>
            </a:r>
            <a:r>
              <a:rPr sz="1000" spc="-20" dirty="0">
                <a:solidFill>
                  <a:srgbClr val="888888"/>
                </a:solidFill>
                <a:latin typeface="Helvetica"/>
                <a:cs typeface="Helvetica"/>
              </a:rPr>
              <a:t> </a:t>
            </a:r>
            <a:r>
              <a:rPr sz="1000" spc="-10" dirty="0">
                <a:solidFill>
                  <a:srgbClr val="888888"/>
                </a:solidFill>
                <a:latin typeface="Helvetica"/>
                <a:cs typeface="Helvetica"/>
              </a:rPr>
              <a:t>T</a:t>
            </a:r>
            <a:r>
              <a:rPr sz="1000" dirty="0">
                <a:solidFill>
                  <a:srgbClr val="888888"/>
                </a:solidFill>
                <a:latin typeface="Helvetica"/>
                <a:cs typeface="Helvetica"/>
              </a:rPr>
              <a:t>he</a:t>
            </a:r>
            <a:r>
              <a:rPr sz="1000" spc="-5" dirty="0">
                <a:solidFill>
                  <a:srgbClr val="888888"/>
                </a:solidFill>
                <a:latin typeface="Helvetica"/>
                <a:cs typeface="Helvetica"/>
              </a:rPr>
              <a:t> </a:t>
            </a:r>
            <a:r>
              <a:rPr sz="1000" dirty="0">
                <a:solidFill>
                  <a:srgbClr val="888888"/>
                </a:solidFill>
                <a:latin typeface="Helvetica"/>
                <a:cs typeface="Helvetica"/>
              </a:rPr>
              <a:t>physiognomy</a:t>
            </a:r>
            <a:r>
              <a:rPr sz="1000" spc="-5" dirty="0">
                <a:solidFill>
                  <a:srgbClr val="888888"/>
                </a:solidFill>
                <a:latin typeface="Helvetica"/>
                <a:cs typeface="Helvetica"/>
              </a:rPr>
              <a:t> </a:t>
            </a:r>
            <a:r>
              <a:rPr sz="1000" dirty="0">
                <a:solidFill>
                  <a:srgbClr val="888888"/>
                </a:solidFill>
                <a:latin typeface="Helvetica"/>
                <a:cs typeface="Helvetica"/>
              </a:rPr>
              <a:t>o</a:t>
            </a:r>
            <a:r>
              <a:rPr sz="1000" spc="-5" dirty="0">
                <a:solidFill>
                  <a:srgbClr val="888888"/>
                </a:solidFill>
                <a:latin typeface="Helvetica"/>
                <a:cs typeface="Helvetica"/>
              </a:rPr>
              <a:t>f </a:t>
            </a:r>
            <a:r>
              <a:rPr sz="1000" dirty="0">
                <a:solidFill>
                  <a:srgbClr val="888888"/>
                </a:solidFill>
                <a:latin typeface="Helvetica"/>
                <a:cs typeface="Helvetica"/>
              </a:rPr>
              <a:t>inse</a:t>
            </a:r>
            <a:r>
              <a:rPr sz="1000" spc="-5" dirty="0">
                <a:solidFill>
                  <a:srgbClr val="888888"/>
                </a:solidFill>
                <a:latin typeface="Helvetica"/>
                <a:cs typeface="Helvetica"/>
              </a:rPr>
              <a:t>cts. </a:t>
            </a:r>
            <a:r>
              <a:rPr sz="1000" i="1" spc="-10" dirty="0">
                <a:solidFill>
                  <a:srgbClr val="888888"/>
                </a:solidFill>
                <a:latin typeface="Helvetica"/>
                <a:cs typeface="Helvetica"/>
              </a:rPr>
              <a:t>Q</a:t>
            </a:r>
            <a:r>
              <a:rPr sz="1000" i="1" dirty="0">
                <a:solidFill>
                  <a:srgbClr val="888888"/>
                </a:solidFill>
                <a:latin typeface="Helvetica"/>
                <a:cs typeface="Helvetica"/>
              </a:rPr>
              <a:t>ua</a:t>
            </a:r>
            <a:r>
              <a:rPr sz="1000" i="1" spc="-5" dirty="0">
                <a:solidFill>
                  <a:srgbClr val="888888"/>
                </a:solidFill>
                <a:latin typeface="Helvetica"/>
                <a:cs typeface="Helvetica"/>
              </a:rPr>
              <a:t>rt</a:t>
            </a:r>
            <a:r>
              <a:rPr sz="1000" i="1" dirty="0">
                <a:solidFill>
                  <a:srgbClr val="888888"/>
                </a:solidFill>
                <a:latin typeface="Helvetica"/>
                <a:cs typeface="Helvetica"/>
              </a:rPr>
              <a:t>erly</a:t>
            </a:r>
            <a:r>
              <a:rPr sz="1000" i="1" spc="-5" dirty="0">
                <a:solidFill>
                  <a:srgbClr val="888888"/>
                </a:solidFill>
                <a:latin typeface="Helvetica"/>
                <a:cs typeface="Helvetica"/>
              </a:rPr>
              <a:t> </a:t>
            </a:r>
            <a:r>
              <a:rPr sz="1000" i="1" dirty="0">
                <a:solidFill>
                  <a:srgbClr val="888888"/>
                </a:solidFill>
                <a:latin typeface="Helvetica"/>
                <a:cs typeface="Helvetica"/>
              </a:rPr>
              <a:t>Review</a:t>
            </a:r>
            <a:r>
              <a:rPr sz="1000" i="1" spc="-5" dirty="0">
                <a:solidFill>
                  <a:srgbClr val="888888"/>
                </a:solidFill>
                <a:latin typeface="Helvetica"/>
                <a:cs typeface="Helvetica"/>
              </a:rPr>
              <a:t> </a:t>
            </a:r>
            <a:r>
              <a:rPr sz="1000" i="1" dirty="0">
                <a:solidFill>
                  <a:srgbClr val="888888"/>
                </a:solidFill>
                <a:latin typeface="Helvetica"/>
                <a:cs typeface="Helvetica"/>
              </a:rPr>
              <a:t>o</a:t>
            </a:r>
            <a:r>
              <a:rPr sz="1000" i="1" spc="-5" dirty="0">
                <a:solidFill>
                  <a:srgbClr val="888888"/>
                </a:solidFill>
                <a:latin typeface="Helvetica"/>
                <a:cs typeface="Helvetica"/>
              </a:rPr>
              <a:t>f </a:t>
            </a:r>
            <a:r>
              <a:rPr sz="1000" i="1" dirty="0">
                <a:solidFill>
                  <a:srgbClr val="888888"/>
                </a:solidFill>
                <a:latin typeface="Helvetica"/>
                <a:cs typeface="Helvetica"/>
              </a:rPr>
              <a:t>Biology</a:t>
            </a:r>
            <a:r>
              <a:rPr sz="1000" i="1" spc="-5" dirty="0">
                <a:solidFill>
                  <a:srgbClr val="888888"/>
                </a:solidFill>
                <a:latin typeface="Helvetica"/>
                <a:cs typeface="Helvetica"/>
              </a:rPr>
              <a:t> </a:t>
            </a:r>
            <a:r>
              <a:rPr sz="1000" b="1" dirty="0">
                <a:solidFill>
                  <a:srgbClr val="888888"/>
                </a:solidFill>
                <a:latin typeface="Helvetica"/>
                <a:cs typeface="Helvetica"/>
              </a:rPr>
              <a:t>2</a:t>
            </a:r>
            <a:r>
              <a:rPr sz="1000" spc="-5" dirty="0">
                <a:solidFill>
                  <a:srgbClr val="888888"/>
                </a:solidFill>
                <a:latin typeface="Helvetica"/>
                <a:cs typeface="Helvetica"/>
              </a:rPr>
              <a:t>: </a:t>
            </a:r>
            <a:r>
              <a:rPr sz="1000" dirty="0">
                <a:solidFill>
                  <a:srgbClr val="888888"/>
                </a:solidFill>
                <a:latin typeface="Helvetica"/>
                <a:cs typeface="Helvetica"/>
              </a:rPr>
              <a:t>1-36</a:t>
            </a:r>
            <a:r>
              <a:rPr sz="1000" spc="-5" dirty="0">
                <a:solidFill>
                  <a:srgbClr val="888888"/>
                </a:solidFill>
                <a:latin typeface="Helvetica"/>
                <a:cs typeface="Helvetica"/>
              </a:rPr>
              <a:t>. </a:t>
            </a:r>
            <a:r>
              <a:rPr sz="1000" dirty="0">
                <a:solidFill>
                  <a:srgbClr val="888888"/>
                </a:solidFill>
                <a:latin typeface="Helvetica"/>
                <a:cs typeface="Helvetica"/>
              </a:rPr>
              <a:t>h</a:t>
            </a:r>
            <a:r>
              <a:rPr sz="1000" spc="-5" dirty="0">
                <a:solidFill>
                  <a:srgbClr val="888888"/>
                </a:solidFill>
                <a:latin typeface="Helvetica"/>
                <a:cs typeface="Helvetica"/>
              </a:rPr>
              <a:t>tt</a:t>
            </a:r>
            <a:r>
              <a:rPr sz="1000" dirty="0">
                <a:solidFill>
                  <a:srgbClr val="888888"/>
                </a:solidFill>
                <a:latin typeface="Helvetica"/>
                <a:cs typeface="Helvetica"/>
              </a:rPr>
              <a:t>p</a:t>
            </a:r>
            <a:r>
              <a:rPr sz="1000" spc="-5" dirty="0">
                <a:solidFill>
                  <a:srgbClr val="888888"/>
                </a:solidFill>
                <a:latin typeface="Helvetica"/>
                <a:cs typeface="Helvetica"/>
              </a:rPr>
              <a:t>s://</a:t>
            </a:r>
            <a:r>
              <a:rPr sz="1000" dirty="0">
                <a:solidFill>
                  <a:srgbClr val="888888"/>
                </a:solidFill>
                <a:latin typeface="Helvetica"/>
                <a:cs typeface="Helvetica"/>
              </a:rPr>
              <a:t>en</a:t>
            </a:r>
            <a:r>
              <a:rPr sz="1000" spc="-5" dirty="0">
                <a:solidFill>
                  <a:srgbClr val="888888"/>
                </a:solidFill>
                <a:latin typeface="Helvetica"/>
                <a:cs typeface="Helvetica"/>
              </a:rPr>
              <a:t>.</a:t>
            </a:r>
            <a:r>
              <a:rPr sz="1000" dirty="0">
                <a:solidFill>
                  <a:srgbClr val="888888"/>
                </a:solidFill>
                <a:latin typeface="Helvetica"/>
                <a:cs typeface="Helvetica"/>
              </a:rPr>
              <a:t>wikipedia</a:t>
            </a:r>
            <a:r>
              <a:rPr sz="1000" spc="-5" dirty="0">
                <a:solidFill>
                  <a:srgbClr val="888888"/>
                </a:solidFill>
                <a:latin typeface="Helvetica"/>
                <a:cs typeface="Helvetica"/>
              </a:rPr>
              <a:t>.</a:t>
            </a:r>
            <a:r>
              <a:rPr sz="1000" dirty="0">
                <a:solidFill>
                  <a:srgbClr val="888888"/>
                </a:solidFill>
                <a:latin typeface="Helvetica"/>
                <a:cs typeface="Helvetica"/>
              </a:rPr>
              <a:t>org</a:t>
            </a:r>
            <a:r>
              <a:rPr sz="1000" spc="-5" dirty="0">
                <a:solidFill>
                  <a:srgbClr val="888888"/>
                </a:solidFill>
                <a:latin typeface="Helvetica"/>
                <a:cs typeface="Helvetica"/>
              </a:rPr>
              <a:t>/</a:t>
            </a:r>
            <a:r>
              <a:rPr sz="1000" dirty="0">
                <a:solidFill>
                  <a:srgbClr val="888888"/>
                </a:solidFill>
                <a:latin typeface="Helvetica"/>
                <a:cs typeface="Helvetica"/>
              </a:rPr>
              <a:t>wiki</a:t>
            </a:r>
            <a:r>
              <a:rPr sz="1000" spc="-5" dirty="0">
                <a:solidFill>
                  <a:srgbClr val="888888"/>
                </a:solidFill>
                <a:latin typeface="Helvetica"/>
                <a:cs typeface="Helvetica"/>
              </a:rPr>
              <a:t>/F</a:t>
            </a:r>
            <a:r>
              <a:rPr sz="1000" dirty="0">
                <a:solidFill>
                  <a:srgbClr val="888888"/>
                </a:solidFill>
                <a:latin typeface="Helvetica"/>
                <a:cs typeface="Helvetica"/>
              </a:rPr>
              <a:t>ile</a:t>
            </a:r>
            <a:r>
              <a:rPr sz="1000" spc="-10" dirty="0">
                <a:solidFill>
                  <a:srgbClr val="888888"/>
                </a:solidFill>
                <a:latin typeface="Helvetica"/>
                <a:cs typeface="Helvetica"/>
              </a:rPr>
              <a:t>:O</a:t>
            </a:r>
            <a:r>
              <a:rPr sz="1000" dirty="0">
                <a:solidFill>
                  <a:srgbClr val="888888"/>
                </a:solidFill>
                <a:latin typeface="Helvetica"/>
                <a:cs typeface="Helvetica"/>
              </a:rPr>
              <a:t>don</a:t>
            </a:r>
            <a:r>
              <a:rPr sz="1000" spc="-5" dirty="0">
                <a:solidFill>
                  <a:srgbClr val="888888"/>
                </a:solidFill>
                <a:latin typeface="Helvetica"/>
                <a:cs typeface="Helvetica"/>
              </a:rPr>
              <a:t>t</a:t>
            </a:r>
            <a:r>
              <a:rPr sz="1000" dirty="0">
                <a:solidFill>
                  <a:srgbClr val="888888"/>
                </a:solidFill>
                <a:latin typeface="Helvetica"/>
                <a:cs typeface="Helvetica"/>
              </a:rPr>
              <a:t>omachusHead</a:t>
            </a:r>
            <a:r>
              <a:rPr sz="1000" spc="-10" dirty="0">
                <a:solidFill>
                  <a:srgbClr val="888888"/>
                </a:solidFill>
                <a:latin typeface="Helvetica"/>
                <a:cs typeface="Helvetica"/>
              </a:rPr>
              <a:t>W</a:t>
            </a:r>
            <a:r>
              <a:rPr sz="1000" dirty="0">
                <a:solidFill>
                  <a:srgbClr val="888888"/>
                </a:solidFill>
                <a:latin typeface="Helvetica"/>
                <a:cs typeface="Helvetica"/>
              </a:rPr>
              <a:t>heele</a:t>
            </a:r>
            <a:r>
              <a:rPr sz="1000" spc="-55" dirty="0">
                <a:solidFill>
                  <a:srgbClr val="888888"/>
                </a:solidFill>
                <a:latin typeface="Helvetica"/>
                <a:cs typeface="Helvetica"/>
              </a:rPr>
              <a:t>r</a:t>
            </a:r>
            <a:r>
              <a:rPr sz="1000" spc="-5" dirty="0">
                <a:solidFill>
                  <a:srgbClr val="888888"/>
                </a:solidFill>
                <a:latin typeface="Helvetica"/>
                <a:cs typeface="Helvetica"/>
              </a:rPr>
              <a:t>.</a:t>
            </a:r>
            <a:r>
              <a:rPr sz="1000" dirty="0">
                <a:solidFill>
                  <a:srgbClr val="888888"/>
                </a:solidFill>
                <a:latin typeface="Helvetica"/>
                <a:cs typeface="Helvetica"/>
              </a:rPr>
              <a:t>jpg</a:t>
            </a:r>
            <a:endParaRPr sz="1000" dirty="0">
              <a:latin typeface="Helvetica"/>
              <a:cs typeface="Helvetica"/>
            </a:endParaRPr>
          </a:p>
          <a:p>
            <a:pPr>
              <a:lnSpc>
                <a:spcPct val="100000"/>
              </a:lnSpc>
              <a:spcBef>
                <a:spcPts val="47"/>
              </a:spcBef>
            </a:pPr>
            <a:endParaRPr sz="13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15" dirty="0">
                <a:latin typeface="Calibri"/>
                <a:cs typeface="Calibri"/>
              </a:rPr>
              <a:t>M</a:t>
            </a:r>
            <a:r>
              <a:rPr sz="1600" spc="-25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t</a:t>
            </a:r>
            <a:r>
              <a:rPr sz="1600" dirty="0">
                <a:latin typeface="Calibri"/>
                <a:cs typeface="Calibri"/>
              </a:rPr>
              <a:t>os-</a:t>
            </a:r>
            <a:r>
              <a:rPr sz="1600" spc="-15" dirty="0">
                <a:latin typeface="Calibri"/>
                <a:cs typeface="Calibri"/>
              </a:rPr>
              <a:t>Ma</a:t>
            </a:r>
            <a:r>
              <a:rPr sz="1600" spc="-45" dirty="0">
                <a:latin typeface="Calibri"/>
                <a:cs typeface="Calibri"/>
              </a:rPr>
              <a:t>r</a:t>
            </a:r>
            <a:r>
              <a:rPr sz="1600" spc="-30" dirty="0">
                <a:latin typeface="Calibri"/>
                <a:cs typeface="Calibri"/>
              </a:rPr>
              <a:t>a</a:t>
            </a:r>
            <a:r>
              <a:rPr sz="1600" spc="-10" dirty="0">
                <a:latin typeface="Calibri"/>
                <a:cs typeface="Calibri"/>
              </a:rPr>
              <a:t>v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5" dirty="0">
                <a:latin typeface="Calibri"/>
                <a:cs typeface="Calibri"/>
              </a:rPr>
              <a:t>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M</a:t>
            </a:r>
            <a:r>
              <a:rPr sz="1600" spc="-25" dirty="0">
                <a:latin typeface="Calibri"/>
                <a:cs typeface="Calibri"/>
              </a:rPr>
              <a:t>a</a:t>
            </a:r>
            <a:r>
              <a:rPr sz="1600" spc="-10" dirty="0">
                <a:latin typeface="Calibri"/>
                <a:cs typeface="Calibri"/>
              </a:rPr>
              <a:t>tz</a:t>
            </a:r>
            <a:r>
              <a:rPr sz="1600" spc="-65" dirty="0">
                <a:latin typeface="Calibri"/>
                <a:cs typeface="Calibri"/>
              </a:rPr>
              <a:t>k</a:t>
            </a:r>
            <a:r>
              <a:rPr sz="1600" spc="-10" dirty="0">
                <a:latin typeface="Calibri"/>
                <a:cs typeface="Calibri"/>
              </a:rPr>
              <a:t>e,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e</a:t>
            </a:r>
            <a:r>
              <a:rPr sz="1600" spc="-10" dirty="0">
                <a:latin typeface="Calibri"/>
                <a:cs typeface="Calibri"/>
              </a:rPr>
              <a:t>t</a:t>
            </a:r>
            <a:r>
              <a:rPr sz="1600" dirty="0">
                <a:latin typeface="Calibri"/>
                <a:cs typeface="Calibri"/>
              </a:rPr>
              <a:t> al. </a:t>
            </a:r>
            <a:r>
              <a:rPr sz="1600" spc="-10" dirty="0">
                <a:latin typeface="Calibri"/>
                <a:cs typeface="Calibri"/>
              </a:rPr>
              <a:t>2018,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Mol</a:t>
            </a:r>
            <a:r>
              <a:rPr sz="1600" i="1" spc="-10" dirty="0">
                <a:latin typeface="Calibri"/>
                <a:cs typeface="Calibri"/>
              </a:rPr>
              <a:t>e</a:t>
            </a:r>
            <a:r>
              <a:rPr sz="1600" i="1" dirty="0">
                <a:latin typeface="Calibri"/>
                <a:cs typeface="Calibri"/>
              </a:rPr>
              <a:t>cula</a:t>
            </a:r>
            <a:r>
              <a:rPr sz="1600" i="1" spc="-10" dirty="0">
                <a:latin typeface="Calibri"/>
                <a:cs typeface="Calibri"/>
              </a:rPr>
              <a:t>r</a:t>
            </a:r>
            <a:r>
              <a:rPr sz="1600" i="1" dirty="0">
                <a:latin typeface="Calibri"/>
                <a:cs typeface="Calibri"/>
              </a:rPr>
              <a:t> </a:t>
            </a:r>
            <a:r>
              <a:rPr sz="1600" i="1" spc="-25" dirty="0">
                <a:latin typeface="Calibri"/>
                <a:cs typeface="Calibri"/>
              </a:rPr>
              <a:t>E</a:t>
            </a:r>
            <a:r>
              <a:rPr sz="1600" i="1" spc="-15" dirty="0">
                <a:latin typeface="Calibri"/>
                <a:cs typeface="Calibri"/>
              </a:rPr>
              <a:t>c</a:t>
            </a:r>
            <a:r>
              <a:rPr sz="1600" i="1" dirty="0">
                <a:latin typeface="Calibri"/>
                <a:cs typeface="Calibri"/>
              </a:rPr>
              <a:t>ology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337800" y="4762500"/>
            <a:ext cx="165798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45" dirty="0">
                <a:latin typeface="Calibri"/>
                <a:cs typeface="Calibri"/>
              </a:rPr>
              <a:t>P</a:t>
            </a:r>
            <a:r>
              <a:rPr sz="1600" spc="-30" dirty="0">
                <a:latin typeface="Calibri"/>
                <a:cs typeface="Calibri"/>
              </a:rPr>
              <a:t>av</a:t>
            </a:r>
            <a:r>
              <a:rPr sz="1600" spc="-10" dirty="0">
                <a:latin typeface="Calibri"/>
                <a:cs typeface="Calibri"/>
              </a:rPr>
              <a:t>e</a:t>
            </a:r>
            <a:r>
              <a:rPr sz="1600" dirty="0">
                <a:latin typeface="Calibri"/>
                <a:cs typeface="Calibri"/>
              </a:rPr>
              <a:t>l </a:t>
            </a:r>
            <a:r>
              <a:rPr sz="1600" spc="-15" dirty="0">
                <a:latin typeface="Calibri"/>
                <a:cs typeface="Calibri"/>
              </a:rPr>
              <a:t>M</a:t>
            </a:r>
            <a:r>
              <a:rPr sz="1600" spc="-25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t</a:t>
            </a:r>
            <a:r>
              <a:rPr sz="1600" dirty="0">
                <a:latin typeface="Calibri"/>
                <a:cs typeface="Calibri"/>
              </a:rPr>
              <a:t>os-</a:t>
            </a:r>
            <a:r>
              <a:rPr sz="1600" spc="-15" dirty="0">
                <a:latin typeface="Calibri"/>
                <a:cs typeface="Calibri"/>
              </a:rPr>
              <a:t>Ma</a:t>
            </a:r>
            <a:r>
              <a:rPr sz="1600" spc="-45" dirty="0">
                <a:latin typeface="Calibri"/>
                <a:cs typeface="Calibri"/>
              </a:rPr>
              <a:t>r</a:t>
            </a:r>
            <a:r>
              <a:rPr sz="1600" spc="-30" dirty="0">
                <a:latin typeface="Calibri"/>
                <a:cs typeface="Calibri"/>
              </a:rPr>
              <a:t>a</a:t>
            </a:r>
            <a:r>
              <a:rPr sz="1600" spc="-10" dirty="0">
                <a:latin typeface="Calibri"/>
                <a:cs typeface="Calibri"/>
              </a:rPr>
              <a:t>v</a:t>
            </a:r>
            <a:r>
              <a:rPr sz="1600" dirty="0">
                <a:latin typeface="Calibri"/>
                <a:cs typeface="Calibri"/>
              </a:rPr>
              <a:t>i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36407" y="5579065"/>
            <a:ext cx="152400" cy="352742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dirty="0">
                <a:solidFill>
                  <a:srgbClr val="888888"/>
                </a:solidFill>
                <a:latin typeface="Helvetica"/>
                <a:cs typeface="Helvetica"/>
              </a:rPr>
              <a:t>https://en.wikipedia.org/wiki/File:Odontomachus_monticola.jpg</a:t>
            </a:r>
            <a:endParaRPr sz="1000">
              <a:latin typeface="Helvetica"/>
              <a:cs typeface="Helvetic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982200" y="1943100"/>
            <a:ext cx="48260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5" dirty="0">
                <a:latin typeface="Calibri"/>
                <a:cs typeface="Calibri"/>
              </a:rPr>
              <a:t>With</a:t>
            </a:r>
            <a:r>
              <a:rPr sz="1600" spc="-5" dirty="0">
                <a:latin typeface="Calibri"/>
                <a:cs typeface="Calibri"/>
              </a:rPr>
              <a:t>: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497967" y="5413620"/>
            <a:ext cx="5227453" cy="350677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497967" y="5413619"/>
            <a:ext cx="5227955" cy="3507104"/>
          </a:xfrm>
          <a:custGeom>
            <a:avLst/>
            <a:gdLst/>
            <a:ahLst/>
            <a:cxnLst/>
            <a:rect l="l" t="t" r="r" b="b"/>
            <a:pathLst>
              <a:path w="5227955" h="3507104">
                <a:moveTo>
                  <a:pt x="0" y="0"/>
                </a:moveTo>
                <a:lnTo>
                  <a:pt x="5227453" y="0"/>
                </a:lnTo>
                <a:lnTo>
                  <a:pt x="5227453" y="3506777"/>
                </a:lnTo>
                <a:lnTo>
                  <a:pt x="0" y="3506777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60400" rIns="0" bIns="0" rtlCol="0">
            <a:spAutoFit/>
          </a:bodyPr>
          <a:lstStyle/>
          <a:p>
            <a:pPr marL="1673225">
              <a:lnSpc>
                <a:spcPct val="100000"/>
              </a:lnSpc>
            </a:pPr>
            <a:r>
              <a:rPr spc="-30" dirty="0"/>
              <a:t>Th</a:t>
            </a:r>
            <a:r>
              <a:rPr dirty="0"/>
              <a:t>e</a:t>
            </a:r>
            <a:r>
              <a:rPr spc="-5" dirty="0"/>
              <a:t> </a:t>
            </a:r>
            <a:r>
              <a:rPr spc="-320" dirty="0"/>
              <a:t>T</a:t>
            </a:r>
            <a:r>
              <a:rPr dirty="0"/>
              <a:t>ax</a:t>
            </a:r>
            <a:r>
              <a:rPr spc="-30" dirty="0"/>
              <a:t>o</a:t>
            </a:r>
            <a:r>
              <a:rPr spc="-25" dirty="0"/>
              <a:t>n</a:t>
            </a:r>
            <a:r>
              <a:rPr spc="-5" dirty="0"/>
              <a:t> </a:t>
            </a:r>
            <a:r>
              <a:rPr dirty="0"/>
              <a:t>Cyc</a:t>
            </a:r>
            <a:r>
              <a:rPr spc="-20" dirty="0"/>
              <a:t>l</a:t>
            </a:r>
            <a:r>
              <a:rPr dirty="0"/>
              <a:t>e</a:t>
            </a:r>
            <a:r>
              <a:rPr spc="-5" dirty="0"/>
              <a:t> </a:t>
            </a:r>
            <a:r>
              <a:rPr dirty="0"/>
              <a:t>Hy</a:t>
            </a:r>
            <a:r>
              <a:rPr spc="-30" dirty="0"/>
              <a:t>po</a:t>
            </a:r>
            <a:r>
              <a:rPr spc="-15" dirty="0"/>
              <a:t>t</a:t>
            </a:r>
            <a:r>
              <a:rPr spc="-30" dirty="0"/>
              <a:t>h</a:t>
            </a:r>
            <a:r>
              <a:rPr dirty="0"/>
              <a:t>es</a:t>
            </a:r>
            <a:r>
              <a:rPr spc="-20" dirty="0"/>
              <a:t>i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400" y="9474200"/>
            <a:ext cx="444817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5" dirty="0">
                <a:latin typeface="Calibri"/>
                <a:cs typeface="Calibri"/>
              </a:rPr>
              <a:t>M</a:t>
            </a:r>
            <a:r>
              <a:rPr sz="1600" spc="-25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t</a:t>
            </a:r>
            <a:r>
              <a:rPr sz="1600" dirty="0">
                <a:latin typeface="Calibri"/>
                <a:cs typeface="Calibri"/>
              </a:rPr>
              <a:t>os-</a:t>
            </a:r>
            <a:r>
              <a:rPr sz="1600" spc="-15" dirty="0">
                <a:latin typeface="Calibri"/>
                <a:cs typeface="Calibri"/>
              </a:rPr>
              <a:t>Ma</a:t>
            </a:r>
            <a:r>
              <a:rPr sz="1600" spc="-45" dirty="0">
                <a:latin typeface="Calibri"/>
                <a:cs typeface="Calibri"/>
              </a:rPr>
              <a:t>r</a:t>
            </a:r>
            <a:r>
              <a:rPr sz="1600" spc="-30" dirty="0">
                <a:latin typeface="Calibri"/>
                <a:cs typeface="Calibri"/>
              </a:rPr>
              <a:t>a</a:t>
            </a:r>
            <a:r>
              <a:rPr sz="1600" spc="-10" dirty="0">
                <a:latin typeface="Calibri"/>
                <a:cs typeface="Calibri"/>
              </a:rPr>
              <a:t>v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5" dirty="0">
                <a:latin typeface="Calibri"/>
                <a:cs typeface="Calibri"/>
              </a:rPr>
              <a:t>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M</a:t>
            </a:r>
            <a:r>
              <a:rPr sz="1600" spc="-25" dirty="0">
                <a:latin typeface="Calibri"/>
                <a:cs typeface="Calibri"/>
              </a:rPr>
              <a:t>a</a:t>
            </a:r>
            <a:r>
              <a:rPr sz="1600" spc="-10" dirty="0">
                <a:latin typeface="Calibri"/>
                <a:cs typeface="Calibri"/>
              </a:rPr>
              <a:t>tz</a:t>
            </a:r>
            <a:r>
              <a:rPr sz="1600" spc="-65" dirty="0">
                <a:latin typeface="Calibri"/>
                <a:cs typeface="Calibri"/>
              </a:rPr>
              <a:t>k</a:t>
            </a:r>
            <a:r>
              <a:rPr sz="1600" spc="-10" dirty="0">
                <a:latin typeface="Calibri"/>
                <a:cs typeface="Calibri"/>
              </a:rPr>
              <a:t>e,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e</a:t>
            </a:r>
            <a:r>
              <a:rPr sz="1600" spc="-10" dirty="0">
                <a:latin typeface="Calibri"/>
                <a:cs typeface="Calibri"/>
              </a:rPr>
              <a:t>t</a:t>
            </a:r>
            <a:r>
              <a:rPr sz="1600" dirty="0">
                <a:latin typeface="Calibri"/>
                <a:cs typeface="Calibri"/>
              </a:rPr>
              <a:t> al. </a:t>
            </a:r>
            <a:r>
              <a:rPr sz="1600" spc="-10" dirty="0">
                <a:latin typeface="Calibri"/>
                <a:cs typeface="Calibri"/>
              </a:rPr>
              <a:t>2018,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Mol</a:t>
            </a:r>
            <a:r>
              <a:rPr sz="1600" i="1" spc="-10" dirty="0">
                <a:latin typeface="Calibri"/>
                <a:cs typeface="Calibri"/>
              </a:rPr>
              <a:t>e</a:t>
            </a:r>
            <a:r>
              <a:rPr sz="1600" i="1" dirty="0">
                <a:latin typeface="Calibri"/>
                <a:cs typeface="Calibri"/>
              </a:rPr>
              <a:t>cula</a:t>
            </a:r>
            <a:r>
              <a:rPr sz="1600" i="1" spc="-10" dirty="0">
                <a:latin typeface="Calibri"/>
                <a:cs typeface="Calibri"/>
              </a:rPr>
              <a:t>r</a:t>
            </a:r>
            <a:r>
              <a:rPr sz="1600" i="1" dirty="0">
                <a:latin typeface="Calibri"/>
                <a:cs typeface="Calibri"/>
              </a:rPr>
              <a:t> </a:t>
            </a:r>
            <a:r>
              <a:rPr sz="1600" i="1" spc="-25" dirty="0">
                <a:latin typeface="Calibri"/>
                <a:cs typeface="Calibri"/>
              </a:rPr>
              <a:t>E</a:t>
            </a:r>
            <a:r>
              <a:rPr sz="1600" i="1" spc="-15" dirty="0">
                <a:latin typeface="Calibri"/>
                <a:cs typeface="Calibri"/>
              </a:rPr>
              <a:t>c</a:t>
            </a:r>
            <a:r>
              <a:rPr sz="1600" i="1" dirty="0">
                <a:latin typeface="Calibri"/>
                <a:cs typeface="Calibri"/>
              </a:rPr>
              <a:t>ology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65529" y="1522031"/>
            <a:ext cx="8848375" cy="427030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65529" y="1522031"/>
            <a:ext cx="8848725" cy="4270375"/>
          </a:xfrm>
          <a:custGeom>
            <a:avLst/>
            <a:gdLst/>
            <a:ahLst/>
            <a:cxnLst/>
            <a:rect l="l" t="t" r="r" b="b"/>
            <a:pathLst>
              <a:path w="8848725" h="4270375">
                <a:moveTo>
                  <a:pt x="0" y="0"/>
                </a:moveTo>
                <a:lnTo>
                  <a:pt x="8848375" y="0"/>
                </a:lnTo>
                <a:lnTo>
                  <a:pt x="8848375" y="4270302"/>
                </a:lnTo>
                <a:lnTo>
                  <a:pt x="0" y="427030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911600" y="5877049"/>
            <a:ext cx="66421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888888"/>
                </a:solidFill>
                <a:latin typeface="Helvetica"/>
                <a:cs typeface="Helvetica"/>
                <a:hlinkClick r:id="rId4"/>
              </a:rPr>
              <a:t>h</a:t>
            </a:r>
            <a:r>
              <a:rPr sz="1200" spc="-5" dirty="0">
                <a:solidFill>
                  <a:srgbClr val="888888"/>
                </a:solidFill>
                <a:latin typeface="Helvetica"/>
                <a:cs typeface="Helvetica"/>
                <a:hlinkClick r:id="rId4"/>
              </a:rPr>
              <a:t>ttp://ww</a:t>
            </a:r>
            <a:r>
              <a:rPr sz="1200" spc="-70" dirty="0">
                <a:solidFill>
                  <a:srgbClr val="888888"/>
                </a:solidFill>
                <a:latin typeface="Helvetica"/>
                <a:cs typeface="Helvetica"/>
                <a:hlinkClick r:id="rId4"/>
              </a:rPr>
              <a:t>w</a:t>
            </a:r>
            <a:r>
              <a:rPr sz="1200" spc="-5" dirty="0">
                <a:solidFill>
                  <a:srgbClr val="888888"/>
                </a:solidFill>
                <a:latin typeface="Helvetica"/>
                <a:cs typeface="Helvetica"/>
                <a:hlinkClick r:id="rId4"/>
              </a:rPr>
              <a:t>.</a:t>
            </a:r>
            <a:r>
              <a:rPr sz="1200" dirty="0">
                <a:solidFill>
                  <a:srgbClr val="888888"/>
                </a:solidFill>
                <a:latin typeface="Helvetica"/>
                <a:cs typeface="Helvetica"/>
                <a:hlinkClick r:id="rId4"/>
              </a:rPr>
              <a:t>ourdailyread</a:t>
            </a:r>
            <a:r>
              <a:rPr sz="1200" spc="-5" dirty="0">
                <a:solidFill>
                  <a:srgbClr val="888888"/>
                </a:solidFill>
                <a:latin typeface="Helvetica"/>
                <a:cs typeface="Helvetica"/>
                <a:hlinkClick r:id="rId4"/>
              </a:rPr>
              <a:t>.</a:t>
            </a:r>
            <a:r>
              <a:rPr sz="1200" dirty="0">
                <a:solidFill>
                  <a:srgbClr val="888888"/>
                </a:solidFill>
                <a:latin typeface="Helvetica"/>
                <a:cs typeface="Helvetica"/>
                <a:hlinkClick r:id="rId4"/>
              </a:rPr>
              <a:t>co</a:t>
            </a:r>
            <a:r>
              <a:rPr sz="1200" spc="-10" dirty="0">
                <a:solidFill>
                  <a:srgbClr val="888888"/>
                </a:solidFill>
                <a:latin typeface="Helvetica"/>
                <a:cs typeface="Helvetica"/>
                <a:hlinkClick r:id="rId4"/>
              </a:rPr>
              <a:t>m/</a:t>
            </a:r>
            <a:r>
              <a:rPr sz="1200" dirty="0">
                <a:solidFill>
                  <a:srgbClr val="888888"/>
                </a:solidFill>
                <a:latin typeface="Helvetica"/>
                <a:cs typeface="Helvetica"/>
                <a:hlinkClick r:id="rId4"/>
              </a:rPr>
              <a:t>2015</a:t>
            </a:r>
            <a:r>
              <a:rPr sz="1200" spc="-5" dirty="0">
                <a:solidFill>
                  <a:srgbClr val="888888"/>
                </a:solidFill>
                <a:latin typeface="Helvetica"/>
                <a:cs typeface="Helvetica"/>
                <a:hlinkClick r:id="rId4"/>
              </a:rPr>
              <a:t>/</a:t>
            </a:r>
            <a:r>
              <a:rPr sz="1200" dirty="0">
                <a:solidFill>
                  <a:srgbClr val="888888"/>
                </a:solidFill>
                <a:latin typeface="Helvetica"/>
                <a:cs typeface="Helvetica"/>
                <a:hlinkClick r:id="rId4"/>
              </a:rPr>
              <a:t>04</a:t>
            </a:r>
            <a:r>
              <a:rPr sz="1200" spc="-5" dirty="0">
                <a:solidFill>
                  <a:srgbClr val="888888"/>
                </a:solidFill>
                <a:latin typeface="Helvetica"/>
                <a:cs typeface="Helvetica"/>
                <a:hlinkClick r:id="rId4"/>
              </a:rPr>
              <a:t>/</a:t>
            </a:r>
            <a:r>
              <a:rPr sz="1200" dirty="0">
                <a:solidFill>
                  <a:srgbClr val="888888"/>
                </a:solidFill>
                <a:latin typeface="Helvetica"/>
                <a:cs typeface="Helvetica"/>
                <a:hlinkClick r:id="rId4"/>
              </a:rPr>
              <a:t>island-biogeography-revisi</a:t>
            </a:r>
            <a:r>
              <a:rPr sz="1200" spc="-5" dirty="0">
                <a:solidFill>
                  <a:srgbClr val="888888"/>
                </a:solidFill>
                <a:latin typeface="Helvetica"/>
                <a:cs typeface="Helvetica"/>
                <a:hlinkClick r:id="rId4"/>
              </a:rPr>
              <a:t>t</a:t>
            </a:r>
            <a:r>
              <a:rPr sz="1200" dirty="0">
                <a:solidFill>
                  <a:srgbClr val="888888"/>
                </a:solidFill>
                <a:latin typeface="Helvetica"/>
                <a:cs typeface="Helvetica"/>
                <a:hlinkClick r:id="rId4"/>
              </a:rPr>
              <a:t>ed-online-book-club-chap</a:t>
            </a:r>
            <a:r>
              <a:rPr sz="1200" spc="-5" dirty="0">
                <a:solidFill>
                  <a:srgbClr val="888888"/>
                </a:solidFill>
                <a:latin typeface="Helvetica"/>
                <a:cs typeface="Helvetica"/>
                <a:hlinkClick r:id="rId4"/>
              </a:rPr>
              <a:t>t</a:t>
            </a:r>
            <a:r>
              <a:rPr sz="1200" dirty="0">
                <a:solidFill>
                  <a:srgbClr val="888888"/>
                </a:solidFill>
                <a:latin typeface="Helvetica"/>
                <a:cs typeface="Helvetica"/>
                <a:hlinkClick r:id="rId4"/>
              </a:rPr>
              <a:t>er-one</a:t>
            </a:r>
            <a:r>
              <a:rPr sz="1200" spc="-5" dirty="0">
                <a:solidFill>
                  <a:srgbClr val="888888"/>
                </a:solidFill>
                <a:latin typeface="Helvetica"/>
                <a:cs typeface="Helvetica"/>
                <a:hlinkClick r:id="rId4"/>
              </a:rPr>
              <a:t>/</a:t>
            </a:r>
            <a:endParaRPr sz="120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60400" rIns="0" bIns="0" rtlCol="0">
            <a:spAutoFit/>
          </a:bodyPr>
          <a:lstStyle/>
          <a:p>
            <a:pPr marL="1673225">
              <a:lnSpc>
                <a:spcPct val="100000"/>
              </a:lnSpc>
            </a:pPr>
            <a:r>
              <a:rPr spc="-30" dirty="0"/>
              <a:t>Th</a:t>
            </a:r>
            <a:r>
              <a:rPr dirty="0"/>
              <a:t>e</a:t>
            </a:r>
            <a:r>
              <a:rPr spc="-5" dirty="0"/>
              <a:t> </a:t>
            </a:r>
            <a:r>
              <a:rPr spc="-320" dirty="0"/>
              <a:t>T</a:t>
            </a:r>
            <a:r>
              <a:rPr dirty="0"/>
              <a:t>ax</a:t>
            </a:r>
            <a:r>
              <a:rPr spc="-30" dirty="0"/>
              <a:t>o</a:t>
            </a:r>
            <a:r>
              <a:rPr spc="-25" dirty="0"/>
              <a:t>n</a:t>
            </a:r>
            <a:r>
              <a:rPr spc="-5" dirty="0"/>
              <a:t> </a:t>
            </a:r>
            <a:r>
              <a:rPr dirty="0"/>
              <a:t>Cyc</a:t>
            </a:r>
            <a:r>
              <a:rPr spc="-20" dirty="0"/>
              <a:t>l</a:t>
            </a:r>
            <a:r>
              <a:rPr dirty="0"/>
              <a:t>e</a:t>
            </a:r>
            <a:r>
              <a:rPr spc="-5" dirty="0"/>
              <a:t> </a:t>
            </a:r>
            <a:r>
              <a:rPr dirty="0"/>
              <a:t>Hy</a:t>
            </a:r>
            <a:r>
              <a:rPr spc="-30" dirty="0"/>
              <a:t>po</a:t>
            </a:r>
            <a:r>
              <a:rPr spc="-15" dirty="0"/>
              <a:t>t</a:t>
            </a:r>
            <a:r>
              <a:rPr spc="-30" dirty="0"/>
              <a:t>h</a:t>
            </a:r>
            <a:r>
              <a:rPr dirty="0"/>
              <a:t>es</a:t>
            </a:r>
            <a:r>
              <a:rPr spc="-20" dirty="0"/>
              <a:t>i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400" y="9474200"/>
            <a:ext cx="444817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5" dirty="0">
                <a:latin typeface="Calibri"/>
                <a:cs typeface="Calibri"/>
              </a:rPr>
              <a:t>M</a:t>
            </a:r>
            <a:r>
              <a:rPr sz="1600" spc="-25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t</a:t>
            </a:r>
            <a:r>
              <a:rPr sz="1600" dirty="0">
                <a:latin typeface="Calibri"/>
                <a:cs typeface="Calibri"/>
              </a:rPr>
              <a:t>os-</a:t>
            </a:r>
            <a:r>
              <a:rPr sz="1600" spc="-15" dirty="0">
                <a:latin typeface="Calibri"/>
                <a:cs typeface="Calibri"/>
              </a:rPr>
              <a:t>Ma</a:t>
            </a:r>
            <a:r>
              <a:rPr sz="1600" spc="-45" dirty="0">
                <a:latin typeface="Calibri"/>
                <a:cs typeface="Calibri"/>
              </a:rPr>
              <a:t>r</a:t>
            </a:r>
            <a:r>
              <a:rPr sz="1600" spc="-30" dirty="0">
                <a:latin typeface="Calibri"/>
                <a:cs typeface="Calibri"/>
              </a:rPr>
              <a:t>a</a:t>
            </a:r>
            <a:r>
              <a:rPr sz="1600" spc="-10" dirty="0">
                <a:latin typeface="Calibri"/>
                <a:cs typeface="Calibri"/>
              </a:rPr>
              <a:t>v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5" dirty="0">
                <a:latin typeface="Calibri"/>
                <a:cs typeface="Calibri"/>
              </a:rPr>
              <a:t>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M</a:t>
            </a:r>
            <a:r>
              <a:rPr sz="1600" spc="-25" dirty="0">
                <a:latin typeface="Calibri"/>
                <a:cs typeface="Calibri"/>
              </a:rPr>
              <a:t>a</a:t>
            </a:r>
            <a:r>
              <a:rPr sz="1600" spc="-10" dirty="0">
                <a:latin typeface="Calibri"/>
                <a:cs typeface="Calibri"/>
              </a:rPr>
              <a:t>tz</a:t>
            </a:r>
            <a:r>
              <a:rPr sz="1600" spc="-65" dirty="0">
                <a:latin typeface="Calibri"/>
                <a:cs typeface="Calibri"/>
              </a:rPr>
              <a:t>k</a:t>
            </a:r>
            <a:r>
              <a:rPr sz="1600" spc="-10" dirty="0">
                <a:latin typeface="Calibri"/>
                <a:cs typeface="Calibri"/>
              </a:rPr>
              <a:t>e,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e</a:t>
            </a:r>
            <a:r>
              <a:rPr sz="1600" spc="-10" dirty="0">
                <a:latin typeface="Calibri"/>
                <a:cs typeface="Calibri"/>
              </a:rPr>
              <a:t>t</a:t>
            </a:r>
            <a:r>
              <a:rPr sz="1600" dirty="0">
                <a:latin typeface="Calibri"/>
                <a:cs typeface="Calibri"/>
              </a:rPr>
              <a:t> al. </a:t>
            </a:r>
            <a:r>
              <a:rPr sz="1600" spc="-10" dirty="0">
                <a:latin typeface="Calibri"/>
                <a:cs typeface="Calibri"/>
              </a:rPr>
              <a:t>2018,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Mol</a:t>
            </a:r>
            <a:r>
              <a:rPr sz="1600" i="1" spc="-10" dirty="0">
                <a:latin typeface="Calibri"/>
                <a:cs typeface="Calibri"/>
              </a:rPr>
              <a:t>e</a:t>
            </a:r>
            <a:r>
              <a:rPr sz="1600" i="1" dirty="0">
                <a:latin typeface="Calibri"/>
                <a:cs typeface="Calibri"/>
              </a:rPr>
              <a:t>cula</a:t>
            </a:r>
            <a:r>
              <a:rPr sz="1600" i="1" spc="-10" dirty="0">
                <a:latin typeface="Calibri"/>
                <a:cs typeface="Calibri"/>
              </a:rPr>
              <a:t>r</a:t>
            </a:r>
            <a:r>
              <a:rPr sz="1600" i="1" dirty="0">
                <a:latin typeface="Calibri"/>
                <a:cs typeface="Calibri"/>
              </a:rPr>
              <a:t> </a:t>
            </a:r>
            <a:r>
              <a:rPr sz="1600" i="1" spc="-25" dirty="0">
                <a:latin typeface="Calibri"/>
                <a:cs typeface="Calibri"/>
              </a:rPr>
              <a:t>E</a:t>
            </a:r>
            <a:r>
              <a:rPr sz="1600" i="1" spc="-15" dirty="0">
                <a:latin typeface="Calibri"/>
                <a:cs typeface="Calibri"/>
              </a:rPr>
              <a:t>c</a:t>
            </a:r>
            <a:r>
              <a:rPr sz="1600" i="1" dirty="0">
                <a:latin typeface="Calibri"/>
                <a:cs typeface="Calibri"/>
              </a:rPr>
              <a:t>ology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65529" y="1522031"/>
            <a:ext cx="8848375" cy="427030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65529" y="1522031"/>
            <a:ext cx="8848725" cy="4270375"/>
          </a:xfrm>
          <a:custGeom>
            <a:avLst/>
            <a:gdLst/>
            <a:ahLst/>
            <a:cxnLst/>
            <a:rect l="l" t="t" r="r" b="b"/>
            <a:pathLst>
              <a:path w="8848725" h="4270375">
                <a:moveTo>
                  <a:pt x="0" y="0"/>
                </a:moveTo>
                <a:lnTo>
                  <a:pt x="8848375" y="0"/>
                </a:lnTo>
                <a:lnTo>
                  <a:pt x="8848375" y="4270302"/>
                </a:lnTo>
                <a:lnTo>
                  <a:pt x="0" y="427030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911600" y="5877049"/>
            <a:ext cx="66421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888888"/>
                </a:solidFill>
                <a:latin typeface="Helvetica"/>
                <a:cs typeface="Helvetica"/>
                <a:hlinkClick r:id="rId4"/>
              </a:rPr>
              <a:t>h</a:t>
            </a:r>
            <a:r>
              <a:rPr sz="1200" spc="-5" dirty="0">
                <a:solidFill>
                  <a:srgbClr val="888888"/>
                </a:solidFill>
                <a:latin typeface="Helvetica"/>
                <a:cs typeface="Helvetica"/>
                <a:hlinkClick r:id="rId4"/>
              </a:rPr>
              <a:t>ttp://ww</a:t>
            </a:r>
            <a:r>
              <a:rPr sz="1200" spc="-70" dirty="0">
                <a:solidFill>
                  <a:srgbClr val="888888"/>
                </a:solidFill>
                <a:latin typeface="Helvetica"/>
                <a:cs typeface="Helvetica"/>
                <a:hlinkClick r:id="rId4"/>
              </a:rPr>
              <a:t>w</a:t>
            </a:r>
            <a:r>
              <a:rPr sz="1200" spc="-5" dirty="0">
                <a:solidFill>
                  <a:srgbClr val="888888"/>
                </a:solidFill>
                <a:latin typeface="Helvetica"/>
                <a:cs typeface="Helvetica"/>
                <a:hlinkClick r:id="rId4"/>
              </a:rPr>
              <a:t>.</a:t>
            </a:r>
            <a:r>
              <a:rPr sz="1200" dirty="0">
                <a:solidFill>
                  <a:srgbClr val="888888"/>
                </a:solidFill>
                <a:latin typeface="Helvetica"/>
                <a:cs typeface="Helvetica"/>
                <a:hlinkClick r:id="rId4"/>
              </a:rPr>
              <a:t>ourdailyread</a:t>
            </a:r>
            <a:r>
              <a:rPr sz="1200" spc="-5" dirty="0">
                <a:solidFill>
                  <a:srgbClr val="888888"/>
                </a:solidFill>
                <a:latin typeface="Helvetica"/>
                <a:cs typeface="Helvetica"/>
                <a:hlinkClick r:id="rId4"/>
              </a:rPr>
              <a:t>.</a:t>
            </a:r>
            <a:r>
              <a:rPr sz="1200" dirty="0">
                <a:solidFill>
                  <a:srgbClr val="888888"/>
                </a:solidFill>
                <a:latin typeface="Helvetica"/>
                <a:cs typeface="Helvetica"/>
                <a:hlinkClick r:id="rId4"/>
              </a:rPr>
              <a:t>co</a:t>
            </a:r>
            <a:r>
              <a:rPr sz="1200" spc="-10" dirty="0">
                <a:solidFill>
                  <a:srgbClr val="888888"/>
                </a:solidFill>
                <a:latin typeface="Helvetica"/>
                <a:cs typeface="Helvetica"/>
                <a:hlinkClick r:id="rId4"/>
              </a:rPr>
              <a:t>m/</a:t>
            </a:r>
            <a:r>
              <a:rPr sz="1200" dirty="0">
                <a:solidFill>
                  <a:srgbClr val="888888"/>
                </a:solidFill>
                <a:latin typeface="Helvetica"/>
                <a:cs typeface="Helvetica"/>
                <a:hlinkClick r:id="rId4"/>
              </a:rPr>
              <a:t>2015</a:t>
            </a:r>
            <a:r>
              <a:rPr sz="1200" spc="-5" dirty="0">
                <a:solidFill>
                  <a:srgbClr val="888888"/>
                </a:solidFill>
                <a:latin typeface="Helvetica"/>
                <a:cs typeface="Helvetica"/>
                <a:hlinkClick r:id="rId4"/>
              </a:rPr>
              <a:t>/</a:t>
            </a:r>
            <a:r>
              <a:rPr sz="1200" dirty="0">
                <a:solidFill>
                  <a:srgbClr val="888888"/>
                </a:solidFill>
                <a:latin typeface="Helvetica"/>
                <a:cs typeface="Helvetica"/>
                <a:hlinkClick r:id="rId4"/>
              </a:rPr>
              <a:t>04</a:t>
            </a:r>
            <a:r>
              <a:rPr sz="1200" spc="-5" dirty="0">
                <a:solidFill>
                  <a:srgbClr val="888888"/>
                </a:solidFill>
                <a:latin typeface="Helvetica"/>
                <a:cs typeface="Helvetica"/>
                <a:hlinkClick r:id="rId4"/>
              </a:rPr>
              <a:t>/</a:t>
            </a:r>
            <a:r>
              <a:rPr sz="1200" dirty="0">
                <a:solidFill>
                  <a:srgbClr val="888888"/>
                </a:solidFill>
                <a:latin typeface="Helvetica"/>
                <a:cs typeface="Helvetica"/>
                <a:hlinkClick r:id="rId4"/>
              </a:rPr>
              <a:t>island-biogeography-revisi</a:t>
            </a:r>
            <a:r>
              <a:rPr sz="1200" spc="-5" dirty="0">
                <a:solidFill>
                  <a:srgbClr val="888888"/>
                </a:solidFill>
                <a:latin typeface="Helvetica"/>
                <a:cs typeface="Helvetica"/>
                <a:hlinkClick r:id="rId4"/>
              </a:rPr>
              <a:t>t</a:t>
            </a:r>
            <a:r>
              <a:rPr sz="1200" dirty="0">
                <a:solidFill>
                  <a:srgbClr val="888888"/>
                </a:solidFill>
                <a:latin typeface="Helvetica"/>
                <a:cs typeface="Helvetica"/>
                <a:hlinkClick r:id="rId4"/>
              </a:rPr>
              <a:t>ed-online-book-club-chap</a:t>
            </a:r>
            <a:r>
              <a:rPr sz="1200" spc="-5" dirty="0">
                <a:solidFill>
                  <a:srgbClr val="888888"/>
                </a:solidFill>
                <a:latin typeface="Helvetica"/>
                <a:cs typeface="Helvetica"/>
                <a:hlinkClick r:id="rId4"/>
              </a:rPr>
              <a:t>t</a:t>
            </a:r>
            <a:r>
              <a:rPr sz="1200" dirty="0">
                <a:solidFill>
                  <a:srgbClr val="888888"/>
                </a:solidFill>
                <a:latin typeface="Helvetica"/>
                <a:cs typeface="Helvetica"/>
                <a:hlinkClick r:id="rId4"/>
              </a:rPr>
              <a:t>er-one</a:t>
            </a:r>
            <a:r>
              <a:rPr sz="1200" spc="-5" dirty="0">
                <a:solidFill>
                  <a:srgbClr val="888888"/>
                </a:solidFill>
                <a:latin typeface="Helvetica"/>
                <a:cs typeface="Helvetica"/>
                <a:hlinkClick r:id="rId4"/>
              </a:rPr>
              <a:t>/</a:t>
            </a:r>
            <a:endParaRPr sz="1200">
              <a:latin typeface="Helvetica"/>
              <a:cs typeface="Helvetic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9300" y="6907522"/>
            <a:ext cx="5189220" cy="177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</a:pPr>
            <a:r>
              <a:rPr sz="3000" b="1" spc="-20" dirty="0">
                <a:latin typeface="Helvetica"/>
                <a:cs typeface="Helvetica"/>
              </a:rPr>
              <a:t>Our</a:t>
            </a:r>
            <a:r>
              <a:rPr sz="3000" b="1" spc="-5" dirty="0">
                <a:latin typeface="Helvetica"/>
                <a:cs typeface="Helvetica"/>
              </a:rPr>
              <a:t> </a:t>
            </a:r>
            <a:r>
              <a:rPr sz="3000" b="1" spc="-20" dirty="0">
                <a:latin typeface="Helvetica"/>
                <a:cs typeface="Helvetica"/>
              </a:rPr>
              <a:t>biogeographical</a:t>
            </a:r>
            <a:r>
              <a:rPr sz="3000" b="1" spc="-15" dirty="0">
                <a:latin typeface="Helvetica"/>
                <a:cs typeface="Helvetica"/>
              </a:rPr>
              <a:t> </a:t>
            </a:r>
            <a:r>
              <a:rPr sz="3000" b="1" spc="-25" dirty="0">
                <a:latin typeface="Helvetica"/>
                <a:cs typeface="Helvetica"/>
              </a:rPr>
              <a:t>models</a:t>
            </a:r>
            <a:r>
              <a:rPr sz="3000" b="1" spc="-15" dirty="0">
                <a:latin typeface="Helvetica"/>
                <a:cs typeface="Helvetica"/>
              </a:rPr>
              <a:t> </a:t>
            </a:r>
            <a:r>
              <a:rPr sz="3000" b="1" spc="-25" dirty="0">
                <a:latin typeface="Helvetica"/>
                <a:cs typeface="Helvetica"/>
              </a:rPr>
              <a:t>don</a:t>
            </a:r>
            <a:r>
              <a:rPr sz="3000" b="1" spc="-10" dirty="0">
                <a:latin typeface="Helvetica"/>
                <a:cs typeface="Helvetica"/>
              </a:rPr>
              <a:t>’</a:t>
            </a:r>
            <a:r>
              <a:rPr sz="3000" b="1" dirty="0">
                <a:latin typeface="Helvetica"/>
                <a:cs typeface="Helvetica"/>
              </a:rPr>
              <a:t>t</a:t>
            </a:r>
            <a:r>
              <a:rPr sz="3000" b="1" spc="-5" dirty="0">
                <a:latin typeface="Helvetica"/>
                <a:cs typeface="Helvetica"/>
              </a:rPr>
              <a:t> </a:t>
            </a:r>
            <a:r>
              <a:rPr sz="3000" b="1" dirty="0">
                <a:latin typeface="Helvetica"/>
                <a:cs typeface="Helvetica"/>
              </a:rPr>
              <a:t>test</a:t>
            </a:r>
            <a:r>
              <a:rPr sz="3000" b="1" spc="-5" dirty="0">
                <a:latin typeface="Helvetica"/>
                <a:cs typeface="Helvetica"/>
              </a:rPr>
              <a:t> </a:t>
            </a:r>
            <a:r>
              <a:rPr sz="3000" b="1" dirty="0">
                <a:latin typeface="Helvetica"/>
                <a:cs typeface="Helvetica"/>
              </a:rPr>
              <a:t>a</a:t>
            </a:r>
            <a:r>
              <a:rPr sz="3000" b="1" spc="-10" dirty="0">
                <a:latin typeface="Helvetica"/>
                <a:cs typeface="Helvetica"/>
              </a:rPr>
              <a:t>ll</a:t>
            </a:r>
            <a:r>
              <a:rPr sz="3000" b="1" spc="-5" dirty="0">
                <a:latin typeface="Helvetica"/>
                <a:cs typeface="Helvetica"/>
              </a:rPr>
              <a:t> </a:t>
            </a:r>
            <a:r>
              <a:rPr sz="3000" b="1" dirty="0">
                <a:latin typeface="Helvetica"/>
                <a:cs typeface="Helvetica"/>
              </a:rPr>
              <a:t>as</a:t>
            </a:r>
            <a:r>
              <a:rPr sz="3000" b="1" spc="-25" dirty="0">
                <a:latin typeface="Helvetica"/>
                <a:cs typeface="Helvetica"/>
              </a:rPr>
              <a:t>p</a:t>
            </a:r>
            <a:r>
              <a:rPr sz="3000" b="1" dirty="0">
                <a:latin typeface="Helvetica"/>
                <a:cs typeface="Helvetica"/>
              </a:rPr>
              <a:t>ects</a:t>
            </a:r>
            <a:r>
              <a:rPr sz="3000" b="1" spc="-5" dirty="0">
                <a:latin typeface="Helvetica"/>
                <a:cs typeface="Helvetica"/>
              </a:rPr>
              <a:t> </a:t>
            </a:r>
            <a:r>
              <a:rPr sz="3000" b="1" spc="-25" dirty="0">
                <a:latin typeface="Helvetica"/>
                <a:cs typeface="Helvetica"/>
              </a:rPr>
              <a:t>o</a:t>
            </a:r>
            <a:r>
              <a:rPr sz="3000" b="1" dirty="0">
                <a:latin typeface="Helvetica"/>
                <a:cs typeface="Helvetica"/>
              </a:rPr>
              <a:t>f</a:t>
            </a:r>
            <a:r>
              <a:rPr sz="3000" b="1" spc="-5" dirty="0">
                <a:latin typeface="Helvetica"/>
                <a:cs typeface="Helvetica"/>
              </a:rPr>
              <a:t> </a:t>
            </a:r>
            <a:r>
              <a:rPr sz="3000" b="1" spc="-10" dirty="0">
                <a:latin typeface="Helvetica"/>
                <a:cs typeface="Helvetica"/>
              </a:rPr>
              <a:t>t</a:t>
            </a:r>
            <a:r>
              <a:rPr sz="3000" b="1" spc="-25" dirty="0">
                <a:latin typeface="Helvetica"/>
                <a:cs typeface="Helvetica"/>
              </a:rPr>
              <a:t>h</a:t>
            </a:r>
            <a:r>
              <a:rPr sz="3000" b="1" dirty="0">
                <a:latin typeface="Helvetica"/>
                <a:cs typeface="Helvetica"/>
              </a:rPr>
              <a:t>e </a:t>
            </a:r>
            <a:r>
              <a:rPr sz="3000" b="1" spc="-245" dirty="0">
                <a:latin typeface="Helvetica"/>
                <a:cs typeface="Helvetica"/>
              </a:rPr>
              <a:t>T</a:t>
            </a:r>
            <a:r>
              <a:rPr sz="3000" b="1" spc="-25" dirty="0">
                <a:latin typeface="Helvetica"/>
                <a:cs typeface="Helvetica"/>
              </a:rPr>
              <a:t>a</a:t>
            </a:r>
            <a:r>
              <a:rPr sz="3000" b="1" spc="-5" dirty="0">
                <a:latin typeface="Helvetica"/>
                <a:cs typeface="Helvetica"/>
              </a:rPr>
              <a:t>x</a:t>
            </a:r>
            <a:r>
              <a:rPr sz="3000" b="1" spc="-20" dirty="0">
                <a:latin typeface="Helvetica"/>
                <a:cs typeface="Helvetica"/>
              </a:rPr>
              <a:t>on</a:t>
            </a:r>
            <a:r>
              <a:rPr sz="3000" b="1" dirty="0">
                <a:latin typeface="Helvetica"/>
                <a:cs typeface="Helvetica"/>
              </a:rPr>
              <a:t> </a:t>
            </a:r>
            <a:r>
              <a:rPr sz="3000" b="1" spc="-5" dirty="0">
                <a:latin typeface="Helvetica"/>
                <a:cs typeface="Helvetica"/>
              </a:rPr>
              <a:t>Cyc</a:t>
            </a:r>
            <a:r>
              <a:rPr sz="3000" b="1" spc="-10" dirty="0">
                <a:latin typeface="Helvetica"/>
                <a:cs typeface="Helvetica"/>
              </a:rPr>
              <a:t>l</a:t>
            </a:r>
            <a:r>
              <a:rPr sz="3000" b="1" dirty="0">
                <a:latin typeface="Helvetica"/>
                <a:cs typeface="Helvetica"/>
              </a:rPr>
              <a:t>e </a:t>
            </a:r>
            <a:r>
              <a:rPr sz="3000" b="1" spc="-15" dirty="0">
                <a:latin typeface="Helvetica"/>
                <a:cs typeface="Helvetica"/>
              </a:rPr>
              <a:t>id</a:t>
            </a:r>
            <a:r>
              <a:rPr sz="3000" b="1" spc="-5" dirty="0">
                <a:latin typeface="Helvetica"/>
                <a:cs typeface="Helvetica"/>
              </a:rPr>
              <a:t>e</a:t>
            </a:r>
            <a:r>
              <a:rPr sz="3000" b="1" dirty="0">
                <a:latin typeface="Helvetica"/>
                <a:cs typeface="Helvetica"/>
              </a:rPr>
              <a:t>a</a:t>
            </a:r>
            <a:endParaRPr sz="3000">
              <a:latin typeface="Helvetica"/>
              <a:cs typeface="Helvetica"/>
            </a:endParaRPr>
          </a:p>
          <a:p>
            <a:pPr algn="ctr">
              <a:lnSpc>
                <a:spcPct val="100000"/>
              </a:lnSpc>
            </a:pPr>
            <a:r>
              <a:rPr sz="3000" b="1" spc="-20" dirty="0">
                <a:latin typeface="Helvetica"/>
                <a:cs typeface="Helvetica"/>
              </a:rPr>
              <a:t>(w</a:t>
            </a:r>
            <a:r>
              <a:rPr sz="3000" b="1" spc="-25" dirty="0">
                <a:latin typeface="Helvetica"/>
                <a:cs typeface="Helvetica"/>
              </a:rPr>
              <a:t>h</a:t>
            </a:r>
            <a:r>
              <a:rPr sz="3000" b="1" spc="-10" dirty="0">
                <a:latin typeface="Helvetica"/>
                <a:cs typeface="Helvetica"/>
              </a:rPr>
              <a:t>i</a:t>
            </a:r>
            <a:r>
              <a:rPr sz="3000" b="1" dirty="0">
                <a:latin typeface="Helvetica"/>
                <a:cs typeface="Helvetica"/>
              </a:rPr>
              <a:t>c</a:t>
            </a:r>
            <a:r>
              <a:rPr sz="3000" b="1" spc="-20" dirty="0">
                <a:latin typeface="Helvetica"/>
                <a:cs typeface="Helvetica"/>
              </a:rPr>
              <a:t>h</a:t>
            </a:r>
            <a:r>
              <a:rPr sz="3000" b="1" spc="-5" dirty="0">
                <a:latin typeface="Helvetica"/>
                <a:cs typeface="Helvetica"/>
              </a:rPr>
              <a:t> </a:t>
            </a:r>
            <a:r>
              <a:rPr sz="3000" b="1" spc="-10" dirty="0">
                <a:latin typeface="Helvetica"/>
                <a:cs typeface="Helvetica"/>
              </a:rPr>
              <a:t>i</a:t>
            </a:r>
            <a:r>
              <a:rPr sz="3000" b="1" dirty="0">
                <a:latin typeface="Helvetica"/>
                <a:cs typeface="Helvetica"/>
              </a:rPr>
              <a:t>s</a:t>
            </a:r>
            <a:r>
              <a:rPr sz="3000" b="1" spc="-5" dirty="0">
                <a:latin typeface="Helvetica"/>
                <a:cs typeface="Helvetica"/>
              </a:rPr>
              <a:t> </a:t>
            </a:r>
            <a:r>
              <a:rPr sz="3000" b="1" spc="-25" dirty="0">
                <a:latin typeface="Helvetica"/>
                <a:cs typeface="Helvetica"/>
              </a:rPr>
              <a:t>qu</a:t>
            </a:r>
            <a:r>
              <a:rPr sz="3000" b="1" spc="-10" dirty="0">
                <a:latin typeface="Helvetica"/>
                <a:cs typeface="Helvetica"/>
              </a:rPr>
              <a:t>i</a:t>
            </a:r>
            <a:r>
              <a:rPr sz="3000" b="1" dirty="0">
                <a:latin typeface="Helvetica"/>
                <a:cs typeface="Helvetica"/>
              </a:rPr>
              <a:t>te</a:t>
            </a:r>
            <a:r>
              <a:rPr sz="3000" b="1" spc="-5" dirty="0">
                <a:latin typeface="Helvetica"/>
                <a:cs typeface="Helvetica"/>
              </a:rPr>
              <a:t> </a:t>
            </a:r>
            <a:r>
              <a:rPr sz="3000" b="1" dirty="0">
                <a:latin typeface="Helvetica"/>
                <a:cs typeface="Helvetica"/>
              </a:rPr>
              <a:t>c</a:t>
            </a:r>
            <a:r>
              <a:rPr sz="3000" b="1" spc="-25" dirty="0">
                <a:latin typeface="Helvetica"/>
                <a:cs typeface="Helvetica"/>
              </a:rPr>
              <a:t>o</a:t>
            </a:r>
            <a:r>
              <a:rPr sz="3000" b="1" dirty="0">
                <a:latin typeface="Helvetica"/>
                <a:cs typeface="Helvetica"/>
              </a:rPr>
              <a:t>m</a:t>
            </a:r>
            <a:r>
              <a:rPr sz="3000" b="1" spc="-25" dirty="0">
                <a:latin typeface="Helvetica"/>
                <a:cs typeface="Helvetica"/>
              </a:rPr>
              <a:t>p</a:t>
            </a:r>
            <a:r>
              <a:rPr sz="3000" b="1" spc="-10" dirty="0">
                <a:latin typeface="Helvetica"/>
                <a:cs typeface="Helvetica"/>
              </a:rPr>
              <a:t>l</a:t>
            </a:r>
            <a:r>
              <a:rPr sz="3000" b="1" dirty="0">
                <a:latin typeface="Helvetica"/>
                <a:cs typeface="Helvetica"/>
              </a:rPr>
              <a:t>ex)</a:t>
            </a:r>
            <a:endParaRPr sz="300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60400" rIns="0" bIns="0" rtlCol="0">
            <a:spAutoFit/>
          </a:bodyPr>
          <a:lstStyle/>
          <a:p>
            <a:pPr marL="1673225">
              <a:lnSpc>
                <a:spcPct val="100000"/>
              </a:lnSpc>
            </a:pPr>
            <a:r>
              <a:rPr spc="-30" dirty="0"/>
              <a:t>Th</a:t>
            </a:r>
            <a:r>
              <a:rPr dirty="0"/>
              <a:t>e</a:t>
            </a:r>
            <a:r>
              <a:rPr spc="-5" dirty="0"/>
              <a:t> </a:t>
            </a:r>
            <a:r>
              <a:rPr spc="-320" dirty="0"/>
              <a:t>T</a:t>
            </a:r>
            <a:r>
              <a:rPr dirty="0"/>
              <a:t>ax</a:t>
            </a:r>
            <a:r>
              <a:rPr spc="-30" dirty="0"/>
              <a:t>o</a:t>
            </a:r>
            <a:r>
              <a:rPr spc="-25" dirty="0"/>
              <a:t>n</a:t>
            </a:r>
            <a:r>
              <a:rPr spc="-5" dirty="0"/>
              <a:t> </a:t>
            </a:r>
            <a:r>
              <a:rPr dirty="0"/>
              <a:t>Cyc</a:t>
            </a:r>
            <a:r>
              <a:rPr spc="-20" dirty="0"/>
              <a:t>l</a:t>
            </a:r>
            <a:r>
              <a:rPr dirty="0"/>
              <a:t>e</a:t>
            </a:r>
            <a:r>
              <a:rPr spc="-5" dirty="0"/>
              <a:t> </a:t>
            </a:r>
            <a:r>
              <a:rPr dirty="0"/>
              <a:t>Hy</a:t>
            </a:r>
            <a:r>
              <a:rPr spc="-30" dirty="0"/>
              <a:t>po</a:t>
            </a:r>
            <a:r>
              <a:rPr spc="-15" dirty="0"/>
              <a:t>t</a:t>
            </a:r>
            <a:r>
              <a:rPr spc="-30" dirty="0"/>
              <a:t>h</a:t>
            </a:r>
            <a:r>
              <a:rPr dirty="0"/>
              <a:t>es</a:t>
            </a:r>
            <a:r>
              <a:rPr spc="-20" dirty="0"/>
              <a:t>i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400" y="9474200"/>
            <a:ext cx="444817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5" dirty="0">
                <a:latin typeface="Calibri"/>
                <a:cs typeface="Calibri"/>
              </a:rPr>
              <a:t>M</a:t>
            </a:r>
            <a:r>
              <a:rPr sz="1600" spc="-25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t</a:t>
            </a:r>
            <a:r>
              <a:rPr sz="1600" dirty="0">
                <a:latin typeface="Calibri"/>
                <a:cs typeface="Calibri"/>
              </a:rPr>
              <a:t>os-</a:t>
            </a:r>
            <a:r>
              <a:rPr sz="1600" spc="-15" dirty="0">
                <a:latin typeface="Calibri"/>
                <a:cs typeface="Calibri"/>
              </a:rPr>
              <a:t>Ma</a:t>
            </a:r>
            <a:r>
              <a:rPr sz="1600" spc="-45" dirty="0">
                <a:latin typeface="Calibri"/>
                <a:cs typeface="Calibri"/>
              </a:rPr>
              <a:t>r</a:t>
            </a:r>
            <a:r>
              <a:rPr sz="1600" spc="-30" dirty="0">
                <a:latin typeface="Calibri"/>
                <a:cs typeface="Calibri"/>
              </a:rPr>
              <a:t>a</a:t>
            </a:r>
            <a:r>
              <a:rPr sz="1600" spc="-10" dirty="0">
                <a:latin typeface="Calibri"/>
                <a:cs typeface="Calibri"/>
              </a:rPr>
              <a:t>v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5" dirty="0">
                <a:latin typeface="Calibri"/>
                <a:cs typeface="Calibri"/>
              </a:rPr>
              <a:t>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M</a:t>
            </a:r>
            <a:r>
              <a:rPr sz="1600" spc="-25" dirty="0">
                <a:latin typeface="Calibri"/>
                <a:cs typeface="Calibri"/>
              </a:rPr>
              <a:t>a</a:t>
            </a:r>
            <a:r>
              <a:rPr sz="1600" spc="-10" dirty="0">
                <a:latin typeface="Calibri"/>
                <a:cs typeface="Calibri"/>
              </a:rPr>
              <a:t>tz</a:t>
            </a:r>
            <a:r>
              <a:rPr sz="1600" spc="-65" dirty="0">
                <a:latin typeface="Calibri"/>
                <a:cs typeface="Calibri"/>
              </a:rPr>
              <a:t>k</a:t>
            </a:r>
            <a:r>
              <a:rPr sz="1600" spc="-10" dirty="0">
                <a:latin typeface="Calibri"/>
                <a:cs typeface="Calibri"/>
              </a:rPr>
              <a:t>e,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e</a:t>
            </a:r>
            <a:r>
              <a:rPr sz="1600" spc="-10" dirty="0">
                <a:latin typeface="Calibri"/>
                <a:cs typeface="Calibri"/>
              </a:rPr>
              <a:t>t</a:t>
            </a:r>
            <a:r>
              <a:rPr sz="1600" dirty="0">
                <a:latin typeface="Calibri"/>
                <a:cs typeface="Calibri"/>
              </a:rPr>
              <a:t> al. </a:t>
            </a:r>
            <a:r>
              <a:rPr sz="1600" spc="-10" dirty="0">
                <a:latin typeface="Calibri"/>
                <a:cs typeface="Calibri"/>
              </a:rPr>
              <a:t>2018,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Mol</a:t>
            </a:r>
            <a:r>
              <a:rPr sz="1600" i="1" spc="-10" dirty="0">
                <a:latin typeface="Calibri"/>
                <a:cs typeface="Calibri"/>
              </a:rPr>
              <a:t>e</a:t>
            </a:r>
            <a:r>
              <a:rPr sz="1600" i="1" dirty="0">
                <a:latin typeface="Calibri"/>
                <a:cs typeface="Calibri"/>
              </a:rPr>
              <a:t>cula</a:t>
            </a:r>
            <a:r>
              <a:rPr sz="1600" i="1" spc="-10" dirty="0">
                <a:latin typeface="Calibri"/>
                <a:cs typeface="Calibri"/>
              </a:rPr>
              <a:t>r</a:t>
            </a:r>
            <a:r>
              <a:rPr sz="1600" i="1" dirty="0">
                <a:latin typeface="Calibri"/>
                <a:cs typeface="Calibri"/>
              </a:rPr>
              <a:t> </a:t>
            </a:r>
            <a:r>
              <a:rPr sz="1600" i="1" spc="-25" dirty="0">
                <a:latin typeface="Calibri"/>
                <a:cs typeface="Calibri"/>
              </a:rPr>
              <a:t>E</a:t>
            </a:r>
            <a:r>
              <a:rPr sz="1600" i="1" spc="-15" dirty="0">
                <a:latin typeface="Calibri"/>
                <a:cs typeface="Calibri"/>
              </a:rPr>
              <a:t>c</a:t>
            </a:r>
            <a:r>
              <a:rPr sz="1600" i="1" dirty="0">
                <a:latin typeface="Calibri"/>
                <a:cs typeface="Calibri"/>
              </a:rPr>
              <a:t>ology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65529" y="1522031"/>
            <a:ext cx="8848375" cy="427030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65529" y="1522031"/>
            <a:ext cx="8848725" cy="4270375"/>
          </a:xfrm>
          <a:custGeom>
            <a:avLst/>
            <a:gdLst/>
            <a:ahLst/>
            <a:cxnLst/>
            <a:rect l="l" t="t" r="r" b="b"/>
            <a:pathLst>
              <a:path w="8848725" h="4270375">
                <a:moveTo>
                  <a:pt x="0" y="0"/>
                </a:moveTo>
                <a:lnTo>
                  <a:pt x="8848375" y="0"/>
                </a:lnTo>
                <a:lnTo>
                  <a:pt x="8848375" y="4270302"/>
                </a:lnTo>
                <a:lnTo>
                  <a:pt x="0" y="427030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911600" y="5877049"/>
            <a:ext cx="66421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888888"/>
                </a:solidFill>
                <a:latin typeface="Helvetica"/>
                <a:cs typeface="Helvetica"/>
                <a:hlinkClick r:id="rId4"/>
              </a:rPr>
              <a:t>h</a:t>
            </a:r>
            <a:r>
              <a:rPr sz="1200" spc="-5" dirty="0">
                <a:solidFill>
                  <a:srgbClr val="888888"/>
                </a:solidFill>
                <a:latin typeface="Helvetica"/>
                <a:cs typeface="Helvetica"/>
                <a:hlinkClick r:id="rId4"/>
              </a:rPr>
              <a:t>ttp://ww</a:t>
            </a:r>
            <a:r>
              <a:rPr sz="1200" spc="-70" dirty="0">
                <a:solidFill>
                  <a:srgbClr val="888888"/>
                </a:solidFill>
                <a:latin typeface="Helvetica"/>
                <a:cs typeface="Helvetica"/>
                <a:hlinkClick r:id="rId4"/>
              </a:rPr>
              <a:t>w</a:t>
            </a:r>
            <a:r>
              <a:rPr sz="1200" spc="-5" dirty="0">
                <a:solidFill>
                  <a:srgbClr val="888888"/>
                </a:solidFill>
                <a:latin typeface="Helvetica"/>
                <a:cs typeface="Helvetica"/>
                <a:hlinkClick r:id="rId4"/>
              </a:rPr>
              <a:t>.</a:t>
            </a:r>
            <a:r>
              <a:rPr sz="1200" dirty="0">
                <a:solidFill>
                  <a:srgbClr val="888888"/>
                </a:solidFill>
                <a:latin typeface="Helvetica"/>
                <a:cs typeface="Helvetica"/>
                <a:hlinkClick r:id="rId4"/>
              </a:rPr>
              <a:t>ourdailyread</a:t>
            </a:r>
            <a:r>
              <a:rPr sz="1200" spc="-5" dirty="0">
                <a:solidFill>
                  <a:srgbClr val="888888"/>
                </a:solidFill>
                <a:latin typeface="Helvetica"/>
                <a:cs typeface="Helvetica"/>
                <a:hlinkClick r:id="rId4"/>
              </a:rPr>
              <a:t>.</a:t>
            </a:r>
            <a:r>
              <a:rPr sz="1200" dirty="0">
                <a:solidFill>
                  <a:srgbClr val="888888"/>
                </a:solidFill>
                <a:latin typeface="Helvetica"/>
                <a:cs typeface="Helvetica"/>
                <a:hlinkClick r:id="rId4"/>
              </a:rPr>
              <a:t>co</a:t>
            </a:r>
            <a:r>
              <a:rPr sz="1200" spc="-10" dirty="0">
                <a:solidFill>
                  <a:srgbClr val="888888"/>
                </a:solidFill>
                <a:latin typeface="Helvetica"/>
                <a:cs typeface="Helvetica"/>
                <a:hlinkClick r:id="rId4"/>
              </a:rPr>
              <a:t>m/</a:t>
            </a:r>
            <a:r>
              <a:rPr sz="1200" dirty="0">
                <a:solidFill>
                  <a:srgbClr val="888888"/>
                </a:solidFill>
                <a:latin typeface="Helvetica"/>
                <a:cs typeface="Helvetica"/>
                <a:hlinkClick r:id="rId4"/>
              </a:rPr>
              <a:t>2015</a:t>
            </a:r>
            <a:r>
              <a:rPr sz="1200" spc="-5" dirty="0">
                <a:solidFill>
                  <a:srgbClr val="888888"/>
                </a:solidFill>
                <a:latin typeface="Helvetica"/>
                <a:cs typeface="Helvetica"/>
                <a:hlinkClick r:id="rId4"/>
              </a:rPr>
              <a:t>/</a:t>
            </a:r>
            <a:r>
              <a:rPr sz="1200" dirty="0">
                <a:solidFill>
                  <a:srgbClr val="888888"/>
                </a:solidFill>
                <a:latin typeface="Helvetica"/>
                <a:cs typeface="Helvetica"/>
                <a:hlinkClick r:id="rId4"/>
              </a:rPr>
              <a:t>04</a:t>
            </a:r>
            <a:r>
              <a:rPr sz="1200" spc="-5" dirty="0">
                <a:solidFill>
                  <a:srgbClr val="888888"/>
                </a:solidFill>
                <a:latin typeface="Helvetica"/>
                <a:cs typeface="Helvetica"/>
                <a:hlinkClick r:id="rId4"/>
              </a:rPr>
              <a:t>/</a:t>
            </a:r>
            <a:r>
              <a:rPr sz="1200" dirty="0">
                <a:solidFill>
                  <a:srgbClr val="888888"/>
                </a:solidFill>
                <a:latin typeface="Helvetica"/>
                <a:cs typeface="Helvetica"/>
                <a:hlinkClick r:id="rId4"/>
              </a:rPr>
              <a:t>island-biogeography-revisi</a:t>
            </a:r>
            <a:r>
              <a:rPr sz="1200" spc="-5" dirty="0">
                <a:solidFill>
                  <a:srgbClr val="888888"/>
                </a:solidFill>
                <a:latin typeface="Helvetica"/>
                <a:cs typeface="Helvetica"/>
                <a:hlinkClick r:id="rId4"/>
              </a:rPr>
              <a:t>t</a:t>
            </a:r>
            <a:r>
              <a:rPr sz="1200" dirty="0">
                <a:solidFill>
                  <a:srgbClr val="888888"/>
                </a:solidFill>
                <a:latin typeface="Helvetica"/>
                <a:cs typeface="Helvetica"/>
                <a:hlinkClick r:id="rId4"/>
              </a:rPr>
              <a:t>ed-online-book-club-chap</a:t>
            </a:r>
            <a:r>
              <a:rPr sz="1200" spc="-5" dirty="0">
                <a:solidFill>
                  <a:srgbClr val="888888"/>
                </a:solidFill>
                <a:latin typeface="Helvetica"/>
                <a:cs typeface="Helvetica"/>
                <a:hlinkClick r:id="rId4"/>
              </a:rPr>
              <a:t>t</a:t>
            </a:r>
            <a:r>
              <a:rPr sz="1200" dirty="0">
                <a:solidFill>
                  <a:srgbClr val="888888"/>
                </a:solidFill>
                <a:latin typeface="Helvetica"/>
                <a:cs typeface="Helvetica"/>
                <a:hlinkClick r:id="rId4"/>
              </a:rPr>
              <a:t>er-one</a:t>
            </a:r>
            <a:r>
              <a:rPr sz="1200" spc="-5" dirty="0">
                <a:solidFill>
                  <a:srgbClr val="888888"/>
                </a:solidFill>
                <a:latin typeface="Helvetica"/>
                <a:cs typeface="Helvetica"/>
                <a:hlinkClick r:id="rId4"/>
              </a:rPr>
              <a:t>/</a:t>
            </a:r>
            <a:endParaRPr sz="1200">
              <a:latin typeface="Helvetica"/>
              <a:cs typeface="Helvetic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9300" y="6907522"/>
            <a:ext cx="5189220" cy="177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</a:pPr>
            <a:r>
              <a:rPr sz="3000" b="1" spc="-20" dirty="0">
                <a:latin typeface="Helvetica"/>
                <a:cs typeface="Helvetica"/>
              </a:rPr>
              <a:t>Our</a:t>
            </a:r>
            <a:r>
              <a:rPr sz="3000" b="1" spc="-5" dirty="0">
                <a:latin typeface="Helvetica"/>
                <a:cs typeface="Helvetica"/>
              </a:rPr>
              <a:t> </a:t>
            </a:r>
            <a:r>
              <a:rPr sz="3000" b="1" spc="-20" dirty="0">
                <a:latin typeface="Helvetica"/>
                <a:cs typeface="Helvetica"/>
              </a:rPr>
              <a:t>biogeographical</a:t>
            </a:r>
            <a:r>
              <a:rPr sz="3000" b="1" spc="-15" dirty="0">
                <a:latin typeface="Helvetica"/>
                <a:cs typeface="Helvetica"/>
              </a:rPr>
              <a:t> </a:t>
            </a:r>
            <a:r>
              <a:rPr sz="3000" b="1" spc="-25" dirty="0">
                <a:latin typeface="Helvetica"/>
                <a:cs typeface="Helvetica"/>
              </a:rPr>
              <a:t>models</a:t>
            </a:r>
            <a:r>
              <a:rPr sz="3000" b="1" spc="-15" dirty="0">
                <a:latin typeface="Helvetica"/>
                <a:cs typeface="Helvetica"/>
              </a:rPr>
              <a:t> </a:t>
            </a:r>
            <a:r>
              <a:rPr sz="3000" b="1" spc="-25" dirty="0">
                <a:latin typeface="Helvetica"/>
                <a:cs typeface="Helvetica"/>
              </a:rPr>
              <a:t>don</a:t>
            </a:r>
            <a:r>
              <a:rPr sz="3000" b="1" spc="-10" dirty="0">
                <a:latin typeface="Helvetica"/>
                <a:cs typeface="Helvetica"/>
              </a:rPr>
              <a:t>’</a:t>
            </a:r>
            <a:r>
              <a:rPr sz="3000" b="1" dirty="0">
                <a:latin typeface="Helvetica"/>
                <a:cs typeface="Helvetica"/>
              </a:rPr>
              <a:t>t</a:t>
            </a:r>
            <a:r>
              <a:rPr sz="3000" b="1" spc="-5" dirty="0">
                <a:latin typeface="Helvetica"/>
                <a:cs typeface="Helvetica"/>
              </a:rPr>
              <a:t> </a:t>
            </a:r>
            <a:r>
              <a:rPr sz="3000" b="1" dirty="0">
                <a:latin typeface="Helvetica"/>
                <a:cs typeface="Helvetica"/>
              </a:rPr>
              <a:t>test</a:t>
            </a:r>
            <a:r>
              <a:rPr sz="3000" b="1" spc="-5" dirty="0">
                <a:latin typeface="Helvetica"/>
                <a:cs typeface="Helvetica"/>
              </a:rPr>
              <a:t> </a:t>
            </a:r>
            <a:r>
              <a:rPr sz="3000" b="1" dirty="0">
                <a:latin typeface="Helvetica"/>
                <a:cs typeface="Helvetica"/>
              </a:rPr>
              <a:t>a</a:t>
            </a:r>
            <a:r>
              <a:rPr sz="3000" b="1" spc="-10" dirty="0">
                <a:latin typeface="Helvetica"/>
                <a:cs typeface="Helvetica"/>
              </a:rPr>
              <a:t>ll</a:t>
            </a:r>
            <a:r>
              <a:rPr sz="3000" b="1" spc="-5" dirty="0">
                <a:latin typeface="Helvetica"/>
                <a:cs typeface="Helvetica"/>
              </a:rPr>
              <a:t> </a:t>
            </a:r>
            <a:r>
              <a:rPr sz="3000" b="1" dirty="0">
                <a:latin typeface="Helvetica"/>
                <a:cs typeface="Helvetica"/>
              </a:rPr>
              <a:t>as</a:t>
            </a:r>
            <a:r>
              <a:rPr sz="3000" b="1" spc="-25" dirty="0">
                <a:latin typeface="Helvetica"/>
                <a:cs typeface="Helvetica"/>
              </a:rPr>
              <a:t>p</a:t>
            </a:r>
            <a:r>
              <a:rPr sz="3000" b="1" dirty="0">
                <a:latin typeface="Helvetica"/>
                <a:cs typeface="Helvetica"/>
              </a:rPr>
              <a:t>ects</a:t>
            </a:r>
            <a:r>
              <a:rPr sz="3000" b="1" spc="-5" dirty="0">
                <a:latin typeface="Helvetica"/>
                <a:cs typeface="Helvetica"/>
              </a:rPr>
              <a:t> </a:t>
            </a:r>
            <a:r>
              <a:rPr sz="3000" b="1" spc="-25" dirty="0">
                <a:latin typeface="Helvetica"/>
                <a:cs typeface="Helvetica"/>
              </a:rPr>
              <a:t>o</a:t>
            </a:r>
            <a:r>
              <a:rPr sz="3000" b="1" dirty="0">
                <a:latin typeface="Helvetica"/>
                <a:cs typeface="Helvetica"/>
              </a:rPr>
              <a:t>f</a:t>
            </a:r>
            <a:r>
              <a:rPr sz="3000" b="1" spc="-5" dirty="0">
                <a:latin typeface="Helvetica"/>
                <a:cs typeface="Helvetica"/>
              </a:rPr>
              <a:t> </a:t>
            </a:r>
            <a:r>
              <a:rPr sz="3000" b="1" spc="-10" dirty="0">
                <a:latin typeface="Helvetica"/>
                <a:cs typeface="Helvetica"/>
              </a:rPr>
              <a:t>t</a:t>
            </a:r>
            <a:r>
              <a:rPr sz="3000" b="1" spc="-25" dirty="0">
                <a:latin typeface="Helvetica"/>
                <a:cs typeface="Helvetica"/>
              </a:rPr>
              <a:t>h</a:t>
            </a:r>
            <a:r>
              <a:rPr sz="3000" b="1" dirty="0">
                <a:latin typeface="Helvetica"/>
                <a:cs typeface="Helvetica"/>
              </a:rPr>
              <a:t>e </a:t>
            </a:r>
            <a:r>
              <a:rPr sz="3000" b="1" spc="-245" dirty="0">
                <a:latin typeface="Helvetica"/>
                <a:cs typeface="Helvetica"/>
              </a:rPr>
              <a:t>T</a:t>
            </a:r>
            <a:r>
              <a:rPr sz="3000" b="1" spc="-25" dirty="0">
                <a:latin typeface="Helvetica"/>
                <a:cs typeface="Helvetica"/>
              </a:rPr>
              <a:t>a</a:t>
            </a:r>
            <a:r>
              <a:rPr sz="3000" b="1" spc="-5" dirty="0">
                <a:latin typeface="Helvetica"/>
                <a:cs typeface="Helvetica"/>
              </a:rPr>
              <a:t>x</a:t>
            </a:r>
            <a:r>
              <a:rPr sz="3000" b="1" spc="-20" dirty="0">
                <a:latin typeface="Helvetica"/>
                <a:cs typeface="Helvetica"/>
              </a:rPr>
              <a:t>on</a:t>
            </a:r>
            <a:r>
              <a:rPr sz="3000" b="1" dirty="0">
                <a:latin typeface="Helvetica"/>
                <a:cs typeface="Helvetica"/>
              </a:rPr>
              <a:t> </a:t>
            </a:r>
            <a:r>
              <a:rPr sz="3000" b="1" spc="-5" dirty="0">
                <a:latin typeface="Helvetica"/>
                <a:cs typeface="Helvetica"/>
              </a:rPr>
              <a:t>Cyc</a:t>
            </a:r>
            <a:r>
              <a:rPr sz="3000" b="1" spc="-10" dirty="0">
                <a:latin typeface="Helvetica"/>
                <a:cs typeface="Helvetica"/>
              </a:rPr>
              <a:t>l</a:t>
            </a:r>
            <a:r>
              <a:rPr sz="3000" b="1" dirty="0">
                <a:latin typeface="Helvetica"/>
                <a:cs typeface="Helvetica"/>
              </a:rPr>
              <a:t>e </a:t>
            </a:r>
            <a:r>
              <a:rPr sz="3000" b="1" spc="-15" dirty="0">
                <a:latin typeface="Helvetica"/>
                <a:cs typeface="Helvetica"/>
              </a:rPr>
              <a:t>id</a:t>
            </a:r>
            <a:r>
              <a:rPr sz="3000" b="1" spc="-5" dirty="0">
                <a:latin typeface="Helvetica"/>
                <a:cs typeface="Helvetica"/>
              </a:rPr>
              <a:t>e</a:t>
            </a:r>
            <a:r>
              <a:rPr sz="3000" b="1" dirty="0">
                <a:latin typeface="Helvetica"/>
                <a:cs typeface="Helvetica"/>
              </a:rPr>
              <a:t>a</a:t>
            </a:r>
            <a:endParaRPr sz="3000">
              <a:latin typeface="Helvetica"/>
              <a:cs typeface="Helvetica"/>
            </a:endParaRPr>
          </a:p>
          <a:p>
            <a:pPr algn="ctr">
              <a:lnSpc>
                <a:spcPct val="100000"/>
              </a:lnSpc>
            </a:pPr>
            <a:r>
              <a:rPr sz="3000" b="1" spc="-20" dirty="0">
                <a:latin typeface="Helvetica"/>
                <a:cs typeface="Helvetica"/>
              </a:rPr>
              <a:t>(w</a:t>
            </a:r>
            <a:r>
              <a:rPr sz="3000" b="1" spc="-25" dirty="0">
                <a:latin typeface="Helvetica"/>
                <a:cs typeface="Helvetica"/>
              </a:rPr>
              <a:t>h</a:t>
            </a:r>
            <a:r>
              <a:rPr sz="3000" b="1" spc="-10" dirty="0">
                <a:latin typeface="Helvetica"/>
                <a:cs typeface="Helvetica"/>
              </a:rPr>
              <a:t>i</a:t>
            </a:r>
            <a:r>
              <a:rPr sz="3000" b="1" dirty="0">
                <a:latin typeface="Helvetica"/>
                <a:cs typeface="Helvetica"/>
              </a:rPr>
              <a:t>c</a:t>
            </a:r>
            <a:r>
              <a:rPr sz="3000" b="1" spc="-20" dirty="0">
                <a:latin typeface="Helvetica"/>
                <a:cs typeface="Helvetica"/>
              </a:rPr>
              <a:t>h</a:t>
            </a:r>
            <a:r>
              <a:rPr sz="3000" b="1" spc="-5" dirty="0">
                <a:latin typeface="Helvetica"/>
                <a:cs typeface="Helvetica"/>
              </a:rPr>
              <a:t> </a:t>
            </a:r>
            <a:r>
              <a:rPr sz="3000" b="1" spc="-10" dirty="0">
                <a:latin typeface="Helvetica"/>
                <a:cs typeface="Helvetica"/>
              </a:rPr>
              <a:t>i</a:t>
            </a:r>
            <a:r>
              <a:rPr sz="3000" b="1" dirty="0">
                <a:latin typeface="Helvetica"/>
                <a:cs typeface="Helvetica"/>
              </a:rPr>
              <a:t>s</a:t>
            </a:r>
            <a:r>
              <a:rPr sz="3000" b="1" spc="-5" dirty="0">
                <a:latin typeface="Helvetica"/>
                <a:cs typeface="Helvetica"/>
              </a:rPr>
              <a:t> </a:t>
            </a:r>
            <a:r>
              <a:rPr sz="3000" b="1" spc="-25" dirty="0">
                <a:latin typeface="Helvetica"/>
                <a:cs typeface="Helvetica"/>
              </a:rPr>
              <a:t>qu</a:t>
            </a:r>
            <a:r>
              <a:rPr sz="3000" b="1" spc="-10" dirty="0">
                <a:latin typeface="Helvetica"/>
                <a:cs typeface="Helvetica"/>
              </a:rPr>
              <a:t>i</a:t>
            </a:r>
            <a:r>
              <a:rPr sz="3000" b="1" dirty="0">
                <a:latin typeface="Helvetica"/>
                <a:cs typeface="Helvetica"/>
              </a:rPr>
              <a:t>te</a:t>
            </a:r>
            <a:r>
              <a:rPr sz="3000" b="1" spc="-5" dirty="0">
                <a:latin typeface="Helvetica"/>
                <a:cs typeface="Helvetica"/>
              </a:rPr>
              <a:t> </a:t>
            </a:r>
            <a:r>
              <a:rPr sz="3000" b="1" dirty="0">
                <a:latin typeface="Helvetica"/>
                <a:cs typeface="Helvetica"/>
              </a:rPr>
              <a:t>c</a:t>
            </a:r>
            <a:r>
              <a:rPr sz="3000" b="1" spc="-25" dirty="0">
                <a:latin typeface="Helvetica"/>
                <a:cs typeface="Helvetica"/>
              </a:rPr>
              <a:t>o</a:t>
            </a:r>
            <a:r>
              <a:rPr sz="3000" b="1" dirty="0">
                <a:latin typeface="Helvetica"/>
                <a:cs typeface="Helvetica"/>
              </a:rPr>
              <a:t>m</a:t>
            </a:r>
            <a:r>
              <a:rPr sz="3000" b="1" spc="-25" dirty="0">
                <a:latin typeface="Helvetica"/>
                <a:cs typeface="Helvetica"/>
              </a:rPr>
              <a:t>p</a:t>
            </a:r>
            <a:r>
              <a:rPr sz="3000" b="1" spc="-10" dirty="0">
                <a:latin typeface="Helvetica"/>
                <a:cs typeface="Helvetica"/>
              </a:rPr>
              <a:t>l</a:t>
            </a:r>
            <a:r>
              <a:rPr sz="3000" b="1" dirty="0">
                <a:latin typeface="Helvetica"/>
                <a:cs typeface="Helvetica"/>
              </a:rPr>
              <a:t>ex)</a:t>
            </a:r>
            <a:endParaRPr sz="3000">
              <a:latin typeface="Helvetica"/>
              <a:cs typeface="Helvetic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13600" y="6907522"/>
            <a:ext cx="4852670" cy="177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9525" algn="ctr">
              <a:lnSpc>
                <a:spcPct val="100000"/>
              </a:lnSpc>
            </a:pPr>
            <a:r>
              <a:rPr sz="3000" b="1" dirty="0">
                <a:latin typeface="Helvetica"/>
                <a:cs typeface="Helvetica"/>
              </a:rPr>
              <a:t>B</a:t>
            </a:r>
            <a:r>
              <a:rPr sz="3000" b="1" spc="-25" dirty="0">
                <a:latin typeface="Helvetica"/>
                <a:cs typeface="Helvetica"/>
              </a:rPr>
              <a:t>u</a:t>
            </a:r>
            <a:r>
              <a:rPr sz="3000" b="1" dirty="0">
                <a:latin typeface="Helvetica"/>
                <a:cs typeface="Helvetica"/>
              </a:rPr>
              <a:t>t:</a:t>
            </a:r>
            <a:r>
              <a:rPr sz="3000" b="1" spc="-5" dirty="0">
                <a:latin typeface="Helvetica"/>
                <a:cs typeface="Helvetica"/>
              </a:rPr>
              <a:t> </a:t>
            </a:r>
            <a:r>
              <a:rPr sz="3000" b="1" spc="-25" dirty="0">
                <a:latin typeface="Helvetica"/>
                <a:cs typeface="Helvetica"/>
              </a:rPr>
              <a:t>w</a:t>
            </a:r>
            <a:r>
              <a:rPr sz="3000" b="1" dirty="0">
                <a:latin typeface="Helvetica"/>
                <a:cs typeface="Helvetica"/>
              </a:rPr>
              <a:t>e</a:t>
            </a:r>
            <a:r>
              <a:rPr sz="3000" b="1" spc="-5" dirty="0">
                <a:latin typeface="Helvetica"/>
                <a:cs typeface="Helvetica"/>
              </a:rPr>
              <a:t> </a:t>
            </a:r>
            <a:r>
              <a:rPr sz="3000" b="1" dirty="0">
                <a:latin typeface="Helvetica"/>
                <a:cs typeface="Helvetica"/>
              </a:rPr>
              <a:t>ca</a:t>
            </a:r>
            <a:r>
              <a:rPr sz="3000" b="1" spc="-20" dirty="0">
                <a:latin typeface="Helvetica"/>
                <a:cs typeface="Helvetica"/>
              </a:rPr>
              <a:t>n</a:t>
            </a:r>
            <a:r>
              <a:rPr sz="3000" b="1" spc="-5" dirty="0">
                <a:latin typeface="Helvetica"/>
                <a:cs typeface="Helvetica"/>
              </a:rPr>
              <a:t> </a:t>
            </a:r>
            <a:r>
              <a:rPr sz="3000" b="1" dirty="0">
                <a:latin typeface="Helvetica"/>
                <a:cs typeface="Helvetica"/>
              </a:rPr>
              <a:t>test</a:t>
            </a:r>
            <a:r>
              <a:rPr sz="3000" b="1" spc="-5" dirty="0">
                <a:latin typeface="Helvetica"/>
                <a:cs typeface="Helvetica"/>
              </a:rPr>
              <a:t> </a:t>
            </a:r>
            <a:r>
              <a:rPr sz="3000" b="1" spc="-10" dirty="0">
                <a:latin typeface="Helvetica"/>
                <a:cs typeface="Helvetica"/>
              </a:rPr>
              <a:t>t</a:t>
            </a:r>
            <a:r>
              <a:rPr sz="3000" b="1" spc="-25" dirty="0">
                <a:latin typeface="Helvetica"/>
                <a:cs typeface="Helvetica"/>
              </a:rPr>
              <a:t>h</a:t>
            </a:r>
            <a:r>
              <a:rPr sz="3000" b="1" dirty="0">
                <a:latin typeface="Helvetica"/>
                <a:cs typeface="Helvetica"/>
              </a:rPr>
              <a:t>e </a:t>
            </a:r>
            <a:r>
              <a:rPr sz="3000" b="1" spc="-25" dirty="0">
                <a:latin typeface="Helvetica"/>
                <a:cs typeface="Helvetica"/>
              </a:rPr>
              <a:t>d</a:t>
            </a:r>
            <a:r>
              <a:rPr sz="3000" b="1" spc="-10" dirty="0">
                <a:latin typeface="Helvetica"/>
                <a:cs typeface="Helvetica"/>
              </a:rPr>
              <a:t>i</a:t>
            </a:r>
            <a:r>
              <a:rPr sz="3000" b="1" dirty="0">
                <a:latin typeface="Helvetica"/>
                <a:cs typeface="Helvetica"/>
              </a:rPr>
              <a:t>s</a:t>
            </a:r>
            <a:r>
              <a:rPr sz="3000" b="1" spc="-25" dirty="0">
                <a:latin typeface="Helvetica"/>
                <a:cs typeface="Helvetica"/>
              </a:rPr>
              <a:t>p</a:t>
            </a:r>
            <a:r>
              <a:rPr sz="3000" b="1" dirty="0">
                <a:latin typeface="Helvetica"/>
                <a:cs typeface="Helvetica"/>
              </a:rPr>
              <a:t>ersa</a:t>
            </a:r>
            <a:r>
              <a:rPr sz="3000" b="1" spc="-10" dirty="0">
                <a:latin typeface="Helvetica"/>
                <a:cs typeface="Helvetica"/>
              </a:rPr>
              <a:t>l</a:t>
            </a:r>
            <a:r>
              <a:rPr sz="3000" b="1" spc="-5" dirty="0">
                <a:latin typeface="Helvetica"/>
                <a:cs typeface="Helvetica"/>
              </a:rPr>
              <a:t> </a:t>
            </a:r>
            <a:r>
              <a:rPr sz="3000" b="1" spc="-25" dirty="0">
                <a:latin typeface="Helvetica"/>
                <a:cs typeface="Helvetica"/>
              </a:rPr>
              <a:t>p</a:t>
            </a:r>
            <a:r>
              <a:rPr sz="3000" b="1" dirty="0">
                <a:latin typeface="Helvetica"/>
                <a:cs typeface="Helvetica"/>
              </a:rPr>
              <a:t>art</a:t>
            </a:r>
            <a:r>
              <a:rPr sz="3000" b="1" spc="-5" dirty="0">
                <a:latin typeface="Helvetica"/>
                <a:cs typeface="Helvetica"/>
              </a:rPr>
              <a:t> </a:t>
            </a:r>
            <a:r>
              <a:rPr sz="3000" b="1" spc="-25" dirty="0">
                <a:latin typeface="Helvetica"/>
                <a:cs typeface="Helvetica"/>
              </a:rPr>
              <a:t>o</a:t>
            </a:r>
            <a:r>
              <a:rPr sz="3000" b="1" dirty="0">
                <a:latin typeface="Helvetica"/>
                <a:cs typeface="Helvetica"/>
              </a:rPr>
              <a:t>f</a:t>
            </a:r>
            <a:r>
              <a:rPr sz="3000" b="1" spc="-5" dirty="0">
                <a:latin typeface="Helvetica"/>
                <a:cs typeface="Helvetica"/>
              </a:rPr>
              <a:t> </a:t>
            </a:r>
            <a:r>
              <a:rPr sz="3000" b="1" spc="-10" dirty="0">
                <a:latin typeface="Helvetica"/>
                <a:cs typeface="Helvetica"/>
              </a:rPr>
              <a:t>i</a:t>
            </a:r>
            <a:r>
              <a:rPr sz="3000" b="1" dirty="0">
                <a:latin typeface="Helvetica"/>
                <a:cs typeface="Helvetica"/>
              </a:rPr>
              <a:t>t:</a:t>
            </a:r>
            <a:r>
              <a:rPr sz="3000" b="1" spc="-5" dirty="0">
                <a:latin typeface="Helvetica"/>
                <a:cs typeface="Helvetica"/>
              </a:rPr>
              <a:t> </a:t>
            </a:r>
            <a:r>
              <a:rPr sz="3000" b="1" spc="-25" dirty="0">
                <a:latin typeface="Helvetica"/>
                <a:cs typeface="Helvetica"/>
              </a:rPr>
              <a:t>d</a:t>
            </a:r>
            <a:r>
              <a:rPr sz="3000" b="1" spc="-20" dirty="0">
                <a:latin typeface="Helvetica"/>
                <a:cs typeface="Helvetica"/>
              </a:rPr>
              <a:t>o</a:t>
            </a:r>
            <a:r>
              <a:rPr sz="3000" b="1" spc="-10" dirty="0">
                <a:latin typeface="Helvetica"/>
                <a:cs typeface="Helvetica"/>
              </a:rPr>
              <a:t> </a:t>
            </a:r>
            <a:r>
              <a:rPr sz="3000" b="1" dirty="0">
                <a:latin typeface="Helvetica"/>
                <a:cs typeface="Helvetica"/>
              </a:rPr>
              <a:t>mar</a:t>
            </a:r>
            <a:r>
              <a:rPr sz="3000" b="1" spc="-25" dirty="0">
                <a:latin typeface="Helvetica"/>
                <a:cs typeface="Helvetica"/>
              </a:rPr>
              <a:t>g</a:t>
            </a:r>
            <a:r>
              <a:rPr sz="3000" b="1" spc="-10" dirty="0">
                <a:latin typeface="Helvetica"/>
                <a:cs typeface="Helvetica"/>
              </a:rPr>
              <a:t>i</a:t>
            </a:r>
            <a:r>
              <a:rPr sz="3000" b="1" spc="-25" dirty="0">
                <a:latin typeface="Helvetica"/>
                <a:cs typeface="Helvetica"/>
              </a:rPr>
              <a:t>n</a:t>
            </a:r>
            <a:r>
              <a:rPr sz="3000" b="1" dirty="0">
                <a:latin typeface="Helvetica"/>
                <a:cs typeface="Helvetica"/>
              </a:rPr>
              <a:t>a</a:t>
            </a:r>
            <a:r>
              <a:rPr sz="3000" b="1" spc="-10" dirty="0">
                <a:latin typeface="Helvetica"/>
                <a:cs typeface="Helvetica"/>
              </a:rPr>
              <a:t>l-</a:t>
            </a:r>
            <a:r>
              <a:rPr sz="3000" b="1" spc="-25" dirty="0">
                <a:latin typeface="Helvetica"/>
                <a:cs typeface="Helvetica"/>
              </a:rPr>
              <a:t>h</a:t>
            </a:r>
            <a:r>
              <a:rPr sz="3000" b="1" dirty="0">
                <a:latin typeface="Helvetica"/>
                <a:cs typeface="Helvetica"/>
              </a:rPr>
              <a:t>a</a:t>
            </a:r>
            <a:r>
              <a:rPr sz="3000" b="1" spc="-25" dirty="0">
                <a:latin typeface="Helvetica"/>
                <a:cs typeface="Helvetica"/>
              </a:rPr>
              <a:t>b</a:t>
            </a:r>
            <a:r>
              <a:rPr sz="3000" b="1" spc="-10" dirty="0">
                <a:latin typeface="Helvetica"/>
                <a:cs typeface="Helvetica"/>
              </a:rPr>
              <a:t>i</a:t>
            </a:r>
            <a:r>
              <a:rPr sz="3000" b="1" dirty="0">
                <a:latin typeface="Helvetica"/>
                <a:cs typeface="Helvetica"/>
              </a:rPr>
              <a:t>tat</a:t>
            </a:r>
            <a:r>
              <a:rPr sz="3000" b="1" spc="-5" dirty="0">
                <a:latin typeface="Helvetica"/>
                <a:cs typeface="Helvetica"/>
              </a:rPr>
              <a:t> </a:t>
            </a:r>
            <a:r>
              <a:rPr sz="3000" b="1" dirty="0">
                <a:latin typeface="Helvetica"/>
                <a:cs typeface="Helvetica"/>
              </a:rPr>
              <a:t>a</a:t>
            </a:r>
            <a:r>
              <a:rPr sz="3000" b="1" spc="-25" dirty="0">
                <a:latin typeface="Helvetica"/>
                <a:cs typeface="Helvetica"/>
              </a:rPr>
              <a:t>n</a:t>
            </a:r>
            <a:r>
              <a:rPr sz="3000" b="1" dirty="0">
                <a:latin typeface="Helvetica"/>
                <a:cs typeface="Helvetica"/>
              </a:rPr>
              <a:t>ts</a:t>
            </a:r>
            <a:r>
              <a:rPr sz="3000" b="1" spc="-5" dirty="0">
                <a:latin typeface="Helvetica"/>
                <a:cs typeface="Helvetica"/>
              </a:rPr>
              <a:t> </a:t>
            </a:r>
            <a:r>
              <a:rPr sz="3000" b="1" spc="-25" dirty="0">
                <a:latin typeface="Helvetica"/>
                <a:cs typeface="Helvetica"/>
              </a:rPr>
              <a:t>h</a:t>
            </a:r>
            <a:r>
              <a:rPr sz="3000" b="1" dirty="0">
                <a:latin typeface="Helvetica"/>
                <a:cs typeface="Helvetica"/>
              </a:rPr>
              <a:t>ave a</a:t>
            </a:r>
            <a:r>
              <a:rPr sz="3000" b="1" spc="-5" dirty="0">
                <a:latin typeface="Helvetica"/>
                <a:cs typeface="Helvetica"/>
              </a:rPr>
              <a:t> </a:t>
            </a:r>
            <a:r>
              <a:rPr sz="3000" b="1" spc="-25" dirty="0">
                <a:latin typeface="Helvetica"/>
                <a:cs typeface="Helvetica"/>
              </a:rPr>
              <a:t>h</a:t>
            </a:r>
            <a:r>
              <a:rPr sz="3000" b="1" spc="-10" dirty="0">
                <a:latin typeface="Helvetica"/>
                <a:cs typeface="Helvetica"/>
              </a:rPr>
              <a:t>i</a:t>
            </a:r>
            <a:r>
              <a:rPr sz="3000" b="1" spc="-25" dirty="0">
                <a:latin typeface="Helvetica"/>
                <a:cs typeface="Helvetica"/>
              </a:rPr>
              <a:t>gh</a:t>
            </a:r>
            <a:r>
              <a:rPr sz="3000" b="1" dirty="0">
                <a:latin typeface="Helvetica"/>
                <a:cs typeface="Helvetica"/>
              </a:rPr>
              <a:t>er</a:t>
            </a:r>
            <a:r>
              <a:rPr sz="3000" b="1" spc="-5" dirty="0">
                <a:latin typeface="Helvetica"/>
                <a:cs typeface="Helvetica"/>
              </a:rPr>
              <a:t> </a:t>
            </a:r>
            <a:r>
              <a:rPr sz="3000" b="1" spc="-25" dirty="0">
                <a:latin typeface="Helvetica"/>
                <a:cs typeface="Helvetica"/>
              </a:rPr>
              <a:t>d</a:t>
            </a:r>
            <a:r>
              <a:rPr sz="3000" b="1" spc="-10" dirty="0">
                <a:latin typeface="Helvetica"/>
                <a:cs typeface="Helvetica"/>
              </a:rPr>
              <a:t>i</a:t>
            </a:r>
            <a:r>
              <a:rPr sz="3000" b="1" dirty="0">
                <a:latin typeface="Helvetica"/>
                <a:cs typeface="Helvetica"/>
              </a:rPr>
              <a:t>s</a:t>
            </a:r>
            <a:r>
              <a:rPr sz="3000" b="1" spc="-25" dirty="0">
                <a:latin typeface="Helvetica"/>
                <a:cs typeface="Helvetica"/>
              </a:rPr>
              <a:t>p</a:t>
            </a:r>
            <a:r>
              <a:rPr sz="3000" b="1" dirty="0">
                <a:latin typeface="Helvetica"/>
                <a:cs typeface="Helvetica"/>
              </a:rPr>
              <a:t>ersa</a:t>
            </a:r>
            <a:r>
              <a:rPr sz="3000" b="1" spc="-10" dirty="0">
                <a:latin typeface="Helvetica"/>
                <a:cs typeface="Helvetica"/>
              </a:rPr>
              <a:t>l</a:t>
            </a:r>
            <a:r>
              <a:rPr sz="3000" b="1" spc="-5" dirty="0">
                <a:latin typeface="Helvetica"/>
                <a:cs typeface="Helvetica"/>
              </a:rPr>
              <a:t> </a:t>
            </a:r>
            <a:r>
              <a:rPr sz="3000" b="1" dirty="0">
                <a:latin typeface="Helvetica"/>
                <a:cs typeface="Helvetica"/>
              </a:rPr>
              <a:t>rate</a:t>
            </a:r>
            <a:r>
              <a:rPr sz="3000" b="1" spc="-20" dirty="0">
                <a:latin typeface="Helvetica"/>
                <a:cs typeface="Helvetica"/>
              </a:rPr>
              <a:t>?</a:t>
            </a:r>
            <a:endParaRPr sz="300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60400" rIns="0" bIns="0" rtlCol="0">
            <a:spAutoFit/>
          </a:bodyPr>
          <a:lstStyle/>
          <a:p>
            <a:pPr marL="1000125">
              <a:lnSpc>
                <a:spcPct val="100000"/>
              </a:lnSpc>
            </a:pPr>
            <a:r>
              <a:rPr i="1" spc="-35" dirty="0">
                <a:latin typeface="Helvetica"/>
                <a:cs typeface="Helvetica"/>
              </a:rPr>
              <a:t>Odon</a:t>
            </a:r>
            <a:r>
              <a:rPr i="1" spc="-15" dirty="0">
                <a:latin typeface="Helvetica"/>
                <a:cs typeface="Helvetica"/>
              </a:rPr>
              <a:t>t</a:t>
            </a:r>
            <a:r>
              <a:rPr i="1" spc="-30" dirty="0">
                <a:latin typeface="Helvetica"/>
                <a:cs typeface="Helvetica"/>
              </a:rPr>
              <a:t>o</a:t>
            </a:r>
            <a:r>
              <a:rPr i="1" dirty="0">
                <a:latin typeface="Helvetica"/>
                <a:cs typeface="Helvetica"/>
              </a:rPr>
              <a:t>mac</a:t>
            </a:r>
            <a:r>
              <a:rPr i="1" spc="-30" dirty="0">
                <a:latin typeface="Helvetica"/>
                <a:cs typeface="Helvetica"/>
              </a:rPr>
              <a:t>hu</a:t>
            </a:r>
            <a:r>
              <a:rPr i="1" dirty="0">
                <a:latin typeface="Helvetica"/>
                <a:cs typeface="Helvetica"/>
              </a:rPr>
              <a:t>s</a:t>
            </a:r>
            <a:r>
              <a:rPr i="1" spc="-5" dirty="0">
                <a:latin typeface="Helvetica"/>
                <a:cs typeface="Helvetica"/>
              </a:rPr>
              <a:t> </a:t>
            </a:r>
            <a:r>
              <a:rPr spc="-20" dirty="0"/>
              <a:t>i</a:t>
            </a:r>
            <a:r>
              <a:rPr spc="-25" dirty="0"/>
              <a:t>n</a:t>
            </a:r>
            <a:r>
              <a:rPr spc="-5" dirty="0"/>
              <a:t> </a:t>
            </a:r>
            <a:r>
              <a:rPr spc="-15" dirty="0"/>
              <a:t>t</a:t>
            </a:r>
            <a:r>
              <a:rPr spc="-30" dirty="0"/>
              <a:t>h</a:t>
            </a:r>
            <a:r>
              <a:rPr dirty="0"/>
              <a:t>e</a:t>
            </a:r>
            <a:r>
              <a:rPr spc="-5" dirty="0"/>
              <a:t> </a:t>
            </a:r>
            <a:r>
              <a:rPr spc="-30" dirty="0"/>
              <a:t>Indo</a:t>
            </a:r>
            <a:r>
              <a:rPr dirty="0"/>
              <a:t>-Pac</a:t>
            </a:r>
            <a:r>
              <a:rPr spc="-20" dirty="0"/>
              <a:t>i</a:t>
            </a:r>
            <a:r>
              <a:rPr spc="-15" dirty="0"/>
              <a:t>f</a:t>
            </a:r>
            <a:r>
              <a:rPr spc="-20" dirty="0"/>
              <a:t>i</a:t>
            </a:r>
            <a:r>
              <a:rPr dirty="0"/>
              <a:t>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400" y="9474200"/>
            <a:ext cx="444817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5" dirty="0">
                <a:latin typeface="Calibri"/>
                <a:cs typeface="Calibri"/>
              </a:rPr>
              <a:t>M</a:t>
            </a:r>
            <a:r>
              <a:rPr sz="1600" spc="-25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t</a:t>
            </a:r>
            <a:r>
              <a:rPr sz="1600" dirty="0">
                <a:latin typeface="Calibri"/>
                <a:cs typeface="Calibri"/>
              </a:rPr>
              <a:t>os-</a:t>
            </a:r>
            <a:r>
              <a:rPr sz="1600" spc="-15" dirty="0">
                <a:latin typeface="Calibri"/>
                <a:cs typeface="Calibri"/>
              </a:rPr>
              <a:t>Ma</a:t>
            </a:r>
            <a:r>
              <a:rPr sz="1600" spc="-45" dirty="0">
                <a:latin typeface="Calibri"/>
                <a:cs typeface="Calibri"/>
              </a:rPr>
              <a:t>r</a:t>
            </a:r>
            <a:r>
              <a:rPr sz="1600" spc="-30" dirty="0">
                <a:latin typeface="Calibri"/>
                <a:cs typeface="Calibri"/>
              </a:rPr>
              <a:t>a</a:t>
            </a:r>
            <a:r>
              <a:rPr sz="1600" spc="-10" dirty="0">
                <a:latin typeface="Calibri"/>
                <a:cs typeface="Calibri"/>
              </a:rPr>
              <a:t>v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5" dirty="0">
                <a:latin typeface="Calibri"/>
                <a:cs typeface="Calibri"/>
              </a:rPr>
              <a:t>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M</a:t>
            </a:r>
            <a:r>
              <a:rPr sz="1600" spc="-25" dirty="0">
                <a:latin typeface="Calibri"/>
                <a:cs typeface="Calibri"/>
              </a:rPr>
              <a:t>a</a:t>
            </a:r>
            <a:r>
              <a:rPr sz="1600" spc="-10" dirty="0">
                <a:latin typeface="Calibri"/>
                <a:cs typeface="Calibri"/>
              </a:rPr>
              <a:t>tz</a:t>
            </a:r>
            <a:r>
              <a:rPr sz="1600" spc="-65" dirty="0">
                <a:latin typeface="Calibri"/>
                <a:cs typeface="Calibri"/>
              </a:rPr>
              <a:t>k</a:t>
            </a:r>
            <a:r>
              <a:rPr sz="1600" spc="-10" dirty="0">
                <a:latin typeface="Calibri"/>
                <a:cs typeface="Calibri"/>
              </a:rPr>
              <a:t>e,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e</a:t>
            </a:r>
            <a:r>
              <a:rPr sz="1600" spc="-10" dirty="0">
                <a:latin typeface="Calibri"/>
                <a:cs typeface="Calibri"/>
              </a:rPr>
              <a:t>t</a:t>
            </a:r>
            <a:r>
              <a:rPr sz="1600" dirty="0">
                <a:latin typeface="Calibri"/>
                <a:cs typeface="Calibri"/>
              </a:rPr>
              <a:t> al. </a:t>
            </a:r>
            <a:r>
              <a:rPr sz="1600" spc="-10" dirty="0">
                <a:latin typeface="Calibri"/>
                <a:cs typeface="Calibri"/>
              </a:rPr>
              <a:t>2018,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Mol</a:t>
            </a:r>
            <a:r>
              <a:rPr sz="1600" i="1" spc="-10" dirty="0">
                <a:latin typeface="Calibri"/>
                <a:cs typeface="Calibri"/>
              </a:rPr>
              <a:t>e</a:t>
            </a:r>
            <a:r>
              <a:rPr sz="1600" i="1" dirty="0">
                <a:latin typeface="Calibri"/>
                <a:cs typeface="Calibri"/>
              </a:rPr>
              <a:t>cula</a:t>
            </a:r>
            <a:r>
              <a:rPr sz="1600" i="1" spc="-10" dirty="0">
                <a:latin typeface="Calibri"/>
                <a:cs typeface="Calibri"/>
              </a:rPr>
              <a:t>r</a:t>
            </a:r>
            <a:r>
              <a:rPr sz="1600" i="1" dirty="0">
                <a:latin typeface="Calibri"/>
                <a:cs typeface="Calibri"/>
              </a:rPr>
              <a:t> </a:t>
            </a:r>
            <a:r>
              <a:rPr sz="1600" i="1" spc="-25" dirty="0">
                <a:latin typeface="Calibri"/>
                <a:cs typeface="Calibri"/>
              </a:rPr>
              <a:t>E</a:t>
            </a:r>
            <a:r>
              <a:rPr sz="1600" i="1" spc="-15" dirty="0">
                <a:latin typeface="Calibri"/>
                <a:cs typeface="Calibri"/>
              </a:rPr>
              <a:t>c</a:t>
            </a:r>
            <a:r>
              <a:rPr sz="1600" i="1" dirty="0">
                <a:latin typeface="Calibri"/>
                <a:cs typeface="Calibri"/>
              </a:rPr>
              <a:t>ology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265244"/>
            <a:ext cx="13004800" cy="72231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42604" y="0"/>
            <a:ext cx="10920095" cy="9753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44930">
              <a:lnSpc>
                <a:spcPct val="100000"/>
              </a:lnSpc>
            </a:pPr>
            <a:r>
              <a:rPr sz="4000" b="1" i="1" spc="-35" dirty="0">
                <a:latin typeface="Helvetica"/>
                <a:cs typeface="Helvetica"/>
              </a:rPr>
              <a:t>Odon</a:t>
            </a:r>
            <a:r>
              <a:rPr sz="4000" b="1" i="1" spc="-15" dirty="0">
                <a:latin typeface="Helvetica"/>
                <a:cs typeface="Helvetica"/>
              </a:rPr>
              <a:t>t</a:t>
            </a:r>
            <a:r>
              <a:rPr sz="4000" b="1" i="1" spc="-30" dirty="0">
                <a:latin typeface="Helvetica"/>
                <a:cs typeface="Helvetica"/>
              </a:rPr>
              <a:t>o</a:t>
            </a:r>
            <a:r>
              <a:rPr sz="4000" b="1" i="1" dirty="0">
                <a:latin typeface="Helvetica"/>
                <a:cs typeface="Helvetica"/>
              </a:rPr>
              <a:t>mac</a:t>
            </a:r>
            <a:r>
              <a:rPr sz="4000" b="1" i="1" spc="-30" dirty="0">
                <a:latin typeface="Helvetica"/>
                <a:cs typeface="Helvetica"/>
              </a:rPr>
              <a:t>hu</a:t>
            </a:r>
            <a:r>
              <a:rPr sz="4000" b="1" i="1" dirty="0">
                <a:latin typeface="Helvetica"/>
                <a:cs typeface="Helvetica"/>
              </a:rPr>
              <a:t>s</a:t>
            </a:r>
            <a:r>
              <a:rPr sz="4000" b="1" i="1" spc="-5" dirty="0">
                <a:latin typeface="Helvetica"/>
                <a:cs typeface="Helvetica"/>
              </a:rPr>
              <a:t> </a:t>
            </a:r>
            <a:r>
              <a:rPr sz="4000" b="1" spc="-20" dirty="0">
                <a:latin typeface="Helvetica"/>
                <a:cs typeface="Helvetica"/>
              </a:rPr>
              <a:t>i</a:t>
            </a:r>
            <a:r>
              <a:rPr sz="4000" b="1" spc="-25" dirty="0">
                <a:latin typeface="Helvetica"/>
                <a:cs typeface="Helvetica"/>
              </a:rPr>
              <a:t>n</a:t>
            </a:r>
            <a:r>
              <a:rPr sz="4000" b="1" spc="-5" dirty="0">
                <a:latin typeface="Helvetica"/>
                <a:cs typeface="Helvetica"/>
              </a:rPr>
              <a:t> </a:t>
            </a:r>
            <a:r>
              <a:rPr sz="4000" b="1" spc="-15" dirty="0">
                <a:latin typeface="Helvetica"/>
                <a:cs typeface="Helvetica"/>
              </a:rPr>
              <a:t>t</a:t>
            </a:r>
            <a:r>
              <a:rPr sz="4000" b="1" spc="-30" dirty="0">
                <a:latin typeface="Helvetica"/>
                <a:cs typeface="Helvetica"/>
              </a:rPr>
              <a:t>h</a:t>
            </a:r>
            <a:r>
              <a:rPr sz="4000" b="1" dirty="0">
                <a:latin typeface="Helvetica"/>
                <a:cs typeface="Helvetica"/>
              </a:rPr>
              <a:t>e</a:t>
            </a:r>
            <a:r>
              <a:rPr sz="4000" b="1" spc="-5" dirty="0">
                <a:latin typeface="Helvetica"/>
                <a:cs typeface="Helvetica"/>
              </a:rPr>
              <a:t> </a:t>
            </a:r>
            <a:r>
              <a:rPr sz="4000" b="1" spc="-30" dirty="0">
                <a:latin typeface="Helvetica"/>
                <a:cs typeface="Helvetica"/>
              </a:rPr>
              <a:t>Indo</a:t>
            </a:r>
            <a:r>
              <a:rPr sz="4000" b="1" dirty="0">
                <a:latin typeface="Helvetica"/>
                <a:cs typeface="Helvetica"/>
              </a:rPr>
              <a:t>-Pac</a:t>
            </a:r>
            <a:r>
              <a:rPr sz="4000" b="1" spc="-20" dirty="0">
                <a:latin typeface="Helvetica"/>
                <a:cs typeface="Helvetica"/>
              </a:rPr>
              <a:t>i</a:t>
            </a:r>
            <a:r>
              <a:rPr sz="4000" b="1" spc="-15" dirty="0">
                <a:latin typeface="Helvetica"/>
                <a:cs typeface="Helvetica"/>
              </a:rPr>
              <a:t>f</a:t>
            </a:r>
            <a:r>
              <a:rPr sz="4000" b="1" spc="-20" dirty="0">
                <a:latin typeface="Helvetica"/>
                <a:cs typeface="Helvetica"/>
              </a:rPr>
              <a:t>i</a:t>
            </a:r>
            <a:r>
              <a:rPr sz="4000" b="1" dirty="0">
                <a:latin typeface="Helvetica"/>
                <a:cs typeface="Helvetica"/>
              </a:rPr>
              <a:t>c</a:t>
            </a:r>
            <a:endParaRPr sz="4000">
              <a:latin typeface="Helvetica"/>
              <a:cs typeface="Helvetica"/>
            </a:endParaRPr>
          </a:p>
          <a:p>
            <a:pPr>
              <a:lnSpc>
                <a:spcPct val="100000"/>
              </a:lnSpc>
            </a:pPr>
            <a:endParaRPr sz="4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4400">
              <a:latin typeface="Times New Roman"/>
              <a:cs typeface="Times New Roman"/>
            </a:endParaRPr>
          </a:p>
          <a:p>
            <a:pPr marL="10795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vi</a:t>
            </a:r>
            <a:r>
              <a:rPr sz="1600" spc="-5" dirty="0">
                <a:latin typeface="Calibri"/>
                <a:cs typeface="Calibri"/>
              </a:rPr>
              <a:t>, </a:t>
            </a:r>
            <a:r>
              <a:rPr sz="1600" spc="-15" dirty="0">
                <a:latin typeface="Calibri"/>
                <a:cs typeface="Calibri"/>
              </a:rPr>
              <a:t>M</a:t>
            </a:r>
            <a:r>
              <a:rPr sz="1600" spc="-25" dirty="0">
                <a:latin typeface="Calibri"/>
                <a:cs typeface="Calibri"/>
              </a:rPr>
              <a:t>a</a:t>
            </a:r>
            <a:r>
              <a:rPr sz="1600" spc="-10" dirty="0">
                <a:latin typeface="Calibri"/>
                <a:cs typeface="Calibri"/>
              </a:rPr>
              <a:t>tz</a:t>
            </a:r>
            <a:r>
              <a:rPr sz="1600" spc="-65" dirty="0">
                <a:latin typeface="Calibri"/>
                <a:cs typeface="Calibri"/>
              </a:rPr>
              <a:t>k</a:t>
            </a:r>
            <a:r>
              <a:rPr sz="1600" spc="-10" dirty="0">
                <a:latin typeface="Calibri"/>
                <a:cs typeface="Calibri"/>
              </a:rPr>
              <a:t>e,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e</a:t>
            </a:r>
            <a:r>
              <a:rPr sz="1600" spc="-10" dirty="0">
                <a:latin typeface="Calibri"/>
                <a:cs typeface="Calibri"/>
              </a:rPr>
              <a:t>t</a:t>
            </a:r>
            <a:r>
              <a:rPr sz="1600" dirty="0">
                <a:latin typeface="Calibri"/>
                <a:cs typeface="Calibri"/>
              </a:rPr>
              <a:t> al. </a:t>
            </a:r>
            <a:r>
              <a:rPr sz="1600" spc="-10" dirty="0">
                <a:latin typeface="Calibri"/>
                <a:cs typeface="Calibri"/>
              </a:rPr>
              <a:t>2018,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Mol</a:t>
            </a:r>
            <a:r>
              <a:rPr sz="1600" i="1" spc="-10" dirty="0">
                <a:latin typeface="Calibri"/>
                <a:cs typeface="Calibri"/>
              </a:rPr>
              <a:t>e</a:t>
            </a:r>
            <a:r>
              <a:rPr sz="1600" i="1" dirty="0">
                <a:latin typeface="Calibri"/>
                <a:cs typeface="Calibri"/>
              </a:rPr>
              <a:t>cula</a:t>
            </a:r>
            <a:r>
              <a:rPr sz="1600" i="1" spc="-10" dirty="0">
                <a:latin typeface="Calibri"/>
                <a:cs typeface="Calibri"/>
              </a:rPr>
              <a:t>r</a:t>
            </a:r>
            <a:r>
              <a:rPr sz="1600" i="1" dirty="0">
                <a:latin typeface="Calibri"/>
                <a:cs typeface="Calibri"/>
              </a:rPr>
              <a:t> </a:t>
            </a:r>
            <a:r>
              <a:rPr sz="1600" i="1" spc="-25" dirty="0">
                <a:latin typeface="Calibri"/>
                <a:cs typeface="Calibri"/>
              </a:rPr>
              <a:t>E</a:t>
            </a:r>
            <a:r>
              <a:rPr sz="1600" i="1" spc="-15" dirty="0">
                <a:latin typeface="Calibri"/>
                <a:cs typeface="Calibri"/>
              </a:rPr>
              <a:t>c</a:t>
            </a:r>
            <a:r>
              <a:rPr sz="1600" i="1" dirty="0">
                <a:latin typeface="Calibri"/>
                <a:cs typeface="Calibri"/>
              </a:rPr>
              <a:t>ology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400" y="9474200"/>
            <a:ext cx="104457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5" dirty="0">
                <a:latin typeface="Calibri"/>
                <a:cs typeface="Calibri"/>
              </a:rPr>
              <a:t>M</a:t>
            </a:r>
            <a:r>
              <a:rPr sz="1600" spc="-25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t</a:t>
            </a:r>
            <a:r>
              <a:rPr sz="1600" dirty="0">
                <a:latin typeface="Calibri"/>
                <a:cs typeface="Calibri"/>
              </a:rPr>
              <a:t>os-</a:t>
            </a:r>
            <a:r>
              <a:rPr sz="1600" spc="-15" dirty="0">
                <a:latin typeface="Calibri"/>
                <a:cs typeface="Calibri"/>
              </a:rPr>
              <a:t>Ma</a:t>
            </a:r>
            <a:r>
              <a:rPr sz="1600" spc="-45" dirty="0">
                <a:latin typeface="Calibri"/>
                <a:cs typeface="Calibri"/>
              </a:rPr>
              <a:t>r</a:t>
            </a:r>
            <a:r>
              <a:rPr sz="1600" dirty="0">
                <a:latin typeface="Calibri"/>
                <a:cs typeface="Calibri"/>
              </a:rPr>
              <a:t>a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42604" y="0"/>
            <a:ext cx="10919589" cy="9753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60400" rIns="0" bIns="0" rtlCol="0">
            <a:spAutoFit/>
          </a:bodyPr>
          <a:lstStyle/>
          <a:p>
            <a:pPr marL="1000125">
              <a:lnSpc>
                <a:spcPct val="100000"/>
              </a:lnSpc>
            </a:pPr>
            <a:r>
              <a:rPr i="1" spc="-35" dirty="0">
                <a:latin typeface="Helvetica"/>
                <a:cs typeface="Helvetica"/>
              </a:rPr>
              <a:t>Odon</a:t>
            </a:r>
            <a:r>
              <a:rPr i="1" spc="-15" dirty="0">
                <a:latin typeface="Helvetica"/>
                <a:cs typeface="Helvetica"/>
              </a:rPr>
              <a:t>t</a:t>
            </a:r>
            <a:r>
              <a:rPr i="1" spc="-30" dirty="0">
                <a:latin typeface="Helvetica"/>
                <a:cs typeface="Helvetica"/>
              </a:rPr>
              <a:t>o</a:t>
            </a:r>
            <a:r>
              <a:rPr i="1" dirty="0">
                <a:latin typeface="Helvetica"/>
                <a:cs typeface="Helvetica"/>
              </a:rPr>
              <a:t>mac</a:t>
            </a:r>
            <a:r>
              <a:rPr i="1" spc="-30" dirty="0">
                <a:latin typeface="Helvetica"/>
                <a:cs typeface="Helvetica"/>
              </a:rPr>
              <a:t>hu</a:t>
            </a:r>
            <a:r>
              <a:rPr i="1" dirty="0">
                <a:latin typeface="Helvetica"/>
                <a:cs typeface="Helvetica"/>
              </a:rPr>
              <a:t>s</a:t>
            </a:r>
            <a:r>
              <a:rPr i="1" spc="-5" dirty="0">
                <a:latin typeface="Helvetica"/>
                <a:cs typeface="Helvetica"/>
              </a:rPr>
              <a:t> </a:t>
            </a:r>
            <a:r>
              <a:rPr spc="-20" dirty="0"/>
              <a:t>i</a:t>
            </a:r>
            <a:r>
              <a:rPr spc="-25" dirty="0"/>
              <a:t>n</a:t>
            </a:r>
            <a:r>
              <a:rPr spc="-5" dirty="0"/>
              <a:t> </a:t>
            </a:r>
            <a:r>
              <a:rPr spc="-15" dirty="0"/>
              <a:t>t</a:t>
            </a:r>
            <a:r>
              <a:rPr spc="-30" dirty="0"/>
              <a:t>h</a:t>
            </a:r>
            <a:r>
              <a:rPr dirty="0"/>
              <a:t>e</a:t>
            </a:r>
            <a:r>
              <a:rPr spc="-5" dirty="0"/>
              <a:t> </a:t>
            </a:r>
            <a:r>
              <a:rPr spc="-30" dirty="0"/>
              <a:t>Indo</a:t>
            </a:r>
            <a:r>
              <a:rPr dirty="0"/>
              <a:t>-Pac</a:t>
            </a:r>
            <a:r>
              <a:rPr spc="-20" dirty="0"/>
              <a:t>i</a:t>
            </a:r>
            <a:r>
              <a:rPr spc="-15" dirty="0"/>
              <a:t>f</a:t>
            </a:r>
            <a:r>
              <a:rPr spc="-20" dirty="0"/>
              <a:t>i</a:t>
            </a:r>
            <a:r>
              <a:rPr dirty="0"/>
              <a:t>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400" y="9474200"/>
            <a:ext cx="444817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5" dirty="0">
                <a:latin typeface="Calibri"/>
                <a:cs typeface="Calibri"/>
              </a:rPr>
              <a:t>M</a:t>
            </a:r>
            <a:r>
              <a:rPr sz="1600" spc="-25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t</a:t>
            </a:r>
            <a:r>
              <a:rPr sz="1600" dirty="0">
                <a:latin typeface="Calibri"/>
                <a:cs typeface="Calibri"/>
              </a:rPr>
              <a:t>os-</a:t>
            </a:r>
            <a:r>
              <a:rPr sz="1600" spc="-15" dirty="0">
                <a:latin typeface="Calibri"/>
                <a:cs typeface="Calibri"/>
              </a:rPr>
              <a:t>Ma</a:t>
            </a:r>
            <a:r>
              <a:rPr sz="1600" spc="-45" dirty="0">
                <a:latin typeface="Calibri"/>
                <a:cs typeface="Calibri"/>
              </a:rPr>
              <a:t>r</a:t>
            </a:r>
            <a:r>
              <a:rPr sz="1600" spc="-30" dirty="0">
                <a:latin typeface="Calibri"/>
                <a:cs typeface="Calibri"/>
              </a:rPr>
              <a:t>a</a:t>
            </a:r>
            <a:r>
              <a:rPr sz="1600" spc="-10" dirty="0">
                <a:latin typeface="Calibri"/>
                <a:cs typeface="Calibri"/>
              </a:rPr>
              <a:t>v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5" dirty="0">
                <a:latin typeface="Calibri"/>
                <a:cs typeface="Calibri"/>
              </a:rPr>
              <a:t>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M</a:t>
            </a:r>
            <a:r>
              <a:rPr sz="1600" spc="-25" dirty="0">
                <a:latin typeface="Calibri"/>
                <a:cs typeface="Calibri"/>
              </a:rPr>
              <a:t>a</a:t>
            </a:r>
            <a:r>
              <a:rPr sz="1600" spc="-10" dirty="0">
                <a:latin typeface="Calibri"/>
                <a:cs typeface="Calibri"/>
              </a:rPr>
              <a:t>tz</a:t>
            </a:r>
            <a:r>
              <a:rPr sz="1600" spc="-65" dirty="0">
                <a:latin typeface="Calibri"/>
                <a:cs typeface="Calibri"/>
              </a:rPr>
              <a:t>k</a:t>
            </a:r>
            <a:r>
              <a:rPr sz="1600" spc="-10" dirty="0">
                <a:latin typeface="Calibri"/>
                <a:cs typeface="Calibri"/>
              </a:rPr>
              <a:t>e,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e</a:t>
            </a:r>
            <a:r>
              <a:rPr sz="1600" spc="-10" dirty="0">
                <a:latin typeface="Calibri"/>
                <a:cs typeface="Calibri"/>
              </a:rPr>
              <a:t>t</a:t>
            </a:r>
            <a:r>
              <a:rPr sz="1600" dirty="0">
                <a:latin typeface="Calibri"/>
                <a:cs typeface="Calibri"/>
              </a:rPr>
              <a:t> al. </a:t>
            </a:r>
            <a:r>
              <a:rPr sz="1600" spc="-10" dirty="0">
                <a:latin typeface="Calibri"/>
                <a:cs typeface="Calibri"/>
              </a:rPr>
              <a:t>2018,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Mol</a:t>
            </a:r>
            <a:r>
              <a:rPr sz="1600" i="1" spc="-10" dirty="0">
                <a:latin typeface="Calibri"/>
                <a:cs typeface="Calibri"/>
              </a:rPr>
              <a:t>e</a:t>
            </a:r>
            <a:r>
              <a:rPr sz="1600" i="1" dirty="0">
                <a:latin typeface="Calibri"/>
                <a:cs typeface="Calibri"/>
              </a:rPr>
              <a:t>cula</a:t>
            </a:r>
            <a:r>
              <a:rPr sz="1600" i="1" spc="-10" dirty="0">
                <a:latin typeface="Calibri"/>
                <a:cs typeface="Calibri"/>
              </a:rPr>
              <a:t>r</a:t>
            </a:r>
            <a:r>
              <a:rPr sz="1600" i="1" dirty="0">
                <a:latin typeface="Calibri"/>
                <a:cs typeface="Calibri"/>
              </a:rPr>
              <a:t> </a:t>
            </a:r>
            <a:r>
              <a:rPr sz="1600" i="1" spc="-25" dirty="0">
                <a:latin typeface="Calibri"/>
                <a:cs typeface="Calibri"/>
              </a:rPr>
              <a:t>E</a:t>
            </a:r>
            <a:r>
              <a:rPr sz="1600" i="1" spc="-15" dirty="0">
                <a:latin typeface="Calibri"/>
                <a:cs typeface="Calibri"/>
              </a:rPr>
              <a:t>c</a:t>
            </a:r>
            <a:r>
              <a:rPr sz="1600" i="1" dirty="0">
                <a:latin typeface="Calibri"/>
                <a:cs typeface="Calibri"/>
              </a:rPr>
              <a:t>ology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2200642"/>
            <a:ext cx="13004800" cy="53523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74900" y="688330"/>
            <a:ext cx="8267065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b="1" i="1" spc="-35" dirty="0">
                <a:latin typeface="Helvetica"/>
                <a:cs typeface="Helvetica"/>
              </a:rPr>
              <a:t>Odon</a:t>
            </a:r>
            <a:r>
              <a:rPr sz="4000" b="1" i="1" spc="-15" dirty="0">
                <a:latin typeface="Helvetica"/>
                <a:cs typeface="Helvetica"/>
              </a:rPr>
              <a:t>t</a:t>
            </a:r>
            <a:r>
              <a:rPr sz="4000" b="1" i="1" spc="-30" dirty="0">
                <a:latin typeface="Helvetica"/>
                <a:cs typeface="Helvetica"/>
              </a:rPr>
              <a:t>o</a:t>
            </a:r>
            <a:r>
              <a:rPr sz="4000" b="1" i="1" dirty="0">
                <a:latin typeface="Helvetica"/>
                <a:cs typeface="Helvetica"/>
              </a:rPr>
              <a:t>mac</a:t>
            </a:r>
            <a:r>
              <a:rPr sz="4000" b="1" i="1" spc="-30" dirty="0">
                <a:latin typeface="Helvetica"/>
                <a:cs typeface="Helvetica"/>
              </a:rPr>
              <a:t>hu</a:t>
            </a:r>
            <a:r>
              <a:rPr sz="4000" b="1" i="1" dirty="0">
                <a:latin typeface="Helvetica"/>
                <a:cs typeface="Helvetica"/>
              </a:rPr>
              <a:t>s</a:t>
            </a:r>
            <a:r>
              <a:rPr sz="4000" b="1" i="1" spc="-5" dirty="0">
                <a:latin typeface="Helvetica"/>
                <a:cs typeface="Helvetica"/>
              </a:rPr>
              <a:t> </a:t>
            </a:r>
            <a:r>
              <a:rPr sz="4000" b="1" spc="-20" dirty="0">
                <a:latin typeface="Helvetica"/>
                <a:cs typeface="Helvetica"/>
              </a:rPr>
              <a:t>i</a:t>
            </a:r>
            <a:r>
              <a:rPr sz="4000" b="1" spc="-25" dirty="0">
                <a:latin typeface="Helvetica"/>
                <a:cs typeface="Helvetica"/>
              </a:rPr>
              <a:t>n</a:t>
            </a:r>
            <a:r>
              <a:rPr sz="4000" b="1" spc="-5" dirty="0">
                <a:latin typeface="Helvetica"/>
                <a:cs typeface="Helvetica"/>
              </a:rPr>
              <a:t> </a:t>
            </a:r>
            <a:r>
              <a:rPr sz="4000" b="1" spc="-15" dirty="0">
                <a:latin typeface="Helvetica"/>
                <a:cs typeface="Helvetica"/>
              </a:rPr>
              <a:t>t</a:t>
            </a:r>
            <a:r>
              <a:rPr sz="4000" b="1" spc="-30" dirty="0">
                <a:latin typeface="Helvetica"/>
                <a:cs typeface="Helvetica"/>
              </a:rPr>
              <a:t>h</a:t>
            </a:r>
            <a:r>
              <a:rPr sz="4000" b="1" dirty="0">
                <a:latin typeface="Helvetica"/>
                <a:cs typeface="Helvetica"/>
              </a:rPr>
              <a:t>e</a:t>
            </a:r>
            <a:r>
              <a:rPr sz="4000" b="1" spc="-5" dirty="0">
                <a:latin typeface="Helvetica"/>
                <a:cs typeface="Helvetica"/>
              </a:rPr>
              <a:t> </a:t>
            </a:r>
            <a:r>
              <a:rPr sz="4000" b="1" spc="-30" dirty="0">
                <a:latin typeface="Helvetica"/>
                <a:cs typeface="Helvetica"/>
              </a:rPr>
              <a:t>Indo</a:t>
            </a:r>
            <a:r>
              <a:rPr sz="4000" b="1" dirty="0">
                <a:latin typeface="Helvetica"/>
                <a:cs typeface="Helvetica"/>
              </a:rPr>
              <a:t>-Pac</a:t>
            </a:r>
            <a:r>
              <a:rPr sz="4000" b="1" spc="-20" dirty="0">
                <a:latin typeface="Helvetica"/>
                <a:cs typeface="Helvetica"/>
              </a:rPr>
              <a:t>i</a:t>
            </a:r>
            <a:r>
              <a:rPr sz="4000" b="1" spc="-15" dirty="0">
                <a:latin typeface="Helvetica"/>
                <a:cs typeface="Helvetica"/>
              </a:rPr>
              <a:t>f</a:t>
            </a:r>
            <a:r>
              <a:rPr sz="4000" b="1" spc="-20" dirty="0">
                <a:latin typeface="Helvetica"/>
                <a:cs typeface="Helvetica"/>
              </a:rPr>
              <a:t>i</a:t>
            </a:r>
            <a:r>
              <a:rPr sz="4000" b="1" dirty="0">
                <a:latin typeface="Helvetica"/>
                <a:cs typeface="Helvetica"/>
              </a:rPr>
              <a:t>c</a:t>
            </a:r>
            <a:endParaRPr sz="4000">
              <a:latin typeface="Helvetica"/>
              <a:cs typeface="Helvetic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400" y="9474200"/>
            <a:ext cx="444817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5" dirty="0">
                <a:latin typeface="Calibri"/>
                <a:cs typeface="Calibri"/>
              </a:rPr>
              <a:t>M</a:t>
            </a:r>
            <a:r>
              <a:rPr sz="1600" spc="-25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t</a:t>
            </a:r>
            <a:r>
              <a:rPr sz="1600" dirty="0">
                <a:latin typeface="Calibri"/>
                <a:cs typeface="Calibri"/>
              </a:rPr>
              <a:t>os-</a:t>
            </a:r>
            <a:r>
              <a:rPr sz="1600" spc="-15" dirty="0">
                <a:latin typeface="Calibri"/>
                <a:cs typeface="Calibri"/>
              </a:rPr>
              <a:t>Ma</a:t>
            </a:r>
            <a:r>
              <a:rPr sz="1600" spc="-45" dirty="0">
                <a:latin typeface="Calibri"/>
                <a:cs typeface="Calibri"/>
              </a:rPr>
              <a:t>r</a:t>
            </a:r>
            <a:r>
              <a:rPr sz="1600" spc="-30" dirty="0">
                <a:latin typeface="Calibri"/>
                <a:cs typeface="Calibri"/>
              </a:rPr>
              <a:t>a</a:t>
            </a:r>
            <a:r>
              <a:rPr sz="1600" spc="-10" dirty="0">
                <a:latin typeface="Calibri"/>
                <a:cs typeface="Calibri"/>
              </a:rPr>
              <a:t>v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5" dirty="0">
                <a:latin typeface="Calibri"/>
                <a:cs typeface="Calibri"/>
              </a:rPr>
              <a:t>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M</a:t>
            </a:r>
            <a:r>
              <a:rPr sz="1600" spc="-25" dirty="0">
                <a:latin typeface="Calibri"/>
                <a:cs typeface="Calibri"/>
              </a:rPr>
              <a:t>a</a:t>
            </a:r>
            <a:r>
              <a:rPr sz="1600" spc="-10" dirty="0">
                <a:latin typeface="Calibri"/>
                <a:cs typeface="Calibri"/>
              </a:rPr>
              <a:t>tz</a:t>
            </a:r>
            <a:r>
              <a:rPr sz="1600" spc="-65" dirty="0">
                <a:latin typeface="Calibri"/>
                <a:cs typeface="Calibri"/>
              </a:rPr>
              <a:t>k</a:t>
            </a:r>
            <a:r>
              <a:rPr sz="1600" spc="-10" dirty="0">
                <a:latin typeface="Calibri"/>
                <a:cs typeface="Calibri"/>
              </a:rPr>
              <a:t>e,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e</a:t>
            </a:r>
            <a:r>
              <a:rPr sz="1600" spc="-10" dirty="0">
                <a:latin typeface="Calibri"/>
                <a:cs typeface="Calibri"/>
              </a:rPr>
              <a:t>t</a:t>
            </a:r>
            <a:r>
              <a:rPr sz="1600" dirty="0">
                <a:latin typeface="Calibri"/>
                <a:cs typeface="Calibri"/>
              </a:rPr>
              <a:t> al. </a:t>
            </a:r>
            <a:r>
              <a:rPr sz="1600" spc="-10" dirty="0">
                <a:latin typeface="Calibri"/>
                <a:cs typeface="Calibri"/>
              </a:rPr>
              <a:t>2018,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Mol</a:t>
            </a:r>
            <a:r>
              <a:rPr sz="1600" i="1" spc="-10" dirty="0">
                <a:latin typeface="Calibri"/>
                <a:cs typeface="Calibri"/>
              </a:rPr>
              <a:t>e</a:t>
            </a:r>
            <a:r>
              <a:rPr sz="1600" i="1" dirty="0">
                <a:latin typeface="Calibri"/>
                <a:cs typeface="Calibri"/>
              </a:rPr>
              <a:t>cula</a:t>
            </a:r>
            <a:r>
              <a:rPr sz="1600" i="1" spc="-10" dirty="0">
                <a:latin typeface="Calibri"/>
                <a:cs typeface="Calibri"/>
              </a:rPr>
              <a:t>r</a:t>
            </a:r>
            <a:r>
              <a:rPr sz="1600" i="1" dirty="0">
                <a:latin typeface="Calibri"/>
                <a:cs typeface="Calibri"/>
              </a:rPr>
              <a:t> </a:t>
            </a:r>
            <a:r>
              <a:rPr sz="1600" i="1" spc="-25" dirty="0">
                <a:latin typeface="Calibri"/>
                <a:cs typeface="Calibri"/>
              </a:rPr>
              <a:t>E</a:t>
            </a:r>
            <a:r>
              <a:rPr sz="1600" i="1" spc="-15" dirty="0">
                <a:latin typeface="Calibri"/>
                <a:cs typeface="Calibri"/>
              </a:rPr>
              <a:t>c</a:t>
            </a:r>
            <a:r>
              <a:rPr sz="1600" i="1" dirty="0">
                <a:latin typeface="Calibri"/>
                <a:cs typeface="Calibri"/>
              </a:rPr>
              <a:t>ology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2200642"/>
            <a:ext cx="13004800" cy="53523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3258" y="1436297"/>
            <a:ext cx="11998281" cy="401609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3108" y="1480747"/>
            <a:ext cx="11858625" cy="3876675"/>
          </a:xfrm>
          <a:custGeom>
            <a:avLst/>
            <a:gdLst/>
            <a:ahLst/>
            <a:cxnLst/>
            <a:rect l="l" t="t" r="r" b="b"/>
            <a:pathLst>
              <a:path w="11858625" h="3876675">
                <a:moveTo>
                  <a:pt x="0" y="0"/>
                </a:moveTo>
                <a:lnTo>
                  <a:pt x="11858582" y="0"/>
                </a:lnTo>
                <a:lnTo>
                  <a:pt x="11858582" y="3876393"/>
                </a:lnTo>
                <a:lnTo>
                  <a:pt x="0" y="3876393"/>
                </a:lnTo>
                <a:lnTo>
                  <a:pt x="0" y="0"/>
                </a:lnTo>
                <a:close/>
              </a:path>
            </a:pathLst>
          </a:custGeom>
          <a:solidFill>
            <a:srgbClr val="51A7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73108" y="1480747"/>
            <a:ext cx="11858625" cy="3876675"/>
          </a:xfrm>
          <a:custGeom>
            <a:avLst/>
            <a:gdLst/>
            <a:ahLst/>
            <a:cxnLst/>
            <a:rect l="l" t="t" r="r" b="b"/>
            <a:pathLst>
              <a:path w="11858625" h="3876675">
                <a:moveTo>
                  <a:pt x="0" y="0"/>
                </a:moveTo>
                <a:lnTo>
                  <a:pt x="11858581" y="0"/>
                </a:lnTo>
                <a:lnTo>
                  <a:pt x="11858581" y="3876393"/>
                </a:lnTo>
                <a:lnTo>
                  <a:pt x="0" y="3876393"/>
                </a:lnTo>
                <a:lnTo>
                  <a:pt x="0" y="0"/>
                </a:lnTo>
                <a:close/>
              </a:path>
            </a:pathLst>
          </a:custGeom>
          <a:ln w="63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63600" y="1905000"/>
            <a:ext cx="10716895" cy="20754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1160" marR="5080" indent="-379095">
              <a:lnSpc>
                <a:spcPct val="102299"/>
              </a:lnSpc>
            </a:pPr>
            <a:r>
              <a:rPr lang="en-US" sz="4400" b="1" spc="-25" dirty="0">
                <a:cs typeface="Calibri"/>
              </a:rPr>
              <a:t>Indo-</a:t>
            </a:r>
            <a:r>
              <a:rPr lang="en-US" sz="4400" b="1" spc="-95" dirty="0">
                <a:cs typeface="Calibri"/>
              </a:rPr>
              <a:t>P</a:t>
            </a:r>
            <a:r>
              <a:rPr lang="en-US" sz="4400" b="1" spc="-5" dirty="0">
                <a:cs typeface="Calibri"/>
              </a:rPr>
              <a:t>a</a:t>
            </a:r>
            <a:r>
              <a:rPr lang="en-US" sz="4400" b="1" dirty="0">
                <a:cs typeface="Calibri"/>
              </a:rPr>
              <a:t>c</a:t>
            </a:r>
            <a:r>
              <a:rPr lang="en-US" sz="4400" b="1" spc="-20" dirty="0">
                <a:cs typeface="Calibri"/>
              </a:rPr>
              <a:t>iﬁ</a:t>
            </a:r>
            <a:r>
              <a:rPr lang="en-US" sz="4400" b="1" dirty="0">
                <a:cs typeface="Calibri"/>
              </a:rPr>
              <a:t>c</a:t>
            </a:r>
            <a:r>
              <a:rPr lang="en-US" sz="4400" b="1" spc="-5" dirty="0">
                <a:cs typeface="Calibri"/>
              </a:rPr>
              <a:t> </a:t>
            </a:r>
            <a:r>
              <a:rPr lang="en-US" sz="4400" b="1" i="1" dirty="0">
                <a:cs typeface="Calibri"/>
              </a:rPr>
              <a:t>O</a:t>
            </a:r>
            <a:r>
              <a:rPr lang="en-US" sz="4400" b="1" i="1" spc="-5" dirty="0">
                <a:cs typeface="Calibri"/>
              </a:rPr>
              <a:t>d</a:t>
            </a:r>
            <a:r>
              <a:rPr lang="en-US" sz="4400" b="1" i="1" dirty="0">
                <a:cs typeface="Calibri"/>
              </a:rPr>
              <a:t>o</a:t>
            </a:r>
            <a:r>
              <a:rPr lang="en-US" sz="4400" b="1" i="1" spc="-45" dirty="0">
                <a:cs typeface="Calibri"/>
              </a:rPr>
              <a:t>n</a:t>
            </a:r>
            <a:r>
              <a:rPr lang="en-US" sz="4400" b="1" i="1" spc="-75" dirty="0">
                <a:cs typeface="Calibri"/>
              </a:rPr>
              <a:t>t</a:t>
            </a:r>
            <a:r>
              <a:rPr lang="en-US" sz="4400" b="1" i="1" dirty="0">
                <a:cs typeface="Calibri"/>
              </a:rPr>
              <a:t>o</a:t>
            </a:r>
            <a:r>
              <a:rPr lang="en-US" sz="4400" b="1" i="1" spc="-5" dirty="0">
                <a:cs typeface="Calibri"/>
              </a:rPr>
              <a:t>m</a:t>
            </a:r>
            <a:r>
              <a:rPr lang="en-US" sz="4400" b="1" i="1" spc="-30" dirty="0">
                <a:cs typeface="Calibri"/>
              </a:rPr>
              <a:t>ac</a:t>
            </a:r>
            <a:r>
              <a:rPr lang="en-US" sz="4400" b="1" i="1" dirty="0">
                <a:cs typeface="Calibri"/>
              </a:rPr>
              <a:t>hus </a:t>
            </a:r>
            <a:r>
              <a:rPr lang="en-US" sz="4400" b="1" spc="-20" dirty="0">
                <a:cs typeface="Calibri"/>
              </a:rPr>
              <a:t>(</a:t>
            </a:r>
            <a:r>
              <a:rPr lang="en-US" sz="4400" b="1" spc="-25" dirty="0">
                <a:cs typeface="Calibri"/>
              </a:rPr>
              <a:t>26</a:t>
            </a:r>
            <a:r>
              <a:rPr lang="en-US" sz="4400" b="1" dirty="0">
                <a:cs typeface="Calibri"/>
              </a:rPr>
              <a:t> </a:t>
            </a:r>
            <a:r>
              <a:rPr lang="en-US" sz="4400" b="1" spc="-20" dirty="0">
                <a:cs typeface="Calibri"/>
              </a:rPr>
              <a:t>s</a:t>
            </a:r>
            <a:r>
              <a:rPr lang="en-US" sz="4400" b="1" spc="-35" dirty="0">
                <a:cs typeface="Calibri"/>
              </a:rPr>
              <a:t>p</a:t>
            </a:r>
            <a:r>
              <a:rPr lang="en-US" sz="4400" b="1" spc="-5" dirty="0">
                <a:cs typeface="Calibri"/>
              </a:rPr>
              <a:t>eci</a:t>
            </a:r>
            <a:r>
              <a:rPr lang="en-US" sz="4400" b="1" spc="-25" dirty="0">
                <a:cs typeface="Calibri"/>
              </a:rPr>
              <a:t>es)</a:t>
            </a:r>
            <a:endParaRPr lang="en-US" sz="4400" b="1" dirty="0">
              <a:cs typeface="Calibri"/>
            </a:endParaRPr>
          </a:p>
          <a:p>
            <a:pPr marL="391160" marR="5080" indent="-379095">
              <a:lnSpc>
                <a:spcPct val="102299"/>
              </a:lnSpc>
            </a:pPr>
            <a:r>
              <a:rPr lang="en-US" sz="4400" b="1" spc="-20" dirty="0">
                <a:latin typeface="Calibri"/>
                <a:cs typeface="Calibri"/>
              </a:rPr>
              <a:t>* </a:t>
            </a:r>
            <a:r>
              <a:rPr sz="4400" b="1" spc="-20" dirty="0">
                <a:latin typeface="Calibri"/>
                <a:cs typeface="Calibri"/>
              </a:rPr>
              <a:t>Line</a:t>
            </a:r>
            <a:r>
              <a:rPr sz="4400" b="1" spc="-25" dirty="0">
                <a:latin typeface="Calibri"/>
                <a:cs typeface="Calibri"/>
              </a:rPr>
              <a:t>a</a:t>
            </a:r>
            <a:r>
              <a:rPr sz="4400" b="1" spc="-50" dirty="0">
                <a:latin typeface="Calibri"/>
                <a:cs typeface="Calibri"/>
              </a:rPr>
              <a:t>g</a:t>
            </a:r>
            <a:r>
              <a:rPr sz="4400" b="1" dirty="0">
                <a:latin typeface="Calibri"/>
                <a:cs typeface="Calibri"/>
              </a:rPr>
              <a:t>e</a:t>
            </a:r>
            <a:r>
              <a:rPr sz="4400" b="1" spc="-20" dirty="0">
                <a:latin typeface="Calibri"/>
                <a:cs typeface="Calibri"/>
              </a:rPr>
              <a:t>s</a:t>
            </a:r>
            <a:r>
              <a:rPr sz="4400" b="1" dirty="0">
                <a:latin typeface="Calibri"/>
                <a:cs typeface="Calibri"/>
              </a:rPr>
              <a:t> </a:t>
            </a:r>
            <a:r>
              <a:rPr sz="4400" b="1" spc="-20" dirty="0">
                <a:latin typeface="Calibri"/>
                <a:cs typeface="Calibri"/>
              </a:rPr>
              <a:t>in</a:t>
            </a:r>
            <a:r>
              <a:rPr sz="4400" b="1" dirty="0">
                <a:latin typeface="Calibri"/>
                <a:cs typeface="Calibri"/>
              </a:rPr>
              <a:t> c</a:t>
            </a:r>
            <a:r>
              <a:rPr sz="4400" b="1" spc="-20" dirty="0">
                <a:latin typeface="Calibri"/>
                <a:cs typeface="Calibri"/>
              </a:rPr>
              <a:t>lo</a:t>
            </a:r>
            <a:r>
              <a:rPr sz="4400" b="1" spc="-25" dirty="0">
                <a:latin typeface="Calibri"/>
                <a:cs typeface="Calibri"/>
              </a:rPr>
              <a:t>s</a:t>
            </a:r>
            <a:r>
              <a:rPr sz="4400" b="1" dirty="0">
                <a:latin typeface="Calibri"/>
                <a:cs typeface="Calibri"/>
              </a:rPr>
              <a:t>e</a:t>
            </a:r>
            <a:r>
              <a:rPr sz="4400" b="1" spc="-25" dirty="0">
                <a:latin typeface="Calibri"/>
                <a:cs typeface="Calibri"/>
              </a:rPr>
              <a:t>d</a:t>
            </a:r>
            <a:r>
              <a:rPr sz="4400" b="1" dirty="0">
                <a:latin typeface="Calibri"/>
                <a:cs typeface="Calibri"/>
              </a:rPr>
              <a:t> </a:t>
            </a:r>
            <a:r>
              <a:rPr sz="4400" b="1" spc="-70" dirty="0">
                <a:latin typeface="Calibri"/>
                <a:cs typeface="Calibri"/>
              </a:rPr>
              <a:t>f</a:t>
            </a:r>
            <a:r>
              <a:rPr sz="4400" b="1" spc="-25" dirty="0">
                <a:latin typeface="Calibri"/>
                <a:cs typeface="Calibri"/>
              </a:rPr>
              <a:t>o</a:t>
            </a:r>
            <a:r>
              <a:rPr sz="4400" b="1" spc="-50" dirty="0">
                <a:latin typeface="Calibri"/>
                <a:cs typeface="Calibri"/>
              </a:rPr>
              <a:t>r</a:t>
            </a:r>
            <a:r>
              <a:rPr sz="4400" b="1" dirty="0">
                <a:latin typeface="Calibri"/>
                <a:cs typeface="Calibri"/>
              </a:rPr>
              <a:t>e</a:t>
            </a:r>
            <a:r>
              <a:rPr sz="4400" b="1" spc="-70" dirty="0">
                <a:latin typeface="Calibri"/>
                <a:cs typeface="Calibri"/>
              </a:rPr>
              <a:t>s</a:t>
            </a:r>
            <a:r>
              <a:rPr sz="4400" b="1" spc="-20" dirty="0">
                <a:latin typeface="Calibri"/>
                <a:cs typeface="Calibri"/>
              </a:rPr>
              <a:t>t</a:t>
            </a:r>
            <a:r>
              <a:rPr sz="4400" b="1" dirty="0">
                <a:latin typeface="Calibri"/>
                <a:cs typeface="Calibri"/>
              </a:rPr>
              <a:t> </a:t>
            </a:r>
            <a:r>
              <a:rPr sz="4400" b="1" spc="-20" dirty="0">
                <a:latin typeface="Calibri"/>
                <a:cs typeface="Calibri"/>
              </a:rPr>
              <a:t>habi</a:t>
            </a:r>
            <a:r>
              <a:rPr sz="4400" b="1" spc="-65" dirty="0">
                <a:latin typeface="Calibri"/>
                <a:cs typeface="Calibri"/>
              </a:rPr>
              <a:t>t</a:t>
            </a:r>
            <a:r>
              <a:rPr sz="4400" b="1" spc="-70" dirty="0">
                <a:latin typeface="Calibri"/>
                <a:cs typeface="Calibri"/>
              </a:rPr>
              <a:t>a</a:t>
            </a:r>
            <a:r>
              <a:rPr sz="4400" b="1" spc="-20" dirty="0">
                <a:latin typeface="Calibri"/>
                <a:cs typeface="Calibri"/>
              </a:rPr>
              <a:t>t</a:t>
            </a:r>
            <a:r>
              <a:rPr sz="4400" b="1" dirty="0">
                <a:latin typeface="Calibri"/>
                <a:cs typeface="Calibri"/>
              </a:rPr>
              <a:t> </a:t>
            </a:r>
            <a:r>
              <a:rPr sz="4400" b="1" spc="-25" dirty="0">
                <a:latin typeface="Calibri"/>
                <a:cs typeface="Calibri"/>
              </a:rPr>
              <a:t>a</a:t>
            </a:r>
            <a:r>
              <a:rPr sz="4400" b="1" spc="-50" dirty="0">
                <a:latin typeface="Calibri"/>
                <a:cs typeface="Calibri"/>
              </a:rPr>
              <a:t>r</a:t>
            </a:r>
            <a:r>
              <a:rPr sz="4400" b="1" dirty="0">
                <a:latin typeface="Calibri"/>
                <a:cs typeface="Calibri"/>
              </a:rPr>
              <a:t>e </a:t>
            </a:r>
            <a:r>
              <a:rPr sz="4400" b="1" spc="-15" dirty="0">
                <a:latin typeface="Calibri"/>
                <a:cs typeface="Calibri"/>
              </a:rPr>
              <a:t>i</a:t>
            </a:r>
            <a:r>
              <a:rPr sz="4400" b="1" spc="-50" dirty="0">
                <a:latin typeface="Calibri"/>
                <a:cs typeface="Calibri"/>
              </a:rPr>
              <a:t>n</a:t>
            </a:r>
            <a:r>
              <a:rPr sz="4400" b="1" spc="-80" dirty="0">
                <a:latin typeface="Calibri"/>
                <a:cs typeface="Calibri"/>
              </a:rPr>
              <a:t>f</a:t>
            </a:r>
            <a:r>
              <a:rPr sz="4400" b="1" dirty="0">
                <a:latin typeface="Calibri"/>
                <a:cs typeface="Calibri"/>
              </a:rPr>
              <a:t>er</a:t>
            </a:r>
            <a:r>
              <a:rPr sz="4400" b="1" spc="-50" dirty="0">
                <a:latin typeface="Calibri"/>
                <a:cs typeface="Calibri"/>
              </a:rPr>
              <a:t>r</a:t>
            </a:r>
            <a:r>
              <a:rPr sz="4400" b="1" dirty="0">
                <a:latin typeface="Calibri"/>
                <a:cs typeface="Calibri"/>
              </a:rPr>
              <a:t>e</a:t>
            </a:r>
            <a:r>
              <a:rPr sz="4400" b="1" spc="-25" dirty="0">
                <a:latin typeface="Calibri"/>
                <a:cs typeface="Calibri"/>
              </a:rPr>
              <a:t>d</a:t>
            </a:r>
            <a:r>
              <a:rPr sz="4400" b="1" spc="-10" dirty="0">
                <a:latin typeface="Calibri"/>
                <a:cs typeface="Calibri"/>
              </a:rPr>
              <a:t> </a:t>
            </a:r>
            <a:r>
              <a:rPr sz="4400" b="1" spc="-65" dirty="0">
                <a:latin typeface="Calibri"/>
                <a:cs typeface="Calibri"/>
              </a:rPr>
              <a:t>t</a:t>
            </a:r>
            <a:r>
              <a:rPr sz="4400" b="1" spc="-25" dirty="0">
                <a:latin typeface="Calibri"/>
                <a:cs typeface="Calibri"/>
              </a:rPr>
              <a:t>o</a:t>
            </a:r>
            <a:r>
              <a:rPr sz="4400" b="1" spc="-5" dirty="0">
                <a:latin typeface="Calibri"/>
                <a:cs typeface="Calibri"/>
              </a:rPr>
              <a:t> </a:t>
            </a:r>
            <a:r>
              <a:rPr sz="4400" b="1" spc="-30" dirty="0">
                <a:latin typeface="Calibri"/>
                <a:cs typeface="Calibri"/>
              </a:rPr>
              <a:t>h</a:t>
            </a:r>
            <a:r>
              <a:rPr sz="4400" b="1" spc="-90" dirty="0">
                <a:latin typeface="Calibri"/>
                <a:cs typeface="Calibri"/>
              </a:rPr>
              <a:t>a</a:t>
            </a:r>
            <a:r>
              <a:rPr sz="4400" b="1" spc="-40" dirty="0">
                <a:latin typeface="Calibri"/>
                <a:cs typeface="Calibri"/>
              </a:rPr>
              <a:t>v</a:t>
            </a:r>
            <a:r>
              <a:rPr sz="4400" b="1" dirty="0">
                <a:latin typeface="Calibri"/>
                <a:cs typeface="Calibri"/>
              </a:rPr>
              <a:t>e</a:t>
            </a:r>
            <a:r>
              <a:rPr sz="4400" b="1" spc="-5" dirty="0">
                <a:latin typeface="Calibri"/>
                <a:cs typeface="Calibri"/>
              </a:rPr>
              <a:t> </a:t>
            </a:r>
            <a:r>
              <a:rPr sz="4400" b="1" spc="-25" dirty="0">
                <a:latin typeface="Calibri"/>
                <a:cs typeface="Calibri"/>
              </a:rPr>
              <a:t>0</a:t>
            </a:r>
            <a:r>
              <a:rPr sz="4400" b="1" dirty="0">
                <a:latin typeface="Calibri"/>
                <a:cs typeface="Calibri"/>
              </a:rPr>
              <a:t> </a:t>
            </a:r>
            <a:r>
              <a:rPr sz="4400" b="1" spc="-30" dirty="0">
                <a:latin typeface="Calibri"/>
                <a:cs typeface="Calibri"/>
              </a:rPr>
              <a:t>d</a:t>
            </a:r>
            <a:r>
              <a:rPr sz="4400" b="1" spc="-20" dirty="0">
                <a:latin typeface="Calibri"/>
                <a:cs typeface="Calibri"/>
              </a:rPr>
              <a:t>is</a:t>
            </a:r>
            <a:r>
              <a:rPr sz="4400" b="1" spc="-30" dirty="0">
                <a:latin typeface="Calibri"/>
                <a:cs typeface="Calibri"/>
              </a:rPr>
              <a:t>p</a:t>
            </a:r>
            <a:r>
              <a:rPr sz="4400" b="1" spc="-5" dirty="0">
                <a:latin typeface="Calibri"/>
                <a:cs typeface="Calibri"/>
              </a:rPr>
              <a:t>e</a:t>
            </a:r>
            <a:r>
              <a:rPr sz="4400" b="1" spc="-55" dirty="0">
                <a:latin typeface="Calibri"/>
                <a:cs typeface="Calibri"/>
              </a:rPr>
              <a:t>r</a:t>
            </a:r>
            <a:r>
              <a:rPr sz="4400" b="1" spc="-20" dirty="0">
                <a:latin typeface="Calibri"/>
                <a:cs typeface="Calibri"/>
              </a:rPr>
              <a:t>sal</a:t>
            </a:r>
            <a:r>
              <a:rPr sz="4400" b="1" spc="-5" dirty="0">
                <a:latin typeface="Calibri"/>
                <a:cs typeface="Calibri"/>
              </a:rPr>
              <a:t> </a:t>
            </a:r>
            <a:r>
              <a:rPr sz="4400" b="1" spc="-20" dirty="0">
                <a:latin typeface="Calibri"/>
                <a:cs typeface="Calibri"/>
              </a:rPr>
              <a:t>i</a:t>
            </a:r>
            <a:r>
              <a:rPr sz="4400" b="1" spc="-25" dirty="0">
                <a:latin typeface="Calibri"/>
                <a:cs typeface="Calibri"/>
              </a:rPr>
              <a:t>n</a:t>
            </a:r>
            <a:r>
              <a:rPr sz="4400" b="1" spc="-5" dirty="0">
                <a:latin typeface="Calibri"/>
                <a:cs typeface="Calibri"/>
              </a:rPr>
              <a:t> </a:t>
            </a:r>
            <a:r>
              <a:rPr sz="4400" b="1" spc="-20" dirty="0">
                <a:latin typeface="Calibri"/>
                <a:cs typeface="Calibri"/>
              </a:rPr>
              <a:t>t</a:t>
            </a:r>
            <a:r>
              <a:rPr sz="4400" b="1" spc="-30" dirty="0">
                <a:latin typeface="Calibri"/>
                <a:cs typeface="Calibri"/>
              </a:rPr>
              <a:t>h</a:t>
            </a:r>
            <a:r>
              <a:rPr sz="4400" b="1" spc="-20" dirty="0">
                <a:latin typeface="Calibri"/>
                <a:cs typeface="Calibri"/>
              </a:rPr>
              <a:t>is</a:t>
            </a:r>
            <a:r>
              <a:rPr sz="4400" b="1" dirty="0">
                <a:latin typeface="Calibri"/>
                <a:cs typeface="Calibri"/>
              </a:rPr>
              <a:t> </a:t>
            </a:r>
            <a:r>
              <a:rPr sz="4400" b="1" spc="-30" dirty="0">
                <a:latin typeface="Calibri"/>
                <a:cs typeface="Calibri"/>
              </a:rPr>
              <a:t>d</a:t>
            </a:r>
            <a:r>
              <a:rPr sz="4400" b="1" spc="-70" dirty="0">
                <a:latin typeface="Calibri"/>
                <a:cs typeface="Calibri"/>
              </a:rPr>
              <a:t>a</a:t>
            </a:r>
            <a:r>
              <a:rPr sz="4400" b="1" spc="-65" dirty="0">
                <a:latin typeface="Calibri"/>
                <a:cs typeface="Calibri"/>
              </a:rPr>
              <a:t>t</a:t>
            </a:r>
            <a:r>
              <a:rPr sz="4400" b="1" spc="-20" dirty="0">
                <a:latin typeface="Calibri"/>
                <a:cs typeface="Calibri"/>
              </a:rPr>
              <a:t>as</a:t>
            </a:r>
            <a:r>
              <a:rPr sz="4400" b="1" spc="-60" dirty="0">
                <a:latin typeface="Calibri"/>
                <a:cs typeface="Calibri"/>
              </a:rPr>
              <a:t>e</a:t>
            </a:r>
            <a:r>
              <a:rPr sz="4400" b="1" spc="-20" dirty="0">
                <a:latin typeface="Calibri"/>
                <a:cs typeface="Calibri"/>
              </a:rPr>
              <a:t>t</a:t>
            </a:r>
            <a:endParaRPr sz="44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31900" y="4343400"/>
            <a:ext cx="10149205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8800465" algn="l"/>
              </a:tabLst>
            </a:pPr>
            <a:r>
              <a:rPr sz="3600" b="1" spc="-185" dirty="0">
                <a:latin typeface="Calibri"/>
                <a:cs typeface="Calibri"/>
              </a:rPr>
              <a:t>T</a:t>
            </a:r>
            <a:r>
              <a:rPr sz="3600" b="1" spc="-80" dirty="0">
                <a:latin typeface="Calibri"/>
                <a:cs typeface="Calibri"/>
              </a:rPr>
              <a:t>r</a:t>
            </a:r>
            <a:r>
              <a:rPr sz="3600" b="1" spc="-15" dirty="0">
                <a:latin typeface="Calibri"/>
                <a:cs typeface="Calibri"/>
              </a:rPr>
              <a:t>ai</a:t>
            </a:r>
            <a:r>
              <a:rPr sz="3600" b="1" spc="-105" dirty="0">
                <a:latin typeface="Calibri"/>
                <a:cs typeface="Calibri"/>
              </a:rPr>
              <a:t>t</a:t>
            </a:r>
            <a:r>
              <a:rPr sz="3600" b="1" spc="-5" dirty="0">
                <a:latin typeface="Calibri"/>
                <a:cs typeface="Calibri"/>
              </a:rPr>
              <a:t>-</a:t>
            </a:r>
            <a:r>
              <a:rPr sz="3600" b="1" spc="-15" dirty="0">
                <a:latin typeface="Calibri"/>
                <a:cs typeface="Calibri"/>
              </a:rPr>
              <a:t>di</a:t>
            </a:r>
            <a:r>
              <a:rPr sz="3600" b="1" spc="-20" dirty="0">
                <a:latin typeface="Calibri"/>
                <a:cs typeface="Calibri"/>
              </a:rPr>
              <a:t>sp</a:t>
            </a:r>
            <a:r>
              <a:rPr sz="3600" b="1" dirty="0">
                <a:latin typeface="Calibri"/>
                <a:cs typeface="Calibri"/>
              </a:rPr>
              <a:t>e</a:t>
            </a:r>
            <a:r>
              <a:rPr sz="3600" b="1" spc="-45" dirty="0">
                <a:latin typeface="Calibri"/>
                <a:cs typeface="Calibri"/>
              </a:rPr>
              <a:t>r</a:t>
            </a:r>
            <a:r>
              <a:rPr sz="3600" b="1" spc="-20" dirty="0">
                <a:latin typeface="Calibri"/>
                <a:cs typeface="Calibri"/>
              </a:rPr>
              <a:t>s</a:t>
            </a:r>
            <a:r>
              <a:rPr sz="3600" b="1" spc="-15" dirty="0">
                <a:latin typeface="Calibri"/>
                <a:cs typeface="Calibri"/>
              </a:rPr>
              <a:t>al</a:t>
            </a:r>
            <a:r>
              <a:rPr sz="3600" b="1" dirty="0">
                <a:latin typeface="Calibri"/>
                <a:cs typeface="Calibri"/>
              </a:rPr>
              <a:t> m</a:t>
            </a:r>
            <a:r>
              <a:rPr sz="3600" b="1" spc="-20" dirty="0">
                <a:latin typeface="Calibri"/>
                <a:cs typeface="Calibri"/>
              </a:rPr>
              <a:t>odi</a:t>
            </a:r>
            <a:r>
              <a:rPr sz="3600" b="1" spc="-5" dirty="0">
                <a:latin typeface="Calibri"/>
                <a:cs typeface="Calibri"/>
              </a:rPr>
              <a:t>ﬁ</a:t>
            </a:r>
            <a:r>
              <a:rPr sz="3600" b="1" dirty="0">
                <a:latin typeface="Calibri"/>
                <a:cs typeface="Calibri"/>
              </a:rPr>
              <a:t>e</a:t>
            </a:r>
            <a:r>
              <a:rPr sz="3600" b="1" spc="-45" dirty="0">
                <a:latin typeface="Calibri"/>
                <a:cs typeface="Calibri"/>
              </a:rPr>
              <a:t>r</a:t>
            </a:r>
            <a:r>
              <a:rPr sz="3600" b="1" spc="-20" dirty="0">
                <a:latin typeface="Calibri"/>
                <a:cs typeface="Calibri"/>
              </a:rPr>
              <a:t>s</a:t>
            </a:r>
            <a:r>
              <a:rPr sz="3600" b="1" spc="-10" dirty="0">
                <a:latin typeface="Calibri"/>
                <a:cs typeface="Calibri"/>
              </a:rPr>
              <a:t>:</a:t>
            </a:r>
            <a:r>
              <a:rPr sz="3600" b="1" dirty="0">
                <a:latin typeface="Calibri"/>
                <a:cs typeface="Calibri"/>
              </a:rPr>
              <a:t>	</a:t>
            </a:r>
            <a:r>
              <a:rPr sz="3600" b="1" i="1" spc="-30" dirty="0">
                <a:latin typeface="Calibri"/>
                <a:cs typeface="Calibri"/>
              </a:rPr>
              <a:t>m</a:t>
            </a:r>
            <a:r>
              <a:rPr sz="3600" b="1" spc="-22" baseline="-6944" dirty="0">
                <a:latin typeface="Calibri"/>
                <a:cs typeface="Calibri"/>
              </a:rPr>
              <a:t>2</a:t>
            </a:r>
            <a:r>
              <a:rPr sz="3600" b="1" spc="-25" dirty="0">
                <a:latin typeface="Calibri"/>
                <a:cs typeface="Calibri"/>
              </a:rPr>
              <a:t>=0</a:t>
            </a:r>
            <a:r>
              <a:rPr sz="3600" b="1" dirty="0">
                <a:latin typeface="Calibri"/>
                <a:cs typeface="Calibri"/>
              </a:rPr>
              <a:t>.</a:t>
            </a:r>
            <a:r>
              <a:rPr sz="3600" b="1" spc="-20" dirty="0">
                <a:latin typeface="Calibri"/>
                <a:cs typeface="Calibri"/>
              </a:rPr>
              <a:t>0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02400" y="4318000"/>
            <a:ext cx="1360805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b="1" i="1" spc="-30" dirty="0">
                <a:latin typeface="Calibri"/>
                <a:cs typeface="Calibri"/>
              </a:rPr>
              <a:t>m</a:t>
            </a:r>
            <a:r>
              <a:rPr sz="3600" b="1" spc="-22" baseline="-6944" dirty="0">
                <a:latin typeface="Calibri"/>
                <a:cs typeface="Calibri"/>
              </a:rPr>
              <a:t>1</a:t>
            </a:r>
            <a:r>
              <a:rPr sz="3600" b="1" spc="-25" dirty="0">
                <a:latin typeface="Calibri"/>
                <a:cs typeface="Calibri"/>
              </a:rPr>
              <a:t>=1</a:t>
            </a:r>
            <a:r>
              <a:rPr sz="3600" b="1" dirty="0">
                <a:latin typeface="Calibri"/>
                <a:cs typeface="Calibri"/>
              </a:rPr>
              <a:t>.</a:t>
            </a:r>
            <a:r>
              <a:rPr sz="3600" b="1" spc="-20" dirty="0">
                <a:latin typeface="Calibri"/>
                <a:cs typeface="Calibri"/>
              </a:rPr>
              <a:t>0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60400" rIns="0" bIns="0" rtlCol="0">
            <a:spAutoFit/>
          </a:bodyPr>
          <a:lstStyle/>
          <a:p>
            <a:pPr marL="1000125">
              <a:lnSpc>
                <a:spcPct val="100000"/>
              </a:lnSpc>
            </a:pPr>
            <a:r>
              <a:rPr i="1" spc="-35" dirty="0">
                <a:latin typeface="Helvetica"/>
                <a:cs typeface="Helvetica"/>
              </a:rPr>
              <a:t>Odon</a:t>
            </a:r>
            <a:r>
              <a:rPr i="1" spc="-15" dirty="0">
                <a:latin typeface="Helvetica"/>
                <a:cs typeface="Helvetica"/>
              </a:rPr>
              <a:t>t</a:t>
            </a:r>
            <a:r>
              <a:rPr i="1" spc="-30" dirty="0">
                <a:latin typeface="Helvetica"/>
                <a:cs typeface="Helvetica"/>
              </a:rPr>
              <a:t>o</a:t>
            </a:r>
            <a:r>
              <a:rPr i="1" dirty="0">
                <a:latin typeface="Helvetica"/>
                <a:cs typeface="Helvetica"/>
              </a:rPr>
              <a:t>mac</a:t>
            </a:r>
            <a:r>
              <a:rPr i="1" spc="-30" dirty="0">
                <a:latin typeface="Helvetica"/>
                <a:cs typeface="Helvetica"/>
              </a:rPr>
              <a:t>hu</a:t>
            </a:r>
            <a:r>
              <a:rPr i="1" dirty="0">
                <a:latin typeface="Helvetica"/>
                <a:cs typeface="Helvetica"/>
              </a:rPr>
              <a:t>s</a:t>
            </a:r>
            <a:r>
              <a:rPr i="1" spc="-5" dirty="0">
                <a:latin typeface="Helvetica"/>
                <a:cs typeface="Helvetica"/>
              </a:rPr>
              <a:t> </a:t>
            </a:r>
            <a:r>
              <a:rPr spc="-20" dirty="0"/>
              <a:t>i</a:t>
            </a:r>
            <a:r>
              <a:rPr spc="-25" dirty="0"/>
              <a:t>n</a:t>
            </a:r>
            <a:r>
              <a:rPr spc="-5" dirty="0"/>
              <a:t> </a:t>
            </a:r>
            <a:r>
              <a:rPr spc="-15" dirty="0"/>
              <a:t>t</a:t>
            </a:r>
            <a:r>
              <a:rPr spc="-30" dirty="0"/>
              <a:t>h</a:t>
            </a:r>
            <a:r>
              <a:rPr dirty="0"/>
              <a:t>e</a:t>
            </a:r>
            <a:r>
              <a:rPr spc="-5" dirty="0"/>
              <a:t> </a:t>
            </a:r>
            <a:r>
              <a:rPr spc="-30" dirty="0"/>
              <a:t>Indo</a:t>
            </a:r>
            <a:r>
              <a:rPr dirty="0"/>
              <a:t>-Pac</a:t>
            </a:r>
            <a:r>
              <a:rPr spc="-20" dirty="0"/>
              <a:t>i</a:t>
            </a:r>
            <a:r>
              <a:rPr spc="-15" dirty="0"/>
              <a:t>f</a:t>
            </a:r>
            <a:r>
              <a:rPr spc="-20" dirty="0"/>
              <a:t>i</a:t>
            </a:r>
            <a:r>
              <a:rPr dirty="0"/>
              <a:t>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400" y="9474200"/>
            <a:ext cx="444817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5" dirty="0">
                <a:latin typeface="Calibri"/>
                <a:cs typeface="Calibri"/>
              </a:rPr>
              <a:t>M</a:t>
            </a:r>
            <a:r>
              <a:rPr sz="1600" spc="-25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t</a:t>
            </a:r>
            <a:r>
              <a:rPr sz="1600" dirty="0">
                <a:latin typeface="Calibri"/>
                <a:cs typeface="Calibri"/>
              </a:rPr>
              <a:t>os-</a:t>
            </a:r>
            <a:r>
              <a:rPr sz="1600" spc="-15" dirty="0">
                <a:latin typeface="Calibri"/>
                <a:cs typeface="Calibri"/>
              </a:rPr>
              <a:t>Ma</a:t>
            </a:r>
            <a:r>
              <a:rPr sz="1600" spc="-45" dirty="0">
                <a:latin typeface="Calibri"/>
                <a:cs typeface="Calibri"/>
              </a:rPr>
              <a:t>r</a:t>
            </a:r>
            <a:r>
              <a:rPr sz="1600" spc="-30" dirty="0">
                <a:latin typeface="Calibri"/>
                <a:cs typeface="Calibri"/>
              </a:rPr>
              <a:t>a</a:t>
            </a:r>
            <a:r>
              <a:rPr sz="1600" spc="-10" dirty="0">
                <a:latin typeface="Calibri"/>
                <a:cs typeface="Calibri"/>
              </a:rPr>
              <a:t>v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5" dirty="0">
                <a:latin typeface="Calibri"/>
                <a:cs typeface="Calibri"/>
              </a:rPr>
              <a:t>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M</a:t>
            </a:r>
            <a:r>
              <a:rPr sz="1600" spc="-25" dirty="0">
                <a:latin typeface="Calibri"/>
                <a:cs typeface="Calibri"/>
              </a:rPr>
              <a:t>a</a:t>
            </a:r>
            <a:r>
              <a:rPr sz="1600" spc="-10" dirty="0">
                <a:latin typeface="Calibri"/>
                <a:cs typeface="Calibri"/>
              </a:rPr>
              <a:t>tz</a:t>
            </a:r>
            <a:r>
              <a:rPr sz="1600" spc="-65" dirty="0">
                <a:latin typeface="Calibri"/>
                <a:cs typeface="Calibri"/>
              </a:rPr>
              <a:t>k</a:t>
            </a:r>
            <a:r>
              <a:rPr sz="1600" spc="-10" dirty="0">
                <a:latin typeface="Calibri"/>
                <a:cs typeface="Calibri"/>
              </a:rPr>
              <a:t>e,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e</a:t>
            </a:r>
            <a:r>
              <a:rPr sz="1600" spc="-10" dirty="0">
                <a:latin typeface="Calibri"/>
                <a:cs typeface="Calibri"/>
              </a:rPr>
              <a:t>t</a:t>
            </a:r>
            <a:r>
              <a:rPr sz="1600" dirty="0">
                <a:latin typeface="Calibri"/>
                <a:cs typeface="Calibri"/>
              </a:rPr>
              <a:t> al. </a:t>
            </a:r>
            <a:r>
              <a:rPr sz="1600" spc="-10" dirty="0">
                <a:latin typeface="Calibri"/>
                <a:cs typeface="Calibri"/>
              </a:rPr>
              <a:t>2018,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Mol</a:t>
            </a:r>
            <a:r>
              <a:rPr sz="1600" i="1" spc="-10" dirty="0">
                <a:latin typeface="Calibri"/>
                <a:cs typeface="Calibri"/>
              </a:rPr>
              <a:t>e</a:t>
            </a:r>
            <a:r>
              <a:rPr sz="1600" i="1" dirty="0">
                <a:latin typeface="Calibri"/>
                <a:cs typeface="Calibri"/>
              </a:rPr>
              <a:t>cula</a:t>
            </a:r>
            <a:r>
              <a:rPr sz="1600" i="1" spc="-10" dirty="0">
                <a:latin typeface="Calibri"/>
                <a:cs typeface="Calibri"/>
              </a:rPr>
              <a:t>r</a:t>
            </a:r>
            <a:r>
              <a:rPr sz="1600" i="1" dirty="0">
                <a:latin typeface="Calibri"/>
                <a:cs typeface="Calibri"/>
              </a:rPr>
              <a:t> </a:t>
            </a:r>
            <a:r>
              <a:rPr sz="1600" i="1" spc="-25" dirty="0">
                <a:latin typeface="Calibri"/>
                <a:cs typeface="Calibri"/>
              </a:rPr>
              <a:t>E</a:t>
            </a:r>
            <a:r>
              <a:rPr sz="1600" i="1" spc="-15" dirty="0">
                <a:latin typeface="Calibri"/>
                <a:cs typeface="Calibri"/>
              </a:rPr>
              <a:t>c</a:t>
            </a:r>
            <a:r>
              <a:rPr sz="1600" i="1" dirty="0">
                <a:latin typeface="Calibri"/>
                <a:cs typeface="Calibri"/>
              </a:rPr>
              <a:t>ology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4800" y="2290564"/>
            <a:ext cx="10099675" cy="1358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 indent="-63500">
              <a:lnSpc>
                <a:spcPct val="100000"/>
              </a:lnSpc>
            </a:pPr>
            <a:r>
              <a:rPr sz="3200" spc="-25" dirty="0">
                <a:latin typeface="Helvetica"/>
                <a:cs typeface="Helvetica"/>
              </a:rPr>
              <a:t>T</a:t>
            </a:r>
            <a:r>
              <a:rPr sz="3200" dirty="0">
                <a:latin typeface="Helvetica"/>
                <a:cs typeface="Helvetica"/>
              </a:rPr>
              <a:t>he</a:t>
            </a:r>
            <a:r>
              <a:rPr sz="3200" spc="-5" dirty="0">
                <a:latin typeface="Helvetica"/>
                <a:cs typeface="Helvetica"/>
              </a:rPr>
              <a:t> </a:t>
            </a:r>
            <a:r>
              <a:rPr sz="3200" dirty="0">
                <a:latin typeface="Helvetica"/>
                <a:cs typeface="Helvetica"/>
              </a:rPr>
              <a:t>da</a:t>
            </a:r>
            <a:r>
              <a:rPr sz="3200" spc="-15" dirty="0">
                <a:latin typeface="Helvetica"/>
                <a:cs typeface="Helvetica"/>
              </a:rPr>
              <a:t>t</a:t>
            </a:r>
            <a:r>
              <a:rPr sz="3200" dirty="0">
                <a:latin typeface="Helvetica"/>
                <a:cs typeface="Helvetica"/>
              </a:rPr>
              <a:t>ase</a:t>
            </a:r>
            <a:r>
              <a:rPr sz="3200" spc="-10" dirty="0">
                <a:latin typeface="Helvetica"/>
                <a:cs typeface="Helvetica"/>
              </a:rPr>
              <a:t>t</a:t>
            </a:r>
            <a:r>
              <a:rPr sz="3200" spc="-5" dirty="0">
                <a:latin typeface="Helvetica"/>
                <a:cs typeface="Helvetica"/>
              </a:rPr>
              <a:t> </a:t>
            </a:r>
            <a:r>
              <a:rPr sz="3200" dirty="0">
                <a:latin typeface="Helvetica"/>
                <a:cs typeface="Helvetica"/>
              </a:rPr>
              <a:t>size</a:t>
            </a:r>
            <a:r>
              <a:rPr sz="3200" spc="-5" dirty="0">
                <a:latin typeface="Helvetica"/>
                <a:cs typeface="Helvetica"/>
              </a:rPr>
              <a:t> </a:t>
            </a:r>
            <a:r>
              <a:rPr sz="3200" dirty="0">
                <a:latin typeface="Helvetica"/>
                <a:cs typeface="Helvetica"/>
              </a:rPr>
              <a:t>is</a:t>
            </a:r>
            <a:r>
              <a:rPr sz="3200" spc="-5" dirty="0">
                <a:latin typeface="Helvetica"/>
                <a:cs typeface="Helvetica"/>
              </a:rPr>
              <a:t> </a:t>
            </a:r>
            <a:r>
              <a:rPr sz="3200" dirty="0">
                <a:latin typeface="Helvetica"/>
                <a:cs typeface="Helvetica"/>
              </a:rPr>
              <a:t>very</a:t>
            </a:r>
            <a:r>
              <a:rPr sz="3200" spc="-5" dirty="0">
                <a:latin typeface="Helvetica"/>
                <a:cs typeface="Helvetica"/>
              </a:rPr>
              <a:t> </a:t>
            </a:r>
            <a:r>
              <a:rPr sz="3200" dirty="0">
                <a:latin typeface="Helvetica"/>
                <a:cs typeface="Helvetica"/>
              </a:rPr>
              <a:t>small</a:t>
            </a:r>
            <a:r>
              <a:rPr sz="3200" spc="-5" dirty="0">
                <a:latin typeface="Helvetica"/>
                <a:cs typeface="Helvetica"/>
              </a:rPr>
              <a:t> </a:t>
            </a:r>
            <a:r>
              <a:rPr sz="3200" spc="-15" dirty="0">
                <a:latin typeface="Helvetica"/>
                <a:cs typeface="Helvetica"/>
              </a:rPr>
              <a:t>f</a:t>
            </a:r>
            <a:r>
              <a:rPr sz="3200" dirty="0">
                <a:latin typeface="Helvetica"/>
                <a:cs typeface="Helvetica"/>
              </a:rPr>
              <a:t>or</a:t>
            </a:r>
            <a:r>
              <a:rPr sz="3200" spc="-5" dirty="0">
                <a:latin typeface="Helvetica"/>
                <a:cs typeface="Helvetica"/>
              </a:rPr>
              <a:t> </a:t>
            </a:r>
            <a:r>
              <a:rPr sz="3200" dirty="0">
                <a:latin typeface="Helvetica"/>
                <a:cs typeface="Helvetica"/>
              </a:rPr>
              <a:t>such</a:t>
            </a:r>
            <a:r>
              <a:rPr sz="3200" spc="-5" dirty="0">
                <a:latin typeface="Helvetica"/>
                <a:cs typeface="Helvetica"/>
              </a:rPr>
              <a:t> </a:t>
            </a:r>
            <a:r>
              <a:rPr sz="3200" dirty="0">
                <a:latin typeface="Helvetica"/>
                <a:cs typeface="Helvetica"/>
              </a:rPr>
              <a:t>a</a:t>
            </a:r>
            <a:r>
              <a:rPr sz="3200" spc="-5" dirty="0">
                <a:latin typeface="Helvetica"/>
                <a:cs typeface="Helvetica"/>
              </a:rPr>
              <a:t> </a:t>
            </a:r>
            <a:r>
              <a:rPr sz="3200" dirty="0">
                <a:latin typeface="Helvetica"/>
                <a:cs typeface="Helvetica"/>
              </a:rPr>
              <a:t>complex</a:t>
            </a:r>
            <a:r>
              <a:rPr sz="3200" spc="-5" dirty="0">
                <a:latin typeface="Helvetica"/>
                <a:cs typeface="Helvetica"/>
              </a:rPr>
              <a:t> </a:t>
            </a:r>
            <a:r>
              <a:rPr sz="3200" dirty="0">
                <a:latin typeface="Helvetica"/>
                <a:cs typeface="Helvetica"/>
              </a:rPr>
              <a:t>model</a:t>
            </a:r>
            <a:endParaRPr sz="3200">
              <a:latin typeface="Helvetica"/>
              <a:cs typeface="Helvetic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000">
              <a:latin typeface="Times New Roman"/>
              <a:cs typeface="Times New Roman"/>
            </a:endParaRPr>
          </a:p>
          <a:p>
            <a:pPr marL="76200">
              <a:lnSpc>
                <a:spcPct val="100000"/>
              </a:lnSpc>
            </a:pPr>
            <a:r>
              <a:rPr sz="3200" dirty="0">
                <a:latin typeface="Helvetica"/>
                <a:cs typeface="Helvetica"/>
              </a:rPr>
              <a:t>Check</a:t>
            </a:r>
            <a:r>
              <a:rPr sz="3200" spc="-5" dirty="0">
                <a:latin typeface="Helvetica"/>
                <a:cs typeface="Helvetica"/>
              </a:rPr>
              <a:t> </a:t>
            </a:r>
            <a:r>
              <a:rPr sz="3200" dirty="0">
                <a:latin typeface="Helvetica"/>
                <a:cs typeface="Helvetica"/>
              </a:rPr>
              <a:t>on</a:t>
            </a:r>
            <a:r>
              <a:rPr sz="3200" spc="-5" dirty="0">
                <a:latin typeface="Helvetica"/>
                <a:cs typeface="Helvetica"/>
              </a:rPr>
              <a:t> </a:t>
            </a:r>
            <a:r>
              <a:rPr sz="3200" dirty="0">
                <a:latin typeface="Helvetica"/>
                <a:cs typeface="Helvetica"/>
              </a:rPr>
              <a:t>simula</a:t>
            </a:r>
            <a:r>
              <a:rPr sz="3200" spc="-15" dirty="0">
                <a:latin typeface="Helvetica"/>
                <a:cs typeface="Helvetica"/>
              </a:rPr>
              <a:t>t</a:t>
            </a:r>
            <a:r>
              <a:rPr sz="3200" dirty="0">
                <a:latin typeface="Helvetica"/>
                <a:cs typeface="Helvetica"/>
              </a:rPr>
              <a:t>ed</a:t>
            </a:r>
            <a:r>
              <a:rPr sz="3200" spc="-5" dirty="0">
                <a:latin typeface="Helvetica"/>
                <a:cs typeface="Helvetica"/>
              </a:rPr>
              <a:t> </a:t>
            </a:r>
            <a:r>
              <a:rPr sz="3200" dirty="0">
                <a:latin typeface="Helvetica"/>
                <a:cs typeface="Helvetica"/>
              </a:rPr>
              <a:t>25-species</a:t>
            </a:r>
            <a:r>
              <a:rPr sz="3200" spc="-5" dirty="0">
                <a:latin typeface="Helvetica"/>
                <a:cs typeface="Helvetica"/>
              </a:rPr>
              <a:t> </a:t>
            </a:r>
            <a:r>
              <a:rPr sz="3200" dirty="0">
                <a:latin typeface="Helvetica"/>
                <a:cs typeface="Helvetica"/>
              </a:rPr>
              <a:t>da</a:t>
            </a:r>
            <a:r>
              <a:rPr sz="3200" spc="-15" dirty="0">
                <a:latin typeface="Helvetica"/>
                <a:cs typeface="Helvetica"/>
              </a:rPr>
              <a:t>t</a:t>
            </a:r>
            <a:r>
              <a:rPr sz="3200" dirty="0">
                <a:latin typeface="Helvetica"/>
                <a:cs typeface="Helvetica"/>
              </a:rPr>
              <a:t>ase</a:t>
            </a:r>
            <a:r>
              <a:rPr sz="3200" spc="-15" dirty="0">
                <a:latin typeface="Helvetica"/>
                <a:cs typeface="Helvetica"/>
              </a:rPr>
              <a:t>ts,</a:t>
            </a:r>
            <a:r>
              <a:rPr sz="3200" spc="-5" dirty="0">
                <a:latin typeface="Helvetica"/>
                <a:cs typeface="Helvetica"/>
              </a:rPr>
              <a:t> </a:t>
            </a:r>
            <a:r>
              <a:rPr sz="3200" spc="-15" dirty="0">
                <a:latin typeface="Helvetica"/>
                <a:cs typeface="Helvetica"/>
              </a:rPr>
              <a:t>f</a:t>
            </a:r>
            <a:r>
              <a:rPr sz="3200" dirty="0">
                <a:latin typeface="Helvetica"/>
                <a:cs typeface="Helvetica"/>
              </a:rPr>
              <a:t>or</a:t>
            </a:r>
            <a:r>
              <a:rPr sz="3200" spc="-5" dirty="0">
                <a:latin typeface="Helvetica"/>
                <a:cs typeface="Helvetica"/>
              </a:rPr>
              <a:t> </a:t>
            </a:r>
            <a:r>
              <a:rPr sz="3200" dirty="0">
                <a:latin typeface="Helvetica"/>
                <a:cs typeface="Helvetica"/>
              </a:rPr>
              <a:t>sani</a:t>
            </a:r>
            <a:r>
              <a:rPr sz="3200" spc="-15" dirty="0">
                <a:latin typeface="Helvetica"/>
                <a:cs typeface="Helvetica"/>
              </a:rPr>
              <a:t>ty:</a:t>
            </a:r>
            <a:endParaRPr sz="320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60400" rIns="0" bIns="0" rtlCol="0">
            <a:spAutoFit/>
          </a:bodyPr>
          <a:lstStyle/>
          <a:p>
            <a:pPr marL="1000125">
              <a:lnSpc>
                <a:spcPct val="100000"/>
              </a:lnSpc>
            </a:pPr>
            <a:r>
              <a:rPr i="1" spc="-35" dirty="0">
                <a:latin typeface="Helvetica"/>
                <a:cs typeface="Helvetica"/>
              </a:rPr>
              <a:t>Odon</a:t>
            </a:r>
            <a:r>
              <a:rPr i="1" spc="-15" dirty="0">
                <a:latin typeface="Helvetica"/>
                <a:cs typeface="Helvetica"/>
              </a:rPr>
              <a:t>t</a:t>
            </a:r>
            <a:r>
              <a:rPr i="1" spc="-30" dirty="0">
                <a:latin typeface="Helvetica"/>
                <a:cs typeface="Helvetica"/>
              </a:rPr>
              <a:t>o</a:t>
            </a:r>
            <a:r>
              <a:rPr i="1" dirty="0">
                <a:latin typeface="Helvetica"/>
                <a:cs typeface="Helvetica"/>
              </a:rPr>
              <a:t>mac</a:t>
            </a:r>
            <a:r>
              <a:rPr i="1" spc="-30" dirty="0">
                <a:latin typeface="Helvetica"/>
                <a:cs typeface="Helvetica"/>
              </a:rPr>
              <a:t>hu</a:t>
            </a:r>
            <a:r>
              <a:rPr i="1" dirty="0">
                <a:latin typeface="Helvetica"/>
                <a:cs typeface="Helvetica"/>
              </a:rPr>
              <a:t>s</a:t>
            </a:r>
            <a:r>
              <a:rPr i="1" spc="-5" dirty="0">
                <a:latin typeface="Helvetica"/>
                <a:cs typeface="Helvetica"/>
              </a:rPr>
              <a:t> </a:t>
            </a:r>
            <a:r>
              <a:rPr spc="-20" dirty="0"/>
              <a:t>i</a:t>
            </a:r>
            <a:r>
              <a:rPr spc="-25" dirty="0"/>
              <a:t>n</a:t>
            </a:r>
            <a:r>
              <a:rPr spc="-5" dirty="0"/>
              <a:t> </a:t>
            </a:r>
            <a:r>
              <a:rPr spc="-15" dirty="0"/>
              <a:t>t</a:t>
            </a:r>
            <a:r>
              <a:rPr spc="-30" dirty="0"/>
              <a:t>h</a:t>
            </a:r>
            <a:r>
              <a:rPr dirty="0"/>
              <a:t>e</a:t>
            </a:r>
            <a:r>
              <a:rPr spc="-5" dirty="0"/>
              <a:t> </a:t>
            </a:r>
            <a:r>
              <a:rPr spc="-30" dirty="0"/>
              <a:t>Indo</a:t>
            </a:r>
            <a:r>
              <a:rPr dirty="0"/>
              <a:t>-Pac</a:t>
            </a:r>
            <a:r>
              <a:rPr spc="-20" dirty="0"/>
              <a:t>i</a:t>
            </a:r>
            <a:r>
              <a:rPr spc="-15" dirty="0"/>
              <a:t>f</a:t>
            </a:r>
            <a:r>
              <a:rPr spc="-20" dirty="0"/>
              <a:t>i</a:t>
            </a:r>
            <a:r>
              <a:rPr dirty="0"/>
              <a:t>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400" y="9474200"/>
            <a:ext cx="444817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5" dirty="0">
                <a:latin typeface="Calibri"/>
                <a:cs typeface="Calibri"/>
              </a:rPr>
              <a:t>M</a:t>
            </a:r>
            <a:r>
              <a:rPr sz="1600" spc="-25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t</a:t>
            </a:r>
            <a:r>
              <a:rPr sz="1600" dirty="0">
                <a:latin typeface="Calibri"/>
                <a:cs typeface="Calibri"/>
              </a:rPr>
              <a:t>os-</a:t>
            </a:r>
            <a:r>
              <a:rPr sz="1600" spc="-15" dirty="0">
                <a:latin typeface="Calibri"/>
                <a:cs typeface="Calibri"/>
              </a:rPr>
              <a:t>Ma</a:t>
            </a:r>
            <a:r>
              <a:rPr sz="1600" spc="-45" dirty="0">
                <a:latin typeface="Calibri"/>
                <a:cs typeface="Calibri"/>
              </a:rPr>
              <a:t>r</a:t>
            </a:r>
            <a:r>
              <a:rPr sz="1600" spc="-30" dirty="0">
                <a:latin typeface="Calibri"/>
                <a:cs typeface="Calibri"/>
              </a:rPr>
              <a:t>a</a:t>
            </a:r>
            <a:r>
              <a:rPr sz="1600" spc="-10" dirty="0">
                <a:latin typeface="Calibri"/>
                <a:cs typeface="Calibri"/>
              </a:rPr>
              <a:t>v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5" dirty="0">
                <a:latin typeface="Calibri"/>
                <a:cs typeface="Calibri"/>
              </a:rPr>
              <a:t>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M</a:t>
            </a:r>
            <a:r>
              <a:rPr sz="1600" spc="-25" dirty="0">
                <a:latin typeface="Calibri"/>
                <a:cs typeface="Calibri"/>
              </a:rPr>
              <a:t>a</a:t>
            </a:r>
            <a:r>
              <a:rPr sz="1600" spc="-10" dirty="0">
                <a:latin typeface="Calibri"/>
                <a:cs typeface="Calibri"/>
              </a:rPr>
              <a:t>tz</a:t>
            </a:r>
            <a:r>
              <a:rPr sz="1600" spc="-65" dirty="0">
                <a:latin typeface="Calibri"/>
                <a:cs typeface="Calibri"/>
              </a:rPr>
              <a:t>k</a:t>
            </a:r>
            <a:r>
              <a:rPr sz="1600" spc="-10" dirty="0">
                <a:latin typeface="Calibri"/>
                <a:cs typeface="Calibri"/>
              </a:rPr>
              <a:t>e,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e</a:t>
            </a:r>
            <a:r>
              <a:rPr sz="1600" spc="-10" dirty="0">
                <a:latin typeface="Calibri"/>
                <a:cs typeface="Calibri"/>
              </a:rPr>
              <a:t>t</a:t>
            </a:r>
            <a:r>
              <a:rPr sz="1600" dirty="0">
                <a:latin typeface="Calibri"/>
                <a:cs typeface="Calibri"/>
              </a:rPr>
              <a:t> al. </a:t>
            </a:r>
            <a:r>
              <a:rPr sz="1600" spc="-10" dirty="0">
                <a:latin typeface="Calibri"/>
                <a:cs typeface="Calibri"/>
              </a:rPr>
              <a:t>2018,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Mol</a:t>
            </a:r>
            <a:r>
              <a:rPr sz="1600" i="1" spc="-10" dirty="0">
                <a:latin typeface="Calibri"/>
                <a:cs typeface="Calibri"/>
              </a:rPr>
              <a:t>e</a:t>
            </a:r>
            <a:r>
              <a:rPr sz="1600" i="1" dirty="0">
                <a:latin typeface="Calibri"/>
                <a:cs typeface="Calibri"/>
              </a:rPr>
              <a:t>cula</a:t>
            </a:r>
            <a:r>
              <a:rPr sz="1600" i="1" spc="-10" dirty="0">
                <a:latin typeface="Calibri"/>
                <a:cs typeface="Calibri"/>
              </a:rPr>
              <a:t>r</a:t>
            </a:r>
            <a:r>
              <a:rPr sz="1600" i="1" dirty="0">
                <a:latin typeface="Calibri"/>
                <a:cs typeface="Calibri"/>
              </a:rPr>
              <a:t> </a:t>
            </a:r>
            <a:r>
              <a:rPr sz="1600" i="1" spc="-25" dirty="0">
                <a:latin typeface="Calibri"/>
                <a:cs typeface="Calibri"/>
              </a:rPr>
              <a:t>E</a:t>
            </a:r>
            <a:r>
              <a:rPr sz="1600" i="1" spc="-15" dirty="0">
                <a:latin typeface="Calibri"/>
                <a:cs typeface="Calibri"/>
              </a:rPr>
              <a:t>c</a:t>
            </a:r>
            <a:r>
              <a:rPr sz="1600" i="1" dirty="0">
                <a:latin typeface="Calibri"/>
                <a:cs typeface="Calibri"/>
              </a:rPr>
              <a:t>ology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4800" y="2290564"/>
            <a:ext cx="10099675" cy="1358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 indent="-63500">
              <a:lnSpc>
                <a:spcPct val="100000"/>
              </a:lnSpc>
            </a:pPr>
            <a:r>
              <a:rPr sz="3200" spc="-25" dirty="0">
                <a:latin typeface="Helvetica"/>
                <a:cs typeface="Helvetica"/>
              </a:rPr>
              <a:t>T</a:t>
            </a:r>
            <a:r>
              <a:rPr sz="3200" dirty="0">
                <a:latin typeface="Helvetica"/>
                <a:cs typeface="Helvetica"/>
              </a:rPr>
              <a:t>he</a:t>
            </a:r>
            <a:r>
              <a:rPr sz="3200" spc="-5" dirty="0">
                <a:latin typeface="Helvetica"/>
                <a:cs typeface="Helvetica"/>
              </a:rPr>
              <a:t> </a:t>
            </a:r>
            <a:r>
              <a:rPr sz="3200" dirty="0">
                <a:latin typeface="Helvetica"/>
                <a:cs typeface="Helvetica"/>
              </a:rPr>
              <a:t>da</a:t>
            </a:r>
            <a:r>
              <a:rPr sz="3200" spc="-15" dirty="0">
                <a:latin typeface="Helvetica"/>
                <a:cs typeface="Helvetica"/>
              </a:rPr>
              <a:t>t</a:t>
            </a:r>
            <a:r>
              <a:rPr sz="3200" dirty="0">
                <a:latin typeface="Helvetica"/>
                <a:cs typeface="Helvetica"/>
              </a:rPr>
              <a:t>ase</a:t>
            </a:r>
            <a:r>
              <a:rPr sz="3200" spc="-10" dirty="0">
                <a:latin typeface="Helvetica"/>
                <a:cs typeface="Helvetica"/>
              </a:rPr>
              <a:t>t</a:t>
            </a:r>
            <a:r>
              <a:rPr sz="3200" spc="-5" dirty="0">
                <a:latin typeface="Helvetica"/>
                <a:cs typeface="Helvetica"/>
              </a:rPr>
              <a:t> </a:t>
            </a:r>
            <a:r>
              <a:rPr sz="3200" dirty="0">
                <a:latin typeface="Helvetica"/>
                <a:cs typeface="Helvetica"/>
              </a:rPr>
              <a:t>size</a:t>
            </a:r>
            <a:r>
              <a:rPr sz="3200" spc="-5" dirty="0">
                <a:latin typeface="Helvetica"/>
                <a:cs typeface="Helvetica"/>
              </a:rPr>
              <a:t> </a:t>
            </a:r>
            <a:r>
              <a:rPr sz="3200" dirty="0">
                <a:latin typeface="Helvetica"/>
                <a:cs typeface="Helvetica"/>
              </a:rPr>
              <a:t>is</a:t>
            </a:r>
            <a:r>
              <a:rPr sz="3200" spc="-5" dirty="0">
                <a:latin typeface="Helvetica"/>
                <a:cs typeface="Helvetica"/>
              </a:rPr>
              <a:t> </a:t>
            </a:r>
            <a:r>
              <a:rPr sz="3200" dirty="0">
                <a:latin typeface="Helvetica"/>
                <a:cs typeface="Helvetica"/>
              </a:rPr>
              <a:t>very</a:t>
            </a:r>
            <a:r>
              <a:rPr sz="3200" spc="-5" dirty="0">
                <a:latin typeface="Helvetica"/>
                <a:cs typeface="Helvetica"/>
              </a:rPr>
              <a:t> </a:t>
            </a:r>
            <a:r>
              <a:rPr sz="3200" dirty="0">
                <a:latin typeface="Helvetica"/>
                <a:cs typeface="Helvetica"/>
              </a:rPr>
              <a:t>small</a:t>
            </a:r>
            <a:r>
              <a:rPr sz="3200" spc="-5" dirty="0">
                <a:latin typeface="Helvetica"/>
                <a:cs typeface="Helvetica"/>
              </a:rPr>
              <a:t> </a:t>
            </a:r>
            <a:r>
              <a:rPr sz="3200" spc="-15" dirty="0">
                <a:latin typeface="Helvetica"/>
                <a:cs typeface="Helvetica"/>
              </a:rPr>
              <a:t>f</a:t>
            </a:r>
            <a:r>
              <a:rPr sz="3200" dirty="0">
                <a:latin typeface="Helvetica"/>
                <a:cs typeface="Helvetica"/>
              </a:rPr>
              <a:t>or</a:t>
            </a:r>
            <a:r>
              <a:rPr sz="3200" spc="-5" dirty="0">
                <a:latin typeface="Helvetica"/>
                <a:cs typeface="Helvetica"/>
              </a:rPr>
              <a:t> </a:t>
            </a:r>
            <a:r>
              <a:rPr sz="3200" dirty="0">
                <a:latin typeface="Helvetica"/>
                <a:cs typeface="Helvetica"/>
              </a:rPr>
              <a:t>such</a:t>
            </a:r>
            <a:r>
              <a:rPr sz="3200" spc="-5" dirty="0">
                <a:latin typeface="Helvetica"/>
                <a:cs typeface="Helvetica"/>
              </a:rPr>
              <a:t> </a:t>
            </a:r>
            <a:r>
              <a:rPr sz="3200" dirty="0">
                <a:latin typeface="Helvetica"/>
                <a:cs typeface="Helvetica"/>
              </a:rPr>
              <a:t>a</a:t>
            </a:r>
            <a:r>
              <a:rPr sz="3200" spc="-5" dirty="0">
                <a:latin typeface="Helvetica"/>
                <a:cs typeface="Helvetica"/>
              </a:rPr>
              <a:t> </a:t>
            </a:r>
            <a:r>
              <a:rPr sz="3200" dirty="0">
                <a:latin typeface="Helvetica"/>
                <a:cs typeface="Helvetica"/>
              </a:rPr>
              <a:t>complex</a:t>
            </a:r>
            <a:r>
              <a:rPr sz="3200" spc="-5" dirty="0">
                <a:latin typeface="Helvetica"/>
                <a:cs typeface="Helvetica"/>
              </a:rPr>
              <a:t> </a:t>
            </a:r>
            <a:r>
              <a:rPr sz="3200" dirty="0">
                <a:latin typeface="Helvetica"/>
                <a:cs typeface="Helvetica"/>
              </a:rPr>
              <a:t>model</a:t>
            </a:r>
            <a:endParaRPr sz="3200">
              <a:latin typeface="Helvetica"/>
              <a:cs typeface="Helvetic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000">
              <a:latin typeface="Times New Roman"/>
              <a:cs typeface="Times New Roman"/>
            </a:endParaRPr>
          </a:p>
          <a:p>
            <a:pPr marL="76200">
              <a:lnSpc>
                <a:spcPct val="100000"/>
              </a:lnSpc>
            </a:pPr>
            <a:r>
              <a:rPr sz="3200" dirty="0">
                <a:latin typeface="Helvetica"/>
                <a:cs typeface="Helvetica"/>
              </a:rPr>
              <a:t>Check</a:t>
            </a:r>
            <a:r>
              <a:rPr sz="3200" spc="-5" dirty="0">
                <a:latin typeface="Helvetica"/>
                <a:cs typeface="Helvetica"/>
              </a:rPr>
              <a:t> </a:t>
            </a:r>
            <a:r>
              <a:rPr sz="3200" dirty="0">
                <a:latin typeface="Helvetica"/>
                <a:cs typeface="Helvetica"/>
              </a:rPr>
              <a:t>on</a:t>
            </a:r>
            <a:r>
              <a:rPr sz="3200" spc="-5" dirty="0">
                <a:latin typeface="Helvetica"/>
                <a:cs typeface="Helvetica"/>
              </a:rPr>
              <a:t> </a:t>
            </a:r>
            <a:r>
              <a:rPr sz="3200" dirty="0">
                <a:latin typeface="Helvetica"/>
                <a:cs typeface="Helvetica"/>
              </a:rPr>
              <a:t>simula</a:t>
            </a:r>
            <a:r>
              <a:rPr sz="3200" spc="-15" dirty="0">
                <a:latin typeface="Helvetica"/>
                <a:cs typeface="Helvetica"/>
              </a:rPr>
              <a:t>t</a:t>
            </a:r>
            <a:r>
              <a:rPr sz="3200" dirty="0">
                <a:latin typeface="Helvetica"/>
                <a:cs typeface="Helvetica"/>
              </a:rPr>
              <a:t>ed</a:t>
            </a:r>
            <a:r>
              <a:rPr sz="3200" spc="-5" dirty="0">
                <a:latin typeface="Helvetica"/>
                <a:cs typeface="Helvetica"/>
              </a:rPr>
              <a:t> </a:t>
            </a:r>
            <a:r>
              <a:rPr sz="3200" dirty="0">
                <a:latin typeface="Helvetica"/>
                <a:cs typeface="Helvetica"/>
              </a:rPr>
              <a:t>25-species</a:t>
            </a:r>
            <a:r>
              <a:rPr sz="3200" spc="-5" dirty="0">
                <a:latin typeface="Helvetica"/>
                <a:cs typeface="Helvetica"/>
              </a:rPr>
              <a:t> </a:t>
            </a:r>
            <a:r>
              <a:rPr sz="3200" dirty="0">
                <a:latin typeface="Helvetica"/>
                <a:cs typeface="Helvetica"/>
              </a:rPr>
              <a:t>da</a:t>
            </a:r>
            <a:r>
              <a:rPr sz="3200" spc="-15" dirty="0">
                <a:latin typeface="Helvetica"/>
                <a:cs typeface="Helvetica"/>
              </a:rPr>
              <a:t>t</a:t>
            </a:r>
            <a:r>
              <a:rPr sz="3200" dirty="0">
                <a:latin typeface="Helvetica"/>
                <a:cs typeface="Helvetica"/>
              </a:rPr>
              <a:t>ase</a:t>
            </a:r>
            <a:r>
              <a:rPr sz="3200" spc="-15" dirty="0">
                <a:latin typeface="Helvetica"/>
                <a:cs typeface="Helvetica"/>
              </a:rPr>
              <a:t>ts,</a:t>
            </a:r>
            <a:r>
              <a:rPr sz="3200" spc="-5" dirty="0">
                <a:latin typeface="Helvetica"/>
                <a:cs typeface="Helvetica"/>
              </a:rPr>
              <a:t> </a:t>
            </a:r>
            <a:r>
              <a:rPr sz="3200" spc="-15" dirty="0">
                <a:latin typeface="Helvetica"/>
                <a:cs typeface="Helvetica"/>
              </a:rPr>
              <a:t>f</a:t>
            </a:r>
            <a:r>
              <a:rPr sz="3200" dirty="0">
                <a:latin typeface="Helvetica"/>
                <a:cs typeface="Helvetica"/>
              </a:rPr>
              <a:t>or</a:t>
            </a:r>
            <a:r>
              <a:rPr sz="3200" spc="-5" dirty="0">
                <a:latin typeface="Helvetica"/>
                <a:cs typeface="Helvetica"/>
              </a:rPr>
              <a:t> </a:t>
            </a:r>
            <a:r>
              <a:rPr sz="3200" dirty="0">
                <a:latin typeface="Helvetica"/>
                <a:cs typeface="Helvetica"/>
              </a:rPr>
              <a:t>sani</a:t>
            </a:r>
            <a:r>
              <a:rPr sz="3200" spc="-15" dirty="0">
                <a:latin typeface="Helvetica"/>
                <a:cs typeface="Helvetica"/>
              </a:rPr>
              <a:t>ty:</a:t>
            </a:r>
            <a:endParaRPr sz="3200">
              <a:latin typeface="Helvetica"/>
              <a:cs typeface="Helvetic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3894974"/>
            <a:ext cx="12852400" cy="507938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60400" rIns="0" bIns="0" rtlCol="0">
            <a:spAutoFit/>
          </a:bodyPr>
          <a:lstStyle/>
          <a:p>
            <a:pPr marL="1000125">
              <a:lnSpc>
                <a:spcPct val="100000"/>
              </a:lnSpc>
            </a:pPr>
            <a:r>
              <a:rPr i="1" spc="-35" dirty="0">
                <a:latin typeface="Helvetica"/>
                <a:cs typeface="Helvetica"/>
              </a:rPr>
              <a:t>Odon</a:t>
            </a:r>
            <a:r>
              <a:rPr i="1" spc="-15" dirty="0">
                <a:latin typeface="Helvetica"/>
                <a:cs typeface="Helvetica"/>
              </a:rPr>
              <a:t>t</a:t>
            </a:r>
            <a:r>
              <a:rPr i="1" spc="-30" dirty="0">
                <a:latin typeface="Helvetica"/>
                <a:cs typeface="Helvetica"/>
              </a:rPr>
              <a:t>o</a:t>
            </a:r>
            <a:r>
              <a:rPr i="1" dirty="0">
                <a:latin typeface="Helvetica"/>
                <a:cs typeface="Helvetica"/>
              </a:rPr>
              <a:t>mac</a:t>
            </a:r>
            <a:r>
              <a:rPr i="1" spc="-30" dirty="0">
                <a:latin typeface="Helvetica"/>
                <a:cs typeface="Helvetica"/>
              </a:rPr>
              <a:t>hu</a:t>
            </a:r>
            <a:r>
              <a:rPr i="1" dirty="0">
                <a:latin typeface="Helvetica"/>
                <a:cs typeface="Helvetica"/>
              </a:rPr>
              <a:t>s</a:t>
            </a:r>
            <a:r>
              <a:rPr i="1" spc="-5" dirty="0">
                <a:latin typeface="Helvetica"/>
                <a:cs typeface="Helvetica"/>
              </a:rPr>
              <a:t> </a:t>
            </a:r>
            <a:r>
              <a:rPr spc="-20" dirty="0"/>
              <a:t>i</a:t>
            </a:r>
            <a:r>
              <a:rPr spc="-25" dirty="0"/>
              <a:t>n</a:t>
            </a:r>
            <a:r>
              <a:rPr spc="-5" dirty="0"/>
              <a:t> </a:t>
            </a:r>
            <a:r>
              <a:rPr spc="-15" dirty="0"/>
              <a:t>t</a:t>
            </a:r>
            <a:r>
              <a:rPr spc="-30" dirty="0"/>
              <a:t>h</a:t>
            </a:r>
            <a:r>
              <a:rPr dirty="0"/>
              <a:t>e</a:t>
            </a:r>
            <a:r>
              <a:rPr spc="-5" dirty="0"/>
              <a:t> </a:t>
            </a:r>
            <a:r>
              <a:rPr spc="-30" dirty="0"/>
              <a:t>Indo</a:t>
            </a:r>
            <a:r>
              <a:rPr dirty="0"/>
              <a:t>-Pac</a:t>
            </a:r>
            <a:r>
              <a:rPr spc="-20" dirty="0"/>
              <a:t>i</a:t>
            </a:r>
            <a:r>
              <a:rPr spc="-15" dirty="0"/>
              <a:t>f</a:t>
            </a:r>
            <a:r>
              <a:rPr spc="-20" dirty="0"/>
              <a:t>i</a:t>
            </a:r>
            <a:r>
              <a:rPr dirty="0"/>
              <a:t>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400" y="9474200"/>
            <a:ext cx="444817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5" dirty="0">
                <a:latin typeface="Calibri"/>
                <a:cs typeface="Calibri"/>
              </a:rPr>
              <a:t>M</a:t>
            </a:r>
            <a:r>
              <a:rPr sz="1600" spc="-25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t</a:t>
            </a:r>
            <a:r>
              <a:rPr sz="1600" dirty="0">
                <a:latin typeface="Calibri"/>
                <a:cs typeface="Calibri"/>
              </a:rPr>
              <a:t>os-</a:t>
            </a:r>
            <a:r>
              <a:rPr sz="1600" spc="-15" dirty="0">
                <a:latin typeface="Calibri"/>
                <a:cs typeface="Calibri"/>
              </a:rPr>
              <a:t>Ma</a:t>
            </a:r>
            <a:r>
              <a:rPr sz="1600" spc="-45" dirty="0">
                <a:latin typeface="Calibri"/>
                <a:cs typeface="Calibri"/>
              </a:rPr>
              <a:t>r</a:t>
            </a:r>
            <a:r>
              <a:rPr sz="1600" spc="-30" dirty="0">
                <a:latin typeface="Calibri"/>
                <a:cs typeface="Calibri"/>
              </a:rPr>
              <a:t>a</a:t>
            </a:r>
            <a:r>
              <a:rPr sz="1600" spc="-10" dirty="0">
                <a:latin typeface="Calibri"/>
                <a:cs typeface="Calibri"/>
              </a:rPr>
              <a:t>v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5" dirty="0">
                <a:latin typeface="Calibri"/>
                <a:cs typeface="Calibri"/>
              </a:rPr>
              <a:t>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M</a:t>
            </a:r>
            <a:r>
              <a:rPr sz="1600" spc="-25" dirty="0">
                <a:latin typeface="Calibri"/>
                <a:cs typeface="Calibri"/>
              </a:rPr>
              <a:t>a</a:t>
            </a:r>
            <a:r>
              <a:rPr sz="1600" spc="-10" dirty="0">
                <a:latin typeface="Calibri"/>
                <a:cs typeface="Calibri"/>
              </a:rPr>
              <a:t>tz</a:t>
            </a:r>
            <a:r>
              <a:rPr sz="1600" spc="-65" dirty="0">
                <a:latin typeface="Calibri"/>
                <a:cs typeface="Calibri"/>
              </a:rPr>
              <a:t>k</a:t>
            </a:r>
            <a:r>
              <a:rPr sz="1600" spc="-10" dirty="0">
                <a:latin typeface="Calibri"/>
                <a:cs typeface="Calibri"/>
              </a:rPr>
              <a:t>e,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e</a:t>
            </a:r>
            <a:r>
              <a:rPr sz="1600" spc="-10" dirty="0">
                <a:latin typeface="Calibri"/>
                <a:cs typeface="Calibri"/>
              </a:rPr>
              <a:t>t</a:t>
            </a:r>
            <a:r>
              <a:rPr sz="1600" dirty="0">
                <a:latin typeface="Calibri"/>
                <a:cs typeface="Calibri"/>
              </a:rPr>
              <a:t> al. </a:t>
            </a:r>
            <a:r>
              <a:rPr sz="1600" spc="-10" dirty="0">
                <a:latin typeface="Calibri"/>
                <a:cs typeface="Calibri"/>
              </a:rPr>
              <a:t>2018,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Mol</a:t>
            </a:r>
            <a:r>
              <a:rPr sz="1600" i="1" spc="-10" dirty="0">
                <a:latin typeface="Calibri"/>
                <a:cs typeface="Calibri"/>
              </a:rPr>
              <a:t>e</a:t>
            </a:r>
            <a:r>
              <a:rPr sz="1600" i="1" dirty="0">
                <a:latin typeface="Calibri"/>
                <a:cs typeface="Calibri"/>
              </a:rPr>
              <a:t>cula</a:t>
            </a:r>
            <a:r>
              <a:rPr sz="1600" i="1" spc="-10" dirty="0">
                <a:latin typeface="Calibri"/>
                <a:cs typeface="Calibri"/>
              </a:rPr>
              <a:t>r</a:t>
            </a:r>
            <a:r>
              <a:rPr sz="1600" i="1" dirty="0">
                <a:latin typeface="Calibri"/>
                <a:cs typeface="Calibri"/>
              </a:rPr>
              <a:t> </a:t>
            </a:r>
            <a:r>
              <a:rPr sz="1600" i="1" spc="-25" dirty="0">
                <a:latin typeface="Calibri"/>
                <a:cs typeface="Calibri"/>
              </a:rPr>
              <a:t>E</a:t>
            </a:r>
            <a:r>
              <a:rPr sz="1600" i="1" spc="-15" dirty="0">
                <a:latin typeface="Calibri"/>
                <a:cs typeface="Calibri"/>
              </a:rPr>
              <a:t>c</a:t>
            </a:r>
            <a:r>
              <a:rPr sz="1600" i="1" dirty="0">
                <a:latin typeface="Calibri"/>
                <a:cs typeface="Calibri"/>
              </a:rPr>
              <a:t>ology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4800" y="2290564"/>
            <a:ext cx="10099675" cy="1358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 indent="-63500">
              <a:lnSpc>
                <a:spcPct val="100000"/>
              </a:lnSpc>
            </a:pPr>
            <a:r>
              <a:rPr sz="3200" spc="-25" dirty="0">
                <a:latin typeface="Helvetica"/>
                <a:cs typeface="Helvetica"/>
              </a:rPr>
              <a:t>T</a:t>
            </a:r>
            <a:r>
              <a:rPr sz="3200" dirty="0">
                <a:latin typeface="Helvetica"/>
                <a:cs typeface="Helvetica"/>
              </a:rPr>
              <a:t>he</a:t>
            </a:r>
            <a:r>
              <a:rPr sz="3200" spc="-5" dirty="0">
                <a:latin typeface="Helvetica"/>
                <a:cs typeface="Helvetica"/>
              </a:rPr>
              <a:t> </a:t>
            </a:r>
            <a:r>
              <a:rPr sz="3200" dirty="0">
                <a:latin typeface="Helvetica"/>
                <a:cs typeface="Helvetica"/>
              </a:rPr>
              <a:t>da</a:t>
            </a:r>
            <a:r>
              <a:rPr sz="3200" spc="-15" dirty="0">
                <a:latin typeface="Helvetica"/>
                <a:cs typeface="Helvetica"/>
              </a:rPr>
              <a:t>t</a:t>
            </a:r>
            <a:r>
              <a:rPr sz="3200" dirty="0">
                <a:latin typeface="Helvetica"/>
                <a:cs typeface="Helvetica"/>
              </a:rPr>
              <a:t>ase</a:t>
            </a:r>
            <a:r>
              <a:rPr sz="3200" spc="-10" dirty="0">
                <a:latin typeface="Helvetica"/>
                <a:cs typeface="Helvetica"/>
              </a:rPr>
              <a:t>t</a:t>
            </a:r>
            <a:r>
              <a:rPr sz="3200" spc="-5" dirty="0">
                <a:latin typeface="Helvetica"/>
                <a:cs typeface="Helvetica"/>
              </a:rPr>
              <a:t> </a:t>
            </a:r>
            <a:r>
              <a:rPr sz="3200" dirty="0">
                <a:latin typeface="Helvetica"/>
                <a:cs typeface="Helvetica"/>
              </a:rPr>
              <a:t>size</a:t>
            </a:r>
            <a:r>
              <a:rPr sz="3200" spc="-5" dirty="0">
                <a:latin typeface="Helvetica"/>
                <a:cs typeface="Helvetica"/>
              </a:rPr>
              <a:t> </a:t>
            </a:r>
            <a:r>
              <a:rPr sz="3200" dirty="0">
                <a:latin typeface="Helvetica"/>
                <a:cs typeface="Helvetica"/>
              </a:rPr>
              <a:t>is</a:t>
            </a:r>
            <a:r>
              <a:rPr sz="3200" spc="-5" dirty="0">
                <a:latin typeface="Helvetica"/>
                <a:cs typeface="Helvetica"/>
              </a:rPr>
              <a:t> </a:t>
            </a:r>
            <a:r>
              <a:rPr sz="3200" dirty="0">
                <a:latin typeface="Helvetica"/>
                <a:cs typeface="Helvetica"/>
              </a:rPr>
              <a:t>very</a:t>
            </a:r>
            <a:r>
              <a:rPr sz="3200" spc="-5" dirty="0">
                <a:latin typeface="Helvetica"/>
                <a:cs typeface="Helvetica"/>
              </a:rPr>
              <a:t> </a:t>
            </a:r>
            <a:r>
              <a:rPr sz="3200" dirty="0">
                <a:latin typeface="Helvetica"/>
                <a:cs typeface="Helvetica"/>
              </a:rPr>
              <a:t>small</a:t>
            </a:r>
            <a:r>
              <a:rPr sz="3200" spc="-5" dirty="0">
                <a:latin typeface="Helvetica"/>
                <a:cs typeface="Helvetica"/>
              </a:rPr>
              <a:t> </a:t>
            </a:r>
            <a:r>
              <a:rPr sz="3200" spc="-15" dirty="0">
                <a:latin typeface="Helvetica"/>
                <a:cs typeface="Helvetica"/>
              </a:rPr>
              <a:t>f</a:t>
            </a:r>
            <a:r>
              <a:rPr sz="3200" dirty="0">
                <a:latin typeface="Helvetica"/>
                <a:cs typeface="Helvetica"/>
              </a:rPr>
              <a:t>or</a:t>
            </a:r>
            <a:r>
              <a:rPr sz="3200" spc="-5" dirty="0">
                <a:latin typeface="Helvetica"/>
                <a:cs typeface="Helvetica"/>
              </a:rPr>
              <a:t> </a:t>
            </a:r>
            <a:r>
              <a:rPr sz="3200" dirty="0">
                <a:latin typeface="Helvetica"/>
                <a:cs typeface="Helvetica"/>
              </a:rPr>
              <a:t>such</a:t>
            </a:r>
            <a:r>
              <a:rPr sz="3200" spc="-5" dirty="0">
                <a:latin typeface="Helvetica"/>
                <a:cs typeface="Helvetica"/>
              </a:rPr>
              <a:t> </a:t>
            </a:r>
            <a:r>
              <a:rPr sz="3200" dirty="0">
                <a:latin typeface="Helvetica"/>
                <a:cs typeface="Helvetica"/>
              </a:rPr>
              <a:t>a</a:t>
            </a:r>
            <a:r>
              <a:rPr sz="3200" spc="-5" dirty="0">
                <a:latin typeface="Helvetica"/>
                <a:cs typeface="Helvetica"/>
              </a:rPr>
              <a:t> </a:t>
            </a:r>
            <a:r>
              <a:rPr sz="3200" dirty="0">
                <a:latin typeface="Helvetica"/>
                <a:cs typeface="Helvetica"/>
              </a:rPr>
              <a:t>complex</a:t>
            </a:r>
            <a:r>
              <a:rPr sz="3200" spc="-5" dirty="0">
                <a:latin typeface="Helvetica"/>
                <a:cs typeface="Helvetica"/>
              </a:rPr>
              <a:t> </a:t>
            </a:r>
            <a:r>
              <a:rPr sz="3200" dirty="0">
                <a:latin typeface="Helvetica"/>
                <a:cs typeface="Helvetica"/>
              </a:rPr>
              <a:t>model</a:t>
            </a:r>
            <a:endParaRPr sz="3200">
              <a:latin typeface="Helvetica"/>
              <a:cs typeface="Helvetic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000">
              <a:latin typeface="Times New Roman"/>
              <a:cs typeface="Times New Roman"/>
            </a:endParaRPr>
          </a:p>
          <a:p>
            <a:pPr marL="76200">
              <a:lnSpc>
                <a:spcPct val="100000"/>
              </a:lnSpc>
            </a:pPr>
            <a:r>
              <a:rPr sz="3200" dirty="0">
                <a:latin typeface="Helvetica"/>
                <a:cs typeface="Helvetica"/>
              </a:rPr>
              <a:t>Check</a:t>
            </a:r>
            <a:r>
              <a:rPr sz="3200" spc="-5" dirty="0">
                <a:latin typeface="Helvetica"/>
                <a:cs typeface="Helvetica"/>
              </a:rPr>
              <a:t> </a:t>
            </a:r>
            <a:r>
              <a:rPr sz="3200" dirty="0">
                <a:latin typeface="Helvetica"/>
                <a:cs typeface="Helvetica"/>
              </a:rPr>
              <a:t>on</a:t>
            </a:r>
            <a:r>
              <a:rPr sz="3200" spc="-5" dirty="0">
                <a:latin typeface="Helvetica"/>
                <a:cs typeface="Helvetica"/>
              </a:rPr>
              <a:t> </a:t>
            </a:r>
            <a:r>
              <a:rPr sz="3200" dirty="0">
                <a:latin typeface="Helvetica"/>
                <a:cs typeface="Helvetica"/>
              </a:rPr>
              <a:t>simula</a:t>
            </a:r>
            <a:r>
              <a:rPr sz="3200" spc="-15" dirty="0">
                <a:latin typeface="Helvetica"/>
                <a:cs typeface="Helvetica"/>
              </a:rPr>
              <a:t>t</a:t>
            </a:r>
            <a:r>
              <a:rPr sz="3200" dirty="0">
                <a:latin typeface="Helvetica"/>
                <a:cs typeface="Helvetica"/>
              </a:rPr>
              <a:t>ed</a:t>
            </a:r>
            <a:r>
              <a:rPr sz="3200" spc="-5" dirty="0">
                <a:latin typeface="Helvetica"/>
                <a:cs typeface="Helvetica"/>
              </a:rPr>
              <a:t> </a:t>
            </a:r>
            <a:r>
              <a:rPr sz="3200" dirty="0">
                <a:latin typeface="Helvetica"/>
                <a:cs typeface="Helvetica"/>
              </a:rPr>
              <a:t>25-species</a:t>
            </a:r>
            <a:r>
              <a:rPr sz="3200" spc="-5" dirty="0">
                <a:latin typeface="Helvetica"/>
                <a:cs typeface="Helvetica"/>
              </a:rPr>
              <a:t> </a:t>
            </a:r>
            <a:r>
              <a:rPr sz="3200" dirty="0">
                <a:latin typeface="Helvetica"/>
                <a:cs typeface="Helvetica"/>
              </a:rPr>
              <a:t>da</a:t>
            </a:r>
            <a:r>
              <a:rPr sz="3200" spc="-15" dirty="0">
                <a:latin typeface="Helvetica"/>
                <a:cs typeface="Helvetica"/>
              </a:rPr>
              <a:t>t</a:t>
            </a:r>
            <a:r>
              <a:rPr sz="3200" dirty="0">
                <a:latin typeface="Helvetica"/>
                <a:cs typeface="Helvetica"/>
              </a:rPr>
              <a:t>ase</a:t>
            </a:r>
            <a:r>
              <a:rPr sz="3200" spc="-15" dirty="0">
                <a:latin typeface="Helvetica"/>
                <a:cs typeface="Helvetica"/>
              </a:rPr>
              <a:t>ts,</a:t>
            </a:r>
            <a:r>
              <a:rPr sz="3200" spc="-5" dirty="0">
                <a:latin typeface="Helvetica"/>
                <a:cs typeface="Helvetica"/>
              </a:rPr>
              <a:t> </a:t>
            </a:r>
            <a:r>
              <a:rPr sz="3200" spc="-15" dirty="0">
                <a:latin typeface="Helvetica"/>
                <a:cs typeface="Helvetica"/>
              </a:rPr>
              <a:t>f</a:t>
            </a:r>
            <a:r>
              <a:rPr sz="3200" dirty="0">
                <a:latin typeface="Helvetica"/>
                <a:cs typeface="Helvetica"/>
              </a:rPr>
              <a:t>or</a:t>
            </a:r>
            <a:r>
              <a:rPr sz="3200" spc="-5" dirty="0">
                <a:latin typeface="Helvetica"/>
                <a:cs typeface="Helvetica"/>
              </a:rPr>
              <a:t> </a:t>
            </a:r>
            <a:r>
              <a:rPr sz="3200" dirty="0">
                <a:latin typeface="Helvetica"/>
                <a:cs typeface="Helvetica"/>
              </a:rPr>
              <a:t>sani</a:t>
            </a:r>
            <a:r>
              <a:rPr sz="3200" spc="-15" dirty="0">
                <a:latin typeface="Helvetica"/>
                <a:cs typeface="Helvetica"/>
              </a:rPr>
              <a:t>ty:</a:t>
            </a:r>
            <a:endParaRPr sz="3200">
              <a:latin typeface="Helvetica"/>
              <a:cs typeface="Helvetic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3894974"/>
            <a:ext cx="12852400" cy="507938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72190" y="8118343"/>
            <a:ext cx="9577705" cy="599440"/>
          </a:xfrm>
          <a:custGeom>
            <a:avLst/>
            <a:gdLst/>
            <a:ahLst/>
            <a:cxnLst/>
            <a:rect l="l" t="t" r="r" b="b"/>
            <a:pathLst>
              <a:path w="9577705" h="599440">
                <a:moveTo>
                  <a:pt x="0" y="0"/>
                </a:moveTo>
                <a:lnTo>
                  <a:pt x="9577627" y="0"/>
                </a:lnTo>
                <a:lnTo>
                  <a:pt x="9577627" y="599082"/>
                </a:lnTo>
                <a:lnTo>
                  <a:pt x="0" y="599082"/>
                </a:lnTo>
                <a:lnTo>
                  <a:pt x="0" y="0"/>
                </a:lnTo>
                <a:close/>
              </a:path>
            </a:pathLst>
          </a:custGeom>
          <a:ln w="76200">
            <a:solidFill>
              <a:srgbClr val="FF330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72190" y="6552008"/>
            <a:ext cx="9577705" cy="599440"/>
          </a:xfrm>
          <a:custGeom>
            <a:avLst/>
            <a:gdLst/>
            <a:ahLst/>
            <a:cxnLst/>
            <a:rect l="l" t="t" r="r" b="b"/>
            <a:pathLst>
              <a:path w="9577705" h="599440">
                <a:moveTo>
                  <a:pt x="0" y="0"/>
                </a:moveTo>
                <a:lnTo>
                  <a:pt x="9577627" y="0"/>
                </a:lnTo>
                <a:lnTo>
                  <a:pt x="9577627" y="599082"/>
                </a:lnTo>
                <a:lnTo>
                  <a:pt x="0" y="599082"/>
                </a:lnTo>
                <a:lnTo>
                  <a:pt x="0" y="0"/>
                </a:lnTo>
                <a:close/>
              </a:path>
            </a:pathLst>
          </a:custGeom>
          <a:ln w="76200">
            <a:solidFill>
              <a:srgbClr val="FF330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0200" y="641337"/>
            <a:ext cx="7928609" cy="660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5000" b="1" dirty="0">
                <a:latin typeface="Helvetica"/>
                <a:cs typeface="Helvetica"/>
              </a:rPr>
              <a:t>C</a:t>
            </a:r>
            <a:r>
              <a:rPr sz="5000" b="1" spc="-40" dirty="0">
                <a:latin typeface="Helvetica"/>
                <a:cs typeface="Helvetica"/>
              </a:rPr>
              <a:t>on</a:t>
            </a:r>
            <a:r>
              <a:rPr sz="5000" b="1" dirty="0">
                <a:latin typeface="Helvetica"/>
                <a:cs typeface="Helvetica"/>
              </a:rPr>
              <a:t>c</a:t>
            </a:r>
            <a:r>
              <a:rPr sz="5000" b="1" spc="-30" dirty="0">
                <a:latin typeface="Helvetica"/>
                <a:cs typeface="Helvetica"/>
              </a:rPr>
              <a:t>lu</a:t>
            </a:r>
            <a:r>
              <a:rPr sz="5000" b="1" dirty="0">
                <a:latin typeface="Helvetica"/>
                <a:cs typeface="Helvetica"/>
              </a:rPr>
              <a:t>s</a:t>
            </a:r>
            <a:r>
              <a:rPr sz="5000" b="1" spc="-30" dirty="0">
                <a:latin typeface="Helvetica"/>
                <a:cs typeface="Helvetica"/>
              </a:rPr>
              <a:t>ion</a:t>
            </a:r>
            <a:r>
              <a:rPr sz="5000" b="1" dirty="0">
                <a:latin typeface="Helvetica"/>
                <a:cs typeface="Helvetica"/>
              </a:rPr>
              <a:t>s</a:t>
            </a:r>
            <a:r>
              <a:rPr sz="5000" b="1" spc="-5" dirty="0">
                <a:latin typeface="Helvetica"/>
                <a:cs typeface="Helvetica"/>
              </a:rPr>
              <a:t> </a:t>
            </a:r>
            <a:r>
              <a:rPr sz="5000" b="1" dirty="0">
                <a:latin typeface="Helvetica"/>
                <a:cs typeface="Helvetica"/>
              </a:rPr>
              <a:t>a</a:t>
            </a:r>
            <a:r>
              <a:rPr sz="5000" b="1" spc="-40" dirty="0">
                <a:latin typeface="Helvetica"/>
                <a:cs typeface="Helvetica"/>
              </a:rPr>
              <a:t>n</a:t>
            </a:r>
            <a:r>
              <a:rPr sz="5000" b="1" spc="-35" dirty="0">
                <a:latin typeface="Helvetica"/>
                <a:cs typeface="Helvetica"/>
              </a:rPr>
              <a:t>d</a:t>
            </a:r>
            <a:r>
              <a:rPr sz="5000" b="1" spc="-5" dirty="0">
                <a:latin typeface="Helvetica"/>
                <a:cs typeface="Helvetica"/>
              </a:rPr>
              <a:t> </a:t>
            </a:r>
            <a:r>
              <a:rPr sz="5000" b="1" dirty="0">
                <a:latin typeface="Helvetica"/>
                <a:cs typeface="Helvetica"/>
              </a:rPr>
              <a:t>ca</a:t>
            </a:r>
            <a:r>
              <a:rPr sz="5000" b="1" spc="-40" dirty="0">
                <a:latin typeface="Helvetica"/>
                <a:cs typeface="Helvetica"/>
              </a:rPr>
              <a:t>u</a:t>
            </a:r>
            <a:r>
              <a:rPr sz="5000" b="1" spc="-20" dirty="0">
                <a:latin typeface="Helvetica"/>
                <a:cs typeface="Helvetica"/>
              </a:rPr>
              <a:t>t</a:t>
            </a:r>
            <a:r>
              <a:rPr sz="5000" b="1" spc="-30" dirty="0">
                <a:latin typeface="Helvetica"/>
                <a:cs typeface="Helvetica"/>
              </a:rPr>
              <a:t>ion</a:t>
            </a:r>
            <a:r>
              <a:rPr sz="5000" b="1" dirty="0">
                <a:latin typeface="Helvetica"/>
                <a:cs typeface="Helvetica"/>
              </a:rPr>
              <a:t>s</a:t>
            </a:r>
            <a:endParaRPr sz="5000">
              <a:latin typeface="Helvetica"/>
              <a:cs typeface="Helvetic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400" y="9474200"/>
            <a:ext cx="444817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5" dirty="0">
                <a:latin typeface="Calibri"/>
                <a:cs typeface="Calibri"/>
              </a:rPr>
              <a:t>M</a:t>
            </a:r>
            <a:r>
              <a:rPr sz="1600" spc="-25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t</a:t>
            </a:r>
            <a:r>
              <a:rPr sz="1600" dirty="0">
                <a:latin typeface="Calibri"/>
                <a:cs typeface="Calibri"/>
              </a:rPr>
              <a:t>os-</a:t>
            </a:r>
            <a:r>
              <a:rPr sz="1600" spc="-15" dirty="0">
                <a:latin typeface="Calibri"/>
                <a:cs typeface="Calibri"/>
              </a:rPr>
              <a:t>Ma</a:t>
            </a:r>
            <a:r>
              <a:rPr sz="1600" spc="-45" dirty="0">
                <a:latin typeface="Calibri"/>
                <a:cs typeface="Calibri"/>
              </a:rPr>
              <a:t>r</a:t>
            </a:r>
            <a:r>
              <a:rPr sz="1600" spc="-30" dirty="0">
                <a:latin typeface="Calibri"/>
                <a:cs typeface="Calibri"/>
              </a:rPr>
              <a:t>a</a:t>
            </a:r>
            <a:r>
              <a:rPr sz="1600" spc="-10" dirty="0">
                <a:latin typeface="Calibri"/>
                <a:cs typeface="Calibri"/>
              </a:rPr>
              <a:t>v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5" dirty="0">
                <a:latin typeface="Calibri"/>
                <a:cs typeface="Calibri"/>
              </a:rPr>
              <a:t>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M</a:t>
            </a:r>
            <a:r>
              <a:rPr sz="1600" spc="-25" dirty="0">
                <a:latin typeface="Calibri"/>
                <a:cs typeface="Calibri"/>
              </a:rPr>
              <a:t>a</a:t>
            </a:r>
            <a:r>
              <a:rPr sz="1600" spc="-10" dirty="0">
                <a:latin typeface="Calibri"/>
                <a:cs typeface="Calibri"/>
              </a:rPr>
              <a:t>tz</a:t>
            </a:r>
            <a:r>
              <a:rPr sz="1600" spc="-65" dirty="0">
                <a:latin typeface="Calibri"/>
                <a:cs typeface="Calibri"/>
              </a:rPr>
              <a:t>k</a:t>
            </a:r>
            <a:r>
              <a:rPr sz="1600" spc="-10" dirty="0">
                <a:latin typeface="Calibri"/>
                <a:cs typeface="Calibri"/>
              </a:rPr>
              <a:t>e,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e</a:t>
            </a:r>
            <a:r>
              <a:rPr sz="1600" spc="-10" dirty="0">
                <a:latin typeface="Calibri"/>
                <a:cs typeface="Calibri"/>
              </a:rPr>
              <a:t>t</a:t>
            </a:r>
            <a:r>
              <a:rPr sz="1600" dirty="0">
                <a:latin typeface="Calibri"/>
                <a:cs typeface="Calibri"/>
              </a:rPr>
              <a:t> al. </a:t>
            </a:r>
            <a:r>
              <a:rPr sz="1600" spc="-10" dirty="0">
                <a:latin typeface="Calibri"/>
                <a:cs typeface="Calibri"/>
              </a:rPr>
              <a:t>2018,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Mol</a:t>
            </a:r>
            <a:r>
              <a:rPr sz="1600" i="1" spc="-10" dirty="0">
                <a:latin typeface="Calibri"/>
                <a:cs typeface="Calibri"/>
              </a:rPr>
              <a:t>e</a:t>
            </a:r>
            <a:r>
              <a:rPr sz="1600" i="1" dirty="0">
                <a:latin typeface="Calibri"/>
                <a:cs typeface="Calibri"/>
              </a:rPr>
              <a:t>cula</a:t>
            </a:r>
            <a:r>
              <a:rPr sz="1600" i="1" spc="-10" dirty="0">
                <a:latin typeface="Calibri"/>
                <a:cs typeface="Calibri"/>
              </a:rPr>
              <a:t>r</a:t>
            </a:r>
            <a:r>
              <a:rPr sz="1600" i="1" dirty="0">
                <a:latin typeface="Calibri"/>
                <a:cs typeface="Calibri"/>
              </a:rPr>
              <a:t> </a:t>
            </a:r>
            <a:r>
              <a:rPr sz="1600" i="1" spc="-25" dirty="0">
                <a:latin typeface="Calibri"/>
                <a:cs typeface="Calibri"/>
              </a:rPr>
              <a:t>E</a:t>
            </a:r>
            <a:r>
              <a:rPr sz="1600" i="1" spc="-15" dirty="0">
                <a:latin typeface="Calibri"/>
                <a:cs typeface="Calibri"/>
              </a:rPr>
              <a:t>c</a:t>
            </a:r>
            <a:r>
              <a:rPr sz="1600" i="1" dirty="0">
                <a:latin typeface="Calibri"/>
                <a:cs typeface="Calibri"/>
              </a:rPr>
              <a:t>ology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33500" y="1996430"/>
            <a:ext cx="6348095" cy="177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b="1" dirty="0">
                <a:latin typeface="Helvetica"/>
                <a:cs typeface="Helvetica"/>
              </a:rPr>
              <a:t>C</a:t>
            </a:r>
            <a:r>
              <a:rPr sz="4000" b="1" spc="-30" dirty="0">
                <a:latin typeface="Helvetica"/>
                <a:cs typeface="Helvetica"/>
              </a:rPr>
              <a:t>o</a:t>
            </a:r>
            <a:r>
              <a:rPr sz="4000" b="1" dirty="0">
                <a:latin typeface="Helvetica"/>
                <a:cs typeface="Helvetica"/>
              </a:rPr>
              <a:t>m</a:t>
            </a:r>
            <a:r>
              <a:rPr sz="4000" b="1" spc="-30" dirty="0">
                <a:latin typeface="Helvetica"/>
                <a:cs typeface="Helvetica"/>
              </a:rPr>
              <a:t>pu</a:t>
            </a:r>
            <a:r>
              <a:rPr sz="4000" b="1" dirty="0">
                <a:latin typeface="Helvetica"/>
                <a:cs typeface="Helvetica"/>
              </a:rPr>
              <a:t>ta</a:t>
            </a:r>
            <a:r>
              <a:rPr sz="4000" b="1" spc="-15" dirty="0">
                <a:latin typeface="Helvetica"/>
                <a:cs typeface="Helvetica"/>
              </a:rPr>
              <a:t>t</a:t>
            </a:r>
            <a:r>
              <a:rPr sz="4000" b="1" spc="-25" dirty="0">
                <a:latin typeface="Helvetica"/>
                <a:cs typeface="Helvetica"/>
              </a:rPr>
              <a:t>ion</a:t>
            </a:r>
            <a:r>
              <a:rPr sz="4000" b="1" dirty="0">
                <a:latin typeface="Helvetica"/>
                <a:cs typeface="Helvetica"/>
              </a:rPr>
              <a:t>a</a:t>
            </a:r>
            <a:r>
              <a:rPr sz="4000" b="1" spc="-15" dirty="0">
                <a:latin typeface="Helvetica"/>
                <a:cs typeface="Helvetica"/>
              </a:rPr>
              <a:t>l</a:t>
            </a:r>
            <a:r>
              <a:rPr sz="4000" b="1" spc="-5" dirty="0">
                <a:latin typeface="Helvetica"/>
                <a:cs typeface="Helvetica"/>
              </a:rPr>
              <a:t> </a:t>
            </a:r>
            <a:r>
              <a:rPr sz="4000" b="1" dirty="0">
                <a:latin typeface="Helvetica"/>
                <a:cs typeface="Helvetica"/>
              </a:rPr>
              <a:t>c</a:t>
            </a:r>
            <a:r>
              <a:rPr sz="4000" b="1" spc="-30" dirty="0">
                <a:latin typeface="Helvetica"/>
                <a:cs typeface="Helvetica"/>
              </a:rPr>
              <a:t>h</a:t>
            </a:r>
            <a:r>
              <a:rPr sz="4000" b="1" dirty="0">
                <a:latin typeface="Helvetica"/>
                <a:cs typeface="Helvetica"/>
              </a:rPr>
              <a:t>a</a:t>
            </a:r>
            <a:r>
              <a:rPr sz="4000" b="1" spc="-20" dirty="0">
                <a:latin typeface="Helvetica"/>
                <a:cs typeface="Helvetica"/>
              </a:rPr>
              <a:t>ll</a:t>
            </a:r>
            <a:r>
              <a:rPr sz="4000" b="1" dirty="0">
                <a:latin typeface="Helvetica"/>
                <a:cs typeface="Helvetica"/>
              </a:rPr>
              <a:t>e</a:t>
            </a:r>
            <a:r>
              <a:rPr sz="4000" b="1" spc="-30" dirty="0">
                <a:latin typeface="Helvetica"/>
                <a:cs typeface="Helvetica"/>
              </a:rPr>
              <a:t>ng</a:t>
            </a:r>
            <a:r>
              <a:rPr sz="4000" b="1" dirty="0">
                <a:latin typeface="Helvetica"/>
                <a:cs typeface="Helvetica"/>
              </a:rPr>
              <a:t>es</a:t>
            </a:r>
            <a:endParaRPr sz="4000">
              <a:latin typeface="Helvetica"/>
              <a:cs typeface="Helvetic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4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4000" b="1" spc="-35" dirty="0">
                <a:latin typeface="Helvetica"/>
                <a:cs typeface="Helvetica"/>
              </a:rPr>
              <a:t>M</a:t>
            </a:r>
            <a:r>
              <a:rPr sz="4000" b="1" spc="-30" dirty="0">
                <a:latin typeface="Helvetica"/>
                <a:cs typeface="Helvetica"/>
              </a:rPr>
              <a:t>od</a:t>
            </a:r>
            <a:r>
              <a:rPr sz="4000" b="1" dirty="0">
                <a:latin typeface="Helvetica"/>
                <a:cs typeface="Helvetica"/>
              </a:rPr>
              <a:t>e</a:t>
            </a:r>
            <a:r>
              <a:rPr sz="4000" b="1" spc="-15" dirty="0">
                <a:latin typeface="Helvetica"/>
                <a:cs typeface="Helvetica"/>
              </a:rPr>
              <a:t>l</a:t>
            </a:r>
            <a:r>
              <a:rPr sz="4000" b="1" spc="-5" dirty="0">
                <a:latin typeface="Helvetica"/>
                <a:cs typeface="Helvetica"/>
              </a:rPr>
              <a:t> </a:t>
            </a:r>
            <a:r>
              <a:rPr sz="4000" b="1" spc="-20" dirty="0">
                <a:latin typeface="Helvetica"/>
                <a:cs typeface="Helvetica"/>
              </a:rPr>
              <a:t>li</a:t>
            </a:r>
            <a:r>
              <a:rPr sz="4000" b="1" dirty="0">
                <a:latin typeface="Helvetica"/>
                <a:cs typeface="Helvetica"/>
              </a:rPr>
              <a:t>m</a:t>
            </a:r>
            <a:r>
              <a:rPr sz="4000" b="1" spc="-20" dirty="0">
                <a:latin typeface="Helvetica"/>
                <a:cs typeface="Helvetica"/>
              </a:rPr>
              <a:t>i</a:t>
            </a:r>
            <a:r>
              <a:rPr sz="4000" b="1" dirty="0">
                <a:latin typeface="Helvetica"/>
                <a:cs typeface="Helvetica"/>
              </a:rPr>
              <a:t>ta</a:t>
            </a:r>
            <a:r>
              <a:rPr sz="4000" b="1" spc="-15" dirty="0">
                <a:latin typeface="Helvetica"/>
                <a:cs typeface="Helvetica"/>
              </a:rPr>
              <a:t>t</a:t>
            </a:r>
            <a:r>
              <a:rPr sz="4000" b="1" spc="-25" dirty="0">
                <a:latin typeface="Helvetica"/>
                <a:cs typeface="Helvetica"/>
              </a:rPr>
              <a:t>ion</a:t>
            </a:r>
            <a:r>
              <a:rPr sz="4000" b="1" dirty="0">
                <a:latin typeface="Helvetica"/>
                <a:cs typeface="Helvetica"/>
              </a:rPr>
              <a:t>s</a:t>
            </a:r>
            <a:endParaRPr sz="400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-2" r="56428" b="74230"/>
          <a:stretch/>
        </p:blipFill>
        <p:spPr>
          <a:xfrm>
            <a:off x="5996658" y="6940882"/>
            <a:ext cx="6339840" cy="2812718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0" y="275450"/>
            <a:ext cx="12806116" cy="3601155"/>
          </a:xfrm>
          <a:prstGeom prst="rect">
            <a:avLst/>
          </a:prstGeom>
        </p:spPr>
        <p:txBody>
          <a:bodyPr vert="horz" lIns="130046" tIns="65023" rIns="130046" bIns="65023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Computation speed problem: </a:t>
            </a:r>
          </a:p>
          <a:p>
            <a:endParaRPr lang="en-US" sz="4800" dirty="0"/>
          </a:p>
          <a:p>
            <a:r>
              <a:rPr lang="en-US" sz="4800" dirty="0"/>
              <a:t>(number of of ranges) = 2</a:t>
            </a:r>
            <a:r>
              <a:rPr lang="en-US" sz="4800" baseline="30000" dirty="0"/>
              <a:t>(number of areas)</a:t>
            </a:r>
          </a:p>
        </p:txBody>
      </p:sp>
      <p:sp>
        <p:nvSpPr>
          <p:cNvPr id="2" name="Rectangle 1"/>
          <p:cNvSpPr/>
          <p:nvPr/>
        </p:nvSpPr>
        <p:spPr>
          <a:xfrm>
            <a:off x="876285" y="3983511"/>
            <a:ext cx="8200707" cy="4333494"/>
          </a:xfrm>
          <a:prstGeom prst="rect">
            <a:avLst/>
          </a:prstGeom>
        </p:spPr>
        <p:txBody>
          <a:bodyPr wrap="none" lIns="130046" tIns="65023" rIns="130046" bIns="65023">
            <a:spAutoFit/>
          </a:bodyPr>
          <a:lstStyle/>
          <a:p>
            <a:r>
              <a:rPr lang="en-US" sz="6800" dirty="0"/>
              <a:t>2 areas = 4 states</a:t>
            </a:r>
          </a:p>
          <a:p>
            <a:r>
              <a:rPr lang="en-US" sz="6800" dirty="0"/>
              <a:t>4 areas = 16 states</a:t>
            </a:r>
          </a:p>
          <a:p>
            <a:r>
              <a:rPr lang="en-US" sz="6800" dirty="0"/>
              <a:t>10 areas = 1024 states</a:t>
            </a:r>
          </a:p>
          <a:p>
            <a:r>
              <a:rPr lang="en-US" sz="6800" dirty="0"/>
              <a:t>11 areas = 2048</a:t>
            </a:r>
          </a:p>
        </p:txBody>
      </p:sp>
    </p:spTree>
    <p:extLst>
      <p:ext uri="{BB962C8B-B14F-4D97-AF65-F5344CB8AC3E}">
        <p14:creationId xmlns:p14="http://schemas.microsoft.com/office/powerpoint/2010/main" val="459191880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769548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484729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387772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203227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235368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396376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935174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308710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2012-10-15_v3a_matrix_time_test_hugemats_up_to_10areas_ARCHIVE_WORKED_sparse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79787" y="-361245"/>
            <a:ext cx="15136142" cy="20181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427267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arge_sparse_matrix_1351x1351_v2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7849" y="-162560"/>
            <a:ext cx="10169031" cy="10169031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-144498" y="-808283"/>
            <a:ext cx="3160889" cy="2759003"/>
          </a:xfrm>
          <a:prstGeom prst="rect">
            <a:avLst/>
          </a:prstGeom>
        </p:spPr>
        <p:txBody>
          <a:bodyPr vert="horz" lIns="130046" tIns="65023" rIns="130046" bIns="65023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600" dirty="0"/>
              <a:t>Q Matrices are sparse</a:t>
            </a:r>
            <a:endParaRPr lang="en-US" sz="4600" baseline="30000" dirty="0"/>
          </a:p>
        </p:txBody>
      </p:sp>
    </p:spTree>
    <p:extLst>
      <p:ext uri="{BB962C8B-B14F-4D97-AF65-F5344CB8AC3E}">
        <p14:creationId xmlns:p14="http://schemas.microsoft.com/office/powerpoint/2010/main" val="3240120378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2012-10-15_v3a_matrix_time_test_hugemats_up_to_10areas_ARCHIVE_WORKED_sparse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79787" y="-361245"/>
            <a:ext cx="15136142" cy="20181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099762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2012-10-15_v3a_matrix_time_test_hugemats_up_to_10areas_ARCHIVE_WORKED_sparse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79787" y="-361245"/>
            <a:ext cx="15136142" cy="20181522"/>
          </a:xfrm>
          <a:prstGeom prst="rect">
            <a:avLst/>
          </a:prstGeom>
        </p:spPr>
      </p:pic>
      <p:sp>
        <p:nvSpPr>
          <p:cNvPr id="2" name="Oval 1"/>
          <p:cNvSpPr/>
          <p:nvPr/>
        </p:nvSpPr>
        <p:spPr>
          <a:xfrm>
            <a:off x="10439964" y="3756942"/>
            <a:ext cx="704427" cy="668302"/>
          </a:xfrm>
          <a:prstGeom prst="ellipse">
            <a:avLst/>
          </a:prstGeom>
          <a:noFill/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0046" tIns="65023" rIns="130046" bIns="65023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852769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-2" r="56428" b="74230"/>
          <a:stretch/>
        </p:blipFill>
        <p:spPr>
          <a:xfrm>
            <a:off x="5996658" y="6940882"/>
            <a:ext cx="6339840" cy="2812718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0" y="275450"/>
            <a:ext cx="12806116" cy="3601155"/>
          </a:xfrm>
          <a:prstGeom prst="rect">
            <a:avLst/>
          </a:prstGeom>
        </p:spPr>
        <p:txBody>
          <a:bodyPr vert="horz" lIns="130046" tIns="65023" rIns="130046" bIns="65023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0200" dirty="0"/>
              <a:t>Anagenetic Problem: </a:t>
            </a:r>
          </a:p>
          <a:p>
            <a:r>
              <a:rPr lang="en-US" sz="10200" dirty="0"/>
              <a:t># of ranges=2</a:t>
            </a:r>
            <a:r>
              <a:rPr lang="en-US" sz="10200" baseline="30000" dirty="0"/>
              <a:t>(# of areas)</a:t>
            </a:r>
          </a:p>
        </p:txBody>
      </p:sp>
      <p:sp>
        <p:nvSpPr>
          <p:cNvPr id="2" name="Rectangle 1"/>
          <p:cNvSpPr/>
          <p:nvPr/>
        </p:nvSpPr>
        <p:spPr>
          <a:xfrm>
            <a:off x="876285" y="3983511"/>
            <a:ext cx="8200707" cy="4333494"/>
          </a:xfrm>
          <a:prstGeom prst="rect">
            <a:avLst/>
          </a:prstGeom>
        </p:spPr>
        <p:txBody>
          <a:bodyPr wrap="none" lIns="130046" tIns="65023" rIns="130046" bIns="65023">
            <a:spAutoFit/>
          </a:bodyPr>
          <a:lstStyle/>
          <a:p>
            <a:r>
              <a:rPr lang="en-US" sz="6800" dirty="0"/>
              <a:t>2 areas = 4 states</a:t>
            </a:r>
          </a:p>
          <a:p>
            <a:r>
              <a:rPr lang="en-US" sz="6800" dirty="0"/>
              <a:t>4 areas = 16 states</a:t>
            </a:r>
          </a:p>
          <a:p>
            <a:r>
              <a:rPr lang="en-US" sz="6800" dirty="0"/>
              <a:t>10 areas = 1024 states</a:t>
            </a:r>
          </a:p>
          <a:p>
            <a:r>
              <a:rPr lang="en-US" sz="6800" dirty="0"/>
              <a:t>11 areas = 2048</a:t>
            </a:r>
          </a:p>
        </p:txBody>
      </p:sp>
    </p:spTree>
    <p:extLst>
      <p:ext uri="{BB962C8B-B14F-4D97-AF65-F5344CB8AC3E}">
        <p14:creationId xmlns:p14="http://schemas.microsoft.com/office/powerpoint/2010/main" val="3538592978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275450"/>
            <a:ext cx="12806116" cy="3601155"/>
          </a:xfrm>
          <a:prstGeom prst="rect">
            <a:avLst/>
          </a:prstGeom>
        </p:spPr>
        <p:txBody>
          <a:bodyPr vert="horz" lIns="130046" tIns="65023" rIns="130046" bIns="65023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0200" dirty="0"/>
              <a:t>Cladogenetic Problem: </a:t>
            </a:r>
          </a:p>
          <a:p>
            <a:r>
              <a:rPr lang="en-US" sz="8500" dirty="0"/>
              <a:t># of transitions =</a:t>
            </a:r>
          </a:p>
          <a:p>
            <a:r>
              <a:rPr lang="en-US" sz="8500" dirty="0"/>
              <a:t>(# ranges)</a:t>
            </a:r>
            <a:r>
              <a:rPr lang="en-US" sz="8500" baseline="30000" dirty="0"/>
              <a:t>3</a:t>
            </a:r>
          </a:p>
        </p:txBody>
      </p:sp>
      <p:sp>
        <p:nvSpPr>
          <p:cNvPr id="2" name="Rectangle 1"/>
          <p:cNvSpPr/>
          <p:nvPr/>
        </p:nvSpPr>
        <p:spPr>
          <a:xfrm>
            <a:off x="226046" y="4633751"/>
            <a:ext cx="12960129" cy="4333494"/>
          </a:xfrm>
          <a:prstGeom prst="rect">
            <a:avLst/>
          </a:prstGeom>
        </p:spPr>
        <p:txBody>
          <a:bodyPr wrap="none" lIns="130046" tIns="65023" rIns="130046" bIns="65023">
            <a:spAutoFit/>
          </a:bodyPr>
          <a:lstStyle/>
          <a:p>
            <a:r>
              <a:rPr lang="en-US" sz="6800" dirty="0"/>
              <a:t>2 areas = 4 states = 64 triplets</a:t>
            </a:r>
          </a:p>
          <a:p>
            <a:r>
              <a:rPr lang="en-US" sz="6800" dirty="0"/>
              <a:t>4 areas = 16 states = 4096 triplets</a:t>
            </a:r>
          </a:p>
          <a:p>
            <a:r>
              <a:rPr lang="en-US" sz="6800" dirty="0"/>
              <a:t>10 areas = 1024 states = 1 billion+</a:t>
            </a:r>
          </a:p>
          <a:p>
            <a:r>
              <a:rPr lang="en-US" sz="6800" dirty="0"/>
              <a:t>11 areas = 2048 states = 8.6 billion+</a:t>
            </a:r>
          </a:p>
        </p:txBody>
      </p:sp>
    </p:spTree>
    <p:extLst>
      <p:ext uri="{BB962C8B-B14F-4D97-AF65-F5344CB8AC3E}">
        <p14:creationId xmlns:p14="http://schemas.microsoft.com/office/powerpoint/2010/main" val="725629061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ig_S2_cladogenetic_trait_v1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222"/>
          <a:stretch/>
        </p:blipFill>
        <p:spPr>
          <a:xfrm>
            <a:off x="-36124" y="2835769"/>
            <a:ext cx="13004800" cy="4660053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58800" y="609600"/>
            <a:ext cx="11704320" cy="615553"/>
          </a:xfrm>
        </p:spPr>
        <p:txBody>
          <a:bodyPr/>
          <a:lstStyle/>
          <a:p>
            <a:r>
              <a:rPr lang="en-US" b="1" dirty="0"/>
              <a:t>Cladogenetic range change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-1574800" y="762000"/>
            <a:ext cx="11704320" cy="1625600"/>
          </a:xfrm>
          <a:prstGeom prst="rect">
            <a:avLst/>
          </a:prstGeom>
        </p:spPr>
        <p:txBody>
          <a:bodyPr vert="horz" lIns="130046" tIns="65023" rIns="130046" bIns="65023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transition matrix</a:t>
            </a:r>
          </a:p>
        </p:txBody>
      </p:sp>
    </p:spTree>
    <p:extLst>
      <p:ext uri="{BB962C8B-B14F-4D97-AF65-F5344CB8AC3E}">
        <p14:creationId xmlns:p14="http://schemas.microsoft.com/office/powerpoint/2010/main" val="2130298266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ig_S2_cladogenetic_trait_v1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222"/>
          <a:stretch/>
        </p:blipFill>
        <p:spPr>
          <a:xfrm>
            <a:off x="-36124" y="2835769"/>
            <a:ext cx="13004800" cy="4660053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35000" y="609600"/>
            <a:ext cx="11704320" cy="615553"/>
          </a:xfrm>
        </p:spPr>
        <p:txBody>
          <a:bodyPr/>
          <a:lstStyle/>
          <a:p>
            <a:r>
              <a:rPr lang="en-US" b="1" dirty="0"/>
              <a:t>Cladogenetic range change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-1498600" y="685800"/>
            <a:ext cx="11704320" cy="1625600"/>
          </a:xfrm>
          <a:prstGeom prst="rect">
            <a:avLst/>
          </a:prstGeom>
        </p:spPr>
        <p:txBody>
          <a:bodyPr vert="horz" lIns="130046" tIns="65023" rIns="130046" bIns="65023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transition matrix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-1574800" y="1295400"/>
            <a:ext cx="11704320" cy="1625600"/>
          </a:xfrm>
          <a:prstGeom prst="rect">
            <a:avLst/>
          </a:prstGeom>
        </p:spPr>
        <p:txBody>
          <a:bodyPr vert="horz" lIns="130046" tIns="65023" rIns="130046" bIns="65023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(mostly 0s)</a:t>
            </a:r>
          </a:p>
        </p:txBody>
      </p:sp>
    </p:spTree>
    <p:extLst>
      <p:ext uri="{BB962C8B-B14F-4D97-AF65-F5344CB8AC3E}">
        <p14:creationId xmlns:p14="http://schemas.microsoft.com/office/powerpoint/2010/main" val="470543539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50240" y="517032"/>
            <a:ext cx="12065564" cy="8477955"/>
          </a:xfrm>
        </p:spPr>
        <p:txBody>
          <a:bodyPr/>
          <a:lstStyle/>
          <a:p>
            <a:r>
              <a:rPr lang="en-US" b="1" dirty="0"/>
              <a:t>Tricks to speed things up:</a:t>
            </a:r>
            <a:br>
              <a:rPr lang="en-US" b="1" dirty="0"/>
            </a:br>
            <a:br>
              <a:rPr lang="en-US" b="1" dirty="0"/>
            </a:br>
            <a:r>
              <a:rPr lang="en-US" sz="5700" dirty="0"/>
              <a:t>1. Sparse representations (exclude 0s)</a:t>
            </a:r>
            <a:br>
              <a:rPr lang="en-US" sz="5700" dirty="0"/>
            </a:br>
            <a:br>
              <a:rPr lang="en-US" sz="5700" dirty="0"/>
            </a:br>
            <a:r>
              <a:rPr lang="en-US" sz="5700" dirty="0"/>
              <a:t>2. C++ backend</a:t>
            </a:r>
            <a:br>
              <a:rPr lang="en-US" sz="5700" dirty="0"/>
            </a:br>
            <a:br>
              <a:rPr lang="en-US" sz="5700" dirty="0"/>
            </a:br>
            <a:r>
              <a:rPr lang="en-US" sz="5700" dirty="0"/>
              <a:t>3. Parallel processing</a:t>
            </a:r>
            <a:br>
              <a:rPr lang="en-US" sz="5700" dirty="0"/>
            </a:br>
            <a:br>
              <a:rPr lang="en-US" sz="5700" dirty="0"/>
            </a:br>
            <a:r>
              <a:rPr lang="en-US" sz="5700" dirty="0"/>
              <a:t>4. Exclude unlikely ranges</a:t>
            </a:r>
          </a:p>
        </p:txBody>
      </p:sp>
    </p:spTree>
    <p:extLst>
      <p:ext uri="{BB962C8B-B14F-4D97-AF65-F5344CB8AC3E}">
        <p14:creationId xmlns:p14="http://schemas.microsoft.com/office/powerpoint/2010/main" val="1765463073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50240" y="517032"/>
            <a:ext cx="12065564" cy="3862596"/>
          </a:xfrm>
        </p:spPr>
        <p:txBody>
          <a:bodyPr/>
          <a:lstStyle/>
          <a:p>
            <a:r>
              <a:rPr lang="en-US" b="1" dirty="0"/>
              <a:t>More complex problems:</a:t>
            </a:r>
            <a:br>
              <a:rPr lang="en-US" b="1" dirty="0"/>
            </a:br>
            <a:br>
              <a:rPr lang="en-US" b="1" dirty="0"/>
            </a:br>
            <a:r>
              <a:rPr lang="en-US" sz="5700" dirty="0"/>
              <a:t>1. Trait-linked dispersal</a:t>
            </a:r>
            <a:br>
              <a:rPr lang="en-US" sz="5700" dirty="0"/>
            </a:br>
            <a:br>
              <a:rPr lang="en-US" sz="5700" dirty="0"/>
            </a:br>
            <a:r>
              <a:rPr lang="en-US" sz="5700" dirty="0"/>
              <a:t>2. Include speciation/extinction</a:t>
            </a:r>
          </a:p>
        </p:txBody>
      </p:sp>
    </p:spTree>
    <p:extLst>
      <p:ext uri="{BB962C8B-B14F-4D97-AF65-F5344CB8AC3E}">
        <p14:creationId xmlns:p14="http://schemas.microsoft.com/office/powerpoint/2010/main" val="1087638496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50240" y="-252871"/>
            <a:ext cx="12065564" cy="1083733"/>
          </a:xfrm>
        </p:spPr>
        <p:txBody>
          <a:bodyPr>
            <a:normAutofit/>
          </a:bodyPr>
          <a:lstStyle/>
          <a:p>
            <a:r>
              <a:rPr lang="en-US" b="1" dirty="0"/>
              <a:t>Trait-linked dispersal</a:t>
            </a:r>
            <a:endParaRPr lang="en-US" sz="5700" dirty="0"/>
          </a:p>
        </p:txBody>
      </p:sp>
    </p:spTree>
    <p:extLst>
      <p:ext uri="{BB962C8B-B14F-4D97-AF65-F5344CB8AC3E}">
        <p14:creationId xmlns:p14="http://schemas.microsoft.com/office/powerpoint/2010/main" val="1791914986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50240" y="-252871"/>
            <a:ext cx="12065564" cy="1083733"/>
          </a:xfrm>
        </p:spPr>
        <p:txBody>
          <a:bodyPr>
            <a:normAutofit/>
          </a:bodyPr>
          <a:lstStyle/>
          <a:p>
            <a:r>
              <a:rPr lang="en-US" b="1" dirty="0"/>
              <a:t>Trait-linked dispersal</a:t>
            </a:r>
            <a:endParaRPr lang="en-US" sz="5700" dirty="0"/>
          </a:p>
        </p:txBody>
      </p:sp>
    </p:spTree>
    <p:extLst>
      <p:ext uri="{BB962C8B-B14F-4D97-AF65-F5344CB8AC3E}">
        <p14:creationId xmlns:p14="http://schemas.microsoft.com/office/powerpoint/2010/main" val="2342514552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50240" y="-252871"/>
            <a:ext cx="12065564" cy="1083733"/>
          </a:xfrm>
        </p:spPr>
        <p:txBody>
          <a:bodyPr>
            <a:normAutofit/>
          </a:bodyPr>
          <a:lstStyle/>
          <a:p>
            <a:r>
              <a:rPr lang="en-US" b="1" dirty="0"/>
              <a:t>Trait-linked dispersal</a:t>
            </a:r>
            <a:endParaRPr lang="en-US" sz="57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749219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781" y="279964"/>
            <a:ext cx="12213023" cy="3016391"/>
          </a:xfrm>
        </p:spPr>
        <p:txBody>
          <a:bodyPr>
            <a:noAutofit/>
          </a:bodyPr>
          <a:lstStyle/>
          <a:p>
            <a:r>
              <a:rPr lang="en-US" sz="7700" dirty="0"/>
              <a:t>Biggest problem with all of these biogeography models: EXTINCTION</a:t>
            </a:r>
          </a:p>
        </p:txBody>
      </p:sp>
    </p:spTree>
    <p:extLst>
      <p:ext uri="{BB962C8B-B14F-4D97-AF65-F5344CB8AC3E}">
        <p14:creationId xmlns:p14="http://schemas.microsoft.com/office/powerpoint/2010/main" val="216949491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96356"/>
            <a:ext cx="13004800" cy="93334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781" y="279964"/>
            <a:ext cx="12213023" cy="3016391"/>
          </a:xfrm>
        </p:spPr>
        <p:txBody>
          <a:bodyPr>
            <a:noAutofit/>
          </a:bodyPr>
          <a:lstStyle/>
          <a:p>
            <a:r>
              <a:rPr lang="en-US" sz="7000" dirty="0"/>
              <a:t>Biggest problem with all of these biogeography models: EXTINCTION</a:t>
            </a:r>
          </a:p>
        </p:txBody>
      </p:sp>
    </p:spTree>
    <p:extLst>
      <p:ext uri="{BB962C8B-B14F-4D97-AF65-F5344CB8AC3E}">
        <p14:creationId xmlns:p14="http://schemas.microsoft.com/office/powerpoint/2010/main" val="806782570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781" y="279964"/>
            <a:ext cx="12213023" cy="3016391"/>
          </a:xfrm>
        </p:spPr>
        <p:txBody>
          <a:bodyPr>
            <a:noAutofit/>
          </a:bodyPr>
          <a:lstStyle/>
          <a:p>
            <a:r>
              <a:rPr lang="en-US" sz="7700" dirty="0"/>
              <a:t>Biggest problem with all of these biogeography models: EXTINCTION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376346" y="4398151"/>
            <a:ext cx="12213023" cy="3016391"/>
          </a:xfrm>
          <a:prstGeom prst="rect">
            <a:avLst/>
          </a:prstGeom>
        </p:spPr>
        <p:txBody>
          <a:bodyPr vert="horz" lIns="130046" tIns="65023" rIns="130046" bIns="65023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7700" b="1" dirty="0"/>
              <a:t>In biogeography: missing speciation events might change ranges!</a:t>
            </a:r>
          </a:p>
        </p:txBody>
      </p:sp>
    </p:spTree>
    <p:extLst>
      <p:ext uri="{BB962C8B-B14F-4D97-AF65-F5344CB8AC3E}">
        <p14:creationId xmlns:p14="http://schemas.microsoft.com/office/powerpoint/2010/main" val="3531984352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781" y="279964"/>
            <a:ext cx="12213023" cy="3016391"/>
          </a:xfrm>
        </p:spPr>
        <p:txBody>
          <a:bodyPr>
            <a:noAutofit/>
          </a:bodyPr>
          <a:lstStyle/>
          <a:p>
            <a:r>
              <a:rPr lang="en-US" sz="7700" dirty="0"/>
              <a:t>Biggest problem with all of these biogeography models: EXTINCTION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376346" y="4398151"/>
            <a:ext cx="12213023" cy="3016391"/>
          </a:xfrm>
          <a:prstGeom prst="rect">
            <a:avLst/>
          </a:prstGeom>
        </p:spPr>
        <p:txBody>
          <a:bodyPr vert="horz" lIns="130046" tIns="65023" rIns="130046" bIns="65023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7700" b="1" dirty="0"/>
              <a:t>Possible solution:</a:t>
            </a:r>
            <a:br>
              <a:rPr lang="en-US" sz="7700" b="1" dirty="0"/>
            </a:br>
            <a:r>
              <a:rPr lang="en-US" sz="7700" b="1" dirty="0"/>
              <a:t>ClaSSE model, but it is slow!</a:t>
            </a:r>
          </a:p>
        </p:txBody>
      </p:sp>
    </p:spTree>
    <p:extLst>
      <p:ext uri="{BB962C8B-B14F-4D97-AF65-F5344CB8AC3E}">
        <p14:creationId xmlns:p14="http://schemas.microsoft.com/office/powerpoint/2010/main" val="2165261697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81541" y="4183740"/>
            <a:ext cx="12923260" cy="2940186"/>
          </a:xfrm>
          <a:prstGeom prst="rect">
            <a:avLst/>
          </a:prstGeom>
        </p:spPr>
        <p:txBody>
          <a:bodyPr vert="horz" lIns="130046" tIns="65023" rIns="130046" bIns="65023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7700" b="1" dirty="0"/>
              <a:t>Biogeography models are just special cases of ClaSSE:</a:t>
            </a:r>
            <a:br>
              <a:rPr lang="en-US" sz="7700" b="1" dirty="0"/>
            </a:br>
            <a:br>
              <a:rPr lang="en-US" sz="7700" b="1" dirty="0"/>
            </a:br>
            <a:r>
              <a:rPr lang="en-US" sz="7700" b="1" dirty="0"/>
              <a:t>Extinction = 0 (Yule process)</a:t>
            </a:r>
          </a:p>
          <a:p>
            <a:r>
              <a:rPr lang="en-US" sz="7700" b="1" dirty="0"/>
              <a:t>Flat root state frequencies</a:t>
            </a:r>
          </a:p>
          <a:p>
            <a:r>
              <a:rPr lang="en-US" sz="7700" b="1" dirty="0"/>
              <a:t>State-dependent range-change at cladogenesis</a:t>
            </a:r>
          </a:p>
          <a:p>
            <a:endParaRPr lang="en-US" sz="7700" b="1" dirty="0"/>
          </a:p>
          <a:p>
            <a:endParaRPr lang="en-US" sz="7700" b="1" dirty="0"/>
          </a:p>
        </p:txBody>
      </p:sp>
    </p:spTree>
    <p:extLst>
      <p:ext uri="{BB962C8B-B14F-4D97-AF65-F5344CB8AC3E}">
        <p14:creationId xmlns:p14="http://schemas.microsoft.com/office/powerpoint/2010/main" val="983428820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791" y="0"/>
            <a:ext cx="10192711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663664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81541" y="3768308"/>
            <a:ext cx="12923260" cy="2940186"/>
          </a:xfrm>
          <a:prstGeom prst="rect">
            <a:avLst/>
          </a:prstGeom>
        </p:spPr>
        <p:txBody>
          <a:bodyPr vert="horz" lIns="130046" tIns="65023" rIns="130046" bIns="65023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7700" b="1" dirty="0"/>
              <a:t>Problem with ClaSSE:</a:t>
            </a:r>
          </a:p>
          <a:p>
            <a:endParaRPr lang="en-US" sz="7700" b="1" dirty="0"/>
          </a:p>
          <a:p>
            <a:r>
              <a:rPr lang="en-US" sz="7700" b="1" dirty="0"/>
              <a:t>Numeric integration used to approximate the likelihood</a:t>
            </a:r>
          </a:p>
          <a:p>
            <a:endParaRPr lang="en-US" sz="7700" b="1" dirty="0"/>
          </a:p>
          <a:p>
            <a:r>
              <a:rPr lang="en-US" sz="7700" b="1" dirty="0"/>
              <a:t>Even slower than matrix exponentiation!</a:t>
            </a:r>
          </a:p>
          <a:p>
            <a:endParaRPr lang="en-US" sz="7700" b="1" dirty="0"/>
          </a:p>
        </p:txBody>
      </p:sp>
    </p:spTree>
    <p:extLst>
      <p:ext uri="{BB962C8B-B14F-4D97-AF65-F5344CB8AC3E}">
        <p14:creationId xmlns:p14="http://schemas.microsoft.com/office/powerpoint/2010/main" val="1433425730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13375DF-43C2-B343-BF14-353ADDF146E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080" y="1697849"/>
            <a:ext cx="8489244" cy="7477759"/>
          </a:xfrm>
          <a:prstGeom prst="rect">
            <a:avLst/>
          </a:prstGeom>
          <a:solidFill>
            <a:schemeClr val="bg1"/>
          </a:solidFill>
          <a:extLst>
            <a:ext uri="{FAA26D3D-D897-4be2-8F04-BA451C77F1D7}">
              <ma14:placeholderFlag xmlns:ma14="http://schemas.microsoft.com/office/mac/drawingml/2011/main" xmlns=""/>
            </a:ext>
          </a:extLst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81541" y="480984"/>
            <a:ext cx="12923260" cy="1216865"/>
          </a:xfrm>
          <a:prstGeom prst="rect">
            <a:avLst/>
          </a:prstGeom>
        </p:spPr>
        <p:txBody>
          <a:bodyPr vert="horz" lIns="130046" tIns="65023" rIns="130046" bIns="65023" rtlCol="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7700" b="1" dirty="0"/>
              <a:t>Problem with ClaSSE:</a:t>
            </a:r>
          </a:p>
        </p:txBody>
      </p:sp>
    </p:spTree>
    <p:extLst>
      <p:ext uri="{BB962C8B-B14F-4D97-AF65-F5344CB8AC3E}">
        <p14:creationId xmlns:p14="http://schemas.microsoft.com/office/powerpoint/2010/main" val="4034466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1"/>
            <a:ext cx="13004800" cy="1308773"/>
          </a:xfrm>
          <a:prstGeom prst="rect">
            <a:avLst/>
          </a:prstGeom>
          <a:solidFill>
            <a:srgbClr val="000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0046" tIns="65023" rIns="130046" bIns="65023" rtlCol="0" anchor="ctr"/>
          <a:lstStyle/>
          <a:p>
            <a:pPr algn="ctr"/>
            <a:r>
              <a:rPr lang="en-US" sz="4000" dirty="0">
                <a:latin typeface="Cambria"/>
                <a:cs typeface="Cambria"/>
              </a:rPr>
              <a:t>Julia to the rescue?</a:t>
            </a:r>
            <a:endParaRPr lang="en-US" sz="4000" dirty="0"/>
          </a:p>
        </p:txBody>
      </p:sp>
      <p:sp>
        <p:nvSpPr>
          <p:cNvPr id="2" name="Rectangle 1"/>
          <p:cNvSpPr/>
          <p:nvPr/>
        </p:nvSpPr>
        <p:spPr>
          <a:xfrm>
            <a:off x="985790" y="1879029"/>
            <a:ext cx="11554553" cy="7210178"/>
          </a:xfrm>
          <a:prstGeom prst="rect">
            <a:avLst/>
          </a:prstGeom>
        </p:spPr>
        <p:txBody>
          <a:bodyPr wrap="square" lIns="130046" tIns="65023" rIns="130046" bIns="65023">
            <a:spAutoFit/>
          </a:bodyPr>
          <a:lstStyle/>
          <a:p>
            <a:r>
              <a:rPr lang="en-AU" sz="4600" dirty="0"/>
              <a:t>Julia 1.0 released in early 2019, after many years &lt;1.0</a:t>
            </a:r>
          </a:p>
          <a:p>
            <a:endParaRPr lang="en-AU" sz="4600" dirty="0"/>
          </a:p>
          <a:p>
            <a:r>
              <a:rPr lang="en-AU" sz="4600" dirty="0"/>
              <a:t>Core developers at MIT</a:t>
            </a:r>
          </a:p>
          <a:p>
            <a:endParaRPr lang="en-AU" sz="4600" dirty="0"/>
          </a:p>
          <a:p>
            <a:r>
              <a:rPr lang="en-AU" sz="4600" dirty="0"/>
              <a:t>Aims to have R/Python-like usage</a:t>
            </a:r>
          </a:p>
          <a:p>
            <a:endParaRPr lang="en-AU" sz="4600" dirty="0"/>
          </a:p>
          <a:p>
            <a:r>
              <a:rPr lang="en-AU" sz="4600" dirty="0"/>
              <a:t>But compiles to C-like speeds</a:t>
            </a:r>
          </a:p>
          <a:p>
            <a:endParaRPr lang="en-AU" sz="4600" dirty="0"/>
          </a:p>
          <a:p>
            <a:r>
              <a:rPr lang="en-AU" sz="4600" dirty="0"/>
              <a:t>KEY advantage: </a:t>
            </a:r>
            <a:r>
              <a:rPr lang="en-AU" sz="4600" dirty="0" err="1"/>
              <a:t>DifferentialEquations.jl</a:t>
            </a:r>
            <a:r>
              <a:rPr lang="en-AU" sz="4600" dirty="0"/>
              <a:t> library</a:t>
            </a:r>
            <a:endParaRPr lang="en-US" sz="4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C68A55-7BDE-7148-8A7A-BD0537DB3A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481" y="2826118"/>
            <a:ext cx="3578862" cy="2403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149743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1"/>
            <a:ext cx="13004800" cy="1308773"/>
          </a:xfrm>
          <a:prstGeom prst="rect">
            <a:avLst/>
          </a:prstGeom>
          <a:solidFill>
            <a:srgbClr val="000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0046" tIns="65023" rIns="130046" bIns="65023" rtlCol="0" anchor="ctr"/>
          <a:lstStyle/>
          <a:p>
            <a:pPr algn="ctr"/>
            <a:r>
              <a:rPr lang="en-US" sz="4000" dirty="0">
                <a:latin typeface="Cambria"/>
                <a:cs typeface="Cambria"/>
              </a:rPr>
              <a:t>Julia to the rescue?</a:t>
            </a:r>
            <a:endParaRPr lang="en-US" sz="4000" dirty="0"/>
          </a:p>
        </p:txBody>
      </p:sp>
      <p:sp>
        <p:nvSpPr>
          <p:cNvPr id="2" name="Rectangle 1"/>
          <p:cNvSpPr/>
          <p:nvPr/>
        </p:nvSpPr>
        <p:spPr>
          <a:xfrm>
            <a:off x="985790" y="1879029"/>
            <a:ext cx="11554553" cy="7210178"/>
          </a:xfrm>
          <a:prstGeom prst="rect">
            <a:avLst/>
          </a:prstGeom>
        </p:spPr>
        <p:txBody>
          <a:bodyPr wrap="square" lIns="130046" tIns="65023" rIns="130046" bIns="65023">
            <a:spAutoFit/>
          </a:bodyPr>
          <a:lstStyle/>
          <a:p>
            <a:r>
              <a:rPr lang="en-AU" sz="4600" dirty="0"/>
              <a:t>Julia 1.0 released in early 2019, after many years &lt;1.0</a:t>
            </a:r>
          </a:p>
          <a:p>
            <a:endParaRPr lang="en-AU" sz="4600" dirty="0"/>
          </a:p>
          <a:p>
            <a:r>
              <a:rPr lang="en-AU" sz="4600" dirty="0"/>
              <a:t>Core developers at MIT</a:t>
            </a:r>
          </a:p>
          <a:p>
            <a:endParaRPr lang="en-AU" sz="4600" dirty="0"/>
          </a:p>
          <a:p>
            <a:r>
              <a:rPr lang="en-AU" sz="4600" dirty="0"/>
              <a:t>Aims to have R/Python-like usage</a:t>
            </a:r>
          </a:p>
          <a:p>
            <a:endParaRPr lang="en-AU" sz="4600" dirty="0"/>
          </a:p>
          <a:p>
            <a:r>
              <a:rPr lang="en-AU" sz="4600" dirty="0"/>
              <a:t>But compiles to C-like speeds</a:t>
            </a:r>
          </a:p>
          <a:p>
            <a:endParaRPr lang="en-AU" sz="4600" dirty="0"/>
          </a:p>
          <a:p>
            <a:r>
              <a:rPr lang="en-AU" sz="4600" dirty="0"/>
              <a:t>KEY advantage: </a:t>
            </a:r>
            <a:r>
              <a:rPr lang="en-AU" sz="4600" dirty="0" err="1"/>
              <a:t>DifferentialEquations.jl</a:t>
            </a:r>
            <a:r>
              <a:rPr lang="en-AU" sz="4600" dirty="0"/>
              <a:t> library</a:t>
            </a:r>
            <a:endParaRPr lang="en-US" sz="46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178" y="0"/>
            <a:ext cx="11724762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805656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1"/>
            <a:ext cx="13004800" cy="1308773"/>
          </a:xfrm>
          <a:prstGeom prst="rect">
            <a:avLst/>
          </a:prstGeom>
          <a:solidFill>
            <a:srgbClr val="000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0046" tIns="65023" rIns="130046" bIns="65023" rtlCol="0" anchor="ctr"/>
          <a:lstStyle/>
          <a:p>
            <a:pPr algn="ctr"/>
            <a:r>
              <a:rPr lang="en-US" sz="4000" dirty="0">
                <a:latin typeface="Cambria"/>
                <a:cs typeface="Cambria"/>
              </a:rPr>
              <a:t>Julia to the rescue?</a:t>
            </a:r>
            <a:endParaRPr lang="en-US" sz="4000" dirty="0"/>
          </a:p>
        </p:txBody>
      </p:sp>
      <p:sp>
        <p:nvSpPr>
          <p:cNvPr id="3" name="Rectangle 2"/>
          <p:cNvSpPr/>
          <p:nvPr/>
        </p:nvSpPr>
        <p:spPr>
          <a:xfrm>
            <a:off x="7169414" y="9276178"/>
            <a:ext cx="8209279" cy="437727"/>
          </a:xfrm>
          <a:prstGeom prst="rect">
            <a:avLst/>
          </a:prstGeom>
        </p:spPr>
        <p:txBody>
          <a:bodyPr wrap="square" lIns="130046" tIns="65023" rIns="130046" bIns="65023">
            <a:spAutoFit/>
          </a:bodyPr>
          <a:lstStyle/>
          <a:p>
            <a:r>
              <a:rPr lang="en-US" sz="2000" dirty="0"/>
              <a:t>https://</a:t>
            </a:r>
            <a:r>
              <a:rPr lang="en-US" sz="2000" dirty="0" err="1"/>
              <a:t>github.com</a:t>
            </a:r>
            <a:r>
              <a:rPr lang="en-US" sz="2000" dirty="0"/>
              <a:t>/</a:t>
            </a:r>
            <a:r>
              <a:rPr lang="en-US" sz="2000" dirty="0" err="1"/>
              <a:t>JuliaDiffEq</a:t>
            </a:r>
            <a:r>
              <a:rPr lang="en-US" sz="2000" dirty="0"/>
              <a:t>/</a:t>
            </a:r>
            <a:r>
              <a:rPr lang="en-US" sz="2000" dirty="0" err="1"/>
              <a:t>DifferentialEquations.jl</a:t>
            </a:r>
            <a:endParaRPr lang="en-US" sz="2000" dirty="0"/>
          </a:p>
        </p:txBody>
      </p:sp>
      <p:sp>
        <p:nvSpPr>
          <p:cNvPr id="4" name="Rectangle 3"/>
          <p:cNvSpPr/>
          <p:nvPr/>
        </p:nvSpPr>
        <p:spPr>
          <a:xfrm>
            <a:off x="317941" y="1517783"/>
            <a:ext cx="11237805" cy="1547088"/>
          </a:xfrm>
          <a:prstGeom prst="rect">
            <a:avLst/>
          </a:prstGeom>
        </p:spPr>
        <p:txBody>
          <a:bodyPr wrap="none" lIns="130046" tIns="65023" rIns="130046" bIns="65023">
            <a:spAutoFit/>
          </a:bodyPr>
          <a:lstStyle/>
          <a:p>
            <a:r>
              <a:rPr lang="en-AU" sz="4600" dirty="0"/>
              <a:t>KEY advantage: </a:t>
            </a:r>
            <a:r>
              <a:rPr lang="en-AU" sz="4600" i="1" dirty="0" err="1"/>
              <a:t>DifferentialEquations.jl</a:t>
            </a:r>
            <a:r>
              <a:rPr lang="en-AU" sz="4600" dirty="0"/>
              <a:t> library</a:t>
            </a:r>
            <a:br>
              <a:rPr lang="en-AU" sz="4600" dirty="0"/>
            </a:br>
            <a:r>
              <a:rPr lang="en-AU" sz="4600" dirty="0"/>
              <a:t>                             by Chris </a:t>
            </a:r>
            <a:r>
              <a:rPr lang="en-AU" sz="4600" dirty="0" err="1"/>
              <a:t>Rackauckas</a:t>
            </a:r>
            <a:endParaRPr lang="en-US" sz="4600" dirty="0"/>
          </a:p>
        </p:txBody>
      </p:sp>
    </p:spTree>
    <p:extLst>
      <p:ext uri="{BB962C8B-B14F-4D97-AF65-F5344CB8AC3E}">
        <p14:creationId xmlns:p14="http://schemas.microsoft.com/office/powerpoint/2010/main" val="3988354731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1"/>
            <a:ext cx="13004800" cy="1308773"/>
          </a:xfrm>
          <a:prstGeom prst="rect">
            <a:avLst/>
          </a:prstGeom>
          <a:solidFill>
            <a:srgbClr val="000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0046" tIns="65023" rIns="130046" bIns="65023" rtlCol="0" anchor="ctr"/>
          <a:lstStyle/>
          <a:p>
            <a:pPr algn="ctr"/>
            <a:r>
              <a:rPr lang="en-US" sz="4000" dirty="0">
                <a:latin typeface="Cambria"/>
                <a:cs typeface="Cambria"/>
              </a:rPr>
              <a:t>Julia to the rescue?</a:t>
            </a:r>
            <a:endParaRPr lang="en-US" sz="4000" dirty="0"/>
          </a:p>
        </p:txBody>
      </p:sp>
      <p:sp>
        <p:nvSpPr>
          <p:cNvPr id="4" name="Rectangle 3"/>
          <p:cNvSpPr/>
          <p:nvPr/>
        </p:nvSpPr>
        <p:spPr>
          <a:xfrm>
            <a:off x="317941" y="1517783"/>
            <a:ext cx="11259408" cy="839202"/>
          </a:xfrm>
          <a:prstGeom prst="rect">
            <a:avLst/>
          </a:prstGeom>
        </p:spPr>
        <p:txBody>
          <a:bodyPr wrap="none" lIns="130046" tIns="65023" rIns="130046" bIns="65023">
            <a:spAutoFit/>
          </a:bodyPr>
          <a:lstStyle/>
          <a:p>
            <a:r>
              <a:rPr lang="en-AU" sz="4600" dirty="0"/>
              <a:t>KEY advantage: </a:t>
            </a:r>
            <a:r>
              <a:rPr lang="en-AU" sz="4600" dirty="0" err="1"/>
              <a:t>DifferentialEquations.jl</a:t>
            </a:r>
            <a:r>
              <a:rPr lang="en-AU" sz="4600" dirty="0"/>
              <a:t> library</a:t>
            </a:r>
            <a:endParaRPr lang="en-US" sz="4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9639" y="206425"/>
            <a:ext cx="13349321" cy="950747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169414" y="9276178"/>
            <a:ext cx="8209279" cy="437727"/>
          </a:xfrm>
          <a:prstGeom prst="rect">
            <a:avLst/>
          </a:prstGeom>
        </p:spPr>
        <p:txBody>
          <a:bodyPr wrap="square" lIns="130046" tIns="65023" rIns="130046" bIns="65023">
            <a:spAutoFit/>
          </a:bodyPr>
          <a:lstStyle/>
          <a:p>
            <a:r>
              <a:rPr lang="en-US" sz="2000" dirty="0"/>
              <a:t>https://</a:t>
            </a:r>
            <a:r>
              <a:rPr lang="en-US" sz="2000" dirty="0" err="1"/>
              <a:t>github.com</a:t>
            </a:r>
            <a:r>
              <a:rPr lang="en-US" sz="2000" dirty="0"/>
              <a:t>/</a:t>
            </a:r>
            <a:r>
              <a:rPr lang="en-US" sz="2000" dirty="0" err="1"/>
              <a:t>JuliaDiffEq</a:t>
            </a:r>
            <a:r>
              <a:rPr lang="en-US" sz="2000" dirty="0"/>
              <a:t>/</a:t>
            </a:r>
            <a:r>
              <a:rPr lang="en-US" sz="2000" dirty="0" err="1"/>
              <a:t>DifferentialEquations.jl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51400217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1"/>
            <a:ext cx="13004800" cy="1308773"/>
          </a:xfrm>
          <a:prstGeom prst="rect">
            <a:avLst/>
          </a:prstGeom>
          <a:solidFill>
            <a:srgbClr val="000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0046" tIns="65023" rIns="130046" bIns="65023" rtlCol="0" anchor="ctr"/>
          <a:lstStyle/>
          <a:p>
            <a:pPr algn="ctr"/>
            <a:r>
              <a:rPr lang="en-US" sz="4000" dirty="0">
                <a:latin typeface="Cambria"/>
                <a:cs typeface="Cambria"/>
              </a:rPr>
              <a:t>Julia to the rescue?</a:t>
            </a:r>
            <a:endParaRPr lang="en-US" sz="4000" dirty="0"/>
          </a:p>
        </p:txBody>
      </p:sp>
      <p:sp>
        <p:nvSpPr>
          <p:cNvPr id="3" name="Rectangle 2"/>
          <p:cNvSpPr/>
          <p:nvPr/>
        </p:nvSpPr>
        <p:spPr>
          <a:xfrm>
            <a:off x="7169414" y="9276178"/>
            <a:ext cx="8209279" cy="437727"/>
          </a:xfrm>
          <a:prstGeom prst="rect">
            <a:avLst/>
          </a:prstGeom>
        </p:spPr>
        <p:txBody>
          <a:bodyPr wrap="square" lIns="130046" tIns="65023" rIns="130046" bIns="65023">
            <a:spAutoFit/>
          </a:bodyPr>
          <a:lstStyle/>
          <a:p>
            <a:r>
              <a:rPr lang="en-US" sz="2000" dirty="0"/>
              <a:t>https://</a:t>
            </a:r>
            <a:r>
              <a:rPr lang="en-US" sz="2000" dirty="0" err="1"/>
              <a:t>github.com</a:t>
            </a:r>
            <a:r>
              <a:rPr lang="en-US" sz="2000" dirty="0"/>
              <a:t>/</a:t>
            </a:r>
            <a:r>
              <a:rPr lang="en-US" sz="2000" dirty="0" err="1"/>
              <a:t>JuliaDiffEq</a:t>
            </a:r>
            <a:r>
              <a:rPr lang="en-US" sz="2000" dirty="0"/>
              <a:t>/</a:t>
            </a:r>
            <a:r>
              <a:rPr lang="en-US" sz="2000" dirty="0" err="1"/>
              <a:t>DifferentialEquations.jl</a:t>
            </a:r>
            <a:endParaRPr lang="en-US" sz="2000" dirty="0"/>
          </a:p>
        </p:txBody>
      </p:sp>
      <p:sp>
        <p:nvSpPr>
          <p:cNvPr id="4" name="Rectangle 3"/>
          <p:cNvSpPr/>
          <p:nvPr/>
        </p:nvSpPr>
        <p:spPr>
          <a:xfrm>
            <a:off x="317941" y="1517783"/>
            <a:ext cx="11237805" cy="1547088"/>
          </a:xfrm>
          <a:prstGeom prst="rect">
            <a:avLst/>
          </a:prstGeom>
        </p:spPr>
        <p:txBody>
          <a:bodyPr wrap="none" lIns="130046" tIns="65023" rIns="130046" bIns="65023">
            <a:spAutoFit/>
          </a:bodyPr>
          <a:lstStyle/>
          <a:p>
            <a:r>
              <a:rPr lang="en-AU" sz="4600" dirty="0"/>
              <a:t>KEY advantage: </a:t>
            </a:r>
            <a:r>
              <a:rPr lang="en-AU" sz="4600" i="1" dirty="0" err="1"/>
              <a:t>DifferentialEquations.jl</a:t>
            </a:r>
            <a:r>
              <a:rPr lang="en-AU" sz="4600" dirty="0"/>
              <a:t> library</a:t>
            </a:r>
            <a:br>
              <a:rPr lang="en-AU" sz="4600" dirty="0"/>
            </a:br>
            <a:r>
              <a:rPr lang="en-AU" sz="4600" dirty="0"/>
              <a:t>                             by Chris </a:t>
            </a:r>
            <a:r>
              <a:rPr lang="en-AU" sz="4600" dirty="0" err="1"/>
              <a:t>Rackauckas</a:t>
            </a:r>
            <a:endParaRPr lang="en-US" sz="46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618" y="0"/>
            <a:ext cx="12052764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333763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1"/>
            <a:ext cx="13004800" cy="1308773"/>
          </a:xfrm>
          <a:prstGeom prst="rect">
            <a:avLst/>
          </a:prstGeom>
          <a:solidFill>
            <a:srgbClr val="000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0046" tIns="65023" rIns="130046" bIns="65023" rtlCol="0" anchor="ctr"/>
          <a:lstStyle/>
          <a:p>
            <a:pPr algn="ctr"/>
            <a:r>
              <a:rPr lang="en-US" sz="4000" dirty="0">
                <a:latin typeface="Cambria"/>
                <a:cs typeface="Cambria"/>
              </a:rPr>
              <a:t>ClaSSE model in </a:t>
            </a:r>
            <a:r>
              <a:rPr lang="en-US" sz="4000" i="1" dirty="0">
                <a:latin typeface="Cambria"/>
                <a:cs typeface="Cambria"/>
              </a:rPr>
              <a:t>Julia</a:t>
            </a:r>
            <a:endParaRPr lang="en-US" sz="4000" i="1" dirty="0"/>
          </a:p>
        </p:txBody>
      </p:sp>
      <p:sp>
        <p:nvSpPr>
          <p:cNvPr id="3" name="Rectangle 2"/>
          <p:cNvSpPr/>
          <p:nvPr/>
        </p:nvSpPr>
        <p:spPr>
          <a:xfrm>
            <a:off x="7169414" y="9276178"/>
            <a:ext cx="8209279" cy="437727"/>
          </a:xfrm>
          <a:prstGeom prst="rect">
            <a:avLst/>
          </a:prstGeom>
        </p:spPr>
        <p:txBody>
          <a:bodyPr wrap="square" lIns="130046" tIns="65023" rIns="130046" bIns="65023">
            <a:spAutoFit/>
          </a:bodyPr>
          <a:lstStyle/>
          <a:p>
            <a:r>
              <a:rPr lang="en-US" sz="2000" dirty="0"/>
              <a:t>https://</a:t>
            </a:r>
            <a:r>
              <a:rPr lang="en-US" sz="2000" dirty="0" err="1"/>
              <a:t>github.com</a:t>
            </a:r>
            <a:r>
              <a:rPr lang="en-US" sz="2000" dirty="0"/>
              <a:t>/</a:t>
            </a:r>
            <a:r>
              <a:rPr lang="en-US" sz="2000" dirty="0" err="1"/>
              <a:t>JuliaDiffEq</a:t>
            </a:r>
            <a:r>
              <a:rPr lang="en-US" sz="2000" dirty="0"/>
              <a:t>/</a:t>
            </a:r>
            <a:r>
              <a:rPr lang="en-US" sz="2000" dirty="0" err="1"/>
              <a:t>DifferentialEquations.jl</a:t>
            </a:r>
            <a:endParaRPr lang="en-US" sz="2000" dirty="0"/>
          </a:p>
        </p:txBody>
      </p:sp>
      <p:sp>
        <p:nvSpPr>
          <p:cNvPr id="4" name="Rectangle 3"/>
          <p:cNvSpPr/>
          <p:nvPr/>
        </p:nvSpPr>
        <p:spPr>
          <a:xfrm>
            <a:off x="317941" y="1517783"/>
            <a:ext cx="12981596" cy="10041722"/>
          </a:xfrm>
          <a:prstGeom prst="rect">
            <a:avLst/>
          </a:prstGeom>
        </p:spPr>
        <p:txBody>
          <a:bodyPr wrap="none" lIns="130046" tIns="65023" rIns="130046" bIns="65023">
            <a:spAutoFit/>
          </a:bodyPr>
          <a:lstStyle/>
          <a:p>
            <a:r>
              <a:rPr lang="en-AU" sz="4600" dirty="0"/>
              <a:t>Methods:</a:t>
            </a:r>
          </a:p>
          <a:p>
            <a:endParaRPr lang="en-AU" sz="4600" dirty="0"/>
          </a:p>
          <a:p>
            <a:r>
              <a:rPr lang="en-AU" sz="4600" dirty="0"/>
              <a:t>1. Made basic calculation as fast as possible in Julia</a:t>
            </a:r>
            <a:br>
              <a:rPr lang="en-AU" sz="4600" dirty="0"/>
            </a:br>
            <a:r>
              <a:rPr lang="en-AU" sz="4600" dirty="0"/>
              <a:t>     - fully used </a:t>
            </a:r>
            <a:r>
              <a:rPr lang="en-AU" sz="4600" dirty="0" err="1"/>
              <a:t>sparsity</a:t>
            </a:r>
            <a:br>
              <a:rPr lang="en-AU" sz="4600" dirty="0"/>
            </a:br>
            <a:r>
              <a:rPr lang="en-AU" sz="4600" dirty="0"/>
              <a:t>     - all parameter arrays &amp; indexing pre-allocated</a:t>
            </a:r>
            <a:br>
              <a:rPr lang="en-AU" sz="4600" dirty="0"/>
            </a:br>
            <a:r>
              <a:rPr lang="en-AU" sz="4600" dirty="0"/>
              <a:t>     - minimized Garbage Collection with @benchmark</a:t>
            </a:r>
            <a:br>
              <a:rPr lang="en-AU" sz="4600" dirty="0"/>
            </a:br>
            <a:r>
              <a:rPr lang="en-AU" sz="4600" dirty="0"/>
              <a:t>       &amp; advice from </a:t>
            </a:r>
            <a:r>
              <a:rPr lang="en-AU" sz="4600" dirty="0" err="1"/>
              <a:t>DifferentialEquations</a:t>
            </a:r>
            <a:br>
              <a:rPr lang="en-AU" sz="4600" dirty="0"/>
            </a:br>
            <a:r>
              <a:rPr lang="en-AU" sz="4600" dirty="0"/>
              <a:t>       help forum (including </a:t>
            </a:r>
            <a:r>
              <a:rPr lang="en-AU" sz="4600" dirty="0" err="1"/>
              <a:t>Rackauckas</a:t>
            </a:r>
            <a:r>
              <a:rPr lang="en-AU" sz="4600" dirty="0"/>
              <a:t>)</a:t>
            </a:r>
          </a:p>
          <a:p>
            <a:r>
              <a:rPr lang="en-AU" sz="4600" dirty="0"/>
              <a:t>2. </a:t>
            </a:r>
            <a:r>
              <a:rPr lang="en-AU" sz="4600" dirty="0" err="1"/>
              <a:t>Precalculate</a:t>
            </a:r>
            <a:r>
              <a:rPr lang="en-AU" sz="4600" dirty="0"/>
              <a:t> “</a:t>
            </a:r>
            <a:r>
              <a:rPr lang="en-AU" sz="4600" dirty="0" err="1"/>
              <a:t>Es</a:t>
            </a:r>
            <a:r>
              <a:rPr lang="en-AU" sz="4600" dirty="0"/>
              <a:t>” (conditional extinction </a:t>
            </a:r>
            <a:br>
              <a:rPr lang="en-AU" sz="4600" dirty="0"/>
            </a:br>
            <a:r>
              <a:rPr lang="en-AU" sz="4600" dirty="0"/>
              <a:t>     probabilities) once, then interpolate for “Ds” </a:t>
            </a:r>
            <a:br>
              <a:rPr lang="en-AU" sz="4600" dirty="0"/>
            </a:br>
            <a:r>
              <a:rPr lang="en-AU" sz="4600" dirty="0"/>
              <a:t>     (observed data probabilities)</a:t>
            </a:r>
          </a:p>
          <a:p>
            <a:br>
              <a:rPr lang="en-AU" sz="4600" dirty="0"/>
            </a:br>
            <a:endParaRPr lang="en-AU" sz="4600" dirty="0"/>
          </a:p>
          <a:p>
            <a:endParaRPr lang="en-US" sz="4600" dirty="0"/>
          </a:p>
        </p:txBody>
      </p:sp>
    </p:spTree>
    <p:extLst>
      <p:ext uri="{BB962C8B-B14F-4D97-AF65-F5344CB8AC3E}">
        <p14:creationId xmlns:p14="http://schemas.microsoft.com/office/powerpoint/2010/main" val="3698835442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1"/>
            <a:ext cx="13004800" cy="1308773"/>
          </a:xfrm>
          <a:prstGeom prst="rect">
            <a:avLst/>
          </a:prstGeom>
          <a:solidFill>
            <a:srgbClr val="000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0046" tIns="65023" rIns="130046" bIns="65023" rtlCol="0" anchor="ctr"/>
          <a:lstStyle/>
          <a:p>
            <a:pPr algn="ctr"/>
            <a:r>
              <a:rPr lang="en-US" sz="4000" dirty="0">
                <a:latin typeface="Cambria"/>
                <a:cs typeface="Cambria"/>
              </a:rPr>
              <a:t>ClaSSE model in </a:t>
            </a:r>
            <a:r>
              <a:rPr lang="en-US" sz="4000" i="1" dirty="0">
                <a:latin typeface="Cambria"/>
                <a:cs typeface="Cambria"/>
              </a:rPr>
              <a:t>Julia</a:t>
            </a:r>
            <a:endParaRPr lang="en-US" sz="4000" i="1" dirty="0"/>
          </a:p>
        </p:txBody>
      </p:sp>
      <p:sp>
        <p:nvSpPr>
          <p:cNvPr id="3" name="Rectangle 2"/>
          <p:cNvSpPr/>
          <p:nvPr/>
        </p:nvSpPr>
        <p:spPr>
          <a:xfrm>
            <a:off x="7169414" y="9276178"/>
            <a:ext cx="8209279" cy="437727"/>
          </a:xfrm>
          <a:prstGeom prst="rect">
            <a:avLst/>
          </a:prstGeom>
        </p:spPr>
        <p:txBody>
          <a:bodyPr wrap="square" lIns="130046" tIns="65023" rIns="130046" bIns="65023">
            <a:spAutoFit/>
          </a:bodyPr>
          <a:lstStyle/>
          <a:p>
            <a:r>
              <a:rPr lang="en-US" sz="2000" dirty="0"/>
              <a:t>https://</a:t>
            </a:r>
            <a:r>
              <a:rPr lang="en-US" sz="2000" dirty="0" err="1"/>
              <a:t>github.com</a:t>
            </a:r>
            <a:r>
              <a:rPr lang="en-US" sz="2000" dirty="0"/>
              <a:t>/</a:t>
            </a:r>
            <a:r>
              <a:rPr lang="en-US" sz="2000" dirty="0" err="1"/>
              <a:t>JuliaDiffEq</a:t>
            </a:r>
            <a:r>
              <a:rPr lang="en-US" sz="2000" dirty="0"/>
              <a:t>/</a:t>
            </a:r>
            <a:r>
              <a:rPr lang="en-US" sz="2000" dirty="0" err="1"/>
              <a:t>DifferentialEquations.jl</a:t>
            </a:r>
            <a:endParaRPr lang="en-US" sz="2000" dirty="0"/>
          </a:p>
        </p:txBody>
      </p:sp>
      <p:sp>
        <p:nvSpPr>
          <p:cNvPr id="4" name="Rectangle 3"/>
          <p:cNvSpPr/>
          <p:nvPr/>
        </p:nvSpPr>
        <p:spPr>
          <a:xfrm>
            <a:off x="317942" y="1517783"/>
            <a:ext cx="12212818" cy="7918064"/>
          </a:xfrm>
          <a:prstGeom prst="rect">
            <a:avLst/>
          </a:prstGeom>
        </p:spPr>
        <p:txBody>
          <a:bodyPr wrap="none" lIns="130046" tIns="65023" rIns="130046" bIns="65023">
            <a:spAutoFit/>
          </a:bodyPr>
          <a:lstStyle/>
          <a:p>
            <a:r>
              <a:rPr lang="en-AU" sz="4600" dirty="0"/>
              <a:t>Methods:</a:t>
            </a:r>
          </a:p>
          <a:p>
            <a:endParaRPr lang="en-AU" sz="4600" dirty="0"/>
          </a:p>
          <a:p>
            <a:r>
              <a:rPr lang="en-AU" sz="4600" dirty="0"/>
              <a:t>3. Compare Julia’s many available differential </a:t>
            </a:r>
            <a:br>
              <a:rPr lang="en-AU" sz="4600" dirty="0"/>
            </a:br>
            <a:r>
              <a:rPr lang="en-AU" sz="4600" dirty="0"/>
              <a:t>     equation solvers with Work-Precision diagrams</a:t>
            </a:r>
            <a:br>
              <a:rPr lang="en-AU" sz="4600" dirty="0"/>
            </a:br>
            <a:br>
              <a:rPr lang="en-AU" sz="4600" dirty="0"/>
            </a:br>
            <a:r>
              <a:rPr lang="en-AU" sz="4600" dirty="0"/>
              <a:t>     - from 2-11 areas</a:t>
            </a:r>
            <a:br>
              <a:rPr lang="en-AU" sz="4600" dirty="0"/>
            </a:br>
            <a:r>
              <a:rPr lang="en-AU" sz="4600" dirty="0"/>
              <a:t>     - i.e. from 4-2048 states (geographic ranges)</a:t>
            </a:r>
            <a:br>
              <a:rPr lang="en-AU" sz="4600" dirty="0"/>
            </a:br>
            <a:r>
              <a:rPr lang="en-AU" sz="4600" dirty="0"/>
              <a:t>     - i.e. systems of 8-4048 differential equations</a:t>
            </a:r>
          </a:p>
          <a:p>
            <a:br>
              <a:rPr lang="en-AU" sz="4600" dirty="0"/>
            </a:br>
            <a:endParaRPr lang="en-AU" sz="4600" dirty="0"/>
          </a:p>
          <a:p>
            <a:endParaRPr lang="en-US" sz="4600" dirty="0"/>
          </a:p>
        </p:txBody>
      </p:sp>
    </p:spTree>
    <p:extLst>
      <p:ext uri="{BB962C8B-B14F-4D97-AF65-F5344CB8AC3E}">
        <p14:creationId xmlns:p14="http://schemas.microsoft.com/office/powerpoint/2010/main" val="2040635735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600" y="0"/>
            <a:ext cx="97536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056201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600" y="0"/>
            <a:ext cx="97536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049013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600" y="0"/>
            <a:ext cx="97536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188027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600" y="0"/>
            <a:ext cx="97536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757397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600" y="0"/>
            <a:ext cx="97536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06970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600" y="0"/>
            <a:ext cx="97536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00728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600" y="0"/>
            <a:ext cx="97536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034127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600" y="0"/>
            <a:ext cx="97536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360128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600" y="0"/>
            <a:ext cx="97536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266093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600" y="0"/>
            <a:ext cx="97536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628705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1770361" y="1444977"/>
            <a:ext cx="9548632" cy="8098749"/>
            <a:chOff x="4954045" y="1735629"/>
            <a:chExt cx="3608328" cy="3415869"/>
          </a:xfrm>
        </p:grpSpPr>
        <p:grpSp>
          <p:nvGrpSpPr>
            <p:cNvPr id="19" name="Group 18"/>
            <p:cNvGrpSpPr/>
            <p:nvPr/>
          </p:nvGrpSpPr>
          <p:grpSpPr>
            <a:xfrm>
              <a:off x="4954045" y="1735629"/>
              <a:ext cx="3608328" cy="3415869"/>
              <a:chOff x="4954045" y="1735629"/>
              <a:chExt cx="3608328" cy="3415869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2A831950-A355-B146-AE1D-22C20255A8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954045" y="1735629"/>
                <a:ext cx="3432800" cy="3415869"/>
              </a:xfrm>
              <a:prstGeom prst="rect">
                <a:avLst/>
              </a:prstGeom>
            </p:spPr>
          </p:pic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58E03E0-6E36-8B4F-992C-1663801F0A4B}"/>
                  </a:ext>
                </a:extLst>
              </p:cNvPr>
              <p:cNvSpPr/>
              <p:nvPr/>
            </p:nvSpPr>
            <p:spPr>
              <a:xfrm>
                <a:off x="7521880" y="1850122"/>
                <a:ext cx="444708" cy="3512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5588000" y="3405188"/>
                <a:ext cx="357188" cy="2143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575ED67-2B17-5F41-B9DE-133489CFCDF0}"/>
                  </a:ext>
                </a:extLst>
              </p:cNvPr>
              <p:cNvSpPr/>
              <p:nvPr/>
            </p:nvSpPr>
            <p:spPr>
              <a:xfrm>
                <a:off x="7193859" y="1935122"/>
                <a:ext cx="1368514" cy="1687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sz="2000" b="1" dirty="0">
                    <a:solidFill>
                      <a:srgbClr val="FD715B"/>
                    </a:solidFill>
                  </a:rPr>
                  <a:t>?</a:t>
                </a:r>
                <a:r>
                  <a:rPr lang="en-US" sz="2000" dirty="0">
                    <a:solidFill>
                      <a:srgbClr val="FD715B"/>
                    </a:solidFill>
                  </a:rPr>
                  <a:t> (28 days &amp; counting)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575ED67-2B17-5F41-B9DE-133489CFCDF0}"/>
                </a:ext>
              </a:extLst>
            </p:cNvPr>
            <p:cNvSpPr/>
            <p:nvPr/>
          </p:nvSpPr>
          <p:spPr>
            <a:xfrm>
              <a:off x="7668800" y="2783187"/>
              <a:ext cx="780674" cy="1687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15 min.</a:t>
              </a:r>
            </a:p>
          </p:txBody>
        </p:sp>
      </p:grp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A7958265-3EE4-3344-B32E-98F5F3636672}"/>
              </a:ext>
            </a:extLst>
          </p:cNvPr>
          <p:cNvSpPr/>
          <p:nvPr/>
        </p:nvSpPr>
        <p:spPr>
          <a:xfrm>
            <a:off x="3919479" y="1682028"/>
            <a:ext cx="2211226" cy="67277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accent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0046" tIns="65023" rIns="130046" bIns="65023" rtlCol="0" anchor="t"/>
          <a:lstStyle/>
          <a:p>
            <a:pPr algn="ctr"/>
            <a:r>
              <a:rPr lang="en-US" sz="2000" b="1" u="sng" dirty="0">
                <a:solidFill>
                  <a:schemeClr val="tx1"/>
                </a:solidFill>
              </a:rPr>
              <a:t>Preliminary data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9078" y="279231"/>
            <a:ext cx="6126741" cy="744135"/>
          </a:xfrm>
          <a:prstGeom prst="rect">
            <a:avLst/>
          </a:prstGeom>
        </p:spPr>
        <p:txBody>
          <a:bodyPr wrap="none" lIns="130046" tIns="65023" rIns="130046" bIns="65023">
            <a:spAutoFit/>
          </a:bodyPr>
          <a:lstStyle/>
          <a:p>
            <a:r>
              <a:rPr lang="en-AU" sz="4000" dirty="0"/>
              <a:t>How far could we push this?</a:t>
            </a:r>
          </a:p>
        </p:txBody>
      </p:sp>
    </p:spTree>
    <p:extLst>
      <p:ext uri="{BB962C8B-B14F-4D97-AF65-F5344CB8AC3E}">
        <p14:creationId xmlns:p14="http://schemas.microsoft.com/office/powerpoint/2010/main" val="1074948370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1"/>
            <a:ext cx="13004800" cy="1308773"/>
          </a:xfrm>
          <a:prstGeom prst="rect">
            <a:avLst/>
          </a:prstGeom>
          <a:solidFill>
            <a:srgbClr val="000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0046" tIns="65023" rIns="130046" bIns="65023" rtlCol="0" anchor="ctr"/>
          <a:lstStyle/>
          <a:p>
            <a:pPr algn="ctr"/>
            <a:r>
              <a:rPr lang="en-US" sz="4600" dirty="0">
                <a:latin typeface="Cambria"/>
                <a:cs typeface="Cambria"/>
              </a:rPr>
              <a:t>Serial vs. Parallel - speeding up SSE calculations</a:t>
            </a:r>
            <a:endParaRPr lang="en-US" sz="4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7D01FA-72B4-9C40-93BA-2FBEDAB63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757" y="1513958"/>
            <a:ext cx="12654844" cy="6129690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1" name="Group 10"/>
          <p:cNvGrpSpPr/>
          <p:nvPr/>
        </p:nvGrpSpPr>
        <p:grpSpPr>
          <a:xfrm>
            <a:off x="2720172" y="2444871"/>
            <a:ext cx="9787469" cy="3800036"/>
            <a:chOff x="1801814" y="1558786"/>
            <a:chExt cx="6881814" cy="2671900"/>
          </a:xfrm>
        </p:grpSpPr>
        <p:sp>
          <p:nvSpPr>
            <p:cNvPr id="9" name="Rectangle 8"/>
            <p:cNvSpPr/>
            <p:nvPr/>
          </p:nvSpPr>
          <p:spPr>
            <a:xfrm>
              <a:off x="3537148" y="3527005"/>
              <a:ext cx="3683497" cy="31378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300" b="1" dirty="0">
                  <a:solidFill>
                    <a:srgbClr val="FF0000"/>
                  </a:solidFill>
                </a:rPr>
                <a:t>Calculations on branches, serial on 1 core</a:t>
              </a:r>
            </a:p>
          </p:txBody>
        </p:sp>
        <p:sp>
          <p:nvSpPr>
            <p:cNvPr id="10" name="Right Brace 9"/>
            <p:cNvSpPr/>
            <p:nvPr/>
          </p:nvSpPr>
          <p:spPr>
            <a:xfrm rot="16200000">
              <a:off x="5060158" y="607216"/>
              <a:ext cx="365126" cy="6881814"/>
            </a:xfrm>
            <a:prstGeom prst="rightBrac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188816" y="2526128"/>
              <a:ext cx="3229532" cy="31378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300" b="1" dirty="0">
                  <a:solidFill>
                    <a:srgbClr val="0000FF"/>
                  </a:solidFill>
                </a:rPr>
                <a:t>Calculations on branches, in parallel</a:t>
              </a:r>
            </a:p>
          </p:txBody>
        </p:sp>
        <p:sp>
          <p:nvSpPr>
            <p:cNvPr id="23" name="Right Brace 22"/>
            <p:cNvSpPr/>
            <p:nvPr/>
          </p:nvSpPr>
          <p:spPr>
            <a:xfrm>
              <a:off x="1823690" y="1558786"/>
              <a:ext cx="365126" cy="2306773"/>
            </a:xfrm>
            <a:prstGeom prst="rightBrace">
              <a:avLst/>
            </a:prstGeom>
            <a:ln>
              <a:solidFill>
                <a:srgbClr val="0000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26915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1"/>
            <a:ext cx="13004800" cy="1308773"/>
          </a:xfrm>
          <a:prstGeom prst="rect">
            <a:avLst/>
          </a:prstGeom>
          <a:solidFill>
            <a:srgbClr val="000B9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0046" tIns="65023" rIns="130046" bIns="65023" rtlCol="0" anchor="ctr"/>
          <a:lstStyle/>
          <a:p>
            <a:pPr algn="ctr"/>
            <a:r>
              <a:rPr lang="en-US" sz="4300" i="1" dirty="0">
                <a:latin typeface="Cambria"/>
                <a:cs typeface="Cambria"/>
              </a:rPr>
              <a:t>BioGeoJulia</a:t>
            </a:r>
            <a:r>
              <a:rPr lang="en-US" sz="4300" dirty="0">
                <a:latin typeface="Cambria"/>
                <a:cs typeface="Cambria"/>
              </a:rPr>
              <a:t>: complexifying biogeography</a:t>
            </a:r>
            <a:endParaRPr lang="en-US" sz="4300" dirty="0"/>
          </a:p>
        </p:txBody>
      </p:sp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5990650" y="1319590"/>
            <a:ext cx="6743216" cy="958258"/>
          </a:xfrm>
        </p:spPr>
        <p:txBody>
          <a:bodyPr>
            <a:normAutofit fontScale="90000"/>
          </a:bodyPr>
          <a:lstStyle/>
          <a:p>
            <a:r>
              <a:rPr lang="en-US" dirty="0"/>
              <a:t>Comparison of model features</a:t>
            </a:r>
          </a:p>
        </p:txBody>
      </p:sp>
      <p:pic>
        <p:nvPicPr>
          <p:cNvPr id="8" name="Picture 7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8477" y="2425402"/>
            <a:ext cx="7113240" cy="6078940"/>
          </a:xfrm>
          <a:prstGeom prst="rect">
            <a:avLst/>
          </a:prstGeom>
          <a:extLst>
            <a:ext uri="{FAA26D3D-D897-4be2-8F04-BA451C77F1D7}">
              <ma14:placeholderFlag xmlns:ma14="http://schemas.microsoft.com/office/mac/drawingml/2011/main" xmlns=""/>
            </a:ext>
          </a:extLst>
        </p:spPr>
      </p:pic>
      <p:sp>
        <p:nvSpPr>
          <p:cNvPr id="2" name="Rectangle 1"/>
          <p:cNvSpPr/>
          <p:nvPr/>
        </p:nvSpPr>
        <p:spPr>
          <a:xfrm rot="16200000">
            <a:off x="11301321" y="3076971"/>
            <a:ext cx="1839706" cy="8316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lIns="130046" tIns="65023" rIns="130046" bIns="65023">
            <a:spAutoFit/>
          </a:bodyPr>
          <a:lstStyle/>
          <a:p>
            <a:pPr algn="ctr"/>
            <a:r>
              <a:rPr lang="en-US" sz="2300" dirty="0"/>
              <a:t>This Proposal</a:t>
            </a:r>
            <a:br>
              <a:rPr lang="en-US" sz="2300" dirty="0"/>
            </a:br>
            <a:r>
              <a:rPr lang="en-US" sz="2300" dirty="0"/>
              <a:t>(</a:t>
            </a:r>
            <a:r>
              <a:rPr lang="en-US" sz="2300" i="1" dirty="0"/>
              <a:t>BioGeoJulia</a:t>
            </a:r>
            <a:r>
              <a:rPr lang="en-US" sz="2300" dirty="0"/>
              <a:t>) </a:t>
            </a:r>
          </a:p>
        </p:txBody>
      </p:sp>
      <p:sp>
        <p:nvSpPr>
          <p:cNvPr id="24" name="Title 6">
            <a:extLst>
              <a:ext uri="{FF2B5EF4-FFF2-40B4-BE49-F238E27FC236}">
                <a16:creationId xmlns:a16="http://schemas.microsoft.com/office/drawing/2014/main" id="{DD7292D3-56F9-C64C-957A-ABFD37D0B7F5}"/>
              </a:ext>
            </a:extLst>
          </p:cNvPr>
          <p:cNvSpPr txBox="1">
            <a:spLocks/>
          </p:cNvSpPr>
          <p:nvPr/>
        </p:nvSpPr>
        <p:spPr>
          <a:xfrm>
            <a:off x="99025" y="1928783"/>
            <a:ext cx="5118738" cy="1646564"/>
          </a:xfrm>
          <a:prstGeom prst="rect">
            <a:avLst/>
          </a:prstGeom>
        </p:spPr>
        <p:txBody>
          <a:bodyPr vert="horz" lIns="130046" tIns="65023" rIns="130046" bIns="65023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400" dirty="0"/>
              <a:t>Integrate </a:t>
            </a:r>
            <a:r>
              <a:rPr lang="en-US" sz="3400" i="1" dirty="0"/>
              <a:t>BioGeoJulia </a:t>
            </a:r>
            <a:r>
              <a:rPr lang="en-US" sz="3400" dirty="0"/>
              <a:t>with </a:t>
            </a:r>
            <a:r>
              <a:rPr lang="en-US" sz="3400" i="1" dirty="0"/>
              <a:t>GPlates</a:t>
            </a:r>
            <a:r>
              <a:rPr lang="en-US" sz="3400" dirty="0"/>
              <a:t> for continuous palaeogeography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DF67363-8ABC-7640-811D-FC6007983A11}"/>
              </a:ext>
            </a:extLst>
          </p:cNvPr>
          <p:cNvGrpSpPr/>
          <p:nvPr/>
        </p:nvGrpSpPr>
        <p:grpSpPr>
          <a:xfrm>
            <a:off x="-156932" y="3732506"/>
            <a:ext cx="5820230" cy="3380036"/>
            <a:chOff x="4907718" y="2691713"/>
            <a:chExt cx="4092349" cy="2376588"/>
          </a:xfrm>
        </p:grpSpPr>
        <p:pic>
          <p:nvPicPr>
            <p:cNvPr id="34" name="Picture 33" descr="Muller_Zahirovic_2018_Zealandia_thickness.gif">
              <a:extLst>
                <a:ext uri="{FF2B5EF4-FFF2-40B4-BE49-F238E27FC236}">
                  <a16:creationId xmlns:a16="http://schemas.microsoft.com/office/drawing/2014/main" id="{0483E8C4-9990-CE41-B9AF-E7B5C9865E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13239" y="2992853"/>
              <a:ext cx="3986828" cy="1843908"/>
            </a:xfrm>
            <a:prstGeom prst="rect">
              <a:avLst/>
            </a:prstGeom>
          </p:spPr>
        </p:pic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636BFAD-A937-4147-AB5C-77D3A2952908}"/>
                </a:ext>
              </a:extLst>
            </p:cNvPr>
            <p:cNvSpPr/>
            <p:nvPr/>
          </p:nvSpPr>
          <p:spPr>
            <a:xfrm>
              <a:off x="4907718" y="4786974"/>
              <a:ext cx="4092349" cy="2813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Müller, Sahirovic et al. (2018), U. Sydney "Modelling and visualising distributed crustal deformation of Australia and Zealandia using </a:t>
              </a:r>
              <a:r>
                <a:rPr lang="en-US" sz="1000" i="1" dirty="0">
                  <a:solidFill>
                    <a:schemeClr val="bg1">
                      <a:lumMod val="65000"/>
                    </a:schemeClr>
                  </a:solidFill>
                </a:rPr>
                <a:t>GPlates 2.0</a:t>
              </a:r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." https://www.youtube.com/watch?v=iKkCIdZ6oaE  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4D73703-33B7-1F40-AB14-3535010217F0}"/>
                </a:ext>
              </a:extLst>
            </p:cNvPr>
            <p:cNvSpPr/>
            <p:nvPr/>
          </p:nvSpPr>
          <p:spPr>
            <a:xfrm>
              <a:off x="5202392" y="2691713"/>
              <a:ext cx="3531034" cy="28132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i="1" dirty="0"/>
                <a:t>GPlates</a:t>
              </a:r>
              <a:r>
                <a:rPr lang="en-US" sz="2000" dirty="0"/>
                <a:t> animation: Zealandia crustal thickness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0AA8CCE-D385-284C-8035-33360B37F24F}"/>
              </a:ext>
            </a:extLst>
          </p:cNvPr>
          <p:cNvGrpSpPr/>
          <p:nvPr/>
        </p:nvGrpSpPr>
        <p:grpSpPr>
          <a:xfrm>
            <a:off x="262160" y="7150161"/>
            <a:ext cx="5654009" cy="2461907"/>
            <a:chOff x="5202392" y="5094751"/>
            <a:chExt cx="3975475" cy="1731028"/>
          </a:xfrm>
        </p:grpSpPr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6A70D5CB-98CC-DE4D-AD81-DE08FC25A058}"/>
                </a:ext>
              </a:extLst>
            </p:cNvPr>
            <p:cNvSpPr/>
            <p:nvPr/>
          </p:nvSpPr>
          <p:spPr>
            <a:xfrm>
              <a:off x="5202392" y="5532332"/>
              <a:ext cx="2146656" cy="124904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38100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/>
            <a:lstStyle/>
            <a:p>
              <a:pPr algn="ctr"/>
              <a:r>
                <a:rPr lang="en-US" i="1" dirty="0">
                  <a:solidFill>
                    <a:schemeClr val="tx1"/>
                  </a:solidFill>
                </a:rPr>
                <a:t>BioGeoJulia</a:t>
              </a:r>
              <a:r>
                <a:rPr lang="en-US" dirty="0">
                  <a:solidFill>
                    <a:schemeClr val="tx1"/>
                  </a:solidFill>
                </a:rPr>
                <a:t>: extract &amp;  use continuous estimates of areas, distances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39" name="Right Arrow 38">
              <a:extLst>
                <a:ext uri="{FF2B5EF4-FFF2-40B4-BE49-F238E27FC236}">
                  <a16:creationId xmlns:a16="http://schemas.microsoft.com/office/drawing/2014/main" id="{5F2A387A-EA9B-E848-B466-F3B7846BC6D5}"/>
                </a:ext>
              </a:extLst>
            </p:cNvPr>
            <p:cNvSpPr/>
            <p:nvPr/>
          </p:nvSpPr>
          <p:spPr>
            <a:xfrm rot="5400000">
              <a:off x="6048114" y="5153339"/>
              <a:ext cx="390585" cy="273410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3BC82B85-E20F-1A46-870D-B4060C51BD9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-3" t="27400" r="32145" b="7034"/>
            <a:stretch/>
          </p:blipFill>
          <p:spPr>
            <a:xfrm>
              <a:off x="7704669" y="5309121"/>
              <a:ext cx="1256309" cy="1213866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60BB1DC-264E-4A47-BD5E-CAC00F29BA55}"/>
                </a:ext>
              </a:extLst>
            </p:cNvPr>
            <p:cNvSpPr/>
            <p:nvPr/>
          </p:nvSpPr>
          <p:spPr>
            <a:xfrm>
              <a:off x="7506691" y="6457890"/>
              <a:ext cx="1671176" cy="3678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/>
                <a:t>Sabin Zahirovic, </a:t>
              </a:r>
              <a:r>
                <a:rPr lang="en-US" sz="1400" i="1" dirty="0"/>
                <a:t>GPlates </a:t>
              </a:r>
              <a:r>
                <a:rPr lang="en-US" sz="1400" dirty="0"/>
                <a:t>coauthor, U. Sydney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59938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4" grpId="0"/>
    </p:bld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1"/>
            <a:ext cx="13004800" cy="1308773"/>
          </a:xfrm>
          <a:prstGeom prst="rect">
            <a:avLst/>
          </a:prstGeom>
          <a:solidFill>
            <a:srgbClr val="000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0046" tIns="65023" rIns="130046" bIns="65023" rtlCol="0" anchor="ctr"/>
          <a:lstStyle/>
          <a:p>
            <a:pPr algn="ctr"/>
            <a:r>
              <a:rPr lang="en-US" sz="4600" dirty="0"/>
              <a:t>Conclusions</a:t>
            </a:r>
          </a:p>
        </p:txBody>
      </p:sp>
      <p:sp>
        <p:nvSpPr>
          <p:cNvPr id="29" name="Title 6">
            <a:extLst>
              <a:ext uri="{FF2B5EF4-FFF2-40B4-BE49-F238E27FC236}">
                <a16:creationId xmlns:a16="http://schemas.microsoft.com/office/drawing/2014/main" id="{EB2679C8-DD82-2A48-B030-87536BD094FE}"/>
              </a:ext>
            </a:extLst>
          </p:cNvPr>
          <p:cNvSpPr txBox="1">
            <a:spLocks/>
          </p:cNvSpPr>
          <p:nvPr/>
        </p:nvSpPr>
        <p:spPr>
          <a:xfrm>
            <a:off x="350403" y="1380031"/>
            <a:ext cx="12119953" cy="8231050"/>
          </a:xfrm>
          <a:prstGeom prst="rect">
            <a:avLst/>
          </a:prstGeom>
        </p:spPr>
        <p:txBody>
          <a:bodyPr vert="horz" lIns="130046" tIns="65023" rIns="130046" bIns="65023" rtlCol="0" anchor="t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650230" indent="-650230" algn="l">
              <a:buAutoNum type="arabicPeriod"/>
            </a:pPr>
            <a:r>
              <a:rPr lang="en-US" sz="2800" dirty="0"/>
              <a:t>Large ClaSSE models will probably never be super-fast </a:t>
            </a:r>
            <a:r>
              <a:rPr lang="mr-IN" sz="2800" dirty="0"/>
              <a:t>–</a:t>
            </a:r>
            <a:r>
              <a:rPr lang="en-US" sz="2800" dirty="0"/>
              <a:t> but Julia versions should be fast enough for e.g. Maximum Likelihood</a:t>
            </a:r>
            <a:br>
              <a:rPr lang="en-US" sz="2800" dirty="0"/>
            </a:br>
            <a:endParaRPr lang="en-US" sz="2800" dirty="0"/>
          </a:p>
          <a:p>
            <a:pPr marL="650230" indent="-650230" algn="l">
              <a:buAutoNum type="arabicPeriod"/>
            </a:pPr>
            <a:r>
              <a:rPr lang="en-US" sz="2800" dirty="0"/>
              <a:t>The number of free parameters explodes to meaninglessness quickly.  So model (parametric) complexity has to be carefully controlled by carefully thinking about, and designing, meaningful models controlled by a small number of parameters (as in e.g. standard biogeography models)</a:t>
            </a:r>
            <a:br>
              <a:rPr lang="en-US" sz="2800" dirty="0"/>
            </a:br>
            <a:endParaRPr lang="en-US" sz="2800" dirty="0"/>
          </a:p>
          <a:p>
            <a:pPr marL="650230" indent="-650230" algn="l">
              <a:buAutoNum type="arabicPeriod"/>
            </a:pPr>
            <a:r>
              <a:rPr lang="en-US" sz="2800" dirty="0"/>
              <a:t>Julia’s </a:t>
            </a:r>
            <a:r>
              <a:rPr lang="en-US" sz="2800" dirty="0" err="1"/>
              <a:t>DifferentialEquations</a:t>
            </a:r>
            <a:r>
              <a:rPr lang="en-US" sz="2800" dirty="0"/>
              <a:t> solvers are </a:t>
            </a:r>
            <a:r>
              <a:rPr lang="en-US" sz="2800" i="1" dirty="0"/>
              <a:t>very</a:t>
            </a:r>
            <a:r>
              <a:rPr lang="en-US" sz="2800" dirty="0"/>
              <a:t> flexible, suggesting that more interesting models could be designed in this framework (regional carrying capacity, interpolating in the impact of external forcers</a:t>
            </a:r>
            <a:br>
              <a:rPr lang="en-US" sz="2800" dirty="0"/>
            </a:br>
            <a:r>
              <a:rPr lang="en-US" sz="2800" dirty="0"/>
              <a:t>like changing geography &amp; climate, etc.)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0EC68A55-7BDE-7148-8A7A-BD0537DB3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5547" y="7986753"/>
            <a:ext cx="2631064" cy="176684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07296" y="8932870"/>
            <a:ext cx="5058817" cy="408315"/>
          </a:xfrm>
          <a:prstGeom prst="rect">
            <a:avLst/>
          </a:prstGeom>
        </p:spPr>
        <p:txBody>
          <a:bodyPr wrap="none" lIns="130046" tIns="65023" rIns="130046" bIns="65023">
            <a:spAutoFit/>
          </a:bodyPr>
          <a:lstStyle/>
          <a:p>
            <a:r>
              <a:rPr lang="en-US" dirty="0"/>
              <a:t>Acknowledgements: Marsden grant no. 18-UOA-34 </a:t>
            </a:r>
          </a:p>
        </p:txBody>
      </p:sp>
    </p:spTree>
    <p:extLst>
      <p:ext uri="{BB962C8B-B14F-4D97-AF65-F5344CB8AC3E}">
        <p14:creationId xmlns:p14="http://schemas.microsoft.com/office/powerpoint/2010/main" val="1925297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build="allAtOnce"/>
    </p:bld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2600" y="1511300"/>
            <a:ext cx="8763000" cy="2113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85165">
              <a:lnSpc>
                <a:spcPct val="102400"/>
              </a:lnSpc>
            </a:pPr>
            <a:r>
              <a:rPr sz="4800" spc="-405" dirty="0">
                <a:latin typeface="Calibri"/>
                <a:cs typeface="Calibri"/>
              </a:rPr>
              <a:t>“</a:t>
            </a:r>
            <a:r>
              <a:rPr sz="4800" spc="-30" dirty="0">
                <a:latin typeface="Calibri"/>
                <a:cs typeface="Calibri"/>
              </a:rPr>
              <a:t>A</a:t>
            </a:r>
            <a:r>
              <a:rPr sz="4800" dirty="0">
                <a:latin typeface="Calibri"/>
                <a:cs typeface="Calibri"/>
              </a:rPr>
              <a:t>ll </a:t>
            </a:r>
            <a:r>
              <a:rPr sz="4800" spc="-45" dirty="0">
                <a:latin typeface="Calibri"/>
                <a:cs typeface="Calibri"/>
              </a:rPr>
              <a:t>m</a:t>
            </a:r>
            <a:r>
              <a:rPr sz="4800" spc="-5" dirty="0">
                <a:latin typeface="Calibri"/>
                <a:cs typeface="Calibri"/>
              </a:rPr>
              <a:t>o</a:t>
            </a:r>
            <a:r>
              <a:rPr sz="4800" dirty="0">
                <a:latin typeface="Calibri"/>
                <a:cs typeface="Calibri"/>
              </a:rPr>
              <a:t>d</a:t>
            </a:r>
            <a:r>
              <a:rPr sz="4800" spc="-25" dirty="0">
                <a:latin typeface="Calibri"/>
                <a:cs typeface="Calibri"/>
              </a:rPr>
              <a:t>e</a:t>
            </a:r>
            <a:r>
              <a:rPr sz="4800" dirty="0">
                <a:latin typeface="Calibri"/>
                <a:cs typeface="Calibri"/>
              </a:rPr>
              <a:t>ls </a:t>
            </a:r>
            <a:r>
              <a:rPr sz="4800" spc="-25" dirty="0">
                <a:latin typeface="Calibri"/>
                <a:cs typeface="Calibri"/>
              </a:rPr>
              <a:t>a</a:t>
            </a:r>
            <a:r>
              <a:rPr sz="4800" spc="-85" dirty="0">
                <a:latin typeface="Calibri"/>
                <a:cs typeface="Calibri"/>
              </a:rPr>
              <a:t>r</a:t>
            </a:r>
            <a:r>
              <a:rPr sz="4800" spc="-25" dirty="0">
                <a:latin typeface="Calibri"/>
                <a:cs typeface="Calibri"/>
              </a:rPr>
              <a:t>e</a:t>
            </a:r>
            <a:r>
              <a:rPr sz="4800" dirty="0">
                <a:latin typeface="Calibri"/>
                <a:cs typeface="Calibri"/>
              </a:rPr>
              <a:t> </a:t>
            </a:r>
            <a:r>
              <a:rPr sz="4800" spc="-40" dirty="0">
                <a:latin typeface="Calibri"/>
                <a:cs typeface="Calibri"/>
              </a:rPr>
              <a:t>w</a:t>
            </a:r>
            <a:r>
              <a:rPr sz="4800" spc="-100" dirty="0">
                <a:latin typeface="Calibri"/>
                <a:cs typeface="Calibri"/>
              </a:rPr>
              <a:t>r</a:t>
            </a:r>
            <a:r>
              <a:rPr sz="4800" spc="-5" dirty="0">
                <a:latin typeface="Calibri"/>
                <a:cs typeface="Calibri"/>
              </a:rPr>
              <a:t>o</a:t>
            </a:r>
            <a:r>
              <a:rPr sz="4800" dirty="0">
                <a:latin typeface="Calibri"/>
                <a:cs typeface="Calibri"/>
              </a:rPr>
              <a:t>n</a:t>
            </a:r>
            <a:r>
              <a:rPr sz="4800" spc="25" dirty="0">
                <a:latin typeface="Calibri"/>
                <a:cs typeface="Calibri"/>
              </a:rPr>
              <a:t>g</a:t>
            </a:r>
            <a:r>
              <a:rPr sz="4800" spc="-15" dirty="0">
                <a:latin typeface="Calibri"/>
                <a:cs typeface="Calibri"/>
              </a:rPr>
              <a:t>,</a:t>
            </a:r>
            <a:r>
              <a:rPr sz="4800" dirty="0">
                <a:latin typeface="Calibri"/>
                <a:cs typeface="Calibri"/>
              </a:rPr>
              <a:t> bu</a:t>
            </a:r>
            <a:r>
              <a:rPr sz="4800" spc="-20" dirty="0">
                <a:latin typeface="Calibri"/>
                <a:cs typeface="Calibri"/>
              </a:rPr>
              <a:t>t</a:t>
            </a:r>
            <a:r>
              <a:rPr sz="4800" dirty="0">
                <a:latin typeface="Calibri"/>
                <a:cs typeface="Calibri"/>
              </a:rPr>
              <a:t> s</a:t>
            </a:r>
            <a:r>
              <a:rPr sz="4800" spc="-5" dirty="0">
                <a:latin typeface="Calibri"/>
                <a:cs typeface="Calibri"/>
              </a:rPr>
              <a:t>o</a:t>
            </a:r>
            <a:r>
              <a:rPr sz="4800" spc="-45" dirty="0">
                <a:latin typeface="Calibri"/>
                <a:cs typeface="Calibri"/>
              </a:rPr>
              <a:t>m</a:t>
            </a:r>
            <a:r>
              <a:rPr sz="4800" spc="-25" dirty="0">
                <a:latin typeface="Calibri"/>
                <a:cs typeface="Calibri"/>
              </a:rPr>
              <a:t>e</a:t>
            </a:r>
            <a:r>
              <a:rPr sz="4800" spc="-15" dirty="0">
                <a:latin typeface="Calibri"/>
                <a:cs typeface="Calibri"/>
              </a:rPr>
              <a:t> </a:t>
            </a:r>
            <a:r>
              <a:rPr sz="4800" spc="-45" dirty="0">
                <a:latin typeface="Calibri"/>
                <a:cs typeface="Calibri"/>
              </a:rPr>
              <a:t>m</a:t>
            </a:r>
            <a:r>
              <a:rPr sz="4800" spc="-5" dirty="0">
                <a:latin typeface="Calibri"/>
                <a:cs typeface="Calibri"/>
              </a:rPr>
              <a:t>o</a:t>
            </a:r>
            <a:r>
              <a:rPr sz="4800" dirty="0">
                <a:latin typeface="Calibri"/>
                <a:cs typeface="Calibri"/>
              </a:rPr>
              <a:t>d</a:t>
            </a:r>
            <a:r>
              <a:rPr sz="4800" spc="-25" dirty="0">
                <a:latin typeface="Calibri"/>
                <a:cs typeface="Calibri"/>
              </a:rPr>
              <a:t>e</a:t>
            </a:r>
            <a:r>
              <a:rPr sz="4800" dirty="0">
                <a:latin typeface="Calibri"/>
                <a:cs typeface="Calibri"/>
              </a:rPr>
              <a:t>ls </a:t>
            </a:r>
            <a:r>
              <a:rPr sz="4800" spc="-25" dirty="0">
                <a:latin typeface="Calibri"/>
                <a:cs typeface="Calibri"/>
              </a:rPr>
              <a:t>a</a:t>
            </a:r>
            <a:r>
              <a:rPr sz="4800" spc="-85" dirty="0">
                <a:latin typeface="Calibri"/>
                <a:cs typeface="Calibri"/>
              </a:rPr>
              <a:t>r</a:t>
            </a:r>
            <a:r>
              <a:rPr sz="4800" spc="-25" dirty="0">
                <a:latin typeface="Calibri"/>
                <a:cs typeface="Calibri"/>
              </a:rPr>
              <a:t>e</a:t>
            </a:r>
            <a:r>
              <a:rPr sz="4800" dirty="0">
                <a:latin typeface="Calibri"/>
                <a:cs typeface="Calibri"/>
              </a:rPr>
              <a:t> us</a:t>
            </a:r>
            <a:r>
              <a:rPr sz="4800" spc="-70" dirty="0">
                <a:latin typeface="Calibri"/>
                <a:cs typeface="Calibri"/>
              </a:rPr>
              <a:t>e</a:t>
            </a:r>
            <a:r>
              <a:rPr sz="4800" dirty="0">
                <a:latin typeface="Calibri"/>
                <a:cs typeface="Calibri"/>
              </a:rPr>
              <a:t>ful</a:t>
            </a:r>
            <a:r>
              <a:rPr sz="4800" spc="-355" dirty="0">
                <a:latin typeface="Calibri"/>
                <a:cs typeface="Calibri"/>
              </a:rPr>
              <a:t>.</a:t>
            </a:r>
            <a:r>
              <a:rPr sz="4800" dirty="0">
                <a:latin typeface="Calibri"/>
                <a:cs typeface="Calibri"/>
              </a:rPr>
              <a:t>”</a:t>
            </a:r>
            <a:endParaRPr sz="4800">
              <a:latin typeface="Calibri"/>
              <a:cs typeface="Calibri"/>
            </a:endParaRPr>
          </a:p>
          <a:p>
            <a:pPr marL="5397500">
              <a:lnSpc>
                <a:spcPct val="100000"/>
              </a:lnSpc>
              <a:spcBef>
                <a:spcPts val="180"/>
              </a:spcBef>
            </a:pPr>
            <a:r>
              <a:rPr sz="4800" spc="-5" dirty="0">
                <a:latin typeface="Calibri"/>
                <a:cs typeface="Calibri"/>
              </a:rPr>
              <a:t>-</a:t>
            </a:r>
            <a:r>
              <a:rPr sz="4800" dirty="0">
                <a:latin typeface="Calibri"/>
                <a:cs typeface="Calibri"/>
              </a:rPr>
              <a:t>- </a:t>
            </a:r>
            <a:r>
              <a:rPr sz="4800" spc="-35" dirty="0">
                <a:latin typeface="Calibri"/>
                <a:cs typeface="Calibri"/>
              </a:rPr>
              <a:t>G</a:t>
            </a:r>
            <a:r>
              <a:rPr sz="4800" spc="-30" dirty="0">
                <a:latin typeface="Calibri"/>
                <a:cs typeface="Calibri"/>
              </a:rPr>
              <a:t>eo</a:t>
            </a:r>
            <a:r>
              <a:rPr sz="4800" spc="-85" dirty="0">
                <a:latin typeface="Calibri"/>
                <a:cs typeface="Calibri"/>
              </a:rPr>
              <a:t>r</a:t>
            </a:r>
            <a:r>
              <a:rPr sz="4800" spc="-70" dirty="0">
                <a:latin typeface="Calibri"/>
                <a:cs typeface="Calibri"/>
              </a:rPr>
              <a:t>g</a:t>
            </a:r>
            <a:r>
              <a:rPr sz="4800" spc="-25" dirty="0">
                <a:latin typeface="Calibri"/>
                <a:cs typeface="Calibri"/>
              </a:rPr>
              <a:t>e</a:t>
            </a:r>
            <a:r>
              <a:rPr sz="4800" spc="-5" dirty="0">
                <a:latin typeface="Calibri"/>
                <a:cs typeface="Calibri"/>
              </a:rPr>
              <a:t> </a:t>
            </a:r>
            <a:r>
              <a:rPr sz="4800" dirty="0">
                <a:latin typeface="Calibri"/>
                <a:cs typeface="Calibri"/>
              </a:rPr>
              <a:t>B</a:t>
            </a:r>
            <a:r>
              <a:rPr sz="4800" spc="-95" dirty="0">
                <a:latin typeface="Calibri"/>
                <a:cs typeface="Calibri"/>
              </a:rPr>
              <a:t>o</a:t>
            </a:r>
            <a:r>
              <a:rPr sz="4800" dirty="0">
                <a:latin typeface="Calibri"/>
                <a:cs typeface="Calibri"/>
              </a:rPr>
              <a:t>x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6700" y="342900"/>
            <a:ext cx="3568700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800" b="1" spc="-30" dirty="0">
                <a:latin typeface="Calibri"/>
                <a:cs typeface="Calibri"/>
              </a:rPr>
              <a:t>Cau</a:t>
            </a:r>
            <a:r>
              <a:rPr lang="en-US" sz="4800" b="1" spc="170" dirty="0">
                <a:latin typeface="Calibri"/>
                <a:cs typeface="Calibri"/>
              </a:rPr>
              <a:t>ti</a:t>
            </a:r>
            <a:r>
              <a:rPr sz="4800" b="1" spc="170" dirty="0">
                <a:latin typeface="Calibri"/>
                <a:cs typeface="Calibri"/>
              </a:rPr>
              <a:t>o</a:t>
            </a:r>
            <a:r>
              <a:rPr sz="4800" b="1" spc="-35" dirty="0">
                <a:latin typeface="Calibri"/>
                <a:cs typeface="Calibri"/>
              </a:rPr>
              <a:t>n</a:t>
            </a:r>
            <a:r>
              <a:rPr sz="4800" b="1" spc="-20" dirty="0">
                <a:latin typeface="Calibri"/>
                <a:cs typeface="Calibri"/>
              </a:rPr>
              <a:t>s</a:t>
            </a:r>
            <a:endParaRPr sz="48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1000" y="0"/>
            <a:ext cx="3632200" cy="510724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22300" y="6400800"/>
            <a:ext cx="10722610" cy="226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2400"/>
              </a:lnSpc>
            </a:pPr>
            <a:r>
              <a:rPr sz="4800" spc="-15" dirty="0">
                <a:latin typeface="Calibri"/>
                <a:cs typeface="Calibri"/>
              </a:rPr>
              <a:t>I s</a:t>
            </a:r>
            <a:r>
              <a:rPr sz="4800" spc="-90" dirty="0">
                <a:latin typeface="Calibri"/>
                <a:cs typeface="Calibri"/>
              </a:rPr>
              <a:t>a</a:t>
            </a:r>
            <a:r>
              <a:rPr sz="4800" spc="-30" dirty="0">
                <a:latin typeface="Calibri"/>
                <a:cs typeface="Calibri"/>
              </a:rPr>
              <a:t>y</a:t>
            </a:r>
            <a:r>
              <a:rPr sz="4800" spc="-15" dirty="0">
                <a:latin typeface="Calibri"/>
                <a:cs typeface="Calibri"/>
              </a:rPr>
              <a:t>:</a:t>
            </a:r>
            <a:r>
              <a:rPr sz="4800" dirty="0">
                <a:latin typeface="Calibri"/>
                <a:cs typeface="Calibri"/>
              </a:rPr>
              <a:t> </a:t>
            </a:r>
            <a:r>
              <a:rPr sz="4800" spc="-80" dirty="0">
                <a:latin typeface="Calibri"/>
                <a:cs typeface="Calibri"/>
              </a:rPr>
              <a:t>w</a:t>
            </a:r>
            <a:r>
              <a:rPr sz="4800" spc="-20" dirty="0">
                <a:latin typeface="Calibri"/>
                <a:cs typeface="Calibri"/>
              </a:rPr>
              <a:t>e’</a:t>
            </a:r>
            <a:r>
              <a:rPr sz="4800" dirty="0">
                <a:latin typeface="Calibri"/>
                <a:cs typeface="Calibri"/>
              </a:rPr>
              <a:t>ll n</a:t>
            </a:r>
            <a:r>
              <a:rPr sz="4800" spc="-50" dirty="0">
                <a:latin typeface="Calibri"/>
                <a:cs typeface="Calibri"/>
              </a:rPr>
              <a:t>e</a:t>
            </a:r>
            <a:r>
              <a:rPr sz="4800" spc="-75" dirty="0">
                <a:latin typeface="Calibri"/>
                <a:cs typeface="Calibri"/>
              </a:rPr>
              <a:t>v</a:t>
            </a:r>
            <a:r>
              <a:rPr sz="4800" spc="-25" dirty="0">
                <a:latin typeface="Calibri"/>
                <a:cs typeface="Calibri"/>
              </a:rPr>
              <a:t>er</a:t>
            </a:r>
            <a:r>
              <a:rPr sz="4800" dirty="0">
                <a:latin typeface="Calibri"/>
                <a:cs typeface="Calibri"/>
              </a:rPr>
              <a:t> </a:t>
            </a:r>
            <a:r>
              <a:rPr sz="4800" spc="-25" dirty="0">
                <a:latin typeface="Calibri"/>
                <a:cs typeface="Calibri"/>
              </a:rPr>
              <a:t>k</a:t>
            </a:r>
            <a:r>
              <a:rPr sz="4800" dirty="0">
                <a:latin typeface="Calibri"/>
                <a:cs typeface="Calibri"/>
              </a:rPr>
              <a:t>n</a:t>
            </a:r>
            <a:r>
              <a:rPr sz="4800" spc="-20" dirty="0">
                <a:latin typeface="Calibri"/>
                <a:cs typeface="Calibri"/>
              </a:rPr>
              <a:t>o</a:t>
            </a:r>
            <a:r>
              <a:rPr sz="4800" spc="-35" dirty="0">
                <a:latin typeface="Calibri"/>
                <a:cs typeface="Calibri"/>
              </a:rPr>
              <a:t>w</a:t>
            </a:r>
            <a:r>
              <a:rPr sz="4800" dirty="0">
                <a:latin typeface="Calibri"/>
                <a:cs typeface="Calibri"/>
              </a:rPr>
              <a:t> th</a:t>
            </a:r>
            <a:r>
              <a:rPr sz="4800" spc="-25" dirty="0">
                <a:latin typeface="Calibri"/>
                <a:cs typeface="Calibri"/>
              </a:rPr>
              <a:t>e</a:t>
            </a:r>
            <a:r>
              <a:rPr sz="4800" dirty="0">
                <a:latin typeface="Calibri"/>
                <a:cs typeface="Calibri"/>
              </a:rPr>
              <a:t> us</a:t>
            </a:r>
            <a:r>
              <a:rPr sz="4800" spc="-70" dirty="0">
                <a:latin typeface="Calibri"/>
                <a:cs typeface="Calibri"/>
              </a:rPr>
              <a:t>e</a:t>
            </a:r>
            <a:r>
              <a:rPr sz="4800" dirty="0">
                <a:latin typeface="Calibri"/>
                <a:cs typeface="Calibri"/>
              </a:rPr>
              <a:t>fuln</a:t>
            </a:r>
            <a:r>
              <a:rPr sz="4800" spc="-25" dirty="0">
                <a:latin typeface="Calibri"/>
                <a:cs typeface="Calibri"/>
              </a:rPr>
              <a:t>e</a:t>
            </a:r>
            <a:r>
              <a:rPr sz="4800" dirty="0">
                <a:latin typeface="Calibri"/>
                <a:cs typeface="Calibri"/>
              </a:rPr>
              <a:t>ss / </a:t>
            </a:r>
            <a:r>
              <a:rPr sz="4800" spc="-45" dirty="0">
                <a:latin typeface="Calibri"/>
                <a:cs typeface="Calibri"/>
              </a:rPr>
              <a:t>m</a:t>
            </a:r>
            <a:r>
              <a:rPr sz="4800" dirty="0">
                <a:latin typeface="Calibri"/>
                <a:cs typeface="Calibri"/>
              </a:rPr>
              <a:t>isl</a:t>
            </a:r>
            <a:r>
              <a:rPr sz="4800" spc="-25" dirty="0">
                <a:latin typeface="Calibri"/>
                <a:cs typeface="Calibri"/>
              </a:rPr>
              <a:t>e</a:t>
            </a:r>
            <a:r>
              <a:rPr sz="4800" dirty="0">
                <a:latin typeface="Calibri"/>
                <a:cs typeface="Calibri"/>
              </a:rPr>
              <a:t>adin</a:t>
            </a:r>
            <a:r>
              <a:rPr sz="4800" spc="-25" dirty="0">
                <a:latin typeface="Calibri"/>
                <a:cs typeface="Calibri"/>
              </a:rPr>
              <a:t>g</a:t>
            </a:r>
            <a:r>
              <a:rPr sz="4800" dirty="0">
                <a:latin typeface="Calibri"/>
                <a:cs typeface="Calibri"/>
              </a:rPr>
              <a:t> quali</a:t>
            </a:r>
            <a:r>
              <a:rPr lang="en-US" sz="4800" spc="95" dirty="0">
                <a:latin typeface="Calibri"/>
                <a:cs typeface="Calibri"/>
              </a:rPr>
              <a:t>ti</a:t>
            </a:r>
            <a:r>
              <a:rPr sz="4800" spc="-25" dirty="0">
                <a:latin typeface="Calibri"/>
                <a:cs typeface="Calibri"/>
              </a:rPr>
              <a:t>e</a:t>
            </a:r>
            <a:r>
              <a:rPr sz="4800" dirty="0">
                <a:latin typeface="Calibri"/>
                <a:cs typeface="Calibri"/>
              </a:rPr>
              <a:t>s unl</a:t>
            </a:r>
            <a:r>
              <a:rPr sz="4800" spc="-25" dirty="0">
                <a:latin typeface="Calibri"/>
                <a:cs typeface="Calibri"/>
              </a:rPr>
              <a:t>e</a:t>
            </a:r>
            <a:r>
              <a:rPr sz="4800" dirty="0">
                <a:latin typeface="Calibri"/>
                <a:cs typeface="Calibri"/>
              </a:rPr>
              <a:t>ss </a:t>
            </a:r>
            <a:r>
              <a:rPr sz="4800" spc="-80" dirty="0">
                <a:latin typeface="Calibri"/>
                <a:cs typeface="Calibri"/>
              </a:rPr>
              <a:t>w</a:t>
            </a:r>
            <a:r>
              <a:rPr sz="4800" spc="-25" dirty="0">
                <a:latin typeface="Calibri"/>
                <a:cs typeface="Calibri"/>
              </a:rPr>
              <a:t>e</a:t>
            </a:r>
            <a:r>
              <a:rPr sz="4800" dirty="0">
                <a:latin typeface="Calibri"/>
                <a:cs typeface="Calibri"/>
              </a:rPr>
              <a:t> do </a:t>
            </a:r>
            <a:r>
              <a:rPr sz="4800" spc="-55" dirty="0">
                <a:latin typeface="Calibri"/>
                <a:cs typeface="Calibri"/>
              </a:rPr>
              <a:t>s</a:t>
            </a:r>
            <a:r>
              <a:rPr sz="4800" spc="-80" dirty="0">
                <a:latin typeface="Calibri"/>
                <a:cs typeface="Calibri"/>
              </a:rPr>
              <a:t>t</a:t>
            </a:r>
            <a:r>
              <a:rPr sz="4800" spc="-45" dirty="0">
                <a:latin typeface="Calibri"/>
                <a:cs typeface="Calibri"/>
              </a:rPr>
              <a:t>a</a:t>
            </a:r>
            <a:r>
              <a:rPr lang="en-US" sz="4800" spc="95" dirty="0">
                <a:latin typeface="Calibri"/>
                <a:cs typeface="Calibri"/>
              </a:rPr>
              <a:t>ti</a:t>
            </a:r>
            <a:r>
              <a:rPr sz="4800" spc="-55" dirty="0">
                <a:latin typeface="Calibri"/>
                <a:cs typeface="Calibri"/>
              </a:rPr>
              <a:t>s</a:t>
            </a:r>
            <a:r>
              <a:rPr lang="en-US" sz="4800" spc="95" dirty="0">
                <a:latin typeface="Calibri"/>
                <a:cs typeface="Calibri"/>
              </a:rPr>
              <a:t>ti</a:t>
            </a:r>
            <a:r>
              <a:rPr sz="4800" spc="-65" dirty="0">
                <a:latin typeface="Calibri"/>
                <a:cs typeface="Calibri"/>
              </a:rPr>
              <a:t>c</a:t>
            </a:r>
            <a:r>
              <a:rPr sz="4800" dirty="0">
                <a:latin typeface="Calibri"/>
                <a:cs typeface="Calibri"/>
              </a:rPr>
              <a:t>al </a:t>
            </a:r>
            <a:r>
              <a:rPr sz="4800" spc="-45" dirty="0">
                <a:latin typeface="Calibri"/>
                <a:cs typeface="Calibri"/>
              </a:rPr>
              <a:t>m</a:t>
            </a:r>
            <a:r>
              <a:rPr sz="4800" spc="-5" dirty="0">
                <a:latin typeface="Calibri"/>
                <a:cs typeface="Calibri"/>
              </a:rPr>
              <a:t>o</a:t>
            </a:r>
            <a:r>
              <a:rPr sz="4800" dirty="0">
                <a:latin typeface="Calibri"/>
                <a:cs typeface="Calibri"/>
              </a:rPr>
              <a:t>d</a:t>
            </a:r>
            <a:r>
              <a:rPr sz="4800" spc="-25" dirty="0">
                <a:latin typeface="Calibri"/>
                <a:cs typeface="Calibri"/>
              </a:rPr>
              <a:t>e</a:t>
            </a:r>
            <a:r>
              <a:rPr sz="4800" dirty="0">
                <a:latin typeface="Calibri"/>
                <a:cs typeface="Calibri"/>
              </a:rPr>
              <a:t>l </a:t>
            </a:r>
            <a:r>
              <a:rPr sz="4800" spc="-65" dirty="0">
                <a:latin typeface="Calibri"/>
                <a:cs typeface="Calibri"/>
              </a:rPr>
              <a:t>c</a:t>
            </a:r>
            <a:r>
              <a:rPr sz="4800" spc="-5" dirty="0">
                <a:latin typeface="Calibri"/>
                <a:cs typeface="Calibri"/>
              </a:rPr>
              <a:t>o</a:t>
            </a:r>
            <a:r>
              <a:rPr sz="4800" spc="-45" dirty="0">
                <a:latin typeface="Calibri"/>
                <a:cs typeface="Calibri"/>
              </a:rPr>
              <a:t>m</a:t>
            </a:r>
            <a:r>
              <a:rPr sz="4800" dirty="0">
                <a:latin typeface="Calibri"/>
                <a:cs typeface="Calibri"/>
              </a:rPr>
              <a:t>p</a:t>
            </a:r>
            <a:r>
              <a:rPr sz="4800" spc="-25" dirty="0">
                <a:latin typeface="Calibri"/>
                <a:cs typeface="Calibri"/>
              </a:rPr>
              <a:t>ar</a:t>
            </a:r>
            <a:r>
              <a:rPr sz="4800" dirty="0">
                <a:latin typeface="Calibri"/>
                <a:cs typeface="Calibri"/>
              </a:rPr>
              <a:t>is</a:t>
            </a:r>
            <a:r>
              <a:rPr sz="4800" spc="-5" dirty="0">
                <a:latin typeface="Calibri"/>
                <a:cs typeface="Calibri"/>
              </a:rPr>
              <a:t>o</a:t>
            </a:r>
            <a:r>
              <a:rPr sz="4800" dirty="0">
                <a:latin typeface="Calibri"/>
                <a:cs typeface="Calibri"/>
              </a:rPr>
              <a:t>n.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274300" y="4983094"/>
            <a:ext cx="1872614" cy="558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899"/>
              </a:lnSpc>
            </a:pPr>
            <a:r>
              <a:rPr sz="1900" spc="-15" dirty="0">
                <a:latin typeface="Helvetica"/>
                <a:cs typeface="Helvetica"/>
              </a:rPr>
              <a:t>George</a:t>
            </a:r>
            <a:r>
              <a:rPr sz="1900" spc="-5" dirty="0">
                <a:latin typeface="Helvetica"/>
                <a:cs typeface="Helvetica"/>
              </a:rPr>
              <a:t> </a:t>
            </a:r>
            <a:r>
              <a:rPr sz="1900" spc="-10" dirty="0">
                <a:latin typeface="Helvetica"/>
                <a:cs typeface="Helvetica"/>
              </a:rPr>
              <a:t>E.</a:t>
            </a:r>
            <a:r>
              <a:rPr sz="1900" spc="-5" dirty="0">
                <a:latin typeface="Helvetica"/>
                <a:cs typeface="Helvetica"/>
              </a:rPr>
              <a:t> </a:t>
            </a:r>
            <a:r>
              <a:rPr sz="1900" spc="-260" dirty="0">
                <a:latin typeface="Helvetica"/>
                <a:cs typeface="Helvetica"/>
              </a:rPr>
              <a:t>P</a:t>
            </a:r>
            <a:r>
              <a:rPr sz="1900" spc="-10" dirty="0">
                <a:latin typeface="Helvetica"/>
                <a:cs typeface="Helvetica"/>
              </a:rPr>
              <a:t>.</a:t>
            </a:r>
            <a:r>
              <a:rPr sz="1900" spc="-5" dirty="0">
                <a:latin typeface="Helvetica"/>
                <a:cs typeface="Helvetica"/>
              </a:rPr>
              <a:t> </a:t>
            </a:r>
            <a:r>
              <a:rPr sz="1900" dirty="0">
                <a:latin typeface="Helvetica"/>
                <a:cs typeface="Helvetica"/>
              </a:rPr>
              <a:t>Box (1919-2013)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2600" y="1511300"/>
            <a:ext cx="8763000" cy="2113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85165">
              <a:lnSpc>
                <a:spcPct val="102400"/>
              </a:lnSpc>
            </a:pPr>
            <a:r>
              <a:rPr sz="4800" spc="-405" dirty="0">
                <a:latin typeface="Calibri"/>
                <a:cs typeface="Calibri"/>
              </a:rPr>
              <a:t>“</a:t>
            </a:r>
            <a:r>
              <a:rPr sz="4800" spc="-30" dirty="0">
                <a:latin typeface="Calibri"/>
                <a:cs typeface="Calibri"/>
              </a:rPr>
              <a:t>A</a:t>
            </a:r>
            <a:r>
              <a:rPr sz="4800" dirty="0">
                <a:latin typeface="Calibri"/>
                <a:cs typeface="Calibri"/>
              </a:rPr>
              <a:t>ll </a:t>
            </a:r>
            <a:r>
              <a:rPr sz="4800" spc="-45" dirty="0">
                <a:latin typeface="Calibri"/>
                <a:cs typeface="Calibri"/>
              </a:rPr>
              <a:t>m</a:t>
            </a:r>
            <a:r>
              <a:rPr sz="4800" spc="-5" dirty="0">
                <a:latin typeface="Calibri"/>
                <a:cs typeface="Calibri"/>
              </a:rPr>
              <a:t>o</a:t>
            </a:r>
            <a:r>
              <a:rPr sz="4800" dirty="0">
                <a:latin typeface="Calibri"/>
                <a:cs typeface="Calibri"/>
              </a:rPr>
              <a:t>d</a:t>
            </a:r>
            <a:r>
              <a:rPr sz="4800" spc="-25" dirty="0">
                <a:latin typeface="Calibri"/>
                <a:cs typeface="Calibri"/>
              </a:rPr>
              <a:t>e</a:t>
            </a:r>
            <a:r>
              <a:rPr sz="4800" dirty="0">
                <a:latin typeface="Calibri"/>
                <a:cs typeface="Calibri"/>
              </a:rPr>
              <a:t>ls </a:t>
            </a:r>
            <a:r>
              <a:rPr sz="4800" spc="-25" dirty="0">
                <a:latin typeface="Calibri"/>
                <a:cs typeface="Calibri"/>
              </a:rPr>
              <a:t>a</a:t>
            </a:r>
            <a:r>
              <a:rPr sz="4800" spc="-85" dirty="0">
                <a:latin typeface="Calibri"/>
                <a:cs typeface="Calibri"/>
              </a:rPr>
              <a:t>r</a:t>
            </a:r>
            <a:r>
              <a:rPr sz="4800" spc="-25" dirty="0">
                <a:latin typeface="Calibri"/>
                <a:cs typeface="Calibri"/>
              </a:rPr>
              <a:t>e</a:t>
            </a:r>
            <a:r>
              <a:rPr sz="4800" dirty="0">
                <a:latin typeface="Calibri"/>
                <a:cs typeface="Calibri"/>
              </a:rPr>
              <a:t> </a:t>
            </a:r>
            <a:r>
              <a:rPr sz="4800" spc="-40" dirty="0">
                <a:latin typeface="Calibri"/>
                <a:cs typeface="Calibri"/>
              </a:rPr>
              <a:t>w</a:t>
            </a:r>
            <a:r>
              <a:rPr sz="4800" spc="-100" dirty="0">
                <a:latin typeface="Calibri"/>
                <a:cs typeface="Calibri"/>
              </a:rPr>
              <a:t>r</a:t>
            </a:r>
            <a:r>
              <a:rPr sz="4800" spc="-5" dirty="0">
                <a:latin typeface="Calibri"/>
                <a:cs typeface="Calibri"/>
              </a:rPr>
              <a:t>o</a:t>
            </a:r>
            <a:r>
              <a:rPr sz="4800" dirty="0">
                <a:latin typeface="Calibri"/>
                <a:cs typeface="Calibri"/>
              </a:rPr>
              <a:t>n</a:t>
            </a:r>
            <a:r>
              <a:rPr sz="4800" spc="25" dirty="0">
                <a:latin typeface="Calibri"/>
                <a:cs typeface="Calibri"/>
              </a:rPr>
              <a:t>g</a:t>
            </a:r>
            <a:r>
              <a:rPr sz="4800" spc="-15" dirty="0">
                <a:latin typeface="Calibri"/>
                <a:cs typeface="Calibri"/>
              </a:rPr>
              <a:t>,</a:t>
            </a:r>
            <a:r>
              <a:rPr sz="4800" dirty="0">
                <a:latin typeface="Calibri"/>
                <a:cs typeface="Calibri"/>
              </a:rPr>
              <a:t> bu</a:t>
            </a:r>
            <a:r>
              <a:rPr sz="4800" spc="-20" dirty="0">
                <a:latin typeface="Calibri"/>
                <a:cs typeface="Calibri"/>
              </a:rPr>
              <a:t>t</a:t>
            </a:r>
            <a:r>
              <a:rPr sz="4800" dirty="0">
                <a:latin typeface="Calibri"/>
                <a:cs typeface="Calibri"/>
              </a:rPr>
              <a:t> s</a:t>
            </a:r>
            <a:r>
              <a:rPr sz="4800" spc="-5" dirty="0">
                <a:latin typeface="Calibri"/>
                <a:cs typeface="Calibri"/>
              </a:rPr>
              <a:t>o</a:t>
            </a:r>
            <a:r>
              <a:rPr sz="4800" spc="-45" dirty="0">
                <a:latin typeface="Calibri"/>
                <a:cs typeface="Calibri"/>
              </a:rPr>
              <a:t>m</a:t>
            </a:r>
            <a:r>
              <a:rPr sz="4800" spc="-25" dirty="0">
                <a:latin typeface="Calibri"/>
                <a:cs typeface="Calibri"/>
              </a:rPr>
              <a:t>e</a:t>
            </a:r>
            <a:r>
              <a:rPr sz="4800" spc="-15" dirty="0">
                <a:latin typeface="Calibri"/>
                <a:cs typeface="Calibri"/>
              </a:rPr>
              <a:t> </a:t>
            </a:r>
            <a:r>
              <a:rPr sz="4800" spc="-45" dirty="0">
                <a:latin typeface="Calibri"/>
                <a:cs typeface="Calibri"/>
              </a:rPr>
              <a:t>m</a:t>
            </a:r>
            <a:r>
              <a:rPr sz="4800" spc="-5" dirty="0">
                <a:latin typeface="Calibri"/>
                <a:cs typeface="Calibri"/>
              </a:rPr>
              <a:t>o</a:t>
            </a:r>
            <a:r>
              <a:rPr sz="4800" dirty="0">
                <a:latin typeface="Calibri"/>
                <a:cs typeface="Calibri"/>
              </a:rPr>
              <a:t>d</a:t>
            </a:r>
            <a:r>
              <a:rPr sz="4800" spc="-25" dirty="0">
                <a:latin typeface="Calibri"/>
                <a:cs typeface="Calibri"/>
              </a:rPr>
              <a:t>e</a:t>
            </a:r>
            <a:r>
              <a:rPr sz="4800" dirty="0">
                <a:latin typeface="Calibri"/>
                <a:cs typeface="Calibri"/>
              </a:rPr>
              <a:t>ls </a:t>
            </a:r>
            <a:r>
              <a:rPr sz="4800" spc="-25" dirty="0">
                <a:latin typeface="Calibri"/>
                <a:cs typeface="Calibri"/>
              </a:rPr>
              <a:t>a</a:t>
            </a:r>
            <a:r>
              <a:rPr sz="4800" spc="-85" dirty="0">
                <a:latin typeface="Calibri"/>
                <a:cs typeface="Calibri"/>
              </a:rPr>
              <a:t>r</a:t>
            </a:r>
            <a:r>
              <a:rPr sz="4800" spc="-25" dirty="0">
                <a:latin typeface="Calibri"/>
                <a:cs typeface="Calibri"/>
              </a:rPr>
              <a:t>e</a:t>
            </a:r>
            <a:r>
              <a:rPr sz="4800" dirty="0">
                <a:latin typeface="Calibri"/>
                <a:cs typeface="Calibri"/>
              </a:rPr>
              <a:t> us</a:t>
            </a:r>
            <a:r>
              <a:rPr sz="4800" spc="-70" dirty="0">
                <a:latin typeface="Calibri"/>
                <a:cs typeface="Calibri"/>
              </a:rPr>
              <a:t>e</a:t>
            </a:r>
            <a:r>
              <a:rPr sz="4800" dirty="0">
                <a:latin typeface="Calibri"/>
                <a:cs typeface="Calibri"/>
              </a:rPr>
              <a:t>ful</a:t>
            </a:r>
            <a:r>
              <a:rPr sz="4800" spc="-355" dirty="0">
                <a:latin typeface="Calibri"/>
                <a:cs typeface="Calibri"/>
              </a:rPr>
              <a:t>.</a:t>
            </a:r>
            <a:r>
              <a:rPr sz="4800" dirty="0">
                <a:latin typeface="Calibri"/>
                <a:cs typeface="Calibri"/>
              </a:rPr>
              <a:t>”</a:t>
            </a:r>
            <a:endParaRPr sz="4800">
              <a:latin typeface="Calibri"/>
              <a:cs typeface="Calibri"/>
            </a:endParaRPr>
          </a:p>
          <a:p>
            <a:pPr marL="5397500">
              <a:lnSpc>
                <a:spcPct val="100000"/>
              </a:lnSpc>
              <a:spcBef>
                <a:spcPts val="180"/>
              </a:spcBef>
            </a:pPr>
            <a:r>
              <a:rPr sz="4800" spc="-5" dirty="0">
                <a:latin typeface="Calibri"/>
                <a:cs typeface="Calibri"/>
              </a:rPr>
              <a:t>-</a:t>
            </a:r>
            <a:r>
              <a:rPr sz="4800" dirty="0">
                <a:latin typeface="Calibri"/>
                <a:cs typeface="Calibri"/>
              </a:rPr>
              <a:t>- </a:t>
            </a:r>
            <a:r>
              <a:rPr sz="4800" spc="-35" dirty="0">
                <a:latin typeface="Calibri"/>
                <a:cs typeface="Calibri"/>
              </a:rPr>
              <a:t>G</a:t>
            </a:r>
            <a:r>
              <a:rPr sz="4800" spc="-30" dirty="0">
                <a:latin typeface="Calibri"/>
                <a:cs typeface="Calibri"/>
              </a:rPr>
              <a:t>eo</a:t>
            </a:r>
            <a:r>
              <a:rPr sz="4800" spc="-85" dirty="0">
                <a:latin typeface="Calibri"/>
                <a:cs typeface="Calibri"/>
              </a:rPr>
              <a:t>r</a:t>
            </a:r>
            <a:r>
              <a:rPr sz="4800" spc="-70" dirty="0">
                <a:latin typeface="Calibri"/>
                <a:cs typeface="Calibri"/>
              </a:rPr>
              <a:t>g</a:t>
            </a:r>
            <a:r>
              <a:rPr sz="4800" spc="-25" dirty="0">
                <a:latin typeface="Calibri"/>
                <a:cs typeface="Calibri"/>
              </a:rPr>
              <a:t>e</a:t>
            </a:r>
            <a:r>
              <a:rPr sz="4800" spc="-5" dirty="0">
                <a:latin typeface="Calibri"/>
                <a:cs typeface="Calibri"/>
              </a:rPr>
              <a:t> </a:t>
            </a:r>
            <a:r>
              <a:rPr sz="4800" dirty="0">
                <a:latin typeface="Calibri"/>
                <a:cs typeface="Calibri"/>
              </a:rPr>
              <a:t>B</a:t>
            </a:r>
            <a:r>
              <a:rPr sz="4800" spc="-95" dirty="0">
                <a:latin typeface="Calibri"/>
                <a:cs typeface="Calibri"/>
              </a:rPr>
              <a:t>o</a:t>
            </a:r>
            <a:r>
              <a:rPr sz="4800" dirty="0">
                <a:latin typeface="Calibri"/>
                <a:cs typeface="Calibri"/>
              </a:rPr>
              <a:t>x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6700" y="342900"/>
            <a:ext cx="3111500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800" b="1" spc="-30" dirty="0">
                <a:latin typeface="Calibri"/>
                <a:cs typeface="Calibri"/>
              </a:rPr>
              <a:t>Cau</a:t>
            </a:r>
            <a:r>
              <a:rPr lang="en-US" sz="4800" b="1" spc="170" dirty="0">
                <a:latin typeface="Calibri"/>
                <a:cs typeface="Calibri"/>
              </a:rPr>
              <a:t>ti</a:t>
            </a:r>
            <a:r>
              <a:rPr sz="4800" b="1" spc="170" dirty="0">
                <a:latin typeface="Calibri"/>
                <a:cs typeface="Calibri"/>
              </a:rPr>
              <a:t>o</a:t>
            </a:r>
            <a:r>
              <a:rPr sz="4800" b="1" spc="-35" dirty="0">
                <a:latin typeface="Calibri"/>
                <a:cs typeface="Calibri"/>
              </a:rPr>
              <a:t>n</a:t>
            </a:r>
            <a:r>
              <a:rPr sz="4800" b="1" spc="-20" dirty="0">
                <a:latin typeface="Calibri"/>
                <a:cs typeface="Calibri"/>
              </a:rPr>
              <a:t>s</a:t>
            </a:r>
            <a:endParaRPr sz="48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1000" y="0"/>
            <a:ext cx="3632200" cy="510724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22300" y="4983094"/>
            <a:ext cx="12066905" cy="3989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664700" marR="547370">
              <a:lnSpc>
                <a:spcPct val="100899"/>
              </a:lnSpc>
            </a:pPr>
            <a:r>
              <a:rPr sz="1900" spc="-15" dirty="0">
                <a:latin typeface="Helvetica"/>
                <a:cs typeface="Helvetica"/>
              </a:rPr>
              <a:t>George</a:t>
            </a:r>
            <a:r>
              <a:rPr sz="1900" spc="-5" dirty="0">
                <a:latin typeface="Helvetica"/>
                <a:cs typeface="Helvetica"/>
              </a:rPr>
              <a:t> </a:t>
            </a:r>
            <a:r>
              <a:rPr sz="1900" spc="-10" dirty="0">
                <a:latin typeface="Helvetica"/>
                <a:cs typeface="Helvetica"/>
              </a:rPr>
              <a:t>E.</a:t>
            </a:r>
            <a:r>
              <a:rPr sz="1900" spc="-5" dirty="0">
                <a:latin typeface="Helvetica"/>
                <a:cs typeface="Helvetica"/>
              </a:rPr>
              <a:t> </a:t>
            </a:r>
            <a:r>
              <a:rPr sz="1900" spc="-260" dirty="0">
                <a:latin typeface="Helvetica"/>
                <a:cs typeface="Helvetica"/>
              </a:rPr>
              <a:t>P</a:t>
            </a:r>
            <a:r>
              <a:rPr sz="1900" spc="-10" dirty="0">
                <a:latin typeface="Helvetica"/>
                <a:cs typeface="Helvetica"/>
              </a:rPr>
              <a:t>.</a:t>
            </a:r>
            <a:r>
              <a:rPr sz="1900" spc="-5" dirty="0">
                <a:latin typeface="Helvetica"/>
                <a:cs typeface="Helvetica"/>
              </a:rPr>
              <a:t> </a:t>
            </a:r>
            <a:r>
              <a:rPr sz="1900" dirty="0">
                <a:latin typeface="Helvetica"/>
                <a:cs typeface="Helvetica"/>
              </a:rPr>
              <a:t>Box (1919-2013)</a:t>
            </a: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5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4800" dirty="0">
                <a:latin typeface="Calibri"/>
                <a:cs typeface="Calibri"/>
              </a:rPr>
              <a:t>Cu</a:t>
            </a:r>
            <a:r>
              <a:rPr sz="4800" spc="-25" dirty="0">
                <a:latin typeface="Calibri"/>
                <a:cs typeface="Calibri"/>
              </a:rPr>
              <a:t>r</a:t>
            </a:r>
            <a:r>
              <a:rPr sz="4800" spc="-85" dirty="0">
                <a:latin typeface="Calibri"/>
                <a:cs typeface="Calibri"/>
              </a:rPr>
              <a:t>r</a:t>
            </a:r>
            <a:r>
              <a:rPr sz="4800" spc="-25" dirty="0">
                <a:latin typeface="Calibri"/>
                <a:cs typeface="Calibri"/>
              </a:rPr>
              <a:t>e</a:t>
            </a:r>
            <a:r>
              <a:rPr sz="4800" spc="-45" dirty="0">
                <a:latin typeface="Calibri"/>
                <a:cs typeface="Calibri"/>
              </a:rPr>
              <a:t>n</a:t>
            </a:r>
            <a:r>
              <a:rPr sz="4800" spc="-20" dirty="0">
                <a:latin typeface="Calibri"/>
                <a:cs typeface="Calibri"/>
              </a:rPr>
              <a:t>t</a:t>
            </a:r>
            <a:r>
              <a:rPr sz="4800" dirty="0">
                <a:latin typeface="Calibri"/>
                <a:cs typeface="Calibri"/>
              </a:rPr>
              <a:t> </a:t>
            </a:r>
            <a:r>
              <a:rPr sz="4800" spc="-25" dirty="0">
                <a:latin typeface="Calibri"/>
                <a:cs typeface="Calibri"/>
              </a:rPr>
              <a:t>g</a:t>
            </a:r>
            <a:r>
              <a:rPr sz="4800" spc="-120" dirty="0">
                <a:latin typeface="Calibri"/>
                <a:cs typeface="Calibri"/>
              </a:rPr>
              <a:t>r</a:t>
            </a:r>
            <a:r>
              <a:rPr sz="4800" dirty="0">
                <a:latin typeface="Calibri"/>
                <a:cs typeface="Calibri"/>
              </a:rPr>
              <a:t>a</a:t>
            </a:r>
            <a:r>
              <a:rPr sz="4800" spc="-45" dirty="0">
                <a:latin typeface="Calibri"/>
                <a:cs typeface="Calibri"/>
              </a:rPr>
              <a:t>n</a:t>
            </a:r>
            <a:r>
              <a:rPr sz="4800" spc="-20" dirty="0">
                <a:latin typeface="Calibri"/>
                <a:cs typeface="Calibri"/>
              </a:rPr>
              <a:t>t</a:t>
            </a:r>
            <a:r>
              <a:rPr sz="4800" dirty="0">
                <a:latin typeface="Calibri"/>
                <a:cs typeface="Calibri"/>
              </a:rPr>
              <a:t> p</a:t>
            </a:r>
            <a:r>
              <a:rPr sz="4800" spc="-100" dirty="0">
                <a:latin typeface="Calibri"/>
                <a:cs typeface="Calibri"/>
              </a:rPr>
              <a:t>r</a:t>
            </a:r>
            <a:r>
              <a:rPr sz="4800" spc="-5" dirty="0">
                <a:latin typeface="Calibri"/>
                <a:cs typeface="Calibri"/>
              </a:rPr>
              <a:t>o</a:t>
            </a:r>
            <a:r>
              <a:rPr sz="4800" dirty="0">
                <a:latin typeface="Calibri"/>
                <a:cs typeface="Calibri"/>
              </a:rPr>
              <a:t>p</a:t>
            </a:r>
            <a:r>
              <a:rPr sz="4800" spc="-5" dirty="0">
                <a:latin typeface="Calibri"/>
                <a:cs typeface="Calibri"/>
              </a:rPr>
              <a:t>o</a:t>
            </a:r>
            <a:r>
              <a:rPr sz="4800" dirty="0">
                <a:latin typeface="Calibri"/>
                <a:cs typeface="Calibri"/>
              </a:rPr>
              <a:t>sals </a:t>
            </a:r>
            <a:r>
              <a:rPr sz="4800" spc="-70" dirty="0">
                <a:latin typeface="Calibri"/>
                <a:cs typeface="Calibri"/>
              </a:rPr>
              <a:t>t</a:t>
            </a:r>
            <a:r>
              <a:rPr sz="4800" spc="-5" dirty="0">
                <a:latin typeface="Calibri"/>
                <a:cs typeface="Calibri"/>
              </a:rPr>
              <a:t>o</a:t>
            </a:r>
            <a:r>
              <a:rPr sz="4800" spc="-15" dirty="0">
                <a:latin typeface="Calibri"/>
                <a:cs typeface="Calibri"/>
              </a:rPr>
              <a:t>:</a:t>
            </a:r>
            <a:endParaRPr sz="4800" dirty="0">
              <a:latin typeface="Calibri"/>
              <a:cs typeface="Calibri"/>
            </a:endParaRPr>
          </a:p>
          <a:p>
            <a:pPr marL="863600" indent="-850900">
              <a:lnSpc>
                <a:spcPct val="100000"/>
              </a:lnSpc>
              <a:spcBef>
                <a:spcPts val="140"/>
              </a:spcBef>
              <a:buFont typeface="Calibri"/>
              <a:buAutoNum type="arabicPeriod"/>
              <a:tabLst>
                <a:tab pos="863600" algn="l"/>
              </a:tabLst>
            </a:pPr>
            <a:r>
              <a:rPr sz="4800" dirty="0">
                <a:latin typeface="Calibri"/>
                <a:cs typeface="Calibri"/>
              </a:rPr>
              <a:t>In</a:t>
            </a:r>
            <a:r>
              <a:rPr sz="4800" spc="-25" dirty="0">
                <a:latin typeface="Calibri"/>
                <a:cs typeface="Calibri"/>
              </a:rPr>
              <a:t>c</a:t>
            </a:r>
            <a:r>
              <a:rPr sz="4800" dirty="0">
                <a:latin typeface="Calibri"/>
                <a:cs typeface="Calibri"/>
              </a:rPr>
              <a:t>lud</a:t>
            </a:r>
            <a:r>
              <a:rPr sz="4800" spc="-25" dirty="0">
                <a:latin typeface="Calibri"/>
                <a:cs typeface="Calibri"/>
              </a:rPr>
              <a:t>e</a:t>
            </a:r>
            <a:r>
              <a:rPr sz="4800" dirty="0">
                <a:latin typeface="Calibri"/>
                <a:cs typeface="Calibri"/>
              </a:rPr>
              <a:t> lin</a:t>
            </a:r>
            <a:r>
              <a:rPr sz="4800" spc="-25" dirty="0">
                <a:latin typeface="Calibri"/>
                <a:cs typeface="Calibri"/>
              </a:rPr>
              <a:t>ea</a:t>
            </a:r>
            <a:r>
              <a:rPr sz="4800" spc="-65" dirty="0">
                <a:latin typeface="Calibri"/>
                <a:cs typeface="Calibri"/>
              </a:rPr>
              <a:t>g</a:t>
            </a:r>
            <a:r>
              <a:rPr sz="4800" spc="-25" dirty="0">
                <a:latin typeface="Calibri"/>
                <a:cs typeface="Calibri"/>
              </a:rPr>
              <a:t>e</a:t>
            </a:r>
            <a:r>
              <a:rPr sz="4800" dirty="0">
                <a:latin typeface="Calibri"/>
                <a:cs typeface="Calibri"/>
              </a:rPr>
              <a:t> </a:t>
            </a:r>
            <a:r>
              <a:rPr sz="4800" spc="-100" dirty="0">
                <a:latin typeface="Calibri"/>
                <a:cs typeface="Calibri"/>
              </a:rPr>
              <a:t>e</a:t>
            </a:r>
            <a:r>
              <a:rPr sz="4800" spc="10" dirty="0">
                <a:latin typeface="Calibri"/>
                <a:cs typeface="Calibri"/>
              </a:rPr>
              <a:t>x</a:t>
            </a:r>
            <a:r>
              <a:rPr lang="en-US" sz="4800" spc="95" dirty="0">
                <a:latin typeface="Calibri"/>
                <a:cs typeface="Calibri"/>
              </a:rPr>
              <a:t>ti</a:t>
            </a:r>
            <a:r>
              <a:rPr sz="4800" dirty="0">
                <a:latin typeface="Calibri"/>
                <a:cs typeface="Calibri"/>
              </a:rPr>
              <a:t>n</a:t>
            </a:r>
            <a:r>
              <a:rPr sz="4800" spc="-25" dirty="0">
                <a:latin typeface="Calibri"/>
                <a:cs typeface="Calibri"/>
              </a:rPr>
              <a:t>c</a:t>
            </a:r>
            <a:r>
              <a:rPr lang="en-US" sz="4800" spc="95" dirty="0">
                <a:latin typeface="Calibri"/>
                <a:cs typeface="Calibri"/>
              </a:rPr>
              <a:t>ti</a:t>
            </a:r>
            <a:r>
              <a:rPr sz="4800" spc="-5" dirty="0">
                <a:latin typeface="Calibri"/>
                <a:cs typeface="Calibri"/>
              </a:rPr>
              <a:t>o</a:t>
            </a:r>
            <a:r>
              <a:rPr sz="4800" dirty="0">
                <a:latin typeface="Calibri"/>
                <a:cs typeface="Calibri"/>
              </a:rPr>
              <a:t>n</a:t>
            </a:r>
          </a:p>
          <a:p>
            <a:pPr marL="863600" indent="-850900">
              <a:lnSpc>
                <a:spcPct val="100000"/>
              </a:lnSpc>
              <a:spcBef>
                <a:spcPts val="140"/>
              </a:spcBef>
              <a:buFont typeface="Calibri"/>
              <a:buAutoNum type="arabicPeriod"/>
              <a:tabLst>
                <a:tab pos="863600" algn="l"/>
              </a:tabLst>
            </a:pPr>
            <a:r>
              <a:rPr sz="4800" dirty="0">
                <a:latin typeface="Calibri"/>
                <a:cs typeface="Calibri"/>
              </a:rPr>
              <a:t>In</a:t>
            </a:r>
            <a:r>
              <a:rPr sz="4800" spc="-25" dirty="0">
                <a:latin typeface="Calibri"/>
                <a:cs typeface="Calibri"/>
              </a:rPr>
              <a:t>c</a:t>
            </a:r>
            <a:r>
              <a:rPr sz="4800" dirty="0">
                <a:latin typeface="Calibri"/>
                <a:cs typeface="Calibri"/>
              </a:rPr>
              <a:t>lud</a:t>
            </a:r>
            <a:r>
              <a:rPr sz="4800" spc="-25" dirty="0">
                <a:latin typeface="Calibri"/>
                <a:cs typeface="Calibri"/>
              </a:rPr>
              <a:t>e</a:t>
            </a:r>
            <a:r>
              <a:rPr sz="4800" spc="-5" dirty="0">
                <a:latin typeface="Calibri"/>
                <a:cs typeface="Calibri"/>
              </a:rPr>
              <a:t> </a:t>
            </a:r>
            <a:r>
              <a:rPr sz="4800" i="1" spc="-25" dirty="0">
                <a:latin typeface="Calibri"/>
                <a:cs typeface="Calibri"/>
              </a:rPr>
              <a:t>GPl</a:t>
            </a:r>
            <a:r>
              <a:rPr sz="4800" i="1" spc="-5" dirty="0">
                <a:latin typeface="Calibri"/>
                <a:cs typeface="Calibri"/>
              </a:rPr>
              <a:t>a</a:t>
            </a:r>
            <a:r>
              <a:rPr sz="4800" i="1" spc="-55" dirty="0">
                <a:latin typeface="Calibri"/>
                <a:cs typeface="Calibri"/>
              </a:rPr>
              <a:t>t</a:t>
            </a:r>
            <a:r>
              <a:rPr sz="4800" i="1" spc="-25" dirty="0">
                <a:latin typeface="Calibri"/>
                <a:cs typeface="Calibri"/>
              </a:rPr>
              <a:t>es</a:t>
            </a:r>
            <a:r>
              <a:rPr sz="4800" i="1" spc="-5" dirty="0">
                <a:latin typeface="Calibri"/>
                <a:cs typeface="Calibri"/>
              </a:rPr>
              <a:t> </a:t>
            </a:r>
            <a:r>
              <a:rPr sz="4800" spc="-5" dirty="0">
                <a:latin typeface="Calibri"/>
                <a:cs typeface="Calibri"/>
              </a:rPr>
              <a:t>(open-sou</a:t>
            </a:r>
            <a:r>
              <a:rPr sz="4800" spc="-70" dirty="0">
                <a:latin typeface="Calibri"/>
                <a:cs typeface="Calibri"/>
              </a:rPr>
              <a:t>r</a:t>
            </a:r>
            <a:r>
              <a:rPr sz="4800" spc="-25" dirty="0">
                <a:latin typeface="Calibri"/>
                <a:cs typeface="Calibri"/>
              </a:rPr>
              <a:t>ce</a:t>
            </a:r>
            <a:r>
              <a:rPr sz="4800" spc="-5" dirty="0">
                <a:latin typeface="Calibri"/>
                <a:cs typeface="Calibri"/>
              </a:rPr>
              <a:t> pl</a:t>
            </a:r>
            <a:r>
              <a:rPr sz="4800" spc="-45" dirty="0">
                <a:latin typeface="Calibri"/>
                <a:cs typeface="Calibri"/>
              </a:rPr>
              <a:t>a</a:t>
            </a:r>
            <a:r>
              <a:rPr sz="4800" spc="-75" dirty="0">
                <a:latin typeface="Calibri"/>
                <a:cs typeface="Calibri"/>
              </a:rPr>
              <a:t>t</a:t>
            </a:r>
            <a:r>
              <a:rPr sz="4800" spc="-25" dirty="0">
                <a:latin typeface="Calibri"/>
                <a:cs typeface="Calibri"/>
              </a:rPr>
              <a:t>e</a:t>
            </a:r>
            <a:r>
              <a:rPr sz="4800" spc="-5" dirty="0">
                <a:latin typeface="Calibri"/>
                <a:cs typeface="Calibri"/>
              </a:rPr>
              <a:t> </a:t>
            </a:r>
            <a:r>
              <a:rPr sz="4800" spc="-75" dirty="0">
                <a:latin typeface="Calibri"/>
                <a:cs typeface="Calibri"/>
              </a:rPr>
              <a:t>t</a:t>
            </a:r>
            <a:r>
              <a:rPr sz="4800" spc="-30" dirty="0">
                <a:latin typeface="Calibri"/>
                <a:cs typeface="Calibri"/>
              </a:rPr>
              <a:t>e</a:t>
            </a:r>
            <a:r>
              <a:rPr sz="4800" spc="-25" dirty="0">
                <a:latin typeface="Calibri"/>
                <a:cs typeface="Calibri"/>
              </a:rPr>
              <a:t>c</a:t>
            </a:r>
            <a:r>
              <a:rPr sz="4800" spc="-70" dirty="0">
                <a:latin typeface="Calibri"/>
                <a:cs typeface="Calibri"/>
              </a:rPr>
              <a:t>t</a:t>
            </a:r>
            <a:r>
              <a:rPr sz="4800" spc="-5" dirty="0">
                <a:latin typeface="Calibri"/>
                <a:cs typeface="Calibri"/>
              </a:rPr>
              <a:t>onics)</a:t>
            </a:r>
            <a:endParaRPr sz="4800" dirty="0">
              <a:latin typeface="Calibri"/>
              <a:cs typeface="Calibri"/>
            </a:endParaRPr>
          </a:p>
          <a:p>
            <a:pPr marL="863600" indent="-850900">
              <a:lnSpc>
                <a:spcPct val="100000"/>
              </a:lnSpc>
              <a:spcBef>
                <a:spcPts val="140"/>
              </a:spcBef>
              <a:buFont typeface="Calibri"/>
              <a:buAutoNum type="arabicPeriod"/>
              <a:tabLst>
                <a:tab pos="863600" algn="l"/>
              </a:tabLst>
            </a:pPr>
            <a:r>
              <a:rPr sz="4800" spc="-5" dirty="0">
                <a:latin typeface="Calibri"/>
                <a:cs typeface="Calibri"/>
              </a:rPr>
              <a:t>D</a:t>
            </a:r>
            <a:r>
              <a:rPr sz="4800" dirty="0">
                <a:latin typeface="Calibri"/>
                <a:cs typeface="Calibri"/>
              </a:rPr>
              <a:t>o </a:t>
            </a:r>
            <a:r>
              <a:rPr sz="4800" spc="-65" dirty="0">
                <a:latin typeface="Calibri"/>
                <a:cs typeface="Calibri"/>
              </a:rPr>
              <a:t>c</a:t>
            </a:r>
            <a:r>
              <a:rPr sz="4800" dirty="0">
                <a:latin typeface="Calibri"/>
                <a:cs typeface="Calibri"/>
              </a:rPr>
              <a:t>al</a:t>
            </a:r>
            <a:r>
              <a:rPr sz="4800" spc="-25" dirty="0">
                <a:latin typeface="Calibri"/>
                <a:cs typeface="Calibri"/>
              </a:rPr>
              <a:t>c</a:t>
            </a:r>
            <a:r>
              <a:rPr sz="4800" dirty="0">
                <a:latin typeface="Calibri"/>
                <a:cs typeface="Calibri"/>
              </a:rPr>
              <a:t>ul</a:t>
            </a:r>
            <a:r>
              <a:rPr sz="4800" spc="-45" dirty="0">
                <a:latin typeface="Calibri"/>
                <a:cs typeface="Calibri"/>
              </a:rPr>
              <a:t>a</a:t>
            </a:r>
            <a:r>
              <a:rPr lang="en-US" sz="4800" spc="95" dirty="0">
                <a:latin typeface="Calibri"/>
                <a:cs typeface="Calibri"/>
              </a:rPr>
              <a:t>ti</a:t>
            </a:r>
            <a:r>
              <a:rPr sz="4800" spc="-5" dirty="0">
                <a:latin typeface="Calibri"/>
                <a:cs typeface="Calibri"/>
              </a:rPr>
              <a:t>o</a:t>
            </a:r>
            <a:r>
              <a:rPr sz="4800" dirty="0">
                <a:latin typeface="Calibri"/>
                <a:cs typeface="Calibri"/>
              </a:rPr>
              <a:t>ns in </a:t>
            </a:r>
            <a:r>
              <a:rPr sz="4800" spc="-85" dirty="0">
                <a:latin typeface="Calibri"/>
                <a:cs typeface="Calibri"/>
              </a:rPr>
              <a:t>r</a:t>
            </a:r>
            <a:r>
              <a:rPr sz="4800" spc="-25" dirty="0">
                <a:latin typeface="Calibri"/>
                <a:cs typeface="Calibri"/>
              </a:rPr>
              <a:t>e</a:t>
            </a:r>
            <a:r>
              <a:rPr sz="4800" dirty="0">
                <a:latin typeface="Calibri"/>
                <a:cs typeface="Calibri"/>
              </a:rPr>
              <a:t>as</a:t>
            </a:r>
            <a:r>
              <a:rPr sz="4800" spc="-5" dirty="0">
                <a:latin typeface="Calibri"/>
                <a:cs typeface="Calibri"/>
              </a:rPr>
              <a:t>o</a:t>
            </a:r>
            <a:r>
              <a:rPr sz="4800" dirty="0">
                <a:latin typeface="Calibri"/>
                <a:cs typeface="Calibri"/>
              </a:rPr>
              <a:t>nabl</a:t>
            </a:r>
            <a:r>
              <a:rPr sz="4800" spc="-25" dirty="0">
                <a:latin typeface="Calibri"/>
                <a:cs typeface="Calibri"/>
              </a:rPr>
              <a:t>e</a:t>
            </a:r>
            <a:r>
              <a:rPr sz="4800" dirty="0">
                <a:latin typeface="Calibri"/>
                <a:cs typeface="Calibri"/>
              </a:rPr>
              <a:t> </a:t>
            </a:r>
            <a:r>
              <a:rPr lang="en-US" sz="4800" spc="95" dirty="0">
                <a:latin typeface="Calibri"/>
                <a:cs typeface="Calibri"/>
              </a:rPr>
              <a:t>ti</a:t>
            </a:r>
            <a:r>
              <a:rPr sz="4800" spc="-45" dirty="0">
                <a:latin typeface="Calibri"/>
                <a:cs typeface="Calibri"/>
              </a:rPr>
              <a:t>m</a:t>
            </a:r>
            <a:r>
              <a:rPr sz="4800" spc="-25" dirty="0">
                <a:latin typeface="Calibri"/>
                <a:cs typeface="Calibri"/>
              </a:rPr>
              <a:t>e</a:t>
            </a:r>
            <a:endParaRPr sz="4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6700" y="330200"/>
            <a:ext cx="12482830" cy="95455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800" b="1" spc="-30" dirty="0">
                <a:latin typeface="Calibri"/>
                <a:cs typeface="Calibri"/>
              </a:rPr>
              <a:t>Summa</a:t>
            </a:r>
            <a:r>
              <a:rPr sz="4800" b="1" spc="20" dirty="0">
                <a:latin typeface="Calibri"/>
                <a:cs typeface="Calibri"/>
              </a:rPr>
              <a:t>r</a:t>
            </a:r>
            <a:r>
              <a:rPr sz="4800" b="1" spc="-25" dirty="0">
                <a:latin typeface="Calibri"/>
                <a:cs typeface="Calibri"/>
              </a:rPr>
              <a:t>y</a:t>
            </a:r>
            <a:endParaRPr sz="4800" dirty="0">
              <a:latin typeface="Calibri"/>
              <a:cs typeface="Calibri"/>
            </a:endParaRPr>
          </a:p>
          <a:p>
            <a:pPr marL="779780" marR="2049780" indent="-551180">
              <a:lnSpc>
                <a:spcPct val="102400"/>
              </a:lnSpc>
              <a:spcBef>
                <a:spcPts val="3300"/>
              </a:spcBef>
              <a:buFont typeface="Calibri"/>
              <a:buAutoNum type="arabicPeriod"/>
              <a:tabLst>
                <a:tab pos="829310" algn="l"/>
                <a:tab pos="4311015" algn="l"/>
              </a:tabLst>
            </a:pPr>
            <a:r>
              <a:rPr sz="4800" dirty="0">
                <a:latin typeface="Calibri"/>
                <a:cs typeface="Calibri"/>
              </a:rPr>
              <a:t>M</a:t>
            </a:r>
            <a:r>
              <a:rPr sz="4800" spc="-5" dirty="0">
                <a:latin typeface="Calibri"/>
                <a:cs typeface="Calibri"/>
              </a:rPr>
              <a:t>o</a:t>
            </a:r>
            <a:r>
              <a:rPr sz="4800" dirty="0">
                <a:latin typeface="Calibri"/>
                <a:cs typeface="Calibri"/>
              </a:rPr>
              <a:t>d</a:t>
            </a:r>
            <a:r>
              <a:rPr sz="4800" spc="-25" dirty="0">
                <a:latin typeface="Calibri"/>
                <a:cs typeface="Calibri"/>
              </a:rPr>
              <a:t>e</a:t>
            </a:r>
            <a:r>
              <a:rPr sz="4800" dirty="0">
                <a:latin typeface="Calibri"/>
                <a:cs typeface="Calibri"/>
              </a:rPr>
              <a:t>l </a:t>
            </a:r>
            <a:r>
              <a:rPr sz="4800" spc="-25" dirty="0">
                <a:latin typeface="Calibri"/>
                <a:cs typeface="Calibri"/>
              </a:rPr>
              <a:t>c</a:t>
            </a:r>
            <a:r>
              <a:rPr sz="4800" dirty="0">
                <a:latin typeface="Calibri"/>
                <a:cs typeface="Calibri"/>
              </a:rPr>
              <a:t>h</a:t>
            </a:r>
            <a:r>
              <a:rPr sz="4800" spc="-5" dirty="0">
                <a:latin typeface="Calibri"/>
                <a:cs typeface="Calibri"/>
              </a:rPr>
              <a:t>o</a:t>
            </a:r>
            <a:r>
              <a:rPr sz="4800" dirty="0">
                <a:latin typeface="Calibri"/>
                <a:cs typeface="Calibri"/>
              </a:rPr>
              <a:t>i</a:t>
            </a:r>
            <a:r>
              <a:rPr sz="4800" spc="-25" dirty="0">
                <a:latin typeface="Calibri"/>
                <a:cs typeface="Calibri"/>
              </a:rPr>
              <a:t>ce</a:t>
            </a:r>
            <a:r>
              <a:rPr sz="4800" dirty="0">
                <a:latin typeface="Calibri"/>
                <a:cs typeface="Calibri"/>
              </a:rPr>
              <a:t>	</a:t>
            </a:r>
            <a:r>
              <a:rPr sz="4800" b="1" u="heavy" dirty="0">
                <a:latin typeface="Calibri"/>
                <a:cs typeface="Calibri"/>
              </a:rPr>
              <a:t>m</a:t>
            </a:r>
            <a:r>
              <a:rPr lang="en-US" sz="4800" b="1" u="heavy" spc="-45" dirty="0">
                <a:latin typeface="Calibri"/>
                <a:cs typeface="Calibri"/>
              </a:rPr>
              <a:t>atter</a:t>
            </a:r>
            <a:r>
              <a:rPr sz="4800" b="1" u="heavy" spc="-20" dirty="0">
                <a:latin typeface="Calibri"/>
                <a:cs typeface="Calibri"/>
              </a:rPr>
              <a:t>s</a:t>
            </a:r>
            <a:r>
              <a:rPr sz="4800" b="1" dirty="0">
                <a:latin typeface="Calibri"/>
                <a:cs typeface="Calibri"/>
              </a:rPr>
              <a:t> </a:t>
            </a:r>
            <a:r>
              <a:rPr sz="4800" dirty="0">
                <a:latin typeface="Calibri"/>
                <a:cs typeface="Calibri"/>
              </a:rPr>
              <a:t>in hi</a:t>
            </a:r>
            <a:r>
              <a:rPr sz="4800" spc="-55" dirty="0">
                <a:latin typeface="Calibri"/>
                <a:cs typeface="Calibri"/>
              </a:rPr>
              <a:t>s</a:t>
            </a:r>
            <a:r>
              <a:rPr sz="4800" spc="-70" dirty="0">
                <a:latin typeface="Calibri"/>
                <a:cs typeface="Calibri"/>
              </a:rPr>
              <a:t>t</a:t>
            </a:r>
            <a:r>
              <a:rPr sz="4800" spc="-5" dirty="0">
                <a:latin typeface="Calibri"/>
                <a:cs typeface="Calibri"/>
              </a:rPr>
              <a:t>o</a:t>
            </a:r>
            <a:r>
              <a:rPr sz="4800" spc="-25" dirty="0">
                <a:latin typeface="Calibri"/>
                <a:cs typeface="Calibri"/>
              </a:rPr>
              <a:t>r</a:t>
            </a:r>
            <a:r>
              <a:rPr sz="4800" dirty="0">
                <a:latin typeface="Calibri"/>
                <a:cs typeface="Calibri"/>
              </a:rPr>
              <a:t>i</a:t>
            </a:r>
            <a:r>
              <a:rPr sz="4800" spc="-65" dirty="0">
                <a:latin typeface="Calibri"/>
                <a:cs typeface="Calibri"/>
              </a:rPr>
              <a:t>c</a:t>
            </a:r>
            <a:r>
              <a:rPr sz="4800" dirty="0">
                <a:latin typeface="Calibri"/>
                <a:cs typeface="Calibri"/>
              </a:rPr>
              <a:t>al bi</a:t>
            </a:r>
            <a:r>
              <a:rPr sz="4800" spc="-5" dirty="0">
                <a:latin typeface="Calibri"/>
                <a:cs typeface="Calibri"/>
              </a:rPr>
              <a:t>o</a:t>
            </a:r>
            <a:r>
              <a:rPr sz="4800" spc="-65" dirty="0">
                <a:latin typeface="Calibri"/>
                <a:cs typeface="Calibri"/>
              </a:rPr>
              <a:t>g</a:t>
            </a:r>
            <a:r>
              <a:rPr sz="4800" spc="-25" dirty="0">
                <a:latin typeface="Calibri"/>
                <a:cs typeface="Calibri"/>
              </a:rPr>
              <a:t>e</a:t>
            </a:r>
            <a:r>
              <a:rPr sz="4800" spc="-5" dirty="0">
                <a:latin typeface="Calibri"/>
                <a:cs typeface="Calibri"/>
              </a:rPr>
              <a:t>o</a:t>
            </a:r>
            <a:r>
              <a:rPr sz="4800" spc="-25" dirty="0">
                <a:latin typeface="Calibri"/>
                <a:cs typeface="Calibri"/>
              </a:rPr>
              <a:t>g</a:t>
            </a:r>
            <a:r>
              <a:rPr sz="4800" spc="-120" dirty="0">
                <a:latin typeface="Calibri"/>
                <a:cs typeface="Calibri"/>
              </a:rPr>
              <a:t>r</a:t>
            </a:r>
            <a:r>
              <a:rPr sz="4800" dirty="0">
                <a:latin typeface="Calibri"/>
                <a:cs typeface="Calibri"/>
              </a:rPr>
              <a:t>ap</a:t>
            </a:r>
            <a:r>
              <a:rPr sz="4800" spc="-90" dirty="0">
                <a:latin typeface="Calibri"/>
                <a:cs typeface="Calibri"/>
              </a:rPr>
              <a:t>h</a:t>
            </a:r>
            <a:r>
              <a:rPr sz="4800" spc="-30" dirty="0">
                <a:latin typeface="Calibri"/>
                <a:cs typeface="Calibri"/>
              </a:rPr>
              <a:t>y</a:t>
            </a:r>
            <a:r>
              <a:rPr sz="4800" spc="-20" dirty="0">
                <a:latin typeface="Calibri"/>
                <a:cs typeface="Calibri"/>
              </a:rPr>
              <a:t>!</a:t>
            </a:r>
            <a:r>
              <a:rPr sz="4800" dirty="0">
                <a:latin typeface="Calibri"/>
                <a:cs typeface="Calibri"/>
              </a:rPr>
              <a:t> </a:t>
            </a:r>
            <a:r>
              <a:rPr sz="4800" spc="-225" dirty="0">
                <a:latin typeface="Calibri"/>
                <a:cs typeface="Calibri"/>
              </a:rPr>
              <a:t>W</a:t>
            </a:r>
            <a:r>
              <a:rPr sz="4800" spc="-25" dirty="0">
                <a:latin typeface="Calibri"/>
                <a:cs typeface="Calibri"/>
              </a:rPr>
              <a:t>e</a:t>
            </a:r>
            <a:r>
              <a:rPr sz="4800" dirty="0">
                <a:latin typeface="Calibri"/>
                <a:cs typeface="Calibri"/>
              </a:rPr>
              <a:t> sh</a:t>
            </a:r>
            <a:r>
              <a:rPr sz="4800" spc="-5" dirty="0">
                <a:latin typeface="Calibri"/>
                <a:cs typeface="Calibri"/>
              </a:rPr>
              <a:t>o</a:t>
            </a:r>
            <a:r>
              <a:rPr sz="4800" dirty="0">
                <a:latin typeface="Calibri"/>
                <a:cs typeface="Calibri"/>
              </a:rPr>
              <a:t>uld </a:t>
            </a:r>
            <a:r>
              <a:rPr sz="4800" b="1" u="heavy" spc="-20" dirty="0">
                <a:latin typeface="Calibri"/>
                <a:cs typeface="Calibri"/>
              </a:rPr>
              <a:t>al</a:t>
            </a:r>
            <a:r>
              <a:rPr sz="4800" b="1" u="heavy" spc="-90" dirty="0">
                <a:latin typeface="Calibri"/>
                <a:cs typeface="Calibri"/>
              </a:rPr>
              <a:t>w</a:t>
            </a:r>
            <a:r>
              <a:rPr sz="4800" b="1" u="heavy" spc="-114" dirty="0">
                <a:latin typeface="Calibri"/>
                <a:cs typeface="Calibri"/>
              </a:rPr>
              <a:t>a</a:t>
            </a:r>
            <a:r>
              <a:rPr sz="4800" b="1" u="heavy" spc="-55" dirty="0">
                <a:latin typeface="Calibri"/>
                <a:cs typeface="Calibri"/>
              </a:rPr>
              <a:t>y</a:t>
            </a:r>
            <a:r>
              <a:rPr sz="4800" b="1" u="heavy" spc="-20" dirty="0">
                <a:latin typeface="Calibri"/>
                <a:cs typeface="Calibri"/>
              </a:rPr>
              <a:t>s</a:t>
            </a:r>
            <a:r>
              <a:rPr sz="4800" b="1" spc="-5" dirty="0">
                <a:latin typeface="Calibri"/>
                <a:cs typeface="Calibri"/>
              </a:rPr>
              <a:t> </a:t>
            </a:r>
            <a:r>
              <a:rPr sz="4800" dirty="0">
                <a:latin typeface="Calibri"/>
                <a:cs typeface="Calibri"/>
              </a:rPr>
              <a:t>do i</a:t>
            </a:r>
            <a:r>
              <a:rPr sz="4800" spc="-20" dirty="0">
                <a:latin typeface="Calibri"/>
                <a:cs typeface="Calibri"/>
              </a:rPr>
              <a:t>t!</a:t>
            </a:r>
            <a:endParaRPr sz="4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7"/>
              </a:spcBef>
              <a:buFont typeface="Calibri"/>
              <a:buAutoNum type="arabicPeriod"/>
            </a:pPr>
            <a:endParaRPr sz="5100" dirty="0">
              <a:latin typeface="Times New Roman"/>
              <a:cs typeface="Times New Roman"/>
            </a:endParaRPr>
          </a:p>
          <a:p>
            <a:pPr marL="779780" marR="754380" indent="-551180">
              <a:lnSpc>
                <a:spcPct val="102400"/>
              </a:lnSpc>
              <a:buFont typeface="Calibri"/>
              <a:buAutoNum type="arabicPeriod"/>
              <a:tabLst>
                <a:tab pos="829310" algn="l"/>
              </a:tabLst>
            </a:pPr>
            <a:r>
              <a:rPr sz="4800" spc="-5" dirty="0">
                <a:latin typeface="Calibri"/>
                <a:cs typeface="Calibri"/>
              </a:rPr>
              <a:t>D</a:t>
            </a:r>
            <a:r>
              <a:rPr sz="4800" dirty="0">
                <a:latin typeface="Calibri"/>
                <a:cs typeface="Calibri"/>
              </a:rPr>
              <a:t>i</a:t>
            </a:r>
            <a:r>
              <a:rPr sz="4800" spc="-55" dirty="0">
                <a:latin typeface="Calibri"/>
                <a:cs typeface="Calibri"/>
              </a:rPr>
              <a:t>s</a:t>
            </a:r>
            <a:r>
              <a:rPr sz="4800" spc="-80" dirty="0">
                <a:latin typeface="Calibri"/>
                <a:cs typeface="Calibri"/>
              </a:rPr>
              <a:t>t</a:t>
            </a:r>
            <a:r>
              <a:rPr sz="4800" dirty="0">
                <a:latin typeface="Calibri"/>
                <a:cs typeface="Calibri"/>
              </a:rPr>
              <a:t>an</a:t>
            </a:r>
            <a:r>
              <a:rPr sz="4800" spc="-25" dirty="0">
                <a:latin typeface="Calibri"/>
                <a:cs typeface="Calibri"/>
              </a:rPr>
              <a:t>ce</a:t>
            </a:r>
            <a:r>
              <a:rPr sz="4800" dirty="0">
                <a:latin typeface="Calibri"/>
                <a:cs typeface="Calibri"/>
              </a:rPr>
              <a:t> </a:t>
            </a:r>
            <a:r>
              <a:rPr sz="4800" b="1" u="heavy" dirty="0">
                <a:latin typeface="Calibri"/>
                <a:cs typeface="Calibri"/>
              </a:rPr>
              <a:t>m</a:t>
            </a:r>
            <a:r>
              <a:rPr lang="en-US" sz="4800" b="1" u="heavy" spc="-45" dirty="0">
                <a:latin typeface="Calibri"/>
                <a:cs typeface="Calibri"/>
              </a:rPr>
              <a:t>atter</a:t>
            </a:r>
            <a:r>
              <a:rPr sz="4800" b="1" u="heavy" spc="-20" dirty="0">
                <a:latin typeface="Calibri"/>
                <a:cs typeface="Calibri"/>
              </a:rPr>
              <a:t>s</a:t>
            </a:r>
            <a:r>
              <a:rPr sz="4800" b="1" dirty="0">
                <a:latin typeface="Calibri"/>
                <a:cs typeface="Calibri"/>
              </a:rPr>
              <a:t> </a:t>
            </a:r>
            <a:r>
              <a:rPr sz="4800" dirty="0">
                <a:latin typeface="Calibri"/>
                <a:cs typeface="Calibri"/>
              </a:rPr>
              <a:t>in hi</a:t>
            </a:r>
            <a:r>
              <a:rPr sz="4800" spc="-55" dirty="0">
                <a:latin typeface="Calibri"/>
                <a:cs typeface="Calibri"/>
              </a:rPr>
              <a:t>s</a:t>
            </a:r>
            <a:r>
              <a:rPr sz="4800" spc="-70" dirty="0">
                <a:latin typeface="Calibri"/>
                <a:cs typeface="Calibri"/>
              </a:rPr>
              <a:t>t</a:t>
            </a:r>
            <a:r>
              <a:rPr sz="4800" spc="-5" dirty="0">
                <a:latin typeface="Calibri"/>
                <a:cs typeface="Calibri"/>
              </a:rPr>
              <a:t>o</a:t>
            </a:r>
            <a:r>
              <a:rPr sz="4800" spc="-25" dirty="0">
                <a:latin typeface="Calibri"/>
                <a:cs typeface="Calibri"/>
              </a:rPr>
              <a:t>r</a:t>
            </a:r>
            <a:r>
              <a:rPr sz="4800" dirty="0">
                <a:latin typeface="Calibri"/>
                <a:cs typeface="Calibri"/>
              </a:rPr>
              <a:t>i</a:t>
            </a:r>
            <a:r>
              <a:rPr sz="4800" spc="-65" dirty="0">
                <a:latin typeface="Calibri"/>
                <a:cs typeface="Calibri"/>
              </a:rPr>
              <a:t>c</a:t>
            </a:r>
            <a:r>
              <a:rPr sz="4800" dirty="0">
                <a:latin typeface="Calibri"/>
                <a:cs typeface="Calibri"/>
              </a:rPr>
              <a:t>al bi</a:t>
            </a:r>
            <a:r>
              <a:rPr sz="4800" spc="-5" dirty="0">
                <a:latin typeface="Calibri"/>
                <a:cs typeface="Calibri"/>
              </a:rPr>
              <a:t>o</a:t>
            </a:r>
            <a:r>
              <a:rPr sz="4800" spc="-65" dirty="0">
                <a:latin typeface="Calibri"/>
                <a:cs typeface="Calibri"/>
              </a:rPr>
              <a:t>g</a:t>
            </a:r>
            <a:r>
              <a:rPr sz="4800" spc="-25" dirty="0">
                <a:latin typeface="Calibri"/>
                <a:cs typeface="Calibri"/>
              </a:rPr>
              <a:t>e</a:t>
            </a:r>
            <a:r>
              <a:rPr sz="4800" spc="-5" dirty="0">
                <a:latin typeface="Calibri"/>
                <a:cs typeface="Calibri"/>
              </a:rPr>
              <a:t>o</a:t>
            </a:r>
            <a:r>
              <a:rPr sz="4800" spc="-25" dirty="0">
                <a:latin typeface="Calibri"/>
                <a:cs typeface="Calibri"/>
              </a:rPr>
              <a:t>g</a:t>
            </a:r>
            <a:r>
              <a:rPr sz="4800" spc="-120" dirty="0">
                <a:latin typeface="Calibri"/>
                <a:cs typeface="Calibri"/>
              </a:rPr>
              <a:t>r</a:t>
            </a:r>
            <a:r>
              <a:rPr sz="4800" dirty="0">
                <a:latin typeface="Calibri"/>
                <a:cs typeface="Calibri"/>
              </a:rPr>
              <a:t>ap</a:t>
            </a:r>
            <a:r>
              <a:rPr sz="4800" spc="-90" dirty="0">
                <a:latin typeface="Calibri"/>
                <a:cs typeface="Calibri"/>
              </a:rPr>
              <a:t>h</a:t>
            </a:r>
            <a:r>
              <a:rPr sz="4800" spc="-30" dirty="0">
                <a:latin typeface="Calibri"/>
                <a:cs typeface="Calibri"/>
              </a:rPr>
              <a:t>y</a:t>
            </a:r>
            <a:r>
              <a:rPr sz="4800" spc="-20" dirty="0">
                <a:latin typeface="Calibri"/>
                <a:cs typeface="Calibri"/>
              </a:rPr>
              <a:t>!</a:t>
            </a:r>
            <a:r>
              <a:rPr sz="4800" spc="-15" dirty="0">
                <a:latin typeface="Calibri"/>
                <a:cs typeface="Calibri"/>
              </a:rPr>
              <a:t> </a:t>
            </a:r>
            <a:r>
              <a:rPr sz="4800" spc="-225" dirty="0">
                <a:latin typeface="Calibri"/>
                <a:cs typeface="Calibri"/>
              </a:rPr>
              <a:t>W</a:t>
            </a:r>
            <a:r>
              <a:rPr sz="4800" spc="-25" dirty="0">
                <a:latin typeface="Calibri"/>
                <a:cs typeface="Calibri"/>
              </a:rPr>
              <a:t>e</a:t>
            </a:r>
            <a:r>
              <a:rPr sz="4800" spc="-5" dirty="0">
                <a:latin typeface="Calibri"/>
                <a:cs typeface="Calibri"/>
              </a:rPr>
              <a:t> shoul</a:t>
            </a:r>
            <a:r>
              <a:rPr sz="4800" dirty="0">
                <a:latin typeface="Calibri"/>
                <a:cs typeface="Calibri"/>
              </a:rPr>
              <a:t>d </a:t>
            </a:r>
            <a:r>
              <a:rPr sz="4800" b="1" u="heavy" spc="-20" dirty="0">
                <a:latin typeface="Calibri"/>
                <a:cs typeface="Calibri"/>
              </a:rPr>
              <a:t>al</a:t>
            </a:r>
            <a:r>
              <a:rPr sz="4800" b="1" u="heavy" spc="-90" dirty="0">
                <a:latin typeface="Calibri"/>
                <a:cs typeface="Calibri"/>
              </a:rPr>
              <a:t>w</a:t>
            </a:r>
            <a:r>
              <a:rPr sz="4800" b="1" u="heavy" spc="-114" dirty="0">
                <a:latin typeface="Calibri"/>
                <a:cs typeface="Calibri"/>
              </a:rPr>
              <a:t>a</a:t>
            </a:r>
            <a:r>
              <a:rPr sz="4800" b="1" u="heavy" spc="-55" dirty="0">
                <a:latin typeface="Calibri"/>
                <a:cs typeface="Calibri"/>
              </a:rPr>
              <a:t>y</a:t>
            </a:r>
            <a:r>
              <a:rPr sz="4800" b="1" u="heavy" spc="-20" dirty="0">
                <a:latin typeface="Calibri"/>
                <a:cs typeface="Calibri"/>
              </a:rPr>
              <a:t>s</a:t>
            </a:r>
            <a:r>
              <a:rPr sz="4800" b="1" spc="-5" dirty="0">
                <a:latin typeface="Calibri"/>
                <a:cs typeface="Calibri"/>
              </a:rPr>
              <a:t> </a:t>
            </a:r>
            <a:r>
              <a:rPr sz="4800" spc="-75" dirty="0">
                <a:latin typeface="Calibri"/>
                <a:cs typeface="Calibri"/>
              </a:rPr>
              <a:t>t</a:t>
            </a:r>
            <a:r>
              <a:rPr sz="4800" spc="-25" dirty="0">
                <a:latin typeface="Calibri"/>
                <a:cs typeface="Calibri"/>
              </a:rPr>
              <a:t>e</a:t>
            </a:r>
            <a:r>
              <a:rPr sz="4800" spc="-55" dirty="0">
                <a:latin typeface="Calibri"/>
                <a:cs typeface="Calibri"/>
              </a:rPr>
              <a:t>s</a:t>
            </a:r>
            <a:r>
              <a:rPr sz="4800" spc="-20" dirty="0">
                <a:latin typeface="Calibri"/>
                <a:cs typeface="Calibri"/>
              </a:rPr>
              <a:t>t</a:t>
            </a:r>
            <a:r>
              <a:rPr sz="4800" dirty="0">
                <a:latin typeface="Calibri"/>
                <a:cs typeface="Calibri"/>
              </a:rPr>
              <a:t> di</a:t>
            </a:r>
            <a:r>
              <a:rPr sz="4800" spc="-55" dirty="0">
                <a:latin typeface="Calibri"/>
                <a:cs typeface="Calibri"/>
              </a:rPr>
              <a:t>s</a:t>
            </a:r>
            <a:r>
              <a:rPr sz="4800" spc="-80" dirty="0">
                <a:latin typeface="Calibri"/>
                <a:cs typeface="Calibri"/>
              </a:rPr>
              <a:t>t</a:t>
            </a:r>
            <a:r>
              <a:rPr sz="4800" dirty="0">
                <a:latin typeface="Calibri"/>
                <a:cs typeface="Calibri"/>
              </a:rPr>
              <a:t>an</a:t>
            </a:r>
            <a:r>
              <a:rPr sz="4800" spc="-20" dirty="0">
                <a:latin typeface="Calibri"/>
                <a:cs typeface="Calibri"/>
              </a:rPr>
              <a:t>ce!</a:t>
            </a:r>
            <a:endParaRPr sz="4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7"/>
              </a:spcBef>
              <a:buFont typeface="Calibri"/>
              <a:buAutoNum type="arabicPeriod"/>
            </a:pPr>
            <a:endParaRPr sz="5100" dirty="0">
              <a:latin typeface="Times New Roman"/>
              <a:cs typeface="Times New Roman"/>
            </a:endParaRPr>
          </a:p>
          <a:p>
            <a:pPr marL="779780" marR="5080" indent="-551180">
              <a:lnSpc>
                <a:spcPct val="102400"/>
              </a:lnSpc>
              <a:buFont typeface="Calibri"/>
              <a:buAutoNum type="arabicPeriod"/>
              <a:tabLst>
                <a:tab pos="829310" algn="l"/>
              </a:tabLst>
            </a:pPr>
            <a:r>
              <a:rPr sz="4800" spc="-300" dirty="0">
                <a:latin typeface="Calibri"/>
                <a:cs typeface="Calibri"/>
              </a:rPr>
              <a:t>T</a:t>
            </a:r>
            <a:r>
              <a:rPr sz="4800" spc="-120" dirty="0">
                <a:latin typeface="Calibri"/>
                <a:cs typeface="Calibri"/>
              </a:rPr>
              <a:t>r</a:t>
            </a:r>
            <a:r>
              <a:rPr sz="4800" dirty="0">
                <a:latin typeface="Calibri"/>
                <a:cs typeface="Calibri"/>
              </a:rPr>
              <a:t>aits also </a:t>
            </a:r>
            <a:r>
              <a:rPr lang="en-US" sz="4800" spc="-5" dirty="0">
                <a:latin typeface="Calibri"/>
                <a:cs typeface="Calibri"/>
              </a:rPr>
              <a:t>often</a:t>
            </a:r>
            <a:r>
              <a:rPr sz="4800" dirty="0">
                <a:latin typeface="Calibri"/>
                <a:cs typeface="Calibri"/>
              </a:rPr>
              <a:t> </a:t>
            </a:r>
            <a:r>
              <a:rPr sz="4800" spc="-45" dirty="0">
                <a:latin typeface="Calibri"/>
                <a:cs typeface="Calibri"/>
              </a:rPr>
              <a:t>m</a:t>
            </a:r>
            <a:r>
              <a:rPr lang="en-US" sz="4800" spc="-45" dirty="0">
                <a:latin typeface="Calibri"/>
                <a:cs typeface="Calibri"/>
              </a:rPr>
              <a:t>atte</a:t>
            </a:r>
            <a:r>
              <a:rPr sz="4800" spc="-25" dirty="0">
                <a:latin typeface="Calibri"/>
                <a:cs typeface="Calibri"/>
              </a:rPr>
              <a:t>r</a:t>
            </a:r>
            <a:r>
              <a:rPr sz="4800" spc="-20" dirty="0">
                <a:latin typeface="Calibri"/>
                <a:cs typeface="Calibri"/>
              </a:rPr>
              <a:t>!</a:t>
            </a:r>
            <a:r>
              <a:rPr sz="4800" dirty="0">
                <a:latin typeface="Calibri"/>
                <a:cs typeface="Calibri"/>
              </a:rPr>
              <a:t> </a:t>
            </a:r>
            <a:r>
              <a:rPr sz="4800" spc="-225" dirty="0">
                <a:latin typeface="Calibri"/>
                <a:cs typeface="Calibri"/>
              </a:rPr>
              <a:t>W</a:t>
            </a:r>
            <a:r>
              <a:rPr sz="4800" spc="-25" dirty="0">
                <a:latin typeface="Calibri"/>
                <a:cs typeface="Calibri"/>
              </a:rPr>
              <a:t>e</a:t>
            </a:r>
            <a:r>
              <a:rPr sz="4800" dirty="0">
                <a:latin typeface="Calibri"/>
                <a:cs typeface="Calibri"/>
              </a:rPr>
              <a:t> sh</a:t>
            </a:r>
            <a:r>
              <a:rPr sz="4800" spc="-5" dirty="0">
                <a:latin typeface="Calibri"/>
                <a:cs typeface="Calibri"/>
              </a:rPr>
              <a:t>o</a:t>
            </a:r>
            <a:r>
              <a:rPr sz="4800" dirty="0">
                <a:latin typeface="Calibri"/>
                <a:cs typeface="Calibri"/>
              </a:rPr>
              <a:t>uld </a:t>
            </a:r>
            <a:r>
              <a:rPr sz="4800" spc="-75" dirty="0">
                <a:latin typeface="Calibri"/>
                <a:cs typeface="Calibri"/>
              </a:rPr>
              <a:t>t</a:t>
            </a:r>
            <a:r>
              <a:rPr sz="4800" spc="-25" dirty="0">
                <a:latin typeface="Calibri"/>
                <a:cs typeface="Calibri"/>
              </a:rPr>
              <a:t>e</a:t>
            </a:r>
            <a:r>
              <a:rPr sz="4800" spc="-55" dirty="0">
                <a:latin typeface="Calibri"/>
                <a:cs typeface="Calibri"/>
              </a:rPr>
              <a:t>s</a:t>
            </a:r>
            <a:r>
              <a:rPr sz="4800" spc="-20" dirty="0">
                <a:latin typeface="Calibri"/>
                <a:cs typeface="Calibri"/>
              </a:rPr>
              <a:t>t</a:t>
            </a:r>
            <a:r>
              <a:rPr sz="4800" dirty="0">
                <a:latin typeface="Calibri"/>
                <a:cs typeface="Calibri"/>
              </a:rPr>
              <a:t> </a:t>
            </a:r>
            <a:r>
              <a:rPr sz="4800" spc="-105" dirty="0">
                <a:latin typeface="Calibri"/>
                <a:cs typeface="Calibri"/>
              </a:rPr>
              <a:t>f</a:t>
            </a:r>
            <a:r>
              <a:rPr sz="4800" spc="-5" dirty="0">
                <a:latin typeface="Calibri"/>
                <a:cs typeface="Calibri"/>
              </a:rPr>
              <a:t>o</a:t>
            </a:r>
            <a:r>
              <a:rPr sz="4800" spc="-20" dirty="0">
                <a:latin typeface="Calibri"/>
                <a:cs typeface="Calibri"/>
              </a:rPr>
              <a:t>r</a:t>
            </a:r>
            <a:r>
              <a:rPr sz="4800" dirty="0">
                <a:latin typeface="Calibri"/>
                <a:cs typeface="Calibri"/>
              </a:rPr>
              <a:t> this </a:t>
            </a:r>
            <a:r>
              <a:rPr sz="4800" spc="-30" dirty="0">
                <a:latin typeface="Calibri"/>
                <a:cs typeface="Calibri"/>
              </a:rPr>
              <a:t>whe</a:t>
            </a:r>
            <a:r>
              <a:rPr sz="4800" spc="-85" dirty="0">
                <a:latin typeface="Calibri"/>
                <a:cs typeface="Calibri"/>
              </a:rPr>
              <a:t>r</a:t>
            </a:r>
            <a:r>
              <a:rPr sz="4800" spc="-50" dirty="0">
                <a:latin typeface="Calibri"/>
                <a:cs typeface="Calibri"/>
              </a:rPr>
              <a:t>e</a:t>
            </a:r>
            <a:r>
              <a:rPr sz="4800" spc="-75" dirty="0">
                <a:latin typeface="Calibri"/>
                <a:cs typeface="Calibri"/>
              </a:rPr>
              <a:t>v</a:t>
            </a:r>
            <a:r>
              <a:rPr sz="4800" spc="-30" dirty="0">
                <a:latin typeface="Calibri"/>
                <a:cs typeface="Calibri"/>
              </a:rPr>
              <a:t>e</a:t>
            </a:r>
            <a:r>
              <a:rPr sz="4800" spc="-20" dirty="0">
                <a:latin typeface="Calibri"/>
                <a:cs typeface="Calibri"/>
              </a:rPr>
              <a:t>r</a:t>
            </a:r>
            <a:r>
              <a:rPr sz="4800" spc="-5" dirty="0">
                <a:latin typeface="Calibri"/>
                <a:cs typeface="Calibri"/>
              </a:rPr>
              <a:t> possible</a:t>
            </a:r>
            <a:r>
              <a:rPr sz="4800" spc="-20" dirty="0">
                <a:latin typeface="Calibri"/>
                <a:cs typeface="Calibri"/>
              </a:rPr>
              <a:t>!</a:t>
            </a:r>
            <a:br>
              <a:rPr lang="en-US" sz="4800" spc="-20" dirty="0">
                <a:latin typeface="Calibri"/>
                <a:cs typeface="Calibri"/>
              </a:rPr>
            </a:br>
            <a:endParaRPr lang="en-US" sz="4800" spc="-20" dirty="0">
              <a:latin typeface="Calibri"/>
              <a:cs typeface="Calibri"/>
            </a:endParaRPr>
          </a:p>
          <a:p>
            <a:pPr marL="779780" marR="5080" indent="-551180">
              <a:lnSpc>
                <a:spcPct val="102400"/>
              </a:lnSpc>
              <a:buFont typeface="Calibri"/>
              <a:buAutoNum type="arabicPeriod"/>
              <a:tabLst>
                <a:tab pos="829310" algn="l"/>
              </a:tabLst>
            </a:pPr>
            <a:r>
              <a:rPr lang="en-US" sz="4800" dirty="0">
                <a:latin typeface="Calibri"/>
                <a:cs typeface="Calibri"/>
              </a:rPr>
              <a:t>We can test models by comparing log-likelihoods, or penalized log-likelihoods (AIC)</a:t>
            </a:r>
            <a:endParaRPr sz="4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9100" y="266700"/>
            <a:ext cx="6235700" cy="28208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1899"/>
              </a:lnSpc>
            </a:pPr>
            <a:r>
              <a:rPr lang="en-US" sz="3600" b="1" dirty="0">
                <a:latin typeface="Calibri"/>
                <a:cs typeface="Calibri"/>
              </a:rPr>
              <a:t>Interested in evolution &amp; biogeography? Come work with me! </a:t>
            </a:r>
            <a:r>
              <a:rPr sz="3600" spc="-25" dirty="0">
                <a:latin typeface="Calibri"/>
                <a:cs typeface="Calibri"/>
              </a:rPr>
              <a:t>Q</a:t>
            </a:r>
            <a:r>
              <a:rPr sz="3600" dirty="0">
                <a:latin typeface="Calibri"/>
                <a:cs typeface="Calibri"/>
              </a:rPr>
              <a:t>u</a:t>
            </a:r>
            <a:r>
              <a:rPr sz="3600" spc="-20" dirty="0">
                <a:latin typeface="Calibri"/>
                <a:cs typeface="Calibri"/>
              </a:rPr>
              <a:t>e</a:t>
            </a:r>
            <a:r>
              <a:rPr sz="3600" spc="-45" dirty="0">
                <a:latin typeface="Calibri"/>
                <a:cs typeface="Calibri"/>
              </a:rPr>
              <a:t>s</a:t>
            </a:r>
            <a:r>
              <a:rPr lang="en-US" sz="3600" spc="70" dirty="0">
                <a:latin typeface="Calibri"/>
                <a:cs typeface="Calibri"/>
              </a:rPr>
              <a:t>ti</a:t>
            </a:r>
            <a:r>
              <a:rPr sz="3600" spc="-5" dirty="0">
                <a:latin typeface="Calibri"/>
                <a:cs typeface="Calibri"/>
              </a:rPr>
              <a:t>o</a:t>
            </a:r>
            <a:r>
              <a:rPr sz="3600" dirty="0">
                <a:latin typeface="Calibri"/>
                <a:cs typeface="Calibri"/>
              </a:rPr>
              <a:t>ns</a:t>
            </a:r>
            <a:r>
              <a:rPr sz="3600" spc="-65" dirty="0">
                <a:latin typeface="Calibri"/>
                <a:cs typeface="Calibri"/>
              </a:rPr>
              <a:t>/</a:t>
            </a:r>
            <a:r>
              <a:rPr sz="3600" spc="-50" dirty="0">
                <a:latin typeface="Calibri"/>
                <a:cs typeface="Calibri"/>
              </a:rPr>
              <a:t>c</a:t>
            </a:r>
            <a:r>
              <a:rPr sz="3600" spc="-5" dirty="0">
                <a:latin typeface="Calibri"/>
                <a:cs typeface="Calibri"/>
              </a:rPr>
              <a:t>o</a:t>
            </a:r>
            <a:r>
              <a:rPr sz="3600" spc="-35" dirty="0">
                <a:latin typeface="Calibri"/>
                <a:cs typeface="Calibri"/>
              </a:rPr>
              <a:t>mm</a:t>
            </a:r>
            <a:r>
              <a:rPr sz="3600" spc="-20" dirty="0">
                <a:latin typeface="Calibri"/>
                <a:cs typeface="Calibri"/>
              </a:rPr>
              <a:t>e</a:t>
            </a:r>
            <a:r>
              <a:rPr sz="3600" spc="-35" dirty="0">
                <a:latin typeface="Calibri"/>
                <a:cs typeface="Calibri"/>
              </a:rPr>
              <a:t>n</a:t>
            </a:r>
            <a:r>
              <a:rPr sz="3600" dirty="0">
                <a:latin typeface="Calibri"/>
                <a:cs typeface="Calibri"/>
              </a:rPr>
              <a:t>ts/ </a:t>
            </a:r>
            <a:r>
              <a:rPr sz="3600" spc="-50" dirty="0">
                <a:latin typeface="Calibri"/>
                <a:cs typeface="Calibri"/>
              </a:rPr>
              <a:t>c</a:t>
            </a:r>
            <a:r>
              <a:rPr sz="3600" spc="-5" dirty="0">
                <a:latin typeface="Calibri"/>
                <a:cs typeface="Calibri"/>
              </a:rPr>
              <a:t>o</a:t>
            </a:r>
            <a:r>
              <a:rPr sz="3600" dirty="0">
                <a:latin typeface="Calibri"/>
                <a:cs typeface="Calibri"/>
              </a:rPr>
              <a:t>llab</a:t>
            </a:r>
            <a:r>
              <a:rPr sz="3600" spc="-5" dirty="0">
                <a:latin typeface="Calibri"/>
                <a:cs typeface="Calibri"/>
              </a:rPr>
              <a:t>o</a:t>
            </a:r>
            <a:r>
              <a:rPr sz="3600" spc="-90" dirty="0">
                <a:latin typeface="Calibri"/>
                <a:cs typeface="Calibri"/>
              </a:rPr>
              <a:t>r</a:t>
            </a:r>
            <a:r>
              <a:rPr sz="3600" spc="-35" dirty="0">
                <a:latin typeface="Calibri"/>
                <a:cs typeface="Calibri"/>
              </a:rPr>
              <a:t>a</a:t>
            </a:r>
            <a:r>
              <a:rPr lang="en-US" sz="3600" spc="70" dirty="0">
                <a:latin typeface="Calibri"/>
                <a:cs typeface="Calibri"/>
              </a:rPr>
              <a:t>ti</a:t>
            </a:r>
            <a:r>
              <a:rPr sz="3600" spc="-5" dirty="0">
                <a:latin typeface="Calibri"/>
                <a:cs typeface="Calibri"/>
              </a:rPr>
              <a:t>o</a:t>
            </a:r>
            <a:r>
              <a:rPr sz="3600" dirty="0">
                <a:latin typeface="Calibri"/>
                <a:cs typeface="Calibri"/>
              </a:rPr>
              <a:t>ns </a:t>
            </a:r>
            <a:r>
              <a:rPr sz="3600" spc="-35" dirty="0">
                <a:latin typeface="Calibri"/>
                <a:cs typeface="Calibri"/>
              </a:rPr>
              <a:t>a</a:t>
            </a:r>
            <a:r>
              <a:rPr sz="3600" spc="-15" dirty="0">
                <a:latin typeface="Calibri"/>
                <a:cs typeface="Calibri"/>
              </a:rPr>
              <a:t>t:</a:t>
            </a:r>
            <a:r>
              <a:rPr sz="3600" spc="-10" dirty="0">
                <a:latin typeface="Calibri"/>
                <a:cs typeface="Calibri"/>
              </a:rPr>
              <a:t> </a:t>
            </a:r>
            <a:r>
              <a:rPr sz="3600" b="1" u="heavy" spc="-20" dirty="0">
                <a:latin typeface="Calibri"/>
                <a:cs typeface="Calibri"/>
                <a:hlinkClick r:id="rId3"/>
              </a:rPr>
              <a:t>n</a:t>
            </a:r>
            <a:r>
              <a:rPr sz="3600" b="1" u="heavy" dirty="0">
                <a:latin typeface="Calibri"/>
                <a:cs typeface="Calibri"/>
                <a:hlinkClick r:id="rId3"/>
              </a:rPr>
              <a:t>.m</a:t>
            </a:r>
            <a:r>
              <a:rPr sz="3600" b="1" u="heavy" spc="-55" dirty="0">
                <a:latin typeface="Calibri"/>
                <a:cs typeface="Calibri"/>
                <a:hlinkClick r:id="rId3"/>
              </a:rPr>
              <a:t>a</a:t>
            </a:r>
            <a:r>
              <a:rPr sz="3600" b="1" u="heavy" spc="-15" dirty="0">
                <a:latin typeface="Calibri"/>
                <a:cs typeface="Calibri"/>
                <a:hlinkClick r:id="rId3"/>
              </a:rPr>
              <a:t>t</a:t>
            </a:r>
            <a:r>
              <a:rPr sz="3600" b="1" u="heavy" dirty="0">
                <a:latin typeface="Calibri"/>
                <a:cs typeface="Calibri"/>
                <a:hlinkClick r:id="rId3"/>
              </a:rPr>
              <a:t>z</a:t>
            </a:r>
            <a:r>
              <a:rPr sz="3600" b="1" u="heavy" spc="-120" dirty="0">
                <a:latin typeface="Calibri"/>
                <a:cs typeface="Calibri"/>
                <a:hlinkClick r:id="rId3"/>
              </a:rPr>
              <a:t>k</a:t>
            </a:r>
            <a:r>
              <a:rPr sz="3600" b="1" u="heavy" dirty="0">
                <a:latin typeface="Calibri"/>
                <a:cs typeface="Calibri"/>
                <a:hlinkClick r:id="rId3"/>
              </a:rPr>
              <a:t>e</a:t>
            </a:r>
            <a:r>
              <a:rPr sz="3600" b="1" u="heavy" spc="-5" dirty="0">
                <a:latin typeface="Calibri"/>
                <a:cs typeface="Calibri"/>
                <a:hlinkClick r:id="rId3"/>
              </a:rPr>
              <a:t>@</a:t>
            </a:r>
            <a:r>
              <a:rPr sz="3600" b="1" u="heavy" spc="-20" dirty="0">
                <a:latin typeface="Calibri"/>
                <a:cs typeface="Calibri"/>
                <a:hlinkClick r:id="rId3"/>
              </a:rPr>
              <a:t>au</a:t>
            </a:r>
            <a:r>
              <a:rPr sz="3600" b="1" u="heavy" dirty="0">
                <a:latin typeface="Calibri"/>
                <a:cs typeface="Calibri"/>
                <a:hlinkClick r:id="rId3"/>
              </a:rPr>
              <a:t>c</a:t>
            </a:r>
            <a:r>
              <a:rPr sz="3600" b="1" u="heavy" spc="-20" dirty="0">
                <a:latin typeface="Calibri"/>
                <a:cs typeface="Calibri"/>
                <a:hlinkClick r:id="rId3"/>
              </a:rPr>
              <a:t>kland</a:t>
            </a:r>
            <a:r>
              <a:rPr sz="3600" b="1" u="heavy" dirty="0">
                <a:latin typeface="Calibri"/>
                <a:cs typeface="Calibri"/>
                <a:hlinkClick r:id="rId3"/>
              </a:rPr>
              <a:t>.</a:t>
            </a:r>
            <a:r>
              <a:rPr sz="3600" b="1" u="heavy" spc="-20" dirty="0">
                <a:latin typeface="Calibri"/>
                <a:cs typeface="Calibri"/>
                <a:hlinkClick r:id="rId3"/>
              </a:rPr>
              <a:t>a</a:t>
            </a:r>
            <a:r>
              <a:rPr sz="3600" b="1" u="heavy" dirty="0">
                <a:latin typeface="Calibri"/>
                <a:cs typeface="Calibri"/>
                <a:hlinkClick r:id="rId3"/>
              </a:rPr>
              <a:t>c.</a:t>
            </a:r>
            <a:r>
              <a:rPr sz="3600" b="1" u="heavy" spc="-20" dirty="0">
                <a:latin typeface="Calibri"/>
                <a:cs typeface="Calibri"/>
                <a:hlinkClick r:id="rId3"/>
              </a:rPr>
              <a:t>n</a:t>
            </a:r>
            <a:r>
              <a:rPr sz="3600" b="1" u="heavy" dirty="0">
                <a:latin typeface="Calibri"/>
                <a:cs typeface="Calibri"/>
                <a:hlinkClick r:id="rId3"/>
              </a:rPr>
              <a:t>z</a:t>
            </a:r>
            <a:endParaRPr sz="36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70900" y="6076950"/>
            <a:ext cx="3787775" cy="105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b="1" spc="-15" dirty="0">
                <a:latin typeface="Calibri"/>
                <a:cs typeface="Calibri"/>
              </a:rPr>
              <a:t>Funding</a:t>
            </a:r>
            <a:r>
              <a:rPr sz="2200" b="1" spc="-10" dirty="0">
                <a:latin typeface="Calibri"/>
                <a:cs typeface="Calibri"/>
              </a:rPr>
              <a:t>: </a:t>
            </a:r>
            <a:r>
              <a:rPr sz="2200" spc="-15" dirty="0">
                <a:latin typeface="Calibri"/>
                <a:cs typeface="Calibri"/>
              </a:rPr>
              <a:t>NIM</a:t>
            </a:r>
            <a:r>
              <a:rPr sz="2200" spc="-20" dirty="0">
                <a:latin typeface="Calibri"/>
                <a:cs typeface="Calibri"/>
              </a:rPr>
              <a:t>B</a:t>
            </a:r>
            <a:r>
              <a:rPr sz="2200" dirty="0">
                <a:latin typeface="Calibri"/>
                <a:cs typeface="Calibri"/>
              </a:rPr>
              <a:t>ioS</a:t>
            </a: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2200" spc="-15" dirty="0">
                <a:latin typeface="Calibri"/>
                <a:cs typeface="Calibri"/>
              </a:rPr>
              <a:t>Uni</a:t>
            </a:r>
            <a:r>
              <a:rPr sz="2200" spc="-35" dirty="0">
                <a:latin typeface="Calibri"/>
                <a:cs typeface="Calibri"/>
              </a:rPr>
              <a:t>v</a:t>
            </a:r>
            <a:r>
              <a:rPr sz="2200" spc="-15" dirty="0">
                <a:latin typeface="Calibri"/>
                <a:cs typeface="Calibri"/>
              </a:rPr>
              <a:t>e</a:t>
            </a:r>
            <a:r>
              <a:rPr sz="2200" spc="-50" dirty="0">
                <a:latin typeface="Calibri"/>
                <a:cs typeface="Calibri"/>
              </a:rPr>
              <a:t>r</a:t>
            </a:r>
            <a:r>
              <a:rPr sz="2200" dirty="0">
                <a:latin typeface="Calibri"/>
                <a:cs typeface="Calibri"/>
              </a:rPr>
              <a:t>si</a:t>
            </a:r>
            <a:r>
              <a:rPr sz="2200" spc="-10" dirty="0">
                <a:latin typeface="Calibri"/>
                <a:cs typeface="Calibri"/>
              </a:rPr>
              <a:t>ty</a:t>
            </a:r>
            <a:r>
              <a:rPr sz="2200" dirty="0">
                <a:latin typeface="Calibri"/>
                <a:cs typeface="Calibri"/>
              </a:rPr>
              <a:t> of </a:t>
            </a:r>
            <a:r>
              <a:rPr sz="2200" spc="-15" dirty="0">
                <a:latin typeface="Calibri"/>
                <a:cs typeface="Calibri"/>
              </a:rPr>
              <a:t>A</a:t>
            </a:r>
            <a:r>
              <a:rPr sz="2200" dirty="0">
                <a:latin typeface="Calibri"/>
                <a:cs typeface="Calibri"/>
              </a:rPr>
              <a:t>u</a:t>
            </a:r>
            <a:r>
              <a:rPr sz="2200" spc="-10" dirty="0">
                <a:latin typeface="Calibri"/>
                <a:cs typeface="Calibri"/>
              </a:rPr>
              <a:t>ck</a:t>
            </a:r>
            <a:r>
              <a:rPr sz="2200" dirty="0">
                <a:latin typeface="Calibri"/>
                <a:cs typeface="Calibri"/>
              </a:rPr>
              <a:t>land</a:t>
            </a:r>
            <a:endParaRPr lang="en-US" sz="2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lang="en-US" sz="2200" dirty="0">
                <a:latin typeface="Calibri"/>
                <a:cs typeface="Calibri"/>
              </a:rPr>
              <a:t>Marsden Fast-Start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95900" y="4521200"/>
            <a:ext cx="7387590" cy="1118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b="1" dirty="0">
                <a:latin typeface="Calibri"/>
                <a:cs typeface="Calibri"/>
              </a:rPr>
              <a:t>T</a:t>
            </a:r>
            <a:r>
              <a:rPr sz="3600" b="1" spc="-95" dirty="0">
                <a:latin typeface="Calibri"/>
                <a:cs typeface="Calibri"/>
              </a:rPr>
              <a:t>R</a:t>
            </a:r>
            <a:r>
              <a:rPr sz="3600" b="1" spc="-20" dirty="0">
                <a:latin typeface="Calibri"/>
                <a:cs typeface="Calibri"/>
              </a:rPr>
              <a:t>Y</a:t>
            </a:r>
            <a:r>
              <a:rPr sz="3600" b="1" dirty="0">
                <a:latin typeface="Calibri"/>
                <a:cs typeface="Calibri"/>
              </a:rPr>
              <a:t> </a:t>
            </a:r>
            <a:r>
              <a:rPr sz="3600" b="1" spc="-30" dirty="0">
                <a:latin typeface="Calibri"/>
                <a:cs typeface="Calibri"/>
              </a:rPr>
              <a:t>B</a:t>
            </a:r>
            <a:r>
              <a:rPr sz="3600" b="1" spc="-15" dirty="0">
                <a:latin typeface="Calibri"/>
                <a:cs typeface="Calibri"/>
              </a:rPr>
              <a:t>io</a:t>
            </a:r>
            <a:r>
              <a:rPr sz="3600" b="1" dirty="0">
                <a:latin typeface="Calibri"/>
                <a:cs typeface="Calibri"/>
              </a:rPr>
              <a:t>Ge</a:t>
            </a:r>
            <a:r>
              <a:rPr sz="3600" b="1" spc="-20" dirty="0">
                <a:latin typeface="Calibri"/>
                <a:cs typeface="Calibri"/>
              </a:rPr>
              <a:t>o</a:t>
            </a:r>
            <a:r>
              <a:rPr sz="3600" b="1" spc="-30" dirty="0">
                <a:latin typeface="Calibri"/>
                <a:cs typeface="Calibri"/>
              </a:rPr>
              <a:t>B</a:t>
            </a:r>
            <a:r>
              <a:rPr sz="3600" b="1" spc="-65" dirty="0">
                <a:latin typeface="Calibri"/>
                <a:cs typeface="Calibri"/>
              </a:rPr>
              <a:t>E</a:t>
            </a:r>
            <a:r>
              <a:rPr sz="3600" b="1" spc="-25" dirty="0">
                <a:latin typeface="Calibri"/>
                <a:cs typeface="Calibri"/>
              </a:rPr>
              <a:t>A</a:t>
            </a:r>
            <a:r>
              <a:rPr sz="3600" b="1" spc="-65" dirty="0">
                <a:latin typeface="Calibri"/>
                <a:cs typeface="Calibri"/>
              </a:rPr>
              <a:t>R</a:t>
            </a:r>
            <a:r>
              <a:rPr sz="3600" b="1" spc="-20" dirty="0">
                <a:latin typeface="Calibri"/>
                <a:cs typeface="Calibri"/>
              </a:rPr>
              <a:t>S</a:t>
            </a:r>
            <a:r>
              <a:rPr sz="3600" b="1" dirty="0">
                <a:latin typeface="Calibri"/>
                <a:cs typeface="Calibri"/>
              </a:rPr>
              <a:t> </a:t>
            </a:r>
            <a:r>
              <a:rPr sz="3600" b="1" spc="-310" dirty="0">
                <a:latin typeface="Calibri"/>
                <a:cs typeface="Calibri"/>
              </a:rPr>
              <a:t>A</a:t>
            </a:r>
            <a:r>
              <a:rPr sz="3600" b="1" spc="-155" dirty="0">
                <a:latin typeface="Calibri"/>
                <a:cs typeface="Calibri"/>
              </a:rPr>
              <a:t>T</a:t>
            </a:r>
            <a:r>
              <a:rPr sz="3600" b="1" spc="-10" dirty="0">
                <a:latin typeface="Calibri"/>
                <a:cs typeface="Calibri"/>
              </a:rPr>
              <a:t>:</a:t>
            </a:r>
            <a:endParaRPr sz="3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en-US" sz="3600" b="1" u="heavy" spc="-55" dirty="0">
                <a:latin typeface="Calibri"/>
                <a:cs typeface="Calibri"/>
              </a:rPr>
              <a:t>http</a:t>
            </a:r>
            <a:r>
              <a:rPr sz="3600" b="1" u="heavy" spc="-20" dirty="0">
                <a:latin typeface="Calibri"/>
                <a:cs typeface="Calibri"/>
              </a:rPr>
              <a:t>://p</a:t>
            </a:r>
            <a:r>
              <a:rPr sz="3600" b="1" u="heavy" spc="-85" dirty="0">
                <a:latin typeface="Calibri"/>
                <a:cs typeface="Calibri"/>
              </a:rPr>
              <a:t>h</a:t>
            </a:r>
            <a:r>
              <a:rPr sz="3600" b="1" u="heavy" spc="-25" dirty="0">
                <a:latin typeface="Calibri"/>
                <a:cs typeface="Calibri"/>
              </a:rPr>
              <a:t>y</a:t>
            </a:r>
            <a:r>
              <a:rPr sz="3600" b="1" u="heavy" spc="-15" dirty="0">
                <a:latin typeface="Calibri"/>
                <a:cs typeface="Calibri"/>
              </a:rPr>
              <a:t>lo</a:t>
            </a:r>
            <a:r>
              <a:rPr sz="3600" b="1" u="heavy" spc="-114" dirty="0">
                <a:latin typeface="Calibri"/>
                <a:cs typeface="Calibri"/>
              </a:rPr>
              <a:t>.</a:t>
            </a:r>
            <a:r>
              <a:rPr sz="3600" b="1" u="heavy" dirty="0">
                <a:latin typeface="Calibri"/>
                <a:cs typeface="Calibri"/>
              </a:rPr>
              <a:t>w</a:t>
            </a:r>
            <a:r>
              <a:rPr sz="3600" b="1" u="heavy" spc="-15" dirty="0">
                <a:latin typeface="Calibri"/>
                <a:cs typeface="Calibri"/>
              </a:rPr>
              <a:t>ikidot</a:t>
            </a:r>
            <a:r>
              <a:rPr sz="3600" b="1" u="heavy" dirty="0">
                <a:latin typeface="Calibri"/>
                <a:cs typeface="Calibri"/>
              </a:rPr>
              <a:t>.</a:t>
            </a:r>
            <a:r>
              <a:rPr sz="3600" b="1" u="heavy" spc="-20" dirty="0">
                <a:latin typeface="Calibri"/>
                <a:cs typeface="Calibri"/>
              </a:rPr>
              <a:t>co</a:t>
            </a:r>
            <a:r>
              <a:rPr sz="3600" b="1" u="heavy" dirty="0">
                <a:latin typeface="Calibri"/>
                <a:cs typeface="Calibri"/>
              </a:rPr>
              <a:t>m</a:t>
            </a:r>
            <a:r>
              <a:rPr sz="3600" b="1" u="heavy" spc="-20" dirty="0">
                <a:latin typeface="Calibri"/>
                <a:cs typeface="Calibri"/>
              </a:rPr>
              <a:t>/bio</a:t>
            </a:r>
            <a:r>
              <a:rPr sz="3600" b="1" u="heavy" spc="-40" dirty="0">
                <a:latin typeface="Calibri"/>
                <a:cs typeface="Calibri"/>
              </a:rPr>
              <a:t>g</a:t>
            </a:r>
            <a:r>
              <a:rPr sz="3600" b="1" u="heavy" dirty="0">
                <a:latin typeface="Calibri"/>
                <a:cs typeface="Calibri"/>
              </a:rPr>
              <a:t>e</a:t>
            </a:r>
            <a:r>
              <a:rPr sz="3600" b="1" u="heavy" spc="-20" dirty="0">
                <a:latin typeface="Calibri"/>
                <a:cs typeface="Calibri"/>
              </a:rPr>
              <a:t>ob</a:t>
            </a:r>
            <a:r>
              <a:rPr sz="3600" b="1" u="heavy" dirty="0">
                <a:latin typeface="Calibri"/>
                <a:cs typeface="Calibri"/>
              </a:rPr>
              <a:t>e</a:t>
            </a:r>
            <a:r>
              <a:rPr sz="3600" b="1" u="heavy" spc="-20" dirty="0">
                <a:latin typeface="Calibri"/>
                <a:cs typeface="Calibri"/>
              </a:rPr>
              <a:t>a</a:t>
            </a:r>
            <a:r>
              <a:rPr sz="3600" b="1" u="heavy" spc="-45" dirty="0">
                <a:latin typeface="Calibri"/>
                <a:cs typeface="Calibri"/>
              </a:rPr>
              <a:t>r</a:t>
            </a:r>
            <a:r>
              <a:rPr sz="3600" b="1" u="heavy" spc="-15" dirty="0">
                <a:latin typeface="Calibri"/>
                <a:cs typeface="Calibri"/>
              </a:rPr>
              <a:t>s</a:t>
            </a:r>
            <a:endParaRPr sz="3600" dirty="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610350" y="215757"/>
            <a:ext cx="5600700" cy="398794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654800" y="234807"/>
            <a:ext cx="5511800" cy="389904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654800" y="234807"/>
            <a:ext cx="5511800" cy="3899535"/>
          </a:xfrm>
          <a:custGeom>
            <a:avLst/>
            <a:gdLst/>
            <a:ahLst/>
            <a:cxnLst/>
            <a:rect l="l" t="t" r="r" b="b"/>
            <a:pathLst>
              <a:path w="5511800" h="3899535">
                <a:moveTo>
                  <a:pt x="0" y="0"/>
                </a:moveTo>
                <a:lnTo>
                  <a:pt x="5511800" y="0"/>
                </a:lnTo>
                <a:lnTo>
                  <a:pt x="5511800" y="3899042"/>
                </a:lnTo>
                <a:lnTo>
                  <a:pt x="0" y="389904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528559" y="8914934"/>
            <a:ext cx="686559" cy="68655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781300" y="5994400"/>
            <a:ext cx="5270500" cy="26289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454626" y="5004631"/>
            <a:ext cx="2697480" cy="768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4700" marR="751205" algn="ctr">
              <a:lnSpc>
                <a:spcPct val="104200"/>
              </a:lnSpc>
            </a:pPr>
            <a:r>
              <a:rPr sz="1200" b="1" spc="-10" dirty="0">
                <a:latin typeface="Calibri"/>
                <a:cs typeface="Calibri"/>
              </a:rPr>
              <a:t>Nicholas J</a:t>
            </a:r>
            <a:r>
              <a:rPr sz="1200" b="1" dirty="0">
                <a:latin typeface="Calibri"/>
                <a:cs typeface="Calibri"/>
              </a:rPr>
              <a:t>. </a:t>
            </a:r>
            <a:r>
              <a:rPr sz="1200" b="1" spc="-15" dirty="0">
                <a:latin typeface="Calibri"/>
                <a:cs typeface="Calibri"/>
              </a:rPr>
              <a:t>M</a:t>
            </a:r>
            <a:r>
              <a:rPr sz="1200" b="1" spc="-25" dirty="0">
                <a:latin typeface="Calibri"/>
                <a:cs typeface="Calibri"/>
              </a:rPr>
              <a:t>a</a:t>
            </a:r>
            <a:r>
              <a:rPr sz="1200" b="1" spc="-5" dirty="0">
                <a:latin typeface="Calibri"/>
                <a:cs typeface="Calibri"/>
              </a:rPr>
              <a:t>t</a:t>
            </a:r>
            <a:r>
              <a:rPr sz="1200" b="1" dirty="0">
                <a:latin typeface="Calibri"/>
                <a:cs typeface="Calibri"/>
              </a:rPr>
              <a:t>z</a:t>
            </a:r>
            <a:r>
              <a:rPr sz="1200" b="1" spc="-45" dirty="0">
                <a:latin typeface="Calibri"/>
                <a:cs typeface="Calibri"/>
              </a:rPr>
              <a:t>k</a:t>
            </a:r>
            <a:r>
              <a:rPr sz="1200" b="1" dirty="0">
                <a:latin typeface="Calibri"/>
                <a:cs typeface="Calibri"/>
              </a:rPr>
              <a:t>e </a:t>
            </a:r>
            <a:r>
              <a:rPr lang="en-US" sz="1200" b="1" dirty="0">
                <a:latin typeface="Calibri"/>
                <a:cs typeface="Calibri"/>
              </a:rPr>
              <a:t>Senior Lecturer</a:t>
            </a:r>
            <a:endParaRPr sz="1200" dirty="0">
              <a:latin typeface="Calibri"/>
              <a:cs typeface="Calibri"/>
            </a:endParaRPr>
          </a:p>
          <a:p>
            <a:pPr marL="12700" marR="5080" algn="ctr">
              <a:lnSpc>
                <a:spcPct val="104200"/>
              </a:lnSpc>
            </a:pPr>
            <a:r>
              <a:rPr lang="en-US" sz="1200" dirty="0">
                <a:latin typeface="Calibri"/>
                <a:cs typeface="Calibri"/>
              </a:rPr>
              <a:t>University of Auckland</a:t>
            </a:r>
          </a:p>
          <a:p>
            <a:pPr marL="12700" marR="5080" algn="ctr">
              <a:lnSpc>
                <a:spcPct val="104200"/>
              </a:lnSpc>
            </a:pPr>
            <a:r>
              <a:rPr sz="1200" dirty="0">
                <a:latin typeface="Calibri"/>
                <a:cs typeface="Calibri"/>
              </a:rPr>
              <a:t>p</a:t>
            </a:r>
            <a:r>
              <a:rPr sz="1200" spc="-25" dirty="0">
                <a:latin typeface="Calibri"/>
                <a:cs typeface="Calibri"/>
              </a:rPr>
              <a:t>h</a:t>
            </a:r>
            <a:r>
              <a:rPr sz="1200" spc="-10" dirty="0">
                <a:latin typeface="Calibri"/>
                <a:cs typeface="Calibri"/>
              </a:rPr>
              <a:t>y</a:t>
            </a:r>
            <a:r>
              <a:rPr sz="1200" dirty="0">
                <a:latin typeface="Calibri"/>
                <a:cs typeface="Calibri"/>
              </a:rPr>
              <a:t>lo</a:t>
            </a:r>
            <a:r>
              <a:rPr sz="1200" spc="-40" dirty="0">
                <a:latin typeface="Calibri"/>
                <a:cs typeface="Calibri"/>
              </a:rPr>
              <a:t>.</a:t>
            </a:r>
            <a:r>
              <a:rPr sz="1200" spc="-10" dirty="0">
                <a:latin typeface="Calibri"/>
                <a:cs typeface="Calibri"/>
              </a:rPr>
              <a:t>w</a:t>
            </a:r>
            <a:r>
              <a:rPr sz="1200" dirty="0">
                <a:latin typeface="Calibri"/>
                <a:cs typeface="Calibri"/>
              </a:rPr>
              <a:t>i</a:t>
            </a:r>
            <a:r>
              <a:rPr sz="1200" spc="-10" dirty="0">
                <a:latin typeface="Calibri"/>
                <a:cs typeface="Calibri"/>
              </a:rPr>
              <a:t>k</a:t>
            </a:r>
            <a:r>
              <a:rPr sz="1200" dirty="0">
                <a:latin typeface="Calibri"/>
                <a:cs typeface="Calibri"/>
              </a:rPr>
              <a:t>idot.</a:t>
            </a:r>
            <a:r>
              <a:rPr sz="1200" spc="-15" dirty="0">
                <a:latin typeface="Calibri"/>
                <a:cs typeface="Calibri"/>
              </a:rPr>
              <a:t>c</a:t>
            </a:r>
            <a:r>
              <a:rPr sz="1200" dirty="0">
                <a:latin typeface="Calibri"/>
                <a:cs typeface="Calibri"/>
              </a:rPr>
              <a:t>o</a:t>
            </a:r>
            <a:r>
              <a:rPr sz="1200" spc="-10" dirty="0">
                <a:latin typeface="Calibri"/>
                <a:cs typeface="Calibri"/>
              </a:rPr>
              <a:t>m</a:t>
            </a:r>
            <a:r>
              <a:rPr sz="1200" dirty="0">
                <a:latin typeface="Calibri"/>
                <a:cs typeface="Calibri"/>
              </a:rPr>
              <a:t>/ni</a:t>
            </a:r>
            <a:r>
              <a:rPr sz="1200" spc="-5" dirty="0">
                <a:latin typeface="Calibri"/>
                <a:cs typeface="Calibri"/>
              </a:rPr>
              <a:t>c</a:t>
            </a:r>
            <a:r>
              <a:rPr sz="1200" dirty="0">
                <a:latin typeface="Calibri"/>
                <a:cs typeface="Calibri"/>
              </a:rPr>
              <a:t>holas-j-</a:t>
            </a:r>
            <a:r>
              <a:rPr sz="1200" spc="-10" dirty="0">
                <a:latin typeface="Calibri"/>
                <a:cs typeface="Calibri"/>
              </a:rPr>
              <a:t>m</a:t>
            </a:r>
            <a:r>
              <a:rPr sz="1200" spc="-15" dirty="0">
                <a:latin typeface="Calibri"/>
                <a:cs typeface="Calibri"/>
              </a:rPr>
              <a:t>a</a:t>
            </a:r>
            <a:r>
              <a:rPr sz="1200" spc="-5" dirty="0">
                <a:latin typeface="Calibri"/>
                <a:cs typeface="Calibri"/>
              </a:rPr>
              <a:t>tz</a:t>
            </a:r>
            <a:r>
              <a:rPr sz="1200" spc="-50" dirty="0">
                <a:latin typeface="Calibri"/>
                <a:cs typeface="Calibri"/>
              </a:rPr>
              <a:t>k</a:t>
            </a:r>
            <a:r>
              <a:rPr sz="1200" spc="-10" dirty="0">
                <a:latin typeface="Calibri"/>
                <a:cs typeface="Calibri"/>
              </a:rPr>
              <a:t>e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073400" y="3429000"/>
            <a:ext cx="1347401" cy="179204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534534" y="8819978"/>
            <a:ext cx="965959" cy="93362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278401" y="9269811"/>
            <a:ext cx="1842590" cy="45441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278401" y="9269811"/>
            <a:ext cx="1842770" cy="454659"/>
          </a:xfrm>
          <a:custGeom>
            <a:avLst/>
            <a:gdLst/>
            <a:ahLst/>
            <a:cxnLst/>
            <a:rect l="l" t="t" r="r" b="b"/>
            <a:pathLst>
              <a:path w="1842770" h="454659">
                <a:moveTo>
                  <a:pt x="0" y="0"/>
                </a:moveTo>
                <a:lnTo>
                  <a:pt x="1842590" y="0"/>
                </a:lnTo>
                <a:lnTo>
                  <a:pt x="1842590" y="454416"/>
                </a:lnTo>
                <a:lnTo>
                  <a:pt x="0" y="454416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070126" y="8909258"/>
            <a:ext cx="3125519" cy="78725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0" y="8852022"/>
            <a:ext cx="4057650" cy="901700"/>
          </a:xfrm>
          <a:custGeom>
            <a:avLst/>
            <a:gdLst/>
            <a:ahLst/>
            <a:cxnLst/>
            <a:rect l="l" t="t" r="r" b="b"/>
            <a:pathLst>
              <a:path w="4057650" h="901700">
                <a:moveTo>
                  <a:pt x="0" y="901577"/>
                </a:moveTo>
                <a:lnTo>
                  <a:pt x="4057609" y="901577"/>
                </a:lnTo>
                <a:lnTo>
                  <a:pt x="4057609" y="0"/>
                </a:lnTo>
                <a:lnTo>
                  <a:pt x="0" y="0"/>
                </a:lnTo>
                <a:lnTo>
                  <a:pt x="0" y="9015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561311" y="9053007"/>
            <a:ext cx="1492987" cy="56001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0" y="8856043"/>
            <a:ext cx="1447741" cy="89292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9203877" y="8852022"/>
            <a:ext cx="2454275" cy="901700"/>
          </a:xfrm>
          <a:custGeom>
            <a:avLst/>
            <a:gdLst/>
            <a:ahLst/>
            <a:cxnLst/>
            <a:rect l="l" t="t" r="r" b="b"/>
            <a:pathLst>
              <a:path w="2454275" h="901700">
                <a:moveTo>
                  <a:pt x="0" y="0"/>
                </a:moveTo>
                <a:lnTo>
                  <a:pt x="2453779" y="0"/>
                </a:lnTo>
                <a:lnTo>
                  <a:pt x="2453779" y="901577"/>
                </a:lnTo>
                <a:lnTo>
                  <a:pt x="0" y="901577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9221054" y="8883856"/>
            <a:ext cx="2387592" cy="84361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0800" y="8594725"/>
            <a:ext cx="1950085" cy="21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dirty="0">
                <a:latin typeface="Calibri"/>
                <a:cs typeface="Calibri"/>
              </a:rPr>
              <a:t>Than</a:t>
            </a:r>
            <a:r>
              <a:rPr sz="1500" spc="-25" dirty="0">
                <a:latin typeface="Calibri"/>
                <a:cs typeface="Calibri"/>
              </a:rPr>
              <a:t>k</a:t>
            </a:r>
            <a:r>
              <a:rPr sz="1500" dirty="0">
                <a:latin typeface="Calibri"/>
                <a:cs typeface="Calibri"/>
              </a:rPr>
              <a:t>s </a:t>
            </a:r>
            <a:r>
              <a:rPr sz="1500" spc="-35" dirty="0">
                <a:latin typeface="Calibri"/>
                <a:cs typeface="Calibri"/>
              </a:rPr>
              <a:t>f</a:t>
            </a:r>
            <a:r>
              <a:rPr sz="1500" dirty="0">
                <a:latin typeface="Calibri"/>
                <a:cs typeface="Calibri"/>
              </a:rPr>
              <a:t>o</a:t>
            </a:r>
            <a:r>
              <a:rPr sz="1500" spc="-10" dirty="0">
                <a:latin typeface="Calibri"/>
                <a:cs typeface="Calibri"/>
              </a:rPr>
              <a:t>r</a:t>
            </a:r>
            <a:r>
              <a:rPr sz="1500" dirty="0">
                <a:latin typeface="Calibri"/>
                <a:cs typeface="Calibri"/>
              </a:rPr>
              <a:t> suppo</a:t>
            </a:r>
            <a:r>
              <a:rPr sz="1500" spc="-10" dirty="0">
                <a:latin typeface="Calibri"/>
                <a:cs typeface="Calibri"/>
              </a:rPr>
              <a:t>rt</a:t>
            </a:r>
            <a:r>
              <a:rPr sz="1500" dirty="0">
                <a:latin typeface="Calibri"/>
                <a:cs typeface="Calibri"/>
              </a:rPr>
              <a:t> f</a:t>
            </a:r>
            <a:r>
              <a:rPr sz="1500" spc="-35" dirty="0">
                <a:latin typeface="Calibri"/>
                <a:cs typeface="Calibri"/>
              </a:rPr>
              <a:t>r</a:t>
            </a:r>
            <a:r>
              <a:rPr sz="1500" dirty="0">
                <a:latin typeface="Calibri"/>
                <a:cs typeface="Calibri"/>
              </a:rPr>
              <a:t>o</a:t>
            </a:r>
            <a:r>
              <a:rPr sz="1500" spc="-10" dirty="0">
                <a:latin typeface="Calibri"/>
                <a:cs typeface="Calibri"/>
              </a:rPr>
              <a:t>m: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063657" y="8858372"/>
            <a:ext cx="2272080" cy="454416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063657" y="8858372"/>
            <a:ext cx="2272665" cy="454659"/>
          </a:xfrm>
          <a:custGeom>
            <a:avLst/>
            <a:gdLst/>
            <a:ahLst/>
            <a:cxnLst/>
            <a:rect l="l" t="t" r="r" b="b"/>
            <a:pathLst>
              <a:path w="2272665" h="454659">
                <a:moveTo>
                  <a:pt x="0" y="0"/>
                </a:moveTo>
                <a:lnTo>
                  <a:pt x="2272080" y="0"/>
                </a:lnTo>
                <a:lnTo>
                  <a:pt x="2272080" y="454416"/>
                </a:lnTo>
                <a:lnTo>
                  <a:pt x="0" y="454416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1734193" y="8699869"/>
            <a:ext cx="1206177" cy="105373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</TotalTime>
  <Words>8217</Words>
  <Application>Microsoft Macintosh PowerPoint</Application>
  <PresentationFormat>Custom</PresentationFormat>
  <Paragraphs>1683</Paragraphs>
  <Slides>184</Slides>
  <Notes>90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184</vt:i4>
      </vt:variant>
    </vt:vector>
  </HeadingPairs>
  <TitlesOfParts>
    <vt:vector size="194" baseType="lpstr">
      <vt:lpstr>Arial</vt:lpstr>
      <vt:lpstr>Calibri</vt:lpstr>
      <vt:lpstr>Cambria</vt:lpstr>
      <vt:lpstr>Gill Sans</vt:lpstr>
      <vt:lpstr>Helvetica</vt:lpstr>
      <vt:lpstr>Helvetica Light</vt:lpstr>
      <vt:lpstr>Mangal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Comparison: 3 models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Review: Models, parameters, and data</vt:lpstr>
      <vt:lpstr>Review: Models, parameters, and data</vt:lpstr>
      <vt:lpstr>Likelihood: the key concept</vt:lpstr>
      <vt:lpstr>What is likelihood?</vt:lpstr>
      <vt:lpstr>Key concepts</vt:lpstr>
      <vt:lpstr>Maximum Likelihood Inference</vt:lpstr>
      <vt:lpstr>Maximum Likelihood Inference</vt:lpstr>
      <vt:lpstr>Maximum Likelihood Inference</vt:lpstr>
      <vt:lpstr>Maximum Likelihood Inference</vt:lpstr>
      <vt:lpstr>Maximum Likelihood Inference</vt:lpstr>
      <vt:lpstr>Maximum Likelihood Inference</vt:lpstr>
      <vt:lpstr>Maximum Likelihood Inference</vt:lpstr>
      <vt:lpstr>Maximum Likelihood Inference</vt:lpstr>
      <vt:lpstr>Maximum Likelihood Inference</vt:lpstr>
      <vt:lpstr>Maximum Likelihood Inference</vt:lpstr>
      <vt:lpstr>Maximum Likelihood Inference</vt:lpstr>
      <vt:lpstr>Maximum Likelihood Inference</vt:lpstr>
      <vt:lpstr>Maximum Likelihood Inference</vt:lpstr>
      <vt:lpstr>We can calculate likelihood or lnL for many different possible parameter values</vt:lpstr>
      <vt:lpstr>We can calculate likelihood or lnL for many different possible parameter values</vt:lpstr>
      <vt:lpstr>We can calculate likelihood or lnL for many different possible parameter values</vt:lpstr>
      <vt:lpstr>We can calculate likelihood or lnL for many different possible parameter values</vt:lpstr>
      <vt:lpstr>We can calculate likelihood or lnL for many different possible parameter values</vt:lpstr>
      <vt:lpstr>We can calculate likelihood or lnL for many different possible parameter values</vt:lpstr>
      <vt:lpstr>We can calculate likelihood or lnL for many different possible parameter values</vt:lpstr>
      <vt:lpstr>Likelihood profile curve</vt:lpstr>
      <vt:lpstr>Log-likelihood (lnL)</vt:lpstr>
      <vt:lpstr>The maximum likelihood and log-likelihood (lnL) give the same parameter estimate</vt:lpstr>
      <vt:lpstr>What is our best estimate of the parameter?</vt:lpstr>
      <vt:lpstr>What is our best estimate of the parameter?</vt:lpstr>
      <vt:lpstr>What is our best estimate of the parameter?</vt:lpstr>
      <vt:lpstr>What is our best estimate of the parameter?</vt:lpstr>
      <vt:lpstr>How to find the maximum of the likelihood?</vt:lpstr>
      <vt:lpstr>How to find this maximum?</vt:lpstr>
      <vt:lpstr>The parameter value that Maximizes the Likelihood (ML)</vt:lpstr>
      <vt:lpstr>The parameter value that Maximizes the Likelihood (ML)</vt:lpstr>
      <vt:lpstr>How to find this maximum?</vt:lpstr>
      <vt:lpstr>How to find this maximum?</vt:lpstr>
      <vt:lpstr>How to find this maximum?</vt:lpstr>
      <vt:lpstr>How to find this maximum?</vt:lpstr>
      <vt:lpstr>How to find this maximum?</vt:lpstr>
      <vt:lpstr>How to find this maximum?</vt:lpstr>
      <vt:lpstr>How to find this maximum?</vt:lpstr>
      <vt:lpstr>How to find this maximum?</vt:lpstr>
      <vt:lpstr>How to find this maximum?</vt:lpstr>
      <vt:lpstr>How to find this maximum?</vt:lpstr>
      <vt:lpstr>How to find this maximum?</vt:lpstr>
      <vt:lpstr>How to find this maximum?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Akaike Information Criterion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Akaike Information Criterion</vt:lpstr>
      <vt:lpstr>Akaike Information Criterion</vt:lpstr>
      <vt:lpstr>Akaike Information Criterion</vt:lpstr>
      <vt:lpstr>Akaike Information Criterion</vt:lpstr>
      <vt:lpstr>Akaike Information Criterion</vt:lpstr>
      <vt:lpstr>Akaike Information Criterion</vt:lpstr>
      <vt:lpstr>Akaike Information Criterion</vt:lpstr>
      <vt:lpstr>Akaike Information Criterion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Trait matrix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Trait-dependent dispersal in Podocarpaceae+Araucariaceae (with Kristina Klaus, Univ. of Bochum)</vt:lpstr>
      <vt:lpstr>Trait-dependent dispersal in Podocarpaceae+Araucariaceae (with Kristina Klaus, Univ. of Bochum)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Taxon Cycle Hypothesis</vt:lpstr>
      <vt:lpstr>The Taxon Cycle Hypothesis</vt:lpstr>
      <vt:lpstr>The Taxon Cycle Hypothesis</vt:lpstr>
      <vt:lpstr>Odontomachus in the Indo-Pacific</vt:lpstr>
      <vt:lpstr>PowerPoint Presentation</vt:lpstr>
      <vt:lpstr>Odontomachus in the Indo-Pacific</vt:lpstr>
      <vt:lpstr>PowerPoint Presentation</vt:lpstr>
      <vt:lpstr>Odontomachus in the Indo-Pacific</vt:lpstr>
      <vt:lpstr>Odontomachus in the Indo-Pacific</vt:lpstr>
      <vt:lpstr>Odontomachus in the Indo-Pacific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Cladogenetic range change</vt:lpstr>
      <vt:lpstr>Cladogenetic range change</vt:lpstr>
      <vt:lpstr>Tricks to speed things up:  1. Sparse representations (exclude 0s)  2. C++ backend  3. Parallel processing  4. Exclude unlikely ranges</vt:lpstr>
      <vt:lpstr>More complex problems:  1. Trait-linked dispersal  2. Include speciation/extinction</vt:lpstr>
      <vt:lpstr>Trait-linked dispersal</vt:lpstr>
      <vt:lpstr>Trait-linked dispersal</vt:lpstr>
      <vt:lpstr>Trait-linked dispersal</vt:lpstr>
      <vt:lpstr>Biggest problem with all of these biogeography models: EXTINCTION</vt:lpstr>
      <vt:lpstr>Biggest problem with all of these biogeography models: EXTINCTION</vt:lpstr>
      <vt:lpstr>Biggest problem with all of these biogeography models: EXTINCTION</vt:lpstr>
      <vt:lpstr>Biggest problem with all of these biogeography models: EXTINCTION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Comparison of model features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Nicholas Matzke</cp:lastModifiedBy>
  <cp:revision>12</cp:revision>
  <dcterms:created xsi:type="dcterms:W3CDTF">2019-10-04T11:41:29Z</dcterms:created>
  <dcterms:modified xsi:type="dcterms:W3CDTF">2021-08-12T02:55:23Z</dcterms:modified>
</cp:coreProperties>
</file>