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6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11DF-15D4-4C4B-8B01-BA6639E8A72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0D73-6E23-A948-97AC-8637C80C1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30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11DF-15D4-4C4B-8B01-BA6639E8A72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0D73-6E23-A948-97AC-8637C80C1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97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11DF-15D4-4C4B-8B01-BA6639E8A72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0D73-6E23-A948-97AC-8637C80C1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88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11DF-15D4-4C4B-8B01-BA6639E8A72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0D73-6E23-A948-97AC-8637C80C1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6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11DF-15D4-4C4B-8B01-BA6639E8A72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0D73-6E23-A948-97AC-8637C80C1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2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11DF-15D4-4C4B-8B01-BA6639E8A72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0D73-6E23-A948-97AC-8637C80C1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11DF-15D4-4C4B-8B01-BA6639E8A72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0D73-6E23-A948-97AC-8637C80C1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76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11DF-15D4-4C4B-8B01-BA6639E8A72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0D73-6E23-A948-97AC-8637C80C1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7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11DF-15D4-4C4B-8B01-BA6639E8A72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0D73-6E23-A948-97AC-8637C80C1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19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11DF-15D4-4C4B-8B01-BA6639E8A72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0D73-6E23-A948-97AC-8637C80C1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82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11DF-15D4-4C4B-8B01-BA6639E8A72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0D73-6E23-A948-97AC-8637C80C1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1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611DF-15D4-4C4B-8B01-BA6639E8A72C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50D73-6E23-A948-97AC-8637C80C1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EF18585-A0CF-D524-6C16-581BDB807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521380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 for Day 1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5A1609F-A5C4-023E-814A-6F0F0C05A054}"/>
              </a:ext>
            </a:extLst>
          </p:cNvPr>
          <p:cNvSpPr txBox="1">
            <a:spLocks/>
          </p:cNvSpPr>
          <p:nvPr/>
        </p:nvSpPr>
        <p:spPr>
          <a:xfrm>
            <a:off x="555171" y="2841172"/>
            <a:ext cx="7772400" cy="23066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2400" dirty="0"/>
              <a:t>Introductions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2400" dirty="0"/>
              <a:t>Intro lecture – what kinds of analyses and questions do we address with historical biogeography?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2400" dirty="0"/>
              <a:t>Install BioGeoBEARS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2400" dirty="0"/>
              <a:t>Get to the first plot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2400" dirty="0"/>
              <a:t>R basics (for those who need it)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57250" indent="-857250" algn="l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18329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CF1B8-CBE6-F061-F19B-7909E675F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3EA4F74-E5BD-55AE-6DCA-32E0AC1D4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95" y="439191"/>
            <a:ext cx="7772400" cy="521380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 for Day 2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A31246-09C4-25A5-E09C-15E57E49FA15}"/>
              </a:ext>
            </a:extLst>
          </p:cNvPr>
          <p:cNvSpPr txBox="1">
            <a:spLocks/>
          </p:cNvSpPr>
          <p:nvPr/>
        </p:nvSpPr>
        <p:spPr>
          <a:xfrm>
            <a:off x="187310" y="5265683"/>
            <a:ext cx="7772400" cy="178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000" dirty="0"/>
          </a:p>
          <a:p>
            <a:pPr marL="857250" indent="-85725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A8CB9-ACD5-0EAE-96D6-122E2F14CFD2}"/>
              </a:ext>
            </a:extLst>
          </p:cNvPr>
          <p:cNvSpPr txBox="1"/>
          <p:nvPr/>
        </p:nvSpPr>
        <p:spPr>
          <a:xfrm>
            <a:off x="378652" y="961982"/>
            <a:ext cx="7389715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Questions from previous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02_BGB_intro_v2.R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02_BGB_intro_Qs_noAnswers_v1.R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Statistical model comparison &amp; AIC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/lab02/TS2024-10_Matzke02_AIC_explained.xlsx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/lab02/LRT_AIC_tables_v2.xlsx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 variants: directionality, connectivity, distance, changing geography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Changing the maximum # of areas: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02_M1_Psychotria_maxareas2.R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Changing the ”manual dispersal multipliers”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02_M2_Psychotria_dispersal_multipliers.R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Adding distance-based dispersal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02_M4_Psychotria_distances.R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Changing geography in time: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02_M3_Psychotria_time-strat_v2.R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02_M0_BGB_Psychotria_script_DECvDEC+J_wBSM_v1.R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02_M3_script_BSM_to_phytools_v3strat.R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812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E454B-BCE8-42EC-8F36-16F6E3108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DD5BD24-E6EA-DF22-5054-8FCB03C08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95" y="439191"/>
            <a:ext cx="7772400" cy="521380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 for Day 3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76861380-A7B0-D6B0-E6AD-9BC3FA83A9C3}"/>
              </a:ext>
            </a:extLst>
          </p:cNvPr>
          <p:cNvSpPr txBox="1">
            <a:spLocks/>
          </p:cNvSpPr>
          <p:nvPr/>
        </p:nvSpPr>
        <p:spPr>
          <a:xfrm>
            <a:off x="187310" y="5265683"/>
            <a:ext cx="7772400" cy="178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000" dirty="0"/>
          </a:p>
          <a:p>
            <a:pPr marL="857250" indent="-85725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87F118-23D7-9EFE-DB72-5FADC79EF33C}"/>
              </a:ext>
            </a:extLst>
          </p:cNvPr>
          <p:cNvSpPr txBox="1"/>
          <p:nvPr/>
        </p:nvSpPr>
        <p:spPr>
          <a:xfrm>
            <a:off x="378652" y="961982"/>
            <a:ext cx="626857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Questions from previous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Adding distance-based dispersal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02_M4_Psychotria_distances.R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Changing geography in time: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03_M3_Psychotria_time-strat_v2.R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03_M3_script_BSM_to_phytools_v3strat.R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Stochastic Mapping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03_M0_BGB_Psychotria_script_DECvDEC+J_wBSM_v1.R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Simulation – generating possible alternate realities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 code for simulations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Calculating </a:t>
            </a:r>
            <a:r>
              <a:rPr lang="en-US" dirty="0" err="1"/>
              <a:t>paleocoordinates</a:t>
            </a:r>
            <a:r>
              <a:rPr lang="en-US" dirty="0"/>
              <a:t> using </a:t>
            </a:r>
            <a:r>
              <a:rPr lang="en-US" dirty="0" err="1"/>
              <a:t>Gplates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(</a:t>
            </a:r>
            <a:r>
              <a:rPr lang="en-US" dirty="0" err="1"/>
              <a:t>paleodistances</a:t>
            </a:r>
            <a:r>
              <a:rPr lang="en-US" dirty="0"/>
              <a:t> on Monday)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686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94241-0CF9-391B-9136-6470A52F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401B59B-A6A0-A2D4-3CFC-6FB361182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919" y="41669"/>
            <a:ext cx="7772400" cy="521380"/>
          </a:xfrm>
        </p:spPr>
        <p:txBody>
          <a:bodyPr>
            <a:noAutofit/>
          </a:bodyPr>
          <a:lstStyle/>
          <a:p>
            <a:r>
              <a:rPr lang="en-US" sz="3600" dirty="0"/>
              <a:t>Outline for Day 4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71F005CF-90F5-89BC-A7F2-83566D0DC3E9}"/>
              </a:ext>
            </a:extLst>
          </p:cNvPr>
          <p:cNvSpPr txBox="1">
            <a:spLocks/>
          </p:cNvSpPr>
          <p:nvPr/>
        </p:nvSpPr>
        <p:spPr>
          <a:xfrm>
            <a:off x="187310" y="5265683"/>
            <a:ext cx="7772400" cy="178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000" dirty="0"/>
          </a:p>
          <a:p>
            <a:pPr marL="857250" indent="-85725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77C297-B7B5-47A0-E2EC-8843F12EC729}"/>
              </a:ext>
            </a:extLst>
          </p:cNvPr>
          <p:cNvSpPr txBox="1"/>
          <p:nvPr/>
        </p:nvSpPr>
        <p:spPr>
          <a:xfrm>
            <a:off x="187310" y="302359"/>
            <a:ext cx="826561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Questions: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/labs/lab04/notes_day04.txt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Calculating </a:t>
            </a:r>
            <a:r>
              <a:rPr lang="en-US" dirty="0" err="1"/>
              <a:t>paleodistances</a:t>
            </a:r>
            <a:r>
              <a:rPr lang="en-US" dirty="0"/>
              <a:t> from </a:t>
            </a:r>
            <a:r>
              <a:rPr lang="en-US" dirty="0" err="1"/>
              <a:t>Gplates</a:t>
            </a:r>
            <a:r>
              <a:rPr lang="en-US" dirty="0"/>
              <a:t> reconstructions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/labs/lab03/_</a:t>
            </a:r>
            <a:r>
              <a:rPr lang="en-US" dirty="0" err="1"/>
              <a:t>Gplates</a:t>
            </a:r>
            <a:r>
              <a:rPr lang="en-US" dirty="0"/>
              <a:t>/get_paleocoordinates_v1.R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Biogeographic Stochastic Maps (BSMs) to </a:t>
            </a:r>
            <a:r>
              <a:rPr lang="en-US" dirty="0" err="1"/>
              <a:t>phytools</a:t>
            </a:r>
            <a:r>
              <a:rPr lang="en-US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/labs/lab04/script_BSM_to_phytools_v3strat.R</a:t>
            </a:r>
          </a:p>
          <a:p>
            <a:pPr lvl="1"/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Biogeographical </a:t>
            </a:r>
            <a:r>
              <a:rPr lang="en-US" dirty="0" err="1"/>
              <a:t>ClaSSE</a:t>
            </a:r>
            <a:r>
              <a:rPr lang="en-US" dirty="0"/>
              <a:t> models with Julia in </a:t>
            </a:r>
            <a:r>
              <a:rPr lang="en-US" dirty="0" err="1"/>
              <a:t>PhyBEARS.jl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GitHub page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Setup &amp; installation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startup.jl</a:t>
            </a:r>
            <a:r>
              <a:rPr lang="en-US" dirty="0"/>
              <a:t> script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Marsden Ph.D. slides: </a:t>
            </a:r>
            <a:r>
              <a:rPr lang="en-US" dirty="0" err="1"/>
              <a:t>RoyalSoc_Marsden_grant_PhD_defense.pptx</a:t>
            </a:r>
            <a:r>
              <a:rPr lang="en-US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Handy functions in </a:t>
            </a:r>
            <a:r>
              <a:rPr lang="en-US" dirty="0" err="1"/>
              <a:t>PhyBEARS.jl</a:t>
            </a:r>
            <a:r>
              <a:rPr lang="en-US" dirty="0"/>
              <a:t> and </a:t>
            </a:r>
            <a:r>
              <a:rPr lang="en-US" dirty="0" err="1"/>
              <a:t>PhyloBits.jl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Basic models in </a:t>
            </a:r>
            <a:r>
              <a:rPr lang="en-US" dirty="0" err="1"/>
              <a:t>PhyBEARS.jl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Test scripts - </a:t>
            </a:r>
            <a:r>
              <a:rPr lang="en-US" i="1" dirty="0"/>
              <a:t>/GitHub/</a:t>
            </a:r>
            <a:r>
              <a:rPr lang="en-US" i="1" dirty="0" err="1"/>
              <a:t>PhyBEARS.jl</a:t>
            </a:r>
            <a:r>
              <a:rPr lang="en-US" i="1" dirty="0"/>
              <a:t>/ex/cicadidae4/phybears_M0_mr3_DEC+Yule_v2.jl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i="1" dirty="0"/>
              <a:t>Changing distances in DEC model</a:t>
            </a:r>
          </a:p>
        </p:txBody>
      </p:sp>
    </p:spTree>
    <p:extLst>
      <p:ext uri="{BB962C8B-B14F-4D97-AF65-F5344CB8AC3E}">
        <p14:creationId xmlns:p14="http://schemas.microsoft.com/office/powerpoint/2010/main" val="892806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94241-0CF9-391B-9136-6470A52F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401B59B-A6A0-A2D4-3CFC-6FB361182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65" y="490602"/>
            <a:ext cx="7772400" cy="521380"/>
          </a:xfrm>
        </p:spPr>
        <p:txBody>
          <a:bodyPr>
            <a:noAutofit/>
          </a:bodyPr>
          <a:lstStyle/>
          <a:p>
            <a:r>
              <a:rPr lang="en-US" sz="3600" dirty="0"/>
              <a:t>Extra material below (if/as time allows)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71F005CF-90F5-89BC-A7F2-83566D0DC3E9}"/>
              </a:ext>
            </a:extLst>
          </p:cNvPr>
          <p:cNvSpPr txBox="1">
            <a:spLocks/>
          </p:cNvSpPr>
          <p:nvPr/>
        </p:nvSpPr>
        <p:spPr>
          <a:xfrm>
            <a:off x="187310" y="5265683"/>
            <a:ext cx="7772400" cy="178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000" dirty="0"/>
          </a:p>
          <a:p>
            <a:pPr marL="857250" indent="-85725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77C297-B7B5-47A0-E2EC-8843F12EC729}"/>
              </a:ext>
            </a:extLst>
          </p:cNvPr>
          <p:cNvSpPr txBox="1"/>
          <p:nvPr/>
        </p:nvSpPr>
        <p:spPr>
          <a:xfrm>
            <a:off x="439191" y="1278878"/>
            <a:ext cx="826561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Items in the Dropbox, e.g. readings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SSE simulators – function to convert a </a:t>
            </a:r>
            <a:r>
              <a:rPr lang="en-US" dirty="0" err="1"/>
              <a:t>PhyBEARS</a:t>
            </a:r>
            <a:r>
              <a:rPr lang="en-US" dirty="0"/>
              <a:t> model to a time-dependent Cladogenetic SSE (</a:t>
            </a:r>
            <a:r>
              <a:rPr lang="en-US" dirty="0" err="1"/>
              <a:t>tdsse</a:t>
            </a:r>
            <a:r>
              <a:rPr lang="en-US" dirty="0"/>
              <a:t>) simulator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Examples with modified </a:t>
            </a:r>
            <a:r>
              <a:rPr lang="en-US" i="1" dirty="0"/>
              <a:t>castor</a:t>
            </a:r>
            <a:r>
              <a:rPr lang="en-US" dirty="0"/>
              <a:t> package: ~/GitHub/</a:t>
            </a:r>
            <a:r>
              <a:rPr lang="en-US" dirty="0" err="1"/>
              <a:t>PhyBEARS.jl</a:t>
            </a:r>
            <a:r>
              <a:rPr lang="en-US" dirty="0"/>
              <a:t>/simulator/examples/tdsse_example_plus_converter_v2.R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~/GitHub/</a:t>
            </a:r>
            <a:r>
              <a:rPr lang="en-US" dirty="0" err="1"/>
              <a:t>PhyBEARS.jl</a:t>
            </a:r>
            <a:r>
              <a:rPr lang="en-US" dirty="0"/>
              <a:t>/simulator/examples/tdsse_example_plus_converter_v4.R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Setup for the modified castor package: Dropbox: _setup/</a:t>
            </a:r>
            <a:r>
              <a:rPr lang="en-US" dirty="0" err="1"/>
              <a:t>castor_setup.txt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Finally: look at saved sim outputs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More advanced models in </a:t>
            </a:r>
            <a:r>
              <a:rPr lang="en-US" dirty="0" err="1"/>
              <a:t>PhyBEARS.jl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Examples: </a:t>
            </a:r>
            <a:r>
              <a:rPr lang="en-US" i="1" dirty="0"/>
              <a:t>~/GitHub/</a:t>
            </a:r>
            <a:r>
              <a:rPr lang="en-US" i="1" dirty="0" err="1"/>
              <a:t>PhyBEARS.jl</a:t>
            </a:r>
            <a:r>
              <a:rPr lang="en-US" i="1" dirty="0"/>
              <a:t>/ex/cicadidae4/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E.g. positive extinction rates, different methods of handling</a:t>
            </a:r>
            <a:br>
              <a:rPr lang="en-US" dirty="0"/>
            </a:br>
            <a:r>
              <a:rPr lang="en-US" i="1" dirty="0"/>
              <a:t>~/GitHub/</a:t>
            </a:r>
            <a:r>
              <a:rPr lang="en-US" i="1" dirty="0" err="1"/>
              <a:t>PhyBEARS.jl</a:t>
            </a:r>
            <a:r>
              <a:rPr lang="en-US" i="1" dirty="0"/>
              <a:t>/ex/cicadidae4/</a:t>
            </a:r>
            <a:r>
              <a:rPr lang="en-US" i="1" dirty="0" err="1"/>
              <a:t>phybears_DECj+B</a:t>
            </a:r>
            <a:r>
              <a:rPr lang="en-US" i="1" dirty="0"/>
              <a:t>=D_M0_mr3/phybears_M0_mr3_DEC+J_B=D_v2.jl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Null range versus lineage extinction</a:t>
            </a:r>
          </a:p>
        </p:txBody>
      </p:sp>
    </p:spTree>
    <p:extLst>
      <p:ext uri="{BB962C8B-B14F-4D97-AF65-F5344CB8AC3E}">
        <p14:creationId xmlns:p14="http://schemas.microsoft.com/office/powerpoint/2010/main" val="172450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94241-0CF9-391B-9136-6470A52F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401B59B-A6A0-A2D4-3CFC-6FB361182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95" y="439191"/>
            <a:ext cx="7772400" cy="521380"/>
          </a:xfrm>
        </p:spPr>
        <p:txBody>
          <a:bodyPr>
            <a:normAutofit fontScale="90000"/>
          </a:bodyPr>
          <a:lstStyle/>
          <a:p>
            <a:r>
              <a:rPr lang="en-US" dirty="0"/>
              <a:t>Extras, cont.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71F005CF-90F5-89BC-A7F2-83566D0DC3E9}"/>
              </a:ext>
            </a:extLst>
          </p:cNvPr>
          <p:cNvSpPr txBox="1">
            <a:spLocks/>
          </p:cNvSpPr>
          <p:nvPr/>
        </p:nvSpPr>
        <p:spPr>
          <a:xfrm>
            <a:off x="187310" y="5265683"/>
            <a:ext cx="7772400" cy="178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000" dirty="0"/>
          </a:p>
          <a:p>
            <a:pPr marL="857250" indent="-85725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77C297-B7B5-47A0-E2EC-8843F12EC729}"/>
              </a:ext>
            </a:extLst>
          </p:cNvPr>
          <p:cNvSpPr txBox="1"/>
          <p:nvPr/>
        </p:nvSpPr>
        <p:spPr>
          <a:xfrm>
            <a:off x="439191" y="960571"/>
            <a:ext cx="826561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More advanced models in </a:t>
            </a:r>
            <a:r>
              <a:rPr lang="en-US" sz="2000" dirty="0" err="1"/>
              <a:t>PhyBEARS.jl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NZ Oligocene Drowning: ~</a:t>
            </a:r>
            <a:r>
              <a:rPr lang="en-US" sz="2000" i="1" dirty="0"/>
              <a:t>/GitHub/</a:t>
            </a:r>
            <a:r>
              <a:rPr lang="en-US" sz="2000" i="1" dirty="0" err="1"/>
              <a:t>PhyBEARS.jl</a:t>
            </a:r>
            <a:r>
              <a:rPr lang="en-US" sz="2000" i="1" dirty="0"/>
              <a:t>/sims/sunkNZ_v1/sunkNZ_ex_inference_v2.jl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Cicadidae </a:t>
            </a:r>
            <a:r>
              <a:rPr lang="en-US" sz="2000" dirty="0" err="1"/>
              <a:t>wrapup</a:t>
            </a:r>
            <a:r>
              <a:rPr lang="en-US" sz="2000" dirty="0"/>
              <a:t> / discussion: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i="1" dirty="0"/>
              <a:t>Lab05/cicadidae4/2024-10-18_BGB_vs_PhyBEARS_results_v1.xlsx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Trait-dependent dispersal in BioGeoBEARS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lab05/trait-dependence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lab05/ </a:t>
            </a:r>
            <a:r>
              <a:rPr lang="en-US" sz="2000" dirty="0" err="1"/>
              <a:t>conifer_DEC_traits_models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lab05/ </a:t>
            </a:r>
            <a:r>
              <a:rPr lang="en-US" sz="2000" dirty="0" err="1"/>
              <a:t>conifer_DEC+x_traits_models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Questions, discussion, your data?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Join the BioGeoBEARS Google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Email me at </a:t>
            </a:r>
            <a:r>
              <a:rPr lang="en-US" sz="2000" dirty="0" err="1"/>
              <a:t>n.matzke@auckland.ac.nz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0757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75eb9d1-7479-4f8a-9240-cc5b19dbbc64}" enabled="1" method="Standard" siteId="{d1b36e95-0d50-42e9-958f-b63fa906bea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551</TotalTime>
  <Words>734</Words>
  <Application>Microsoft Macintosh PowerPoint</Application>
  <PresentationFormat>On-screen Show (4:3)</PresentationFormat>
  <Paragraphs>93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Outline for Day 1</vt:lpstr>
      <vt:lpstr>Outline for Day 2</vt:lpstr>
      <vt:lpstr>Outline for Day 3</vt:lpstr>
      <vt:lpstr>Outline for Day 4</vt:lpstr>
      <vt:lpstr>Extra material below (if/as time allows)</vt:lpstr>
      <vt:lpstr>Extras, cont.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Nicholas Matzke</dc:creator>
  <cp:lastModifiedBy>Nicholas Matzke</cp:lastModifiedBy>
  <cp:revision>33</cp:revision>
  <dcterms:created xsi:type="dcterms:W3CDTF">2019-06-25T03:24:22Z</dcterms:created>
  <dcterms:modified xsi:type="dcterms:W3CDTF">2026-10-10T00:58:11Z</dcterms:modified>
</cp:coreProperties>
</file>